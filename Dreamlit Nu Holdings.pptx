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455" r:id="rId2"/>
    <p:sldId id="413" r:id="rId3"/>
    <p:sldId id="258" r:id="rId4"/>
    <p:sldId id="259" r:id="rId5"/>
    <p:sldId id="260" r:id="rId6"/>
    <p:sldId id="261" r:id="rId7"/>
    <p:sldId id="262" r:id="rId8"/>
    <p:sldId id="263" r:id="rId9"/>
    <p:sldId id="264" r:id="rId10"/>
    <p:sldId id="265" r:id="rId11"/>
    <p:sldId id="266" r:id="rId12"/>
    <p:sldId id="267" r:id="rId13"/>
    <p:sldId id="268" r:id="rId14"/>
    <p:sldId id="486" r:id="rId15"/>
    <p:sldId id="270" r:id="rId16"/>
    <p:sldId id="485"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7193" autoAdjust="0"/>
  </p:normalViewPr>
  <p:slideViewPr>
    <p:cSldViewPr snapToGrid="0" snapToObjects="1">
      <p:cViewPr varScale="1">
        <p:scale>
          <a:sx n="76" d="100"/>
          <a:sy n="76" d="100"/>
        </p:scale>
        <p:origin x="928" y="52"/>
      </p:cViewPr>
      <p:guideLst/>
    </p:cSldViewPr>
  </p:slideViewPr>
  <p:notesTextViewPr>
    <p:cViewPr>
      <p:scale>
        <a:sx n="1" d="1"/>
        <a:sy n="1" d="1"/>
      </p:scale>
      <p:origin x="0" y="-470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993598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SLIDE 1 — TITLE CARD</a:t>
            </a:r>
          </a:p>
          <a:p>
            <a:r>
              <a:rPr lang="en-IN" sz="1200" b="0" i="0" kern="1200" dirty="0">
                <a:solidFill>
                  <a:schemeClr val="tx1"/>
                </a:solidFill>
                <a:effectLst/>
                <a:latin typeface="+mn-lt"/>
                <a:ea typeface="+mn-ea"/>
                <a:cs typeface="+mn-cs"/>
              </a:rPr>
              <a:t>"</a:t>
            </a:r>
            <a:r>
              <a:rPr lang="en-IN" sz="1200" b="0" i="0" kern="1200" dirty="0" err="1">
                <a:solidFill>
                  <a:schemeClr val="tx1"/>
                </a:solidFill>
                <a:effectLst/>
                <a:latin typeface="+mn-lt"/>
                <a:ea typeface="+mn-ea"/>
                <a:cs typeface="+mn-cs"/>
              </a:rPr>
              <a:t>Dreamlit</a:t>
            </a:r>
            <a:r>
              <a:rPr lang="en-IN" sz="1200" b="0" i="0" kern="1200" dirty="0">
                <a:solidFill>
                  <a:schemeClr val="tx1"/>
                </a:solidFill>
                <a:effectLst/>
                <a:latin typeface="+mn-lt"/>
                <a:ea typeface="+mn-ea"/>
                <a:cs typeface="+mn-cs"/>
              </a:rPr>
              <a:t> Equity Research 5 — The World's Largest Digital Bank Outside Asia,</a:t>
            </a:r>
          </a:p>
          <a:p>
            <a:r>
              <a:rPr lang="en-IN" sz="1200" b="0" i="0" kern="1200" dirty="0">
                <a:solidFill>
                  <a:schemeClr val="tx1"/>
                </a:solidFill>
                <a:effectLst/>
                <a:latin typeface="+mn-lt"/>
                <a:ea typeface="+mn-ea"/>
                <a:cs typeface="+mn-cs"/>
              </a:rPr>
              <a:t>Powering Latin America's Financial Revolution"</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[OPEN — HIGH ENERGY, CONFIDENT]</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Welcome back to </a:t>
            </a:r>
            <a:r>
              <a:rPr lang="en-IN" sz="1200" b="0" i="0" kern="1200" dirty="0" err="1">
                <a:solidFill>
                  <a:schemeClr val="tx1"/>
                </a:solidFill>
                <a:effectLst/>
                <a:latin typeface="+mn-lt"/>
                <a:ea typeface="+mn-ea"/>
                <a:cs typeface="+mn-cs"/>
              </a:rPr>
              <a:t>Dreamlit</a:t>
            </a:r>
            <a:r>
              <a:rPr lang="en-IN" sz="1200" b="0" i="0" kern="1200" dirty="0">
                <a:solidFill>
                  <a:schemeClr val="tx1"/>
                </a:solidFill>
                <a:effectLst/>
                <a:latin typeface="+mn-lt"/>
                <a:ea typeface="+mn-ea"/>
                <a:cs typeface="+mn-cs"/>
              </a:rPr>
              <a:t> Equity Research.</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Today, we are going deep on a company that I think is one of the most genuinely remarkable financial businesses on the planet — and one of the most misunderstood by investors who have never spent time thinking seriously about Latin America.</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A company founded by a Colombian entrepreneur who walked into a São Paulo bank in 2012, had to hand over six forms of identification, wait for 30 minutes, and was then told he was being watched by security because he looked suspicious. A company born from that humiliation — and from the audacity to believe that 650 million Latin American adults deserved better than the five oligarchic banks that had exploited them for generations.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We are talking about Nu Holdings. NYSE: NU.</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And I want to frame this right at the top, because this is a story that operates on a scale that most investors in the US or Europe have difficulty internalising.</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135 million customers. Not users. Not app downloads. Customers — with active accounts, credit cards, loans, and savings products. 135 million people who have given Nu their financial lives to manage. To put that in perspective: that is more than 50% of all Brazilian adults aged 18 to 65. More than half of an entire country's working-age adult population is a Nu customer. There is almost no precedent for that level of market penetration for any financial institution, anywhere.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Here is what Nu looks like in June 2026.</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FY 2025 revenue: $15.8B, growing 37% year over year. Q1 2026 revenue: $5.3B — the first time Nu has ever crossed $5B in a single quarter, growing at 57% year over year on a foreign-exchange-neutral basis. Net income for Q1 2026: $871M, up 56% year over year. Return on equity: 29% annualised. Efficiency ratio: 17.6% — and I will spend considerable time on that number because it is the single most jaw-dropping operational metric in global banking. 17.6% efficiency ratio. The most efficient major bank in the world. By a very large margin.</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And yet the stock, as of June 2026, sits at approximately $12 per share — 37% below its 52-week high of $18.98. After two analyst downgrades from Bank of America and Susquehanna, citing credit quality concerns and a CFO departure.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Is this a buying opportunity in one of the great fintech compounding stories of this decade? Or are the bears right that Nu's credit risk is building in ways that reported metrics are not fully capturing?</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In this video — which will run approximately 40 to 60 minutes — we are going to go through this entire research report slide by slide, with full analyst-level commentary. Company history. Business model. Financial analysis. Geographic expansion. AI strategy. Competitive landscape. Red flags. Investment thesis. Price projections. And a quarterly monitoring checklist.</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This is a research note, not a financial recommendation. I am not your financial advisor. This is education and entertainment. Do your own due diligence. Now — let us begin.</a:t>
            </a:r>
          </a:p>
          <a:p>
            <a:endParaRPr lang="en-IN"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49F3E57C-F302-4DDA-9D05-13A296E43432}" type="slidenum">
              <a:rPr lang="en-IN" smtClean="0"/>
              <a:t>1</a:t>
            </a:fld>
            <a:endParaRPr lang="en-IN"/>
          </a:p>
        </p:txBody>
      </p:sp>
    </p:spTree>
    <p:extLst>
      <p:ext uri="{BB962C8B-B14F-4D97-AF65-F5344CB8AC3E}">
        <p14:creationId xmlns:p14="http://schemas.microsoft.com/office/powerpoint/2010/main" val="21993362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[TRANSITION: "First, as always — the legal slide."]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Thirty seconds on the disclaimer. Because it matters.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This content is for educational and entertainment purposes only. I am not a licensed financial advisor. I am not registered with the SEC or SEBI. Nothing in this video constitutes financial, investment, legal, or tax advice.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The opinions you hear are mine and mine alone. They can change as new data arrives. Investing involves risk. You can lose principal. The companies we discuss may go up, may go down, or may do absolutely nothing for extended periods.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Perform your own research. Consult a qualified professional before making investment decisions.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Third-party data referenced in this report is used under fair use for commentary, criticism, and analysis. All data sourced from publicly available SEC filings, earnings releases, and public research.</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Legal house in order. Let us get into the data.</a:t>
            </a:r>
          </a:p>
        </p:txBody>
      </p:sp>
      <p:sp>
        <p:nvSpPr>
          <p:cNvPr id="4" name="Slide Number Placeholder 3"/>
          <p:cNvSpPr>
            <a:spLocks noGrp="1"/>
          </p:cNvSpPr>
          <p:nvPr>
            <p:ph type="sldNum" sz="quarter" idx="5"/>
          </p:nvPr>
        </p:nvSpPr>
        <p:spPr/>
        <p:txBody>
          <a:bodyPr/>
          <a:lstStyle/>
          <a:p>
            <a:fld id="{49F3E57C-F302-4DDA-9D05-13A296E43432}" type="slidenum">
              <a:rPr lang="en-IN" smtClean="0"/>
              <a:t>2</a:t>
            </a:fld>
            <a:endParaRPr lang="en-IN"/>
          </a:p>
        </p:txBody>
      </p:sp>
    </p:spTree>
    <p:extLst>
      <p:ext uri="{BB962C8B-B14F-4D97-AF65-F5344CB8AC3E}">
        <p14:creationId xmlns:p14="http://schemas.microsoft.com/office/powerpoint/2010/main" val="1686407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[TRANSITION: "Let us start with the dashboard — because these headline numbers are unlike anything you will see at any bank of comparable scale."]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SLIDE 3 — COMPANY SNAPSHOT / KPI DASHBOARD</a:t>
            </a:r>
          </a:p>
          <a:p>
            <a:r>
              <a:rPr lang="en-IN" sz="1200" b="0" i="0" kern="1200" dirty="0">
                <a:solidFill>
                  <a:schemeClr val="tx1"/>
                </a:solidFill>
                <a:effectLst/>
                <a:latin typeface="+mn-lt"/>
                <a:ea typeface="+mn-ea"/>
                <a:cs typeface="+mn-cs"/>
              </a:rPr>
              <a:t>"KEY METRICS (June 2026)"</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[AUTHORITATIVE, DATA-DRIVEN — SPEND 4-5 MINUTES HERE]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This is the dashboard slide. And I want you to really sit with these numbers — because there is a combination of metrics here that, frankly, should not be possible for a company of this size. When you see these numbers together, the natural reaction is scepticism. Let me walk you through each one and explain why they are real.</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Q1 2026 Revenue: $5.3B. Up 57% year over year on a foreign-exchange-neutral basis.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Let me give you context. $5.3B in a single quarter from a bank that had $1.7B in full-year revenue just four years ago in FY 2021. That is a 9x revenue increase in four years. To find comparable revenue trajectories in financial services, you have to go back to the early growth years of Mastercard or PayPal. Nu is growing at that velocity, right now.</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Q1 2026 Net Income: $871M. Up 56% year over year.</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That is $871M in profit from a single quarter. Annualised, that is a run rate approaching $3.5B in net income. For a company with a market cap of approximately $58B, that is an earnings yield approaching 6%. For a company growing net income at 56%, that is an extraordinary combination.</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Q1 2026 Return on Equity: 29%. Annualised.</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ROE of 29% is world-class for any bank, anywhere. JPMorgan Chase — considered by most analysts to be the best-run major bank in the United States — operates at approximately 17% ROE. Nu, with 135M customers and still rapidly expanding its product footprint, is generating 29%. That tells you something profound about the operating leverage embedded in the zero-branch, AI-native model.</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Efficiency Ratio: 17.6%. Record low in Q1 2026.</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I want to spend a moment here because this number deserves it. The efficiency ratio measures what percentage of revenue a bank spends on operating costs to generate that revenue. Traditional Brazilian banks — Itaú, Bradesco, Santander — run at 45 to 60% efficiency ratios. US banks like JPMorgan run at 55 to 60%. An efficiency ratio of 30% would be considered excellent for a traditional bank. An efficiency ratio of 20% would be considered near-impossible for a scaled institution.</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Nu's efficiency ratio is 17.6%. Meaning that for every $100 of revenue Nu generates, it spends less than $18 to generate it. The remaining $82 is gross profit available to cover credit costs and flow to the bottom line. This is not a cyclical anomaly. It is the structural result of having zero branches, zero tellers, zero physical infrastructure — and AI-automated customer service serving 135 million customers at a cost of approximately $0.80 per customer per month.</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$0.80 per customer per month. Legacy banks spend $15 to $25 per customer per month in service costs.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Customers: 135M plus, adding approximately 4M per quarter.</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ARPAC — Average Revenue Per Active Customer: $16 per month. Up 43% year over year on a foreign-exchange-neutral basis.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ARPAC is the most important single metric in the Nu story, and I want you to understand why. When Nu acquires a new customer with a no-fee credit card, that customer generates very little revenue initially. Over time, as Nu cross-sells personal loans, savings accounts, investments, insurance, and payroll products, the revenue per customer compound. From $3.80 per month in FY 2022 to $16 per month today. And compared to $45 to $80 per month at Brazilian legacy banks, there is still three to five times the revenue per customer that Nu has not yet captured. That runway is the central argument for owning this stock.</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Market Cap: approximately $58B. Current price approximately $12.</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52-week high: $18.98. 52-week low: $11.20.</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That 37% drawdown from the high is the central tension of this entire investment case. The fundamentals are accelerating. The stock is 37% below its peak. Both of those things are simultaneously true. Our job today is to understand why.</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[TRANSITION: "To understand Nu today, you have to understand where it came from. Because this is a story about audacity — the audacity to walk into the most entrenched banking cartel in Latin America and take them apart, piece by piece."]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SLIDE 4 — COMPANY HISTORY</a:t>
            </a:r>
          </a:p>
          <a:p>
            <a:r>
              <a:rPr lang="en-IN" sz="1200" b="0" i="0" kern="1200" dirty="0">
                <a:solidFill>
                  <a:schemeClr val="tx1"/>
                </a:solidFill>
                <a:effectLst/>
                <a:latin typeface="+mn-lt"/>
                <a:ea typeface="+mn-ea"/>
                <a:cs typeface="+mn-cs"/>
              </a:rPr>
              <a:t>"SECTION 1: COMPANY HISTORY — FROM SÃO PAULO STARTUP TO WORLD'S LARGEST DIGITAL BANK"</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[STORYTELLING MODE — SPEND 5-6 MINUTES HERE]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2013. David Vélez — a Colombian entrepreneur with a background at Sequoia Capital in San Francisco — moves to Brazil. He tries to open a bank account. He is treated like a criminal. Six forms of identification. Thirty-minute wait. A security guard watching him. For opening a bank account.</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He is furious. And in that fury, he sees an opportunity.</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Brazil in 2013 has five banks — Itaú, Bradesco, Caixa, Banco do </a:t>
            </a:r>
            <a:r>
              <a:rPr lang="en-IN" sz="1200" b="0" i="0" kern="1200" dirty="0" err="1">
                <a:solidFill>
                  <a:schemeClr val="tx1"/>
                </a:solidFill>
                <a:effectLst/>
                <a:latin typeface="+mn-lt"/>
                <a:ea typeface="+mn-ea"/>
                <a:cs typeface="+mn-cs"/>
              </a:rPr>
              <a:t>Brasil</a:t>
            </a:r>
            <a:r>
              <a:rPr lang="en-IN" sz="1200" b="0" i="0" kern="1200" dirty="0">
                <a:solidFill>
                  <a:schemeClr val="tx1"/>
                </a:solidFill>
                <a:effectLst/>
                <a:latin typeface="+mn-lt"/>
                <a:ea typeface="+mn-ea"/>
                <a:cs typeface="+mn-cs"/>
              </a:rPr>
              <a:t>, and Santander — that collectively control approximately 80% of all banking assets in the country. They charge an annual fee of $50 to $100 simply to hold a credit card. They charge fees for every transaction. They have lines. They have branches with marble floors and bulletproof glass. And they have a customer base of 200 million Brazilians who have no alternative, because the regulatory barriers to starting a new bank are enormous.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Vélez co-founds </a:t>
            </a:r>
            <a:r>
              <a:rPr lang="en-IN" sz="1200" b="0" i="0" kern="1200" dirty="0" err="1">
                <a:solidFill>
                  <a:schemeClr val="tx1"/>
                </a:solidFill>
                <a:effectLst/>
                <a:latin typeface="+mn-lt"/>
                <a:ea typeface="+mn-ea"/>
                <a:cs typeface="+mn-cs"/>
              </a:rPr>
              <a:t>Nubank</a:t>
            </a:r>
            <a:r>
              <a:rPr lang="en-IN" sz="1200" b="0" i="0" kern="1200" dirty="0">
                <a:solidFill>
                  <a:schemeClr val="tx1"/>
                </a:solidFill>
                <a:effectLst/>
                <a:latin typeface="+mn-lt"/>
                <a:ea typeface="+mn-ea"/>
                <a:cs typeface="+mn-cs"/>
              </a:rPr>
              <a:t> with Cristina Junqueira — a Brazilian product designer and banker — and Edward Wible, an American technologist. Their first product: a no-fee purple Mastercard credit card, managed entirely through a mobile app. No annual fee. No paperwork. Full digital onboarding. You apply in minutes.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Within weeks of launch, the waitlist exceeds 1 million people. Brazil's banking cartel publicly dismisses </a:t>
            </a:r>
            <a:r>
              <a:rPr lang="en-IN" sz="1200" b="0" i="0" kern="1200" dirty="0" err="1">
                <a:solidFill>
                  <a:schemeClr val="tx1"/>
                </a:solidFill>
                <a:effectLst/>
                <a:latin typeface="+mn-lt"/>
                <a:ea typeface="+mn-ea"/>
                <a:cs typeface="+mn-cs"/>
              </a:rPr>
              <a:t>Nubank</a:t>
            </a:r>
            <a:r>
              <a:rPr lang="en-IN" sz="1200" b="0" i="0" kern="1200" dirty="0">
                <a:solidFill>
                  <a:schemeClr val="tx1"/>
                </a:solidFill>
                <a:effectLst/>
                <a:latin typeface="+mn-lt"/>
                <a:ea typeface="+mn-ea"/>
                <a:cs typeface="+mn-cs"/>
              </a:rPr>
              <a:t> as a toy. They are wrong.</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2016. Nu Holdings incorporated in the Cayman Islands — the standard legal structure for a </a:t>
            </a:r>
            <a:r>
              <a:rPr lang="en-IN" sz="1200" b="0" i="0" kern="1200" dirty="0" err="1">
                <a:solidFill>
                  <a:schemeClr val="tx1"/>
                </a:solidFill>
                <a:effectLst/>
                <a:latin typeface="+mn-lt"/>
                <a:ea typeface="+mn-ea"/>
                <a:cs typeface="+mn-cs"/>
              </a:rPr>
              <a:t>LatAm</a:t>
            </a:r>
            <a:r>
              <a:rPr lang="en-IN" sz="1200" b="0" i="0" kern="1200" dirty="0">
                <a:solidFill>
                  <a:schemeClr val="tx1"/>
                </a:solidFill>
                <a:effectLst/>
                <a:latin typeface="+mn-lt"/>
                <a:ea typeface="+mn-ea"/>
                <a:cs typeface="+mn-cs"/>
              </a:rPr>
              <a:t> tech company seeking international investment. Sequoia, </a:t>
            </a:r>
            <a:r>
              <a:rPr lang="en-IN" sz="1200" b="0" i="0" kern="1200" dirty="0" err="1">
                <a:solidFill>
                  <a:schemeClr val="tx1"/>
                </a:solidFill>
                <a:effectLst/>
                <a:latin typeface="+mn-lt"/>
                <a:ea typeface="+mn-ea"/>
                <a:cs typeface="+mn-cs"/>
              </a:rPr>
              <a:t>Kaszek</a:t>
            </a:r>
            <a:r>
              <a:rPr lang="en-IN" sz="1200" b="0" i="0" kern="1200" dirty="0">
                <a:solidFill>
                  <a:schemeClr val="tx1"/>
                </a:solidFill>
                <a:effectLst/>
                <a:latin typeface="+mn-lt"/>
                <a:ea typeface="+mn-ea"/>
                <a:cs typeface="+mn-cs"/>
              </a:rPr>
              <a:t>, and Tiger Global lead the Series C. 6 million customers.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2018. Warren Buffett's Berkshire Hathaway invests $500 million. Buffett calls Nu the Amazon of financial services. This is a landmark moment — not just for the capital, but for the credibility signal to institutional investors globally. If Berkshire Hathaway is backing a Brazilian neobank, the mainstream financial world has to take it seriously.</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In the same year, Nu expands into Mexico. Same playbook: no-fee credit card, mobile app, waitlist model.</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2021. IPO on the New York Stock Exchange in December — the largest Latin American technology IPO in history, at a $45B valuation. 48 million customers. Colombia launch.</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But the timing of the IPO is difficult. Nu lists right as the global technology sector begins a brutal valuation de-rating cycle. The stock, which listed around the $9 level — reflecting the $45B IPO valuation — falls significantly from its first-day trading peak and remains under pressure through 2022 and into 2023 as rising interest rates compress growth multiples globally.</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This is important context: many investors experienced Nu as a stock that went down after they bought it at the IPO. That experience colours perception of the company today. But the business kept growing through the stock price decline.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2023. Nu reaches 80 million customers. Becomes the fourth largest financial institution in Brazil by customer count — behind only the three largest legacy state and private banks that have been operating for decades. Mexico reaches EBITDA positive.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2025. 131 million customers. FY revenue $15.8B, up 37% year over year. Net income $2.9B. Mexico becomes the third largest bank in that country by customer count — ahead of every international bank operating there.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2026. 135 million customers. Q1 revenue $5.3B — the first $5B quarter. Mexico reaches breakeven. US bank charter conditional approval received. A $1B share buyback announced in June.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Three structural advantages this history produced:</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ONE: The Zero-Branch Moat. Nu has never built a physical branch. That sounds obvious for a digital bank. But what it means, compounded over 13 years, is that Nu has zero legacy infrastructure to maintain, zero real estate overhead, zero army of tellers and branch managers. Every competitor trying to compete with Nu on cost is either building a digital layer on top of expensive physical infrastructure — the legacy banks — or building digital-only but without Nu's 13-year data advantage. You cannot retrofit a zero-branch model onto a business built on branches. The moat is structural.</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TWO: The ARPAC Flywheel. Nu acquires customers with a free credit card. Over time, it layers in loans, savings, investments, insurance, and payroll products. Revenue per customer has grown from $3.80 per month in FY 2022 to $16 today, and the legacy bank comparison at $45 to $80 per month shows how much runway remains. Each product added deepens the relationship and reduces the probability of churn. The flywheel compounds with scale.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THREE: The Berkshire Stamp. Buffett's $500 million investment in 2018 was not just capital. It was a legitimacy signal to every institutional investor globally. Berkshire does not make impulsive bets. The Berkshire investment said: this is a company built on sound principles, with real competitive advantages, run by people who understand what they are doing.</a:t>
            </a:r>
          </a:p>
          <a:p>
            <a:r>
              <a:rPr lang="en-IN" sz="1200" b="0" i="0" kern="1200" dirty="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[TRANSITION: "Now let us understand the business model — because Nu is not a bank in the traditional sense. It is a platform with five financial products organised around a customer's entire financial life."]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SLIDE 5 — BUSINESS MODEL</a:t>
            </a:r>
          </a:p>
          <a:p>
            <a:r>
              <a:rPr lang="en-IN" sz="1200" b="0" i="0" kern="1200" dirty="0">
                <a:solidFill>
                  <a:schemeClr val="tx1"/>
                </a:solidFill>
                <a:effectLst/>
                <a:latin typeface="+mn-lt"/>
                <a:ea typeface="+mn-ea"/>
                <a:cs typeface="+mn-cs"/>
              </a:rPr>
              <a:t>"SECTION 2: BUSINESS MODEL — FIVE FINANCIAL SEASONS PLATFORM"</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[ANALYTICAL, DETAILED — SPEND 5-6 MINUTES HERE]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Nu describes its strategy as lifecycle banking. The idea is straightforward: acquire a customer with the lowest-friction product possible — the no-fee credit card — and then systematically expand the relationship across five product categories over the course of that customer's financial life.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The five categories: credit, spending, saving, investing, and insurance. One purple app. One relationship. Compounding revenue per customer over time.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Let me walk through each category.</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CATEGORY ONE: Credit Cards. The flagship product. $37.2B in portfolio as of Q1 2026.</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This is where the Nu relationship begins for most customers. The no-fee purple Mastercard. No annual fee, no hidden fees, full digital onboarding, transparent interest rates. In Brazil, where legacy banks charge $50 to $100 just to hold a basic credit card, this is not a marginal improvement. It is a fundamentally different value proposition.</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60% of Brazilian adults aged 18 to 65 are already Nu credit card customers. 60%. That is not a growth market anymore — in Brazil's credit card segment, Nu is approaching saturation. Which is precisely why the ARPAC flywheel — expanding revenue per existing customer — is so important to the next chapter of the Brazil story.</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CATEGORY TWO: Personal Loans. Fast-growing.</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Three products here. Standard personal loans — unsecured consumer credit, underwritten by Nu's proprietary AI models. Payroll loans — </a:t>
            </a:r>
            <a:r>
              <a:rPr lang="en-IN" sz="1200" b="0" i="0" kern="1200" dirty="0" err="1">
                <a:solidFill>
                  <a:schemeClr val="tx1"/>
                </a:solidFill>
                <a:effectLst/>
                <a:latin typeface="+mn-lt"/>
                <a:ea typeface="+mn-ea"/>
                <a:cs typeface="+mn-cs"/>
              </a:rPr>
              <a:t>crédito</a:t>
            </a:r>
            <a:r>
              <a:rPr lang="en-IN" sz="1200" b="0" i="0" kern="1200" dirty="0">
                <a:solidFill>
                  <a:schemeClr val="tx1"/>
                </a:solidFill>
                <a:effectLst/>
                <a:latin typeface="+mn-lt"/>
                <a:ea typeface="+mn-ea"/>
                <a:cs typeface="+mn-cs"/>
              </a:rPr>
              <a:t> </a:t>
            </a:r>
            <a:r>
              <a:rPr lang="en-IN" sz="1200" b="0" i="0" kern="1200" dirty="0" err="1">
                <a:solidFill>
                  <a:schemeClr val="tx1"/>
                </a:solidFill>
                <a:effectLst/>
                <a:latin typeface="+mn-lt"/>
                <a:ea typeface="+mn-ea"/>
                <a:cs typeface="+mn-cs"/>
              </a:rPr>
              <a:t>consignado</a:t>
            </a:r>
            <a:r>
              <a:rPr lang="en-IN" sz="1200" b="0" i="0" kern="1200" dirty="0">
                <a:solidFill>
                  <a:schemeClr val="tx1"/>
                </a:solidFill>
                <a:effectLst/>
                <a:latin typeface="+mn-lt"/>
                <a:ea typeface="+mn-ea"/>
                <a:cs typeface="+mn-cs"/>
              </a:rPr>
              <a:t> — where repayments are automatically deducted from the borrower's salary, dramatically reducing default risk. And FGTS-backed loans — credit secured against Brazil's government-mandated employment savings fund, which acts as collateral. The FGTS product is essentially government-guaranteed. Default risk is extremely low.</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The payroll and FGTS loan products are important because they represent Nu's deliberate move upmarket into lower-risk, higher-quality credit — diversifying away from pure unsecured consumer credit into products with structural loss protection.</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CATEGORY THREE: Savings and Deposits. Low-cost funding. $42.4B in deposits as of Q1 2026.</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Nu Conta — the interest-bearing digital account — pays customers a competitive interest rate on their deposits. $42.4B in deposits funded at 82% of the CDI, which is the Brazilian interbank rate benchmark. This deposit base funds Nu's lending operations at a structurally lower cost than competitors who rely on wholesale funding markets. The deposit flywheel is powerful: the more customers Nu has, the more deposits it attracts, the cheaper its funding, the more it can lend at competitive rates while maintaining strong margins.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CATEGORY FOUR: Investments and Insurance. Nascent but growing.</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Nu Invest gives customers access to stocks, ETFs, and investment funds directly within the Nu app. Life and accident insurance products are launching. The take rate on both of these is still early — insurance penetration in particular is very low. But this is where the long-term ARPAC growth opportunity lives. A Nu customer today generates $16 per month in revenue. A Nu customer with a credit card, a personal loan, a savings account, an investment portfolio, and an insurance policy could generate $40 to $50 per month. That journey from $16 to $45 is the investment thesis in a single sentence.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Now the competitive framing. Itaú Unibanco and Bradesco — Brazil's largest legacy banks — charge customers $50 to $100 in annual fees. They have 1,000-plus branch networks. Long queues. Opaque fees. Slow processes. Their NPS scores — Net Promoter Scores — are among the lowest of any consumer financial institution in the world.</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Nu's NPS scores are among the highest. The gap compounds every year. And the gap is not primarily about technology — it is about incentives. Legacy banks profit from opacity and friction. Nu profits from transparency and engagement. Those incentive structures cannot coexist. Nu wins by making the customer relationship work better for the customer.</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[TRANSITION: "Now let us go to the financial analysis — because the numbers here are unlike anything I have seen in global banking in the past decade."]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SLIDE 6 — FINANCIAL ANALYSIS</a:t>
            </a:r>
          </a:p>
          <a:p>
            <a:r>
              <a:rPr lang="en-IN" sz="1200" b="0" i="0" kern="1200" dirty="0">
                <a:solidFill>
                  <a:schemeClr val="tx1"/>
                </a:solidFill>
                <a:effectLst/>
                <a:latin typeface="+mn-lt"/>
                <a:ea typeface="+mn-ea"/>
                <a:cs typeface="+mn-cs"/>
              </a:rPr>
              <a:t>"SECTION 3: FINANCIAL ANALYSIS — FROM $1.7B TO $15.8B IN FOUR YEARS"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[DATA-DENSE, AUTHORITATIVE — SPEND 5-6 MINUTES HERE]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This slide is the financial spine of the entire thesis. 9x revenue growth in four years. Let that sit for a moment. FY 2021: $1.7B. FY 2025: $15.8B. Nine times in four years. I am not aware of any major bank in the history of global financial services that has scaled at this velocity.</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Revenue trajectory:</a:t>
            </a:r>
          </a:p>
          <a:p>
            <a:r>
              <a:rPr lang="en-IN" sz="1200" b="0" i="0" kern="1200" dirty="0">
                <a:solidFill>
                  <a:schemeClr val="tx1"/>
                </a:solidFill>
                <a:effectLst/>
                <a:latin typeface="+mn-lt"/>
                <a:ea typeface="+mn-ea"/>
                <a:cs typeface="+mn-cs"/>
              </a:rPr>
              <a:t>FY 2022: $4.8B.</a:t>
            </a:r>
          </a:p>
          <a:p>
            <a:r>
              <a:rPr lang="en-IN" sz="1200" b="0" i="0" kern="1200" dirty="0">
                <a:solidFill>
                  <a:schemeClr val="tx1"/>
                </a:solidFill>
                <a:effectLst/>
                <a:latin typeface="+mn-lt"/>
                <a:ea typeface="+mn-ea"/>
                <a:cs typeface="+mn-cs"/>
              </a:rPr>
              <a:t>FY 2023: $7.7B.</a:t>
            </a:r>
          </a:p>
          <a:p>
            <a:r>
              <a:rPr lang="en-IN" sz="1200" b="0" i="0" kern="1200" dirty="0">
                <a:solidFill>
                  <a:schemeClr val="tx1"/>
                </a:solidFill>
                <a:effectLst/>
                <a:latin typeface="+mn-lt"/>
                <a:ea typeface="+mn-ea"/>
                <a:cs typeface="+mn-cs"/>
              </a:rPr>
              <a:t>FY 2024: $11.5B.</a:t>
            </a:r>
          </a:p>
          <a:p>
            <a:r>
              <a:rPr lang="en-IN" sz="1200" b="0" i="0" kern="1200" dirty="0">
                <a:solidFill>
                  <a:schemeClr val="tx1"/>
                </a:solidFill>
                <a:effectLst/>
                <a:latin typeface="+mn-lt"/>
                <a:ea typeface="+mn-ea"/>
                <a:cs typeface="+mn-cs"/>
              </a:rPr>
              <a:t>FY 2025: $15.8B.</a:t>
            </a:r>
          </a:p>
          <a:p>
            <a:r>
              <a:rPr lang="en-IN" sz="1200" b="0" i="0" kern="1200" dirty="0">
                <a:solidFill>
                  <a:schemeClr val="tx1"/>
                </a:solidFill>
                <a:effectLst/>
                <a:latin typeface="+mn-lt"/>
                <a:ea typeface="+mn-ea"/>
                <a:cs typeface="+mn-cs"/>
              </a:rPr>
              <a:t>FY 2026 estimate: approximately $21.2B.</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That is 34% compounded annual growth estimated from 2025 to 2026, on top of 37% in 2025, on top of 49% in 2024. The law of large numbers should be decelerating this. It is not. That is a signal worth paying attention to.</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Q1 2026 is particularly striking. $5.3B in a single quarter — up 57% year over year on a foreign-exchange-neutral basis. Q1 2026 net income of $871M. That implies an annualised net income run rate approaching $3.5B on a $58B market cap. That is a forward earnings multiple of approximately 17x on a company growing at 35%+ annually. We will stress-test that valuation in the valuation section.</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Let me walk the full multi-year table.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Net Income:</a:t>
            </a:r>
          </a:p>
          <a:p>
            <a:r>
              <a:rPr lang="en-IN" sz="1200" b="0" i="0" kern="1200" dirty="0">
                <a:solidFill>
                  <a:schemeClr val="tx1"/>
                </a:solidFill>
                <a:effectLst/>
                <a:latin typeface="+mn-lt"/>
                <a:ea typeface="+mn-ea"/>
                <a:cs typeface="+mn-cs"/>
              </a:rPr>
              <a:t>FY 2022: negative $300M. Nu was still loss-making.</a:t>
            </a:r>
          </a:p>
          <a:p>
            <a:r>
              <a:rPr lang="en-IN" sz="1200" b="0" i="0" kern="1200" dirty="0">
                <a:solidFill>
                  <a:schemeClr val="tx1"/>
                </a:solidFill>
                <a:effectLst/>
                <a:latin typeface="+mn-lt"/>
                <a:ea typeface="+mn-ea"/>
                <a:cs typeface="+mn-cs"/>
              </a:rPr>
              <a:t>FY 2023: positive $100M. The inflection year. Barely profitable but directionally clear.</a:t>
            </a:r>
          </a:p>
          <a:p>
            <a:r>
              <a:rPr lang="en-IN" sz="1200" b="0" i="0" kern="1200" dirty="0">
                <a:solidFill>
                  <a:schemeClr val="tx1"/>
                </a:solidFill>
                <a:effectLst/>
                <a:latin typeface="+mn-lt"/>
                <a:ea typeface="+mn-ea"/>
                <a:cs typeface="+mn-cs"/>
              </a:rPr>
              <a:t>FY 2024: positive $1.97B. The dramatic step.</a:t>
            </a:r>
          </a:p>
          <a:p>
            <a:r>
              <a:rPr lang="en-IN" sz="1200" b="0" i="0" kern="1200" dirty="0">
                <a:solidFill>
                  <a:schemeClr val="tx1"/>
                </a:solidFill>
                <a:effectLst/>
                <a:latin typeface="+mn-lt"/>
                <a:ea typeface="+mn-ea"/>
                <a:cs typeface="+mn-cs"/>
              </a:rPr>
              <a:t>FY 2025: positive $2.9B. Up 45% year over year.</a:t>
            </a:r>
          </a:p>
          <a:p>
            <a:r>
              <a:rPr lang="en-IN" sz="1200" b="0" i="0" kern="1200" dirty="0">
                <a:solidFill>
                  <a:schemeClr val="tx1"/>
                </a:solidFill>
                <a:effectLst/>
                <a:latin typeface="+mn-lt"/>
                <a:ea typeface="+mn-ea"/>
                <a:cs typeface="+mn-cs"/>
              </a:rPr>
              <a:t>FY 2026 estimate: approximately $4.1B.</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That is from negative $300M to positive $4.1B in four years. This is not a story about a company that might become profitable one day. This is a company that has executed a full-cycle financial transformation in real time.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EPS trajectory:</a:t>
            </a:r>
          </a:p>
          <a:p>
            <a:r>
              <a:rPr lang="en-IN" sz="1200" b="0" i="0" kern="1200" dirty="0">
                <a:solidFill>
                  <a:schemeClr val="tx1"/>
                </a:solidFill>
                <a:effectLst/>
                <a:latin typeface="+mn-lt"/>
                <a:ea typeface="+mn-ea"/>
                <a:cs typeface="+mn-cs"/>
              </a:rPr>
              <a:t>FY 2022: negative $0.07.</a:t>
            </a:r>
          </a:p>
          <a:p>
            <a:r>
              <a:rPr lang="en-IN" sz="1200" b="0" i="0" kern="1200" dirty="0">
                <a:solidFill>
                  <a:schemeClr val="tx1"/>
                </a:solidFill>
                <a:effectLst/>
                <a:latin typeface="+mn-lt"/>
                <a:ea typeface="+mn-ea"/>
                <a:cs typeface="+mn-cs"/>
              </a:rPr>
              <a:t>FY 2023: positive $0.02.</a:t>
            </a:r>
          </a:p>
          <a:p>
            <a:r>
              <a:rPr lang="en-IN" sz="1200" b="0" i="0" kern="1200" dirty="0">
                <a:solidFill>
                  <a:schemeClr val="tx1"/>
                </a:solidFill>
                <a:effectLst/>
                <a:latin typeface="+mn-lt"/>
                <a:ea typeface="+mn-ea"/>
                <a:cs typeface="+mn-cs"/>
              </a:rPr>
              <a:t>FY 2024: positive $0.37.</a:t>
            </a:r>
          </a:p>
          <a:p>
            <a:r>
              <a:rPr lang="en-IN" sz="1200" b="0" i="0" kern="1200" dirty="0">
                <a:solidFill>
                  <a:schemeClr val="tx1"/>
                </a:solidFill>
                <a:effectLst/>
                <a:latin typeface="+mn-lt"/>
                <a:ea typeface="+mn-ea"/>
                <a:cs typeface="+mn-cs"/>
              </a:rPr>
              <a:t>FY 2025: positive $0.60.</a:t>
            </a:r>
          </a:p>
          <a:p>
            <a:r>
              <a:rPr lang="en-IN" sz="1200" b="0" i="0" kern="1200" dirty="0">
                <a:solidFill>
                  <a:schemeClr val="tx1"/>
                </a:solidFill>
                <a:effectLst/>
                <a:latin typeface="+mn-lt"/>
                <a:ea typeface="+mn-ea"/>
                <a:cs typeface="+mn-cs"/>
              </a:rPr>
              <a:t>FY 2026 estimate: approximately $0.84.</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Now one important note here. Q1 2026 EPS came in at $0.18 — which missed analyst consensus of $0.20 by approximately 10%. That miss, combined with the CFO departure announcement, is the primary reason the stock sold off from its 52-week high. We will come back to this. But a 10% EPS miss in a single quarter on a business growing at 57% revenue is worth keeping in perspective.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Return on Equity:</a:t>
            </a:r>
          </a:p>
          <a:p>
            <a:r>
              <a:rPr lang="en-IN" sz="1200" b="0" i="0" kern="1200" dirty="0">
                <a:solidFill>
                  <a:schemeClr val="tx1"/>
                </a:solidFill>
                <a:effectLst/>
                <a:latin typeface="+mn-lt"/>
                <a:ea typeface="+mn-ea"/>
                <a:cs typeface="+mn-cs"/>
              </a:rPr>
              <a:t>FY 2022: negative.</a:t>
            </a:r>
          </a:p>
          <a:p>
            <a:r>
              <a:rPr lang="en-IN" sz="1200" b="0" i="0" kern="1200" dirty="0">
                <a:solidFill>
                  <a:schemeClr val="tx1"/>
                </a:solidFill>
                <a:effectLst/>
                <a:latin typeface="+mn-lt"/>
                <a:ea typeface="+mn-ea"/>
                <a:cs typeface="+mn-cs"/>
              </a:rPr>
              <a:t>FY 2023: 3%.</a:t>
            </a:r>
          </a:p>
          <a:p>
            <a:r>
              <a:rPr lang="en-IN" sz="1200" b="0" i="0" kern="1200" dirty="0">
                <a:solidFill>
                  <a:schemeClr val="tx1"/>
                </a:solidFill>
                <a:effectLst/>
                <a:latin typeface="+mn-lt"/>
                <a:ea typeface="+mn-ea"/>
                <a:cs typeface="+mn-cs"/>
              </a:rPr>
              <a:t>FY 2024: 22%.</a:t>
            </a:r>
          </a:p>
          <a:p>
            <a:r>
              <a:rPr lang="en-IN" sz="1200" b="0" i="0" kern="1200" dirty="0">
                <a:solidFill>
                  <a:schemeClr val="tx1"/>
                </a:solidFill>
                <a:effectLst/>
                <a:latin typeface="+mn-lt"/>
                <a:ea typeface="+mn-ea"/>
                <a:cs typeface="+mn-cs"/>
              </a:rPr>
              <a:t>FY 2025: 30%.</a:t>
            </a:r>
          </a:p>
          <a:p>
            <a:r>
              <a:rPr lang="en-IN" sz="1200" b="0" i="0" kern="1200" dirty="0">
                <a:solidFill>
                  <a:schemeClr val="tx1"/>
                </a:solidFill>
                <a:effectLst/>
                <a:latin typeface="+mn-lt"/>
                <a:ea typeface="+mn-ea"/>
                <a:cs typeface="+mn-cs"/>
              </a:rPr>
              <a:t>FY 2026 estimate: approximately 34%.</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34% ROE is not just good for a neobank. It is extraordinary for any bank at any scale, anywhere in the world. JPMorgan at its best generates 17% ROE. Itaú — Brazil's most profitable legacy bank — runs at approximately 18 to 22% ROE. Nu is targeting ROE above 30% with a customer base that is still growing at 17M per year. That combination of scale growth and return expansion is genuinely rare.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Efficiency Ratio:</a:t>
            </a:r>
          </a:p>
          <a:p>
            <a:r>
              <a:rPr lang="en-IN" sz="1200" b="0" i="0" kern="1200" dirty="0">
                <a:solidFill>
                  <a:schemeClr val="tx1"/>
                </a:solidFill>
                <a:effectLst/>
                <a:latin typeface="+mn-lt"/>
                <a:ea typeface="+mn-ea"/>
                <a:cs typeface="+mn-cs"/>
              </a:rPr>
              <a:t>FY 2022: 54%. Still a startup-mode cost structure.</a:t>
            </a:r>
          </a:p>
          <a:p>
            <a:r>
              <a:rPr lang="en-IN" sz="1200" b="0" i="0" kern="1200" dirty="0">
                <a:solidFill>
                  <a:schemeClr val="tx1"/>
                </a:solidFill>
                <a:effectLst/>
                <a:latin typeface="+mn-lt"/>
                <a:ea typeface="+mn-ea"/>
                <a:cs typeface="+mn-cs"/>
              </a:rPr>
              <a:t>FY 2023: 42%.</a:t>
            </a:r>
          </a:p>
          <a:p>
            <a:r>
              <a:rPr lang="en-IN" sz="1200" b="0" i="0" kern="1200" dirty="0">
                <a:solidFill>
                  <a:schemeClr val="tx1"/>
                </a:solidFill>
                <a:effectLst/>
                <a:latin typeface="+mn-lt"/>
                <a:ea typeface="+mn-ea"/>
                <a:cs typeface="+mn-cs"/>
              </a:rPr>
              <a:t>FY 2024: 34%.</a:t>
            </a:r>
          </a:p>
          <a:p>
            <a:r>
              <a:rPr lang="en-IN" sz="1200" b="0" i="0" kern="1200" dirty="0">
                <a:solidFill>
                  <a:schemeClr val="tx1"/>
                </a:solidFill>
                <a:effectLst/>
                <a:latin typeface="+mn-lt"/>
                <a:ea typeface="+mn-ea"/>
                <a:cs typeface="+mn-cs"/>
              </a:rPr>
              <a:t>FY 2025: 28%.</a:t>
            </a:r>
          </a:p>
          <a:p>
            <a:r>
              <a:rPr lang="en-IN" sz="1200" b="0" i="0" kern="1200" dirty="0">
                <a:solidFill>
                  <a:schemeClr val="tx1"/>
                </a:solidFill>
                <a:effectLst/>
                <a:latin typeface="+mn-lt"/>
                <a:ea typeface="+mn-ea"/>
                <a:cs typeface="+mn-cs"/>
              </a:rPr>
              <a:t>FY 2026 Q1: 17.6% — record.</a:t>
            </a:r>
          </a:p>
          <a:p>
            <a:r>
              <a:rPr lang="en-IN" sz="1200" b="0" i="0" kern="1200" dirty="0">
                <a:solidFill>
                  <a:schemeClr val="tx1"/>
                </a:solidFill>
                <a:effectLst/>
                <a:latin typeface="+mn-lt"/>
                <a:ea typeface="+mn-ea"/>
                <a:cs typeface="+mn-cs"/>
              </a:rPr>
              <a:t>FY 2026 estimate: approximately 22%.</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The efficiency ratio going from 54% to 17.6% in four years — while revenue grew 9x — is the clearest possible demonstration of operating leverage in a zero-branch, AI-native banking model. Every incremental customer costs Nu less to serve than the previous customer. That dynamic does not exist in traditional banking. It is the defining financial advantage of the Nu model.</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ARPAC trajectory:</a:t>
            </a:r>
          </a:p>
          <a:p>
            <a:r>
              <a:rPr lang="en-IN" sz="1200" b="0" i="0" kern="1200" dirty="0">
                <a:solidFill>
                  <a:schemeClr val="tx1"/>
                </a:solidFill>
                <a:effectLst/>
                <a:latin typeface="+mn-lt"/>
                <a:ea typeface="+mn-ea"/>
                <a:cs typeface="+mn-cs"/>
              </a:rPr>
              <a:t>FY 2022: $3.80 per month.</a:t>
            </a:r>
          </a:p>
          <a:p>
            <a:r>
              <a:rPr lang="en-IN" sz="1200" b="0" i="0" kern="1200" dirty="0">
                <a:solidFill>
                  <a:schemeClr val="tx1"/>
                </a:solidFill>
                <a:effectLst/>
                <a:latin typeface="+mn-lt"/>
                <a:ea typeface="+mn-ea"/>
                <a:cs typeface="+mn-cs"/>
              </a:rPr>
              <a:t>FY 2023: $6.30 per month.</a:t>
            </a:r>
          </a:p>
          <a:p>
            <a:r>
              <a:rPr lang="en-IN" sz="1200" b="0" i="0" kern="1200" dirty="0">
                <a:solidFill>
                  <a:schemeClr val="tx1"/>
                </a:solidFill>
                <a:effectLst/>
                <a:latin typeface="+mn-lt"/>
                <a:ea typeface="+mn-ea"/>
                <a:cs typeface="+mn-cs"/>
              </a:rPr>
              <a:t>FY 2024: $9.80 per month.</a:t>
            </a:r>
          </a:p>
          <a:p>
            <a:r>
              <a:rPr lang="en-IN" sz="1200" b="0" i="0" kern="1200" dirty="0">
                <a:solidFill>
                  <a:schemeClr val="tx1"/>
                </a:solidFill>
                <a:effectLst/>
                <a:latin typeface="+mn-lt"/>
                <a:ea typeface="+mn-ea"/>
                <a:cs typeface="+mn-cs"/>
              </a:rPr>
              <a:t>FY 2025: $13.50 per month.</a:t>
            </a:r>
          </a:p>
          <a:p>
            <a:r>
              <a:rPr lang="en-IN" sz="1200" b="0" i="0" kern="1200" dirty="0">
                <a:solidFill>
                  <a:schemeClr val="tx1"/>
                </a:solidFill>
                <a:effectLst/>
                <a:latin typeface="+mn-lt"/>
                <a:ea typeface="+mn-ea"/>
                <a:cs typeface="+mn-cs"/>
              </a:rPr>
              <a:t>FY 2026 estimate: approximately $18 per month.</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$3.80 to $18 in four years — a 4.7x increase in revenue per customer while simultaneously adding 70M net new customers. Both dimensions are compounding simultaneously. That is the ARPAC flywheel in action.</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[TRANSITION: "How is Nu executing outside Brazil? Let us look at the geographic expansion strategy — because this is where the next decade of growth is being built."]</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SLIDE 7 — GEOGRAPHIC EXPANSION &amp; PRODUCT STRATEGY</a:t>
            </a:r>
          </a:p>
          <a:p>
            <a:r>
              <a:rPr lang="en-IN" sz="1200" b="0" i="0" kern="1200" dirty="0">
                <a:solidFill>
                  <a:schemeClr val="tx1"/>
                </a:solidFill>
                <a:effectLst/>
                <a:latin typeface="+mn-lt"/>
                <a:ea typeface="+mn-ea"/>
                <a:cs typeface="+mn-cs"/>
              </a:rPr>
              <a:t>"SECTION 4: GEOGRAPHIC EXPANSION &amp; PRODUCT STRATEGY"</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[STRATEGIC, ANALYTICAL — SPEND 5-6 MINUTES HERE]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Four geographies. Four very different stages of maturity. Let me take you through each one.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BRAZIL — Mature and Monetising.</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Approximately 100 million customers. FY 2025 revenue approximately $11.0B. Net interest margin expanding. Over 50% adult penetration in the country.</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Brazil is the engine. And the story in Brazil is no longer about customer acquisition — it is about ARPAC expansion. With over 50% of Brazilian adults already as customers, the marginal new customer in Brazil is becoming harder to acquire. But the 100M existing customers are only generating $16 per month in revenue, against a theoretical ceiling of $45 to $80 at legacy banks. The Brazil playbook for the next five years is: keep existing customers, deepen the product relationship, and grow revenue per customer without growing the cost base materially.</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The product expansion in Brazil — payroll loans, FGTS-backed loans, Nu Invest, insurance — is all designed to move the ARPAC needle. Each new product attached to an existing customer is incremental margin with near-zero customer acquisition cost.</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MEXICO — The Inflection Point.</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Approximately 15 million customers. FY 2025 revenue approximately $808M. Reached breakeven in Q1 2026. Now the third largest financial institution in Mexico by customer count.</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Mexico reaching breakeven in Q1 2026 is the single most important geographic milestone in the Nu story right now. And here is why. Brazil reached the same inflection — crossing from loss-making to breakeven — in 2019. What happened after that? In the five years from 2019 to 2024, Brazil went from a few million customers to nearly 100 million. Revenue went from a few hundred million dollars to $11 billion. Net income went from zero to billions.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If Mexico follows the same trajectory — which is the central thesis — then Mexico could be a $5 to $8 billion annual revenue contributor by 2030. That is not a speculative moonshot. That is an extrapolation of a pattern that Nu has already executed once, in a market with comparable fundamentals: large population, low banking penetration, dominant incumbent banks with poor customer satisfaction, and a smartphone-native younger generation looking for an alternative.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Mexico is not a certain replication of Brazil. We will come to the risks. But the structural setup is compelling.</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COLOMBIA — Early Growth.</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Approximately 4 million customers. FY 2025 revenue approximately $237M. Still pre-profit. Fastest customer growth rate among the geographies.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Colombia is where Mexico was three years ago. Nu sees it as a 15 to 20 million customer opportunity. Currently in brand-building mode — investing in customer acquisition and credit portfolio quality before pushing aggressively on ARPAC. The pattern: get the customer first, monetise later. This has been Nu's playbook in every market, and the discipline of not rushing to profitability before the customer base is large enough is one of the things Nu's management team does well.</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UNITED STATES — Strategic Optionality.</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No revenue yet. Conditional bank charter approval received in early 2026. Incoming CFO Rob Livingston brings Visa-era US market expertise. Targeting a 2027 launch.</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I want to be very direct here: the US opportunity is real but highly uncertain. Nu has zero brand recognition in the United States. The incumbent banks — JPMorgan, Bank of America, Wells Fargo — are not the same as Itaú and Bradesco. They have already invested heavily in digital infrastructure. The regulatory environment is more complex. And Nu's AI-native model, while powerful, faces a very different competitive dynamic in a market where consumers already have access to decent digital banking options.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The US is optionality. It should be valued as a possibility, not a certainty. The Brazil and Mexico theses do not require the US to work. If the US does work — if Nu can replicate even a fraction of the </a:t>
            </a:r>
            <a:r>
              <a:rPr lang="en-IN" sz="1200" b="0" i="0" kern="1200" dirty="0" err="1">
                <a:solidFill>
                  <a:schemeClr val="tx1"/>
                </a:solidFill>
                <a:effectLst/>
                <a:latin typeface="+mn-lt"/>
                <a:ea typeface="+mn-ea"/>
                <a:cs typeface="+mn-cs"/>
              </a:rPr>
              <a:t>LatAm</a:t>
            </a:r>
            <a:r>
              <a:rPr lang="en-IN" sz="1200" b="0" i="0" kern="1200" dirty="0">
                <a:solidFill>
                  <a:schemeClr val="tx1"/>
                </a:solidFill>
                <a:effectLst/>
                <a:latin typeface="+mn-lt"/>
                <a:ea typeface="+mn-ea"/>
                <a:cs typeface="+mn-cs"/>
              </a:rPr>
              <a:t> playbook in North America — the revenue opportunity is enormous. But do not underwrite the US as a base case.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Total addressable market: 650M plus adults in Latin America. Brazil approximately 215M. Mexico approximately 130M. Colombia approximately 50M. Nu currently serves 135M. The remaining 515M adults in the TAM — plus the US optionality — represent the long-term growth ceiling. Nu has barely scratched the surface.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[TRANSITION: "Now let us look at Nu's AI strategy — because this is the backbone of everything: the efficiency ratio, the underwriting quality, the customer experience, and the competitive moat."]</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SLIDE 8 — AI STRATEGY &amp; PRODUCT ROADMAP</a:t>
            </a:r>
          </a:p>
          <a:p>
            <a:r>
              <a:rPr lang="en-IN" sz="1200" b="0" i="0" kern="1200" dirty="0">
                <a:solidFill>
                  <a:schemeClr val="tx1"/>
                </a:solidFill>
                <a:effectLst/>
                <a:latin typeface="+mn-lt"/>
                <a:ea typeface="+mn-ea"/>
                <a:cs typeface="+mn-cs"/>
              </a:rPr>
              <a:t>"SECTION 5: AI STRATEGY &amp; PRODUCT ROADMAP"</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[ENERGETIC, ANALYTICAL — SPEND 4-5 MINUTES HERE]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Six AI capabilities. Some live. Some scaling. Some on the roadmap. Let me take you through each one — and explain why David Vélez's statement on the Q1 2026 earnings call deserves to be taken seriously when he says: "We are not adding AI to banking. We are rebuilding banking around AI."</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LIVE — AI Underwriting Engine.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Nu's proprietary credit models power a $37.2B loan and credit card portfolio with NPL ratios — Non-Performing Loan ratios — well below industry averages. 15 million plus monthly active users are already interacting with AI-powered features. The underwriting model is trained on 13 years of </a:t>
            </a:r>
            <a:r>
              <a:rPr lang="en-IN" sz="1200" b="0" i="0" kern="1200" dirty="0" err="1">
                <a:solidFill>
                  <a:schemeClr val="tx1"/>
                </a:solidFill>
                <a:effectLst/>
                <a:latin typeface="+mn-lt"/>
                <a:ea typeface="+mn-ea"/>
                <a:cs typeface="+mn-cs"/>
              </a:rPr>
              <a:t>behavioral</a:t>
            </a:r>
            <a:r>
              <a:rPr lang="en-IN" sz="1200" b="0" i="0" kern="1200" dirty="0">
                <a:solidFill>
                  <a:schemeClr val="tx1"/>
                </a:solidFill>
                <a:effectLst/>
                <a:latin typeface="+mn-lt"/>
                <a:ea typeface="+mn-ea"/>
                <a:cs typeface="+mn-cs"/>
              </a:rPr>
              <a:t> data from 135 million customers across Brazil, Mexico, and Colombia. No new entrant can replicate that training dataset. No legacy bank has that data in a usable, structured form. This is a genuine AI moat — not a marketing claim.</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LIVE — AI Customer Service.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Generative AI agents handle millions of customer service tickets across three countries in Portuguese and Spanish. Average response time: under one minute. Human support costs have been dramatically reduced. This is the primary driver of the 17.6% efficiency ratio. Traditional banks run call centres with thousands of human agents. Nu runs AI with a small human supervision layer. The cost difference is not 10%. It is an order of magnitude.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LIVE — AI Personalisation.</a:t>
            </a:r>
          </a:p>
          <a:p>
            <a:r>
              <a:rPr lang="en-IN" sz="1200" b="0" i="0" kern="1200" dirty="0">
                <a:solidFill>
                  <a:schemeClr val="tx1"/>
                </a:solidFill>
                <a:effectLst/>
                <a:latin typeface="+mn-lt"/>
                <a:ea typeface="+mn-ea"/>
                <a:cs typeface="+mn-cs"/>
              </a:rPr>
              <a:t> </a:t>
            </a:r>
          </a:p>
          <a:p>
            <a:r>
              <a:rPr lang="en-IN" sz="1200" b="0" i="0" kern="1200" dirty="0" err="1">
                <a:solidFill>
                  <a:schemeClr val="tx1"/>
                </a:solidFill>
                <a:effectLst/>
                <a:latin typeface="+mn-lt"/>
                <a:ea typeface="+mn-ea"/>
                <a:cs typeface="+mn-cs"/>
              </a:rPr>
              <a:t>Behavioral</a:t>
            </a:r>
            <a:r>
              <a:rPr lang="en-IN" sz="1200" b="0" i="0" kern="1200" dirty="0">
                <a:solidFill>
                  <a:schemeClr val="tx1"/>
                </a:solidFill>
                <a:effectLst/>
                <a:latin typeface="+mn-lt"/>
                <a:ea typeface="+mn-ea"/>
                <a:cs typeface="+mn-cs"/>
              </a:rPr>
              <a:t> models drive personalised product offers, spending insights, and savings goals for each of the 135 million customers. When Nu wants to cross-sell a personal loan, it does not send the same offer to every customer. It sends a personalised offer based on that customer's income, spending patterns, credit behaviour, and life stage — at the moment that customer is most likely to need and accept it. This is the engine behind ARPAC growing from $11 to $16 in just 18 months. Personalisation converts browsers into buyers.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2026 ROLLOUT — Nu Intelligence, or </a:t>
            </a:r>
            <a:r>
              <a:rPr lang="en-IN" sz="1200" b="0" i="0" kern="1200" dirty="0" err="1">
                <a:solidFill>
                  <a:schemeClr val="tx1"/>
                </a:solidFill>
                <a:effectLst/>
                <a:latin typeface="+mn-lt"/>
                <a:ea typeface="+mn-ea"/>
                <a:cs typeface="+mn-cs"/>
              </a:rPr>
              <a:t>NuAI</a:t>
            </a:r>
            <a:r>
              <a:rPr lang="en-IN" sz="1200" b="0" i="0" kern="1200" dirty="0">
                <a:solidFill>
                  <a:schemeClr val="tx1"/>
                </a:solidFill>
                <a:effectLst/>
                <a:latin typeface="+mn-lt"/>
                <a:ea typeface="+mn-ea"/>
                <a:cs typeface="+mn-cs"/>
              </a:rPr>
              <a:t>.</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Customer-facing AI assistant for financial planning, tax guidance, and investment advice. This product — once launched — puts Nu in direct competition with </a:t>
            </a:r>
            <a:r>
              <a:rPr lang="en-IN" sz="1200" b="0" i="0" kern="1200" dirty="0" err="1">
                <a:solidFill>
                  <a:schemeClr val="tx1"/>
                </a:solidFill>
                <a:effectLst/>
                <a:latin typeface="+mn-lt"/>
                <a:ea typeface="+mn-ea"/>
                <a:cs typeface="+mn-cs"/>
              </a:rPr>
              <a:t>robo</a:t>
            </a:r>
            <a:r>
              <a:rPr lang="en-IN" sz="1200" b="0" i="0" kern="1200" dirty="0">
                <a:solidFill>
                  <a:schemeClr val="tx1"/>
                </a:solidFill>
                <a:effectLst/>
                <a:latin typeface="+mn-lt"/>
                <a:ea typeface="+mn-ea"/>
                <a:cs typeface="+mn-cs"/>
              </a:rPr>
              <a:t>-advisors, wealth management platforms, and financial planning services that charge significant fees. If a Nu customer can get personalised investment advice for free within the Nu app, the incentive to pay a wealth manager or a </a:t>
            </a:r>
            <a:r>
              <a:rPr lang="en-IN" sz="1200" b="0" i="0" kern="1200" dirty="0" err="1">
                <a:solidFill>
                  <a:schemeClr val="tx1"/>
                </a:solidFill>
                <a:effectLst/>
                <a:latin typeface="+mn-lt"/>
                <a:ea typeface="+mn-ea"/>
                <a:cs typeface="+mn-cs"/>
              </a:rPr>
              <a:t>robo</a:t>
            </a:r>
            <a:r>
              <a:rPr lang="en-IN" sz="1200" b="0" i="0" kern="1200" dirty="0">
                <a:solidFill>
                  <a:schemeClr val="tx1"/>
                </a:solidFill>
                <a:effectLst/>
                <a:latin typeface="+mn-lt"/>
                <a:ea typeface="+mn-ea"/>
                <a:cs typeface="+mn-cs"/>
              </a:rPr>
              <a:t>-advisor weakens dramatically. </a:t>
            </a:r>
            <a:r>
              <a:rPr lang="en-IN" sz="1200" b="0" i="0" kern="1200" dirty="0" err="1">
                <a:solidFill>
                  <a:schemeClr val="tx1"/>
                </a:solidFill>
                <a:effectLst/>
                <a:latin typeface="+mn-lt"/>
                <a:ea typeface="+mn-ea"/>
                <a:cs typeface="+mn-cs"/>
              </a:rPr>
              <a:t>NuAI</a:t>
            </a:r>
            <a:r>
              <a:rPr lang="en-IN" sz="1200" b="0" i="0" kern="1200" dirty="0">
                <a:solidFill>
                  <a:schemeClr val="tx1"/>
                </a:solidFill>
                <a:effectLst/>
                <a:latin typeface="+mn-lt"/>
                <a:ea typeface="+mn-ea"/>
                <a:cs typeface="+mn-cs"/>
              </a:rPr>
              <a:t> is still in rollout, but its potential to drive the investments segment — and with it ARPAC growth — is substantial.</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2026 / 2027 — Open Finance Integration.</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Brazil's Open Finance regulations — among the most progressive in the world — require banks to share customer data with third parties upon customer consent. For Nu, this is an asymmetric advantage. Nu can access competitor account data to identify customers who have better loan terms elsewhere and offer to refinance them. Or customers with savings sitting in low-yield accounts at legacy banks who could earn more at Nu. Open Finance turns Nu's data advantage from a defensive moat into an offensive acquisition tool.</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STRATEGIC — Proprietary Data Moat.</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This is the compounding advantage that deserves the most emphasis. Nu has 135 million customers, 13 years of </a:t>
            </a:r>
            <a:r>
              <a:rPr lang="en-IN" sz="1200" b="0" i="0" kern="1200" dirty="0" err="1">
                <a:solidFill>
                  <a:schemeClr val="tx1"/>
                </a:solidFill>
                <a:effectLst/>
                <a:latin typeface="+mn-lt"/>
                <a:ea typeface="+mn-ea"/>
                <a:cs typeface="+mn-cs"/>
              </a:rPr>
              <a:t>behavioral</a:t>
            </a:r>
            <a:r>
              <a:rPr lang="en-IN" sz="1200" b="0" i="0" kern="1200" dirty="0">
                <a:solidFill>
                  <a:schemeClr val="tx1"/>
                </a:solidFill>
                <a:effectLst/>
                <a:latin typeface="+mn-lt"/>
                <a:ea typeface="+mn-ea"/>
                <a:cs typeface="+mn-cs"/>
              </a:rPr>
              <a:t> data, and a machine learning infrastructure built to improve with every transaction. Every new customer added to the platform makes the AI models better. Every new product launched generates new data to train on. The moat does not stay constant — it widens with scale. A new entrant trying to compete with Nu on AI underwriting today is not competing against where Nu was five years ago. They are competing against where Nu will be five years from now. That is why the data moat is compounding, not static.</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[TRANSITION: "Now let us look at who Nu is competing against — both the legacy giants below it and the global neobanks approaching from the side."]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SLIDE 9 — COMPETITIVE LANDSCAPE</a:t>
            </a:r>
          </a:p>
          <a:p>
            <a:r>
              <a:rPr lang="en-IN" sz="1200" b="0" i="0" kern="1200" dirty="0">
                <a:solidFill>
                  <a:schemeClr val="tx1"/>
                </a:solidFill>
                <a:effectLst/>
                <a:latin typeface="+mn-lt"/>
                <a:ea typeface="+mn-ea"/>
                <a:cs typeface="+mn-cs"/>
              </a:rPr>
              <a:t>"SECTION 6: COMPETITIVE LANDSCAPE — NU VS PEERS"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[CONFIDENT, COMPARATIVE — SPEND 4-5 MINUTES HERE]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Five competitors. Two battles — the legacy </a:t>
            </a:r>
            <a:r>
              <a:rPr lang="en-IN" sz="1200" b="0" i="0" kern="1200" dirty="0" err="1">
                <a:solidFill>
                  <a:schemeClr val="tx1"/>
                </a:solidFill>
                <a:effectLst/>
                <a:latin typeface="+mn-lt"/>
                <a:ea typeface="+mn-ea"/>
                <a:cs typeface="+mn-cs"/>
              </a:rPr>
              <a:t>LatAm</a:t>
            </a:r>
            <a:r>
              <a:rPr lang="en-IN" sz="1200" b="0" i="0" kern="1200" dirty="0">
                <a:solidFill>
                  <a:schemeClr val="tx1"/>
                </a:solidFill>
                <a:effectLst/>
                <a:latin typeface="+mn-lt"/>
                <a:ea typeface="+mn-ea"/>
                <a:cs typeface="+mn-cs"/>
              </a:rPr>
              <a:t> banks above, the global neobanks below. Let me take you through each comparison.</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NU vs MERCADOPAGO (via </a:t>
            </a:r>
            <a:r>
              <a:rPr lang="en-IN" sz="1200" b="0" i="0" kern="1200" dirty="0" err="1">
                <a:solidFill>
                  <a:schemeClr val="tx1"/>
                </a:solidFill>
                <a:effectLst/>
                <a:latin typeface="+mn-lt"/>
                <a:ea typeface="+mn-ea"/>
                <a:cs typeface="+mn-cs"/>
              </a:rPr>
              <a:t>MercadoLibre</a:t>
            </a:r>
            <a:r>
              <a:rPr lang="en-IN" sz="1200" b="0" i="0" kern="1200" dirty="0">
                <a:solidFill>
                  <a:schemeClr val="tx1"/>
                </a:solidFill>
                <a:effectLst/>
                <a:latin typeface="+mn-lt"/>
                <a:ea typeface="+mn-ea"/>
                <a:cs typeface="+mn-cs"/>
              </a:rPr>
              <a:t>).</a:t>
            </a:r>
          </a:p>
          <a:p>
            <a:r>
              <a:rPr lang="en-IN" sz="1200" b="0" i="0" kern="1200" dirty="0">
                <a:solidFill>
                  <a:schemeClr val="tx1"/>
                </a:solidFill>
                <a:effectLst/>
                <a:latin typeface="+mn-lt"/>
                <a:ea typeface="+mn-ea"/>
                <a:cs typeface="+mn-cs"/>
              </a:rPr>
              <a:t> </a:t>
            </a:r>
          </a:p>
          <a:p>
            <a:r>
              <a:rPr lang="en-IN" sz="1200" b="0" i="0" kern="1200" dirty="0" err="1">
                <a:solidFill>
                  <a:schemeClr val="tx1"/>
                </a:solidFill>
                <a:effectLst/>
                <a:latin typeface="+mn-lt"/>
                <a:ea typeface="+mn-ea"/>
                <a:cs typeface="+mn-cs"/>
              </a:rPr>
              <a:t>MercadoLibre</a:t>
            </a:r>
            <a:r>
              <a:rPr lang="en-IN" sz="1200" b="0" i="0" kern="1200" dirty="0">
                <a:solidFill>
                  <a:schemeClr val="tx1"/>
                </a:solidFill>
                <a:effectLst/>
                <a:latin typeface="+mn-lt"/>
                <a:ea typeface="+mn-ea"/>
                <a:cs typeface="+mn-cs"/>
              </a:rPr>
              <a:t> is the Amazon of Latin America — e-commerce, logistics, payments, lending, all in one platform. Total revenue approximately $21B. Market cap approximately $110B. NTM P/E approximately 38x.</a:t>
            </a:r>
          </a:p>
          <a:p>
            <a:r>
              <a:rPr lang="en-IN" sz="1200" b="0" i="0" kern="1200" dirty="0">
                <a:solidFill>
                  <a:schemeClr val="tx1"/>
                </a:solidFill>
                <a:effectLst/>
                <a:latin typeface="+mn-lt"/>
                <a:ea typeface="+mn-ea"/>
                <a:cs typeface="+mn-cs"/>
              </a:rPr>
              <a:t> </a:t>
            </a:r>
          </a:p>
          <a:p>
            <a:r>
              <a:rPr lang="en-IN" sz="1200" b="0" i="0" kern="1200" dirty="0" err="1">
                <a:solidFill>
                  <a:schemeClr val="tx1"/>
                </a:solidFill>
                <a:effectLst/>
                <a:latin typeface="+mn-lt"/>
                <a:ea typeface="+mn-ea"/>
                <a:cs typeface="+mn-cs"/>
              </a:rPr>
              <a:t>MercadoPago</a:t>
            </a:r>
            <a:r>
              <a:rPr lang="en-IN" sz="1200" b="0" i="0" kern="1200" dirty="0">
                <a:solidFill>
                  <a:schemeClr val="tx1"/>
                </a:solidFill>
                <a:effectLst/>
                <a:latin typeface="+mn-lt"/>
                <a:ea typeface="+mn-ea"/>
                <a:cs typeface="+mn-cs"/>
              </a:rPr>
              <a:t>, the financial services arm, is Nu's most formidable competitor in some respects. It has payment rails embedded in the largest e-commerce ecosystem in Latin America. Every seller on </a:t>
            </a:r>
            <a:r>
              <a:rPr lang="en-IN" sz="1200" b="0" i="0" kern="1200" dirty="0" err="1">
                <a:solidFill>
                  <a:schemeClr val="tx1"/>
                </a:solidFill>
                <a:effectLst/>
                <a:latin typeface="+mn-lt"/>
                <a:ea typeface="+mn-ea"/>
                <a:cs typeface="+mn-cs"/>
              </a:rPr>
              <a:t>MercadoLibre</a:t>
            </a:r>
            <a:r>
              <a:rPr lang="en-IN" sz="1200" b="0" i="0" kern="1200" dirty="0">
                <a:solidFill>
                  <a:schemeClr val="tx1"/>
                </a:solidFill>
                <a:effectLst/>
                <a:latin typeface="+mn-lt"/>
                <a:ea typeface="+mn-ea"/>
                <a:cs typeface="+mn-cs"/>
              </a:rPr>
              <a:t> and every buyer has a payments relationship with </a:t>
            </a:r>
            <a:r>
              <a:rPr lang="en-IN" sz="1200" b="0" i="0" kern="1200" dirty="0" err="1">
                <a:solidFill>
                  <a:schemeClr val="tx1"/>
                </a:solidFill>
                <a:effectLst/>
                <a:latin typeface="+mn-lt"/>
                <a:ea typeface="+mn-ea"/>
                <a:cs typeface="+mn-cs"/>
              </a:rPr>
              <a:t>MercadoPago</a:t>
            </a:r>
            <a:r>
              <a:rPr lang="en-IN" sz="1200" b="0" i="0" kern="1200" dirty="0">
                <a:solidFill>
                  <a:schemeClr val="tx1"/>
                </a:solidFill>
                <a:effectLst/>
                <a:latin typeface="+mn-lt"/>
                <a:ea typeface="+mn-ea"/>
                <a:cs typeface="+mn-cs"/>
              </a:rPr>
              <a:t> that predates any relationship with Nu.</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But here is the critical distinction: </a:t>
            </a:r>
            <a:r>
              <a:rPr lang="en-IN" sz="1200" b="0" i="0" kern="1200" dirty="0" err="1">
                <a:solidFill>
                  <a:schemeClr val="tx1"/>
                </a:solidFill>
                <a:effectLst/>
                <a:latin typeface="+mn-lt"/>
                <a:ea typeface="+mn-ea"/>
                <a:cs typeface="+mn-cs"/>
              </a:rPr>
              <a:t>MercadoPago</a:t>
            </a:r>
            <a:r>
              <a:rPr lang="en-IN" sz="1200" b="0" i="0" kern="1200" dirty="0">
                <a:solidFill>
                  <a:schemeClr val="tx1"/>
                </a:solidFill>
                <a:effectLst/>
                <a:latin typeface="+mn-lt"/>
                <a:ea typeface="+mn-ea"/>
                <a:cs typeface="+mn-cs"/>
              </a:rPr>
              <a:t> is a payments and lending platform. It is not a full-service bank. It does not have Nu's credit card depth, Nu's savings product, Nu's investment platform, or Nu's insurance offering. </a:t>
            </a:r>
            <a:r>
              <a:rPr lang="en-IN" sz="1200" b="0" i="0" kern="1200" dirty="0" err="1">
                <a:solidFill>
                  <a:schemeClr val="tx1"/>
                </a:solidFill>
                <a:effectLst/>
                <a:latin typeface="+mn-lt"/>
                <a:ea typeface="+mn-ea"/>
                <a:cs typeface="+mn-cs"/>
              </a:rPr>
              <a:t>MercadoPago</a:t>
            </a:r>
            <a:r>
              <a:rPr lang="en-IN" sz="1200" b="0" i="0" kern="1200" dirty="0">
                <a:solidFill>
                  <a:schemeClr val="tx1"/>
                </a:solidFill>
                <a:effectLst/>
                <a:latin typeface="+mn-lt"/>
                <a:ea typeface="+mn-ea"/>
                <a:cs typeface="+mn-cs"/>
              </a:rPr>
              <a:t> and Nu are more complementary than they are directly competitive — they attack different primary relationships with the customer. A customer can simultaneously use </a:t>
            </a:r>
            <a:r>
              <a:rPr lang="en-IN" sz="1200" b="0" i="0" kern="1200" dirty="0" err="1">
                <a:solidFill>
                  <a:schemeClr val="tx1"/>
                </a:solidFill>
                <a:effectLst/>
                <a:latin typeface="+mn-lt"/>
                <a:ea typeface="+mn-ea"/>
                <a:cs typeface="+mn-cs"/>
              </a:rPr>
              <a:t>MercadoPago</a:t>
            </a:r>
            <a:r>
              <a:rPr lang="en-IN" sz="1200" b="0" i="0" kern="1200" dirty="0">
                <a:solidFill>
                  <a:schemeClr val="tx1"/>
                </a:solidFill>
                <a:effectLst/>
                <a:latin typeface="+mn-lt"/>
                <a:ea typeface="+mn-ea"/>
                <a:cs typeface="+mn-cs"/>
              </a:rPr>
              <a:t> to buy things on </a:t>
            </a:r>
            <a:r>
              <a:rPr lang="en-IN" sz="1200" b="0" i="0" kern="1200" dirty="0" err="1">
                <a:solidFill>
                  <a:schemeClr val="tx1"/>
                </a:solidFill>
                <a:effectLst/>
                <a:latin typeface="+mn-lt"/>
                <a:ea typeface="+mn-ea"/>
                <a:cs typeface="+mn-cs"/>
              </a:rPr>
              <a:t>MercadoLibre</a:t>
            </a:r>
            <a:r>
              <a:rPr lang="en-IN" sz="1200" b="0" i="0" kern="1200" dirty="0">
                <a:solidFill>
                  <a:schemeClr val="tx1"/>
                </a:solidFill>
                <a:effectLst/>
                <a:latin typeface="+mn-lt"/>
                <a:ea typeface="+mn-ea"/>
                <a:cs typeface="+mn-cs"/>
              </a:rPr>
              <a:t> and use Nu as their primary bank. These are not mutually exclusive choices.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NU vs ITAÚ UNIBANCO AND BANCO BRADESCO.</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These are the legacy giants. Itaú: $35B in revenue, $55B market cap, NTM P/E approximately 8x. Bradesco: $27B in revenue, $22B market cap, NTM P/E approximately 7x.</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Both are digitising aggressively. Both have invested billions in mobile apps. But here is what neither can do: eliminate their branch networks. Itaú has thousands of branches across Brazil and Latin America. Those branches are expensive. The people who work in them are expensive. The real estate is expensive. And because branches generate significant revenue from walk-in customers and from advisors, neither bank can simply close them without destroying short-term earnings.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Nu has no branches to close. Nu has no legacy infrastructure holding it to a 45-60% efficiency ratio. The efficiency ratio gap — 17.6% at Nu versus 45-55% at legacy banks — cannot close. The legacy banks can get to 35%. They cannot get to 17%. The structural advantage does not converge.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At 8x NTM P/E, both Itaú and Bradesco reflect the market's view that they are mature, slow-growing banks operating under competitive threat. At 17 to 21x P/E, Nu reflects the market's view of a growth company. The question is whether Nu's growth rate justifies the premium. We will answer that in the valuation section.</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NU vs REVOLUT.</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Revolut is the European neobank valued at approximately $45B. Revenue approximately $3.5B. It is expanding globally. It is not yet in Latin America in any meaningful way. But it is worth watching, because Revolut's ambitions are explicitly global, and Latin America is a market it will eventually target.</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Revolut's strengths — multi-currency accounts, crypto integration, strong UI — are real. But Revolut has no data moat in Latin America. No brand recognition. No regulatory relationships with </a:t>
            </a:r>
            <a:r>
              <a:rPr lang="en-IN" sz="1200" b="0" i="0" kern="1200" dirty="0" err="1">
                <a:solidFill>
                  <a:schemeClr val="tx1"/>
                </a:solidFill>
                <a:effectLst/>
                <a:latin typeface="+mn-lt"/>
                <a:ea typeface="+mn-ea"/>
                <a:cs typeface="+mn-cs"/>
              </a:rPr>
              <a:t>Bacen</a:t>
            </a:r>
            <a:r>
              <a:rPr lang="en-IN" sz="1200" b="0" i="0" kern="1200" dirty="0">
                <a:solidFill>
                  <a:schemeClr val="tx1"/>
                </a:solidFill>
                <a:effectLst/>
                <a:latin typeface="+mn-lt"/>
                <a:ea typeface="+mn-ea"/>
                <a:cs typeface="+mn-cs"/>
              </a:rPr>
              <a:t> or the Mexican or Colombian banking regulators. Building those takes years. Nu has a decade-plus head start in brand, data, and regulatory standing. This is a watch item for 2027 and beyond, not a current competitive threat.</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NU vs SOFI TECHNOLOGIES.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A brief note on SoFi — which we covered in a prior research note. SoFi is a US neobank with approximately $3.3B in revenue, a national bank charter, and a Galileo B2B platform. NTM P/E approximately 25x. ROE approximately 8%.</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Nu's ROE is 29%. Nu's revenue is 4.8x SoFi's. Nu's customer count is roughly 9x SoFi's member count. Nu's efficiency ratio is 17.6% versus SoFi's approximately 66%. And Nu trades at approximately 17 to 21x NTM P/E — versus SoFi at 25x. In other words, Nu appears to offer faster growth, better unit economics, higher ROE, and greater scale, at a lower P/E multiple than SoFi. The primary reason for that discount is geography — Latin America carries a risk premium that the US does not. Whether that risk premium is justified at current levels is part of what this analysis tries to answer.</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The overall competitive conclusion: Nu has built a set of structural advantages — data moat, zero-branch cost structure, AI underwriting, 135M customer base — that no single competitor has replicated across the </a:t>
            </a:r>
            <a:r>
              <a:rPr lang="en-IN" sz="1200" b="0" i="0" kern="1200" dirty="0" err="1">
                <a:solidFill>
                  <a:schemeClr val="tx1"/>
                </a:solidFill>
                <a:effectLst/>
                <a:latin typeface="+mn-lt"/>
                <a:ea typeface="+mn-ea"/>
                <a:cs typeface="+mn-cs"/>
              </a:rPr>
              <a:t>LatAm</a:t>
            </a:r>
            <a:r>
              <a:rPr lang="en-IN" sz="1200" b="0" i="0" kern="1200" dirty="0">
                <a:solidFill>
                  <a:schemeClr val="tx1"/>
                </a:solidFill>
                <a:effectLst/>
                <a:latin typeface="+mn-lt"/>
                <a:ea typeface="+mn-ea"/>
                <a:cs typeface="+mn-cs"/>
              </a:rPr>
              <a:t> market. The legacy banks cannot match the efficiency. The global neobanks cannot match the data. </a:t>
            </a:r>
            <a:r>
              <a:rPr lang="en-IN" sz="1200" b="0" i="0" kern="1200" dirty="0" err="1">
                <a:solidFill>
                  <a:schemeClr val="tx1"/>
                </a:solidFill>
                <a:effectLst/>
                <a:latin typeface="+mn-lt"/>
                <a:ea typeface="+mn-ea"/>
                <a:cs typeface="+mn-cs"/>
              </a:rPr>
              <a:t>MercadoPago</a:t>
            </a:r>
            <a:r>
              <a:rPr lang="en-IN" sz="1200" b="0" i="0" kern="1200" dirty="0">
                <a:solidFill>
                  <a:schemeClr val="tx1"/>
                </a:solidFill>
                <a:effectLst/>
                <a:latin typeface="+mn-lt"/>
                <a:ea typeface="+mn-ea"/>
                <a:cs typeface="+mn-cs"/>
              </a:rPr>
              <a:t> cannot match the credit depth. Nu's competitive position is genuinely differentiated.</a:t>
            </a:r>
          </a:p>
          <a:p>
            <a:r>
              <a:rPr lang="en-IN" sz="1200" b="0" i="0" kern="1200" dirty="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[TRANSITION: "Now we get to the part of every research note that I consider most important. The red flags. Because there are real ones here — and two of them are live right now as I record this."]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SLIDE 10 — RED FLAGS &amp; INVESTMENT RISKS</a:t>
            </a:r>
          </a:p>
          <a:p>
            <a:r>
              <a:rPr lang="en-IN" sz="1200" b="0" i="0" kern="1200" dirty="0">
                <a:solidFill>
                  <a:schemeClr val="tx1"/>
                </a:solidFill>
                <a:effectLst/>
                <a:latin typeface="+mn-lt"/>
                <a:ea typeface="+mn-ea"/>
                <a:cs typeface="+mn-cs"/>
              </a:rPr>
              <a:t>"SECTION 7: RED FLAGS &amp; INVESTMENT RISKS"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[SERIOUS, SOBER — SPEND 6-7 MINUTES HERE]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Eight risks. Two of them I classify as critical, and both are live at the time of this recording in June 2026. Let me be completely direct with you.</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CRITICAL — Brazil Credit Quality Deterioration.</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Credit loss allowances — the provisions Nu sets aside to cover expected future loan losses — jumped 33% in recent quarters. And Brazil's Selic rate, the benchmark interest rate, remains elevated at approximately 14.75%.</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Here is why this matters. When interest rates are high, the cost of borrowing increases. Consumers who took out loans when rates were lower find repayments harder to manage. Default rates rise. And for a bank like Nu — where a meaningful portion of the credit book is unsecured consumer lending — rising defaults directly compress the net interest margin that is the engine of profitability.</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Bank of America downgraded NU to Underperform in June 2026 with a $10 price target, specifically citing this credit quality deterioration. BofA is not wrong to flag it. The NPL 90 plus day ratio — the percentage of loans more than 90 days past due — is a metric every Nu investor must watch closely every single quarter. Any sustained increase beyond 6.6% is a major red flag signal. This is the most important operational risk in the entire thesis.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To be balanced: Nu's AI underwriting is specifically designed to manage through credit cycles. The ARPAC flywheel partially protects earnings even if credit losses rise, because more revenue per customer provides more cushion. And the payroll and FGTS-backed loans — which are partially government-secured — reduce the unsecured credit exposure. But credit quality in a high-rate Brazil environment is the primary fundamental risk, and it deserves to be taken seriously.</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CRITICAL — CFO Leadership Transition Risk.</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Guilherme Lago — the architect of Nu's IPO, the person who has presented Nu's financial story to institutional investors for years, and the most investor-facing executive at the company — departs on July 13, 2026.</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Incoming CFO: Rob Livingston, formerly of Visa, with strong US capital markets credentials.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Both Bank of America and Susquehanna explicitly cited this CFO departure as a reason for their downgrades. And I want to be direct about why this matters beyond just the human capital question.</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Lago built and maintained trust with the institutional investor base. He ran the earnings calls. He built the financial disclosure framework. He answered the hard questions about credit quality, FX, and </a:t>
            </a:r>
            <a:r>
              <a:rPr lang="en-IN" sz="1200" b="0" i="0" kern="1200" dirty="0" err="1">
                <a:solidFill>
                  <a:schemeClr val="tx1"/>
                </a:solidFill>
                <a:effectLst/>
                <a:latin typeface="+mn-lt"/>
                <a:ea typeface="+mn-ea"/>
                <a:cs typeface="+mn-cs"/>
              </a:rPr>
              <a:t>LatAm</a:t>
            </a:r>
            <a:r>
              <a:rPr lang="en-IN" sz="1200" b="0" i="0" kern="1200" dirty="0">
                <a:solidFill>
                  <a:schemeClr val="tx1"/>
                </a:solidFill>
                <a:effectLst/>
                <a:latin typeface="+mn-lt"/>
                <a:ea typeface="+mn-ea"/>
                <a:cs typeface="+mn-cs"/>
              </a:rPr>
              <a:t> macro risk. When he leaves — particularly amid rising credit concerns — it creates a communication vacuum at the exact moment that institutional investors most need reassurance. Livingston may be excellent. He may build trust quickly. But trust between a company's CFO and the investor base takes quarters to establish, not weeks.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The CFO departure plus credit quality concerns plus a Q1 EPS miss — all happening simultaneously — is the explanation for why the stock sits 37% below its 52-week high despite accelerating revenue growth.</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HIGH — FX and Brazilian Real Currency Drag.</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Nu reports in US dollars but generates approximately 70% of its revenue in Brazilian Reais. When the BRL strengthens against the USD, Nu's reported US dollar revenue overstates real growth. When the BRL weakens — as it has during periods of Brazilian macro stress — reported US dollar revenue understates real growth.</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FX-neutral revenue grew 57% in Q1 2026. Reported USD revenue growth was different. The gap between these two numbers is the FX effect in that quarter. Investors who do not track FX-neutral metrics alongside reported USD metrics will misread the underlying business performance.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This is a structural feature of investing in </a:t>
            </a:r>
            <a:r>
              <a:rPr lang="en-IN" sz="1200" b="0" i="0" kern="1200" dirty="0" err="1">
                <a:solidFill>
                  <a:schemeClr val="tx1"/>
                </a:solidFill>
                <a:effectLst/>
                <a:latin typeface="+mn-lt"/>
                <a:ea typeface="+mn-ea"/>
                <a:cs typeface="+mn-cs"/>
              </a:rPr>
              <a:t>LatAm</a:t>
            </a:r>
            <a:r>
              <a:rPr lang="en-IN" sz="1200" b="0" i="0" kern="1200" dirty="0">
                <a:solidFill>
                  <a:schemeClr val="tx1"/>
                </a:solidFill>
                <a:effectLst/>
                <a:latin typeface="+mn-lt"/>
                <a:ea typeface="+mn-ea"/>
                <a:cs typeface="+mn-cs"/>
              </a:rPr>
              <a:t> companies and is not unique to Nu. But it requires discipline: always compare FX-neutral growth rates, not just headline USD numbers, when evaluating the underlying business trajectory.</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HIGH — Valuation Premium versus Growth Rate.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Nu trades at approximately 14 to 18x forward P/E on FY 2026 estimates. For a company growing revenue at 30 to 40% and net income at 40 to 50%, that multiple is not obviously expensive in isolation. But if revenue growth decelerates to 20 to 25% — which Brazil credit concerns, FX headwinds, and Mexico investment drag could all contribute to — multiple compression could be significant. The sensitivity here is real: at 10x forward P/E, the stock is approximately $7 to $8. At 25x forward P/E, it is $22 to $25. The multiple assumption drives dramatically different price outcomes.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HIGH — Competitive Pressure in Mexico and Colombia.</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BBVA and Santander have deep Mexico roots — Santander is one of the largest banks in Mexico by assets. Mercado Pago has payments dominance across the country. BBVA Mexico has already launched aggressive digital products. Nu is winning on brand and user experience in Mexico, but winning in credit is harder in a market where Nu has fewer years of data and less regulatory familiarity than in Brazil. Mexico taking longer than expected to replicate Brazil's growth curve is a real possibility that would materially change the valuation conversation.</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MEDIUM — Regulatory and Geopolitical Risk.</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Nu operates across Brazil, Mexico, Colombia, and the Cayman Islands, with a US charter in development. Each jurisdiction has its own banking regulator, capital requirements, and consumer protection framework. Brazil's </a:t>
            </a:r>
            <a:r>
              <a:rPr lang="en-IN" sz="1200" b="0" i="0" kern="1200" dirty="0" err="1">
                <a:solidFill>
                  <a:schemeClr val="tx1"/>
                </a:solidFill>
                <a:effectLst/>
                <a:latin typeface="+mn-lt"/>
                <a:ea typeface="+mn-ea"/>
                <a:cs typeface="+mn-cs"/>
              </a:rPr>
              <a:t>Bacen</a:t>
            </a:r>
            <a:r>
              <a:rPr lang="en-IN" sz="1200" b="0" i="0" kern="1200" dirty="0">
                <a:solidFill>
                  <a:schemeClr val="tx1"/>
                </a:solidFill>
                <a:effectLst/>
                <a:latin typeface="+mn-lt"/>
                <a:ea typeface="+mn-ea"/>
                <a:cs typeface="+mn-cs"/>
              </a:rPr>
              <a:t> is rigorous. Mexico's CNBV is less predictable. Any change in Open Finance regulation, capital adequacy requirements, or consumer lending rate caps could meaningfully impact the business model. This is a permanent feature of operating across multiple emerging market jurisdictions.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MEDIUM — US Bank Charter Execution Risk.</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Getting a conditional US bank charter is an achievement. Executing a US bank launch — building brand recognition from zero against JPMorgan, Bank of America, and Chime, while simultaneously managing credit quality in Brazil and building Mexico — is an enormous operational challenge. The US requires capital, management bandwidth, and regulatory compliance resources that compete with the core </a:t>
            </a:r>
            <a:r>
              <a:rPr lang="en-IN" sz="1200" b="0" i="0" kern="1200" dirty="0" err="1">
                <a:solidFill>
                  <a:schemeClr val="tx1"/>
                </a:solidFill>
                <a:effectLst/>
                <a:latin typeface="+mn-lt"/>
                <a:ea typeface="+mn-ea"/>
                <a:cs typeface="+mn-cs"/>
              </a:rPr>
              <a:t>LatAm</a:t>
            </a:r>
            <a:r>
              <a:rPr lang="en-IN" sz="1200" b="0" i="0" kern="1200" dirty="0">
                <a:solidFill>
                  <a:schemeClr val="tx1"/>
                </a:solidFill>
                <a:effectLst/>
                <a:latin typeface="+mn-lt"/>
                <a:ea typeface="+mn-ea"/>
                <a:cs typeface="+mn-cs"/>
              </a:rPr>
              <a:t> business for attention. A stumble in the US launch could distract from the core thesis.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WATCH — AI Over-Reliance and Model Risk.</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Nu's underwriting, pricing, and customer service are increasingly AI-driven. AI models are trained on historical data. In a credit cycle or macro shock scenario that looks different from historical patterns — the type of environment where models fail — Nu's proprietary AI could generate unexpected credit losses that the model did not predict and that the historical loss tolerance framework did not anticipate. This is not a reason to avoid Nu. It is a reason to watch NPL ratios with extra vigilance whenever the macro environment moves into territory that does not resemble the training data.</a:t>
            </a:r>
          </a:p>
          <a:p>
            <a:r>
              <a:rPr lang="en-IN" sz="1200" b="0" i="0" kern="1200" dirty="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[TRANSITION: "All of those risks acknowledged — let us now turn to the investment thesis. Because there is a compelling bull case here, if and only if three core beliefs hold simultaneously."]</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SLIDE 11 — INVESTMENT THESIS: THREE CORE BELIEFS</a:t>
            </a:r>
          </a:p>
          <a:p>
            <a:r>
              <a:rPr lang="en-IN" sz="1200" b="0" i="0" kern="1200" dirty="0">
                <a:solidFill>
                  <a:schemeClr val="tx1"/>
                </a:solidFill>
                <a:effectLst/>
                <a:latin typeface="+mn-lt"/>
                <a:ea typeface="+mn-ea"/>
                <a:cs typeface="+mn-cs"/>
              </a:rPr>
              <a:t>"SECTION 8: INVESTMENT THESIS — THREE CORE BELIEFS"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[STRUCTURED, ANALYTICAL — SPEND 4-5 MINUTES HERE]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This is the framework slide. The key word is: simultaneously. All three must hold at the same time.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CORE BELIEF ONE: </a:t>
            </a:r>
            <a:r>
              <a:rPr lang="en-IN" sz="1200" b="0" i="0" kern="1200" dirty="0" err="1">
                <a:solidFill>
                  <a:schemeClr val="tx1"/>
                </a:solidFill>
                <a:effectLst/>
                <a:latin typeface="+mn-lt"/>
                <a:ea typeface="+mn-ea"/>
                <a:cs typeface="+mn-cs"/>
              </a:rPr>
              <a:t>LatAm</a:t>
            </a:r>
            <a:r>
              <a:rPr lang="en-IN" sz="1200" b="0" i="0" kern="1200" dirty="0">
                <a:solidFill>
                  <a:schemeClr val="tx1"/>
                </a:solidFill>
                <a:effectLst/>
                <a:latin typeface="+mn-lt"/>
                <a:ea typeface="+mn-ea"/>
                <a:cs typeface="+mn-cs"/>
              </a:rPr>
              <a:t> Financial Inclusion Is Structural, Not Cyclical.</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IF TRUE: 650M Latin American adults. 60 to 70% were unbanked or underbanked before Nu arrived. Smartphone penetration over 80% and growing. Nu's zero-fee model creates the first viable banking product for people who were previously excluded not just by cost, but by physical access — there are no legacy bank branches in most rural and semi-urban areas of Brazil, Mexico, and Colombia. Over 50% of Brazilian adults are already Nu customers — a level of penetration that no digital bank anywhere has achieved. The structural drivers of financial inclusion — rising smartphone penetration, improving internet infrastructure, regulatory support for Open Finance — are decade-long trends, not quarter-by-quarter variables.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IF FALSE: If Brazil enters a prolonged credit crunch — rising delinquencies driven by a 14.75% Selic rate, consumer confidence collapse, or a macro recession — Nu's unsecured consumer portfolio could generate unexpected losses that overwhelm ARPAC growth for two to three years. This risk is cyclical, not structural, and the business would likely survive it. But the stock would not enjoy the period. Investors must price in the possibility that 2026 and 2027 could be years of credit pressure before the next expansion phase.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CORE BELIEF TWO: Mexico Replicates the Brazil Flywheel.</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IF TRUE: Nu reached Mexico breakeven in Q1 2026 — exactly the trajectory Brazil followed approximately four to five years earlier. Mexico has 130 million people. Banking penetration is meaningfully lower than Brazil. Nu is already the third largest financial institution in Mexico by customer count, with only 15M of the potential 130M adults. If Brazil's post-breakeven trajectory repeats — 100M customers, double-digit billions in revenue, world-class margins — Mexico adds $5 to $8 billion in annual revenue by 2030. That would make Mexico nearly as large as Brazil is today. The market is not yet pricing that scenario.</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IF FALSE: BBVA and Santander have operated in Mexico for decades. Mercado Pago dominates Mexican payments. Regulatory differences between Mexico and Brazil — particularly around consumer credit data and Open Finance — may limit Nu's ability to build the same data-driven underwriting advantage. If Mexico stays at 20 to 25M customers as a subscale contributor rather than a second Brazil, the long-term revenue ceiling is materially lower, and the current valuation is harder to justify.</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CORE BELIEF THREE: AI-Driven Efficiency Sustains a Structural Margin Advantage.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IF TRUE: 17.6% efficiency ratio is not a one-quarter anomaly. It is the compounding result of 13 years of building zero-branch, AI-native infrastructure. As ARPAC scales from $16 toward $30 to $40 per month, operating leverage should push net margins above 20%. The efficiency advantage over legacy banks does not converge — it widens. Because every time Nu adds a product or a customer, the incremental cost approaches zero. Every time legacy banks add a product, it requires new branch training, new call centre scripts, new physical marketing. The structural divergence compounds.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IF FALSE: AI model failures in a stress scenario could produce unexpected credit losses. Regulators in Brazil, Mexico, or Colombia could impose requirements for more human oversight of AI credit decisions — adding back human cost that the efficiency ratio has eliminated. US expansion could require building physical infrastructure to satisfy regulatory requirements, degrading the cost structure. And the compounding data advantage assumes models continue to improve — which is not guaranteed if the training data becomes unrepresentative of new credit cycle dynamics.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[TRANSITION: "Given all of this — what does the stock look like in three scenarios? Let us build the price targets."]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SLIDE 12 — PRICE PROJECTIONS: BULL / BASE / BEAR</a:t>
            </a:r>
          </a:p>
          <a:p>
            <a:r>
              <a:rPr lang="en-IN" sz="1200" b="0" i="0" kern="1200" dirty="0">
                <a:solidFill>
                  <a:schemeClr val="tx1"/>
                </a:solidFill>
                <a:effectLst/>
                <a:latin typeface="+mn-lt"/>
                <a:ea typeface="+mn-ea"/>
                <a:cs typeface="+mn-cs"/>
              </a:rPr>
              <a:t>"SECTION 9: PRICE PROJECTION — BULL / BASE / BEAR"</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[QUANTITATIVE, PRECISE — SPEND 4-5 MINUTES HERE]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Current market price: approximately $12. Market cap approximately $58B. Shares outstanding approximately 4.84B. Next earnings: Q2 2026 on August 18, 2026. 52-week high: $18.98. 52-week low: $11.20.</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BEAR CASE — 12-Month Target: $7 to $9.</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That is negative 42% to negative 25% from current price.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2026 estimated revenue in bear: $18 to $20B — growth decelerates sharply.</a:t>
            </a:r>
          </a:p>
          <a:p>
            <a:r>
              <a:rPr lang="en-IN" sz="1200" b="0" i="0" kern="1200" dirty="0">
                <a:solidFill>
                  <a:schemeClr val="tx1"/>
                </a:solidFill>
                <a:effectLst/>
                <a:latin typeface="+mn-lt"/>
                <a:ea typeface="+mn-ea"/>
                <a:cs typeface="+mn-cs"/>
              </a:rPr>
              <a:t>Implied multiple: 10 to 12x forward P/E — re-rated to legacy bank territory.</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Triggers required for this scenario:</a:t>
            </a:r>
          </a:p>
          <a:p>
            <a:r>
              <a:rPr lang="en-IN" sz="1200" b="0" i="0" kern="1200" dirty="0">
                <a:solidFill>
                  <a:schemeClr val="tx1"/>
                </a:solidFill>
                <a:effectLst/>
                <a:latin typeface="+mn-lt"/>
                <a:ea typeface="+mn-ea"/>
                <a:cs typeface="+mn-cs"/>
              </a:rPr>
              <a:t>Brazil NPL spike — credit losses overwhelm ARPAC growth, provisions consume a disproportionate share of gross profit.</a:t>
            </a:r>
          </a:p>
          <a:p>
            <a:r>
              <a:rPr lang="en-IN" sz="1200" b="0" i="0" kern="1200" dirty="0">
                <a:solidFill>
                  <a:schemeClr val="tx1"/>
                </a:solidFill>
                <a:effectLst/>
                <a:latin typeface="+mn-lt"/>
                <a:ea typeface="+mn-ea"/>
                <a:cs typeface="+mn-cs"/>
              </a:rPr>
              <a:t>CFO transition creates communication breakdown — Q2 2026 guidance is cut or withdrawn, confidence collapses.</a:t>
            </a:r>
          </a:p>
          <a:p>
            <a:r>
              <a:rPr lang="en-IN" sz="1200" b="0" i="0" kern="1200" dirty="0">
                <a:solidFill>
                  <a:schemeClr val="tx1"/>
                </a:solidFill>
                <a:effectLst/>
                <a:latin typeface="+mn-lt"/>
                <a:ea typeface="+mn-ea"/>
                <a:cs typeface="+mn-cs"/>
              </a:rPr>
              <a:t>Mexico growth stalls — capital drain with no near-term profitability offset.</a:t>
            </a:r>
          </a:p>
          <a:p>
            <a:r>
              <a:rPr lang="en-IN" sz="1200" b="0" i="0" kern="1200" dirty="0">
                <a:solidFill>
                  <a:schemeClr val="tx1"/>
                </a:solidFill>
                <a:effectLst/>
                <a:latin typeface="+mn-lt"/>
                <a:ea typeface="+mn-ea"/>
                <a:cs typeface="+mn-cs"/>
              </a:rPr>
              <a:t>BRL depreciates 20% or more — reported USD revenue growth misleads, looks worse than FX-neutral reality.</a:t>
            </a:r>
          </a:p>
          <a:p>
            <a:r>
              <a:rPr lang="en-IN" sz="1200" b="0" i="0" kern="1200" dirty="0">
                <a:solidFill>
                  <a:schemeClr val="tx1"/>
                </a:solidFill>
                <a:effectLst/>
                <a:latin typeface="+mn-lt"/>
                <a:ea typeface="+mn-ea"/>
                <a:cs typeface="+mn-cs"/>
              </a:rPr>
              <a:t>Multiple compression from approximately 21x to 10x as growth decelerates toward 15 to 20%.</a:t>
            </a:r>
          </a:p>
          <a:p>
            <a:r>
              <a:rPr lang="en-IN" sz="1200" b="0" i="0" kern="1200" dirty="0">
                <a:solidFill>
                  <a:schemeClr val="tx1"/>
                </a:solidFill>
                <a:effectLst/>
                <a:latin typeface="+mn-lt"/>
                <a:ea typeface="+mn-ea"/>
                <a:cs typeface="+mn-cs"/>
              </a:rPr>
              <a:t>BofA and Susquehanna bear thesis plays out in full — other institutional holders follow the downgrades.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This is not the most likely scenario. But it is not a tail risk either. It is the scenario where two or three of these triggers activate simultaneously in a six-month window. Credit quality is the most likely initial trigger. CFO transition is the amplifier.</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BASE CASE — 12-Month Target: $15 to $19.</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That is positive 25% to positive 58% from current price.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2026 estimated revenue in base: $20 to $22B — management consensus delivered.</a:t>
            </a:r>
          </a:p>
          <a:p>
            <a:r>
              <a:rPr lang="en-IN" sz="1200" b="0" i="0" kern="1200" dirty="0">
                <a:solidFill>
                  <a:schemeClr val="tx1"/>
                </a:solidFill>
                <a:effectLst/>
                <a:latin typeface="+mn-lt"/>
                <a:ea typeface="+mn-ea"/>
                <a:cs typeface="+mn-cs"/>
              </a:rPr>
              <a:t>Implied multiple: 18 to 22x forward P/E.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Triggers required:</a:t>
            </a:r>
          </a:p>
          <a:p>
            <a:r>
              <a:rPr lang="en-IN" sz="1200" b="0" i="0" kern="1200" dirty="0">
                <a:solidFill>
                  <a:schemeClr val="tx1"/>
                </a:solidFill>
                <a:effectLst/>
                <a:latin typeface="+mn-lt"/>
                <a:ea typeface="+mn-ea"/>
                <a:cs typeface="+mn-cs"/>
              </a:rPr>
              <a:t>FY 2026 consensus revenue of approximately $21.2B delivered — earnings recovery from Q1 miss.</a:t>
            </a:r>
          </a:p>
          <a:p>
            <a:r>
              <a:rPr lang="en-IN" sz="1200" b="0" i="0" kern="1200" dirty="0">
                <a:solidFill>
                  <a:schemeClr val="tx1"/>
                </a:solidFill>
                <a:effectLst/>
                <a:latin typeface="+mn-lt"/>
                <a:ea typeface="+mn-ea"/>
                <a:cs typeface="+mn-cs"/>
              </a:rPr>
              <a:t>Q2 and Q3 earnings recovery — new CFO Rob Livingston communicates effectively and rebuilds institutional trust.</a:t>
            </a:r>
          </a:p>
          <a:p>
            <a:r>
              <a:rPr lang="en-IN" sz="1200" b="0" i="0" kern="1200" dirty="0">
                <a:solidFill>
                  <a:schemeClr val="tx1"/>
                </a:solidFill>
                <a:effectLst/>
                <a:latin typeface="+mn-lt"/>
                <a:ea typeface="+mn-ea"/>
                <a:cs typeface="+mn-cs"/>
              </a:rPr>
              <a:t>Mexico segment contribution becomes visible in reporting — growth trajectory confirmed.</a:t>
            </a:r>
          </a:p>
          <a:p>
            <a:r>
              <a:rPr lang="en-IN" sz="1200" b="0" i="0" kern="1200" dirty="0">
                <a:solidFill>
                  <a:schemeClr val="tx1"/>
                </a:solidFill>
                <a:effectLst/>
                <a:latin typeface="+mn-lt"/>
                <a:ea typeface="+mn-ea"/>
                <a:cs typeface="+mn-cs"/>
              </a:rPr>
              <a:t>ARPAC continues growing $1 to $2 per quarter — cross-sell momentum sustained.</a:t>
            </a:r>
          </a:p>
          <a:p>
            <a:r>
              <a:rPr lang="en-IN" sz="1200" b="0" i="0" kern="1200" dirty="0">
                <a:solidFill>
                  <a:schemeClr val="tx1"/>
                </a:solidFill>
                <a:effectLst/>
                <a:latin typeface="+mn-lt"/>
                <a:ea typeface="+mn-ea"/>
                <a:cs typeface="+mn-cs"/>
              </a:rPr>
              <a:t>Share buyback of $1B announced in June 2026 provides a floor — management signals conviction in the valuation.</a:t>
            </a:r>
          </a:p>
          <a:p>
            <a:r>
              <a:rPr lang="en-IN" sz="1200" b="0" i="0" kern="1200" dirty="0">
                <a:solidFill>
                  <a:schemeClr val="tx1"/>
                </a:solidFill>
                <a:effectLst/>
                <a:latin typeface="+mn-lt"/>
                <a:ea typeface="+mn-ea"/>
                <a:cs typeface="+mn-cs"/>
              </a:rPr>
              <a:t>Credit quality stabilises — NPL 90 plus day ratio holds or improves from Q1 2026 levels.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This is the scenario where Nu delivers on consensus expectations, the CFO transition is handled well, and Brazil credit concerns prove manageable rather than structural. This is the most probable positive outcome.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BULL CASE — 12-Month Target: $22 to $28.</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That is positive 83% to positive 133% from current price.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2026 estimated revenue in bull: $24 to $28B — well above current consensus.</a:t>
            </a:r>
          </a:p>
          <a:p>
            <a:r>
              <a:rPr lang="en-IN" sz="1200" b="0" i="0" kern="1200" dirty="0">
                <a:solidFill>
                  <a:schemeClr val="tx1"/>
                </a:solidFill>
                <a:effectLst/>
                <a:latin typeface="+mn-lt"/>
                <a:ea typeface="+mn-ea"/>
                <a:cs typeface="+mn-cs"/>
              </a:rPr>
              <a:t>Implied multiple: 28 to 35x forward P/E.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Triggers required:</a:t>
            </a:r>
          </a:p>
          <a:p>
            <a:r>
              <a:rPr lang="en-IN" sz="1200" b="0" i="0" kern="1200" dirty="0">
                <a:solidFill>
                  <a:schemeClr val="tx1"/>
                </a:solidFill>
                <a:effectLst/>
                <a:latin typeface="+mn-lt"/>
                <a:ea typeface="+mn-ea"/>
                <a:cs typeface="+mn-cs"/>
              </a:rPr>
              <a:t>Mexico accelerates — 25M plus customers by year-end 2026, unit economics inflecting ahead of schedule.</a:t>
            </a:r>
          </a:p>
          <a:p>
            <a:r>
              <a:rPr lang="en-IN" sz="1200" b="0" i="0" kern="1200" dirty="0">
                <a:solidFill>
                  <a:schemeClr val="tx1"/>
                </a:solidFill>
                <a:effectLst/>
                <a:latin typeface="+mn-lt"/>
                <a:ea typeface="+mn-ea"/>
                <a:cs typeface="+mn-cs"/>
              </a:rPr>
              <a:t>AI underwriting allows credit limits to expand safely at scale — ARPAC surges to $20 plus per month driven by investment product adoption.</a:t>
            </a:r>
          </a:p>
          <a:p>
            <a:r>
              <a:rPr lang="en-IN" sz="1200" b="0" i="0" kern="1200" dirty="0">
                <a:solidFill>
                  <a:schemeClr val="tx1"/>
                </a:solidFill>
                <a:effectLst/>
                <a:latin typeface="+mn-lt"/>
                <a:ea typeface="+mn-ea"/>
                <a:cs typeface="+mn-cs"/>
              </a:rPr>
              <a:t>Colombia reaches Mexico-scale faster than expected — third market contributes meaningfully to the growth story.</a:t>
            </a:r>
          </a:p>
          <a:p>
            <a:r>
              <a:rPr lang="en-IN" sz="1200" b="0" i="0" kern="1200" dirty="0">
                <a:solidFill>
                  <a:schemeClr val="tx1"/>
                </a:solidFill>
                <a:effectLst/>
                <a:latin typeface="+mn-lt"/>
                <a:ea typeface="+mn-ea"/>
                <a:cs typeface="+mn-cs"/>
              </a:rPr>
              <a:t>US bank charter activated — </a:t>
            </a:r>
            <a:r>
              <a:rPr lang="en-IN" sz="1200" b="0" i="0" kern="1200" dirty="0" err="1">
                <a:solidFill>
                  <a:schemeClr val="tx1"/>
                </a:solidFill>
                <a:effectLst/>
                <a:latin typeface="+mn-lt"/>
                <a:ea typeface="+mn-ea"/>
                <a:cs typeface="+mn-cs"/>
              </a:rPr>
              <a:t>Nubank</a:t>
            </a:r>
            <a:r>
              <a:rPr lang="en-IN" sz="1200" b="0" i="0" kern="1200" dirty="0">
                <a:solidFill>
                  <a:schemeClr val="tx1"/>
                </a:solidFill>
                <a:effectLst/>
                <a:latin typeface="+mn-lt"/>
                <a:ea typeface="+mn-ea"/>
                <a:cs typeface="+mn-cs"/>
              </a:rPr>
              <a:t> N.A. launches and generates $1B plus in early revenue run-rate.</a:t>
            </a:r>
          </a:p>
          <a:p>
            <a:r>
              <a:rPr lang="en-IN" sz="1200" b="0" i="0" kern="1200" dirty="0">
                <a:solidFill>
                  <a:schemeClr val="tx1"/>
                </a:solidFill>
                <a:effectLst/>
                <a:latin typeface="+mn-lt"/>
                <a:ea typeface="+mn-ea"/>
                <a:cs typeface="+mn-cs"/>
              </a:rPr>
              <a:t>ARPAC surges driven by Nu Invest and insurance penetration — investments become a material revenue contributor.</a:t>
            </a:r>
          </a:p>
          <a:p>
            <a:r>
              <a:rPr lang="en-IN" sz="1200" b="0" i="0" kern="1200" dirty="0">
                <a:solidFill>
                  <a:schemeClr val="tx1"/>
                </a:solidFill>
                <a:effectLst/>
                <a:latin typeface="+mn-lt"/>
                <a:ea typeface="+mn-ea"/>
                <a:cs typeface="+mn-cs"/>
              </a:rPr>
              <a:t>Buyback plus strong earnings growth equals re-rating to a growth premium multiple comparable to </a:t>
            </a:r>
            <a:r>
              <a:rPr lang="en-IN" sz="1200" b="0" i="0" kern="1200" dirty="0" err="1">
                <a:solidFill>
                  <a:schemeClr val="tx1"/>
                </a:solidFill>
                <a:effectLst/>
                <a:latin typeface="+mn-lt"/>
                <a:ea typeface="+mn-ea"/>
                <a:cs typeface="+mn-cs"/>
              </a:rPr>
              <a:t>MercadoLibre</a:t>
            </a:r>
            <a:r>
              <a:rPr lang="en-IN" sz="1200" b="0" i="0" kern="1200" dirty="0">
                <a:solidFill>
                  <a:schemeClr val="tx1"/>
                </a:solidFill>
                <a:effectLst/>
                <a:latin typeface="+mn-lt"/>
                <a:ea typeface="+mn-ea"/>
                <a:cs typeface="+mn-cs"/>
              </a:rPr>
              <a:t>.</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Analyst consensus from 21 analysts: overwhelmingly Buy. Average 12-month target approximately $18.48. Highest target: $22. Low target: $10 from Bank of America. BofA Underperform at $10. Susquehanna Neutral at $13. The majority of coverage — in the $18 to $22 range — represents the base to bull case transition. The BofA $10 is the bear thesis. That wide spread — $10 to $22 on the same stock at the same moment — tells you this is a genuinely contested investment with a wide outcome distribution. Not a consensus hold. A judgment call.</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[TRANSITION: "Let us be more precise on valuation — how does Nu compare to its peers, and what multiple does it deserve?"]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SLIDE 13 — VALUATION FRAMEWORK &amp; PEER COMPARISON</a:t>
            </a:r>
          </a:p>
          <a:p>
            <a:r>
              <a:rPr lang="en-IN" sz="1200" b="0" i="0" kern="1200" dirty="0">
                <a:solidFill>
                  <a:schemeClr val="tx1"/>
                </a:solidFill>
                <a:effectLst/>
                <a:latin typeface="+mn-lt"/>
                <a:ea typeface="+mn-ea"/>
                <a:cs typeface="+mn-cs"/>
              </a:rPr>
              <a:t>"SECTION 10: VALUATION FRAMEWORK &amp; PEER COMPARISON"</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[TECHNICAL, PRECISE — SPEND 3-4 MINUTES HERE]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The current metrics:</a:t>
            </a:r>
          </a:p>
          <a:p>
            <a:r>
              <a:rPr lang="en-IN" sz="1200" b="0" i="0" kern="1200" dirty="0">
                <a:solidFill>
                  <a:schemeClr val="tx1"/>
                </a:solidFill>
                <a:effectLst/>
                <a:latin typeface="+mn-lt"/>
                <a:ea typeface="+mn-ea"/>
                <a:cs typeface="+mn-cs"/>
              </a:rPr>
              <a:t>Current price approximately $12.13. Market cap approximately $58B. Trailing P/E approximately 21x on FY 2025 earnings of approximately $0.60 per share. Forward P/E approximately 14 to 18x on FY 2026 consensus EPS of approximately $0.84. Analyst consensus price target: $18.48. Highest target: $22. Bear target: $10 from BofA.</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The peer comparison makes the valuation case interesting.</a:t>
            </a:r>
          </a:p>
          <a:p>
            <a:r>
              <a:rPr lang="en-IN" sz="1200" b="0" i="0" kern="1200" dirty="0">
                <a:solidFill>
                  <a:schemeClr val="tx1"/>
                </a:solidFill>
                <a:effectLst/>
                <a:latin typeface="+mn-lt"/>
                <a:ea typeface="+mn-ea"/>
                <a:cs typeface="+mn-cs"/>
              </a:rPr>
              <a:t> </a:t>
            </a:r>
          </a:p>
          <a:p>
            <a:r>
              <a:rPr lang="en-IN" sz="1200" b="0" i="0" kern="1200" dirty="0" err="1">
                <a:solidFill>
                  <a:schemeClr val="tx1"/>
                </a:solidFill>
                <a:effectLst/>
                <a:latin typeface="+mn-lt"/>
                <a:ea typeface="+mn-ea"/>
                <a:cs typeface="+mn-cs"/>
              </a:rPr>
              <a:t>MercadoLibre</a:t>
            </a:r>
            <a:r>
              <a:rPr lang="en-IN" sz="1200" b="0" i="0" kern="1200" dirty="0">
                <a:solidFill>
                  <a:schemeClr val="tx1"/>
                </a:solidFill>
                <a:effectLst/>
                <a:latin typeface="+mn-lt"/>
                <a:ea typeface="+mn-ea"/>
                <a:cs typeface="+mn-cs"/>
              </a:rPr>
              <a:t>: FY 2025 revenue approximately $21.3B, FY 2026 estimated $26B, NTM P/E approximately 38x, ROE approximately 35%. </a:t>
            </a:r>
            <a:r>
              <a:rPr lang="en-IN" sz="1200" b="0" i="0" kern="1200" dirty="0" err="1">
                <a:solidFill>
                  <a:schemeClr val="tx1"/>
                </a:solidFill>
                <a:effectLst/>
                <a:latin typeface="+mn-lt"/>
                <a:ea typeface="+mn-ea"/>
                <a:cs typeface="+mn-cs"/>
              </a:rPr>
              <a:t>MercadoLibre</a:t>
            </a:r>
            <a:r>
              <a:rPr lang="en-IN" sz="1200" b="0" i="0" kern="1200" dirty="0">
                <a:solidFill>
                  <a:schemeClr val="tx1"/>
                </a:solidFill>
                <a:effectLst/>
                <a:latin typeface="+mn-lt"/>
                <a:ea typeface="+mn-ea"/>
                <a:cs typeface="+mn-cs"/>
              </a:rPr>
              <a:t> trades at more than double Nu's multiple — 38x versus 14 to 18x. Both are </a:t>
            </a:r>
            <a:r>
              <a:rPr lang="en-IN" sz="1200" b="0" i="0" kern="1200" dirty="0" err="1">
                <a:solidFill>
                  <a:schemeClr val="tx1"/>
                </a:solidFill>
                <a:effectLst/>
                <a:latin typeface="+mn-lt"/>
                <a:ea typeface="+mn-ea"/>
                <a:cs typeface="+mn-cs"/>
              </a:rPr>
              <a:t>LatAm</a:t>
            </a:r>
            <a:r>
              <a:rPr lang="en-IN" sz="1200" b="0" i="0" kern="1200" dirty="0">
                <a:solidFill>
                  <a:schemeClr val="tx1"/>
                </a:solidFill>
                <a:effectLst/>
                <a:latin typeface="+mn-lt"/>
                <a:ea typeface="+mn-ea"/>
                <a:cs typeface="+mn-cs"/>
              </a:rPr>
              <a:t>-focused growth companies. Both have ROE above 29%. </a:t>
            </a:r>
            <a:r>
              <a:rPr lang="en-IN" sz="1200" b="0" i="0" kern="1200" dirty="0" err="1">
                <a:solidFill>
                  <a:schemeClr val="tx1"/>
                </a:solidFill>
                <a:effectLst/>
                <a:latin typeface="+mn-lt"/>
                <a:ea typeface="+mn-ea"/>
                <a:cs typeface="+mn-cs"/>
              </a:rPr>
              <a:t>MercadoLibre's</a:t>
            </a:r>
            <a:r>
              <a:rPr lang="en-IN" sz="1200" b="0" i="0" kern="1200" dirty="0">
                <a:solidFill>
                  <a:schemeClr val="tx1"/>
                </a:solidFill>
                <a:effectLst/>
                <a:latin typeface="+mn-lt"/>
                <a:ea typeface="+mn-ea"/>
                <a:cs typeface="+mn-cs"/>
              </a:rPr>
              <a:t> multiple premium reflects its e-commerce moat and logistics defensibility. But Nu is growing net income faster. The multiple gap is a legitimate question worth asking.</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Itaú Unibanco: FY 2025 revenue approximately $35B, NTM P/E approximately 8x, ROE approximately 22%. Nu generates a higher ROE than Itaú while growing revenue at 4 to 5 times Itaú's growth rate. If Nu continues compounding at its current trajectory, it will surpass Itaú in net income within a few years. At 8x P/E versus Nu's 14 to 18x P/E, the market is pricing Itaú as a static institution. At some point, if Nu's trajectory continues, the multiple gap between them should narrow.</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SoFi Technologies: FY 2025 revenue approximately $3.3B, NTM P/E approximately 25x, ROE approximately 8%. SoFi trades at a higher P/E than Nu despite lower growth, lower ROE, and a fraction of the customer base. The primary reason is geography — US investors are more comfortable with a US-domiciled company. Whether that geographic premium over Nu is justified is a question every investor comparing the two should sit with carefully.</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The key valuation insight on this slide: at 14 to 18x forward P/E, Nu appears to offer better value than any of its closest peers on a growth-adjusted basis. The discount exists for two reasons: </a:t>
            </a:r>
            <a:r>
              <a:rPr lang="en-IN" sz="1200" b="0" i="0" kern="1200" dirty="0" err="1">
                <a:solidFill>
                  <a:schemeClr val="tx1"/>
                </a:solidFill>
                <a:effectLst/>
                <a:latin typeface="+mn-lt"/>
                <a:ea typeface="+mn-ea"/>
                <a:cs typeface="+mn-cs"/>
              </a:rPr>
              <a:t>LatAm</a:t>
            </a:r>
            <a:r>
              <a:rPr lang="en-IN" sz="1200" b="0" i="0" kern="1200" dirty="0">
                <a:solidFill>
                  <a:schemeClr val="tx1"/>
                </a:solidFill>
                <a:effectLst/>
                <a:latin typeface="+mn-lt"/>
                <a:ea typeface="+mn-ea"/>
                <a:cs typeface="+mn-cs"/>
              </a:rPr>
              <a:t> macro risk premium and current credit quality concerns. If Brazil credit stabilises and Mexico delivers on its trajectory, the case for re-rating toward 22 to 25x forward P/E — which is where the base-to-bull target range implies — is coherent.</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The bear case to 10x forward P/E represents the scenario where the market decides to price Nu as a </a:t>
            </a:r>
            <a:r>
              <a:rPr lang="en-IN" sz="1200" b="0" i="0" kern="1200" dirty="0" err="1">
                <a:solidFill>
                  <a:schemeClr val="tx1"/>
                </a:solidFill>
                <a:effectLst/>
                <a:latin typeface="+mn-lt"/>
                <a:ea typeface="+mn-ea"/>
                <a:cs typeface="+mn-cs"/>
              </a:rPr>
              <a:t>LatAm</a:t>
            </a:r>
            <a:r>
              <a:rPr lang="en-IN" sz="1200" b="0" i="0" kern="1200" dirty="0">
                <a:solidFill>
                  <a:schemeClr val="tx1"/>
                </a:solidFill>
                <a:effectLst/>
                <a:latin typeface="+mn-lt"/>
                <a:ea typeface="+mn-ea"/>
                <a:cs typeface="+mn-cs"/>
              </a:rPr>
              <a:t> bank — not as a growth fintech — because credit deterioration makes the growth premium unjustifiable. That framing shift — from growth company to emerging market bank — is the specific risk the BofA downgrade is warning about.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[TRANSITION: "So how do you monitor this investment quarter by quarter? Let me give you the precise checklist."]</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SLIDE 14 — INVESTOR RESEARCH CHECKLIST &amp; KEY MONITORING ITEMS</a:t>
            </a:r>
          </a:p>
          <a:p>
            <a:r>
              <a:rPr lang="en-IN" sz="1200" b="0" i="0" kern="1200" dirty="0">
                <a:solidFill>
                  <a:schemeClr val="tx1"/>
                </a:solidFill>
                <a:effectLst/>
                <a:latin typeface="+mn-lt"/>
                <a:ea typeface="+mn-ea"/>
                <a:cs typeface="+mn-cs"/>
              </a:rPr>
              <a:t>"SECTION 11: INVESTOR RESEARCH CHECKLIST &amp; KEY MONITORING ITEMS"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[PRACTICAL, ACTIONABLE — SPEND 3-4 MINUTES HERE]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Four monitoring categories. Watch these every quarter, particularly around the Q2 2026 earnings on August 18.</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CATEGORY ONE: Q2 and Q3 2026 Earnings Metrics.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Next earnings: August 18, 2026. This is the most important event in the near-term Nu investment case.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Revenue versus $5.5 to $6B Q2 consensus — is the 40%+ FX-neutral growth rate sustained into the second quarter?</a:t>
            </a:r>
          </a:p>
          <a:p>
            <a:r>
              <a:rPr lang="en-IN" sz="1200" b="0" i="0" kern="1200" dirty="0">
                <a:solidFill>
                  <a:schemeClr val="tx1"/>
                </a:solidFill>
                <a:effectLst/>
                <a:latin typeface="+mn-lt"/>
                <a:ea typeface="+mn-ea"/>
                <a:cs typeface="+mn-cs"/>
              </a:rPr>
              <a:t>ARPAC trajectory: can it hold above $16 and continue quarterly progression? Any deceleration in ARPAC growth is a leading warning signal.</a:t>
            </a:r>
          </a:p>
          <a:p>
            <a:r>
              <a:rPr lang="en-IN" sz="1200" b="0" i="0" kern="1200" dirty="0">
                <a:solidFill>
                  <a:schemeClr val="tx1"/>
                </a:solidFill>
                <a:effectLst/>
                <a:latin typeface="+mn-lt"/>
                <a:ea typeface="+mn-ea"/>
                <a:cs typeface="+mn-cs"/>
              </a:rPr>
              <a:t>Efficiency ratio: Q1 2026 was 17.6%, a record. The question is whether that holds below 20% as Mexico and Colombia absorb investment. Any deterioration above 22% is worth flagging.</a:t>
            </a:r>
          </a:p>
          <a:p>
            <a:r>
              <a:rPr lang="en-IN" sz="1200" b="0" i="0" kern="1200" dirty="0">
                <a:solidFill>
                  <a:schemeClr val="tx1"/>
                </a:solidFill>
                <a:effectLst/>
                <a:latin typeface="+mn-lt"/>
                <a:ea typeface="+mn-ea"/>
                <a:cs typeface="+mn-cs"/>
              </a:rPr>
              <a:t>NPL 15 to 90 day and 90 plus day ratios: any further deterioration signals escalating credit stress. This is the single number I would watch first in the Q2 print.</a:t>
            </a:r>
          </a:p>
          <a:p>
            <a:r>
              <a:rPr lang="en-IN" sz="1200" b="0" i="0" kern="1200" dirty="0">
                <a:solidFill>
                  <a:schemeClr val="tx1"/>
                </a:solidFill>
                <a:effectLst/>
                <a:latin typeface="+mn-lt"/>
                <a:ea typeface="+mn-ea"/>
                <a:cs typeface="+mn-cs"/>
              </a:rPr>
              <a:t>Mexico quarterly ARPAC milestone: if Mexico's ARPAC is inflecting upward quarter over quarter, the Brazil flywheel replication thesis is on track.</a:t>
            </a:r>
          </a:p>
          <a:p>
            <a:r>
              <a:rPr lang="en-IN" sz="1200" b="0" i="0" kern="1200" dirty="0">
                <a:solidFill>
                  <a:schemeClr val="tx1"/>
                </a:solidFill>
                <a:effectLst/>
                <a:latin typeface="+mn-lt"/>
                <a:ea typeface="+mn-ea"/>
                <a:cs typeface="+mn-cs"/>
              </a:rPr>
              <a:t>Full-year guidance reiteration: any change in tone or narrowing of the revenue range carries outsized signal value.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CATEGORY TWO: Geographic Expansion Progress.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Mexico banking licence final operational approval — the conditional approval received in early 2026 needs to convert to full operational status. This is a regulatory unlock that enables Nu to offer full banking products rather than just credit cards.</a:t>
            </a:r>
          </a:p>
          <a:p>
            <a:r>
              <a:rPr lang="en-IN" sz="1200" b="0" i="0" kern="1200" dirty="0">
                <a:solidFill>
                  <a:schemeClr val="tx1"/>
                </a:solidFill>
                <a:effectLst/>
                <a:latin typeface="+mn-lt"/>
                <a:ea typeface="+mn-ea"/>
                <a:cs typeface="+mn-cs"/>
              </a:rPr>
              <a:t>Mexico unit economics versus Brazil: is ARPAC in Mexico growing quarter over quarter? Are credit quality metrics in Mexico tracking within acceptable bounds?</a:t>
            </a:r>
          </a:p>
          <a:p>
            <a:r>
              <a:rPr lang="en-IN" sz="1200" b="0" i="0" kern="1200" dirty="0">
                <a:solidFill>
                  <a:schemeClr val="tx1"/>
                </a:solidFill>
                <a:effectLst/>
                <a:latin typeface="+mn-lt"/>
                <a:ea typeface="+mn-ea"/>
                <a:cs typeface="+mn-cs"/>
              </a:rPr>
              <a:t>Colombia credit card portfolio growth plus deposit launch timeline — the sequence of product launches in Colombia determines how fast the Colombian flywheel starts.</a:t>
            </a:r>
          </a:p>
          <a:p>
            <a:r>
              <a:rPr lang="en-IN" sz="1200" b="0" i="0" kern="1200" dirty="0">
                <a:solidFill>
                  <a:schemeClr val="tx1"/>
                </a:solidFill>
                <a:effectLst/>
                <a:latin typeface="+mn-lt"/>
                <a:ea typeface="+mn-ea"/>
                <a:cs typeface="+mn-cs"/>
              </a:rPr>
              <a:t>US </a:t>
            </a:r>
            <a:r>
              <a:rPr lang="en-IN" sz="1200" b="0" i="0" kern="1200" dirty="0" err="1">
                <a:solidFill>
                  <a:schemeClr val="tx1"/>
                </a:solidFill>
                <a:effectLst/>
                <a:latin typeface="+mn-lt"/>
                <a:ea typeface="+mn-ea"/>
                <a:cs typeface="+mn-cs"/>
              </a:rPr>
              <a:t>Nubank</a:t>
            </a:r>
            <a:r>
              <a:rPr lang="en-IN" sz="1200" b="0" i="0" kern="1200" dirty="0">
                <a:solidFill>
                  <a:schemeClr val="tx1"/>
                </a:solidFill>
                <a:effectLst/>
                <a:latin typeface="+mn-lt"/>
                <a:ea typeface="+mn-ea"/>
                <a:cs typeface="+mn-cs"/>
              </a:rPr>
              <a:t> N.A.: FDIC and Federal Reserve approvals status. Any communication on the 18-month operational clock required post-charter approval.</a:t>
            </a:r>
          </a:p>
          <a:p>
            <a:r>
              <a:rPr lang="en-IN" sz="1200" b="0" i="0" kern="1200" dirty="0">
                <a:solidFill>
                  <a:schemeClr val="tx1"/>
                </a:solidFill>
                <a:effectLst/>
                <a:latin typeface="+mn-lt"/>
                <a:ea typeface="+mn-ea"/>
                <a:cs typeface="+mn-cs"/>
              </a:rPr>
              <a:t>US capitalisation and product launch strategy — what product does Nu launch first in the US, and what is the initial target customer?</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CATEGORY THREE: AI and Product Launches.</a:t>
            </a:r>
          </a:p>
          <a:p>
            <a:r>
              <a:rPr lang="en-IN" sz="1200" b="0" i="0" kern="1200" dirty="0">
                <a:solidFill>
                  <a:schemeClr val="tx1"/>
                </a:solidFill>
                <a:effectLst/>
                <a:latin typeface="+mn-lt"/>
                <a:ea typeface="+mn-ea"/>
                <a:cs typeface="+mn-cs"/>
              </a:rPr>
              <a:t> </a:t>
            </a:r>
          </a:p>
          <a:p>
            <a:r>
              <a:rPr lang="en-IN" sz="1200" b="0" i="0" kern="1200" dirty="0" err="1">
                <a:solidFill>
                  <a:schemeClr val="tx1"/>
                </a:solidFill>
                <a:effectLst/>
                <a:latin typeface="+mn-lt"/>
                <a:ea typeface="+mn-ea"/>
                <a:cs typeface="+mn-cs"/>
              </a:rPr>
              <a:t>NuAI</a:t>
            </a:r>
            <a:r>
              <a:rPr lang="en-IN" sz="1200" b="0" i="0" kern="1200" dirty="0">
                <a:solidFill>
                  <a:schemeClr val="tx1"/>
                </a:solidFill>
                <a:effectLst/>
                <a:latin typeface="+mn-lt"/>
                <a:ea typeface="+mn-ea"/>
                <a:cs typeface="+mn-cs"/>
              </a:rPr>
              <a:t> customer-facing rollout: how many monthly active users are engaging with the AI financial planning features? Early adoption metrics tell you whether this becomes a meaningful ARPAC driver.</a:t>
            </a:r>
          </a:p>
          <a:p>
            <a:r>
              <a:rPr lang="en-IN" sz="1200" b="0" i="0" kern="1200" dirty="0">
                <a:solidFill>
                  <a:schemeClr val="tx1"/>
                </a:solidFill>
                <a:effectLst/>
                <a:latin typeface="+mn-lt"/>
                <a:ea typeface="+mn-ea"/>
                <a:cs typeface="+mn-cs"/>
              </a:rPr>
              <a:t>PIX with AI: crossing 15M plus monthly active users — PIX is Brazil's instant payment system, and AI-powered PIX features drive engagement.</a:t>
            </a:r>
          </a:p>
          <a:p>
            <a:r>
              <a:rPr lang="en-IN" sz="1200" b="0" i="0" kern="1200" dirty="0">
                <a:solidFill>
                  <a:schemeClr val="tx1"/>
                </a:solidFill>
                <a:effectLst/>
                <a:latin typeface="+mn-lt"/>
                <a:ea typeface="+mn-ea"/>
                <a:cs typeface="+mn-cs"/>
              </a:rPr>
              <a:t>Payroll loan book — </a:t>
            </a:r>
            <a:r>
              <a:rPr lang="en-IN" sz="1200" b="0" i="0" kern="1200" dirty="0" err="1">
                <a:solidFill>
                  <a:schemeClr val="tx1"/>
                </a:solidFill>
                <a:effectLst/>
                <a:latin typeface="+mn-lt"/>
                <a:ea typeface="+mn-ea"/>
                <a:cs typeface="+mn-cs"/>
              </a:rPr>
              <a:t>crédito</a:t>
            </a:r>
            <a:r>
              <a:rPr lang="en-IN" sz="1200" b="0" i="0" kern="1200" dirty="0">
                <a:solidFill>
                  <a:schemeClr val="tx1"/>
                </a:solidFill>
                <a:effectLst/>
                <a:latin typeface="+mn-lt"/>
                <a:ea typeface="+mn-ea"/>
                <a:cs typeface="+mn-cs"/>
              </a:rPr>
              <a:t> </a:t>
            </a:r>
            <a:r>
              <a:rPr lang="en-IN" sz="1200" b="0" i="0" kern="1200" dirty="0" err="1">
                <a:solidFill>
                  <a:schemeClr val="tx1"/>
                </a:solidFill>
                <a:effectLst/>
                <a:latin typeface="+mn-lt"/>
                <a:ea typeface="+mn-ea"/>
                <a:cs typeface="+mn-cs"/>
              </a:rPr>
              <a:t>consignado</a:t>
            </a:r>
            <a:r>
              <a:rPr lang="en-IN" sz="1200" b="0" i="0" kern="1200" dirty="0">
                <a:solidFill>
                  <a:schemeClr val="tx1"/>
                </a:solidFill>
                <a:effectLst/>
                <a:latin typeface="+mn-lt"/>
                <a:ea typeface="+mn-ea"/>
                <a:cs typeface="+mn-cs"/>
              </a:rPr>
              <a:t> — growth and NPL performance. This is a new product with structural credit advantages. How fast is it scaling and at what loss rate?</a:t>
            </a:r>
          </a:p>
          <a:p>
            <a:r>
              <a:rPr lang="en-IN" sz="1200" b="0" i="0" kern="1200" dirty="0">
                <a:solidFill>
                  <a:schemeClr val="tx1"/>
                </a:solidFill>
                <a:effectLst/>
                <a:latin typeface="+mn-lt"/>
                <a:ea typeface="+mn-ea"/>
                <a:cs typeface="+mn-cs"/>
              </a:rPr>
              <a:t>SME segment customer growth and ARPAC contribution — commercial banking for small and medium enterprises is a large untapped market.</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CATEGORY FOUR: Credit Quality and Capital.</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NPL 90 plus day ratio: any systemic increase beyond 6.6% is the most important negative signal in the entire monitoring framework.</a:t>
            </a:r>
          </a:p>
          <a:p>
            <a:r>
              <a:rPr lang="en-IN" sz="1200" b="0" i="0" kern="1200" dirty="0">
                <a:solidFill>
                  <a:schemeClr val="tx1"/>
                </a:solidFill>
                <a:effectLst/>
                <a:latin typeface="+mn-lt"/>
                <a:ea typeface="+mn-ea"/>
                <a:cs typeface="+mn-cs"/>
              </a:rPr>
              <a:t>Risk-adjusted net interest margin: needs to hold above 9%. Any compression from rising provisions flags that the credit cycle is biting more than the headline revenue growth suggests.</a:t>
            </a:r>
          </a:p>
          <a:p>
            <a:r>
              <a:rPr lang="en-IN" sz="1200" b="0" i="0" kern="1200" dirty="0">
                <a:solidFill>
                  <a:schemeClr val="tx1"/>
                </a:solidFill>
                <a:effectLst/>
                <a:latin typeface="+mn-lt"/>
                <a:ea typeface="+mn-ea"/>
                <a:cs typeface="+mn-cs"/>
              </a:rPr>
              <a:t>Total credit portfolio growth rate versus revenue growth alignment — if the credit book is growing faster than revenue, provisioning costs may be building.</a:t>
            </a:r>
          </a:p>
          <a:p>
            <a:r>
              <a:rPr lang="en-IN" sz="1200" b="0" i="0" kern="1200" dirty="0">
                <a:solidFill>
                  <a:schemeClr val="tx1"/>
                </a:solidFill>
                <a:effectLst/>
                <a:latin typeface="+mn-lt"/>
                <a:ea typeface="+mn-ea"/>
                <a:cs typeface="+mn-cs"/>
              </a:rPr>
              <a:t>NuScore adoption: Nu's proprietary credit scoring tool. Rising NuScore adoption means better credit decisions at the point of origination — a positive leading indicator for future NPL trends.</a:t>
            </a:r>
          </a:p>
          <a:p>
            <a:r>
              <a:rPr lang="en-IN" sz="1200" b="0" i="0" kern="1200" dirty="0">
                <a:solidFill>
                  <a:schemeClr val="tx1"/>
                </a:solidFill>
                <a:effectLst/>
                <a:latin typeface="+mn-lt"/>
                <a:ea typeface="+mn-ea"/>
                <a:cs typeface="+mn-cs"/>
              </a:rPr>
              <a:t>Share buyback execution: the $1B buyback announced June 2026. Is it being deployed consistently? Buyback execution signals management confidence in the valuation at current levels.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CRITICAL NEAR-TERM CATALYST: Q2 2026 earnings on August 18. Mexico banking licence operational approval announcement combined with improving NPL trends equals the dual re-rating trigger that could take the stock from approximately $12 back toward the base case range of $15 to $19 in a single quarter. If instead Q2 shows further NPL deterioration or the new CFO disappoints on the earnings call, the stock tests the $10 to $11 low.</a:t>
            </a:r>
          </a:p>
          <a:p>
            <a:r>
              <a:rPr lang="en-IN" sz="1200" b="0" i="0" kern="1200" dirty="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[TRANSITION: "Let me bring this all together."]</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SLIDE 15 — NU HOLDINGS: SUMMARY VIEW</a:t>
            </a:r>
          </a:p>
          <a:p>
            <a:r>
              <a:rPr lang="en-IN" sz="1200" b="0" i="0" kern="1200" dirty="0">
                <a:solidFill>
                  <a:schemeClr val="tx1"/>
                </a:solidFill>
                <a:effectLst/>
                <a:latin typeface="+mn-lt"/>
                <a:ea typeface="+mn-ea"/>
                <a:cs typeface="+mn-cs"/>
              </a:rPr>
              <a:t>"NU HOLDINGS — Summary View"</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[REFLECTIVE, SYNTHESISING — SPEND 3-4 MINUTES HERE]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This is the one-slide version. The complete argument, compressed to five paragraphs.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ONE-LINE THESIS:</a:t>
            </a:r>
          </a:p>
          <a:p>
            <a:r>
              <a:rPr lang="en-IN" sz="1200" b="0" i="0" kern="1200" dirty="0">
                <a:solidFill>
                  <a:schemeClr val="tx1"/>
                </a:solidFill>
                <a:effectLst/>
                <a:latin typeface="+mn-lt"/>
                <a:ea typeface="+mn-ea"/>
                <a:cs typeface="+mn-cs"/>
              </a:rPr>
              <a:t>Nu Holdings is the world's most efficient digital bank — 135 million customers, 17.6% efficiency ratio, 29% return on equity — executing a compounding ARPAC flywheel across Brazil while replicating the same playbook in Mexico, which is now at the exact profitability inflection Brazil hit five years ago and is on the path to a $5 to $8 billion annual revenue market.</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WHY IT IS DIFFERENT:</a:t>
            </a:r>
          </a:p>
          <a:p>
            <a:r>
              <a:rPr lang="en-IN" sz="1200" b="0" i="0" kern="1200" dirty="0">
                <a:solidFill>
                  <a:schemeClr val="tx1"/>
                </a:solidFill>
                <a:effectLst/>
                <a:latin typeface="+mn-lt"/>
                <a:ea typeface="+mn-ea"/>
                <a:cs typeface="+mn-cs"/>
              </a:rPr>
              <a:t>Unlike Itaú and Bradesco — legacy banks locked into 45 to 60% efficiency ratios and physical branch networks — Nu has zero branch costs and AI-native underwriting that improves with every transaction. Unlike Revolut and SoFi — Western neobanks — Nu has 135 million customers and 13 years of </a:t>
            </a:r>
            <a:r>
              <a:rPr lang="en-IN" sz="1200" b="0" i="0" kern="1200" dirty="0" err="1">
                <a:solidFill>
                  <a:schemeClr val="tx1"/>
                </a:solidFill>
                <a:effectLst/>
                <a:latin typeface="+mn-lt"/>
                <a:ea typeface="+mn-ea"/>
                <a:cs typeface="+mn-cs"/>
              </a:rPr>
              <a:t>LatAm</a:t>
            </a:r>
            <a:r>
              <a:rPr lang="en-IN" sz="1200" b="0" i="0" kern="1200" dirty="0">
                <a:solidFill>
                  <a:schemeClr val="tx1"/>
                </a:solidFill>
                <a:effectLst/>
                <a:latin typeface="+mn-lt"/>
                <a:ea typeface="+mn-ea"/>
                <a:cs typeface="+mn-cs"/>
              </a:rPr>
              <a:t> </a:t>
            </a:r>
            <a:r>
              <a:rPr lang="en-IN" sz="1200" b="0" i="0" kern="1200" dirty="0" err="1">
                <a:solidFill>
                  <a:schemeClr val="tx1"/>
                </a:solidFill>
                <a:effectLst/>
                <a:latin typeface="+mn-lt"/>
                <a:ea typeface="+mn-ea"/>
                <a:cs typeface="+mn-cs"/>
              </a:rPr>
              <a:t>behavioral</a:t>
            </a:r>
            <a:r>
              <a:rPr lang="en-IN" sz="1200" b="0" i="0" kern="1200" dirty="0">
                <a:solidFill>
                  <a:schemeClr val="tx1"/>
                </a:solidFill>
                <a:effectLst/>
                <a:latin typeface="+mn-lt"/>
                <a:ea typeface="+mn-ea"/>
                <a:cs typeface="+mn-cs"/>
              </a:rPr>
              <a:t> data that no entrant can replicate. Unlike </a:t>
            </a:r>
            <a:r>
              <a:rPr lang="en-IN" sz="1200" b="0" i="0" kern="1200" dirty="0" err="1">
                <a:solidFill>
                  <a:schemeClr val="tx1"/>
                </a:solidFill>
                <a:effectLst/>
                <a:latin typeface="+mn-lt"/>
                <a:ea typeface="+mn-ea"/>
                <a:cs typeface="+mn-cs"/>
              </a:rPr>
              <a:t>MercadoPago</a:t>
            </a:r>
            <a:r>
              <a:rPr lang="en-IN" sz="1200" b="0" i="0" kern="1200" dirty="0">
                <a:solidFill>
                  <a:schemeClr val="tx1"/>
                </a:solidFill>
                <a:effectLst/>
                <a:latin typeface="+mn-lt"/>
                <a:ea typeface="+mn-ea"/>
                <a:cs typeface="+mn-cs"/>
              </a:rPr>
              <a:t> — payments-first — Nu has full banking depth across credit, savings, investments, and insurance on a single platform. The combination is genuinely unique, at a scale that no competitor has matched.</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WHAT WE LIKE:</a:t>
            </a:r>
          </a:p>
          <a:p>
            <a:r>
              <a:rPr lang="en-IN" sz="1200" b="0" i="0" kern="1200" dirty="0">
                <a:solidFill>
                  <a:schemeClr val="tx1"/>
                </a:solidFill>
                <a:effectLst/>
                <a:latin typeface="+mn-lt"/>
                <a:ea typeface="+mn-ea"/>
                <a:cs typeface="+mn-cs"/>
              </a:rPr>
              <a:t>$15.8B FY 2025 revenue growing 37% year over year. Q1 2026 revenue $5.3B — the first $5B quarter, up 57% on a foreign-exchange-neutral basis. 17.6% efficiency ratio — the most efficient major bank in the world. 29% return on equity at 135M customer scale. Mexico breakeven achieved in Q1 2026 — confirming the Brazil flywheel replication. $1B share buyback announced June 2026 — management signals conviction at current levels. ARPAC growing from $3.80 in FY 2022 to $16 today, with a $45 to $80 theoretical ceiling at Brazilian legacy bank standards. Berkshire Hathaway backing since 2018.</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WHAT WORRIES US:</a:t>
            </a:r>
          </a:p>
          <a:p>
            <a:r>
              <a:rPr lang="en-IN" sz="1200" b="0" i="0" kern="1200" dirty="0">
                <a:solidFill>
                  <a:schemeClr val="tx1"/>
                </a:solidFill>
                <a:effectLst/>
                <a:latin typeface="+mn-lt"/>
                <a:ea typeface="+mn-ea"/>
                <a:cs typeface="+mn-cs"/>
              </a:rPr>
              <a:t>Brazil credit quality deterioration — credit loss allowances up 33%, NPL ratios rising in a 14.75% Selic rate environment. CFO Guilherme Lago departure on July 13, 2026 — at the worst possible moment, as credit concerns are live and institutional trust is fragile. Q1 2026 EPS missed consensus by 10%. Bank of America downgrade to $10 target signals the bear thesis is not theoretical. BRL currency drag distorts reported USD numbers. Mexico and Colombia require sustained capital investment that suppresses near-term margins. US bank charter execution risk — US launch demands management bandwidth that competes with core </a:t>
            </a:r>
            <a:r>
              <a:rPr lang="en-IN" sz="1200" b="0" i="0" kern="1200" dirty="0" err="1">
                <a:solidFill>
                  <a:schemeClr val="tx1"/>
                </a:solidFill>
                <a:effectLst/>
                <a:latin typeface="+mn-lt"/>
                <a:ea typeface="+mn-ea"/>
                <a:cs typeface="+mn-cs"/>
              </a:rPr>
              <a:t>LatAm</a:t>
            </a:r>
            <a:r>
              <a:rPr lang="en-IN" sz="1200" b="0" i="0" kern="1200" dirty="0">
                <a:solidFill>
                  <a:schemeClr val="tx1"/>
                </a:solidFill>
                <a:effectLst/>
                <a:latin typeface="+mn-lt"/>
                <a:ea typeface="+mn-ea"/>
                <a:cs typeface="+mn-cs"/>
              </a:rPr>
              <a:t> operations.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PRICE TARGET RANGE:</a:t>
            </a:r>
          </a:p>
          <a:p>
            <a:r>
              <a:rPr lang="en-IN" sz="1200" b="0" i="0" kern="1200" dirty="0">
                <a:solidFill>
                  <a:schemeClr val="tx1"/>
                </a:solidFill>
                <a:effectLst/>
                <a:latin typeface="+mn-lt"/>
                <a:ea typeface="+mn-ea"/>
                <a:cs typeface="+mn-cs"/>
              </a:rPr>
              <a:t>Bear: $7 to $9 — Brazil credit crunch, CFO communication failure, Mexico stalls, multiple compresses to 10 to 12x forward P/E.</a:t>
            </a:r>
          </a:p>
          <a:p>
            <a:r>
              <a:rPr lang="en-IN" sz="1200" b="0" i="0" kern="1200" dirty="0">
                <a:solidFill>
                  <a:schemeClr val="tx1"/>
                </a:solidFill>
                <a:effectLst/>
                <a:latin typeface="+mn-lt"/>
                <a:ea typeface="+mn-ea"/>
                <a:cs typeface="+mn-cs"/>
              </a:rPr>
              <a:t>Base: $15 to $19 — consensus revenue delivered, ARPAC sustained, Mexico inflection confirmed, new CFO communicates well, 18 to 22x forward P/E.</a:t>
            </a:r>
          </a:p>
          <a:p>
            <a:r>
              <a:rPr lang="en-IN" sz="1200" b="0" i="0" kern="1200" dirty="0">
                <a:solidFill>
                  <a:schemeClr val="tx1"/>
                </a:solidFill>
                <a:effectLst/>
                <a:latin typeface="+mn-lt"/>
                <a:ea typeface="+mn-ea"/>
                <a:cs typeface="+mn-cs"/>
              </a:rPr>
              <a:t>Bull: $22 to $28 — Mexico accelerates to 25M plus customers, AI monetisation through Nu Invest surges ARPAC, US optionality gets priced in, platform re-rated to 28 to 35x forward P/E.</a:t>
            </a:r>
          </a:p>
          <a:p>
            <a:r>
              <a:rPr lang="en-IN" sz="1200" b="0" i="0" kern="1200" dirty="0">
                <a:solidFill>
                  <a:schemeClr val="tx1"/>
                </a:solidFill>
                <a:effectLst/>
                <a:latin typeface="+mn-lt"/>
                <a:ea typeface="+mn-ea"/>
                <a:cs typeface="+mn-cs"/>
              </a:rPr>
              <a:t>Current price approximately $12 — sitting between the bear and base scenarios, providing meaningful upside in the base case and significant downside if Brazil credit deteriorates further.</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For Research and Educational Purposes Only. Not Investment Advice. June 2026.</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[TRANSITION: "And that brings us to the close."]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SLIDE 16 — CLOSING SLIDE</a:t>
            </a:r>
          </a:p>
          <a:p>
            <a:r>
              <a:rPr lang="en-IN" sz="1200" b="0" i="0" kern="1200" dirty="0">
                <a:solidFill>
                  <a:schemeClr val="tx1"/>
                </a:solidFill>
                <a:effectLst/>
                <a:latin typeface="+mn-lt"/>
                <a:ea typeface="+mn-ea"/>
                <a:cs typeface="+mn-cs"/>
              </a:rPr>
              <a:t>"Nu Holdings — The World's Largest Digital Bank Outside Asia"</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[WARM, COMPELLING — SPEND 2-3 MINUTES — CLOSE STRONG]</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That is the full research note on Nu Holdings. NYSE: NU.</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Let me give you the five-sentence version of everything we covered today.</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ONE: Nu Holdings has done something that should not have been possible. It started a bank in 2013 with a seed cheque from Sequoia, built it from zero to 135 million customers across three countries, grew revenue from $1.7B to $15.8B in four years, achieved a 17.6% efficiency ratio that no bank in the world can match, and generated $2.9B in GAAP net income in FY 2025. The company that Brazil's banking cartel dismissed as a toy is now more valuable by market cap than any of the banks that laughed at it.</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TWO: The ARPAC flywheel is the central mechanism of the entire investment case. $3.80 per month in FY 2022. $16 per month today. $45 to $80 per month at legacy banks. Nu does not need to find new customers to double its revenue — it needs to go deeper with the 135 million it already has. Personal loans. Investments. Insurance. Payroll loans. Each one layers revenue on top of existing customer relationships with near-zero marginal acquisition cost. That is a compounding machine.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THREE: Mexico is the make-or-break thesis for the next chapter. Nu hit Mexico breakeven in Q1 2026 — the same inflection Brazil hit five years before a $11B revenue machine was built. If Mexico replicates Brazil's post-breakeven trajectory, it adds $5 to $8B in annual revenue by 2030 and the stock re-rates dramatically. If Mexico stalls — competition, regulation, data limitations — the growth ceiling is meaningfully lower. Watch Mexico ARPAC every single quarter.</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FOUR: The bear case is live and should not be dismissed. Brazil credit quality is genuinely deteriorating. The CFO who built institutional trust in this company is leaving at the worst possible moment. Bank of America — one of the most widely followed research houses covering </a:t>
            </a:r>
            <a:r>
              <a:rPr lang="en-IN" sz="1200" b="0" i="0" kern="1200" dirty="0" err="1">
                <a:solidFill>
                  <a:schemeClr val="tx1"/>
                </a:solidFill>
                <a:effectLst/>
                <a:latin typeface="+mn-lt"/>
                <a:ea typeface="+mn-ea"/>
                <a:cs typeface="+mn-cs"/>
              </a:rPr>
              <a:t>LatAm</a:t>
            </a:r>
            <a:r>
              <a:rPr lang="en-IN" sz="1200" b="0" i="0" kern="1200" dirty="0">
                <a:solidFill>
                  <a:schemeClr val="tx1"/>
                </a:solidFill>
                <a:effectLst/>
                <a:latin typeface="+mn-lt"/>
                <a:ea typeface="+mn-ea"/>
                <a:cs typeface="+mn-cs"/>
              </a:rPr>
              <a:t> banks — has a $10 price target. That is not a fringe view. If you own Nu or are considering it, you need to have a specific view on Brazil's credit cycle for the next 12 to 18 months. If you do not have that view, you do not have a complete thesis.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FIVE: At approximately $12 per share in June 2026, Nu sits between the bear and base scenarios — offering meaningful upside if the base case plays out, and meaningful downside if credit deterioration proves more severe than current provisioning reflects. For a long-term investor with a 3 to 5 year horizon, willing to hold through Brazil credit cycles and CFO transition noise, the base case return to $15 to $19 is a reasonable expected outcome. The bull case of $22 to $28 requires Mexico to deliver and AI monetisation to accelerate. That is not certain. But the structural setup — the data moat, the efficiency advantage, the ARPAC runway — is genuinely differentiated in a way that very few financial businesses in the world can claim.</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David Vélez walked into a Brazilian bank in 2012 and was treated like a suspect. Thirteen years later, the bank he built in response is worth more than the banks that treated him that way. That is a remarkable story. And the next chapter — 650 million adults across Latin America, ARPAC compounding toward $40, Mexico becoming a second Brazil — is still being written.</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Do your own research. Consult a qualified financial professional. If you found this analysis useful, please like the video, subscribe to </a:t>
            </a:r>
            <a:r>
              <a:rPr lang="en-IN" sz="1200" b="0" i="0" kern="1200" dirty="0" err="1">
                <a:solidFill>
                  <a:schemeClr val="tx1"/>
                </a:solidFill>
                <a:effectLst/>
                <a:latin typeface="+mn-lt"/>
                <a:ea typeface="+mn-ea"/>
                <a:cs typeface="+mn-cs"/>
              </a:rPr>
              <a:t>Dreamlit</a:t>
            </a:r>
            <a:r>
              <a:rPr lang="en-IN" sz="1200" b="0" i="0" kern="1200" dirty="0">
                <a:solidFill>
                  <a:schemeClr val="tx1"/>
                </a:solidFill>
                <a:effectLst/>
                <a:latin typeface="+mn-lt"/>
                <a:ea typeface="+mn-ea"/>
                <a:cs typeface="+mn-cs"/>
              </a:rPr>
              <a:t> Equity Research, and leave your perspective in the comments. What is your view on Nu? How are you thinking about Brazil's credit cycle? What data point will change your conviction?</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Thank you for spending the time with </a:t>
            </a:r>
            <a:r>
              <a:rPr lang="en-IN" sz="1200" b="0" i="0" kern="1200" dirty="0" err="1">
                <a:solidFill>
                  <a:schemeClr val="tx1"/>
                </a:solidFill>
                <a:effectLst/>
                <a:latin typeface="+mn-lt"/>
                <a:ea typeface="+mn-ea"/>
                <a:cs typeface="+mn-cs"/>
              </a:rPr>
              <a:t>Dreamlit</a:t>
            </a:r>
            <a:r>
              <a:rPr lang="en-IN" sz="1200" b="0" i="0" kern="1200" dirty="0">
                <a:solidFill>
                  <a:schemeClr val="tx1"/>
                </a:solidFill>
                <a:effectLst/>
                <a:latin typeface="+mn-lt"/>
                <a:ea typeface="+mn-ea"/>
                <a:cs typeface="+mn-cs"/>
              </a:rPr>
              <a:t> Equity Research. We will see you in the next one.</a:t>
            </a:r>
          </a:p>
          <a:p>
            <a:endParaRPr lang="en-IN"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49F3E57C-F302-4DDA-9D05-13A296E43432}" type="slidenum">
              <a:rPr lang="en-IN" smtClean="0"/>
              <a:t>16</a:t>
            </a:fld>
            <a:endParaRPr lang="en-IN"/>
          </a:p>
        </p:txBody>
      </p:sp>
    </p:spTree>
    <p:extLst>
      <p:ext uri="{BB962C8B-B14F-4D97-AF65-F5344CB8AC3E}">
        <p14:creationId xmlns:p14="http://schemas.microsoft.com/office/powerpoint/2010/main" val="879862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75983-A03A-E0ED-34EE-A443E53A5B9C}"/>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3CB8837B-0727-E855-BFDD-B99EAE6AC130}"/>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426AC85-404D-9408-28CB-801E4A5933A0}"/>
              </a:ext>
            </a:extLst>
          </p:cNvPr>
          <p:cNvSpPr>
            <a:spLocks noGrp="1"/>
          </p:cNvSpPr>
          <p:nvPr>
            <p:ph type="dt" sz="half" idx="10"/>
          </p:nvPr>
        </p:nvSpPr>
        <p:spPr/>
        <p:txBody>
          <a:bodyPr/>
          <a:lstStyle/>
          <a:p>
            <a:fld id="{E943806E-8D21-43E4-9F2D-63F27C8E0326}" type="datetimeFigureOut">
              <a:rPr lang="en-IN" smtClean="0"/>
              <a:t>08-06-2026</a:t>
            </a:fld>
            <a:endParaRPr lang="en-IN" dirty="0"/>
          </a:p>
        </p:txBody>
      </p:sp>
      <p:sp>
        <p:nvSpPr>
          <p:cNvPr id="5" name="Footer Placeholder 4">
            <a:extLst>
              <a:ext uri="{FF2B5EF4-FFF2-40B4-BE49-F238E27FC236}">
                <a16:creationId xmlns:a16="http://schemas.microsoft.com/office/drawing/2014/main" id="{E179E98B-1AF9-4875-D5B3-88859CF85A7F}"/>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3334707E-798E-7C97-CD41-D775F7DE003F}"/>
              </a:ext>
            </a:extLst>
          </p:cNvPr>
          <p:cNvSpPr>
            <a:spLocks noGrp="1"/>
          </p:cNvSpPr>
          <p:nvPr>
            <p:ph type="sldNum" sz="quarter" idx="12"/>
          </p:nvPr>
        </p:nvSpPr>
        <p:spPr/>
        <p:txBody>
          <a:bodyPr/>
          <a:lstStyle/>
          <a:p>
            <a:fld id="{85731DD7-10D8-42F8-B738-27059AAF31FC}" type="slidenum">
              <a:rPr lang="en-IN" smtClean="0"/>
              <a:t>‹#›</a:t>
            </a:fld>
            <a:endParaRPr lang="en-IN" dirty="0"/>
          </a:p>
        </p:txBody>
      </p:sp>
    </p:spTree>
    <p:extLst>
      <p:ext uri="{BB962C8B-B14F-4D97-AF65-F5344CB8AC3E}">
        <p14:creationId xmlns:p14="http://schemas.microsoft.com/office/powerpoint/2010/main" val="28999143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2_Title and Content">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98375C-9BF8-44F5-8288-D9CD158117D1}"/>
              </a:ext>
            </a:extLst>
          </p:cNvPr>
          <p:cNvSpPr>
            <a:spLocks noGrp="1"/>
          </p:cNvSpPr>
          <p:nvPr>
            <p:ph idx="1"/>
          </p:nvPr>
        </p:nvSpPr>
        <p:spPr>
          <a:xfrm>
            <a:off x="628650" y="1069674"/>
            <a:ext cx="7886700" cy="32635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a:extLst>
              <a:ext uri="{FF2B5EF4-FFF2-40B4-BE49-F238E27FC236}">
                <a16:creationId xmlns:a16="http://schemas.microsoft.com/office/drawing/2014/main" id="{6A17B0C0-2FB7-1404-61AE-3CF75D90DD02}"/>
              </a:ext>
            </a:extLst>
          </p:cNvPr>
          <p:cNvSpPr>
            <a:spLocks noGrp="1"/>
          </p:cNvSpPr>
          <p:nvPr>
            <p:ph type="title"/>
          </p:nvPr>
        </p:nvSpPr>
        <p:spPr>
          <a:xfrm>
            <a:off x="0" y="4534453"/>
            <a:ext cx="9144000" cy="609047"/>
          </a:xfrm>
          <a:solidFill>
            <a:srgbClr val="7900FF"/>
          </a:solidFill>
          <a:ln>
            <a:noFill/>
          </a:ln>
          <a:effectLst>
            <a:outerShdw blurRad="190500" dist="228600" dir="2700000" algn="ctr">
              <a:srgbClr val="000000">
                <a:alpha val="30000"/>
              </a:srgbClr>
            </a:outerShdw>
          </a:effectLst>
        </p:spPr>
        <p:txBody>
          <a:bodyPr>
            <a:normAutofit/>
          </a:bodyPr>
          <a:lstStyle>
            <a:lvl1pPr>
              <a:defRPr sz="2700" b="1">
                <a:solidFill>
                  <a:schemeClr val="bg1"/>
                </a:solidFill>
                <a:latin typeface="Aptos" panose="020B0004020202020204" pitchFamily="34" charset="0"/>
              </a:defRPr>
            </a:lvl1pPr>
          </a:lstStyle>
          <a:p>
            <a:r>
              <a:rPr lang="en-US" dirty="0"/>
              <a:t>Click to edit Master title style</a:t>
            </a:r>
          </a:p>
        </p:txBody>
      </p:sp>
      <p:sp>
        <p:nvSpPr>
          <p:cNvPr id="4" name="Slide Number Placeholder 5">
            <a:extLst>
              <a:ext uri="{FF2B5EF4-FFF2-40B4-BE49-F238E27FC236}">
                <a16:creationId xmlns:a16="http://schemas.microsoft.com/office/drawing/2014/main" id="{8B340062-B786-D72C-16AB-92EA3520AFEC}"/>
              </a:ext>
            </a:extLst>
          </p:cNvPr>
          <p:cNvSpPr>
            <a:spLocks noGrp="1"/>
          </p:cNvSpPr>
          <p:nvPr>
            <p:ph type="sldNum" sz="quarter" idx="12"/>
          </p:nvPr>
        </p:nvSpPr>
        <p:spPr>
          <a:xfrm>
            <a:off x="6182054" y="4767263"/>
            <a:ext cx="2057400" cy="273844"/>
          </a:xfrm>
        </p:spPr>
        <p:txBody>
          <a:bodyPr/>
          <a:lstStyle>
            <a:lvl1pPr>
              <a:defRPr sz="1350" b="1"/>
            </a:lvl1pPr>
          </a:lstStyle>
          <a:p>
            <a:fld id="{C2ABBCA0-D234-4812-975F-DB2C17A4DDDD}" type="slidenum">
              <a:rPr lang="en-US" smtClean="0"/>
              <a:pPr/>
              <a:t>‹#›</a:t>
            </a:fld>
            <a:endParaRPr lang="en-US" dirty="0"/>
          </a:p>
        </p:txBody>
      </p:sp>
    </p:spTree>
    <p:extLst>
      <p:ext uri="{BB962C8B-B14F-4D97-AF65-F5344CB8AC3E}">
        <p14:creationId xmlns:p14="http://schemas.microsoft.com/office/powerpoint/2010/main" val="40210837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3.svg"/><Relationship Id="rId2" Type="http://schemas.microsoft.com/office/2007/relationships/media" Target="../media/media1.mp3"/><Relationship Id="rId1" Type="http://schemas.openxmlformats.org/officeDocument/2006/relationships/audio" Target="NULL" TargetMode="Externa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microsoft.com/office/2007/relationships/media" Target="../media/media1.mp3"/><Relationship Id="rId1" Type="http://schemas.openxmlformats.org/officeDocument/2006/relationships/audio" Target="NULL" TargetMode="External"/><Relationship Id="rId6" Type="http://schemas.openxmlformats.org/officeDocument/2006/relationships/image" Target="../media/image4.svg"/><Relationship Id="rId5" Type="http://schemas.openxmlformats.org/officeDocument/2006/relationships/image" Target="../media/image2.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2.png"/><Relationship Id="rId2" Type="http://schemas.microsoft.com/office/2007/relationships/media" Target="../media/media1.mp3"/><Relationship Id="rId1" Type="http://schemas.openxmlformats.org/officeDocument/2006/relationships/audio" Target="NULL" TargetMode="External"/><Relationship Id="rId6" Type="http://schemas.openxmlformats.org/officeDocument/2006/relationships/image" Target="../media/image3.svg"/><Relationship Id="rId5" Type="http://schemas.openxmlformats.org/officeDocument/2006/relationships/image" Target="../media/image9.png"/><Relationship Id="rId4"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2A8A1E5E-F0A6-BFF6-4BED-6A02878C6352}"/>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5470" y="-7633"/>
            <a:ext cx="9133061" cy="5146234"/>
          </a:xfrm>
          <a:prstGeom prst="rect">
            <a:avLst/>
          </a:prstGeom>
        </p:spPr>
      </p:pic>
      <p:sp>
        <p:nvSpPr>
          <p:cNvPr id="4" name="Title 7">
            <a:extLst>
              <a:ext uri="{FF2B5EF4-FFF2-40B4-BE49-F238E27FC236}">
                <a16:creationId xmlns:a16="http://schemas.microsoft.com/office/drawing/2014/main" id="{B00ECB92-5091-43A0-3A50-D1D1ABDD48F6}"/>
              </a:ext>
            </a:extLst>
          </p:cNvPr>
          <p:cNvSpPr txBox="1">
            <a:spLocks/>
          </p:cNvSpPr>
          <p:nvPr/>
        </p:nvSpPr>
        <p:spPr>
          <a:xfrm>
            <a:off x="1626362" y="2451826"/>
            <a:ext cx="7514903" cy="1400900"/>
          </a:xfrm>
          <a:prstGeom prst="rect">
            <a:avLst/>
          </a:prstGeom>
          <a:solidFill>
            <a:srgbClr val="FFFFFF">
              <a:alpha val="14902"/>
            </a:srgbClr>
          </a:solidFill>
        </p:spPr>
        <p:txBody>
          <a:bodyPr vert="horz" lIns="68580" tIns="34290" rIns="68580" bIns="34290" rtlCol="0" anchor="b">
            <a:noAutofit/>
          </a:bodyPr>
          <a:lstStyle>
            <a:lvl1pPr algn="ctr" defTabSz="914400" rtl="0" eaLnBrk="1" latinLnBrk="0" hangingPunct="1">
              <a:lnSpc>
                <a:spcPct val="90000"/>
              </a:lnSpc>
              <a:spcBef>
                <a:spcPct val="0"/>
              </a:spcBef>
              <a:buNone/>
              <a:defRPr sz="6000" kern="1200">
                <a:solidFill>
                  <a:schemeClr val="bg1"/>
                </a:solidFill>
                <a:latin typeface="Aptos" panose="020B0004020202020204" pitchFamily="34" charset="0"/>
                <a:ea typeface="+mj-ea"/>
                <a:cs typeface="+mj-cs"/>
              </a:defRPr>
            </a:lvl1pPr>
          </a:lstStyle>
          <a:p>
            <a:pPr defTabSz="663179">
              <a:lnSpc>
                <a:spcPct val="120000"/>
              </a:lnSpc>
            </a:pPr>
            <a:r>
              <a:rPr lang="en-US" sz="3300" b="1" dirty="0" err="1">
                <a:solidFill>
                  <a:srgbClr val="FFFF00"/>
                </a:solidFill>
                <a:latin typeface="FN Shyamol Bangla" panose="02000600000000000000" pitchFamily="2" charset="0"/>
                <a:cs typeface="FN Shyamol Bangla" panose="02000600000000000000" pitchFamily="2" charset="0"/>
              </a:rPr>
              <a:t>Dreamlit</a:t>
            </a:r>
            <a:r>
              <a:rPr lang="en-US" sz="3300" b="1" dirty="0">
                <a:solidFill>
                  <a:srgbClr val="FFFF00"/>
                </a:solidFill>
                <a:latin typeface="FN Shyamol Bangla" panose="02000600000000000000" pitchFamily="2" charset="0"/>
                <a:cs typeface="FN Shyamol Bangla" panose="02000600000000000000" pitchFamily="2" charset="0"/>
              </a:rPr>
              <a:t> Equity Research: 5</a:t>
            </a:r>
          </a:p>
          <a:p>
            <a:pPr defTabSz="663179">
              <a:lnSpc>
                <a:spcPct val="120000"/>
              </a:lnSpc>
            </a:pPr>
            <a:r>
              <a:rPr lang="en-US" sz="2400" b="1" dirty="0">
                <a:latin typeface="FN Shyamol Bangla" panose="02000600000000000000" pitchFamily="2" charset="0"/>
                <a:cs typeface="FN Shyamol Bangla" panose="02000600000000000000" pitchFamily="2" charset="0"/>
              </a:rPr>
              <a:t>The World's Largest Digital Bank Outside Asia, </a:t>
            </a:r>
          </a:p>
          <a:p>
            <a:pPr defTabSz="663179">
              <a:lnSpc>
                <a:spcPct val="120000"/>
              </a:lnSpc>
            </a:pPr>
            <a:r>
              <a:rPr lang="en-US" sz="2400" b="1" dirty="0">
                <a:latin typeface="FN Shyamol Bangla" panose="02000600000000000000" pitchFamily="2" charset="0"/>
                <a:cs typeface="FN Shyamol Bangla" panose="02000600000000000000" pitchFamily="2" charset="0"/>
              </a:rPr>
              <a:t>Powering Latin America's Financial Revolution</a:t>
            </a:r>
          </a:p>
        </p:txBody>
      </p:sp>
      <p:pic>
        <p:nvPicPr>
          <p:cNvPr id="5" name="Untitled (2)">
            <a:hlinkClick r:id="" action="ppaction://media"/>
            <a:extLst>
              <a:ext uri="{FF2B5EF4-FFF2-40B4-BE49-F238E27FC236}">
                <a16:creationId xmlns:a16="http://schemas.microsoft.com/office/drawing/2014/main" id="{7DB4B856-C49B-D335-E682-925244857C03}"/>
              </a:ext>
            </a:extLst>
          </p:cNvPr>
          <p:cNvPicPr>
            <a:picLocks noChangeAspect="1"/>
          </p:cNvPicPr>
          <p:nvPr>
            <a:audioFile r:link="rId1"/>
            <p:extLst>
              <p:ext uri="{DAA4B4D4-6D71-4841-9C94-3DE7FCFB9230}">
                <p14:media xmlns:p14="http://schemas.microsoft.com/office/powerpoint/2010/main" r:embed="rId2">
                  <p14:trim end="213320"/>
                </p14:media>
              </p:ext>
            </p:extLst>
          </p:nvPr>
        </p:nvPicPr>
        <p:blipFill>
          <a:blip r:embed="rId6"/>
          <a:stretch>
            <a:fillRect/>
          </a:stretch>
        </p:blipFill>
        <p:spPr>
          <a:xfrm>
            <a:off x="-1282370" y="2565484"/>
            <a:ext cx="304800" cy="304800"/>
          </a:xfrm>
          <a:prstGeom prst="rect">
            <a:avLst/>
          </a:prstGeom>
        </p:spPr>
      </p:pic>
      <p:pic>
        <p:nvPicPr>
          <p:cNvPr id="26" name="Graphic 25" descr="Peacock with solid fill">
            <a:extLst>
              <a:ext uri="{FF2B5EF4-FFF2-40B4-BE49-F238E27FC236}">
                <a16:creationId xmlns:a16="http://schemas.microsoft.com/office/drawing/2014/main" id="{D51B320B-44D3-C018-F5E1-7D535FBF5E3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14646" y="2565484"/>
            <a:ext cx="999805" cy="999805"/>
          </a:xfrm>
          <a:prstGeom prst="rect">
            <a:avLst/>
          </a:prstGeom>
        </p:spPr>
      </p:pic>
    </p:spTree>
    <p:extLst>
      <p:ext uri="{BB962C8B-B14F-4D97-AF65-F5344CB8AC3E}">
        <p14:creationId xmlns:p14="http://schemas.microsoft.com/office/powerpoint/2010/main" val="2516154058"/>
      </p:ext>
    </p:extLst>
  </p:cSld>
  <p:clrMapOvr>
    <a:masterClrMapping/>
  </p:clrMapOvr>
  <mc:AlternateContent xmlns:mc="http://schemas.openxmlformats.org/markup-compatibility/2006" xmlns:p14="http://schemas.microsoft.com/office/powerpoint/2010/main">
    <mc:Choice Requires="p14">
      <p:transition spd="slow" p14:dur="2000" advTm="21535"/>
    </mc:Choice>
    <mc:Fallback xmlns="">
      <p:transition spd="slow" advTm="2153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000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5"/>
                </p:tgtEl>
              </p:cMediaNode>
            </p:audio>
          </p:childTnLst>
        </p:cTn>
      </p:par>
    </p:tnLst>
  </p:timing>
  <p:extLst>
    <p:ext uri="{E180D4A7-C9FB-4DFB-919C-405C955672EB}">
      <p14:showEvtLst xmlns:p14="http://schemas.microsoft.com/office/powerpoint/2010/main">
        <p14:playEvt time="165" objId="5"/>
        <p14:stopEvt time="10193" objId="5"/>
      </p14:showEvtLst>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532A6057-E419-E6D3-A61C-154F039901C1}"/>
              </a:ext>
            </a:extLst>
          </p:cNvPr>
          <p:cNvSpPr txBox="1">
            <a:spLocks/>
          </p:cNvSpPr>
          <p:nvPr/>
        </p:nvSpPr>
        <p:spPr>
          <a:xfrm>
            <a:off x="214462" y="177955"/>
            <a:ext cx="8929538" cy="609047"/>
          </a:xfrm>
          <a:prstGeom prst="rect">
            <a:avLst/>
          </a:prstGeom>
        </p:spPr>
        <p:txBody>
          <a:bodyPr/>
          <a:lstStyle>
            <a:lvl1pPr algn="l" defTabSz="914400" rtl="0" eaLnBrk="1" latinLnBrk="0" hangingPunct="1">
              <a:lnSpc>
                <a:spcPct val="90000"/>
              </a:lnSpc>
              <a:spcBef>
                <a:spcPct val="0"/>
              </a:spcBef>
              <a:buNone/>
              <a:defRPr sz="4400" kern="1200">
                <a:solidFill>
                  <a:schemeClr val="bg1"/>
                </a:solidFill>
                <a:latin typeface="Aptos" panose="020B0004020202020204" pitchFamily="34" charset="0"/>
                <a:ea typeface="+mj-ea"/>
                <a:cs typeface="+mj-cs"/>
              </a:defRPr>
            </a:lvl1pPr>
          </a:lstStyle>
          <a:p>
            <a:pPr algn="ctr"/>
            <a:r>
              <a:rPr lang="en-US" sz="2700" b="1" dirty="0">
                <a:solidFill>
                  <a:srgbClr val="A80C2A"/>
                </a:solidFill>
              </a:rPr>
              <a:t>DISCLAIMER</a:t>
            </a:r>
            <a:endParaRPr lang="en-IN" sz="2700" b="1" dirty="0">
              <a:solidFill>
                <a:srgbClr val="A80C2A"/>
              </a:solidFill>
            </a:endParaRPr>
          </a:p>
        </p:txBody>
      </p:sp>
      <p:pic>
        <p:nvPicPr>
          <p:cNvPr id="8" name="Untitled (2)">
            <a:hlinkClick r:id="" action="ppaction://media"/>
            <a:extLst>
              <a:ext uri="{FF2B5EF4-FFF2-40B4-BE49-F238E27FC236}">
                <a16:creationId xmlns:a16="http://schemas.microsoft.com/office/drawing/2014/main" id="{07A43B10-2FE9-CB71-0833-6F2E03897FE8}"/>
              </a:ext>
            </a:extLst>
          </p:cNvPr>
          <p:cNvPicPr>
            <a:picLocks noChangeAspect="1"/>
          </p:cNvPicPr>
          <p:nvPr>
            <a:audioFile r:link="rId1"/>
            <p:extLst>
              <p:ext uri="{DAA4B4D4-6D71-4841-9C94-3DE7FCFB9230}">
                <p14:media xmlns:p14="http://schemas.microsoft.com/office/powerpoint/2010/main" r:embed="rId2">
                  <p14:trim end="213320"/>
                </p14:media>
              </p:ext>
            </p:extLst>
          </p:nvPr>
        </p:nvPicPr>
        <p:blipFill>
          <a:blip r:embed="rId5"/>
          <a:stretch>
            <a:fillRect/>
          </a:stretch>
        </p:blipFill>
        <p:spPr>
          <a:xfrm>
            <a:off x="-1282370" y="2565484"/>
            <a:ext cx="304800" cy="304800"/>
          </a:xfrm>
          <a:prstGeom prst="rect">
            <a:avLst/>
          </a:prstGeom>
        </p:spPr>
      </p:pic>
      <p:grpSp>
        <p:nvGrpSpPr>
          <p:cNvPr id="19" name="Group 18">
            <a:extLst>
              <a:ext uri="{FF2B5EF4-FFF2-40B4-BE49-F238E27FC236}">
                <a16:creationId xmlns:a16="http://schemas.microsoft.com/office/drawing/2014/main" id="{2B399FE1-B268-5F1F-B1FA-F457719D724C}"/>
              </a:ext>
            </a:extLst>
          </p:cNvPr>
          <p:cNvGrpSpPr/>
          <p:nvPr/>
        </p:nvGrpSpPr>
        <p:grpSpPr>
          <a:xfrm>
            <a:off x="280009" y="787002"/>
            <a:ext cx="1878458" cy="4026363"/>
            <a:chOff x="844642" y="1681136"/>
            <a:chExt cx="10502712" cy="5784908"/>
          </a:xfrm>
        </p:grpSpPr>
        <p:sp>
          <p:nvSpPr>
            <p:cNvPr id="13" name="Title 7">
              <a:extLst>
                <a:ext uri="{FF2B5EF4-FFF2-40B4-BE49-F238E27FC236}">
                  <a16:creationId xmlns:a16="http://schemas.microsoft.com/office/drawing/2014/main" id="{8DE03FF1-840A-2117-3004-C30E7555EFC9}"/>
                </a:ext>
              </a:extLst>
            </p:cNvPr>
            <p:cNvSpPr txBox="1">
              <a:spLocks/>
            </p:cNvSpPr>
            <p:nvPr/>
          </p:nvSpPr>
          <p:spPr>
            <a:xfrm>
              <a:off x="844645" y="1681136"/>
              <a:ext cx="10502709" cy="574456"/>
            </a:xfrm>
            <a:prstGeom prst="rect">
              <a:avLst/>
            </a:prstGeom>
            <a:solidFill>
              <a:srgbClr val="FFFFFF">
                <a:alpha val="14902"/>
              </a:srgbClr>
            </a:solidFill>
          </p:spPr>
          <p:txBody>
            <a:bodyPr vert="horz" lIns="68580" tIns="34290" rIns="68580" bIns="34290" rtlCol="0" anchor="ctr">
              <a:noAutofit/>
            </a:bodyPr>
            <a:lstStyle>
              <a:lvl1pPr algn="ctr" defTabSz="914400" rtl="0" eaLnBrk="1" latinLnBrk="0" hangingPunct="1">
                <a:lnSpc>
                  <a:spcPct val="90000"/>
                </a:lnSpc>
                <a:spcBef>
                  <a:spcPct val="0"/>
                </a:spcBef>
                <a:buNone/>
                <a:defRPr sz="6000" kern="1200">
                  <a:solidFill>
                    <a:schemeClr val="bg1"/>
                  </a:solidFill>
                  <a:latin typeface="Aptos" panose="020B0004020202020204" pitchFamily="34" charset="0"/>
                  <a:ea typeface="+mj-ea"/>
                  <a:cs typeface="+mj-cs"/>
                </a:defRPr>
              </a:lvl1pPr>
            </a:lstStyle>
            <a:p>
              <a:pPr algn="l">
                <a:lnSpc>
                  <a:spcPct val="120000"/>
                </a:lnSpc>
              </a:pPr>
              <a:r>
                <a:rPr lang="en-US" sz="1500" b="1" dirty="0">
                  <a:solidFill>
                    <a:schemeClr val="accent4">
                      <a:lumMod val="60000"/>
                      <a:lumOff val="40000"/>
                    </a:schemeClr>
                  </a:solidFill>
                </a:rPr>
                <a:t>Content Purpose</a:t>
              </a:r>
              <a:endParaRPr lang="en-US" sz="1500" b="1" dirty="0"/>
            </a:p>
          </p:txBody>
        </p:sp>
        <p:sp>
          <p:nvSpPr>
            <p:cNvPr id="14" name="Title 7">
              <a:extLst>
                <a:ext uri="{FF2B5EF4-FFF2-40B4-BE49-F238E27FC236}">
                  <a16:creationId xmlns:a16="http://schemas.microsoft.com/office/drawing/2014/main" id="{6C2201E5-3197-6603-0D94-D576950F083D}"/>
                </a:ext>
              </a:extLst>
            </p:cNvPr>
            <p:cNvSpPr txBox="1">
              <a:spLocks/>
            </p:cNvSpPr>
            <p:nvPr/>
          </p:nvSpPr>
          <p:spPr>
            <a:xfrm>
              <a:off x="844643" y="2353603"/>
              <a:ext cx="10502709" cy="840172"/>
            </a:xfrm>
            <a:prstGeom prst="rect">
              <a:avLst/>
            </a:prstGeom>
            <a:solidFill>
              <a:srgbClr val="FFFFFF">
                <a:alpha val="14902"/>
              </a:srgbClr>
            </a:solidFill>
          </p:spPr>
          <p:txBody>
            <a:bodyPr vert="horz" lIns="68580" tIns="34290" rIns="68580" bIns="34290" rtlCol="0" anchor="ctr">
              <a:noAutofit/>
            </a:bodyPr>
            <a:lstStyle>
              <a:lvl1pPr algn="ctr" defTabSz="914400" rtl="0" eaLnBrk="1" latinLnBrk="0" hangingPunct="1">
                <a:lnSpc>
                  <a:spcPct val="90000"/>
                </a:lnSpc>
                <a:spcBef>
                  <a:spcPct val="0"/>
                </a:spcBef>
                <a:buNone/>
                <a:defRPr sz="6000" kern="1200">
                  <a:solidFill>
                    <a:schemeClr val="bg1"/>
                  </a:solidFill>
                  <a:latin typeface="Aptos" panose="020B0004020202020204" pitchFamily="34" charset="0"/>
                  <a:ea typeface="+mj-ea"/>
                  <a:cs typeface="+mj-cs"/>
                </a:defRPr>
              </a:lvl1pPr>
            </a:lstStyle>
            <a:p>
              <a:pPr algn="l">
                <a:lnSpc>
                  <a:spcPct val="120000"/>
                </a:lnSpc>
              </a:pPr>
              <a:r>
                <a:rPr lang="en-US" sz="1500" b="1" dirty="0">
                  <a:solidFill>
                    <a:schemeClr val="accent4">
                      <a:lumMod val="60000"/>
                      <a:lumOff val="40000"/>
                    </a:schemeClr>
                  </a:solidFill>
                </a:rPr>
                <a:t>Advisory Status</a:t>
              </a:r>
              <a:endParaRPr lang="en-US" sz="1500" b="1" dirty="0"/>
            </a:p>
          </p:txBody>
        </p:sp>
        <p:sp>
          <p:nvSpPr>
            <p:cNvPr id="15" name="Title 7">
              <a:extLst>
                <a:ext uri="{FF2B5EF4-FFF2-40B4-BE49-F238E27FC236}">
                  <a16:creationId xmlns:a16="http://schemas.microsoft.com/office/drawing/2014/main" id="{CBCF57AE-277C-9FDC-099E-FC2CF48253C2}"/>
                </a:ext>
              </a:extLst>
            </p:cNvPr>
            <p:cNvSpPr txBox="1">
              <a:spLocks/>
            </p:cNvSpPr>
            <p:nvPr/>
          </p:nvSpPr>
          <p:spPr>
            <a:xfrm>
              <a:off x="844645" y="3298477"/>
              <a:ext cx="10502709" cy="574456"/>
            </a:xfrm>
            <a:prstGeom prst="rect">
              <a:avLst/>
            </a:prstGeom>
            <a:solidFill>
              <a:srgbClr val="FFFFFF">
                <a:alpha val="14902"/>
              </a:srgbClr>
            </a:solidFill>
          </p:spPr>
          <p:txBody>
            <a:bodyPr vert="horz" lIns="68580" tIns="34290" rIns="68580" bIns="34290" rtlCol="0" anchor="ctr">
              <a:noAutofit/>
            </a:bodyPr>
            <a:lstStyle>
              <a:lvl1pPr algn="ctr" defTabSz="914400" rtl="0" eaLnBrk="1" latinLnBrk="0" hangingPunct="1">
                <a:lnSpc>
                  <a:spcPct val="90000"/>
                </a:lnSpc>
                <a:spcBef>
                  <a:spcPct val="0"/>
                </a:spcBef>
                <a:buNone/>
                <a:defRPr sz="6000" kern="1200">
                  <a:solidFill>
                    <a:schemeClr val="bg1"/>
                  </a:solidFill>
                  <a:latin typeface="Aptos" panose="020B0004020202020204" pitchFamily="34" charset="0"/>
                  <a:ea typeface="+mj-ea"/>
                  <a:cs typeface="+mj-cs"/>
                </a:defRPr>
              </a:lvl1pPr>
            </a:lstStyle>
            <a:p>
              <a:pPr algn="l">
                <a:lnSpc>
                  <a:spcPct val="120000"/>
                </a:lnSpc>
              </a:pPr>
              <a:r>
                <a:rPr lang="en-US" sz="1500" b="1" dirty="0">
                  <a:solidFill>
                    <a:schemeClr val="accent4">
                      <a:lumMod val="60000"/>
                      <a:lumOff val="40000"/>
                    </a:schemeClr>
                  </a:solidFill>
                </a:rPr>
                <a:t>Content Purpose</a:t>
              </a:r>
              <a:endParaRPr lang="en-US" sz="1500" b="1" dirty="0"/>
            </a:p>
          </p:txBody>
        </p:sp>
        <p:sp>
          <p:nvSpPr>
            <p:cNvPr id="16" name="Title 7">
              <a:extLst>
                <a:ext uri="{FF2B5EF4-FFF2-40B4-BE49-F238E27FC236}">
                  <a16:creationId xmlns:a16="http://schemas.microsoft.com/office/drawing/2014/main" id="{6EA068E0-2144-5C7F-CBAF-17316AA3873D}"/>
                </a:ext>
              </a:extLst>
            </p:cNvPr>
            <p:cNvSpPr txBox="1">
              <a:spLocks/>
            </p:cNvSpPr>
            <p:nvPr/>
          </p:nvSpPr>
          <p:spPr>
            <a:xfrm>
              <a:off x="844644" y="3981227"/>
              <a:ext cx="10502709" cy="574456"/>
            </a:xfrm>
            <a:prstGeom prst="rect">
              <a:avLst/>
            </a:prstGeom>
            <a:solidFill>
              <a:srgbClr val="FFFFFF">
                <a:alpha val="14902"/>
              </a:srgbClr>
            </a:solidFill>
          </p:spPr>
          <p:txBody>
            <a:bodyPr vert="horz" lIns="68580" tIns="34290" rIns="68580" bIns="34290" rtlCol="0" anchor="ctr">
              <a:noAutofit/>
            </a:bodyPr>
            <a:lstStyle>
              <a:lvl1pPr algn="ctr" defTabSz="914400" rtl="0" eaLnBrk="1" latinLnBrk="0" hangingPunct="1">
                <a:lnSpc>
                  <a:spcPct val="90000"/>
                </a:lnSpc>
                <a:spcBef>
                  <a:spcPct val="0"/>
                </a:spcBef>
                <a:buNone/>
                <a:defRPr sz="6000" kern="1200">
                  <a:solidFill>
                    <a:schemeClr val="bg1"/>
                  </a:solidFill>
                  <a:latin typeface="Aptos" panose="020B0004020202020204" pitchFamily="34" charset="0"/>
                  <a:ea typeface="+mj-ea"/>
                  <a:cs typeface="+mj-cs"/>
                </a:defRPr>
              </a:lvl1pPr>
            </a:lstStyle>
            <a:p>
              <a:pPr algn="l">
                <a:lnSpc>
                  <a:spcPct val="120000"/>
                </a:lnSpc>
              </a:pPr>
              <a:r>
                <a:rPr lang="en-US" sz="1500" b="1" dirty="0">
                  <a:solidFill>
                    <a:schemeClr val="accent4">
                      <a:lumMod val="60000"/>
                      <a:lumOff val="40000"/>
                    </a:schemeClr>
                  </a:solidFill>
                </a:rPr>
                <a:t>Risk Warning</a:t>
              </a:r>
              <a:endParaRPr lang="en-US" sz="1500" b="1" dirty="0"/>
            </a:p>
          </p:txBody>
        </p:sp>
        <p:sp>
          <p:nvSpPr>
            <p:cNvPr id="17" name="Title 7">
              <a:extLst>
                <a:ext uri="{FF2B5EF4-FFF2-40B4-BE49-F238E27FC236}">
                  <a16:creationId xmlns:a16="http://schemas.microsoft.com/office/drawing/2014/main" id="{B527A497-5FEA-5A6B-3CD5-18080708ACA0}"/>
                </a:ext>
              </a:extLst>
            </p:cNvPr>
            <p:cNvSpPr txBox="1">
              <a:spLocks/>
            </p:cNvSpPr>
            <p:nvPr/>
          </p:nvSpPr>
          <p:spPr>
            <a:xfrm>
              <a:off x="844645" y="4655469"/>
              <a:ext cx="10502709" cy="908755"/>
            </a:xfrm>
            <a:prstGeom prst="rect">
              <a:avLst/>
            </a:prstGeom>
            <a:solidFill>
              <a:srgbClr val="FFFFFF">
                <a:alpha val="14902"/>
              </a:srgbClr>
            </a:solidFill>
          </p:spPr>
          <p:txBody>
            <a:bodyPr vert="horz" lIns="68580" tIns="34290" rIns="68580" bIns="34290" rtlCol="0" anchor="ctr">
              <a:noAutofit/>
            </a:bodyPr>
            <a:lstStyle>
              <a:lvl1pPr algn="ctr" defTabSz="914400" rtl="0" eaLnBrk="1" latinLnBrk="0" hangingPunct="1">
                <a:lnSpc>
                  <a:spcPct val="90000"/>
                </a:lnSpc>
                <a:spcBef>
                  <a:spcPct val="0"/>
                </a:spcBef>
                <a:buNone/>
                <a:defRPr sz="6000" kern="1200">
                  <a:solidFill>
                    <a:schemeClr val="bg1"/>
                  </a:solidFill>
                  <a:latin typeface="Aptos" panose="020B0004020202020204" pitchFamily="34" charset="0"/>
                  <a:ea typeface="+mj-ea"/>
                  <a:cs typeface="+mj-cs"/>
                </a:defRPr>
              </a:lvl1pPr>
            </a:lstStyle>
            <a:p>
              <a:pPr algn="l">
                <a:lnSpc>
                  <a:spcPct val="120000"/>
                </a:lnSpc>
              </a:pPr>
              <a:r>
                <a:rPr lang="en-US" sz="1500" b="1" dirty="0">
                  <a:solidFill>
                    <a:schemeClr val="accent4">
                      <a:lumMod val="60000"/>
                      <a:lumOff val="40000"/>
                    </a:schemeClr>
                  </a:solidFill>
                </a:rPr>
                <a:t>Liability</a:t>
              </a:r>
              <a:endParaRPr lang="en-US" sz="1500" b="1" dirty="0"/>
            </a:p>
          </p:txBody>
        </p:sp>
        <p:sp>
          <p:nvSpPr>
            <p:cNvPr id="18" name="Title 7">
              <a:extLst>
                <a:ext uri="{FF2B5EF4-FFF2-40B4-BE49-F238E27FC236}">
                  <a16:creationId xmlns:a16="http://schemas.microsoft.com/office/drawing/2014/main" id="{AFA7281D-4100-BA9E-C295-3AE289229A46}"/>
                </a:ext>
              </a:extLst>
            </p:cNvPr>
            <p:cNvSpPr txBox="1">
              <a:spLocks/>
            </p:cNvSpPr>
            <p:nvPr/>
          </p:nvSpPr>
          <p:spPr>
            <a:xfrm>
              <a:off x="844642" y="5677694"/>
              <a:ext cx="10502709" cy="831785"/>
            </a:xfrm>
            <a:prstGeom prst="rect">
              <a:avLst/>
            </a:prstGeom>
            <a:solidFill>
              <a:srgbClr val="FFFFFF">
                <a:alpha val="14902"/>
              </a:srgbClr>
            </a:solidFill>
          </p:spPr>
          <p:txBody>
            <a:bodyPr vert="horz" lIns="68580" tIns="34290" rIns="68580" bIns="34290" rtlCol="0" anchor="ctr">
              <a:noAutofit/>
            </a:bodyPr>
            <a:lstStyle>
              <a:lvl1pPr algn="ctr" defTabSz="914400" rtl="0" eaLnBrk="1" latinLnBrk="0" hangingPunct="1">
                <a:lnSpc>
                  <a:spcPct val="90000"/>
                </a:lnSpc>
                <a:spcBef>
                  <a:spcPct val="0"/>
                </a:spcBef>
                <a:buNone/>
                <a:defRPr sz="6000" kern="1200">
                  <a:solidFill>
                    <a:schemeClr val="bg1"/>
                  </a:solidFill>
                  <a:latin typeface="Aptos" panose="020B0004020202020204" pitchFamily="34" charset="0"/>
                  <a:ea typeface="+mj-ea"/>
                  <a:cs typeface="+mj-cs"/>
                </a:defRPr>
              </a:lvl1pPr>
            </a:lstStyle>
            <a:p>
              <a:pPr algn="l">
                <a:lnSpc>
                  <a:spcPct val="120000"/>
                </a:lnSpc>
              </a:pPr>
              <a:r>
                <a:rPr lang="en-US" sz="1500" b="1" dirty="0">
                  <a:solidFill>
                    <a:schemeClr val="accent4">
                      <a:lumMod val="60000"/>
                      <a:lumOff val="40000"/>
                    </a:schemeClr>
                  </a:solidFill>
                </a:rPr>
                <a:t>Recommendation</a:t>
              </a:r>
              <a:endParaRPr lang="en-US" sz="1500" b="1" dirty="0"/>
            </a:p>
          </p:txBody>
        </p:sp>
        <p:sp>
          <p:nvSpPr>
            <p:cNvPr id="20" name="Title 7">
              <a:extLst>
                <a:ext uri="{FF2B5EF4-FFF2-40B4-BE49-F238E27FC236}">
                  <a16:creationId xmlns:a16="http://schemas.microsoft.com/office/drawing/2014/main" id="{8F206109-CA70-7440-DD11-B9C108C33E8C}"/>
                </a:ext>
              </a:extLst>
            </p:cNvPr>
            <p:cNvSpPr txBox="1">
              <a:spLocks/>
            </p:cNvSpPr>
            <p:nvPr/>
          </p:nvSpPr>
          <p:spPr>
            <a:xfrm>
              <a:off x="844642" y="6634259"/>
              <a:ext cx="10502709" cy="831785"/>
            </a:xfrm>
            <a:prstGeom prst="rect">
              <a:avLst/>
            </a:prstGeom>
            <a:solidFill>
              <a:srgbClr val="FFFFFF">
                <a:alpha val="14902"/>
              </a:srgbClr>
            </a:solidFill>
          </p:spPr>
          <p:txBody>
            <a:bodyPr vert="horz" lIns="68580" tIns="34290" rIns="68580" bIns="34290" rtlCol="0" anchor="ctr">
              <a:noAutofit/>
            </a:bodyPr>
            <a:lstStyle>
              <a:defPPr>
                <a:defRPr lang="en-US"/>
              </a:defPPr>
              <a:lvl1pPr>
                <a:lnSpc>
                  <a:spcPct val="120000"/>
                </a:lnSpc>
                <a:spcBef>
                  <a:spcPct val="0"/>
                </a:spcBef>
                <a:buNone/>
                <a:defRPr sz="2200" b="1">
                  <a:solidFill>
                    <a:schemeClr val="accent4">
                      <a:lumMod val="60000"/>
                      <a:lumOff val="40000"/>
                    </a:schemeClr>
                  </a:solidFill>
                  <a:latin typeface="Aptos" panose="020B0004020202020204" pitchFamily="34" charset="0"/>
                  <a:ea typeface="+mj-ea"/>
                  <a:cs typeface="+mj-cs"/>
                </a:defRPr>
              </a:lvl1pPr>
            </a:lstStyle>
            <a:p>
              <a:r>
                <a:rPr lang="en-US" sz="1500" dirty="0"/>
                <a:t>Legal Basis</a:t>
              </a:r>
              <a:endParaRPr lang="en-IN" sz="1500" dirty="0">
                <a:solidFill>
                  <a:schemeClr val="bg1"/>
                </a:solidFill>
              </a:endParaRPr>
            </a:p>
          </p:txBody>
        </p:sp>
      </p:grpSp>
      <p:pic>
        <p:nvPicPr>
          <p:cNvPr id="21" name="Graphic 20" descr="Warning with solid fill">
            <a:extLst>
              <a:ext uri="{FF2B5EF4-FFF2-40B4-BE49-F238E27FC236}">
                <a16:creationId xmlns:a16="http://schemas.microsoft.com/office/drawing/2014/main" id="{37B056C0-10E4-097E-7914-158229F81B8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940996" y="117407"/>
            <a:ext cx="459129" cy="450383"/>
          </a:xfrm>
          <a:prstGeom prst="rect">
            <a:avLst/>
          </a:prstGeom>
        </p:spPr>
      </p:pic>
      <p:grpSp>
        <p:nvGrpSpPr>
          <p:cNvPr id="23" name="Group 22">
            <a:extLst>
              <a:ext uri="{FF2B5EF4-FFF2-40B4-BE49-F238E27FC236}">
                <a16:creationId xmlns:a16="http://schemas.microsoft.com/office/drawing/2014/main" id="{010CD110-D3C7-B489-05AC-78F16E8A2315}"/>
              </a:ext>
            </a:extLst>
          </p:cNvPr>
          <p:cNvGrpSpPr/>
          <p:nvPr/>
        </p:nvGrpSpPr>
        <p:grpSpPr>
          <a:xfrm>
            <a:off x="2216543" y="774539"/>
            <a:ext cx="6590573" cy="4026363"/>
            <a:chOff x="844642" y="1681136"/>
            <a:chExt cx="10502712" cy="5784908"/>
          </a:xfrm>
        </p:grpSpPr>
        <p:sp>
          <p:nvSpPr>
            <p:cNvPr id="24" name="Title 7">
              <a:extLst>
                <a:ext uri="{FF2B5EF4-FFF2-40B4-BE49-F238E27FC236}">
                  <a16:creationId xmlns:a16="http://schemas.microsoft.com/office/drawing/2014/main" id="{2AD060FD-1461-559C-C0CB-682EC36EDC72}"/>
                </a:ext>
              </a:extLst>
            </p:cNvPr>
            <p:cNvSpPr txBox="1">
              <a:spLocks/>
            </p:cNvSpPr>
            <p:nvPr/>
          </p:nvSpPr>
          <p:spPr>
            <a:xfrm>
              <a:off x="844645" y="1681136"/>
              <a:ext cx="10502709" cy="574456"/>
            </a:xfrm>
            <a:prstGeom prst="rect">
              <a:avLst/>
            </a:prstGeom>
            <a:solidFill>
              <a:srgbClr val="FFFFFF">
                <a:alpha val="14902"/>
              </a:srgbClr>
            </a:solidFill>
          </p:spPr>
          <p:txBody>
            <a:bodyPr vert="horz" lIns="68580" tIns="34290" rIns="68580" bIns="34290" rtlCol="0" anchor="ctr">
              <a:noAutofit/>
            </a:bodyPr>
            <a:lstStyle>
              <a:lvl1pPr algn="ctr" defTabSz="914400" rtl="0" eaLnBrk="1" latinLnBrk="0" hangingPunct="1">
                <a:lnSpc>
                  <a:spcPct val="90000"/>
                </a:lnSpc>
                <a:spcBef>
                  <a:spcPct val="0"/>
                </a:spcBef>
                <a:buNone/>
                <a:defRPr sz="6000" kern="1200">
                  <a:solidFill>
                    <a:schemeClr val="bg1"/>
                  </a:solidFill>
                  <a:latin typeface="Aptos" panose="020B0004020202020204" pitchFamily="34" charset="0"/>
                  <a:ea typeface="+mj-ea"/>
                  <a:cs typeface="+mj-cs"/>
                </a:defRPr>
              </a:lvl1pPr>
            </a:lstStyle>
            <a:p>
              <a:pPr algn="l">
                <a:lnSpc>
                  <a:spcPct val="120000"/>
                </a:lnSpc>
              </a:pPr>
              <a:r>
                <a:rPr lang="en-US" sz="1500" b="1" dirty="0"/>
                <a:t>Educational and entertainment purposes only.</a:t>
              </a:r>
            </a:p>
          </p:txBody>
        </p:sp>
        <p:sp>
          <p:nvSpPr>
            <p:cNvPr id="25" name="Title 7">
              <a:extLst>
                <a:ext uri="{FF2B5EF4-FFF2-40B4-BE49-F238E27FC236}">
                  <a16:creationId xmlns:a16="http://schemas.microsoft.com/office/drawing/2014/main" id="{EDF3456A-9EC2-21F5-1927-378B3F1FCD3D}"/>
                </a:ext>
              </a:extLst>
            </p:cNvPr>
            <p:cNvSpPr txBox="1">
              <a:spLocks/>
            </p:cNvSpPr>
            <p:nvPr/>
          </p:nvSpPr>
          <p:spPr>
            <a:xfrm>
              <a:off x="844643" y="2353603"/>
              <a:ext cx="10502709" cy="840172"/>
            </a:xfrm>
            <a:prstGeom prst="rect">
              <a:avLst/>
            </a:prstGeom>
            <a:solidFill>
              <a:srgbClr val="FFFFFF">
                <a:alpha val="14902"/>
              </a:srgbClr>
            </a:solidFill>
          </p:spPr>
          <p:txBody>
            <a:bodyPr vert="horz" lIns="68580" tIns="34290" rIns="68580" bIns="34290" rtlCol="0" anchor="ctr">
              <a:noAutofit/>
            </a:bodyPr>
            <a:lstStyle>
              <a:lvl1pPr algn="ctr" defTabSz="914400" rtl="0" eaLnBrk="1" latinLnBrk="0" hangingPunct="1">
                <a:lnSpc>
                  <a:spcPct val="90000"/>
                </a:lnSpc>
                <a:spcBef>
                  <a:spcPct val="0"/>
                </a:spcBef>
                <a:buNone/>
                <a:defRPr sz="6000" kern="1200">
                  <a:solidFill>
                    <a:schemeClr val="bg1"/>
                  </a:solidFill>
                  <a:latin typeface="Aptos" panose="020B0004020202020204" pitchFamily="34" charset="0"/>
                  <a:ea typeface="+mj-ea"/>
                  <a:cs typeface="+mj-cs"/>
                </a:defRPr>
              </a:lvl1pPr>
            </a:lstStyle>
            <a:p>
              <a:pPr algn="l">
                <a:lnSpc>
                  <a:spcPct val="120000"/>
                </a:lnSpc>
              </a:pPr>
              <a:r>
                <a:rPr lang="en-US" sz="1500" b="1" dirty="0"/>
                <a:t>Not financial, investment, legal, or tax advice; creator is not a licensed financial advisor.</a:t>
              </a:r>
            </a:p>
          </p:txBody>
        </p:sp>
        <p:sp>
          <p:nvSpPr>
            <p:cNvPr id="26" name="Title 7">
              <a:extLst>
                <a:ext uri="{FF2B5EF4-FFF2-40B4-BE49-F238E27FC236}">
                  <a16:creationId xmlns:a16="http://schemas.microsoft.com/office/drawing/2014/main" id="{BFDFB7B4-DA49-AF99-67CC-F907E10A3F60}"/>
                </a:ext>
              </a:extLst>
            </p:cNvPr>
            <p:cNvSpPr txBox="1">
              <a:spLocks/>
            </p:cNvSpPr>
            <p:nvPr/>
          </p:nvSpPr>
          <p:spPr>
            <a:xfrm>
              <a:off x="844645" y="3298477"/>
              <a:ext cx="10502709" cy="574456"/>
            </a:xfrm>
            <a:prstGeom prst="rect">
              <a:avLst/>
            </a:prstGeom>
            <a:solidFill>
              <a:srgbClr val="FFFFFF">
                <a:alpha val="14902"/>
              </a:srgbClr>
            </a:solidFill>
          </p:spPr>
          <p:txBody>
            <a:bodyPr vert="horz" lIns="68580" tIns="34290" rIns="68580" bIns="34290" rtlCol="0" anchor="ctr">
              <a:noAutofit/>
            </a:bodyPr>
            <a:lstStyle>
              <a:lvl1pPr algn="ctr" defTabSz="914400" rtl="0" eaLnBrk="1" latinLnBrk="0" hangingPunct="1">
                <a:lnSpc>
                  <a:spcPct val="90000"/>
                </a:lnSpc>
                <a:spcBef>
                  <a:spcPct val="0"/>
                </a:spcBef>
                <a:buNone/>
                <a:defRPr sz="6000" kern="1200">
                  <a:solidFill>
                    <a:schemeClr val="bg1"/>
                  </a:solidFill>
                  <a:latin typeface="Aptos" panose="020B0004020202020204" pitchFamily="34" charset="0"/>
                  <a:ea typeface="+mj-ea"/>
                  <a:cs typeface="+mj-cs"/>
                </a:defRPr>
              </a:lvl1pPr>
            </a:lstStyle>
            <a:p>
              <a:pPr algn="l">
                <a:lnSpc>
                  <a:spcPct val="120000"/>
                </a:lnSpc>
              </a:pPr>
              <a:r>
                <a:rPr lang="en-US" sz="1500" b="1" dirty="0"/>
                <a:t>Educational and entertainment purposes only.</a:t>
              </a:r>
            </a:p>
          </p:txBody>
        </p:sp>
        <p:sp>
          <p:nvSpPr>
            <p:cNvPr id="27" name="Title 7">
              <a:extLst>
                <a:ext uri="{FF2B5EF4-FFF2-40B4-BE49-F238E27FC236}">
                  <a16:creationId xmlns:a16="http://schemas.microsoft.com/office/drawing/2014/main" id="{5C56D47E-F7CE-6904-2C81-B17CD2143C82}"/>
                </a:ext>
              </a:extLst>
            </p:cNvPr>
            <p:cNvSpPr txBox="1">
              <a:spLocks/>
            </p:cNvSpPr>
            <p:nvPr/>
          </p:nvSpPr>
          <p:spPr>
            <a:xfrm>
              <a:off x="844644" y="3981227"/>
              <a:ext cx="10502709" cy="574456"/>
            </a:xfrm>
            <a:prstGeom prst="rect">
              <a:avLst/>
            </a:prstGeom>
            <a:solidFill>
              <a:srgbClr val="FFFFFF">
                <a:alpha val="14902"/>
              </a:srgbClr>
            </a:solidFill>
          </p:spPr>
          <p:txBody>
            <a:bodyPr vert="horz" lIns="68580" tIns="34290" rIns="68580" bIns="34290" rtlCol="0" anchor="ctr">
              <a:noAutofit/>
            </a:bodyPr>
            <a:lstStyle>
              <a:lvl1pPr algn="ctr" defTabSz="914400" rtl="0" eaLnBrk="1" latinLnBrk="0" hangingPunct="1">
                <a:lnSpc>
                  <a:spcPct val="90000"/>
                </a:lnSpc>
                <a:spcBef>
                  <a:spcPct val="0"/>
                </a:spcBef>
                <a:buNone/>
                <a:defRPr sz="6000" kern="1200">
                  <a:solidFill>
                    <a:schemeClr val="bg1"/>
                  </a:solidFill>
                  <a:latin typeface="Aptos" panose="020B0004020202020204" pitchFamily="34" charset="0"/>
                  <a:ea typeface="+mj-ea"/>
                  <a:cs typeface="+mj-cs"/>
                </a:defRPr>
              </a:lvl1pPr>
            </a:lstStyle>
            <a:p>
              <a:pPr algn="l">
                <a:lnSpc>
                  <a:spcPct val="120000"/>
                </a:lnSpc>
              </a:pPr>
              <a:r>
                <a:rPr lang="en-US" sz="1500" b="1" dirty="0"/>
                <a:t>Investing involves risk, including potential loss of principal.</a:t>
              </a:r>
            </a:p>
          </p:txBody>
        </p:sp>
        <p:sp>
          <p:nvSpPr>
            <p:cNvPr id="28" name="Title 7">
              <a:extLst>
                <a:ext uri="{FF2B5EF4-FFF2-40B4-BE49-F238E27FC236}">
                  <a16:creationId xmlns:a16="http://schemas.microsoft.com/office/drawing/2014/main" id="{DFA0F27C-1198-6E1B-F6F9-1B056D0C167D}"/>
                </a:ext>
              </a:extLst>
            </p:cNvPr>
            <p:cNvSpPr txBox="1">
              <a:spLocks/>
            </p:cNvSpPr>
            <p:nvPr/>
          </p:nvSpPr>
          <p:spPr>
            <a:xfrm>
              <a:off x="844645" y="4655469"/>
              <a:ext cx="10502709" cy="908755"/>
            </a:xfrm>
            <a:prstGeom prst="rect">
              <a:avLst/>
            </a:prstGeom>
            <a:solidFill>
              <a:srgbClr val="FFFFFF">
                <a:alpha val="14902"/>
              </a:srgbClr>
            </a:solidFill>
          </p:spPr>
          <p:txBody>
            <a:bodyPr vert="horz" lIns="68580" tIns="34290" rIns="68580" bIns="34290" rtlCol="0" anchor="ctr">
              <a:noAutofit/>
            </a:bodyPr>
            <a:lstStyle>
              <a:lvl1pPr algn="ctr" defTabSz="914400" rtl="0" eaLnBrk="1" latinLnBrk="0" hangingPunct="1">
                <a:lnSpc>
                  <a:spcPct val="90000"/>
                </a:lnSpc>
                <a:spcBef>
                  <a:spcPct val="0"/>
                </a:spcBef>
                <a:buNone/>
                <a:defRPr sz="6000" kern="1200">
                  <a:solidFill>
                    <a:schemeClr val="bg1"/>
                  </a:solidFill>
                  <a:latin typeface="Aptos" panose="020B0004020202020204" pitchFamily="34" charset="0"/>
                  <a:ea typeface="+mj-ea"/>
                  <a:cs typeface="+mj-cs"/>
                </a:defRPr>
              </a:lvl1pPr>
            </a:lstStyle>
            <a:p>
              <a:pPr algn="l">
                <a:lnSpc>
                  <a:spcPct val="120000"/>
                </a:lnSpc>
              </a:pPr>
              <a:r>
                <a:rPr lang="en-US" sz="1500" b="1" dirty="0"/>
                <a:t>Opinions are the creator's own and may change without notice; the individual is responsible for their own decisions.</a:t>
              </a:r>
            </a:p>
          </p:txBody>
        </p:sp>
        <p:sp>
          <p:nvSpPr>
            <p:cNvPr id="29" name="Title 7">
              <a:extLst>
                <a:ext uri="{FF2B5EF4-FFF2-40B4-BE49-F238E27FC236}">
                  <a16:creationId xmlns:a16="http://schemas.microsoft.com/office/drawing/2014/main" id="{A7FBD42C-8131-478B-B5EB-7A1329552A73}"/>
                </a:ext>
              </a:extLst>
            </p:cNvPr>
            <p:cNvSpPr txBox="1">
              <a:spLocks/>
            </p:cNvSpPr>
            <p:nvPr/>
          </p:nvSpPr>
          <p:spPr>
            <a:xfrm>
              <a:off x="844642" y="5677694"/>
              <a:ext cx="10502709" cy="831785"/>
            </a:xfrm>
            <a:prstGeom prst="rect">
              <a:avLst/>
            </a:prstGeom>
            <a:solidFill>
              <a:srgbClr val="FFFFFF">
                <a:alpha val="14902"/>
              </a:srgbClr>
            </a:solidFill>
          </p:spPr>
          <p:txBody>
            <a:bodyPr vert="horz" lIns="68580" tIns="34290" rIns="68580" bIns="34290" rtlCol="0" anchor="ctr">
              <a:noAutofit/>
            </a:bodyPr>
            <a:lstStyle>
              <a:lvl1pPr algn="ctr" defTabSz="914400" rtl="0" eaLnBrk="1" latinLnBrk="0" hangingPunct="1">
                <a:lnSpc>
                  <a:spcPct val="90000"/>
                </a:lnSpc>
                <a:spcBef>
                  <a:spcPct val="0"/>
                </a:spcBef>
                <a:buNone/>
                <a:defRPr sz="6000" kern="1200">
                  <a:solidFill>
                    <a:schemeClr val="bg1"/>
                  </a:solidFill>
                  <a:latin typeface="Aptos" panose="020B0004020202020204" pitchFamily="34" charset="0"/>
                  <a:ea typeface="+mj-ea"/>
                  <a:cs typeface="+mj-cs"/>
                </a:defRPr>
              </a:lvl1pPr>
            </a:lstStyle>
            <a:p>
              <a:pPr algn="l">
                <a:lnSpc>
                  <a:spcPct val="120000"/>
                </a:lnSpc>
              </a:pPr>
              <a:r>
                <a:rPr lang="en-US" sz="1500" b="1" dirty="0"/>
                <a:t>Perform own research and consult a qualified professional before making investment decisions.</a:t>
              </a:r>
            </a:p>
          </p:txBody>
        </p:sp>
        <p:sp>
          <p:nvSpPr>
            <p:cNvPr id="30" name="Title 7">
              <a:extLst>
                <a:ext uri="{FF2B5EF4-FFF2-40B4-BE49-F238E27FC236}">
                  <a16:creationId xmlns:a16="http://schemas.microsoft.com/office/drawing/2014/main" id="{DB60985C-5D53-A6D2-4F49-292D5B01D5EF}"/>
                </a:ext>
              </a:extLst>
            </p:cNvPr>
            <p:cNvSpPr txBox="1">
              <a:spLocks/>
            </p:cNvSpPr>
            <p:nvPr/>
          </p:nvSpPr>
          <p:spPr>
            <a:xfrm>
              <a:off x="844642" y="6634259"/>
              <a:ext cx="10502709" cy="831785"/>
            </a:xfrm>
            <a:prstGeom prst="rect">
              <a:avLst/>
            </a:prstGeom>
            <a:solidFill>
              <a:srgbClr val="FFFFFF">
                <a:alpha val="14902"/>
              </a:srgbClr>
            </a:solidFill>
          </p:spPr>
          <p:txBody>
            <a:bodyPr vert="horz" lIns="68580" tIns="34290" rIns="68580" bIns="34290" rtlCol="0" anchor="ctr">
              <a:noAutofit/>
            </a:bodyPr>
            <a:lstStyle>
              <a:defPPr>
                <a:defRPr lang="en-US"/>
              </a:defPPr>
              <a:lvl1pPr>
                <a:lnSpc>
                  <a:spcPct val="120000"/>
                </a:lnSpc>
                <a:spcBef>
                  <a:spcPct val="0"/>
                </a:spcBef>
                <a:buNone/>
                <a:defRPr sz="2200" b="1">
                  <a:solidFill>
                    <a:schemeClr val="accent4">
                      <a:lumMod val="60000"/>
                      <a:lumOff val="40000"/>
                    </a:schemeClr>
                  </a:solidFill>
                  <a:latin typeface="Aptos" panose="020B0004020202020204" pitchFamily="34" charset="0"/>
                  <a:ea typeface="+mj-ea"/>
                  <a:cs typeface="+mj-cs"/>
                </a:defRPr>
              </a:lvl1pPr>
            </a:lstStyle>
            <a:p>
              <a:r>
                <a:rPr lang="en-US" sz="1500" dirty="0">
                  <a:solidFill>
                    <a:schemeClr val="bg1"/>
                  </a:solidFill>
                </a:rPr>
                <a:t>Third-party content is used under Fair Use for commentary, criticism, and analysis.</a:t>
              </a:r>
              <a:endParaRPr lang="en-IN" sz="1500" dirty="0">
                <a:solidFill>
                  <a:schemeClr val="bg1"/>
                </a:solidFill>
              </a:endParaRPr>
            </a:p>
          </p:txBody>
        </p:sp>
      </p:grpSp>
    </p:spTree>
    <p:extLst>
      <p:ext uri="{BB962C8B-B14F-4D97-AF65-F5344CB8AC3E}">
        <p14:creationId xmlns:p14="http://schemas.microsoft.com/office/powerpoint/2010/main" val="3726314589"/>
      </p:ext>
    </p:extLst>
  </p:cSld>
  <p:clrMapOvr>
    <a:masterClrMapping/>
  </p:clrMapOvr>
  <mc:AlternateContent xmlns:mc="http://schemas.openxmlformats.org/markup-compatibility/2006" xmlns:p14="http://schemas.microsoft.com/office/powerpoint/2010/main">
    <mc:Choice Requires="p14">
      <p:transition spd="slow" p14:dur="2000" advTm="77673"/>
    </mc:Choice>
    <mc:Fallback xmlns="">
      <p:transition spd="slow" advTm="7767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nodeType="afterEffect">
                                  <p:stCondLst>
                                    <p:cond delay="0"/>
                                  </p:stCondLst>
                                  <p:childTnLst>
                                    <p:animEffect transition="out" filter="fade">
                                      <p:cBhvr>
                                        <p:cTn id="6" dur="500" tmFilter="0, 0; .2, .5; .8, .5; 1, 0"/>
                                        <p:tgtEl>
                                          <p:spTgt spid="5">
                                            <p:txEl>
                                              <p:pRg st="0" end="0"/>
                                            </p:txEl>
                                          </p:spTgt>
                                        </p:tgtEl>
                                      </p:cBhvr>
                                    </p:animEffect>
                                    <p:animScale>
                                      <p:cBhvr>
                                        <p:cTn id="7" dur="250" autoRev="1" fill="hold"/>
                                        <p:tgtEl>
                                          <p:spTgt spid="5">
                                            <p:txEl>
                                              <p:pRg st="0" end="0"/>
                                            </p:txEl>
                                          </p:spTgt>
                                        </p:tgtEl>
                                      </p:cBhvr>
                                      <p:by x="105000" y="105000"/>
                                    </p:animScale>
                                  </p:childTnLst>
                                </p:cTn>
                              </p:par>
                            </p:childTnLst>
                          </p:cTn>
                        </p:par>
                        <p:par>
                          <p:cTn id="8" fill="hold">
                            <p:stCondLst>
                              <p:cond delay="500"/>
                            </p:stCondLst>
                            <p:childTnLst>
                              <p:par>
                                <p:cTn id="9" presetID="1" presetClass="mediacall" presetSubtype="0" fill="hold" nodeType="afterEffect">
                                  <p:stCondLst>
                                    <p:cond delay="0"/>
                                  </p:stCondLst>
                                  <p:childTnLst>
                                    <p:cmd type="call" cmd="playFrom(0.0)">
                                      <p:cBhvr>
                                        <p:cTn id="10" dur="10000"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11" fill="hold" display="0">
                  <p:stCondLst>
                    <p:cond delay="indefinite"/>
                  </p:stCondLst>
                  <p:endCondLst>
                    <p:cond evt="onStopAudio" delay="0">
                      <p:tgtEl>
                        <p:sldTgt/>
                      </p:tgtEl>
                    </p:cond>
                  </p:endCondLst>
                </p:cTn>
                <p:tgtEl>
                  <p:spTgt spid="8"/>
                </p:tgtEl>
              </p:cMediaNode>
            </p:audio>
          </p:childTnLst>
        </p:cTn>
      </p:par>
    </p:tnLst>
  </p:timing>
  <p:extLst>
    <p:ext uri="{E180D4A7-C9FB-4DFB-919C-405C955672EB}">
      <p14:showEvtLst xmlns:p14="http://schemas.microsoft.com/office/powerpoint/2010/main">
        <p14:playEvt time="551" objId="8"/>
        <p14:stopEvt time="10577" objId="8"/>
      </p14:showEvtLst>
    </p:ext>
  </p:extLs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0A1F"/>
        </a:solidFill>
        <a:effectLst/>
      </p:bgPr>
    </p:bg>
    <p:spTree>
      <p:nvGrpSpPr>
        <p:cNvPr id="1" name=""/>
        <p:cNvGrpSpPr/>
        <p:nvPr/>
      </p:nvGrpSpPr>
      <p:grpSpPr>
        <a:xfrm>
          <a:off x="0" y="0"/>
          <a:ext cx="0" cy="0"/>
          <a:chOff x="0" y="0"/>
          <a:chExt cx="0" cy="0"/>
        </a:xfrm>
      </p:grpSpPr>
      <p:sp>
        <p:nvSpPr>
          <p:cNvPr id="47" name="Shape 0">
            <a:extLst>
              <a:ext uri="{FF2B5EF4-FFF2-40B4-BE49-F238E27FC236}">
                <a16:creationId xmlns:a16="http://schemas.microsoft.com/office/drawing/2014/main" id="{6C008C46-191B-F1B3-FA40-5489DE4D9740}"/>
              </a:ext>
            </a:extLst>
          </p:cNvPr>
          <p:cNvSpPr/>
          <p:nvPr/>
        </p:nvSpPr>
        <p:spPr>
          <a:xfrm>
            <a:off x="6583680" y="0"/>
            <a:ext cx="2560320" cy="5143500"/>
          </a:xfrm>
          <a:prstGeom prst="rect">
            <a:avLst/>
          </a:prstGeom>
          <a:solidFill>
            <a:srgbClr val="6C3BF5">
              <a:alpha val="22000"/>
            </a:srgbClr>
          </a:solidFill>
          <a:ln/>
        </p:spPr>
      </p:sp>
      <p:sp>
        <p:nvSpPr>
          <p:cNvPr id="48" name="Shape 1">
            <a:extLst>
              <a:ext uri="{FF2B5EF4-FFF2-40B4-BE49-F238E27FC236}">
                <a16:creationId xmlns:a16="http://schemas.microsoft.com/office/drawing/2014/main" id="{F275A9D0-52B0-4704-726E-1895AF1EE5DD}"/>
              </a:ext>
            </a:extLst>
          </p:cNvPr>
          <p:cNvSpPr/>
          <p:nvPr/>
        </p:nvSpPr>
        <p:spPr>
          <a:xfrm>
            <a:off x="7772400" y="0"/>
            <a:ext cx="1371600" cy="5143500"/>
          </a:xfrm>
          <a:prstGeom prst="rect">
            <a:avLst/>
          </a:prstGeom>
          <a:solidFill>
            <a:srgbClr val="00D4AA">
              <a:alpha val="12000"/>
            </a:srgbClr>
          </a:solidFill>
          <a:ln/>
        </p:spPr>
      </p:sp>
      <p:sp>
        <p:nvSpPr>
          <p:cNvPr id="2" name="Text 0"/>
          <p:cNvSpPr/>
          <p:nvPr/>
        </p:nvSpPr>
        <p:spPr>
          <a:xfrm>
            <a:off x="320040" y="137160"/>
            <a:ext cx="4572000" cy="219456"/>
          </a:xfrm>
          <a:prstGeom prst="rect">
            <a:avLst/>
          </a:prstGeom>
          <a:noFill/>
          <a:ln/>
        </p:spPr>
        <p:txBody>
          <a:bodyPr wrap="square" lIns="0" tIns="0" rIns="0" bIns="0" rtlCol="0" anchor="ctr"/>
          <a:lstStyle/>
          <a:p>
            <a:pPr marL="0" indent="0">
              <a:buNone/>
            </a:pPr>
            <a:r>
              <a:rPr lang="en-US" sz="800" b="1" kern="0" spc="300" dirty="0">
                <a:solidFill>
                  <a:srgbClr val="6C3BF5"/>
                </a:solidFill>
              </a:rPr>
              <a:t>DREAMLIT EQUITY RESEARCH</a:t>
            </a:r>
            <a:endParaRPr lang="en-US" sz="800" dirty="0"/>
          </a:p>
        </p:txBody>
      </p:sp>
      <p:sp>
        <p:nvSpPr>
          <p:cNvPr id="3" name="Text 1"/>
          <p:cNvSpPr/>
          <p:nvPr/>
        </p:nvSpPr>
        <p:spPr>
          <a:xfrm>
            <a:off x="320040" y="384048"/>
            <a:ext cx="5486400" cy="658368"/>
          </a:xfrm>
          <a:prstGeom prst="rect">
            <a:avLst/>
          </a:prstGeom>
          <a:noFill/>
          <a:ln/>
        </p:spPr>
        <p:txBody>
          <a:bodyPr wrap="square" lIns="0" tIns="0" rIns="0" bIns="0" rtlCol="0" anchor="ctr"/>
          <a:lstStyle/>
          <a:p>
            <a:pPr marL="0" indent="0">
              <a:buNone/>
            </a:pPr>
            <a:r>
              <a:rPr lang="en-US" sz="3600" b="1" dirty="0">
                <a:solidFill>
                  <a:srgbClr val="FFFFFF"/>
                </a:solidFill>
              </a:rPr>
              <a:t>Nu Holdings Ltd.</a:t>
            </a:r>
            <a:endParaRPr lang="en-US" sz="3600" dirty="0"/>
          </a:p>
        </p:txBody>
      </p:sp>
      <p:sp>
        <p:nvSpPr>
          <p:cNvPr id="4" name="Text 2"/>
          <p:cNvSpPr/>
          <p:nvPr/>
        </p:nvSpPr>
        <p:spPr>
          <a:xfrm>
            <a:off x="320040" y="1086395"/>
            <a:ext cx="8503920" cy="237744"/>
          </a:xfrm>
          <a:prstGeom prst="rect">
            <a:avLst/>
          </a:prstGeom>
          <a:noFill/>
          <a:ln/>
        </p:spPr>
        <p:txBody>
          <a:bodyPr wrap="square" lIns="0" tIns="0" rIns="0" bIns="0" rtlCol="0" anchor="ctr"/>
          <a:lstStyle/>
          <a:p>
            <a:pPr marL="0" indent="0">
              <a:buNone/>
            </a:pPr>
            <a:r>
              <a:rPr lang="en-US" sz="1000" dirty="0">
                <a:solidFill>
                  <a:srgbClr val="9B96C9"/>
                </a:solidFill>
              </a:rPr>
              <a:t>NYSE: NU  |  Digital Banking  |  Consumer Finance  |  LatAm Fintech</a:t>
            </a:r>
            <a:endParaRPr lang="en-US" sz="1000" dirty="0"/>
          </a:p>
        </p:txBody>
      </p:sp>
      <p:sp>
        <p:nvSpPr>
          <p:cNvPr id="5" name="Text 3"/>
          <p:cNvSpPr/>
          <p:nvPr/>
        </p:nvSpPr>
        <p:spPr>
          <a:xfrm>
            <a:off x="320040" y="1706342"/>
            <a:ext cx="8127674" cy="457200"/>
          </a:xfrm>
          <a:prstGeom prst="rect">
            <a:avLst/>
          </a:prstGeom>
          <a:noFill/>
          <a:ln/>
        </p:spPr>
        <p:txBody>
          <a:bodyPr wrap="square" lIns="0" tIns="0" rIns="0" bIns="0" rtlCol="0" anchor="ctr"/>
          <a:lstStyle/>
          <a:p>
            <a:pPr marL="0" indent="0">
              <a:buNone/>
            </a:pPr>
            <a:r>
              <a:rPr lang="en-US" sz="1300" b="1" i="1" dirty="0">
                <a:solidFill>
                  <a:srgbClr val="00D4AA"/>
                </a:solidFill>
              </a:rPr>
              <a:t>Digital Banking Supercycle, The LatAm Financial Inclusion Revolution, And The AI-Powered Path To $30B Revenue</a:t>
            </a:r>
          </a:p>
          <a:p>
            <a:r>
              <a:rPr lang="en-US" sz="1400" b="1" i="1" dirty="0">
                <a:solidFill>
                  <a:srgbClr val="00D4AA"/>
                </a:solidFill>
              </a:rPr>
              <a:t>135M Customers. AI-Native Banking. The Berkshire-Backed </a:t>
            </a:r>
            <a:r>
              <a:rPr lang="en-US" sz="1400" b="1" i="1" dirty="0" err="1">
                <a:solidFill>
                  <a:srgbClr val="00D4AA"/>
                </a:solidFill>
              </a:rPr>
              <a:t>LatAm</a:t>
            </a:r>
            <a:r>
              <a:rPr lang="en-US" sz="1400" b="1" i="1" dirty="0">
                <a:solidFill>
                  <a:srgbClr val="00D4AA"/>
                </a:solidFill>
              </a:rPr>
              <a:t> Super-App.</a:t>
            </a:r>
            <a:endParaRPr lang="en-US" sz="1400" dirty="0"/>
          </a:p>
          <a:p>
            <a:pPr marL="0" indent="0">
              <a:buNone/>
            </a:pPr>
            <a:endParaRPr lang="en-US" sz="1300" dirty="0"/>
          </a:p>
        </p:txBody>
      </p:sp>
      <p:sp>
        <p:nvSpPr>
          <p:cNvPr id="6" name="Text 4"/>
          <p:cNvSpPr/>
          <p:nvPr/>
        </p:nvSpPr>
        <p:spPr>
          <a:xfrm>
            <a:off x="320040" y="2149826"/>
            <a:ext cx="8503920" cy="402336"/>
          </a:xfrm>
          <a:prstGeom prst="rect">
            <a:avLst/>
          </a:prstGeom>
          <a:noFill/>
          <a:ln/>
        </p:spPr>
        <p:txBody>
          <a:bodyPr wrap="square" lIns="0" tIns="0" rIns="0" bIns="0" rtlCol="0" anchor="ctr"/>
          <a:lstStyle/>
          <a:p>
            <a:pPr marL="0" indent="0">
              <a:buNone/>
            </a:pPr>
            <a:r>
              <a:rPr lang="en-US" sz="1100" dirty="0">
                <a:solidFill>
                  <a:srgbClr val="E8E4FF"/>
                </a:solidFill>
              </a:rPr>
              <a:t>The world's most valuable digital bank by customer scale — 135M customers, 83% activity rate, ARPAC $16 and climbing — rewriting financial services for 650M LatAm adults.</a:t>
            </a:r>
            <a:endParaRPr lang="en-US" sz="1100" dirty="0"/>
          </a:p>
        </p:txBody>
      </p:sp>
      <p:sp>
        <p:nvSpPr>
          <p:cNvPr id="7" name="Text 5"/>
          <p:cNvSpPr/>
          <p:nvPr/>
        </p:nvSpPr>
        <p:spPr>
          <a:xfrm>
            <a:off x="320040" y="2607026"/>
            <a:ext cx="4572000" cy="201168"/>
          </a:xfrm>
          <a:prstGeom prst="rect">
            <a:avLst/>
          </a:prstGeom>
          <a:noFill/>
          <a:ln/>
        </p:spPr>
        <p:txBody>
          <a:bodyPr wrap="square" lIns="0" tIns="0" rIns="0" bIns="0" rtlCol="0" anchor="ctr"/>
          <a:lstStyle/>
          <a:p>
            <a:pPr marL="0" indent="0">
              <a:buNone/>
            </a:pPr>
            <a:r>
              <a:rPr lang="en-US" sz="850" dirty="0">
                <a:solidFill>
                  <a:srgbClr val="8A86B8"/>
                </a:solidFill>
              </a:rPr>
              <a:t>Date: June 2026  |  Analyst: Dreamlit Quant Research</a:t>
            </a:r>
            <a:endParaRPr lang="en-US" sz="850" dirty="0"/>
          </a:p>
        </p:txBody>
      </p:sp>
      <p:grpSp>
        <p:nvGrpSpPr>
          <p:cNvPr id="51" name="Group 50">
            <a:extLst>
              <a:ext uri="{FF2B5EF4-FFF2-40B4-BE49-F238E27FC236}">
                <a16:creationId xmlns:a16="http://schemas.microsoft.com/office/drawing/2014/main" id="{EB310025-A041-7D12-6B8D-701103B89D90}"/>
              </a:ext>
            </a:extLst>
          </p:cNvPr>
          <p:cNvGrpSpPr/>
          <p:nvPr/>
        </p:nvGrpSpPr>
        <p:grpSpPr>
          <a:xfrm>
            <a:off x="320040" y="2912322"/>
            <a:ext cx="8503920" cy="1901952"/>
            <a:chOff x="320040" y="2912322"/>
            <a:chExt cx="8503920" cy="1901952"/>
          </a:xfrm>
        </p:grpSpPr>
        <p:sp>
          <p:nvSpPr>
            <p:cNvPr id="8" name="Shape 6"/>
            <p:cNvSpPr/>
            <p:nvPr/>
          </p:nvSpPr>
          <p:spPr>
            <a:xfrm>
              <a:off x="320040" y="2912322"/>
              <a:ext cx="2057400" cy="914400"/>
            </a:xfrm>
            <a:prstGeom prst="rect">
              <a:avLst/>
            </a:prstGeom>
            <a:solidFill>
              <a:srgbClr val="1E1850"/>
            </a:solidFill>
            <a:ln/>
            <a:effectLst>
              <a:outerShdw blurRad="152400" dist="50800" dir="8100000" algn="bl" rotWithShape="0">
                <a:srgbClr val="000000">
                  <a:alpha val="25000"/>
                </a:srgbClr>
              </a:outerShdw>
            </a:effectLst>
          </p:spPr>
        </p:sp>
        <p:sp>
          <p:nvSpPr>
            <p:cNvPr id="9" name="Shape 7"/>
            <p:cNvSpPr/>
            <p:nvPr/>
          </p:nvSpPr>
          <p:spPr>
            <a:xfrm>
              <a:off x="320040" y="2912322"/>
              <a:ext cx="2057400" cy="36576"/>
            </a:xfrm>
            <a:prstGeom prst="rect">
              <a:avLst/>
            </a:prstGeom>
            <a:solidFill>
              <a:srgbClr val="6C3BF5"/>
            </a:solidFill>
            <a:ln/>
          </p:spPr>
        </p:sp>
        <p:sp>
          <p:nvSpPr>
            <p:cNvPr id="10" name="Text 8"/>
            <p:cNvSpPr/>
            <p:nvPr/>
          </p:nvSpPr>
          <p:spPr>
            <a:xfrm>
              <a:off x="429768" y="3022050"/>
              <a:ext cx="1837944" cy="201168"/>
            </a:xfrm>
            <a:prstGeom prst="rect">
              <a:avLst/>
            </a:prstGeom>
            <a:noFill/>
            <a:ln/>
          </p:spPr>
          <p:txBody>
            <a:bodyPr wrap="square" lIns="0" tIns="0" rIns="0" bIns="0" rtlCol="0" anchor="ctr"/>
            <a:lstStyle/>
            <a:p>
              <a:pPr marL="0" indent="0">
                <a:buNone/>
              </a:pPr>
              <a:r>
                <a:rPr lang="en-US" sz="800" dirty="0">
                  <a:solidFill>
                    <a:srgbClr val="9B96C9"/>
                  </a:solidFill>
                </a:rPr>
                <a:t>Market Cap</a:t>
              </a:r>
              <a:endParaRPr lang="en-US" sz="800" dirty="0"/>
            </a:p>
          </p:txBody>
        </p:sp>
        <p:sp>
          <p:nvSpPr>
            <p:cNvPr id="11" name="Text 9"/>
            <p:cNvSpPr/>
            <p:nvPr/>
          </p:nvSpPr>
          <p:spPr>
            <a:xfrm>
              <a:off x="429768" y="3204930"/>
              <a:ext cx="1837944" cy="384048"/>
            </a:xfrm>
            <a:prstGeom prst="rect">
              <a:avLst/>
            </a:prstGeom>
            <a:noFill/>
            <a:ln/>
          </p:spPr>
          <p:txBody>
            <a:bodyPr wrap="square" lIns="0" tIns="0" rIns="0" bIns="0" rtlCol="0" anchor="ctr"/>
            <a:lstStyle/>
            <a:p>
              <a:pPr marL="0" indent="0">
                <a:buNone/>
              </a:pPr>
              <a:r>
                <a:rPr lang="en-US" sz="2000" b="1" dirty="0">
                  <a:solidFill>
                    <a:srgbClr val="FFFFFF"/>
                  </a:solidFill>
                </a:rPr>
                <a:t>~$58B</a:t>
              </a:r>
              <a:endParaRPr lang="en-US" sz="2000" dirty="0"/>
            </a:p>
          </p:txBody>
        </p:sp>
        <p:sp>
          <p:nvSpPr>
            <p:cNvPr id="12" name="Shape 10"/>
            <p:cNvSpPr/>
            <p:nvPr/>
          </p:nvSpPr>
          <p:spPr>
            <a:xfrm>
              <a:off x="2468880" y="2912322"/>
              <a:ext cx="2057400" cy="914400"/>
            </a:xfrm>
            <a:prstGeom prst="rect">
              <a:avLst/>
            </a:prstGeom>
            <a:solidFill>
              <a:srgbClr val="1E1850"/>
            </a:solidFill>
            <a:ln/>
            <a:effectLst>
              <a:outerShdw blurRad="152400" dist="50800" dir="8100000" algn="bl" rotWithShape="0">
                <a:srgbClr val="000000">
                  <a:alpha val="25000"/>
                </a:srgbClr>
              </a:outerShdw>
            </a:effectLst>
          </p:spPr>
        </p:sp>
        <p:sp>
          <p:nvSpPr>
            <p:cNvPr id="13" name="Shape 11"/>
            <p:cNvSpPr/>
            <p:nvPr/>
          </p:nvSpPr>
          <p:spPr>
            <a:xfrm>
              <a:off x="2468880" y="2912322"/>
              <a:ext cx="2057400" cy="36576"/>
            </a:xfrm>
            <a:prstGeom prst="rect">
              <a:avLst/>
            </a:prstGeom>
            <a:solidFill>
              <a:srgbClr val="00D4AA"/>
            </a:solidFill>
            <a:ln/>
          </p:spPr>
        </p:sp>
        <p:sp>
          <p:nvSpPr>
            <p:cNvPr id="14" name="Text 12"/>
            <p:cNvSpPr/>
            <p:nvPr/>
          </p:nvSpPr>
          <p:spPr>
            <a:xfrm>
              <a:off x="2578608" y="3022050"/>
              <a:ext cx="1837944" cy="201168"/>
            </a:xfrm>
            <a:prstGeom prst="rect">
              <a:avLst/>
            </a:prstGeom>
            <a:noFill/>
            <a:ln/>
          </p:spPr>
          <p:txBody>
            <a:bodyPr wrap="square" lIns="0" tIns="0" rIns="0" bIns="0" rtlCol="0" anchor="ctr"/>
            <a:lstStyle/>
            <a:p>
              <a:pPr marL="0" indent="0">
                <a:buNone/>
              </a:pPr>
              <a:r>
                <a:rPr lang="en-US" sz="800" dirty="0">
                  <a:solidFill>
                    <a:srgbClr val="9B96C9"/>
                  </a:solidFill>
                </a:rPr>
                <a:t>FY2025 Revenue</a:t>
              </a:r>
              <a:endParaRPr lang="en-US" sz="800" dirty="0"/>
            </a:p>
          </p:txBody>
        </p:sp>
        <p:sp>
          <p:nvSpPr>
            <p:cNvPr id="15" name="Text 13"/>
            <p:cNvSpPr/>
            <p:nvPr/>
          </p:nvSpPr>
          <p:spPr>
            <a:xfrm>
              <a:off x="2578608" y="3204930"/>
              <a:ext cx="1837944" cy="384048"/>
            </a:xfrm>
            <a:prstGeom prst="rect">
              <a:avLst/>
            </a:prstGeom>
            <a:noFill/>
            <a:ln/>
          </p:spPr>
          <p:txBody>
            <a:bodyPr wrap="square" lIns="0" tIns="0" rIns="0" bIns="0" rtlCol="0" anchor="ctr"/>
            <a:lstStyle/>
            <a:p>
              <a:pPr marL="0" indent="0">
                <a:buNone/>
              </a:pPr>
              <a:r>
                <a:rPr lang="en-US" sz="2000" b="1" dirty="0">
                  <a:solidFill>
                    <a:srgbClr val="FFFFFF"/>
                  </a:solidFill>
                </a:rPr>
                <a:t>$15.8B</a:t>
              </a:r>
              <a:endParaRPr lang="en-US" sz="2000" dirty="0"/>
            </a:p>
          </p:txBody>
        </p:sp>
        <p:sp>
          <p:nvSpPr>
            <p:cNvPr id="16" name="Text 14"/>
            <p:cNvSpPr/>
            <p:nvPr/>
          </p:nvSpPr>
          <p:spPr>
            <a:xfrm>
              <a:off x="2578608" y="3570690"/>
              <a:ext cx="1837944" cy="182880"/>
            </a:xfrm>
            <a:prstGeom prst="rect">
              <a:avLst/>
            </a:prstGeom>
            <a:noFill/>
            <a:ln/>
          </p:spPr>
          <p:txBody>
            <a:bodyPr wrap="square" lIns="0" tIns="0" rIns="0" bIns="0" rtlCol="0" anchor="ctr"/>
            <a:lstStyle/>
            <a:p>
              <a:pPr marL="0" indent="0">
                <a:buNone/>
              </a:pPr>
              <a:r>
                <a:rPr lang="en-US" sz="800" dirty="0">
                  <a:solidFill>
                    <a:srgbClr val="00D4AA"/>
                  </a:solidFill>
                </a:rPr>
                <a:t>+37% YoY</a:t>
              </a:r>
              <a:endParaRPr lang="en-US" sz="800" dirty="0"/>
            </a:p>
          </p:txBody>
        </p:sp>
        <p:sp>
          <p:nvSpPr>
            <p:cNvPr id="17" name="Shape 15"/>
            <p:cNvSpPr/>
            <p:nvPr/>
          </p:nvSpPr>
          <p:spPr>
            <a:xfrm>
              <a:off x="4617720" y="2912322"/>
              <a:ext cx="2057400" cy="914400"/>
            </a:xfrm>
            <a:prstGeom prst="rect">
              <a:avLst/>
            </a:prstGeom>
            <a:solidFill>
              <a:srgbClr val="1E1850"/>
            </a:solidFill>
            <a:ln/>
            <a:effectLst>
              <a:outerShdw blurRad="152400" dist="50800" dir="8100000" algn="bl" rotWithShape="0">
                <a:srgbClr val="000000">
                  <a:alpha val="25000"/>
                </a:srgbClr>
              </a:outerShdw>
            </a:effectLst>
          </p:spPr>
        </p:sp>
        <p:sp>
          <p:nvSpPr>
            <p:cNvPr id="18" name="Shape 16"/>
            <p:cNvSpPr/>
            <p:nvPr/>
          </p:nvSpPr>
          <p:spPr>
            <a:xfrm>
              <a:off x="4617720" y="2912322"/>
              <a:ext cx="2057400" cy="36576"/>
            </a:xfrm>
            <a:prstGeom prst="rect">
              <a:avLst/>
            </a:prstGeom>
            <a:solidFill>
              <a:srgbClr val="6C3BF5"/>
            </a:solidFill>
            <a:ln/>
          </p:spPr>
        </p:sp>
        <p:sp>
          <p:nvSpPr>
            <p:cNvPr id="19" name="Text 17"/>
            <p:cNvSpPr/>
            <p:nvPr/>
          </p:nvSpPr>
          <p:spPr>
            <a:xfrm>
              <a:off x="4727448" y="3022050"/>
              <a:ext cx="1837944" cy="201168"/>
            </a:xfrm>
            <a:prstGeom prst="rect">
              <a:avLst/>
            </a:prstGeom>
            <a:noFill/>
            <a:ln/>
          </p:spPr>
          <p:txBody>
            <a:bodyPr wrap="square" lIns="0" tIns="0" rIns="0" bIns="0" rtlCol="0" anchor="ctr"/>
            <a:lstStyle/>
            <a:p>
              <a:pPr marL="0" indent="0">
                <a:buNone/>
              </a:pPr>
              <a:r>
                <a:rPr lang="en-US" sz="800" dirty="0">
                  <a:solidFill>
                    <a:srgbClr val="9B96C9"/>
                  </a:solidFill>
                </a:rPr>
                <a:t>Q1 2026 Revenue</a:t>
              </a:r>
              <a:endParaRPr lang="en-US" sz="800" dirty="0"/>
            </a:p>
          </p:txBody>
        </p:sp>
        <p:sp>
          <p:nvSpPr>
            <p:cNvPr id="20" name="Text 18"/>
            <p:cNvSpPr/>
            <p:nvPr/>
          </p:nvSpPr>
          <p:spPr>
            <a:xfrm>
              <a:off x="4727448" y="3204930"/>
              <a:ext cx="1837944" cy="384048"/>
            </a:xfrm>
            <a:prstGeom prst="rect">
              <a:avLst/>
            </a:prstGeom>
            <a:noFill/>
            <a:ln/>
          </p:spPr>
          <p:txBody>
            <a:bodyPr wrap="square" lIns="0" tIns="0" rIns="0" bIns="0" rtlCol="0" anchor="ctr"/>
            <a:lstStyle/>
            <a:p>
              <a:pPr marL="0" indent="0">
                <a:buNone/>
              </a:pPr>
              <a:r>
                <a:rPr lang="en-US" sz="2000" b="1" dirty="0">
                  <a:solidFill>
                    <a:srgbClr val="FFFFFF"/>
                  </a:solidFill>
                </a:rPr>
                <a:t>$5.3B</a:t>
              </a:r>
              <a:endParaRPr lang="en-US" sz="2000" dirty="0"/>
            </a:p>
          </p:txBody>
        </p:sp>
        <p:sp>
          <p:nvSpPr>
            <p:cNvPr id="21" name="Text 19"/>
            <p:cNvSpPr/>
            <p:nvPr/>
          </p:nvSpPr>
          <p:spPr>
            <a:xfrm>
              <a:off x="4727448" y="3570690"/>
              <a:ext cx="1837944" cy="182880"/>
            </a:xfrm>
            <a:prstGeom prst="rect">
              <a:avLst/>
            </a:prstGeom>
            <a:noFill/>
            <a:ln/>
          </p:spPr>
          <p:txBody>
            <a:bodyPr wrap="square" lIns="0" tIns="0" rIns="0" bIns="0" rtlCol="0" anchor="ctr"/>
            <a:lstStyle/>
            <a:p>
              <a:pPr marL="0" indent="0">
                <a:buNone/>
              </a:pPr>
              <a:r>
                <a:rPr lang="en-US" sz="800" dirty="0">
                  <a:solidFill>
                    <a:srgbClr val="00D4AA"/>
                  </a:solidFill>
                </a:rPr>
                <a:t>+57% YoY</a:t>
              </a:r>
              <a:endParaRPr lang="en-US" sz="800" dirty="0"/>
            </a:p>
          </p:txBody>
        </p:sp>
        <p:sp>
          <p:nvSpPr>
            <p:cNvPr id="22" name="Shape 20"/>
            <p:cNvSpPr/>
            <p:nvPr/>
          </p:nvSpPr>
          <p:spPr>
            <a:xfrm>
              <a:off x="6766560" y="2912322"/>
              <a:ext cx="2057400" cy="914400"/>
            </a:xfrm>
            <a:prstGeom prst="rect">
              <a:avLst/>
            </a:prstGeom>
            <a:solidFill>
              <a:srgbClr val="1E1850"/>
            </a:solidFill>
            <a:ln/>
            <a:effectLst>
              <a:outerShdw blurRad="152400" dist="50800" dir="8100000" algn="bl" rotWithShape="0">
                <a:srgbClr val="000000">
                  <a:alpha val="25000"/>
                </a:srgbClr>
              </a:outerShdw>
            </a:effectLst>
          </p:spPr>
        </p:sp>
        <p:sp>
          <p:nvSpPr>
            <p:cNvPr id="23" name="Shape 21"/>
            <p:cNvSpPr/>
            <p:nvPr/>
          </p:nvSpPr>
          <p:spPr>
            <a:xfrm>
              <a:off x="6766560" y="2912322"/>
              <a:ext cx="2057400" cy="36576"/>
            </a:xfrm>
            <a:prstGeom prst="rect">
              <a:avLst/>
            </a:prstGeom>
            <a:solidFill>
              <a:srgbClr val="00D4AA"/>
            </a:solidFill>
            <a:ln/>
          </p:spPr>
        </p:sp>
        <p:sp>
          <p:nvSpPr>
            <p:cNvPr id="24" name="Text 22"/>
            <p:cNvSpPr/>
            <p:nvPr/>
          </p:nvSpPr>
          <p:spPr>
            <a:xfrm>
              <a:off x="6876288" y="3022050"/>
              <a:ext cx="1837944" cy="201168"/>
            </a:xfrm>
            <a:prstGeom prst="rect">
              <a:avLst/>
            </a:prstGeom>
            <a:noFill/>
            <a:ln/>
          </p:spPr>
          <p:txBody>
            <a:bodyPr wrap="square" lIns="0" tIns="0" rIns="0" bIns="0" rtlCol="0" anchor="ctr"/>
            <a:lstStyle/>
            <a:p>
              <a:pPr marL="0" indent="0">
                <a:buNone/>
              </a:pPr>
              <a:r>
                <a:rPr lang="en-US" sz="800" dirty="0">
                  <a:solidFill>
                    <a:srgbClr val="9B96C9"/>
                  </a:solidFill>
                </a:rPr>
                <a:t>Q1 2026 Net Income</a:t>
              </a:r>
              <a:endParaRPr lang="en-US" sz="800" dirty="0"/>
            </a:p>
          </p:txBody>
        </p:sp>
        <p:sp>
          <p:nvSpPr>
            <p:cNvPr id="25" name="Text 23"/>
            <p:cNvSpPr/>
            <p:nvPr/>
          </p:nvSpPr>
          <p:spPr>
            <a:xfrm>
              <a:off x="6876288" y="3204930"/>
              <a:ext cx="1837944" cy="384048"/>
            </a:xfrm>
            <a:prstGeom prst="rect">
              <a:avLst/>
            </a:prstGeom>
            <a:noFill/>
            <a:ln/>
          </p:spPr>
          <p:txBody>
            <a:bodyPr wrap="square" lIns="0" tIns="0" rIns="0" bIns="0" rtlCol="0" anchor="ctr"/>
            <a:lstStyle/>
            <a:p>
              <a:pPr marL="0" indent="0">
                <a:buNone/>
              </a:pPr>
              <a:r>
                <a:rPr lang="en-US" sz="2000" b="1" dirty="0">
                  <a:solidFill>
                    <a:srgbClr val="FFFFFF"/>
                  </a:solidFill>
                </a:rPr>
                <a:t>$871M</a:t>
              </a:r>
              <a:endParaRPr lang="en-US" sz="2000" dirty="0"/>
            </a:p>
          </p:txBody>
        </p:sp>
        <p:sp>
          <p:nvSpPr>
            <p:cNvPr id="26" name="Text 24"/>
            <p:cNvSpPr/>
            <p:nvPr/>
          </p:nvSpPr>
          <p:spPr>
            <a:xfrm>
              <a:off x="6876288" y="3570690"/>
              <a:ext cx="1837944" cy="182880"/>
            </a:xfrm>
            <a:prstGeom prst="rect">
              <a:avLst/>
            </a:prstGeom>
            <a:noFill/>
            <a:ln/>
          </p:spPr>
          <p:txBody>
            <a:bodyPr wrap="square" lIns="0" tIns="0" rIns="0" bIns="0" rtlCol="0" anchor="ctr"/>
            <a:lstStyle/>
            <a:p>
              <a:pPr marL="0" indent="0">
                <a:buNone/>
              </a:pPr>
              <a:r>
                <a:rPr lang="en-US" sz="800" dirty="0">
                  <a:solidFill>
                    <a:srgbClr val="00D4AA"/>
                  </a:solidFill>
                </a:rPr>
                <a:t>+56% YoY</a:t>
              </a:r>
              <a:endParaRPr lang="en-US" sz="800" dirty="0"/>
            </a:p>
          </p:txBody>
        </p:sp>
        <p:sp>
          <p:nvSpPr>
            <p:cNvPr id="27" name="Shape 25"/>
            <p:cNvSpPr/>
            <p:nvPr/>
          </p:nvSpPr>
          <p:spPr>
            <a:xfrm>
              <a:off x="320040" y="3899874"/>
              <a:ext cx="2057400" cy="914400"/>
            </a:xfrm>
            <a:prstGeom prst="rect">
              <a:avLst/>
            </a:prstGeom>
            <a:solidFill>
              <a:srgbClr val="1E1850"/>
            </a:solidFill>
            <a:ln/>
            <a:effectLst>
              <a:outerShdw blurRad="152400" dist="50800" dir="8100000" algn="bl" rotWithShape="0">
                <a:srgbClr val="000000">
                  <a:alpha val="25000"/>
                </a:srgbClr>
              </a:outerShdw>
            </a:effectLst>
          </p:spPr>
        </p:sp>
        <p:sp>
          <p:nvSpPr>
            <p:cNvPr id="28" name="Shape 26"/>
            <p:cNvSpPr/>
            <p:nvPr/>
          </p:nvSpPr>
          <p:spPr>
            <a:xfrm>
              <a:off x="320040" y="3899874"/>
              <a:ext cx="2057400" cy="36576"/>
            </a:xfrm>
            <a:prstGeom prst="rect">
              <a:avLst/>
            </a:prstGeom>
            <a:solidFill>
              <a:srgbClr val="6C3BF5"/>
            </a:solidFill>
            <a:ln/>
          </p:spPr>
        </p:sp>
        <p:sp>
          <p:nvSpPr>
            <p:cNvPr id="29" name="Text 27"/>
            <p:cNvSpPr/>
            <p:nvPr/>
          </p:nvSpPr>
          <p:spPr>
            <a:xfrm>
              <a:off x="429768" y="4009602"/>
              <a:ext cx="1837944" cy="201168"/>
            </a:xfrm>
            <a:prstGeom prst="rect">
              <a:avLst/>
            </a:prstGeom>
            <a:noFill/>
            <a:ln/>
          </p:spPr>
          <p:txBody>
            <a:bodyPr wrap="square" lIns="0" tIns="0" rIns="0" bIns="0" rtlCol="0" anchor="ctr"/>
            <a:lstStyle/>
            <a:p>
              <a:pPr marL="0" indent="0">
                <a:buNone/>
              </a:pPr>
              <a:r>
                <a:rPr lang="en-US" sz="800" dirty="0">
                  <a:solidFill>
                    <a:srgbClr val="9B96C9"/>
                  </a:solidFill>
                </a:rPr>
                <a:t>Customers (Q1'26)</a:t>
              </a:r>
              <a:endParaRPr lang="en-US" sz="800" dirty="0"/>
            </a:p>
          </p:txBody>
        </p:sp>
        <p:sp>
          <p:nvSpPr>
            <p:cNvPr id="30" name="Text 28"/>
            <p:cNvSpPr/>
            <p:nvPr/>
          </p:nvSpPr>
          <p:spPr>
            <a:xfrm>
              <a:off x="429768" y="4192482"/>
              <a:ext cx="1837944" cy="384048"/>
            </a:xfrm>
            <a:prstGeom prst="rect">
              <a:avLst/>
            </a:prstGeom>
            <a:noFill/>
            <a:ln/>
          </p:spPr>
          <p:txBody>
            <a:bodyPr wrap="square" lIns="0" tIns="0" rIns="0" bIns="0" rtlCol="0" anchor="ctr"/>
            <a:lstStyle/>
            <a:p>
              <a:pPr marL="0" indent="0">
                <a:buNone/>
              </a:pPr>
              <a:r>
                <a:rPr lang="en-US" sz="2000" b="1" dirty="0">
                  <a:solidFill>
                    <a:srgbClr val="FFFFFF"/>
                  </a:solidFill>
                </a:rPr>
                <a:t>135M+</a:t>
              </a:r>
              <a:endParaRPr lang="en-US" sz="2000" dirty="0"/>
            </a:p>
          </p:txBody>
        </p:sp>
        <p:sp>
          <p:nvSpPr>
            <p:cNvPr id="31" name="Text 29"/>
            <p:cNvSpPr/>
            <p:nvPr/>
          </p:nvSpPr>
          <p:spPr>
            <a:xfrm>
              <a:off x="429768" y="4558242"/>
              <a:ext cx="1837944" cy="182880"/>
            </a:xfrm>
            <a:prstGeom prst="rect">
              <a:avLst/>
            </a:prstGeom>
            <a:noFill/>
            <a:ln/>
          </p:spPr>
          <p:txBody>
            <a:bodyPr wrap="square" lIns="0" tIns="0" rIns="0" bIns="0" rtlCol="0" anchor="ctr"/>
            <a:lstStyle/>
            <a:p>
              <a:pPr marL="0" indent="0">
                <a:buNone/>
              </a:pPr>
              <a:r>
                <a:rPr lang="en-US" sz="800" dirty="0">
                  <a:solidFill>
                    <a:srgbClr val="00D4AA"/>
                  </a:solidFill>
                </a:rPr>
                <a:t>4M/qtr adds</a:t>
              </a:r>
              <a:endParaRPr lang="en-US" sz="800" dirty="0"/>
            </a:p>
          </p:txBody>
        </p:sp>
        <p:sp>
          <p:nvSpPr>
            <p:cNvPr id="32" name="Shape 30"/>
            <p:cNvSpPr/>
            <p:nvPr/>
          </p:nvSpPr>
          <p:spPr>
            <a:xfrm>
              <a:off x="2468880" y="3899874"/>
              <a:ext cx="2057400" cy="914400"/>
            </a:xfrm>
            <a:prstGeom prst="rect">
              <a:avLst/>
            </a:prstGeom>
            <a:solidFill>
              <a:srgbClr val="1E1850"/>
            </a:solidFill>
            <a:ln/>
            <a:effectLst>
              <a:outerShdw blurRad="152400" dist="50800" dir="8100000" algn="bl" rotWithShape="0">
                <a:srgbClr val="000000">
                  <a:alpha val="25000"/>
                </a:srgbClr>
              </a:outerShdw>
            </a:effectLst>
          </p:spPr>
        </p:sp>
        <p:sp>
          <p:nvSpPr>
            <p:cNvPr id="33" name="Shape 31"/>
            <p:cNvSpPr/>
            <p:nvPr/>
          </p:nvSpPr>
          <p:spPr>
            <a:xfrm>
              <a:off x="2468880" y="3899874"/>
              <a:ext cx="2057400" cy="36576"/>
            </a:xfrm>
            <a:prstGeom prst="rect">
              <a:avLst/>
            </a:prstGeom>
            <a:solidFill>
              <a:srgbClr val="00D4AA"/>
            </a:solidFill>
            <a:ln/>
          </p:spPr>
        </p:sp>
        <p:sp>
          <p:nvSpPr>
            <p:cNvPr id="34" name="Text 32"/>
            <p:cNvSpPr/>
            <p:nvPr/>
          </p:nvSpPr>
          <p:spPr>
            <a:xfrm>
              <a:off x="2578608" y="4009602"/>
              <a:ext cx="1837944" cy="201168"/>
            </a:xfrm>
            <a:prstGeom prst="rect">
              <a:avLst/>
            </a:prstGeom>
            <a:noFill/>
            <a:ln/>
          </p:spPr>
          <p:txBody>
            <a:bodyPr wrap="square" lIns="0" tIns="0" rIns="0" bIns="0" rtlCol="0" anchor="ctr"/>
            <a:lstStyle/>
            <a:p>
              <a:pPr marL="0" indent="0">
                <a:buNone/>
              </a:pPr>
              <a:r>
                <a:rPr lang="en-US" sz="800" dirty="0">
                  <a:solidFill>
                    <a:srgbClr val="9B96C9"/>
                  </a:solidFill>
                </a:rPr>
                <a:t>ARPAC (Q1'26)</a:t>
              </a:r>
              <a:endParaRPr lang="en-US" sz="800" dirty="0"/>
            </a:p>
          </p:txBody>
        </p:sp>
        <p:sp>
          <p:nvSpPr>
            <p:cNvPr id="35" name="Text 33"/>
            <p:cNvSpPr/>
            <p:nvPr/>
          </p:nvSpPr>
          <p:spPr>
            <a:xfrm>
              <a:off x="2578608" y="4192482"/>
              <a:ext cx="1837944" cy="384048"/>
            </a:xfrm>
            <a:prstGeom prst="rect">
              <a:avLst/>
            </a:prstGeom>
            <a:noFill/>
            <a:ln/>
          </p:spPr>
          <p:txBody>
            <a:bodyPr wrap="square" lIns="0" tIns="0" rIns="0" bIns="0" rtlCol="0" anchor="ctr"/>
            <a:lstStyle/>
            <a:p>
              <a:pPr marL="0" indent="0">
                <a:buNone/>
              </a:pPr>
              <a:r>
                <a:rPr lang="en-US" sz="2000" b="1" dirty="0">
                  <a:solidFill>
                    <a:srgbClr val="FFFFFF"/>
                  </a:solidFill>
                </a:rPr>
                <a:t>$16</a:t>
              </a:r>
              <a:endParaRPr lang="en-US" sz="2000" dirty="0"/>
            </a:p>
          </p:txBody>
        </p:sp>
        <p:sp>
          <p:nvSpPr>
            <p:cNvPr id="36" name="Text 34"/>
            <p:cNvSpPr/>
            <p:nvPr/>
          </p:nvSpPr>
          <p:spPr>
            <a:xfrm>
              <a:off x="2578608" y="4558242"/>
              <a:ext cx="1837944" cy="182880"/>
            </a:xfrm>
            <a:prstGeom prst="rect">
              <a:avLst/>
            </a:prstGeom>
            <a:noFill/>
            <a:ln/>
          </p:spPr>
          <p:txBody>
            <a:bodyPr wrap="square" lIns="0" tIns="0" rIns="0" bIns="0" rtlCol="0" anchor="ctr"/>
            <a:lstStyle/>
            <a:p>
              <a:pPr marL="0" indent="0">
                <a:buNone/>
              </a:pPr>
              <a:r>
                <a:rPr lang="en-US" sz="800" dirty="0">
                  <a:solidFill>
                    <a:srgbClr val="00D4AA"/>
                  </a:solidFill>
                </a:rPr>
                <a:t>+43% YoY FXN</a:t>
              </a:r>
              <a:endParaRPr lang="en-US" sz="800" dirty="0"/>
            </a:p>
          </p:txBody>
        </p:sp>
        <p:sp>
          <p:nvSpPr>
            <p:cNvPr id="37" name="Shape 35"/>
            <p:cNvSpPr/>
            <p:nvPr/>
          </p:nvSpPr>
          <p:spPr>
            <a:xfrm>
              <a:off x="4617720" y="3899874"/>
              <a:ext cx="2057400" cy="914400"/>
            </a:xfrm>
            <a:prstGeom prst="rect">
              <a:avLst/>
            </a:prstGeom>
            <a:solidFill>
              <a:srgbClr val="1E1850"/>
            </a:solidFill>
            <a:ln/>
            <a:effectLst>
              <a:outerShdw blurRad="152400" dist="50800" dir="8100000" algn="bl" rotWithShape="0">
                <a:srgbClr val="000000">
                  <a:alpha val="25000"/>
                </a:srgbClr>
              </a:outerShdw>
            </a:effectLst>
          </p:spPr>
        </p:sp>
        <p:sp>
          <p:nvSpPr>
            <p:cNvPr id="38" name="Shape 36"/>
            <p:cNvSpPr/>
            <p:nvPr/>
          </p:nvSpPr>
          <p:spPr>
            <a:xfrm>
              <a:off x="4617720" y="3899874"/>
              <a:ext cx="2057400" cy="36576"/>
            </a:xfrm>
            <a:prstGeom prst="rect">
              <a:avLst/>
            </a:prstGeom>
            <a:solidFill>
              <a:srgbClr val="6C3BF5"/>
            </a:solidFill>
            <a:ln/>
          </p:spPr>
        </p:sp>
        <p:sp>
          <p:nvSpPr>
            <p:cNvPr id="39" name="Text 37"/>
            <p:cNvSpPr/>
            <p:nvPr/>
          </p:nvSpPr>
          <p:spPr>
            <a:xfrm>
              <a:off x="4727448" y="4009602"/>
              <a:ext cx="1837944" cy="201168"/>
            </a:xfrm>
            <a:prstGeom prst="rect">
              <a:avLst/>
            </a:prstGeom>
            <a:noFill/>
            <a:ln/>
          </p:spPr>
          <p:txBody>
            <a:bodyPr wrap="square" lIns="0" tIns="0" rIns="0" bIns="0" rtlCol="0" anchor="ctr"/>
            <a:lstStyle/>
            <a:p>
              <a:pPr marL="0" indent="0">
                <a:buNone/>
              </a:pPr>
              <a:r>
                <a:rPr lang="en-US" sz="800" dirty="0">
                  <a:solidFill>
                    <a:srgbClr val="9B96C9"/>
                  </a:solidFill>
                </a:rPr>
                <a:t>Efficiency Ratio</a:t>
              </a:r>
              <a:endParaRPr lang="en-US" sz="800" dirty="0"/>
            </a:p>
          </p:txBody>
        </p:sp>
        <p:sp>
          <p:nvSpPr>
            <p:cNvPr id="40" name="Text 38"/>
            <p:cNvSpPr/>
            <p:nvPr/>
          </p:nvSpPr>
          <p:spPr>
            <a:xfrm>
              <a:off x="4727448" y="4192482"/>
              <a:ext cx="1837944" cy="384048"/>
            </a:xfrm>
            <a:prstGeom prst="rect">
              <a:avLst/>
            </a:prstGeom>
            <a:noFill/>
            <a:ln/>
          </p:spPr>
          <p:txBody>
            <a:bodyPr wrap="square" lIns="0" tIns="0" rIns="0" bIns="0" rtlCol="0" anchor="ctr"/>
            <a:lstStyle/>
            <a:p>
              <a:pPr marL="0" indent="0">
                <a:buNone/>
              </a:pPr>
              <a:r>
                <a:rPr lang="en-US" sz="2000" b="1" dirty="0">
                  <a:solidFill>
                    <a:srgbClr val="FFFFFF"/>
                  </a:solidFill>
                </a:rPr>
                <a:t>17.6%</a:t>
              </a:r>
              <a:endParaRPr lang="en-US" sz="2000" dirty="0"/>
            </a:p>
          </p:txBody>
        </p:sp>
        <p:sp>
          <p:nvSpPr>
            <p:cNvPr id="41" name="Text 39"/>
            <p:cNvSpPr/>
            <p:nvPr/>
          </p:nvSpPr>
          <p:spPr>
            <a:xfrm>
              <a:off x="4727448" y="4558242"/>
              <a:ext cx="1837944" cy="182880"/>
            </a:xfrm>
            <a:prstGeom prst="rect">
              <a:avLst/>
            </a:prstGeom>
            <a:noFill/>
            <a:ln/>
          </p:spPr>
          <p:txBody>
            <a:bodyPr wrap="square" lIns="0" tIns="0" rIns="0" bIns="0" rtlCol="0" anchor="ctr"/>
            <a:lstStyle/>
            <a:p>
              <a:pPr marL="0" indent="0">
                <a:buNone/>
              </a:pPr>
              <a:r>
                <a:rPr lang="en-US" sz="800" dirty="0">
                  <a:solidFill>
                    <a:srgbClr val="00D4AA"/>
                  </a:solidFill>
                </a:rPr>
                <a:t>Record low</a:t>
              </a:r>
              <a:endParaRPr lang="en-US" sz="800" dirty="0"/>
            </a:p>
          </p:txBody>
        </p:sp>
        <p:sp>
          <p:nvSpPr>
            <p:cNvPr id="42" name="Shape 40"/>
            <p:cNvSpPr/>
            <p:nvPr/>
          </p:nvSpPr>
          <p:spPr>
            <a:xfrm>
              <a:off x="6766560" y="3899874"/>
              <a:ext cx="2057400" cy="914400"/>
            </a:xfrm>
            <a:prstGeom prst="rect">
              <a:avLst/>
            </a:prstGeom>
            <a:solidFill>
              <a:srgbClr val="1E1850"/>
            </a:solidFill>
            <a:ln/>
            <a:effectLst>
              <a:outerShdw blurRad="152400" dist="50800" dir="8100000" algn="bl" rotWithShape="0">
                <a:srgbClr val="000000">
                  <a:alpha val="25000"/>
                </a:srgbClr>
              </a:outerShdw>
            </a:effectLst>
          </p:spPr>
        </p:sp>
        <p:sp>
          <p:nvSpPr>
            <p:cNvPr id="43" name="Shape 41"/>
            <p:cNvSpPr/>
            <p:nvPr/>
          </p:nvSpPr>
          <p:spPr>
            <a:xfrm>
              <a:off x="6766560" y="3899874"/>
              <a:ext cx="2057400" cy="36576"/>
            </a:xfrm>
            <a:prstGeom prst="rect">
              <a:avLst/>
            </a:prstGeom>
            <a:solidFill>
              <a:srgbClr val="00D4AA"/>
            </a:solidFill>
            <a:ln/>
          </p:spPr>
        </p:sp>
        <p:sp>
          <p:nvSpPr>
            <p:cNvPr id="44" name="Text 42"/>
            <p:cNvSpPr/>
            <p:nvPr/>
          </p:nvSpPr>
          <p:spPr>
            <a:xfrm>
              <a:off x="6876288" y="4009602"/>
              <a:ext cx="1837944" cy="201168"/>
            </a:xfrm>
            <a:prstGeom prst="rect">
              <a:avLst/>
            </a:prstGeom>
            <a:noFill/>
            <a:ln/>
          </p:spPr>
          <p:txBody>
            <a:bodyPr wrap="square" lIns="0" tIns="0" rIns="0" bIns="0" rtlCol="0" anchor="ctr"/>
            <a:lstStyle/>
            <a:p>
              <a:pPr marL="0" indent="0">
                <a:buNone/>
              </a:pPr>
              <a:r>
                <a:rPr lang="en-US" sz="800" dirty="0">
                  <a:solidFill>
                    <a:srgbClr val="9B96C9"/>
                  </a:solidFill>
                </a:rPr>
                <a:t>ROE (Q1'26)</a:t>
              </a:r>
              <a:endParaRPr lang="en-US" sz="800" dirty="0"/>
            </a:p>
          </p:txBody>
        </p:sp>
        <p:sp>
          <p:nvSpPr>
            <p:cNvPr id="45" name="Text 43"/>
            <p:cNvSpPr/>
            <p:nvPr/>
          </p:nvSpPr>
          <p:spPr>
            <a:xfrm>
              <a:off x="6876288" y="4192482"/>
              <a:ext cx="1837944" cy="384048"/>
            </a:xfrm>
            <a:prstGeom prst="rect">
              <a:avLst/>
            </a:prstGeom>
            <a:noFill/>
            <a:ln/>
          </p:spPr>
          <p:txBody>
            <a:bodyPr wrap="square" lIns="0" tIns="0" rIns="0" bIns="0" rtlCol="0" anchor="ctr"/>
            <a:lstStyle/>
            <a:p>
              <a:pPr marL="0" indent="0">
                <a:buNone/>
              </a:pPr>
              <a:r>
                <a:rPr lang="en-US" sz="2000" b="1" dirty="0">
                  <a:solidFill>
                    <a:srgbClr val="FFFFFF"/>
                  </a:solidFill>
                </a:rPr>
                <a:t>29%</a:t>
              </a:r>
              <a:endParaRPr lang="en-US" sz="2000" dirty="0"/>
            </a:p>
          </p:txBody>
        </p:sp>
        <p:sp>
          <p:nvSpPr>
            <p:cNvPr id="46" name="Text 44"/>
            <p:cNvSpPr/>
            <p:nvPr/>
          </p:nvSpPr>
          <p:spPr>
            <a:xfrm>
              <a:off x="6876288" y="4558242"/>
              <a:ext cx="1837944" cy="182880"/>
            </a:xfrm>
            <a:prstGeom prst="rect">
              <a:avLst/>
            </a:prstGeom>
            <a:noFill/>
            <a:ln/>
          </p:spPr>
          <p:txBody>
            <a:bodyPr wrap="square" lIns="0" tIns="0" rIns="0" bIns="0" rtlCol="0" anchor="ctr"/>
            <a:lstStyle/>
            <a:p>
              <a:pPr marL="0" indent="0">
                <a:buNone/>
              </a:pPr>
              <a:r>
                <a:rPr lang="en-US" sz="800" dirty="0">
                  <a:solidFill>
                    <a:srgbClr val="00D4AA"/>
                  </a:solidFill>
                </a:rPr>
                <a:t>World-class</a:t>
              </a:r>
              <a:endParaRPr lang="en-US" sz="800" dirty="0"/>
            </a:p>
          </p:txBody>
        </p:sp>
      </p:grpSp>
      <p:sp>
        <p:nvSpPr>
          <p:cNvPr id="49" name="Shape 7">
            <a:extLst>
              <a:ext uri="{FF2B5EF4-FFF2-40B4-BE49-F238E27FC236}">
                <a16:creationId xmlns:a16="http://schemas.microsoft.com/office/drawing/2014/main" id="{EB62A800-0BF8-6A9B-BDA8-484A8E9EE071}"/>
              </a:ext>
            </a:extLst>
          </p:cNvPr>
          <p:cNvSpPr/>
          <p:nvPr/>
        </p:nvSpPr>
        <p:spPr>
          <a:xfrm>
            <a:off x="320040" y="1344167"/>
            <a:ext cx="3480173" cy="64009"/>
          </a:xfrm>
          <a:prstGeom prst="rect">
            <a:avLst/>
          </a:prstGeom>
          <a:solidFill>
            <a:srgbClr val="00D4AA"/>
          </a:solidFill>
          <a:ln/>
        </p:spPr>
      </p:sp>
      <p:sp>
        <p:nvSpPr>
          <p:cNvPr id="50" name="Shape 2">
            <a:extLst>
              <a:ext uri="{FF2B5EF4-FFF2-40B4-BE49-F238E27FC236}">
                <a16:creationId xmlns:a16="http://schemas.microsoft.com/office/drawing/2014/main" id="{80196A72-5F76-B010-D50F-C5E3C50F7C19}"/>
              </a:ext>
            </a:extLst>
          </p:cNvPr>
          <p:cNvSpPr/>
          <p:nvPr/>
        </p:nvSpPr>
        <p:spPr>
          <a:xfrm>
            <a:off x="320040" y="317481"/>
            <a:ext cx="2148840" cy="54864"/>
          </a:xfrm>
          <a:prstGeom prst="rect">
            <a:avLst/>
          </a:prstGeom>
          <a:solidFill>
            <a:srgbClr val="6C3BF5"/>
          </a:solid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0A1F"/>
        </a:solidFill>
        <a:effectLst/>
      </p:bgPr>
    </p:bg>
    <p:spTree>
      <p:nvGrpSpPr>
        <p:cNvPr id="1" name=""/>
        <p:cNvGrpSpPr/>
        <p:nvPr/>
      </p:nvGrpSpPr>
      <p:grpSpPr>
        <a:xfrm>
          <a:off x="0" y="0"/>
          <a:ext cx="0" cy="0"/>
          <a:chOff x="0" y="0"/>
          <a:chExt cx="0" cy="0"/>
        </a:xfrm>
      </p:grpSpPr>
      <p:sp>
        <p:nvSpPr>
          <p:cNvPr id="2" name="Shape 0"/>
          <p:cNvSpPr/>
          <p:nvPr/>
        </p:nvSpPr>
        <p:spPr>
          <a:xfrm>
            <a:off x="320040" y="164592"/>
            <a:ext cx="2377440" cy="256032"/>
          </a:xfrm>
          <a:prstGeom prst="roundRect">
            <a:avLst>
              <a:gd name="adj" fmla="val 28571"/>
            </a:avLst>
          </a:prstGeom>
          <a:solidFill>
            <a:srgbClr val="6C3BF5"/>
          </a:solidFill>
          <a:ln/>
        </p:spPr>
      </p:sp>
      <p:sp>
        <p:nvSpPr>
          <p:cNvPr id="3" name="Text 1"/>
          <p:cNvSpPr/>
          <p:nvPr/>
        </p:nvSpPr>
        <p:spPr>
          <a:xfrm>
            <a:off x="320040" y="164592"/>
            <a:ext cx="2377440" cy="256032"/>
          </a:xfrm>
          <a:prstGeom prst="rect">
            <a:avLst/>
          </a:prstGeom>
          <a:noFill/>
          <a:ln/>
        </p:spPr>
        <p:txBody>
          <a:bodyPr wrap="square" lIns="0" tIns="0" rIns="0" bIns="0" rtlCol="0" anchor="ctr"/>
          <a:lstStyle/>
          <a:p>
            <a:pPr marL="0" indent="0" algn="ctr">
              <a:buNone/>
            </a:pPr>
            <a:r>
              <a:rPr lang="en-US" sz="1100" b="1" dirty="0">
                <a:solidFill>
                  <a:srgbClr val="FFFFFF"/>
                </a:solidFill>
              </a:rPr>
              <a:t>SECTION 1: COMPANY HISTORY</a:t>
            </a:r>
            <a:endParaRPr lang="en-US" sz="1100" dirty="0"/>
          </a:p>
        </p:txBody>
      </p:sp>
      <p:sp>
        <p:nvSpPr>
          <p:cNvPr id="4" name="Text 2"/>
          <p:cNvSpPr/>
          <p:nvPr/>
        </p:nvSpPr>
        <p:spPr>
          <a:xfrm>
            <a:off x="320040" y="457200"/>
            <a:ext cx="8503920" cy="502920"/>
          </a:xfrm>
          <a:prstGeom prst="rect">
            <a:avLst/>
          </a:prstGeom>
          <a:noFill/>
          <a:ln/>
        </p:spPr>
        <p:txBody>
          <a:bodyPr wrap="square" lIns="0" tIns="0" rIns="0" bIns="0" rtlCol="0" anchor="ctr"/>
          <a:lstStyle/>
          <a:p>
            <a:pPr marL="0" indent="0">
              <a:buNone/>
            </a:pPr>
            <a:r>
              <a:rPr lang="en-US" sz="2200" b="1" dirty="0">
                <a:solidFill>
                  <a:srgbClr val="FFFFFF"/>
                </a:solidFill>
              </a:rPr>
              <a:t>From São Paulo Startup to World's Largest Digital Bank</a:t>
            </a:r>
            <a:endParaRPr lang="en-US" sz="2200" dirty="0"/>
          </a:p>
        </p:txBody>
      </p:sp>
      <p:sp>
        <p:nvSpPr>
          <p:cNvPr id="5" name="Text 3"/>
          <p:cNvSpPr/>
          <p:nvPr/>
        </p:nvSpPr>
        <p:spPr>
          <a:xfrm>
            <a:off x="320040" y="808175"/>
            <a:ext cx="8503920" cy="256032"/>
          </a:xfrm>
          <a:prstGeom prst="rect">
            <a:avLst/>
          </a:prstGeom>
          <a:noFill/>
          <a:ln/>
        </p:spPr>
        <p:txBody>
          <a:bodyPr wrap="square" lIns="0" tIns="0" rIns="0" bIns="0" rtlCol="0" anchor="ctr"/>
          <a:lstStyle/>
          <a:p>
            <a:pPr marL="0" indent="0">
              <a:buNone/>
            </a:pPr>
            <a:r>
              <a:rPr lang="en-US" sz="1100" i="1" dirty="0">
                <a:solidFill>
                  <a:srgbClr val="00D4AA"/>
                </a:solidFill>
              </a:rPr>
              <a:t>Built on the audacity to challenge Brazil's most entrenched oligopoly — and winning</a:t>
            </a:r>
            <a:endParaRPr lang="en-US" sz="1100" dirty="0"/>
          </a:p>
        </p:txBody>
      </p:sp>
      <p:grpSp>
        <p:nvGrpSpPr>
          <p:cNvPr id="41" name="Group 40">
            <a:extLst>
              <a:ext uri="{FF2B5EF4-FFF2-40B4-BE49-F238E27FC236}">
                <a16:creationId xmlns:a16="http://schemas.microsoft.com/office/drawing/2014/main" id="{706D4A9C-D1E5-040E-18E8-94AE5E981BBA}"/>
              </a:ext>
            </a:extLst>
          </p:cNvPr>
          <p:cNvGrpSpPr/>
          <p:nvPr/>
        </p:nvGrpSpPr>
        <p:grpSpPr>
          <a:xfrm>
            <a:off x="320040" y="1136310"/>
            <a:ext cx="8686800" cy="3355848"/>
            <a:chOff x="320040" y="1371600"/>
            <a:chExt cx="8686800" cy="3355848"/>
          </a:xfrm>
        </p:grpSpPr>
        <p:sp>
          <p:nvSpPr>
            <p:cNvPr id="6" name="Shape 4"/>
            <p:cNvSpPr/>
            <p:nvPr/>
          </p:nvSpPr>
          <p:spPr>
            <a:xfrm>
              <a:off x="320040" y="1371600"/>
              <a:ext cx="4251960" cy="749808"/>
            </a:xfrm>
            <a:prstGeom prst="rect">
              <a:avLst/>
            </a:prstGeom>
            <a:solidFill>
              <a:srgbClr val="1E1850"/>
            </a:solidFill>
            <a:ln/>
            <a:effectLst>
              <a:outerShdw blurRad="152400" dist="50800" dir="8100000" algn="bl" rotWithShape="0">
                <a:srgbClr val="000000">
                  <a:alpha val="25000"/>
                </a:srgbClr>
              </a:outerShdw>
            </a:effectLst>
          </p:spPr>
        </p:sp>
        <p:sp>
          <p:nvSpPr>
            <p:cNvPr id="7" name="Shape 5"/>
            <p:cNvSpPr/>
            <p:nvPr/>
          </p:nvSpPr>
          <p:spPr>
            <a:xfrm>
              <a:off x="320040" y="1371600"/>
              <a:ext cx="594360" cy="749808"/>
            </a:xfrm>
            <a:prstGeom prst="rect">
              <a:avLst/>
            </a:prstGeom>
            <a:solidFill>
              <a:srgbClr val="6C3BF5"/>
            </a:solidFill>
            <a:ln/>
          </p:spPr>
        </p:sp>
        <p:sp>
          <p:nvSpPr>
            <p:cNvPr id="8" name="Text 6"/>
            <p:cNvSpPr/>
            <p:nvPr/>
          </p:nvSpPr>
          <p:spPr>
            <a:xfrm>
              <a:off x="365760" y="1572768"/>
              <a:ext cx="530352" cy="329184"/>
            </a:xfrm>
            <a:prstGeom prst="rect">
              <a:avLst/>
            </a:prstGeom>
            <a:noFill/>
            <a:ln/>
          </p:spPr>
          <p:txBody>
            <a:bodyPr wrap="square" lIns="0" tIns="0" rIns="0" bIns="0" rtlCol="0" anchor="ctr"/>
            <a:lstStyle/>
            <a:p>
              <a:pPr marL="0" indent="0" algn="ctr">
                <a:buNone/>
              </a:pPr>
              <a:r>
                <a:rPr lang="en-US" sz="1600" b="1" dirty="0">
                  <a:solidFill>
                    <a:srgbClr val="FFFFFF"/>
                  </a:solidFill>
                </a:rPr>
                <a:t>2013</a:t>
              </a:r>
              <a:endParaRPr lang="en-US" sz="1600" dirty="0"/>
            </a:p>
          </p:txBody>
        </p:sp>
        <p:sp>
          <p:nvSpPr>
            <p:cNvPr id="9" name="Text 7"/>
            <p:cNvSpPr/>
            <p:nvPr/>
          </p:nvSpPr>
          <p:spPr>
            <a:xfrm>
              <a:off x="1005840" y="1444752"/>
              <a:ext cx="3474720" cy="603504"/>
            </a:xfrm>
            <a:prstGeom prst="rect">
              <a:avLst/>
            </a:prstGeom>
            <a:noFill/>
            <a:ln/>
          </p:spPr>
          <p:txBody>
            <a:bodyPr wrap="square" lIns="0" tIns="0" rIns="0" bIns="0" rtlCol="0" anchor="ctr"/>
            <a:lstStyle/>
            <a:p>
              <a:pPr marL="0" indent="0">
                <a:buNone/>
              </a:pPr>
              <a:r>
                <a:rPr lang="en-US" sz="1200" dirty="0">
                  <a:solidFill>
                    <a:srgbClr val="E8E4FF"/>
                  </a:solidFill>
                </a:rPr>
                <a:t>David Vélez, Cristina Junqueira &amp; Edward Wible found Nubank in São Paulo — a no-fee credit card via mobile app, seed from Sequoia</a:t>
              </a:r>
              <a:endParaRPr lang="en-US" sz="1200" dirty="0"/>
            </a:p>
          </p:txBody>
        </p:sp>
        <p:sp>
          <p:nvSpPr>
            <p:cNvPr id="10" name="Shape 8"/>
            <p:cNvSpPr/>
            <p:nvPr/>
          </p:nvSpPr>
          <p:spPr>
            <a:xfrm>
              <a:off x="4754880" y="1371600"/>
              <a:ext cx="4251960" cy="749808"/>
            </a:xfrm>
            <a:prstGeom prst="rect">
              <a:avLst/>
            </a:prstGeom>
            <a:solidFill>
              <a:srgbClr val="1E1850"/>
            </a:solidFill>
            <a:ln/>
            <a:effectLst>
              <a:outerShdw blurRad="152400" dist="50800" dir="8100000" algn="bl" rotWithShape="0">
                <a:srgbClr val="000000">
                  <a:alpha val="25000"/>
                </a:srgbClr>
              </a:outerShdw>
            </a:effectLst>
          </p:spPr>
        </p:sp>
        <p:sp>
          <p:nvSpPr>
            <p:cNvPr id="11" name="Shape 9"/>
            <p:cNvSpPr/>
            <p:nvPr/>
          </p:nvSpPr>
          <p:spPr>
            <a:xfrm>
              <a:off x="4754880" y="1371600"/>
              <a:ext cx="594360" cy="749808"/>
            </a:xfrm>
            <a:prstGeom prst="rect">
              <a:avLst/>
            </a:prstGeom>
            <a:solidFill>
              <a:srgbClr val="00D4AA"/>
            </a:solidFill>
            <a:ln/>
          </p:spPr>
        </p:sp>
        <p:sp>
          <p:nvSpPr>
            <p:cNvPr id="12" name="Text 10"/>
            <p:cNvSpPr/>
            <p:nvPr/>
          </p:nvSpPr>
          <p:spPr>
            <a:xfrm>
              <a:off x="4800600" y="1572768"/>
              <a:ext cx="530352" cy="329184"/>
            </a:xfrm>
            <a:prstGeom prst="rect">
              <a:avLst/>
            </a:prstGeom>
            <a:noFill/>
            <a:ln/>
          </p:spPr>
          <p:txBody>
            <a:bodyPr wrap="square" lIns="0" tIns="0" rIns="0" bIns="0" rtlCol="0" anchor="ctr"/>
            <a:lstStyle/>
            <a:p>
              <a:pPr marL="0" indent="0" algn="ctr">
                <a:buNone/>
              </a:pPr>
              <a:r>
                <a:rPr lang="en-US" sz="1600" b="1" dirty="0">
                  <a:solidFill>
                    <a:srgbClr val="FFFFFF"/>
                  </a:solidFill>
                </a:rPr>
                <a:t>2014</a:t>
              </a:r>
              <a:endParaRPr lang="en-US" sz="1600" dirty="0"/>
            </a:p>
          </p:txBody>
        </p:sp>
        <p:sp>
          <p:nvSpPr>
            <p:cNvPr id="13" name="Text 11"/>
            <p:cNvSpPr/>
            <p:nvPr/>
          </p:nvSpPr>
          <p:spPr>
            <a:xfrm>
              <a:off x="5440680" y="1444752"/>
              <a:ext cx="3474720" cy="603504"/>
            </a:xfrm>
            <a:prstGeom prst="rect">
              <a:avLst/>
            </a:prstGeom>
            <a:noFill/>
            <a:ln/>
          </p:spPr>
          <p:txBody>
            <a:bodyPr wrap="square" lIns="0" tIns="0" rIns="0" bIns="0" rtlCol="0" anchor="ctr"/>
            <a:lstStyle/>
            <a:p>
              <a:pPr marL="0" indent="0">
                <a:buNone/>
              </a:pPr>
              <a:r>
                <a:rPr lang="en-US" sz="1200" dirty="0">
                  <a:solidFill>
                    <a:srgbClr val="E8E4FF"/>
                  </a:solidFill>
                </a:rPr>
                <a:t>First purple Nubank credit card issued. Waitlist swells to 1M+ in weeks. Brazil's banking cartel dismisses it as a toy</a:t>
              </a:r>
              <a:endParaRPr lang="en-US" sz="1200" dirty="0"/>
            </a:p>
          </p:txBody>
        </p:sp>
        <p:sp>
          <p:nvSpPr>
            <p:cNvPr id="14" name="Shape 12"/>
            <p:cNvSpPr/>
            <p:nvPr/>
          </p:nvSpPr>
          <p:spPr>
            <a:xfrm>
              <a:off x="320040" y="2240280"/>
              <a:ext cx="4251960" cy="749808"/>
            </a:xfrm>
            <a:prstGeom prst="rect">
              <a:avLst/>
            </a:prstGeom>
            <a:solidFill>
              <a:srgbClr val="1E1850"/>
            </a:solidFill>
            <a:ln/>
            <a:effectLst>
              <a:outerShdw blurRad="152400" dist="50800" dir="8100000" algn="bl" rotWithShape="0">
                <a:srgbClr val="000000">
                  <a:alpha val="25000"/>
                </a:srgbClr>
              </a:outerShdw>
            </a:effectLst>
          </p:spPr>
        </p:sp>
        <p:sp>
          <p:nvSpPr>
            <p:cNvPr id="15" name="Shape 13"/>
            <p:cNvSpPr/>
            <p:nvPr/>
          </p:nvSpPr>
          <p:spPr>
            <a:xfrm>
              <a:off x="320040" y="2240280"/>
              <a:ext cx="594360" cy="749808"/>
            </a:xfrm>
            <a:prstGeom prst="rect">
              <a:avLst/>
            </a:prstGeom>
            <a:solidFill>
              <a:srgbClr val="6C3BF5"/>
            </a:solidFill>
            <a:ln/>
          </p:spPr>
        </p:sp>
        <p:sp>
          <p:nvSpPr>
            <p:cNvPr id="16" name="Text 14"/>
            <p:cNvSpPr/>
            <p:nvPr/>
          </p:nvSpPr>
          <p:spPr>
            <a:xfrm>
              <a:off x="365760" y="2441448"/>
              <a:ext cx="530352" cy="329184"/>
            </a:xfrm>
            <a:prstGeom prst="rect">
              <a:avLst/>
            </a:prstGeom>
            <a:noFill/>
            <a:ln/>
          </p:spPr>
          <p:txBody>
            <a:bodyPr wrap="square" lIns="0" tIns="0" rIns="0" bIns="0" rtlCol="0" anchor="ctr"/>
            <a:lstStyle/>
            <a:p>
              <a:pPr marL="0" indent="0" algn="ctr">
                <a:buNone/>
              </a:pPr>
              <a:r>
                <a:rPr lang="en-US" sz="1600" b="1" dirty="0">
                  <a:solidFill>
                    <a:srgbClr val="FFFFFF"/>
                  </a:solidFill>
                </a:rPr>
                <a:t>2016</a:t>
              </a:r>
              <a:endParaRPr lang="en-US" sz="1600" dirty="0"/>
            </a:p>
          </p:txBody>
        </p:sp>
        <p:sp>
          <p:nvSpPr>
            <p:cNvPr id="17" name="Text 15"/>
            <p:cNvSpPr/>
            <p:nvPr/>
          </p:nvSpPr>
          <p:spPr>
            <a:xfrm>
              <a:off x="1005840" y="2313432"/>
              <a:ext cx="3474720" cy="603504"/>
            </a:xfrm>
            <a:prstGeom prst="rect">
              <a:avLst/>
            </a:prstGeom>
            <a:noFill/>
            <a:ln/>
          </p:spPr>
          <p:txBody>
            <a:bodyPr wrap="square" lIns="0" tIns="0" rIns="0" bIns="0" rtlCol="0" anchor="ctr"/>
            <a:lstStyle/>
            <a:p>
              <a:pPr marL="0" indent="0">
                <a:buNone/>
              </a:pPr>
              <a:r>
                <a:rPr lang="en-US" sz="1200" dirty="0">
                  <a:solidFill>
                    <a:srgbClr val="E8E4FF"/>
                  </a:solidFill>
                </a:rPr>
                <a:t>Nu Holdings Ltd. incorporated in Cayman Islands. Sequoia, Kaszek, Tiger Global lead Series C. 6M customers</a:t>
              </a:r>
              <a:endParaRPr lang="en-US" sz="1200" dirty="0"/>
            </a:p>
          </p:txBody>
        </p:sp>
        <p:sp>
          <p:nvSpPr>
            <p:cNvPr id="18" name="Shape 16"/>
            <p:cNvSpPr/>
            <p:nvPr/>
          </p:nvSpPr>
          <p:spPr>
            <a:xfrm>
              <a:off x="4754880" y="2240280"/>
              <a:ext cx="4251960" cy="749808"/>
            </a:xfrm>
            <a:prstGeom prst="rect">
              <a:avLst/>
            </a:prstGeom>
            <a:solidFill>
              <a:srgbClr val="1E1850"/>
            </a:solidFill>
            <a:ln/>
            <a:effectLst>
              <a:outerShdw blurRad="152400" dist="50800" dir="8100000" algn="bl" rotWithShape="0">
                <a:srgbClr val="000000">
                  <a:alpha val="25000"/>
                </a:srgbClr>
              </a:outerShdw>
            </a:effectLst>
          </p:spPr>
        </p:sp>
        <p:sp>
          <p:nvSpPr>
            <p:cNvPr id="19" name="Shape 17"/>
            <p:cNvSpPr/>
            <p:nvPr/>
          </p:nvSpPr>
          <p:spPr>
            <a:xfrm>
              <a:off x="4754880" y="2240280"/>
              <a:ext cx="594360" cy="749808"/>
            </a:xfrm>
            <a:prstGeom prst="rect">
              <a:avLst/>
            </a:prstGeom>
            <a:solidFill>
              <a:srgbClr val="00D4AA"/>
            </a:solidFill>
            <a:ln/>
          </p:spPr>
        </p:sp>
        <p:sp>
          <p:nvSpPr>
            <p:cNvPr id="20" name="Text 18"/>
            <p:cNvSpPr/>
            <p:nvPr/>
          </p:nvSpPr>
          <p:spPr>
            <a:xfrm>
              <a:off x="4800600" y="2441448"/>
              <a:ext cx="530352" cy="329184"/>
            </a:xfrm>
            <a:prstGeom prst="rect">
              <a:avLst/>
            </a:prstGeom>
            <a:noFill/>
            <a:ln/>
          </p:spPr>
          <p:txBody>
            <a:bodyPr wrap="square" lIns="0" tIns="0" rIns="0" bIns="0" rtlCol="0" anchor="ctr"/>
            <a:lstStyle/>
            <a:p>
              <a:pPr marL="0" indent="0" algn="ctr">
                <a:buNone/>
              </a:pPr>
              <a:r>
                <a:rPr lang="en-US" sz="1600" b="1" dirty="0">
                  <a:solidFill>
                    <a:srgbClr val="FFFFFF"/>
                  </a:solidFill>
                </a:rPr>
                <a:t>2018</a:t>
              </a:r>
              <a:endParaRPr lang="en-US" sz="1600" dirty="0"/>
            </a:p>
          </p:txBody>
        </p:sp>
        <p:sp>
          <p:nvSpPr>
            <p:cNvPr id="21" name="Text 19"/>
            <p:cNvSpPr/>
            <p:nvPr/>
          </p:nvSpPr>
          <p:spPr>
            <a:xfrm>
              <a:off x="5440680" y="2313432"/>
              <a:ext cx="3474720" cy="603504"/>
            </a:xfrm>
            <a:prstGeom prst="rect">
              <a:avLst/>
            </a:prstGeom>
            <a:noFill/>
            <a:ln/>
          </p:spPr>
          <p:txBody>
            <a:bodyPr wrap="square" lIns="0" tIns="0" rIns="0" bIns="0" rtlCol="0" anchor="ctr"/>
            <a:lstStyle/>
            <a:p>
              <a:pPr marL="0" indent="0">
                <a:buNone/>
              </a:pPr>
              <a:r>
                <a:rPr lang="en-US" sz="1200" dirty="0">
                  <a:solidFill>
                    <a:srgbClr val="E8E4FF"/>
                  </a:solidFill>
                </a:rPr>
                <a:t>Berkshire Hathaway invests $500M. Warren Buffett backs the 'Amazon of financial services'. Expands into Mexico</a:t>
              </a:r>
              <a:endParaRPr lang="en-US" sz="1200" dirty="0"/>
            </a:p>
          </p:txBody>
        </p:sp>
        <p:sp>
          <p:nvSpPr>
            <p:cNvPr id="22" name="Shape 20"/>
            <p:cNvSpPr/>
            <p:nvPr/>
          </p:nvSpPr>
          <p:spPr>
            <a:xfrm>
              <a:off x="320040" y="3108960"/>
              <a:ext cx="4251960" cy="749808"/>
            </a:xfrm>
            <a:prstGeom prst="rect">
              <a:avLst/>
            </a:prstGeom>
            <a:solidFill>
              <a:srgbClr val="1E1850"/>
            </a:solidFill>
            <a:ln/>
            <a:effectLst>
              <a:outerShdw blurRad="152400" dist="50800" dir="8100000" algn="bl" rotWithShape="0">
                <a:srgbClr val="000000">
                  <a:alpha val="25000"/>
                </a:srgbClr>
              </a:outerShdw>
            </a:effectLst>
          </p:spPr>
        </p:sp>
        <p:sp>
          <p:nvSpPr>
            <p:cNvPr id="23" name="Shape 21"/>
            <p:cNvSpPr/>
            <p:nvPr/>
          </p:nvSpPr>
          <p:spPr>
            <a:xfrm>
              <a:off x="320040" y="3108960"/>
              <a:ext cx="594360" cy="749808"/>
            </a:xfrm>
            <a:prstGeom prst="rect">
              <a:avLst/>
            </a:prstGeom>
            <a:solidFill>
              <a:srgbClr val="6C3BF5"/>
            </a:solidFill>
            <a:ln/>
          </p:spPr>
        </p:sp>
        <p:sp>
          <p:nvSpPr>
            <p:cNvPr id="24" name="Text 22"/>
            <p:cNvSpPr/>
            <p:nvPr/>
          </p:nvSpPr>
          <p:spPr>
            <a:xfrm>
              <a:off x="365760" y="3310128"/>
              <a:ext cx="530352" cy="329184"/>
            </a:xfrm>
            <a:prstGeom prst="rect">
              <a:avLst/>
            </a:prstGeom>
            <a:noFill/>
            <a:ln/>
          </p:spPr>
          <p:txBody>
            <a:bodyPr wrap="square" lIns="0" tIns="0" rIns="0" bIns="0" rtlCol="0" anchor="ctr"/>
            <a:lstStyle/>
            <a:p>
              <a:pPr marL="0" indent="0" algn="ctr">
                <a:buNone/>
              </a:pPr>
              <a:r>
                <a:rPr lang="en-US" sz="1600" b="1" dirty="0">
                  <a:solidFill>
                    <a:srgbClr val="FFFFFF"/>
                  </a:solidFill>
                </a:rPr>
                <a:t>2021</a:t>
              </a:r>
              <a:endParaRPr lang="en-US" sz="1600" dirty="0"/>
            </a:p>
          </p:txBody>
        </p:sp>
        <p:sp>
          <p:nvSpPr>
            <p:cNvPr id="25" name="Text 23"/>
            <p:cNvSpPr/>
            <p:nvPr/>
          </p:nvSpPr>
          <p:spPr>
            <a:xfrm>
              <a:off x="1005840" y="3182112"/>
              <a:ext cx="3474720" cy="603504"/>
            </a:xfrm>
            <a:prstGeom prst="rect">
              <a:avLst/>
            </a:prstGeom>
            <a:noFill/>
            <a:ln/>
          </p:spPr>
          <p:txBody>
            <a:bodyPr wrap="square" lIns="0" tIns="0" rIns="0" bIns="0" rtlCol="0" anchor="ctr"/>
            <a:lstStyle/>
            <a:p>
              <a:pPr marL="0" indent="0">
                <a:buNone/>
              </a:pPr>
              <a:r>
                <a:rPr lang="en-US" sz="1200" dirty="0">
                  <a:solidFill>
                    <a:srgbClr val="E8E4FF"/>
                  </a:solidFill>
                </a:rPr>
                <a:t>IPO on NYSE Dec 2021 at $45B valuation — largest LatAm tech IPO ever. 48M customers. Colombia launch</a:t>
              </a:r>
              <a:endParaRPr lang="en-US" sz="1200" dirty="0"/>
            </a:p>
          </p:txBody>
        </p:sp>
        <p:sp>
          <p:nvSpPr>
            <p:cNvPr id="26" name="Shape 24"/>
            <p:cNvSpPr/>
            <p:nvPr/>
          </p:nvSpPr>
          <p:spPr>
            <a:xfrm>
              <a:off x="4754880" y="3108960"/>
              <a:ext cx="4251960" cy="749808"/>
            </a:xfrm>
            <a:prstGeom prst="rect">
              <a:avLst/>
            </a:prstGeom>
            <a:solidFill>
              <a:srgbClr val="1E1850"/>
            </a:solidFill>
            <a:ln/>
            <a:effectLst>
              <a:outerShdw blurRad="152400" dist="50800" dir="8100000" algn="bl" rotWithShape="0">
                <a:srgbClr val="000000">
                  <a:alpha val="25000"/>
                </a:srgbClr>
              </a:outerShdw>
            </a:effectLst>
          </p:spPr>
        </p:sp>
        <p:sp>
          <p:nvSpPr>
            <p:cNvPr id="27" name="Shape 25"/>
            <p:cNvSpPr/>
            <p:nvPr/>
          </p:nvSpPr>
          <p:spPr>
            <a:xfrm>
              <a:off x="4754880" y="3108960"/>
              <a:ext cx="594360" cy="749808"/>
            </a:xfrm>
            <a:prstGeom prst="rect">
              <a:avLst/>
            </a:prstGeom>
            <a:solidFill>
              <a:srgbClr val="00D4AA"/>
            </a:solidFill>
            <a:ln/>
          </p:spPr>
        </p:sp>
        <p:sp>
          <p:nvSpPr>
            <p:cNvPr id="28" name="Text 26"/>
            <p:cNvSpPr/>
            <p:nvPr/>
          </p:nvSpPr>
          <p:spPr>
            <a:xfrm>
              <a:off x="4800600" y="3310128"/>
              <a:ext cx="530352" cy="329184"/>
            </a:xfrm>
            <a:prstGeom prst="rect">
              <a:avLst/>
            </a:prstGeom>
            <a:noFill/>
            <a:ln/>
          </p:spPr>
          <p:txBody>
            <a:bodyPr wrap="square" lIns="0" tIns="0" rIns="0" bIns="0" rtlCol="0" anchor="ctr"/>
            <a:lstStyle/>
            <a:p>
              <a:pPr marL="0" indent="0" algn="ctr">
                <a:buNone/>
              </a:pPr>
              <a:r>
                <a:rPr lang="en-US" sz="1600" b="1" dirty="0">
                  <a:solidFill>
                    <a:srgbClr val="FFFFFF"/>
                  </a:solidFill>
                </a:rPr>
                <a:t>2023</a:t>
              </a:r>
              <a:endParaRPr lang="en-US" sz="1600" dirty="0"/>
            </a:p>
          </p:txBody>
        </p:sp>
        <p:sp>
          <p:nvSpPr>
            <p:cNvPr id="29" name="Text 27"/>
            <p:cNvSpPr/>
            <p:nvPr/>
          </p:nvSpPr>
          <p:spPr>
            <a:xfrm>
              <a:off x="5440680" y="3182112"/>
              <a:ext cx="3474720" cy="603504"/>
            </a:xfrm>
            <a:prstGeom prst="rect">
              <a:avLst/>
            </a:prstGeom>
            <a:noFill/>
            <a:ln/>
          </p:spPr>
          <p:txBody>
            <a:bodyPr wrap="square" lIns="0" tIns="0" rIns="0" bIns="0" rtlCol="0" anchor="ctr"/>
            <a:lstStyle/>
            <a:p>
              <a:pPr marL="0" indent="0">
                <a:buNone/>
              </a:pPr>
              <a:r>
                <a:rPr lang="en-US" sz="1200" dirty="0">
                  <a:solidFill>
                    <a:srgbClr val="E8E4FF"/>
                  </a:solidFill>
                </a:rPr>
                <a:t>Reaches 80M customers. Becomes #4 financial institution in Brazil by customer count. Mexico EBITDA positive</a:t>
              </a:r>
              <a:endParaRPr lang="en-US" sz="1200" dirty="0"/>
            </a:p>
          </p:txBody>
        </p:sp>
        <p:sp>
          <p:nvSpPr>
            <p:cNvPr id="30" name="Shape 28"/>
            <p:cNvSpPr/>
            <p:nvPr/>
          </p:nvSpPr>
          <p:spPr>
            <a:xfrm>
              <a:off x="320040" y="3977640"/>
              <a:ext cx="4251960" cy="749808"/>
            </a:xfrm>
            <a:prstGeom prst="rect">
              <a:avLst/>
            </a:prstGeom>
            <a:solidFill>
              <a:srgbClr val="1E1850"/>
            </a:solidFill>
            <a:ln/>
            <a:effectLst>
              <a:outerShdw blurRad="152400" dist="50800" dir="8100000" algn="bl" rotWithShape="0">
                <a:srgbClr val="000000">
                  <a:alpha val="25000"/>
                </a:srgbClr>
              </a:outerShdw>
            </a:effectLst>
          </p:spPr>
        </p:sp>
        <p:sp>
          <p:nvSpPr>
            <p:cNvPr id="31" name="Shape 29"/>
            <p:cNvSpPr/>
            <p:nvPr/>
          </p:nvSpPr>
          <p:spPr>
            <a:xfrm>
              <a:off x="320040" y="3977640"/>
              <a:ext cx="594360" cy="749808"/>
            </a:xfrm>
            <a:prstGeom prst="rect">
              <a:avLst/>
            </a:prstGeom>
            <a:solidFill>
              <a:srgbClr val="6C3BF5"/>
            </a:solidFill>
            <a:ln/>
          </p:spPr>
        </p:sp>
        <p:sp>
          <p:nvSpPr>
            <p:cNvPr id="32" name="Text 30"/>
            <p:cNvSpPr/>
            <p:nvPr/>
          </p:nvSpPr>
          <p:spPr>
            <a:xfrm>
              <a:off x="365760" y="4178808"/>
              <a:ext cx="530352" cy="329184"/>
            </a:xfrm>
            <a:prstGeom prst="rect">
              <a:avLst/>
            </a:prstGeom>
            <a:noFill/>
            <a:ln/>
          </p:spPr>
          <p:txBody>
            <a:bodyPr wrap="square" lIns="0" tIns="0" rIns="0" bIns="0" rtlCol="0" anchor="ctr"/>
            <a:lstStyle/>
            <a:p>
              <a:pPr marL="0" indent="0" algn="ctr">
                <a:buNone/>
              </a:pPr>
              <a:r>
                <a:rPr lang="en-US" sz="1600" b="1" dirty="0">
                  <a:solidFill>
                    <a:srgbClr val="FFFFFF"/>
                  </a:solidFill>
                </a:rPr>
                <a:t>2025</a:t>
              </a:r>
              <a:endParaRPr lang="en-US" sz="1600" dirty="0"/>
            </a:p>
          </p:txBody>
        </p:sp>
        <p:sp>
          <p:nvSpPr>
            <p:cNvPr id="33" name="Text 31"/>
            <p:cNvSpPr/>
            <p:nvPr/>
          </p:nvSpPr>
          <p:spPr>
            <a:xfrm>
              <a:off x="1005840" y="4050792"/>
              <a:ext cx="3474720" cy="603504"/>
            </a:xfrm>
            <a:prstGeom prst="rect">
              <a:avLst/>
            </a:prstGeom>
            <a:noFill/>
            <a:ln/>
          </p:spPr>
          <p:txBody>
            <a:bodyPr wrap="square" lIns="0" tIns="0" rIns="0" bIns="0" rtlCol="0" anchor="ctr"/>
            <a:lstStyle/>
            <a:p>
              <a:pPr marL="0" indent="0">
                <a:buNone/>
              </a:pPr>
              <a:r>
                <a:rPr lang="en-US" sz="1200" dirty="0">
                  <a:solidFill>
                    <a:srgbClr val="E8E4FF"/>
                  </a:solidFill>
                </a:rPr>
                <a:t>131M customers. FY revenue $15.8B (+37%). Net income $2.9B. Mexico becomes 3rd largest bank by customers</a:t>
              </a:r>
              <a:endParaRPr lang="en-US" sz="1200" dirty="0"/>
            </a:p>
          </p:txBody>
        </p:sp>
        <p:sp>
          <p:nvSpPr>
            <p:cNvPr id="34" name="Shape 32"/>
            <p:cNvSpPr/>
            <p:nvPr/>
          </p:nvSpPr>
          <p:spPr>
            <a:xfrm>
              <a:off x="4754880" y="3977640"/>
              <a:ext cx="4251960" cy="749808"/>
            </a:xfrm>
            <a:prstGeom prst="rect">
              <a:avLst/>
            </a:prstGeom>
            <a:solidFill>
              <a:srgbClr val="1E1850"/>
            </a:solidFill>
            <a:ln/>
            <a:effectLst>
              <a:outerShdw blurRad="152400" dist="50800" dir="8100000" algn="bl" rotWithShape="0">
                <a:srgbClr val="000000">
                  <a:alpha val="25000"/>
                </a:srgbClr>
              </a:outerShdw>
            </a:effectLst>
          </p:spPr>
        </p:sp>
        <p:sp>
          <p:nvSpPr>
            <p:cNvPr id="35" name="Shape 33"/>
            <p:cNvSpPr/>
            <p:nvPr/>
          </p:nvSpPr>
          <p:spPr>
            <a:xfrm>
              <a:off x="4754880" y="3977640"/>
              <a:ext cx="594360" cy="749808"/>
            </a:xfrm>
            <a:prstGeom prst="rect">
              <a:avLst/>
            </a:prstGeom>
            <a:solidFill>
              <a:srgbClr val="00D4AA"/>
            </a:solidFill>
            <a:ln/>
          </p:spPr>
        </p:sp>
        <p:sp>
          <p:nvSpPr>
            <p:cNvPr id="36" name="Text 34"/>
            <p:cNvSpPr/>
            <p:nvPr/>
          </p:nvSpPr>
          <p:spPr>
            <a:xfrm>
              <a:off x="4800600" y="4178808"/>
              <a:ext cx="530352" cy="329184"/>
            </a:xfrm>
            <a:prstGeom prst="rect">
              <a:avLst/>
            </a:prstGeom>
            <a:noFill/>
            <a:ln/>
          </p:spPr>
          <p:txBody>
            <a:bodyPr wrap="square" lIns="0" tIns="0" rIns="0" bIns="0" rtlCol="0" anchor="ctr"/>
            <a:lstStyle/>
            <a:p>
              <a:pPr marL="0" indent="0" algn="ctr">
                <a:buNone/>
              </a:pPr>
              <a:r>
                <a:rPr lang="en-US" sz="1600" b="1" dirty="0">
                  <a:solidFill>
                    <a:srgbClr val="FFFFFF"/>
                  </a:solidFill>
                </a:rPr>
                <a:t>2026</a:t>
              </a:r>
              <a:endParaRPr lang="en-US" sz="1600" dirty="0"/>
            </a:p>
          </p:txBody>
        </p:sp>
        <p:sp>
          <p:nvSpPr>
            <p:cNvPr id="37" name="Text 35"/>
            <p:cNvSpPr/>
            <p:nvPr/>
          </p:nvSpPr>
          <p:spPr>
            <a:xfrm>
              <a:off x="5440680" y="4050792"/>
              <a:ext cx="3474720" cy="603504"/>
            </a:xfrm>
            <a:prstGeom prst="rect">
              <a:avLst/>
            </a:prstGeom>
            <a:noFill/>
            <a:ln/>
          </p:spPr>
          <p:txBody>
            <a:bodyPr wrap="square" lIns="0" tIns="0" rIns="0" bIns="0" rtlCol="0" anchor="ctr"/>
            <a:lstStyle/>
            <a:p>
              <a:pPr marL="0" indent="0">
                <a:buNone/>
              </a:pPr>
              <a:r>
                <a:rPr lang="en-US" sz="1200" dirty="0">
                  <a:solidFill>
                    <a:srgbClr val="E8E4FF"/>
                  </a:solidFill>
                </a:rPr>
                <a:t>135M+ customers. Q1 revenue $5.3B — first $5B quarter. Mexico break-even. US bank charter conditional approval</a:t>
              </a:r>
              <a:endParaRPr lang="en-US" sz="1200" dirty="0"/>
            </a:p>
          </p:txBody>
        </p:sp>
      </p:grpSp>
      <p:grpSp>
        <p:nvGrpSpPr>
          <p:cNvPr id="40" name="Group 39">
            <a:extLst>
              <a:ext uri="{FF2B5EF4-FFF2-40B4-BE49-F238E27FC236}">
                <a16:creationId xmlns:a16="http://schemas.microsoft.com/office/drawing/2014/main" id="{4E55934B-F45D-A681-FC53-0346846598A6}"/>
              </a:ext>
            </a:extLst>
          </p:cNvPr>
          <p:cNvGrpSpPr/>
          <p:nvPr/>
        </p:nvGrpSpPr>
        <p:grpSpPr>
          <a:xfrm>
            <a:off x="320040" y="4611030"/>
            <a:ext cx="8686800" cy="389039"/>
            <a:chOff x="365760" y="4907895"/>
            <a:chExt cx="8503920" cy="329184"/>
          </a:xfrm>
        </p:grpSpPr>
        <p:sp>
          <p:nvSpPr>
            <p:cNvPr id="38" name="Shape 36"/>
            <p:cNvSpPr/>
            <p:nvPr/>
          </p:nvSpPr>
          <p:spPr>
            <a:xfrm>
              <a:off x="365760" y="4907895"/>
              <a:ext cx="8503920" cy="329184"/>
            </a:xfrm>
            <a:prstGeom prst="rect">
              <a:avLst/>
            </a:prstGeom>
            <a:solidFill>
              <a:srgbClr val="4B1FD4"/>
            </a:solidFill>
            <a:ln/>
          </p:spPr>
        </p:sp>
        <p:sp>
          <p:nvSpPr>
            <p:cNvPr id="39" name="Text 37"/>
            <p:cNvSpPr/>
            <p:nvPr/>
          </p:nvSpPr>
          <p:spPr>
            <a:xfrm>
              <a:off x="457200" y="4926183"/>
              <a:ext cx="8321040" cy="292608"/>
            </a:xfrm>
            <a:prstGeom prst="rect">
              <a:avLst/>
            </a:prstGeom>
            <a:noFill/>
            <a:ln/>
          </p:spPr>
          <p:txBody>
            <a:bodyPr wrap="square" lIns="0" tIns="0" rIns="0" bIns="0" rtlCol="0" anchor="ctr"/>
            <a:lstStyle/>
            <a:p>
              <a:pPr marL="0" indent="0">
                <a:buNone/>
              </a:pPr>
              <a:r>
                <a:rPr lang="en-US" sz="1050" dirty="0">
                  <a:solidFill>
                    <a:srgbClr val="FFFFFF"/>
                  </a:solidFill>
                </a:rPr>
                <a:t>The Structural Moat: Zero branches → zero legacy cost. Every feature born digital. 8,000 engineers serving 135M users at $0.80/month cost-to-serve. Legacy banks cannot replicate this.</a:t>
              </a:r>
              <a:endParaRPr lang="en-US" sz="1050" dirty="0"/>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0A1F"/>
        </a:solidFill>
        <a:effectLst/>
      </p:bgPr>
    </p:bg>
    <p:spTree>
      <p:nvGrpSpPr>
        <p:cNvPr id="1" name=""/>
        <p:cNvGrpSpPr/>
        <p:nvPr/>
      </p:nvGrpSpPr>
      <p:grpSpPr>
        <a:xfrm>
          <a:off x="0" y="0"/>
          <a:ext cx="0" cy="0"/>
          <a:chOff x="0" y="0"/>
          <a:chExt cx="0" cy="0"/>
        </a:xfrm>
      </p:grpSpPr>
      <p:sp>
        <p:nvSpPr>
          <p:cNvPr id="2" name="Shape 0"/>
          <p:cNvSpPr/>
          <p:nvPr/>
        </p:nvSpPr>
        <p:spPr>
          <a:xfrm>
            <a:off x="320040" y="164592"/>
            <a:ext cx="5023748" cy="228600"/>
          </a:xfrm>
          <a:prstGeom prst="roundRect">
            <a:avLst>
              <a:gd name="adj" fmla="val 28571"/>
            </a:avLst>
          </a:prstGeom>
          <a:solidFill>
            <a:srgbClr val="6C3BF5"/>
          </a:solidFill>
          <a:ln/>
        </p:spPr>
      </p:sp>
      <p:sp>
        <p:nvSpPr>
          <p:cNvPr id="3" name="Text 1"/>
          <p:cNvSpPr/>
          <p:nvPr/>
        </p:nvSpPr>
        <p:spPr>
          <a:xfrm>
            <a:off x="429096" y="184390"/>
            <a:ext cx="4889523" cy="192024"/>
          </a:xfrm>
          <a:prstGeom prst="rect">
            <a:avLst/>
          </a:prstGeom>
          <a:noFill/>
          <a:ln/>
        </p:spPr>
        <p:txBody>
          <a:bodyPr wrap="square" lIns="0" tIns="0" rIns="0" bIns="0" rtlCol="0" anchor="ctr"/>
          <a:lstStyle/>
          <a:p>
            <a:pPr marL="0" indent="0">
              <a:buNone/>
            </a:pPr>
            <a:r>
              <a:rPr lang="en-US" sz="1050" b="1" dirty="0">
                <a:solidFill>
                  <a:srgbClr val="FFFFFF"/>
                </a:solidFill>
              </a:rPr>
              <a:t>SECTION 2: BUSINESS MODEL — FIVE FINANCIAL SEASONS PLATFORM</a:t>
            </a:r>
            <a:endParaRPr lang="en-US" sz="1050" dirty="0"/>
          </a:p>
        </p:txBody>
      </p:sp>
      <p:sp>
        <p:nvSpPr>
          <p:cNvPr id="4" name="Text 2"/>
          <p:cNvSpPr/>
          <p:nvPr/>
        </p:nvSpPr>
        <p:spPr>
          <a:xfrm>
            <a:off x="320040" y="457200"/>
            <a:ext cx="8503920" cy="502920"/>
          </a:xfrm>
          <a:prstGeom prst="rect">
            <a:avLst/>
          </a:prstGeom>
          <a:noFill/>
          <a:ln/>
        </p:spPr>
        <p:txBody>
          <a:bodyPr wrap="square" lIns="0" tIns="0" rIns="0" bIns="0" rtlCol="0" anchor="ctr"/>
          <a:lstStyle/>
          <a:p>
            <a:pPr marL="0" indent="0">
              <a:buNone/>
            </a:pPr>
            <a:r>
              <a:rPr lang="en-US" sz="2200" b="1" dirty="0">
                <a:solidFill>
                  <a:srgbClr val="FFFFFF"/>
                </a:solidFill>
              </a:rPr>
              <a:t>Credit · Spending · Saving · Investing · Insurance — One Purple App</a:t>
            </a:r>
            <a:endParaRPr lang="en-US" sz="2200" dirty="0"/>
          </a:p>
        </p:txBody>
      </p:sp>
      <p:sp>
        <p:nvSpPr>
          <p:cNvPr id="5" name="Text 3"/>
          <p:cNvSpPr/>
          <p:nvPr/>
        </p:nvSpPr>
        <p:spPr>
          <a:xfrm>
            <a:off x="320040" y="960120"/>
            <a:ext cx="8503920" cy="256032"/>
          </a:xfrm>
          <a:prstGeom prst="rect">
            <a:avLst/>
          </a:prstGeom>
          <a:noFill/>
          <a:ln/>
        </p:spPr>
        <p:txBody>
          <a:bodyPr wrap="square" lIns="0" tIns="0" rIns="0" bIns="0" rtlCol="0" anchor="ctr"/>
          <a:lstStyle/>
          <a:p>
            <a:pPr marL="0" indent="0">
              <a:buNone/>
            </a:pPr>
            <a:r>
              <a:rPr lang="en-US" sz="1400" i="1" dirty="0">
                <a:solidFill>
                  <a:srgbClr val="00D4AA"/>
                </a:solidFill>
              </a:rPr>
              <a:t>Lifecycle banking model: acquire with credit card → expand wallet share → compound ARPAC</a:t>
            </a:r>
            <a:endParaRPr lang="en-US" sz="1400" dirty="0"/>
          </a:p>
        </p:txBody>
      </p:sp>
      <p:sp>
        <p:nvSpPr>
          <p:cNvPr id="6" name="Shape 4"/>
          <p:cNvSpPr/>
          <p:nvPr/>
        </p:nvSpPr>
        <p:spPr>
          <a:xfrm>
            <a:off x="320040" y="1417320"/>
            <a:ext cx="2057400" cy="3017520"/>
          </a:xfrm>
          <a:prstGeom prst="rect">
            <a:avLst/>
          </a:prstGeom>
          <a:solidFill>
            <a:srgbClr val="1E1850"/>
          </a:solidFill>
          <a:ln/>
          <a:effectLst>
            <a:outerShdw blurRad="152400" dist="50800" dir="8100000" algn="bl" rotWithShape="0">
              <a:srgbClr val="000000">
                <a:alpha val="25000"/>
              </a:srgbClr>
            </a:outerShdw>
          </a:effectLst>
        </p:spPr>
      </p:sp>
      <p:sp>
        <p:nvSpPr>
          <p:cNvPr id="7" name="Shape 5"/>
          <p:cNvSpPr/>
          <p:nvPr/>
        </p:nvSpPr>
        <p:spPr>
          <a:xfrm>
            <a:off x="320040" y="1417320"/>
            <a:ext cx="2057400" cy="54864"/>
          </a:xfrm>
          <a:prstGeom prst="rect">
            <a:avLst/>
          </a:prstGeom>
          <a:solidFill>
            <a:srgbClr val="6C3BF5"/>
          </a:solidFill>
          <a:ln/>
        </p:spPr>
      </p:sp>
      <p:sp>
        <p:nvSpPr>
          <p:cNvPr id="8" name="Text 6"/>
          <p:cNvSpPr/>
          <p:nvPr/>
        </p:nvSpPr>
        <p:spPr>
          <a:xfrm>
            <a:off x="411480" y="1508760"/>
            <a:ext cx="1874520" cy="310896"/>
          </a:xfrm>
          <a:prstGeom prst="rect">
            <a:avLst/>
          </a:prstGeom>
          <a:noFill/>
          <a:ln/>
        </p:spPr>
        <p:txBody>
          <a:bodyPr wrap="square" lIns="0" tIns="0" rIns="0" bIns="0" rtlCol="0" anchor="ctr"/>
          <a:lstStyle/>
          <a:p>
            <a:pPr marL="0" indent="0">
              <a:buNone/>
            </a:pPr>
            <a:r>
              <a:rPr lang="en-US" sz="1400" b="1" dirty="0">
                <a:solidFill>
                  <a:srgbClr val="FFFFFF"/>
                </a:solidFill>
              </a:rPr>
              <a:t>Credit Cards</a:t>
            </a:r>
            <a:endParaRPr lang="en-US" sz="1400" dirty="0"/>
          </a:p>
        </p:txBody>
      </p:sp>
      <p:sp>
        <p:nvSpPr>
          <p:cNvPr id="13" name="Shape 11"/>
          <p:cNvSpPr/>
          <p:nvPr/>
        </p:nvSpPr>
        <p:spPr>
          <a:xfrm>
            <a:off x="2468880" y="1417320"/>
            <a:ext cx="2057400" cy="3017520"/>
          </a:xfrm>
          <a:prstGeom prst="rect">
            <a:avLst/>
          </a:prstGeom>
          <a:solidFill>
            <a:srgbClr val="1E1850"/>
          </a:solidFill>
          <a:ln/>
          <a:effectLst>
            <a:outerShdw blurRad="152400" dist="50800" dir="8100000" algn="bl" rotWithShape="0">
              <a:srgbClr val="000000">
                <a:alpha val="25000"/>
              </a:srgbClr>
            </a:outerShdw>
          </a:effectLst>
        </p:spPr>
      </p:sp>
      <p:sp>
        <p:nvSpPr>
          <p:cNvPr id="14" name="Shape 12"/>
          <p:cNvSpPr/>
          <p:nvPr/>
        </p:nvSpPr>
        <p:spPr>
          <a:xfrm>
            <a:off x="2468880" y="1417320"/>
            <a:ext cx="2057400" cy="54864"/>
          </a:xfrm>
          <a:prstGeom prst="rect">
            <a:avLst/>
          </a:prstGeom>
          <a:solidFill>
            <a:srgbClr val="00A884"/>
          </a:solidFill>
          <a:ln/>
        </p:spPr>
      </p:sp>
      <p:sp>
        <p:nvSpPr>
          <p:cNvPr id="15" name="Text 13"/>
          <p:cNvSpPr/>
          <p:nvPr/>
        </p:nvSpPr>
        <p:spPr>
          <a:xfrm>
            <a:off x="2560320" y="1508760"/>
            <a:ext cx="1874520" cy="310896"/>
          </a:xfrm>
          <a:prstGeom prst="rect">
            <a:avLst/>
          </a:prstGeom>
          <a:noFill/>
          <a:ln/>
        </p:spPr>
        <p:txBody>
          <a:bodyPr wrap="square" lIns="0" tIns="0" rIns="0" bIns="0" rtlCol="0" anchor="ctr"/>
          <a:lstStyle/>
          <a:p>
            <a:pPr marL="0" indent="0">
              <a:buNone/>
            </a:pPr>
            <a:r>
              <a:rPr lang="en-US" sz="1400" b="1" dirty="0">
                <a:solidFill>
                  <a:srgbClr val="FFFFFF"/>
                </a:solidFill>
              </a:rPr>
              <a:t>Personal Loans</a:t>
            </a:r>
            <a:endParaRPr lang="en-US" sz="1400" dirty="0"/>
          </a:p>
        </p:txBody>
      </p:sp>
      <p:sp>
        <p:nvSpPr>
          <p:cNvPr id="20" name="Shape 18"/>
          <p:cNvSpPr/>
          <p:nvPr/>
        </p:nvSpPr>
        <p:spPr>
          <a:xfrm>
            <a:off x="4617720" y="1417320"/>
            <a:ext cx="2057400" cy="3017520"/>
          </a:xfrm>
          <a:prstGeom prst="rect">
            <a:avLst/>
          </a:prstGeom>
          <a:solidFill>
            <a:srgbClr val="1E1850"/>
          </a:solidFill>
          <a:ln/>
          <a:effectLst>
            <a:outerShdw blurRad="152400" dist="50800" dir="8100000" algn="bl" rotWithShape="0">
              <a:srgbClr val="000000">
                <a:alpha val="25000"/>
              </a:srgbClr>
            </a:outerShdw>
          </a:effectLst>
        </p:spPr>
      </p:sp>
      <p:sp>
        <p:nvSpPr>
          <p:cNvPr id="21" name="Shape 19"/>
          <p:cNvSpPr/>
          <p:nvPr/>
        </p:nvSpPr>
        <p:spPr>
          <a:xfrm>
            <a:off x="4617720" y="1417320"/>
            <a:ext cx="2057400" cy="54864"/>
          </a:xfrm>
          <a:prstGeom prst="rect">
            <a:avLst/>
          </a:prstGeom>
          <a:solidFill>
            <a:srgbClr val="6C3BF5"/>
          </a:solidFill>
          <a:ln/>
        </p:spPr>
      </p:sp>
      <p:sp>
        <p:nvSpPr>
          <p:cNvPr id="22" name="Text 20"/>
          <p:cNvSpPr/>
          <p:nvPr/>
        </p:nvSpPr>
        <p:spPr>
          <a:xfrm>
            <a:off x="4709160" y="1508760"/>
            <a:ext cx="1874520" cy="310896"/>
          </a:xfrm>
          <a:prstGeom prst="rect">
            <a:avLst/>
          </a:prstGeom>
          <a:noFill/>
          <a:ln/>
        </p:spPr>
        <p:txBody>
          <a:bodyPr wrap="square" lIns="0" tIns="0" rIns="0" bIns="0" rtlCol="0" anchor="ctr"/>
          <a:lstStyle/>
          <a:p>
            <a:pPr marL="0" indent="0">
              <a:buNone/>
            </a:pPr>
            <a:r>
              <a:rPr lang="en-US" sz="1400" b="1" dirty="0">
                <a:solidFill>
                  <a:srgbClr val="FFFFFF"/>
                </a:solidFill>
              </a:rPr>
              <a:t>Savings &amp; Deposits</a:t>
            </a:r>
            <a:endParaRPr lang="en-US" sz="1400" dirty="0"/>
          </a:p>
        </p:txBody>
      </p:sp>
      <p:sp>
        <p:nvSpPr>
          <p:cNvPr id="27" name="Shape 25"/>
          <p:cNvSpPr/>
          <p:nvPr/>
        </p:nvSpPr>
        <p:spPr>
          <a:xfrm>
            <a:off x="6766560" y="1417320"/>
            <a:ext cx="2057400" cy="3017520"/>
          </a:xfrm>
          <a:prstGeom prst="rect">
            <a:avLst/>
          </a:prstGeom>
          <a:solidFill>
            <a:srgbClr val="1E1850"/>
          </a:solidFill>
          <a:ln/>
          <a:effectLst>
            <a:outerShdw blurRad="152400" dist="50800" dir="8100000" algn="bl" rotWithShape="0">
              <a:srgbClr val="000000">
                <a:alpha val="25000"/>
              </a:srgbClr>
            </a:outerShdw>
          </a:effectLst>
        </p:spPr>
      </p:sp>
      <p:sp>
        <p:nvSpPr>
          <p:cNvPr id="28" name="Shape 26"/>
          <p:cNvSpPr/>
          <p:nvPr/>
        </p:nvSpPr>
        <p:spPr>
          <a:xfrm>
            <a:off x="6766560" y="1417320"/>
            <a:ext cx="2057400" cy="54864"/>
          </a:xfrm>
          <a:prstGeom prst="rect">
            <a:avLst/>
          </a:prstGeom>
          <a:solidFill>
            <a:srgbClr val="00A884"/>
          </a:solidFill>
          <a:ln/>
        </p:spPr>
      </p:sp>
      <p:sp>
        <p:nvSpPr>
          <p:cNvPr id="29" name="Text 27"/>
          <p:cNvSpPr/>
          <p:nvPr/>
        </p:nvSpPr>
        <p:spPr>
          <a:xfrm>
            <a:off x="6858000" y="1508760"/>
            <a:ext cx="1874520" cy="310896"/>
          </a:xfrm>
          <a:prstGeom prst="rect">
            <a:avLst/>
          </a:prstGeom>
          <a:noFill/>
          <a:ln/>
        </p:spPr>
        <p:txBody>
          <a:bodyPr wrap="square" lIns="0" tIns="0" rIns="0" bIns="0" rtlCol="0" anchor="ctr"/>
          <a:lstStyle/>
          <a:p>
            <a:pPr marL="0" indent="0">
              <a:buNone/>
            </a:pPr>
            <a:r>
              <a:rPr lang="en-US" sz="1400" b="1" dirty="0">
                <a:solidFill>
                  <a:srgbClr val="FFFFFF"/>
                </a:solidFill>
              </a:rPr>
              <a:t>Investments &amp; Insurance</a:t>
            </a:r>
            <a:endParaRPr lang="en-US" sz="1400" dirty="0"/>
          </a:p>
        </p:txBody>
      </p:sp>
      <p:grpSp>
        <p:nvGrpSpPr>
          <p:cNvPr id="38" name="Group 37">
            <a:extLst>
              <a:ext uri="{FF2B5EF4-FFF2-40B4-BE49-F238E27FC236}">
                <a16:creationId xmlns:a16="http://schemas.microsoft.com/office/drawing/2014/main" id="{B885FF40-3E0C-10D6-167B-354B042F2441}"/>
              </a:ext>
            </a:extLst>
          </p:cNvPr>
          <p:cNvGrpSpPr/>
          <p:nvPr/>
        </p:nvGrpSpPr>
        <p:grpSpPr>
          <a:xfrm>
            <a:off x="411480" y="1819656"/>
            <a:ext cx="8321040" cy="2227529"/>
            <a:chOff x="411480" y="1819656"/>
            <a:chExt cx="8321040" cy="2227529"/>
          </a:xfrm>
        </p:grpSpPr>
        <p:grpSp>
          <p:nvGrpSpPr>
            <p:cNvPr id="37" name="Group 36">
              <a:extLst>
                <a:ext uri="{FF2B5EF4-FFF2-40B4-BE49-F238E27FC236}">
                  <a16:creationId xmlns:a16="http://schemas.microsoft.com/office/drawing/2014/main" id="{BE28DEF6-53D5-2D0C-9496-8525C3C0FF09}"/>
                </a:ext>
              </a:extLst>
            </p:cNvPr>
            <p:cNvGrpSpPr/>
            <p:nvPr/>
          </p:nvGrpSpPr>
          <p:grpSpPr>
            <a:xfrm>
              <a:off x="411480" y="1819656"/>
              <a:ext cx="8321040" cy="201168"/>
              <a:chOff x="411480" y="1819656"/>
              <a:chExt cx="8321040" cy="201168"/>
            </a:xfrm>
          </p:grpSpPr>
          <p:sp>
            <p:nvSpPr>
              <p:cNvPr id="9" name="Text 7"/>
              <p:cNvSpPr/>
              <p:nvPr/>
            </p:nvSpPr>
            <p:spPr>
              <a:xfrm>
                <a:off x="411480" y="1819656"/>
                <a:ext cx="1874520" cy="201168"/>
              </a:xfrm>
              <a:prstGeom prst="rect">
                <a:avLst/>
              </a:prstGeom>
              <a:noFill/>
              <a:ln/>
            </p:spPr>
            <p:txBody>
              <a:bodyPr wrap="square" lIns="0" tIns="0" rIns="0" bIns="0" rtlCol="0" anchor="ctr"/>
              <a:lstStyle/>
              <a:p>
                <a:pPr marL="0" indent="0">
                  <a:buNone/>
                </a:pPr>
                <a:r>
                  <a:rPr lang="en-US" sz="1400" dirty="0">
                    <a:solidFill>
                      <a:srgbClr val="6C3BF5"/>
                    </a:solidFill>
                  </a:rPr>
                  <a:t>Flagship Product</a:t>
                </a:r>
                <a:endParaRPr lang="en-US" sz="1400" dirty="0"/>
              </a:p>
            </p:txBody>
          </p:sp>
          <p:sp>
            <p:nvSpPr>
              <p:cNvPr id="16" name="Text 14"/>
              <p:cNvSpPr/>
              <p:nvPr/>
            </p:nvSpPr>
            <p:spPr>
              <a:xfrm>
                <a:off x="2560320" y="1819656"/>
                <a:ext cx="1874520" cy="201168"/>
              </a:xfrm>
              <a:prstGeom prst="rect">
                <a:avLst/>
              </a:prstGeom>
              <a:noFill/>
              <a:ln/>
            </p:spPr>
            <p:txBody>
              <a:bodyPr wrap="square" lIns="0" tIns="0" rIns="0" bIns="0" rtlCol="0" anchor="ctr"/>
              <a:lstStyle/>
              <a:p>
                <a:pPr marL="0" indent="0">
                  <a:buNone/>
                </a:pPr>
                <a:r>
                  <a:rPr lang="en-US" sz="1400" dirty="0">
                    <a:solidFill>
                      <a:srgbClr val="00A884"/>
                    </a:solidFill>
                  </a:rPr>
                  <a:t>Fast-Growing</a:t>
                </a:r>
                <a:endParaRPr lang="en-US" sz="1400" dirty="0"/>
              </a:p>
            </p:txBody>
          </p:sp>
          <p:sp>
            <p:nvSpPr>
              <p:cNvPr id="23" name="Text 21"/>
              <p:cNvSpPr/>
              <p:nvPr/>
            </p:nvSpPr>
            <p:spPr>
              <a:xfrm>
                <a:off x="4709160" y="1819656"/>
                <a:ext cx="1874520" cy="201168"/>
              </a:xfrm>
              <a:prstGeom prst="rect">
                <a:avLst/>
              </a:prstGeom>
              <a:noFill/>
              <a:ln/>
            </p:spPr>
            <p:txBody>
              <a:bodyPr wrap="square" lIns="0" tIns="0" rIns="0" bIns="0" rtlCol="0" anchor="ctr"/>
              <a:lstStyle/>
              <a:p>
                <a:pPr marL="0" indent="0">
                  <a:buNone/>
                </a:pPr>
                <a:r>
                  <a:rPr lang="en-US" sz="1400" dirty="0">
                    <a:solidFill>
                      <a:srgbClr val="6C3BF5"/>
                    </a:solidFill>
                  </a:rPr>
                  <a:t>Low-Cost Funding</a:t>
                </a:r>
                <a:endParaRPr lang="en-US" sz="1400" dirty="0"/>
              </a:p>
            </p:txBody>
          </p:sp>
          <p:sp>
            <p:nvSpPr>
              <p:cNvPr id="30" name="Text 28"/>
              <p:cNvSpPr/>
              <p:nvPr/>
            </p:nvSpPr>
            <p:spPr>
              <a:xfrm>
                <a:off x="6858000" y="1819656"/>
                <a:ext cx="1874520" cy="201168"/>
              </a:xfrm>
              <a:prstGeom prst="rect">
                <a:avLst/>
              </a:prstGeom>
              <a:noFill/>
              <a:ln/>
            </p:spPr>
            <p:txBody>
              <a:bodyPr wrap="square" lIns="0" tIns="0" rIns="0" bIns="0" rtlCol="0" anchor="ctr"/>
              <a:lstStyle/>
              <a:p>
                <a:pPr marL="0" indent="0">
                  <a:buNone/>
                </a:pPr>
                <a:r>
                  <a:rPr lang="en-US" sz="1400" dirty="0">
                    <a:solidFill>
                      <a:srgbClr val="00A884"/>
                    </a:solidFill>
                  </a:rPr>
                  <a:t>Nascent but Growing</a:t>
                </a:r>
                <a:endParaRPr lang="en-US" sz="1400" dirty="0"/>
              </a:p>
            </p:txBody>
          </p:sp>
        </p:grpSp>
        <p:grpSp>
          <p:nvGrpSpPr>
            <p:cNvPr id="36" name="Group 35">
              <a:extLst>
                <a:ext uri="{FF2B5EF4-FFF2-40B4-BE49-F238E27FC236}">
                  <a16:creationId xmlns:a16="http://schemas.microsoft.com/office/drawing/2014/main" id="{A2B5DA0E-98BF-551E-D947-1215CA69E684}"/>
                </a:ext>
              </a:extLst>
            </p:cNvPr>
            <p:cNvGrpSpPr/>
            <p:nvPr/>
          </p:nvGrpSpPr>
          <p:grpSpPr>
            <a:xfrm>
              <a:off x="411480" y="2244223"/>
              <a:ext cx="8321040" cy="1802962"/>
              <a:chOff x="411480" y="2244223"/>
              <a:chExt cx="8321040" cy="1802962"/>
            </a:xfrm>
          </p:grpSpPr>
          <p:sp>
            <p:nvSpPr>
              <p:cNvPr id="10" name="Text 8"/>
              <p:cNvSpPr/>
              <p:nvPr/>
            </p:nvSpPr>
            <p:spPr>
              <a:xfrm>
                <a:off x="411480" y="2244223"/>
                <a:ext cx="1874520" cy="530352"/>
              </a:xfrm>
              <a:prstGeom prst="rect">
                <a:avLst/>
              </a:prstGeom>
              <a:noFill/>
              <a:ln/>
            </p:spPr>
            <p:txBody>
              <a:bodyPr wrap="square" lIns="0" tIns="0" rIns="0" bIns="0" rtlCol="0" anchor="t"/>
              <a:lstStyle/>
              <a:p>
                <a:pPr marL="0" indent="0">
                  <a:buNone/>
                </a:pPr>
                <a:r>
                  <a:rPr lang="en-US" sz="1200" b="1" dirty="0">
                    <a:solidFill>
                      <a:srgbClr val="6C3BF5"/>
                    </a:solidFill>
                  </a:rPr>
                  <a:t>▸  </a:t>
                </a:r>
                <a:r>
                  <a:rPr lang="en-US" sz="1200" dirty="0">
                    <a:solidFill>
                      <a:srgbClr val="E8E4FF"/>
                    </a:solidFill>
                  </a:rPr>
                  <a:t>No-fee purple Mastercard — $37.2B portfolio Q1'26</a:t>
                </a:r>
                <a:endParaRPr lang="en-US" sz="1200" dirty="0"/>
              </a:p>
            </p:txBody>
          </p:sp>
          <p:sp>
            <p:nvSpPr>
              <p:cNvPr id="11" name="Text 9"/>
              <p:cNvSpPr/>
              <p:nvPr/>
            </p:nvSpPr>
            <p:spPr>
              <a:xfrm>
                <a:off x="411480" y="2838583"/>
                <a:ext cx="1874520" cy="530352"/>
              </a:xfrm>
              <a:prstGeom prst="rect">
                <a:avLst/>
              </a:prstGeom>
              <a:noFill/>
              <a:ln/>
            </p:spPr>
            <p:txBody>
              <a:bodyPr wrap="square" lIns="0" tIns="0" rIns="0" bIns="0" rtlCol="0" anchor="t"/>
              <a:lstStyle/>
              <a:p>
                <a:pPr marL="0" indent="0">
                  <a:buNone/>
                </a:pPr>
                <a:r>
                  <a:rPr lang="en-US" sz="1200" b="1" dirty="0">
                    <a:solidFill>
                      <a:srgbClr val="6C3BF5"/>
                    </a:solidFill>
                  </a:rPr>
                  <a:t>▸  </a:t>
                </a:r>
                <a:r>
                  <a:rPr lang="en-US" sz="1200" dirty="0">
                    <a:solidFill>
                      <a:srgbClr val="E8E4FF"/>
                    </a:solidFill>
                  </a:rPr>
                  <a:t>Responsible credit expansion via AI underwriting</a:t>
                </a:r>
                <a:endParaRPr lang="en-US" sz="1200" dirty="0"/>
              </a:p>
            </p:txBody>
          </p:sp>
          <p:sp>
            <p:nvSpPr>
              <p:cNvPr id="12" name="Text 10"/>
              <p:cNvSpPr/>
              <p:nvPr/>
            </p:nvSpPr>
            <p:spPr>
              <a:xfrm>
                <a:off x="411480" y="3432943"/>
                <a:ext cx="1874520" cy="530352"/>
              </a:xfrm>
              <a:prstGeom prst="rect">
                <a:avLst/>
              </a:prstGeom>
              <a:noFill/>
              <a:ln/>
            </p:spPr>
            <p:txBody>
              <a:bodyPr wrap="square" lIns="0" tIns="0" rIns="0" bIns="0" rtlCol="0" anchor="t"/>
              <a:lstStyle/>
              <a:p>
                <a:pPr marL="0" indent="0">
                  <a:buNone/>
                </a:pPr>
                <a:r>
                  <a:rPr lang="en-US" sz="1200" b="1" dirty="0">
                    <a:solidFill>
                      <a:srgbClr val="6C3BF5"/>
                    </a:solidFill>
                  </a:rPr>
                  <a:t>▸  </a:t>
                </a:r>
                <a:r>
                  <a:rPr lang="en-US" sz="1200" dirty="0">
                    <a:solidFill>
                      <a:srgbClr val="E8E4FF"/>
                    </a:solidFill>
                  </a:rPr>
                  <a:t>60% of Brazil adults aged 18-65 are Nu customers</a:t>
                </a:r>
                <a:endParaRPr lang="en-US" sz="1200" dirty="0"/>
              </a:p>
            </p:txBody>
          </p:sp>
          <p:sp>
            <p:nvSpPr>
              <p:cNvPr id="17" name="Text 15"/>
              <p:cNvSpPr/>
              <p:nvPr/>
            </p:nvSpPr>
            <p:spPr>
              <a:xfrm>
                <a:off x="2560320" y="2244223"/>
                <a:ext cx="1874520" cy="530352"/>
              </a:xfrm>
              <a:prstGeom prst="rect">
                <a:avLst/>
              </a:prstGeom>
              <a:noFill/>
              <a:ln/>
            </p:spPr>
            <p:txBody>
              <a:bodyPr wrap="square" lIns="0" tIns="0" rIns="0" bIns="0" rtlCol="0" anchor="t"/>
              <a:lstStyle/>
              <a:p>
                <a:pPr marL="0" indent="0">
                  <a:buNone/>
                </a:pPr>
                <a:r>
                  <a:rPr lang="en-US" sz="1200" b="1" dirty="0">
                    <a:solidFill>
                      <a:srgbClr val="00A884"/>
                    </a:solidFill>
                  </a:rPr>
                  <a:t>▸  </a:t>
                </a:r>
                <a:r>
                  <a:rPr lang="en-US" sz="1200" dirty="0">
                    <a:solidFill>
                      <a:srgbClr val="E8E4FF"/>
                    </a:solidFill>
                  </a:rPr>
                  <a:t>Payroll loans (crédito consignado) — expanding</a:t>
                </a:r>
                <a:endParaRPr lang="en-US" sz="1200" dirty="0"/>
              </a:p>
            </p:txBody>
          </p:sp>
          <p:sp>
            <p:nvSpPr>
              <p:cNvPr id="18" name="Text 16"/>
              <p:cNvSpPr/>
              <p:nvPr/>
            </p:nvSpPr>
            <p:spPr>
              <a:xfrm>
                <a:off x="2560320" y="2838583"/>
                <a:ext cx="1874520" cy="530352"/>
              </a:xfrm>
              <a:prstGeom prst="rect">
                <a:avLst/>
              </a:prstGeom>
              <a:noFill/>
              <a:ln/>
            </p:spPr>
            <p:txBody>
              <a:bodyPr wrap="square" lIns="0" tIns="0" rIns="0" bIns="0" rtlCol="0" anchor="t"/>
              <a:lstStyle/>
              <a:p>
                <a:pPr marL="0" indent="0">
                  <a:buNone/>
                </a:pPr>
                <a:r>
                  <a:rPr lang="en-US" sz="1200" b="1" dirty="0">
                    <a:solidFill>
                      <a:srgbClr val="00A884"/>
                    </a:solidFill>
                  </a:rPr>
                  <a:t>▸  </a:t>
                </a:r>
                <a:r>
                  <a:rPr lang="en-US" sz="1200" dirty="0">
                    <a:solidFill>
                      <a:srgbClr val="E8E4FF"/>
                    </a:solidFill>
                  </a:rPr>
                  <a:t>FGTS-backed loans — government-guaranteed collateral</a:t>
                </a:r>
                <a:endParaRPr lang="en-US" sz="1200" dirty="0"/>
              </a:p>
            </p:txBody>
          </p:sp>
          <p:sp>
            <p:nvSpPr>
              <p:cNvPr id="19" name="Text 17"/>
              <p:cNvSpPr/>
              <p:nvPr/>
            </p:nvSpPr>
            <p:spPr>
              <a:xfrm>
                <a:off x="2560320" y="3516833"/>
                <a:ext cx="1874520" cy="530352"/>
              </a:xfrm>
              <a:prstGeom prst="rect">
                <a:avLst/>
              </a:prstGeom>
              <a:noFill/>
              <a:ln/>
            </p:spPr>
            <p:txBody>
              <a:bodyPr wrap="square" lIns="0" tIns="0" rIns="0" bIns="0" rtlCol="0" anchor="t"/>
              <a:lstStyle/>
              <a:p>
                <a:pPr marL="0" indent="0">
                  <a:buNone/>
                </a:pPr>
                <a:r>
                  <a:rPr lang="en-US" sz="1200" b="1" dirty="0">
                    <a:solidFill>
                      <a:srgbClr val="00A884"/>
                    </a:solidFill>
                  </a:rPr>
                  <a:t>▸  </a:t>
                </a:r>
                <a:r>
                  <a:rPr lang="en-US" sz="1200" dirty="0">
                    <a:solidFill>
                      <a:srgbClr val="E8E4FF"/>
                    </a:solidFill>
                  </a:rPr>
                  <a:t>Revolving credit + installment plans</a:t>
                </a:r>
                <a:endParaRPr lang="en-US" sz="1200" dirty="0"/>
              </a:p>
            </p:txBody>
          </p:sp>
          <p:sp>
            <p:nvSpPr>
              <p:cNvPr id="24" name="Text 22"/>
              <p:cNvSpPr/>
              <p:nvPr/>
            </p:nvSpPr>
            <p:spPr>
              <a:xfrm>
                <a:off x="4709160" y="2244223"/>
                <a:ext cx="1874520" cy="530352"/>
              </a:xfrm>
              <a:prstGeom prst="rect">
                <a:avLst/>
              </a:prstGeom>
              <a:noFill/>
              <a:ln/>
            </p:spPr>
            <p:txBody>
              <a:bodyPr wrap="square" lIns="0" tIns="0" rIns="0" bIns="0" rtlCol="0" anchor="t"/>
              <a:lstStyle/>
              <a:p>
                <a:pPr marL="0" indent="0">
                  <a:buNone/>
                </a:pPr>
                <a:r>
                  <a:rPr lang="en-US" sz="1200" b="1" dirty="0">
                    <a:solidFill>
                      <a:srgbClr val="6C3BF5"/>
                    </a:solidFill>
                  </a:rPr>
                  <a:t>▸  </a:t>
                </a:r>
                <a:r>
                  <a:rPr lang="en-US" sz="1200" dirty="0">
                    <a:solidFill>
                      <a:srgbClr val="E8E4FF"/>
                    </a:solidFill>
                  </a:rPr>
                  <a:t>$42.4B deposits Q1'26 — funded at 82% of CDI</a:t>
                </a:r>
                <a:endParaRPr lang="en-US" sz="1200" dirty="0"/>
              </a:p>
            </p:txBody>
          </p:sp>
          <p:sp>
            <p:nvSpPr>
              <p:cNvPr id="25" name="Text 23"/>
              <p:cNvSpPr/>
              <p:nvPr/>
            </p:nvSpPr>
            <p:spPr>
              <a:xfrm>
                <a:off x="4709160" y="2838583"/>
                <a:ext cx="1874520" cy="530352"/>
              </a:xfrm>
              <a:prstGeom prst="rect">
                <a:avLst/>
              </a:prstGeom>
              <a:noFill/>
              <a:ln/>
            </p:spPr>
            <p:txBody>
              <a:bodyPr wrap="square" lIns="0" tIns="0" rIns="0" bIns="0" rtlCol="0" anchor="t"/>
              <a:lstStyle/>
              <a:p>
                <a:pPr marL="0" indent="0">
                  <a:buNone/>
                </a:pPr>
                <a:r>
                  <a:rPr lang="en-US" sz="1200" b="1" dirty="0">
                    <a:solidFill>
                      <a:srgbClr val="6C3BF5"/>
                    </a:solidFill>
                  </a:rPr>
                  <a:t>▸  </a:t>
                </a:r>
                <a:r>
                  <a:rPr lang="en-US" sz="1200" dirty="0">
                    <a:solidFill>
                      <a:srgbClr val="E8E4FF"/>
                    </a:solidFill>
                  </a:rPr>
                  <a:t>Nu Conta — interest-bearing digital account</a:t>
                </a:r>
                <a:endParaRPr lang="en-US" sz="1200" dirty="0"/>
              </a:p>
            </p:txBody>
          </p:sp>
          <p:sp>
            <p:nvSpPr>
              <p:cNvPr id="26" name="Text 24"/>
              <p:cNvSpPr/>
              <p:nvPr/>
            </p:nvSpPr>
            <p:spPr>
              <a:xfrm>
                <a:off x="4709160" y="3432943"/>
                <a:ext cx="1874520" cy="530352"/>
              </a:xfrm>
              <a:prstGeom prst="rect">
                <a:avLst/>
              </a:prstGeom>
              <a:noFill/>
              <a:ln/>
            </p:spPr>
            <p:txBody>
              <a:bodyPr wrap="square" lIns="0" tIns="0" rIns="0" bIns="0" rtlCol="0" anchor="t"/>
              <a:lstStyle/>
              <a:p>
                <a:pPr marL="0" indent="0">
                  <a:buNone/>
                </a:pPr>
                <a:r>
                  <a:rPr lang="en-US" sz="1200" b="1" dirty="0">
                    <a:solidFill>
                      <a:srgbClr val="6C3BF5"/>
                    </a:solidFill>
                  </a:rPr>
                  <a:t>▸  </a:t>
                </a:r>
                <a:r>
                  <a:rPr lang="en-US" sz="1200" dirty="0">
                    <a:solidFill>
                      <a:srgbClr val="E8E4FF"/>
                    </a:solidFill>
                  </a:rPr>
                  <a:t>High-yield savings outperforming market rates</a:t>
                </a:r>
                <a:endParaRPr lang="en-US" sz="1200" dirty="0"/>
              </a:p>
            </p:txBody>
          </p:sp>
          <p:sp>
            <p:nvSpPr>
              <p:cNvPr id="31" name="Text 29"/>
              <p:cNvSpPr/>
              <p:nvPr/>
            </p:nvSpPr>
            <p:spPr>
              <a:xfrm>
                <a:off x="6858000" y="2244223"/>
                <a:ext cx="1874520" cy="530352"/>
              </a:xfrm>
              <a:prstGeom prst="rect">
                <a:avLst/>
              </a:prstGeom>
              <a:noFill/>
              <a:ln/>
            </p:spPr>
            <p:txBody>
              <a:bodyPr wrap="square" lIns="0" tIns="0" rIns="0" bIns="0" rtlCol="0" anchor="t"/>
              <a:lstStyle/>
              <a:p>
                <a:pPr marL="0" indent="0">
                  <a:buNone/>
                </a:pPr>
                <a:r>
                  <a:rPr lang="en-US" sz="1200" b="1" dirty="0">
                    <a:solidFill>
                      <a:srgbClr val="00A884"/>
                    </a:solidFill>
                  </a:rPr>
                  <a:t>▸  </a:t>
                </a:r>
                <a:r>
                  <a:rPr lang="en-US" sz="1200" dirty="0">
                    <a:solidFill>
                      <a:srgbClr val="E8E4FF"/>
                    </a:solidFill>
                  </a:rPr>
                  <a:t>Nu Invest — stocks, ETFs, funds via the app</a:t>
                </a:r>
                <a:endParaRPr lang="en-US" sz="1200" dirty="0"/>
              </a:p>
            </p:txBody>
          </p:sp>
          <p:sp>
            <p:nvSpPr>
              <p:cNvPr id="32" name="Text 30"/>
              <p:cNvSpPr/>
              <p:nvPr/>
            </p:nvSpPr>
            <p:spPr>
              <a:xfrm>
                <a:off x="6858000" y="2838583"/>
                <a:ext cx="1874520" cy="530352"/>
              </a:xfrm>
              <a:prstGeom prst="rect">
                <a:avLst/>
              </a:prstGeom>
              <a:noFill/>
              <a:ln/>
            </p:spPr>
            <p:txBody>
              <a:bodyPr wrap="square" lIns="0" tIns="0" rIns="0" bIns="0" rtlCol="0" anchor="t"/>
              <a:lstStyle/>
              <a:p>
                <a:pPr marL="0" indent="0">
                  <a:buNone/>
                </a:pPr>
                <a:r>
                  <a:rPr lang="en-US" sz="1200" b="1" dirty="0">
                    <a:solidFill>
                      <a:srgbClr val="00A884"/>
                    </a:solidFill>
                  </a:rPr>
                  <a:t>▸  </a:t>
                </a:r>
                <a:r>
                  <a:rPr lang="en-US" sz="1200" dirty="0">
                    <a:solidFill>
                      <a:srgbClr val="E8E4FF"/>
                    </a:solidFill>
                  </a:rPr>
                  <a:t>Life &amp; accident insurance products launching</a:t>
                </a:r>
                <a:endParaRPr lang="en-US" sz="1200" dirty="0"/>
              </a:p>
            </p:txBody>
          </p:sp>
          <p:sp>
            <p:nvSpPr>
              <p:cNvPr id="33" name="Text 31"/>
              <p:cNvSpPr/>
              <p:nvPr/>
            </p:nvSpPr>
            <p:spPr>
              <a:xfrm>
                <a:off x="6858000" y="3432943"/>
                <a:ext cx="1874520" cy="530352"/>
              </a:xfrm>
              <a:prstGeom prst="rect">
                <a:avLst/>
              </a:prstGeom>
              <a:noFill/>
              <a:ln/>
            </p:spPr>
            <p:txBody>
              <a:bodyPr wrap="square" lIns="0" tIns="0" rIns="0" bIns="0" rtlCol="0" anchor="t"/>
              <a:lstStyle/>
              <a:p>
                <a:pPr marL="0" indent="0">
                  <a:buNone/>
                </a:pPr>
                <a:r>
                  <a:rPr lang="en-US" sz="1200" b="1" dirty="0">
                    <a:solidFill>
                      <a:srgbClr val="00A884"/>
                    </a:solidFill>
                  </a:rPr>
                  <a:t>▸  </a:t>
                </a:r>
                <a:r>
                  <a:rPr lang="en-US" sz="1200" dirty="0">
                    <a:solidFill>
                      <a:srgbClr val="E8E4FF"/>
                    </a:solidFill>
                  </a:rPr>
                  <a:t>Insurance take rate still early — massive upside</a:t>
                </a:r>
                <a:endParaRPr lang="en-US" sz="1200" dirty="0"/>
              </a:p>
            </p:txBody>
          </p:sp>
        </p:grpSp>
      </p:grpSp>
      <p:sp>
        <p:nvSpPr>
          <p:cNvPr id="34" name="Shape 32"/>
          <p:cNvSpPr/>
          <p:nvPr/>
        </p:nvSpPr>
        <p:spPr>
          <a:xfrm>
            <a:off x="320040" y="4572000"/>
            <a:ext cx="8503920" cy="384048"/>
          </a:xfrm>
          <a:prstGeom prst="rect">
            <a:avLst/>
          </a:prstGeom>
          <a:solidFill>
            <a:srgbClr val="15103A"/>
          </a:solidFill>
          <a:ln/>
        </p:spPr>
      </p:sp>
      <p:sp>
        <p:nvSpPr>
          <p:cNvPr id="35" name="Text 33"/>
          <p:cNvSpPr/>
          <p:nvPr/>
        </p:nvSpPr>
        <p:spPr>
          <a:xfrm>
            <a:off x="457200" y="4590288"/>
            <a:ext cx="8321040" cy="347472"/>
          </a:xfrm>
          <a:prstGeom prst="rect">
            <a:avLst/>
          </a:prstGeom>
          <a:noFill/>
          <a:ln/>
        </p:spPr>
        <p:txBody>
          <a:bodyPr wrap="square" lIns="0" tIns="0" rIns="0" bIns="0" rtlCol="0" anchor="ctr"/>
          <a:lstStyle/>
          <a:p>
            <a:pPr marL="0" indent="0">
              <a:buNone/>
            </a:pPr>
            <a:r>
              <a:rPr lang="en-US" sz="1000" b="1" dirty="0">
                <a:solidFill>
                  <a:srgbClr val="F5C842"/>
                </a:solidFill>
              </a:rPr>
              <a:t>vs. Itaú/Bradesco (Legacy LatAm Banks): </a:t>
            </a:r>
            <a:r>
              <a:rPr lang="en-US" sz="1000" dirty="0">
                <a:solidFill>
                  <a:srgbClr val="E8E4FF"/>
                </a:solidFill>
              </a:rPr>
              <a:t>1,000+ branch network, $50–100 annual fee, long queues, opaque fees. Nu: 0 branches, 0 annual fee, 99% digital, viral NPS. The gap compounds every year.</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0A1F"/>
        </a:solidFill>
        <a:effectLst/>
      </p:bgPr>
    </p:bg>
    <p:spTree>
      <p:nvGrpSpPr>
        <p:cNvPr id="1" name=""/>
        <p:cNvGrpSpPr/>
        <p:nvPr/>
      </p:nvGrpSpPr>
      <p:grpSpPr>
        <a:xfrm>
          <a:off x="0" y="0"/>
          <a:ext cx="0" cy="0"/>
          <a:chOff x="0" y="0"/>
          <a:chExt cx="0" cy="0"/>
        </a:xfrm>
      </p:grpSpPr>
      <p:sp>
        <p:nvSpPr>
          <p:cNvPr id="2" name="Shape 0"/>
          <p:cNvSpPr/>
          <p:nvPr/>
        </p:nvSpPr>
        <p:spPr>
          <a:xfrm>
            <a:off x="320040" y="164592"/>
            <a:ext cx="2377440" cy="256032"/>
          </a:xfrm>
          <a:prstGeom prst="roundRect">
            <a:avLst>
              <a:gd name="adj" fmla="val 28571"/>
            </a:avLst>
          </a:prstGeom>
          <a:solidFill>
            <a:srgbClr val="6C3BF5"/>
          </a:solidFill>
          <a:ln/>
        </p:spPr>
      </p:sp>
      <p:sp>
        <p:nvSpPr>
          <p:cNvPr id="3" name="Text 1"/>
          <p:cNvSpPr/>
          <p:nvPr/>
        </p:nvSpPr>
        <p:spPr>
          <a:xfrm>
            <a:off x="320040" y="164592"/>
            <a:ext cx="2377440" cy="256032"/>
          </a:xfrm>
          <a:prstGeom prst="rect">
            <a:avLst/>
          </a:prstGeom>
          <a:noFill/>
          <a:ln/>
        </p:spPr>
        <p:txBody>
          <a:bodyPr wrap="square" lIns="0" tIns="0" rIns="0" bIns="0" rtlCol="0" anchor="ctr"/>
          <a:lstStyle/>
          <a:p>
            <a:pPr marL="0" indent="0" algn="ctr">
              <a:buNone/>
            </a:pPr>
            <a:r>
              <a:rPr lang="en-US" sz="1100" b="1" dirty="0">
                <a:solidFill>
                  <a:srgbClr val="FFFFFF"/>
                </a:solidFill>
              </a:rPr>
              <a:t>SECTION 3: FINANCIAL ANALYSIS</a:t>
            </a:r>
            <a:endParaRPr lang="en-US" sz="1100" dirty="0"/>
          </a:p>
        </p:txBody>
      </p:sp>
      <p:sp>
        <p:nvSpPr>
          <p:cNvPr id="4" name="Text 2"/>
          <p:cNvSpPr/>
          <p:nvPr/>
        </p:nvSpPr>
        <p:spPr>
          <a:xfrm>
            <a:off x="320040" y="457200"/>
            <a:ext cx="8503920" cy="502920"/>
          </a:xfrm>
          <a:prstGeom prst="rect">
            <a:avLst/>
          </a:prstGeom>
          <a:noFill/>
          <a:ln/>
        </p:spPr>
        <p:txBody>
          <a:bodyPr wrap="square" lIns="0" tIns="0" rIns="0" bIns="0" rtlCol="0" anchor="ctr"/>
          <a:lstStyle/>
          <a:p>
            <a:pPr marL="0" indent="0">
              <a:buNone/>
            </a:pPr>
            <a:r>
              <a:rPr lang="en-US" sz="2200" b="1" dirty="0">
                <a:solidFill>
                  <a:srgbClr val="FFFFFF"/>
                </a:solidFill>
              </a:rPr>
              <a:t>From $1.7B (FY2021) to $15.8B (FY2025) — Revenue 9× in 4 Years</a:t>
            </a:r>
            <a:endParaRPr lang="en-US" sz="2200" dirty="0"/>
          </a:p>
        </p:txBody>
      </p:sp>
      <p:sp>
        <p:nvSpPr>
          <p:cNvPr id="5" name="Text 3"/>
          <p:cNvSpPr/>
          <p:nvPr/>
        </p:nvSpPr>
        <p:spPr>
          <a:xfrm>
            <a:off x="338328" y="896185"/>
            <a:ext cx="8503920" cy="256032"/>
          </a:xfrm>
          <a:prstGeom prst="rect">
            <a:avLst/>
          </a:prstGeom>
          <a:noFill/>
          <a:ln/>
        </p:spPr>
        <p:txBody>
          <a:bodyPr wrap="square" lIns="0" tIns="0" rIns="0" bIns="0" rtlCol="0" anchor="ctr"/>
          <a:lstStyle/>
          <a:p>
            <a:pPr marL="0" indent="0">
              <a:buNone/>
            </a:pPr>
            <a:r>
              <a:rPr lang="en-US" sz="1100" i="1" dirty="0">
                <a:solidFill>
                  <a:srgbClr val="00D4AA"/>
                </a:solidFill>
              </a:rPr>
              <a:t>Growing faster than any digital bank in history, now with structural profitability</a:t>
            </a:r>
            <a:endParaRPr lang="en-US" sz="1100" dirty="0"/>
          </a:p>
        </p:txBody>
      </p:sp>
      <p:sp>
        <p:nvSpPr>
          <p:cNvPr id="6" name="Shape 4"/>
          <p:cNvSpPr/>
          <p:nvPr/>
        </p:nvSpPr>
        <p:spPr>
          <a:xfrm>
            <a:off x="320040" y="1298448"/>
            <a:ext cx="1344168" cy="914400"/>
          </a:xfrm>
          <a:prstGeom prst="rect">
            <a:avLst/>
          </a:prstGeom>
          <a:solidFill>
            <a:srgbClr val="1E1850"/>
          </a:solidFill>
          <a:ln/>
          <a:effectLst>
            <a:outerShdw blurRad="152400" dist="50800" dir="8100000" algn="bl" rotWithShape="0">
              <a:srgbClr val="000000">
                <a:alpha val="25000"/>
              </a:srgbClr>
            </a:outerShdw>
          </a:effectLst>
        </p:spPr>
      </p:sp>
      <p:sp>
        <p:nvSpPr>
          <p:cNvPr id="7" name="Shape 5"/>
          <p:cNvSpPr/>
          <p:nvPr/>
        </p:nvSpPr>
        <p:spPr>
          <a:xfrm>
            <a:off x="320040" y="1298448"/>
            <a:ext cx="1344168" cy="36576"/>
          </a:xfrm>
          <a:prstGeom prst="rect">
            <a:avLst/>
          </a:prstGeom>
          <a:solidFill>
            <a:srgbClr val="6C3BF5"/>
          </a:solidFill>
          <a:ln/>
        </p:spPr>
      </p:sp>
      <p:sp>
        <p:nvSpPr>
          <p:cNvPr id="8" name="Text 6"/>
          <p:cNvSpPr/>
          <p:nvPr/>
        </p:nvSpPr>
        <p:spPr>
          <a:xfrm>
            <a:off x="429768" y="1408176"/>
            <a:ext cx="1124712" cy="201168"/>
          </a:xfrm>
          <a:prstGeom prst="rect">
            <a:avLst/>
          </a:prstGeom>
          <a:noFill/>
          <a:ln/>
        </p:spPr>
        <p:txBody>
          <a:bodyPr wrap="square" lIns="0" tIns="0" rIns="0" bIns="0" rtlCol="0" anchor="ctr"/>
          <a:lstStyle/>
          <a:p>
            <a:pPr marL="0" indent="0">
              <a:buNone/>
            </a:pPr>
            <a:r>
              <a:rPr lang="en-US" sz="1050" dirty="0">
                <a:solidFill>
                  <a:schemeClr val="bg1"/>
                </a:solidFill>
              </a:rPr>
              <a:t>FY2025 Revenue</a:t>
            </a:r>
          </a:p>
        </p:txBody>
      </p:sp>
      <p:sp>
        <p:nvSpPr>
          <p:cNvPr id="9" name="Text 7"/>
          <p:cNvSpPr/>
          <p:nvPr/>
        </p:nvSpPr>
        <p:spPr>
          <a:xfrm>
            <a:off x="429768" y="1591056"/>
            <a:ext cx="1124712" cy="384048"/>
          </a:xfrm>
          <a:prstGeom prst="rect">
            <a:avLst/>
          </a:prstGeom>
          <a:noFill/>
          <a:ln/>
        </p:spPr>
        <p:txBody>
          <a:bodyPr wrap="square" lIns="0" tIns="0" rIns="0" bIns="0" rtlCol="0" anchor="ctr"/>
          <a:lstStyle/>
          <a:p>
            <a:pPr marL="0" indent="0">
              <a:buNone/>
            </a:pPr>
            <a:r>
              <a:rPr lang="en-US" sz="2000" b="1" dirty="0">
                <a:solidFill>
                  <a:srgbClr val="FFFFFF"/>
                </a:solidFill>
              </a:rPr>
              <a:t>$15.8B</a:t>
            </a:r>
            <a:endParaRPr lang="en-US" sz="2000" dirty="0"/>
          </a:p>
        </p:txBody>
      </p:sp>
      <p:sp>
        <p:nvSpPr>
          <p:cNvPr id="10" name="Text 8"/>
          <p:cNvSpPr/>
          <p:nvPr/>
        </p:nvSpPr>
        <p:spPr>
          <a:xfrm>
            <a:off x="429768" y="1956816"/>
            <a:ext cx="1124712" cy="182880"/>
          </a:xfrm>
          <a:prstGeom prst="rect">
            <a:avLst/>
          </a:prstGeom>
          <a:noFill/>
          <a:ln/>
        </p:spPr>
        <p:txBody>
          <a:bodyPr wrap="square" lIns="0" tIns="0" rIns="0" bIns="0" rtlCol="0" anchor="ctr"/>
          <a:lstStyle/>
          <a:p>
            <a:pPr marL="0" indent="0">
              <a:buNone/>
            </a:pPr>
            <a:r>
              <a:rPr lang="en-US" sz="800" dirty="0">
                <a:solidFill>
                  <a:srgbClr val="00D4AA"/>
                </a:solidFill>
              </a:rPr>
              <a:t>+37% YoY</a:t>
            </a:r>
            <a:endParaRPr lang="en-US" sz="800" dirty="0"/>
          </a:p>
        </p:txBody>
      </p:sp>
      <p:sp>
        <p:nvSpPr>
          <p:cNvPr id="11" name="Shape 9"/>
          <p:cNvSpPr/>
          <p:nvPr/>
        </p:nvSpPr>
        <p:spPr>
          <a:xfrm>
            <a:off x="1755648" y="1298448"/>
            <a:ext cx="1344168" cy="914400"/>
          </a:xfrm>
          <a:prstGeom prst="rect">
            <a:avLst/>
          </a:prstGeom>
          <a:solidFill>
            <a:srgbClr val="1E1850"/>
          </a:solidFill>
          <a:ln/>
          <a:effectLst>
            <a:outerShdw blurRad="152400" dist="50800" dir="8100000" algn="bl" rotWithShape="0">
              <a:srgbClr val="000000">
                <a:alpha val="25000"/>
              </a:srgbClr>
            </a:outerShdw>
          </a:effectLst>
        </p:spPr>
      </p:sp>
      <p:sp>
        <p:nvSpPr>
          <p:cNvPr id="12" name="Shape 10"/>
          <p:cNvSpPr/>
          <p:nvPr/>
        </p:nvSpPr>
        <p:spPr>
          <a:xfrm>
            <a:off x="1755648" y="1298448"/>
            <a:ext cx="1344168" cy="36576"/>
          </a:xfrm>
          <a:prstGeom prst="rect">
            <a:avLst/>
          </a:prstGeom>
          <a:solidFill>
            <a:srgbClr val="00D4AA"/>
          </a:solidFill>
          <a:ln/>
        </p:spPr>
      </p:sp>
      <p:sp>
        <p:nvSpPr>
          <p:cNvPr id="13" name="Text 11"/>
          <p:cNvSpPr/>
          <p:nvPr/>
        </p:nvSpPr>
        <p:spPr>
          <a:xfrm>
            <a:off x="1865376" y="1408176"/>
            <a:ext cx="1124712" cy="201168"/>
          </a:xfrm>
          <a:prstGeom prst="rect">
            <a:avLst/>
          </a:prstGeom>
          <a:noFill/>
          <a:ln/>
        </p:spPr>
        <p:txBody>
          <a:bodyPr wrap="square" lIns="0" tIns="0" rIns="0" bIns="0" rtlCol="0" anchor="ctr"/>
          <a:lstStyle/>
          <a:p>
            <a:pPr marL="0" indent="0">
              <a:buNone/>
            </a:pPr>
            <a:r>
              <a:rPr lang="en-US" sz="1050" dirty="0">
                <a:solidFill>
                  <a:schemeClr val="bg1"/>
                </a:solidFill>
              </a:rPr>
              <a:t>Q1'26 Revenue</a:t>
            </a:r>
          </a:p>
        </p:txBody>
      </p:sp>
      <p:sp>
        <p:nvSpPr>
          <p:cNvPr id="14" name="Text 12"/>
          <p:cNvSpPr/>
          <p:nvPr/>
        </p:nvSpPr>
        <p:spPr>
          <a:xfrm>
            <a:off x="1865376" y="1591056"/>
            <a:ext cx="1124712" cy="384048"/>
          </a:xfrm>
          <a:prstGeom prst="rect">
            <a:avLst/>
          </a:prstGeom>
          <a:noFill/>
          <a:ln/>
        </p:spPr>
        <p:txBody>
          <a:bodyPr wrap="square" lIns="0" tIns="0" rIns="0" bIns="0" rtlCol="0" anchor="ctr"/>
          <a:lstStyle/>
          <a:p>
            <a:pPr marL="0" indent="0">
              <a:buNone/>
            </a:pPr>
            <a:r>
              <a:rPr lang="en-US" sz="2000" b="1" dirty="0">
                <a:solidFill>
                  <a:srgbClr val="FFFFFF"/>
                </a:solidFill>
              </a:rPr>
              <a:t>$5.3B</a:t>
            </a:r>
            <a:endParaRPr lang="en-US" sz="2000" dirty="0"/>
          </a:p>
        </p:txBody>
      </p:sp>
      <p:sp>
        <p:nvSpPr>
          <p:cNvPr id="15" name="Text 13"/>
          <p:cNvSpPr/>
          <p:nvPr/>
        </p:nvSpPr>
        <p:spPr>
          <a:xfrm>
            <a:off x="1865376" y="1956816"/>
            <a:ext cx="1124712" cy="182880"/>
          </a:xfrm>
          <a:prstGeom prst="rect">
            <a:avLst/>
          </a:prstGeom>
          <a:noFill/>
          <a:ln/>
        </p:spPr>
        <p:txBody>
          <a:bodyPr wrap="square" lIns="0" tIns="0" rIns="0" bIns="0" rtlCol="0" anchor="ctr"/>
          <a:lstStyle/>
          <a:p>
            <a:pPr marL="0" indent="0">
              <a:buNone/>
            </a:pPr>
            <a:r>
              <a:rPr lang="en-US" sz="800" dirty="0">
                <a:solidFill>
                  <a:srgbClr val="00D4AA"/>
                </a:solidFill>
              </a:rPr>
              <a:t>+57% YoY FXN</a:t>
            </a:r>
            <a:endParaRPr lang="en-US" sz="800" dirty="0"/>
          </a:p>
        </p:txBody>
      </p:sp>
      <p:sp>
        <p:nvSpPr>
          <p:cNvPr id="16" name="Shape 14"/>
          <p:cNvSpPr/>
          <p:nvPr/>
        </p:nvSpPr>
        <p:spPr>
          <a:xfrm>
            <a:off x="3191256" y="1298448"/>
            <a:ext cx="1344168" cy="914400"/>
          </a:xfrm>
          <a:prstGeom prst="rect">
            <a:avLst/>
          </a:prstGeom>
          <a:solidFill>
            <a:srgbClr val="1E1850"/>
          </a:solidFill>
          <a:ln/>
          <a:effectLst>
            <a:outerShdw blurRad="152400" dist="50800" dir="8100000" algn="bl" rotWithShape="0">
              <a:srgbClr val="000000">
                <a:alpha val="25000"/>
              </a:srgbClr>
            </a:outerShdw>
          </a:effectLst>
        </p:spPr>
      </p:sp>
      <p:sp>
        <p:nvSpPr>
          <p:cNvPr id="17" name="Shape 15"/>
          <p:cNvSpPr/>
          <p:nvPr/>
        </p:nvSpPr>
        <p:spPr>
          <a:xfrm>
            <a:off x="3191256" y="1298448"/>
            <a:ext cx="1344168" cy="36576"/>
          </a:xfrm>
          <a:prstGeom prst="rect">
            <a:avLst/>
          </a:prstGeom>
          <a:solidFill>
            <a:srgbClr val="6C3BF5"/>
          </a:solidFill>
          <a:ln/>
        </p:spPr>
      </p:sp>
      <p:sp>
        <p:nvSpPr>
          <p:cNvPr id="18" name="Text 16"/>
          <p:cNvSpPr/>
          <p:nvPr/>
        </p:nvSpPr>
        <p:spPr>
          <a:xfrm>
            <a:off x="3300984" y="1408176"/>
            <a:ext cx="1124712" cy="201168"/>
          </a:xfrm>
          <a:prstGeom prst="rect">
            <a:avLst/>
          </a:prstGeom>
          <a:noFill/>
          <a:ln/>
        </p:spPr>
        <p:txBody>
          <a:bodyPr wrap="square" lIns="0" tIns="0" rIns="0" bIns="0" rtlCol="0" anchor="ctr"/>
          <a:lstStyle/>
          <a:p>
            <a:pPr marL="0" indent="0">
              <a:buNone/>
            </a:pPr>
            <a:r>
              <a:rPr lang="en-US" sz="1050" dirty="0">
                <a:solidFill>
                  <a:schemeClr val="bg1"/>
                </a:solidFill>
              </a:rPr>
              <a:t>FY2025 Net Income</a:t>
            </a:r>
          </a:p>
        </p:txBody>
      </p:sp>
      <p:sp>
        <p:nvSpPr>
          <p:cNvPr id="19" name="Text 17"/>
          <p:cNvSpPr/>
          <p:nvPr/>
        </p:nvSpPr>
        <p:spPr>
          <a:xfrm>
            <a:off x="3300984" y="1591056"/>
            <a:ext cx="1124712" cy="384048"/>
          </a:xfrm>
          <a:prstGeom prst="rect">
            <a:avLst/>
          </a:prstGeom>
          <a:noFill/>
          <a:ln/>
        </p:spPr>
        <p:txBody>
          <a:bodyPr wrap="square" lIns="0" tIns="0" rIns="0" bIns="0" rtlCol="0" anchor="ctr"/>
          <a:lstStyle/>
          <a:p>
            <a:pPr marL="0" indent="0">
              <a:buNone/>
            </a:pPr>
            <a:r>
              <a:rPr lang="en-US" sz="2000" b="1" dirty="0">
                <a:solidFill>
                  <a:srgbClr val="FFFFFF"/>
                </a:solidFill>
              </a:rPr>
              <a:t>$2.9B</a:t>
            </a:r>
            <a:endParaRPr lang="en-US" sz="2000" dirty="0"/>
          </a:p>
        </p:txBody>
      </p:sp>
      <p:sp>
        <p:nvSpPr>
          <p:cNvPr id="20" name="Text 18"/>
          <p:cNvSpPr/>
          <p:nvPr/>
        </p:nvSpPr>
        <p:spPr>
          <a:xfrm>
            <a:off x="3300984" y="1956816"/>
            <a:ext cx="1124712" cy="182880"/>
          </a:xfrm>
          <a:prstGeom prst="rect">
            <a:avLst/>
          </a:prstGeom>
          <a:noFill/>
          <a:ln/>
        </p:spPr>
        <p:txBody>
          <a:bodyPr wrap="square" lIns="0" tIns="0" rIns="0" bIns="0" rtlCol="0" anchor="ctr"/>
          <a:lstStyle/>
          <a:p>
            <a:pPr marL="0" indent="0">
              <a:buNone/>
            </a:pPr>
            <a:r>
              <a:rPr lang="en-US" sz="800" dirty="0">
                <a:solidFill>
                  <a:srgbClr val="00D4AA"/>
                </a:solidFill>
              </a:rPr>
              <a:t>+45% YoY</a:t>
            </a:r>
            <a:endParaRPr lang="en-US" sz="800" dirty="0"/>
          </a:p>
        </p:txBody>
      </p:sp>
      <p:sp>
        <p:nvSpPr>
          <p:cNvPr id="21" name="Shape 19"/>
          <p:cNvSpPr/>
          <p:nvPr/>
        </p:nvSpPr>
        <p:spPr>
          <a:xfrm>
            <a:off x="4626864" y="1298448"/>
            <a:ext cx="1344168" cy="914400"/>
          </a:xfrm>
          <a:prstGeom prst="rect">
            <a:avLst/>
          </a:prstGeom>
          <a:solidFill>
            <a:srgbClr val="1E1850"/>
          </a:solidFill>
          <a:ln/>
          <a:effectLst>
            <a:outerShdw blurRad="152400" dist="50800" dir="8100000" algn="bl" rotWithShape="0">
              <a:srgbClr val="000000">
                <a:alpha val="25000"/>
              </a:srgbClr>
            </a:outerShdw>
          </a:effectLst>
        </p:spPr>
      </p:sp>
      <p:sp>
        <p:nvSpPr>
          <p:cNvPr id="22" name="Shape 20"/>
          <p:cNvSpPr/>
          <p:nvPr/>
        </p:nvSpPr>
        <p:spPr>
          <a:xfrm>
            <a:off x="4626864" y="1298448"/>
            <a:ext cx="1344168" cy="36576"/>
          </a:xfrm>
          <a:prstGeom prst="rect">
            <a:avLst/>
          </a:prstGeom>
          <a:solidFill>
            <a:srgbClr val="00D4AA"/>
          </a:solidFill>
          <a:ln/>
        </p:spPr>
      </p:sp>
      <p:sp>
        <p:nvSpPr>
          <p:cNvPr id="23" name="Text 21"/>
          <p:cNvSpPr/>
          <p:nvPr/>
        </p:nvSpPr>
        <p:spPr>
          <a:xfrm>
            <a:off x="4736592" y="1408176"/>
            <a:ext cx="1124712" cy="201168"/>
          </a:xfrm>
          <a:prstGeom prst="rect">
            <a:avLst/>
          </a:prstGeom>
          <a:noFill/>
          <a:ln/>
        </p:spPr>
        <p:txBody>
          <a:bodyPr wrap="square" lIns="0" tIns="0" rIns="0" bIns="0" rtlCol="0" anchor="ctr"/>
          <a:lstStyle/>
          <a:p>
            <a:pPr marL="0" indent="0">
              <a:buNone/>
            </a:pPr>
            <a:r>
              <a:rPr lang="en-US" sz="1050" dirty="0">
                <a:solidFill>
                  <a:schemeClr val="bg1"/>
                </a:solidFill>
              </a:rPr>
              <a:t>Q1'26 Net Income</a:t>
            </a:r>
          </a:p>
        </p:txBody>
      </p:sp>
      <p:sp>
        <p:nvSpPr>
          <p:cNvPr id="24" name="Text 22"/>
          <p:cNvSpPr/>
          <p:nvPr/>
        </p:nvSpPr>
        <p:spPr>
          <a:xfrm>
            <a:off x="4736592" y="1591056"/>
            <a:ext cx="1124712" cy="384048"/>
          </a:xfrm>
          <a:prstGeom prst="rect">
            <a:avLst/>
          </a:prstGeom>
          <a:noFill/>
          <a:ln/>
        </p:spPr>
        <p:txBody>
          <a:bodyPr wrap="square" lIns="0" tIns="0" rIns="0" bIns="0" rtlCol="0" anchor="ctr"/>
          <a:lstStyle/>
          <a:p>
            <a:pPr marL="0" indent="0">
              <a:buNone/>
            </a:pPr>
            <a:r>
              <a:rPr lang="en-US" sz="2000" b="1" dirty="0">
                <a:solidFill>
                  <a:srgbClr val="FFFFFF"/>
                </a:solidFill>
              </a:rPr>
              <a:t>$871M</a:t>
            </a:r>
            <a:endParaRPr lang="en-US" sz="2000" dirty="0"/>
          </a:p>
        </p:txBody>
      </p:sp>
      <p:sp>
        <p:nvSpPr>
          <p:cNvPr id="25" name="Text 23"/>
          <p:cNvSpPr/>
          <p:nvPr/>
        </p:nvSpPr>
        <p:spPr>
          <a:xfrm>
            <a:off x="4736592" y="1956816"/>
            <a:ext cx="1124712" cy="182880"/>
          </a:xfrm>
          <a:prstGeom prst="rect">
            <a:avLst/>
          </a:prstGeom>
          <a:noFill/>
          <a:ln/>
        </p:spPr>
        <p:txBody>
          <a:bodyPr wrap="square" lIns="0" tIns="0" rIns="0" bIns="0" rtlCol="0" anchor="ctr"/>
          <a:lstStyle/>
          <a:p>
            <a:pPr marL="0" indent="0">
              <a:buNone/>
            </a:pPr>
            <a:r>
              <a:rPr lang="en-US" sz="800" dirty="0">
                <a:solidFill>
                  <a:srgbClr val="00D4AA"/>
                </a:solidFill>
              </a:rPr>
              <a:t>+56% YoY</a:t>
            </a:r>
            <a:endParaRPr lang="en-US" sz="800" dirty="0"/>
          </a:p>
        </p:txBody>
      </p:sp>
      <p:sp>
        <p:nvSpPr>
          <p:cNvPr id="26" name="Shape 24"/>
          <p:cNvSpPr/>
          <p:nvPr/>
        </p:nvSpPr>
        <p:spPr>
          <a:xfrm>
            <a:off x="6062472" y="1298448"/>
            <a:ext cx="1344168" cy="914400"/>
          </a:xfrm>
          <a:prstGeom prst="rect">
            <a:avLst/>
          </a:prstGeom>
          <a:solidFill>
            <a:srgbClr val="1E1850"/>
          </a:solidFill>
          <a:ln/>
          <a:effectLst>
            <a:outerShdw blurRad="152400" dist="50800" dir="8100000" algn="bl" rotWithShape="0">
              <a:srgbClr val="000000">
                <a:alpha val="25000"/>
              </a:srgbClr>
            </a:outerShdw>
          </a:effectLst>
        </p:spPr>
      </p:sp>
      <p:sp>
        <p:nvSpPr>
          <p:cNvPr id="27" name="Shape 25"/>
          <p:cNvSpPr/>
          <p:nvPr/>
        </p:nvSpPr>
        <p:spPr>
          <a:xfrm>
            <a:off x="6062472" y="1298448"/>
            <a:ext cx="1344168" cy="36576"/>
          </a:xfrm>
          <a:prstGeom prst="rect">
            <a:avLst/>
          </a:prstGeom>
          <a:solidFill>
            <a:srgbClr val="6C3BF5"/>
          </a:solidFill>
          <a:ln/>
        </p:spPr>
      </p:sp>
      <p:sp>
        <p:nvSpPr>
          <p:cNvPr id="28" name="Text 26"/>
          <p:cNvSpPr/>
          <p:nvPr/>
        </p:nvSpPr>
        <p:spPr>
          <a:xfrm>
            <a:off x="6172200" y="1408176"/>
            <a:ext cx="1124712" cy="201168"/>
          </a:xfrm>
          <a:prstGeom prst="rect">
            <a:avLst/>
          </a:prstGeom>
          <a:noFill/>
          <a:ln/>
        </p:spPr>
        <p:txBody>
          <a:bodyPr wrap="square" lIns="0" tIns="0" rIns="0" bIns="0" rtlCol="0" anchor="ctr"/>
          <a:lstStyle/>
          <a:p>
            <a:pPr marL="0" indent="0">
              <a:buNone/>
            </a:pPr>
            <a:r>
              <a:rPr lang="en-US" sz="1050" dirty="0">
                <a:solidFill>
                  <a:schemeClr val="bg1"/>
                </a:solidFill>
              </a:rPr>
              <a:t>Q1'26 ROE</a:t>
            </a:r>
          </a:p>
        </p:txBody>
      </p:sp>
      <p:sp>
        <p:nvSpPr>
          <p:cNvPr id="29" name="Text 27"/>
          <p:cNvSpPr/>
          <p:nvPr/>
        </p:nvSpPr>
        <p:spPr>
          <a:xfrm>
            <a:off x="6172200" y="1591056"/>
            <a:ext cx="1124712" cy="384048"/>
          </a:xfrm>
          <a:prstGeom prst="rect">
            <a:avLst/>
          </a:prstGeom>
          <a:noFill/>
          <a:ln/>
        </p:spPr>
        <p:txBody>
          <a:bodyPr wrap="square" lIns="0" tIns="0" rIns="0" bIns="0" rtlCol="0" anchor="ctr"/>
          <a:lstStyle/>
          <a:p>
            <a:pPr marL="0" indent="0">
              <a:buNone/>
            </a:pPr>
            <a:r>
              <a:rPr lang="en-US" sz="2000" b="1" dirty="0">
                <a:solidFill>
                  <a:srgbClr val="FFFFFF"/>
                </a:solidFill>
              </a:rPr>
              <a:t>29%</a:t>
            </a:r>
            <a:endParaRPr lang="en-US" sz="2000" dirty="0"/>
          </a:p>
        </p:txBody>
      </p:sp>
      <p:sp>
        <p:nvSpPr>
          <p:cNvPr id="30" name="Text 28"/>
          <p:cNvSpPr/>
          <p:nvPr/>
        </p:nvSpPr>
        <p:spPr>
          <a:xfrm>
            <a:off x="6172200" y="1956816"/>
            <a:ext cx="1124712" cy="182880"/>
          </a:xfrm>
          <a:prstGeom prst="rect">
            <a:avLst/>
          </a:prstGeom>
          <a:noFill/>
          <a:ln/>
        </p:spPr>
        <p:txBody>
          <a:bodyPr wrap="square" lIns="0" tIns="0" rIns="0" bIns="0" rtlCol="0" anchor="ctr"/>
          <a:lstStyle/>
          <a:p>
            <a:pPr marL="0" indent="0">
              <a:buNone/>
            </a:pPr>
            <a:r>
              <a:rPr lang="en-US" sz="800" dirty="0">
                <a:solidFill>
                  <a:srgbClr val="00D4AA"/>
                </a:solidFill>
              </a:rPr>
              <a:t>Annualized</a:t>
            </a:r>
            <a:endParaRPr lang="en-US" sz="800" dirty="0"/>
          </a:p>
        </p:txBody>
      </p:sp>
      <p:sp>
        <p:nvSpPr>
          <p:cNvPr id="31" name="Shape 29"/>
          <p:cNvSpPr/>
          <p:nvPr/>
        </p:nvSpPr>
        <p:spPr>
          <a:xfrm>
            <a:off x="7498080" y="1298448"/>
            <a:ext cx="1344168" cy="914400"/>
          </a:xfrm>
          <a:prstGeom prst="rect">
            <a:avLst/>
          </a:prstGeom>
          <a:solidFill>
            <a:srgbClr val="1E1850"/>
          </a:solidFill>
          <a:ln/>
          <a:effectLst>
            <a:outerShdw blurRad="152400" dist="50800" dir="8100000" algn="bl" rotWithShape="0">
              <a:srgbClr val="000000">
                <a:alpha val="25000"/>
              </a:srgbClr>
            </a:outerShdw>
          </a:effectLst>
        </p:spPr>
      </p:sp>
      <p:sp>
        <p:nvSpPr>
          <p:cNvPr id="32" name="Shape 30"/>
          <p:cNvSpPr/>
          <p:nvPr/>
        </p:nvSpPr>
        <p:spPr>
          <a:xfrm>
            <a:off x="7498080" y="1298448"/>
            <a:ext cx="1344168" cy="36576"/>
          </a:xfrm>
          <a:prstGeom prst="rect">
            <a:avLst/>
          </a:prstGeom>
          <a:solidFill>
            <a:srgbClr val="00D4AA"/>
          </a:solidFill>
          <a:ln/>
        </p:spPr>
      </p:sp>
      <p:sp>
        <p:nvSpPr>
          <p:cNvPr id="33" name="Text 31"/>
          <p:cNvSpPr/>
          <p:nvPr/>
        </p:nvSpPr>
        <p:spPr>
          <a:xfrm>
            <a:off x="7607808" y="1408176"/>
            <a:ext cx="1124712" cy="201168"/>
          </a:xfrm>
          <a:prstGeom prst="rect">
            <a:avLst/>
          </a:prstGeom>
          <a:noFill/>
          <a:ln/>
        </p:spPr>
        <p:txBody>
          <a:bodyPr wrap="square" lIns="0" tIns="0" rIns="0" bIns="0" rtlCol="0" anchor="ctr"/>
          <a:lstStyle/>
          <a:p>
            <a:pPr marL="0" indent="0">
              <a:buNone/>
            </a:pPr>
            <a:r>
              <a:rPr lang="en-US" sz="1050" dirty="0">
                <a:solidFill>
                  <a:schemeClr val="bg1"/>
                </a:solidFill>
              </a:rPr>
              <a:t>Efficiency Ratio</a:t>
            </a:r>
          </a:p>
        </p:txBody>
      </p:sp>
      <p:sp>
        <p:nvSpPr>
          <p:cNvPr id="34" name="Text 32"/>
          <p:cNvSpPr/>
          <p:nvPr/>
        </p:nvSpPr>
        <p:spPr>
          <a:xfrm>
            <a:off x="7607808" y="1591056"/>
            <a:ext cx="1124712" cy="384048"/>
          </a:xfrm>
          <a:prstGeom prst="rect">
            <a:avLst/>
          </a:prstGeom>
          <a:noFill/>
          <a:ln/>
        </p:spPr>
        <p:txBody>
          <a:bodyPr wrap="square" lIns="0" tIns="0" rIns="0" bIns="0" rtlCol="0" anchor="ctr"/>
          <a:lstStyle/>
          <a:p>
            <a:pPr marL="0" indent="0">
              <a:buNone/>
            </a:pPr>
            <a:r>
              <a:rPr lang="en-US" sz="2000" b="1" dirty="0">
                <a:solidFill>
                  <a:srgbClr val="FFFFFF"/>
                </a:solidFill>
              </a:rPr>
              <a:t>17.6%</a:t>
            </a:r>
            <a:endParaRPr lang="en-US" sz="2000" dirty="0"/>
          </a:p>
        </p:txBody>
      </p:sp>
      <p:sp>
        <p:nvSpPr>
          <p:cNvPr id="35" name="Text 33"/>
          <p:cNvSpPr/>
          <p:nvPr/>
        </p:nvSpPr>
        <p:spPr>
          <a:xfrm>
            <a:off x="7607808" y="1956816"/>
            <a:ext cx="1124712" cy="182880"/>
          </a:xfrm>
          <a:prstGeom prst="rect">
            <a:avLst/>
          </a:prstGeom>
          <a:noFill/>
          <a:ln/>
        </p:spPr>
        <p:txBody>
          <a:bodyPr wrap="square" lIns="0" tIns="0" rIns="0" bIns="0" rtlCol="0" anchor="ctr"/>
          <a:lstStyle/>
          <a:p>
            <a:pPr marL="0" indent="0">
              <a:buNone/>
            </a:pPr>
            <a:r>
              <a:rPr lang="en-US" sz="800" dirty="0">
                <a:solidFill>
                  <a:srgbClr val="00D4AA"/>
                </a:solidFill>
              </a:rPr>
              <a:t>Record Q1'26</a:t>
            </a:r>
            <a:endParaRPr lang="en-US" sz="800" dirty="0"/>
          </a:p>
        </p:txBody>
      </p:sp>
      <p:graphicFrame>
        <p:nvGraphicFramePr>
          <p:cNvPr id="36" name="Table 0"/>
          <p:cNvGraphicFramePr>
            <a:graphicFrameLocks noGrp="1"/>
          </p:cNvGraphicFramePr>
          <p:nvPr>
            <p:extLst>
              <p:ext uri="{D42A27DB-BD31-4B8C-83A1-F6EECF244321}">
                <p14:modId xmlns:p14="http://schemas.microsoft.com/office/powerpoint/2010/main" val="1011791434"/>
              </p:ext>
            </p:extLst>
          </p:nvPr>
        </p:nvGraphicFramePr>
        <p:xfrm>
          <a:off x="301752" y="2423307"/>
          <a:ext cx="8503920" cy="2468880"/>
        </p:xfrm>
        <a:graphic>
          <a:graphicData uri="http://schemas.openxmlformats.org/drawingml/2006/table">
            <a:tbl>
              <a:tblPr/>
              <a:tblGrid>
                <a:gridCol w="2113400">
                  <a:extLst>
                    <a:ext uri="{9D8B030D-6E8A-4147-A177-3AD203B41FA5}">
                      <a16:colId xmlns:a16="http://schemas.microsoft.com/office/drawing/2014/main" val="20000"/>
                    </a:ext>
                  </a:extLst>
                </a:gridCol>
                <a:gridCol w="905743">
                  <a:extLst>
                    <a:ext uri="{9D8B030D-6E8A-4147-A177-3AD203B41FA5}">
                      <a16:colId xmlns:a16="http://schemas.microsoft.com/office/drawing/2014/main" val="20001"/>
                    </a:ext>
                  </a:extLst>
                </a:gridCol>
                <a:gridCol w="905743">
                  <a:extLst>
                    <a:ext uri="{9D8B030D-6E8A-4147-A177-3AD203B41FA5}">
                      <a16:colId xmlns:a16="http://schemas.microsoft.com/office/drawing/2014/main" val="20002"/>
                    </a:ext>
                  </a:extLst>
                </a:gridCol>
                <a:gridCol w="905743">
                  <a:extLst>
                    <a:ext uri="{9D8B030D-6E8A-4147-A177-3AD203B41FA5}">
                      <a16:colId xmlns:a16="http://schemas.microsoft.com/office/drawing/2014/main" val="20003"/>
                    </a:ext>
                  </a:extLst>
                </a:gridCol>
                <a:gridCol w="905743">
                  <a:extLst>
                    <a:ext uri="{9D8B030D-6E8A-4147-A177-3AD203B41FA5}">
                      <a16:colId xmlns:a16="http://schemas.microsoft.com/office/drawing/2014/main" val="20004"/>
                    </a:ext>
                  </a:extLst>
                </a:gridCol>
                <a:gridCol w="1006381">
                  <a:extLst>
                    <a:ext uri="{9D8B030D-6E8A-4147-A177-3AD203B41FA5}">
                      <a16:colId xmlns:a16="http://schemas.microsoft.com/office/drawing/2014/main" val="20005"/>
                    </a:ext>
                  </a:extLst>
                </a:gridCol>
                <a:gridCol w="1761167">
                  <a:extLst>
                    <a:ext uri="{9D8B030D-6E8A-4147-A177-3AD203B41FA5}">
                      <a16:colId xmlns:a16="http://schemas.microsoft.com/office/drawing/2014/main" val="20006"/>
                    </a:ext>
                  </a:extLst>
                </a:gridCol>
              </a:tblGrid>
              <a:tr h="254000">
                <a:tc>
                  <a:txBody>
                    <a:bodyPr/>
                    <a:lstStyle/>
                    <a:p>
                      <a:pPr marL="0" indent="0" algn="l">
                        <a:buNone/>
                      </a:pPr>
                      <a:r>
                        <a:rPr lang="en-US" sz="1200" b="1" dirty="0">
                          <a:solidFill>
                            <a:srgbClr val="FFFFFF"/>
                          </a:solidFill>
                        </a:rPr>
                        <a:t>Metric</a:t>
                      </a:r>
                      <a:endParaRPr lang="en-US" sz="12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4B1FD4"/>
                    </a:solidFill>
                  </a:tcPr>
                </a:tc>
                <a:tc>
                  <a:txBody>
                    <a:bodyPr/>
                    <a:lstStyle/>
                    <a:p>
                      <a:pPr marL="0" indent="0" algn="ctr">
                        <a:buNone/>
                      </a:pPr>
                      <a:r>
                        <a:rPr lang="en-US" sz="1200" b="1" dirty="0">
                          <a:solidFill>
                            <a:srgbClr val="FFFFFF"/>
                          </a:solidFill>
                        </a:rPr>
                        <a:t>FY2022</a:t>
                      </a:r>
                      <a:endParaRPr lang="en-US" sz="12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4B1FD4"/>
                    </a:solidFill>
                  </a:tcPr>
                </a:tc>
                <a:tc>
                  <a:txBody>
                    <a:bodyPr/>
                    <a:lstStyle/>
                    <a:p>
                      <a:pPr marL="0" indent="0" algn="ctr">
                        <a:buNone/>
                      </a:pPr>
                      <a:r>
                        <a:rPr lang="en-US" sz="1200" b="1" dirty="0">
                          <a:solidFill>
                            <a:srgbClr val="FFFFFF"/>
                          </a:solidFill>
                        </a:rPr>
                        <a:t>FY2023</a:t>
                      </a:r>
                      <a:endParaRPr lang="en-US" sz="12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4B1FD4"/>
                    </a:solidFill>
                  </a:tcPr>
                </a:tc>
                <a:tc>
                  <a:txBody>
                    <a:bodyPr/>
                    <a:lstStyle/>
                    <a:p>
                      <a:pPr marL="0" indent="0" algn="ctr">
                        <a:buNone/>
                      </a:pPr>
                      <a:r>
                        <a:rPr lang="en-US" sz="1200" b="1" dirty="0">
                          <a:solidFill>
                            <a:srgbClr val="FFFFFF"/>
                          </a:solidFill>
                        </a:rPr>
                        <a:t>FY2024</a:t>
                      </a:r>
                      <a:endParaRPr lang="en-US" sz="12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4B1FD4"/>
                    </a:solidFill>
                  </a:tcPr>
                </a:tc>
                <a:tc>
                  <a:txBody>
                    <a:bodyPr/>
                    <a:lstStyle/>
                    <a:p>
                      <a:pPr marL="0" indent="0" algn="ctr">
                        <a:buNone/>
                      </a:pPr>
                      <a:r>
                        <a:rPr lang="en-US" sz="1200" b="1" dirty="0">
                          <a:solidFill>
                            <a:srgbClr val="FFFFFF"/>
                          </a:solidFill>
                        </a:rPr>
                        <a:t>FY2025</a:t>
                      </a:r>
                      <a:endParaRPr lang="en-US" sz="12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4B1FD4"/>
                    </a:solidFill>
                  </a:tcPr>
                </a:tc>
                <a:tc>
                  <a:txBody>
                    <a:bodyPr/>
                    <a:lstStyle/>
                    <a:p>
                      <a:pPr marL="0" indent="0" algn="ctr">
                        <a:buNone/>
                      </a:pPr>
                      <a:r>
                        <a:rPr lang="en-US" sz="1200" b="1" dirty="0">
                          <a:solidFill>
                            <a:srgbClr val="FFFFFF"/>
                          </a:solidFill>
                        </a:rPr>
                        <a:t>FY2026E</a:t>
                      </a:r>
                      <a:endParaRPr lang="en-US" sz="12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4B1FD4"/>
                    </a:solidFill>
                  </a:tcPr>
                </a:tc>
                <a:tc>
                  <a:txBody>
                    <a:bodyPr/>
                    <a:lstStyle/>
                    <a:p>
                      <a:pPr marL="0" indent="0" algn="ctr">
                        <a:buNone/>
                      </a:pPr>
                      <a:r>
                        <a:rPr lang="en-US" sz="1200" b="1" dirty="0">
                          <a:solidFill>
                            <a:srgbClr val="FFFFFF"/>
                          </a:solidFill>
                        </a:rPr>
                        <a:t>Trend</a:t>
                      </a:r>
                      <a:endParaRPr lang="en-US" sz="12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4B1FD4"/>
                    </a:solidFill>
                  </a:tcPr>
                </a:tc>
                <a:extLst>
                  <a:ext uri="{0D108BD9-81ED-4DB2-BD59-A6C34878D82A}">
                    <a16:rowId xmlns:a16="http://schemas.microsoft.com/office/drawing/2014/main" val="10000"/>
                  </a:ext>
                </a:extLst>
              </a:tr>
              <a:tr h="254000">
                <a:tc>
                  <a:txBody>
                    <a:bodyPr/>
                    <a:lstStyle/>
                    <a:p>
                      <a:pPr marL="0" indent="0" algn="l">
                        <a:buNone/>
                      </a:pPr>
                      <a:r>
                        <a:rPr lang="en-US" sz="1200" b="1" dirty="0">
                          <a:solidFill>
                            <a:srgbClr val="E8E4FF"/>
                          </a:solidFill>
                        </a:rPr>
                        <a:t>Revenue ($B)</a:t>
                      </a:r>
                      <a:endParaRPr lang="en-US" sz="12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tc>
                  <a:txBody>
                    <a:bodyPr/>
                    <a:lstStyle/>
                    <a:p>
                      <a:pPr marL="0" indent="0" algn="ctr">
                        <a:buNone/>
                      </a:pPr>
                      <a:r>
                        <a:rPr lang="en-US" sz="1200" dirty="0">
                          <a:solidFill>
                            <a:srgbClr val="FFFFFF"/>
                          </a:solidFill>
                        </a:rPr>
                        <a:t>$4.8</a:t>
                      </a:r>
                      <a:endParaRPr lang="en-US" sz="12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tc>
                  <a:txBody>
                    <a:bodyPr/>
                    <a:lstStyle/>
                    <a:p>
                      <a:pPr marL="0" indent="0" algn="ctr">
                        <a:buNone/>
                      </a:pPr>
                      <a:r>
                        <a:rPr lang="en-US" sz="1200" dirty="0">
                          <a:solidFill>
                            <a:srgbClr val="FFFFFF"/>
                          </a:solidFill>
                        </a:rPr>
                        <a:t>$7.7</a:t>
                      </a:r>
                      <a:endParaRPr lang="en-US" sz="12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tc>
                  <a:txBody>
                    <a:bodyPr/>
                    <a:lstStyle/>
                    <a:p>
                      <a:pPr marL="0" indent="0" algn="ctr">
                        <a:buNone/>
                      </a:pPr>
                      <a:r>
                        <a:rPr lang="en-US" sz="1200" dirty="0">
                          <a:solidFill>
                            <a:srgbClr val="FFFFFF"/>
                          </a:solidFill>
                        </a:rPr>
                        <a:t>$11.5</a:t>
                      </a:r>
                      <a:endParaRPr lang="en-US" sz="12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tc>
                  <a:txBody>
                    <a:bodyPr/>
                    <a:lstStyle/>
                    <a:p>
                      <a:pPr marL="0" indent="0" algn="ctr">
                        <a:buNone/>
                      </a:pPr>
                      <a:r>
                        <a:rPr lang="en-US" sz="1200" dirty="0">
                          <a:solidFill>
                            <a:srgbClr val="FFFFFF"/>
                          </a:solidFill>
                        </a:rPr>
                        <a:t>$15.8</a:t>
                      </a:r>
                      <a:endParaRPr lang="en-US" sz="12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tc>
                  <a:txBody>
                    <a:bodyPr/>
                    <a:lstStyle/>
                    <a:p>
                      <a:pPr marL="0" indent="0" algn="ctr">
                        <a:buNone/>
                      </a:pPr>
                      <a:r>
                        <a:rPr lang="en-US" sz="1200" dirty="0">
                          <a:solidFill>
                            <a:srgbClr val="FFFFFF"/>
                          </a:solidFill>
                        </a:rPr>
                        <a:t>~$21.2E</a:t>
                      </a:r>
                      <a:endParaRPr lang="en-US" sz="12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tc>
                  <a:txBody>
                    <a:bodyPr/>
                    <a:lstStyle/>
                    <a:p>
                      <a:pPr marL="0" indent="0" algn="l">
                        <a:buNone/>
                      </a:pPr>
                      <a:r>
                        <a:rPr lang="en-US" sz="1200" dirty="0">
                          <a:solidFill>
                            <a:srgbClr val="00D4AA"/>
                          </a:solidFill>
                        </a:rPr>
                        <a:t>↑↑ +34% YoY est.</a:t>
                      </a:r>
                      <a:endParaRPr lang="en-US" sz="12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extLst>
                  <a:ext uri="{0D108BD9-81ED-4DB2-BD59-A6C34878D82A}">
                    <a16:rowId xmlns:a16="http://schemas.microsoft.com/office/drawing/2014/main" val="10001"/>
                  </a:ext>
                </a:extLst>
              </a:tr>
              <a:tr h="254000">
                <a:tc>
                  <a:txBody>
                    <a:bodyPr/>
                    <a:lstStyle/>
                    <a:p>
                      <a:pPr marL="0" indent="0" algn="l">
                        <a:buNone/>
                      </a:pPr>
                      <a:r>
                        <a:rPr lang="en-US" sz="1200" b="1" dirty="0">
                          <a:solidFill>
                            <a:srgbClr val="E8E4FF"/>
                          </a:solidFill>
                        </a:rPr>
                        <a:t>Gross Profit Margin</a:t>
                      </a:r>
                      <a:endParaRPr lang="en-US" sz="12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5103A"/>
                    </a:solidFill>
                  </a:tcPr>
                </a:tc>
                <a:tc>
                  <a:txBody>
                    <a:bodyPr/>
                    <a:lstStyle/>
                    <a:p>
                      <a:pPr marL="0" indent="0" algn="ctr">
                        <a:buNone/>
                      </a:pPr>
                      <a:r>
                        <a:rPr lang="en-US" sz="1200" dirty="0">
                          <a:solidFill>
                            <a:srgbClr val="FFFFFF"/>
                          </a:solidFill>
                        </a:rPr>
                        <a:t>40%</a:t>
                      </a:r>
                      <a:endParaRPr lang="en-US" sz="12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5103A"/>
                    </a:solidFill>
                  </a:tcPr>
                </a:tc>
                <a:tc>
                  <a:txBody>
                    <a:bodyPr/>
                    <a:lstStyle/>
                    <a:p>
                      <a:pPr marL="0" indent="0" algn="ctr">
                        <a:buNone/>
                      </a:pPr>
                      <a:r>
                        <a:rPr lang="en-US" sz="1200" dirty="0">
                          <a:solidFill>
                            <a:srgbClr val="FFFFFF"/>
                          </a:solidFill>
                        </a:rPr>
                        <a:t>44%</a:t>
                      </a:r>
                      <a:endParaRPr lang="en-US" sz="12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5103A"/>
                    </a:solidFill>
                  </a:tcPr>
                </a:tc>
                <a:tc>
                  <a:txBody>
                    <a:bodyPr/>
                    <a:lstStyle/>
                    <a:p>
                      <a:pPr marL="0" indent="0" algn="ctr">
                        <a:buNone/>
                      </a:pPr>
                      <a:r>
                        <a:rPr lang="en-US" sz="1200" dirty="0">
                          <a:solidFill>
                            <a:srgbClr val="FFFFFF"/>
                          </a:solidFill>
                        </a:rPr>
                        <a:t>44%</a:t>
                      </a:r>
                      <a:endParaRPr lang="en-US" sz="12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5103A"/>
                    </a:solidFill>
                  </a:tcPr>
                </a:tc>
                <a:tc>
                  <a:txBody>
                    <a:bodyPr/>
                    <a:lstStyle/>
                    <a:p>
                      <a:pPr marL="0" indent="0" algn="ctr">
                        <a:buNone/>
                      </a:pPr>
                      <a:r>
                        <a:rPr lang="en-US" sz="1200" dirty="0">
                          <a:solidFill>
                            <a:srgbClr val="FFFFFF"/>
                          </a:solidFill>
                        </a:rPr>
                        <a:t>44%</a:t>
                      </a:r>
                      <a:endParaRPr lang="en-US" sz="12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5103A"/>
                    </a:solidFill>
                  </a:tcPr>
                </a:tc>
                <a:tc>
                  <a:txBody>
                    <a:bodyPr/>
                    <a:lstStyle/>
                    <a:p>
                      <a:pPr marL="0" indent="0" algn="ctr">
                        <a:buNone/>
                      </a:pPr>
                      <a:r>
                        <a:rPr lang="en-US" sz="1200" dirty="0">
                          <a:solidFill>
                            <a:srgbClr val="FFFFFF"/>
                          </a:solidFill>
                        </a:rPr>
                        <a:t>~46%</a:t>
                      </a:r>
                      <a:endParaRPr lang="en-US" sz="12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5103A"/>
                    </a:solidFill>
                  </a:tcPr>
                </a:tc>
                <a:tc>
                  <a:txBody>
                    <a:bodyPr/>
                    <a:lstStyle/>
                    <a:p>
                      <a:pPr marL="0" indent="0" algn="l">
                        <a:buNone/>
                      </a:pPr>
                      <a:r>
                        <a:rPr lang="en-US" sz="1200" dirty="0">
                          <a:solidFill>
                            <a:srgbClr val="00D4AA"/>
                          </a:solidFill>
                        </a:rPr>
                        <a:t>↑ Expanding</a:t>
                      </a:r>
                      <a:endParaRPr lang="en-US" sz="12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5103A"/>
                    </a:solidFill>
                  </a:tcPr>
                </a:tc>
                <a:extLst>
                  <a:ext uri="{0D108BD9-81ED-4DB2-BD59-A6C34878D82A}">
                    <a16:rowId xmlns:a16="http://schemas.microsoft.com/office/drawing/2014/main" val="10002"/>
                  </a:ext>
                </a:extLst>
              </a:tr>
              <a:tr h="254000">
                <a:tc>
                  <a:txBody>
                    <a:bodyPr/>
                    <a:lstStyle/>
                    <a:p>
                      <a:pPr marL="0" indent="0" algn="l">
                        <a:buNone/>
                      </a:pPr>
                      <a:r>
                        <a:rPr lang="en-US" sz="1200" b="1" dirty="0">
                          <a:solidFill>
                            <a:srgbClr val="E8E4FF"/>
                          </a:solidFill>
                        </a:rPr>
                        <a:t>Net Income ($B)</a:t>
                      </a:r>
                      <a:endParaRPr lang="en-US" sz="12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tc>
                  <a:txBody>
                    <a:bodyPr/>
                    <a:lstStyle/>
                    <a:p>
                      <a:pPr marL="0" indent="0" algn="ctr">
                        <a:buNone/>
                      </a:pPr>
                      <a:r>
                        <a:rPr lang="en-US" sz="1200" dirty="0">
                          <a:solidFill>
                            <a:srgbClr val="FFFFFF"/>
                          </a:solidFill>
                        </a:rPr>
                        <a:t>−$0.3</a:t>
                      </a:r>
                      <a:endParaRPr lang="en-US" sz="12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tc>
                  <a:txBody>
                    <a:bodyPr/>
                    <a:lstStyle/>
                    <a:p>
                      <a:pPr marL="0" indent="0" algn="ctr">
                        <a:buNone/>
                      </a:pPr>
                      <a:r>
                        <a:rPr lang="en-US" sz="1200" dirty="0">
                          <a:solidFill>
                            <a:srgbClr val="FFFFFF"/>
                          </a:solidFill>
                        </a:rPr>
                        <a:t>$0.1</a:t>
                      </a:r>
                      <a:endParaRPr lang="en-US" sz="12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tc>
                  <a:txBody>
                    <a:bodyPr/>
                    <a:lstStyle/>
                    <a:p>
                      <a:pPr marL="0" indent="0" algn="ctr">
                        <a:buNone/>
                      </a:pPr>
                      <a:r>
                        <a:rPr lang="en-US" sz="1200" dirty="0">
                          <a:solidFill>
                            <a:srgbClr val="FFFFFF"/>
                          </a:solidFill>
                        </a:rPr>
                        <a:t>$1.97</a:t>
                      </a:r>
                      <a:endParaRPr lang="en-US" sz="12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tc>
                  <a:txBody>
                    <a:bodyPr/>
                    <a:lstStyle/>
                    <a:p>
                      <a:pPr marL="0" indent="0" algn="ctr">
                        <a:buNone/>
                      </a:pPr>
                      <a:r>
                        <a:rPr lang="en-US" sz="1200" dirty="0">
                          <a:solidFill>
                            <a:srgbClr val="FFFFFF"/>
                          </a:solidFill>
                        </a:rPr>
                        <a:t>$2.9</a:t>
                      </a:r>
                      <a:endParaRPr lang="en-US" sz="12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tc>
                  <a:txBody>
                    <a:bodyPr/>
                    <a:lstStyle/>
                    <a:p>
                      <a:pPr marL="0" indent="0" algn="ctr">
                        <a:buNone/>
                      </a:pPr>
                      <a:r>
                        <a:rPr lang="en-US" sz="1200" dirty="0">
                          <a:solidFill>
                            <a:srgbClr val="FFFFFF"/>
                          </a:solidFill>
                        </a:rPr>
                        <a:t>~$4.1E</a:t>
                      </a:r>
                      <a:endParaRPr lang="en-US" sz="12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tc>
                  <a:txBody>
                    <a:bodyPr/>
                    <a:lstStyle/>
                    <a:p>
                      <a:pPr marL="0" indent="0" algn="l">
                        <a:buNone/>
                      </a:pPr>
                      <a:r>
                        <a:rPr lang="en-US" sz="1200" dirty="0">
                          <a:solidFill>
                            <a:srgbClr val="00D4AA"/>
                          </a:solidFill>
                        </a:rPr>
                        <a:t>↑↑ Inflecting</a:t>
                      </a:r>
                      <a:endParaRPr lang="en-US" sz="12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extLst>
                  <a:ext uri="{0D108BD9-81ED-4DB2-BD59-A6C34878D82A}">
                    <a16:rowId xmlns:a16="http://schemas.microsoft.com/office/drawing/2014/main" val="10003"/>
                  </a:ext>
                </a:extLst>
              </a:tr>
              <a:tr h="254000">
                <a:tc>
                  <a:txBody>
                    <a:bodyPr/>
                    <a:lstStyle/>
                    <a:p>
                      <a:pPr marL="0" indent="0" algn="l">
                        <a:buNone/>
                      </a:pPr>
                      <a:r>
                        <a:rPr lang="en-US" sz="1200" b="1" dirty="0">
                          <a:solidFill>
                            <a:srgbClr val="E8E4FF"/>
                          </a:solidFill>
                        </a:rPr>
                        <a:t>EPS (adj)</a:t>
                      </a:r>
                      <a:endParaRPr lang="en-US" sz="12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5103A"/>
                    </a:solidFill>
                  </a:tcPr>
                </a:tc>
                <a:tc>
                  <a:txBody>
                    <a:bodyPr/>
                    <a:lstStyle/>
                    <a:p>
                      <a:pPr marL="0" indent="0" algn="ctr">
                        <a:buNone/>
                      </a:pPr>
                      <a:r>
                        <a:rPr lang="en-US" sz="1200" dirty="0">
                          <a:solidFill>
                            <a:srgbClr val="FFFFFF"/>
                          </a:solidFill>
                        </a:rPr>
                        <a:t>−$0.07</a:t>
                      </a:r>
                      <a:endParaRPr lang="en-US" sz="12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5103A"/>
                    </a:solidFill>
                  </a:tcPr>
                </a:tc>
                <a:tc>
                  <a:txBody>
                    <a:bodyPr/>
                    <a:lstStyle/>
                    <a:p>
                      <a:pPr marL="0" indent="0" algn="ctr">
                        <a:buNone/>
                      </a:pPr>
                      <a:r>
                        <a:rPr lang="en-US" sz="1200" dirty="0">
                          <a:solidFill>
                            <a:srgbClr val="FFFFFF"/>
                          </a:solidFill>
                        </a:rPr>
                        <a:t>$0.02</a:t>
                      </a:r>
                      <a:endParaRPr lang="en-US" sz="12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5103A"/>
                    </a:solidFill>
                  </a:tcPr>
                </a:tc>
                <a:tc>
                  <a:txBody>
                    <a:bodyPr/>
                    <a:lstStyle/>
                    <a:p>
                      <a:pPr marL="0" indent="0" algn="ctr">
                        <a:buNone/>
                      </a:pPr>
                      <a:r>
                        <a:rPr lang="en-US" sz="1200" dirty="0">
                          <a:solidFill>
                            <a:srgbClr val="FFFFFF"/>
                          </a:solidFill>
                        </a:rPr>
                        <a:t>$0.37</a:t>
                      </a:r>
                      <a:endParaRPr lang="en-US" sz="12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5103A"/>
                    </a:solidFill>
                  </a:tcPr>
                </a:tc>
                <a:tc>
                  <a:txBody>
                    <a:bodyPr/>
                    <a:lstStyle/>
                    <a:p>
                      <a:pPr marL="0" indent="0" algn="ctr">
                        <a:buNone/>
                      </a:pPr>
                      <a:r>
                        <a:rPr lang="en-US" sz="1200" dirty="0">
                          <a:solidFill>
                            <a:srgbClr val="FFFFFF"/>
                          </a:solidFill>
                        </a:rPr>
                        <a:t>$0.60</a:t>
                      </a:r>
                      <a:endParaRPr lang="en-US" sz="12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5103A"/>
                    </a:solidFill>
                  </a:tcPr>
                </a:tc>
                <a:tc>
                  <a:txBody>
                    <a:bodyPr/>
                    <a:lstStyle/>
                    <a:p>
                      <a:pPr marL="0" indent="0" algn="ctr">
                        <a:buNone/>
                      </a:pPr>
                      <a:r>
                        <a:rPr lang="en-US" sz="1200" dirty="0">
                          <a:solidFill>
                            <a:srgbClr val="FFFFFF"/>
                          </a:solidFill>
                        </a:rPr>
                        <a:t>~$0.84E</a:t>
                      </a:r>
                      <a:endParaRPr lang="en-US" sz="12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5103A"/>
                    </a:solidFill>
                  </a:tcPr>
                </a:tc>
                <a:tc>
                  <a:txBody>
                    <a:bodyPr/>
                    <a:lstStyle/>
                    <a:p>
                      <a:pPr marL="0" indent="0" algn="l">
                        <a:buNone/>
                      </a:pPr>
                      <a:r>
                        <a:rPr lang="en-US" sz="1200" dirty="0">
                          <a:solidFill>
                            <a:srgbClr val="00D4AA"/>
                          </a:solidFill>
                        </a:rPr>
                        <a:t>↑ Guided</a:t>
                      </a:r>
                      <a:endParaRPr lang="en-US" sz="12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5103A"/>
                    </a:solidFill>
                  </a:tcPr>
                </a:tc>
                <a:extLst>
                  <a:ext uri="{0D108BD9-81ED-4DB2-BD59-A6C34878D82A}">
                    <a16:rowId xmlns:a16="http://schemas.microsoft.com/office/drawing/2014/main" val="10004"/>
                  </a:ext>
                </a:extLst>
              </a:tr>
              <a:tr h="254000">
                <a:tc>
                  <a:txBody>
                    <a:bodyPr/>
                    <a:lstStyle/>
                    <a:p>
                      <a:pPr marL="0" indent="0" algn="l">
                        <a:buNone/>
                      </a:pPr>
                      <a:r>
                        <a:rPr lang="en-US" sz="1200" b="1" dirty="0">
                          <a:solidFill>
                            <a:srgbClr val="E8E4FF"/>
                          </a:solidFill>
                        </a:rPr>
                        <a:t>ROE</a:t>
                      </a:r>
                      <a:endParaRPr lang="en-US" sz="12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tc>
                  <a:txBody>
                    <a:bodyPr/>
                    <a:lstStyle/>
                    <a:p>
                      <a:pPr marL="0" indent="0" algn="ctr">
                        <a:buNone/>
                      </a:pPr>
                      <a:r>
                        <a:rPr lang="en-US" sz="1200" dirty="0">
                          <a:solidFill>
                            <a:srgbClr val="FFFFFF"/>
                          </a:solidFill>
                        </a:rPr>
                        <a:t>neg</a:t>
                      </a:r>
                      <a:endParaRPr lang="en-US" sz="12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tc>
                  <a:txBody>
                    <a:bodyPr/>
                    <a:lstStyle/>
                    <a:p>
                      <a:pPr marL="0" indent="0" algn="ctr">
                        <a:buNone/>
                      </a:pPr>
                      <a:r>
                        <a:rPr lang="en-US" sz="1200" dirty="0">
                          <a:solidFill>
                            <a:srgbClr val="FFFFFF"/>
                          </a:solidFill>
                        </a:rPr>
                        <a:t>3%</a:t>
                      </a:r>
                      <a:endParaRPr lang="en-US" sz="12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tc>
                  <a:txBody>
                    <a:bodyPr/>
                    <a:lstStyle/>
                    <a:p>
                      <a:pPr marL="0" indent="0" algn="ctr">
                        <a:buNone/>
                      </a:pPr>
                      <a:r>
                        <a:rPr lang="en-US" sz="1200" dirty="0">
                          <a:solidFill>
                            <a:srgbClr val="FFFFFF"/>
                          </a:solidFill>
                        </a:rPr>
                        <a:t>22%</a:t>
                      </a:r>
                      <a:endParaRPr lang="en-US" sz="12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tc>
                  <a:txBody>
                    <a:bodyPr/>
                    <a:lstStyle/>
                    <a:p>
                      <a:pPr marL="0" indent="0" algn="ctr">
                        <a:buNone/>
                      </a:pPr>
                      <a:r>
                        <a:rPr lang="en-US" sz="1200" dirty="0">
                          <a:solidFill>
                            <a:srgbClr val="FFFFFF"/>
                          </a:solidFill>
                        </a:rPr>
                        <a:t>30%</a:t>
                      </a:r>
                      <a:endParaRPr lang="en-US" sz="12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tc>
                  <a:txBody>
                    <a:bodyPr/>
                    <a:lstStyle/>
                    <a:p>
                      <a:pPr marL="0" indent="0" algn="ctr">
                        <a:buNone/>
                      </a:pPr>
                      <a:r>
                        <a:rPr lang="en-US" sz="1200" dirty="0">
                          <a:solidFill>
                            <a:srgbClr val="FFFFFF"/>
                          </a:solidFill>
                        </a:rPr>
                        <a:t>~34%E</a:t>
                      </a:r>
                      <a:endParaRPr lang="en-US" sz="12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tc>
                  <a:txBody>
                    <a:bodyPr/>
                    <a:lstStyle/>
                    <a:p>
                      <a:pPr marL="0" indent="0" algn="l">
                        <a:buNone/>
                      </a:pPr>
                      <a:r>
                        <a:rPr lang="en-US" sz="1200" dirty="0">
                          <a:solidFill>
                            <a:srgbClr val="00D4AA"/>
                          </a:solidFill>
                        </a:rPr>
                        <a:t>↑ World-class</a:t>
                      </a:r>
                      <a:endParaRPr lang="en-US" sz="12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extLst>
                  <a:ext uri="{0D108BD9-81ED-4DB2-BD59-A6C34878D82A}">
                    <a16:rowId xmlns:a16="http://schemas.microsoft.com/office/drawing/2014/main" val="10005"/>
                  </a:ext>
                </a:extLst>
              </a:tr>
              <a:tr h="254000">
                <a:tc>
                  <a:txBody>
                    <a:bodyPr/>
                    <a:lstStyle/>
                    <a:p>
                      <a:pPr marL="0" indent="0" algn="l">
                        <a:buNone/>
                      </a:pPr>
                      <a:r>
                        <a:rPr lang="en-US" sz="1200" b="1" dirty="0">
                          <a:solidFill>
                            <a:srgbClr val="E8E4FF"/>
                          </a:solidFill>
                        </a:rPr>
                        <a:t>Efficiency Ratio</a:t>
                      </a:r>
                      <a:endParaRPr lang="en-US" sz="12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5103A"/>
                    </a:solidFill>
                  </a:tcPr>
                </a:tc>
                <a:tc>
                  <a:txBody>
                    <a:bodyPr/>
                    <a:lstStyle/>
                    <a:p>
                      <a:pPr marL="0" indent="0" algn="ctr">
                        <a:buNone/>
                      </a:pPr>
                      <a:r>
                        <a:rPr lang="en-US" sz="1200" dirty="0">
                          <a:solidFill>
                            <a:srgbClr val="FFFFFF"/>
                          </a:solidFill>
                        </a:rPr>
                        <a:t>54%</a:t>
                      </a:r>
                      <a:endParaRPr lang="en-US" sz="12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5103A"/>
                    </a:solidFill>
                  </a:tcPr>
                </a:tc>
                <a:tc>
                  <a:txBody>
                    <a:bodyPr/>
                    <a:lstStyle/>
                    <a:p>
                      <a:pPr marL="0" indent="0" algn="ctr">
                        <a:buNone/>
                      </a:pPr>
                      <a:r>
                        <a:rPr lang="en-US" sz="1200" dirty="0">
                          <a:solidFill>
                            <a:srgbClr val="FFFFFF"/>
                          </a:solidFill>
                        </a:rPr>
                        <a:t>42%</a:t>
                      </a:r>
                      <a:endParaRPr lang="en-US" sz="12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5103A"/>
                    </a:solidFill>
                  </a:tcPr>
                </a:tc>
                <a:tc>
                  <a:txBody>
                    <a:bodyPr/>
                    <a:lstStyle/>
                    <a:p>
                      <a:pPr marL="0" indent="0" algn="ctr">
                        <a:buNone/>
                      </a:pPr>
                      <a:r>
                        <a:rPr lang="en-US" sz="1200" dirty="0">
                          <a:solidFill>
                            <a:srgbClr val="FFFFFF"/>
                          </a:solidFill>
                        </a:rPr>
                        <a:t>34%</a:t>
                      </a:r>
                      <a:endParaRPr lang="en-US" sz="12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5103A"/>
                    </a:solidFill>
                  </a:tcPr>
                </a:tc>
                <a:tc>
                  <a:txBody>
                    <a:bodyPr/>
                    <a:lstStyle/>
                    <a:p>
                      <a:pPr marL="0" indent="0" algn="ctr">
                        <a:buNone/>
                      </a:pPr>
                      <a:r>
                        <a:rPr lang="en-US" sz="1200" dirty="0">
                          <a:solidFill>
                            <a:srgbClr val="FFFFFF"/>
                          </a:solidFill>
                        </a:rPr>
                        <a:t>28%</a:t>
                      </a:r>
                      <a:endParaRPr lang="en-US" sz="12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5103A"/>
                    </a:solidFill>
                  </a:tcPr>
                </a:tc>
                <a:tc>
                  <a:txBody>
                    <a:bodyPr/>
                    <a:lstStyle/>
                    <a:p>
                      <a:pPr marL="0" indent="0" algn="ctr">
                        <a:buNone/>
                      </a:pPr>
                      <a:r>
                        <a:rPr lang="en-US" sz="1200" dirty="0">
                          <a:solidFill>
                            <a:srgbClr val="FFFFFF"/>
                          </a:solidFill>
                        </a:rPr>
                        <a:t>~22%E</a:t>
                      </a:r>
                      <a:endParaRPr lang="en-US" sz="12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5103A"/>
                    </a:solidFill>
                  </a:tcPr>
                </a:tc>
                <a:tc>
                  <a:txBody>
                    <a:bodyPr/>
                    <a:lstStyle/>
                    <a:p>
                      <a:pPr marL="0" indent="0" algn="l">
                        <a:buNone/>
                      </a:pPr>
                      <a:r>
                        <a:rPr lang="en-US" sz="1200" dirty="0">
                          <a:solidFill>
                            <a:srgbClr val="00D4AA"/>
                          </a:solidFill>
                        </a:rPr>
                        <a:t>↓ Structural gain</a:t>
                      </a:r>
                      <a:endParaRPr lang="en-US" sz="12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5103A"/>
                    </a:solidFill>
                  </a:tcPr>
                </a:tc>
                <a:extLst>
                  <a:ext uri="{0D108BD9-81ED-4DB2-BD59-A6C34878D82A}">
                    <a16:rowId xmlns:a16="http://schemas.microsoft.com/office/drawing/2014/main" val="10006"/>
                  </a:ext>
                </a:extLst>
              </a:tr>
              <a:tr h="254000">
                <a:tc>
                  <a:txBody>
                    <a:bodyPr/>
                    <a:lstStyle/>
                    <a:p>
                      <a:pPr marL="0" indent="0" algn="l">
                        <a:buNone/>
                      </a:pPr>
                      <a:r>
                        <a:rPr lang="en-US" sz="1200" b="1" dirty="0">
                          <a:solidFill>
                            <a:srgbClr val="E8E4FF"/>
                          </a:solidFill>
                        </a:rPr>
                        <a:t>Customers (M)</a:t>
                      </a:r>
                      <a:endParaRPr lang="en-US" sz="12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tc>
                  <a:txBody>
                    <a:bodyPr/>
                    <a:lstStyle/>
                    <a:p>
                      <a:pPr marL="0" indent="0" algn="ctr">
                        <a:buNone/>
                      </a:pPr>
                      <a:r>
                        <a:rPr lang="en-US" sz="1200" dirty="0">
                          <a:solidFill>
                            <a:srgbClr val="FFFFFF"/>
                          </a:solidFill>
                        </a:rPr>
                        <a:t>65</a:t>
                      </a:r>
                      <a:endParaRPr lang="en-US" sz="12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tc>
                  <a:txBody>
                    <a:bodyPr/>
                    <a:lstStyle/>
                    <a:p>
                      <a:pPr marL="0" indent="0" algn="ctr">
                        <a:buNone/>
                      </a:pPr>
                      <a:r>
                        <a:rPr lang="en-US" sz="1200" dirty="0">
                          <a:solidFill>
                            <a:srgbClr val="FFFFFF"/>
                          </a:solidFill>
                        </a:rPr>
                        <a:t>93</a:t>
                      </a:r>
                      <a:endParaRPr lang="en-US" sz="12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tc>
                  <a:txBody>
                    <a:bodyPr/>
                    <a:lstStyle/>
                    <a:p>
                      <a:pPr marL="0" indent="0" algn="ctr">
                        <a:buNone/>
                      </a:pPr>
                      <a:r>
                        <a:rPr lang="en-US" sz="1200" dirty="0">
                          <a:solidFill>
                            <a:srgbClr val="FFFFFF"/>
                          </a:solidFill>
                        </a:rPr>
                        <a:t>112</a:t>
                      </a:r>
                      <a:endParaRPr lang="en-US" sz="12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tc>
                  <a:txBody>
                    <a:bodyPr/>
                    <a:lstStyle/>
                    <a:p>
                      <a:pPr marL="0" indent="0" algn="ctr">
                        <a:buNone/>
                      </a:pPr>
                      <a:r>
                        <a:rPr lang="en-US" sz="1200" dirty="0">
                          <a:solidFill>
                            <a:srgbClr val="FFFFFF"/>
                          </a:solidFill>
                        </a:rPr>
                        <a:t>131</a:t>
                      </a:r>
                      <a:endParaRPr lang="en-US" sz="12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tc>
                  <a:txBody>
                    <a:bodyPr/>
                    <a:lstStyle/>
                    <a:p>
                      <a:pPr marL="0" indent="0" algn="ctr">
                        <a:buNone/>
                      </a:pPr>
                      <a:r>
                        <a:rPr lang="en-US" sz="1200" dirty="0">
                          <a:solidFill>
                            <a:srgbClr val="FFFFFF"/>
                          </a:solidFill>
                        </a:rPr>
                        <a:t>~150E</a:t>
                      </a:r>
                      <a:endParaRPr lang="en-US" sz="12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tc>
                  <a:txBody>
                    <a:bodyPr/>
                    <a:lstStyle/>
                    <a:p>
                      <a:pPr marL="0" indent="0" algn="l">
                        <a:buNone/>
                      </a:pPr>
                      <a:r>
                        <a:rPr lang="en-US" sz="1200" dirty="0">
                          <a:solidFill>
                            <a:srgbClr val="00D4AA"/>
                          </a:solidFill>
                        </a:rPr>
                        <a:t>↑↑ +17M/yr</a:t>
                      </a:r>
                      <a:endParaRPr lang="en-US" sz="12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extLst>
                  <a:ext uri="{0D108BD9-81ED-4DB2-BD59-A6C34878D82A}">
                    <a16:rowId xmlns:a16="http://schemas.microsoft.com/office/drawing/2014/main" val="10007"/>
                  </a:ext>
                </a:extLst>
              </a:tr>
              <a:tr h="254000">
                <a:tc>
                  <a:txBody>
                    <a:bodyPr/>
                    <a:lstStyle/>
                    <a:p>
                      <a:pPr marL="0" indent="0" algn="l">
                        <a:buNone/>
                      </a:pPr>
                      <a:r>
                        <a:rPr lang="en-US" sz="1200" b="1" dirty="0">
                          <a:solidFill>
                            <a:srgbClr val="E8E4FF"/>
                          </a:solidFill>
                        </a:rPr>
                        <a:t>ARPAC ($/month)</a:t>
                      </a:r>
                      <a:endParaRPr lang="en-US" sz="12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5103A"/>
                    </a:solidFill>
                  </a:tcPr>
                </a:tc>
                <a:tc>
                  <a:txBody>
                    <a:bodyPr/>
                    <a:lstStyle/>
                    <a:p>
                      <a:pPr marL="0" indent="0" algn="ctr">
                        <a:buNone/>
                      </a:pPr>
                      <a:r>
                        <a:rPr lang="en-US" sz="1200" dirty="0">
                          <a:solidFill>
                            <a:srgbClr val="FFFFFF"/>
                          </a:solidFill>
                        </a:rPr>
                        <a:t>$3.8</a:t>
                      </a:r>
                      <a:endParaRPr lang="en-US" sz="12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5103A"/>
                    </a:solidFill>
                  </a:tcPr>
                </a:tc>
                <a:tc>
                  <a:txBody>
                    <a:bodyPr/>
                    <a:lstStyle/>
                    <a:p>
                      <a:pPr marL="0" indent="0" algn="ctr">
                        <a:buNone/>
                      </a:pPr>
                      <a:r>
                        <a:rPr lang="en-US" sz="1200" dirty="0">
                          <a:solidFill>
                            <a:srgbClr val="FFFFFF"/>
                          </a:solidFill>
                        </a:rPr>
                        <a:t>$6.3</a:t>
                      </a:r>
                      <a:endParaRPr lang="en-US" sz="12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5103A"/>
                    </a:solidFill>
                  </a:tcPr>
                </a:tc>
                <a:tc>
                  <a:txBody>
                    <a:bodyPr/>
                    <a:lstStyle/>
                    <a:p>
                      <a:pPr marL="0" indent="0" algn="ctr">
                        <a:buNone/>
                      </a:pPr>
                      <a:r>
                        <a:rPr lang="en-US" sz="1200" dirty="0">
                          <a:solidFill>
                            <a:srgbClr val="FFFFFF"/>
                          </a:solidFill>
                        </a:rPr>
                        <a:t>$9.8</a:t>
                      </a:r>
                      <a:endParaRPr lang="en-US" sz="12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5103A"/>
                    </a:solidFill>
                  </a:tcPr>
                </a:tc>
                <a:tc>
                  <a:txBody>
                    <a:bodyPr/>
                    <a:lstStyle/>
                    <a:p>
                      <a:pPr marL="0" indent="0" algn="ctr">
                        <a:buNone/>
                      </a:pPr>
                      <a:r>
                        <a:rPr lang="en-US" sz="1200" dirty="0">
                          <a:solidFill>
                            <a:srgbClr val="FFFFFF"/>
                          </a:solidFill>
                        </a:rPr>
                        <a:t>$13.5</a:t>
                      </a:r>
                      <a:endParaRPr lang="en-US" sz="12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5103A"/>
                    </a:solidFill>
                  </a:tcPr>
                </a:tc>
                <a:tc>
                  <a:txBody>
                    <a:bodyPr/>
                    <a:lstStyle/>
                    <a:p>
                      <a:pPr marL="0" indent="0" algn="ctr">
                        <a:buNone/>
                      </a:pPr>
                      <a:r>
                        <a:rPr lang="en-US" sz="1200" dirty="0">
                          <a:solidFill>
                            <a:srgbClr val="FFFFFF"/>
                          </a:solidFill>
                        </a:rPr>
                        <a:t>~$18E</a:t>
                      </a:r>
                      <a:endParaRPr lang="en-US" sz="12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5103A"/>
                    </a:solidFill>
                  </a:tcPr>
                </a:tc>
                <a:tc>
                  <a:txBody>
                    <a:bodyPr/>
                    <a:lstStyle/>
                    <a:p>
                      <a:pPr marL="0" indent="0" algn="l">
                        <a:buNone/>
                      </a:pPr>
                      <a:r>
                        <a:rPr lang="en-US" sz="1200" dirty="0">
                          <a:solidFill>
                            <a:srgbClr val="00D4AA"/>
                          </a:solidFill>
                        </a:rPr>
                        <a:t>↑↑↑ Monetizing</a:t>
                      </a:r>
                      <a:endParaRPr lang="en-US" sz="12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5103A"/>
                    </a:solidFill>
                  </a:tcPr>
                </a:tc>
                <a:extLst>
                  <a:ext uri="{0D108BD9-81ED-4DB2-BD59-A6C34878D82A}">
                    <a16:rowId xmlns:a16="http://schemas.microsoft.com/office/drawing/2014/main" val="10008"/>
                  </a:ext>
                </a:extLst>
              </a:tr>
            </a:tbl>
          </a:graphicData>
        </a:graphic>
      </p:graphicFrame>
      <p:sp>
        <p:nvSpPr>
          <p:cNvPr id="37" name="Text 34"/>
          <p:cNvSpPr/>
          <p:nvPr/>
        </p:nvSpPr>
        <p:spPr>
          <a:xfrm>
            <a:off x="338328" y="4887468"/>
            <a:ext cx="8503920" cy="182880"/>
          </a:xfrm>
          <a:prstGeom prst="rect">
            <a:avLst/>
          </a:prstGeom>
          <a:noFill/>
          <a:ln/>
        </p:spPr>
        <p:txBody>
          <a:bodyPr wrap="square" lIns="0" tIns="0" rIns="0" bIns="0" rtlCol="0" anchor="ctr"/>
          <a:lstStyle/>
          <a:p>
            <a:pPr marL="0" indent="0">
              <a:buNone/>
            </a:pPr>
            <a:r>
              <a:rPr lang="en-US" sz="700" dirty="0">
                <a:solidFill>
                  <a:srgbClr val="8A86B8"/>
                </a:solidFill>
              </a:rPr>
              <a:t>Sources: Nu Holdings 20-F FY2025 (Apr 2026), Q1'26 Earnings Release (May 14 2026). FY2026E = analyst consensus.</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0A1F"/>
        </a:solidFill>
        <a:effectLst/>
      </p:bgPr>
    </p:bg>
    <p:spTree>
      <p:nvGrpSpPr>
        <p:cNvPr id="1" name=""/>
        <p:cNvGrpSpPr/>
        <p:nvPr/>
      </p:nvGrpSpPr>
      <p:grpSpPr>
        <a:xfrm>
          <a:off x="0" y="0"/>
          <a:ext cx="0" cy="0"/>
          <a:chOff x="0" y="0"/>
          <a:chExt cx="0" cy="0"/>
        </a:xfrm>
      </p:grpSpPr>
      <p:sp>
        <p:nvSpPr>
          <p:cNvPr id="2" name="Shape 0"/>
          <p:cNvSpPr/>
          <p:nvPr/>
        </p:nvSpPr>
        <p:spPr>
          <a:xfrm>
            <a:off x="320040" y="164592"/>
            <a:ext cx="4830800" cy="256032"/>
          </a:xfrm>
          <a:prstGeom prst="roundRect">
            <a:avLst>
              <a:gd name="adj" fmla="val 28571"/>
            </a:avLst>
          </a:prstGeom>
          <a:solidFill>
            <a:srgbClr val="6C3BF5"/>
          </a:solidFill>
          <a:ln/>
        </p:spPr>
      </p:sp>
      <p:sp>
        <p:nvSpPr>
          <p:cNvPr id="3" name="Text 1"/>
          <p:cNvSpPr/>
          <p:nvPr/>
        </p:nvSpPr>
        <p:spPr>
          <a:xfrm>
            <a:off x="411480" y="172645"/>
            <a:ext cx="4512019" cy="228600"/>
          </a:xfrm>
          <a:prstGeom prst="rect">
            <a:avLst/>
          </a:prstGeom>
          <a:noFill/>
          <a:ln/>
        </p:spPr>
        <p:txBody>
          <a:bodyPr wrap="square" lIns="0" tIns="0" rIns="0" bIns="0" rtlCol="0" anchor="ctr"/>
          <a:lstStyle/>
          <a:p>
            <a:pPr marL="0" indent="0">
              <a:buNone/>
            </a:pPr>
            <a:r>
              <a:rPr lang="en-US" sz="1100" b="1" dirty="0">
                <a:solidFill>
                  <a:srgbClr val="FFFFFF"/>
                </a:solidFill>
              </a:rPr>
              <a:t>SECTION 4: GEOGRAPHIC EXPANSION &amp; PRODUCT STRATEGY</a:t>
            </a:r>
            <a:endParaRPr lang="en-US" sz="1100" dirty="0"/>
          </a:p>
        </p:txBody>
      </p:sp>
      <p:sp>
        <p:nvSpPr>
          <p:cNvPr id="4" name="Text 2"/>
          <p:cNvSpPr/>
          <p:nvPr/>
        </p:nvSpPr>
        <p:spPr>
          <a:xfrm>
            <a:off x="320040" y="457200"/>
            <a:ext cx="8503920" cy="502920"/>
          </a:xfrm>
          <a:prstGeom prst="rect">
            <a:avLst/>
          </a:prstGeom>
          <a:noFill/>
          <a:ln/>
        </p:spPr>
        <p:txBody>
          <a:bodyPr wrap="square" lIns="0" tIns="0" rIns="0" bIns="0" rtlCol="0" anchor="ctr"/>
          <a:lstStyle/>
          <a:p>
            <a:pPr marL="0" indent="0">
              <a:buNone/>
            </a:pPr>
            <a:r>
              <a:rPr lang="en-US" sz="2000" b="1" dirty="0">
                <a:solidFill>
                  <a:srgbClr val="FFFFFF"/>
                </a:solidFill>
              </a:rPr>
              <a:t>Brazil is the Engine — Mexico is the Next Brazil — Colombia &amp; US in Early Stage</a:t>
            </a:r>
            <a:endParaRPr lang="en-US" sz="2000" dirty="0"/>
          </a:p>
        </p:txBody>
      </p:sp>
      <p:sp>
        <p:nvSpPr>
          <p:cNvPr id="5" name="Text 3"/>
          <p:cNvSpPr/>
          <p:nvPr/>
        </p:nvSpPr>
        <p:spPr>
          <a:xfrm>
            <a:off x="320040" y="882406"/>
            <a:ext cx="8503920" cy="256032"/>
          </a:xfrm>
          <a:prstGeom prst="rect">
            <a:avLst/>
          </a:prstGeom>
          <a:noFill/>
          <a:ln/>
        </p:spPr>
        <p:txBody>
          <a:bodyPr wrap="square" lIns="0" tIns="0" rIns="0" bIns="0" rtlCol="0" anchor="ctr"/>
          <a:lstStyle/>
          <a:p>
            <a:pPr marL="0" indent="0">
              <a:buNone/>
            </a:pPr>
            <a:r>
              <a:rPr lang="en-US" sz="1200" i="1" dirty="0">
                <a:solidFill>
                  <a:srgbClr val="00D4AA"/>
                </a:solidFill>
              </a:rPr>
              <a:t>The playbook proven in Brazil is now replicating across 650M-person LatAm and beyond</a:t>
            </a:r>
            <a:endParaRPr lang="en-US" sz="1200" dirty="0"/>
          </a:p>
        </p:txBody>
      </p:sp>
      <p:grpSp>
        <p:nvGrpSpPr>
          <p:cNvPr id="54" name="Group 53">
            <a:extLst>
              <a:ext uri="{FF2B5EF4-FFF2-40B4-BE49-F238E27FC236}">
                <a16:creationId xmlns:a16="http://schemas.microsoft.com/office/drawing/2014/main" id="{597E5F19-3F84-01A9-B9F9-E413E31F9356}"/>
              </a:ext>
            </a:extLst>
          </p:cNvPr>
          <p:cNvGrpSpPr/>
          <p:nvPr/>
        </p:nvGrpSpPr>
        <p:grpSpPr>
          <a:xfrm>
            <a:off x="365760" y="1277429"/>
            <a:ext cx="8503920" cy="3310128"/>
            <a:chOff x="320040" y="1417320"/>
            <a:chExt cx="8503920" cy="3520440"/>
          </a:xfrm>
        </p:grpSpPr>
        <p:grpSp>
          <p:nvGrpSpPr>
            <p:cNvPr id="53" name="Group 52">
              <a:extLst>
                <a:ext uri="{FF2B5EF4-FFF2-40B4-BE49-F238E27FC236}">
                  <a16:creationId xmlns:a16="http://schemas.microsoft.com/office/drawing/2014/main" id="{7ADAFBDC-B1C1-2206-CBFA-B6092AB1833F}"/>
                </a:ext>
              </a:extLst>
            </p:cNvPr>
            <p:cNvGrpSpPr/>
            <p:nvPr/>
          </p:nvGrpSpPr>
          <p:grpSpPr>
            <a:xfrm>
              <a:off x="320040" y="1417320"/>
              <a:ext cx="8503920" cy="3520440"/>
              <a:chOff x="320040" y="1417320"/>
              <a:chExt cx="8503920" cy="3520440"/>
            </a:xfrm>
          </p:grpSpPr>
          <p:sp>
            <p:nvSpPr>
              <p:cNvPr id="6" name="Shape 4"/>
              <p:cNvSpPr/>
              <p:nvPr/>
            </p:nvSpPr>
            <p:spPr>
              <a:xfrm>
                <a:off x="320040" y="1417320"/>
                <a:ext cx="2057400" cy="3520440"/>
              </a:xfrm>
              <a:prstGeom prst="rect">
                <a:avLst/>
              </a:prstGeom>
              <a:solidFill>
                <a:srgbClr val="1E1850"/>
              </a:solidFill>
              <a:ln/>
              <a:effectLst>
                <a:outerShdw blurRad="152400" dist="50800" dir="8100000" algn="bl" rotWithShape="0">
                  <a:srgbClr val="000000">
                    <a:alpha val="25000"/>
                  </a:srgbClr>
                </a:outerShdw>
              </a:effectLst>
            </p:spPr>
          </p:sp>
          <p:sp>
            <p:nvSpPr>
              <p:cNvPr id="7" name="Shape 5"/>
              <p:cNvSpPr/>
              <p:nvPr/>
            </p:nvSpPr>
            <p:spPr>
              <a:xfrm>
                <a:off x="320040" y="1417320"/>
                <a:ext cx="2057400" cy="45720"/>
              </a:xfrm>
              <a:prstGeom prst="rect">
                <a:avLst/>
              </a:prstGeom>
              <a:solidFill>
                <a:srgbClr val="6C3BF5"/>
              </a:solidFill>
              <a:ln/>
            </p:spPr>
          </p:sp>
          <p:sp>
            <p:nvSpPr>
              <p:cNvPr id="8" name="Shape 6"/>
              <p:cNvSpPr/>
              <p:nvPr/>
            </p:nvSpPr>
            <p:spPr>
              <a:xfrm>
                <a:off x="411480" y="1508760"/>
                <a:ext cx="1874520" cy="219456"/>
              </a:xfrm>
              <a:prstGeom prst="roundRect">
                <a:avLst>
                  <a:gd name="adj" fmla="val 25000"/>
                </a:avLst>
              </a:prstGeom>
              <a:solidFill>
                <a:srgbClr val="6C3BF5">
                  <a:alpha val="25000"/>
                </a:srgbClr>
              </a:solidFill>
              <a:ln/>
            </p:spPr>
          </p:sp>
          <p:sp>
            <p:nvSpPr>
              <p:cNvPr id="10" name="Text 8"/>
              <p:cNvSpPr/>
              <p:nvPr/>
            </p:nvSpPr>
            <p:spPr>
              <a:xfrm>
                <a:off x="411480" y="1783080"/>
                <a:ext cx="1874520" cy="310896"/>
              </a:xfrm>
              <a:prstGeom prst="rect">
                <a:avLst/>
              </a:prstGeom>
              <a:noFill/>
              <a:ln/>
            </p:spPr>
            <p:txBody>
              <a:bodyPr wrap="square" lIns="0" tIns="0" rIns="0" bIns="0" rtlCol="0" anchor="ctr"/>
              <a:lstStyle/>
              <a:p>
                <a:pPr marL="0" indent="0">
                  <a:buNone/>
                </a:pPr>
                <a:r>
                  <a:rPr lang="en-US" b="1" dirty="0">
                    <a:solidFill>
                      <a:srgbClr val="FFFFFF"/>
                    </a:solidFill>
                  </a:rPr>
                  <a:t>🇧🇷 Brazil</a:t>
                </a:r>
                <a:endParaRPr lang="en-US" dirty="0"/>
              </a:p>
            </p:txBody>
          </p:sp>
          <p:sp>
            <p:nvSpPr>
              <p:cNvPr id="16" name="Shape 14"/>
              <p:cNvSpPr/>
              <p:nvPr/>
            </p:nvSpPr>
            <p:spPr>
              <a:xfrm>
                <a:off x="2468880" y="1417320"/>
                <a:ext cx="2057400" cy="3520440"/>
              </a:xfrm>
              <a:prstGeom prst="rect">
                <a:avLst/>
              </a:prstGeom>
              <a:solidFill>
                <a:srgbClr val="1E1850"/>
              </a:solidFill>
              <a:ln/>
              <a:effectLst>
                <a:outerShdw blurRad="152400" dist="50800" dir="8100000" algn="bl" rotWithShape="0">
                  <a:srgbClr val="000000">
                    <a:alpha val="25000"/>
                  </a:srgbClr>
                </a:outerShdw>
              </a:effectLst>
            </p:spPr>
          </p:sp>
          <p:sp>
            <p:nvSpPr>
              <p:cNvPr id="17" name="Shape 15"/>
              <p:cNvSpPr/>
              <p:nvPr/>
            </p:nvSpPr>
            <p:spPr>
              <a:xfrm>
                <a:off x="2468880" y="1417320"/>
                <a:ext cx="2057400" cy="45720"/>
              </a:xfrm>
              <a:prstGeom prst="rect">
                <a:avLst/>
              </a:prstGeom>
              <a:solidFill>
                <a:srgbClr val="00D4AA"/>
              </a:solidFill>
              <a:ln/>
            </p:spPr>
          </p:sp>
          <p:sp>
            <p:nvSpPr>
              <p:cNvPr id="18" name="Shape 16"/>
              <p:cNvSpPr/>
              <p:nvPr/>
            </p:nvSpPr>
            <p:spPr>
              <a:xfrm>
                <a:off x="2560320" y="1508760"/>
                <a:ext cx="1874520" cy="219456"/>
              </a:xfrm>
              <a:prstGeom prst="roundRect">
                <a:avLst>
                  <a:gd name="adj" fmla="val 25000"/>
                </a:avLst>
              </a:prstGeom>
              <a:solidFill>
                <a:srgbClr val="00D4AA">
                  <a:alpha val="25000"/>
                </a:srgbClr>
              </a:solidFill>
              <a:ln/>
            </p:spPr>
          </p:sp>
          <p:sp>
            <p:nvSpPr>
              <p:cNvPr id="20" name="Text 18"/>
              <p:cNvSpPr/>
              <p:nvPr/>
            </p:nvSpPr>
            <p:spPr>
              <a:xfrm>
                <a:off x="2560320" y="1783080"/>
                <a:ext cx="1874520" cy="310896"/>
              </a:xfrm>
              <a:prstGeom prst="rect">
                <a:avLst/>
              </a:prstGeom>
              <a:noFill/>
              <a:ln/>
            </p:spPr>
            <p:txBody>
              <a:bodyPr wrap="square" lIns="0" tIns="0" rIns="0" bIns="0" rtlCol="0" anchor="ctr"/>
              <a:lstStyle/>
              <a:p>
                <a:pPr marL="0" indent="0">
                  <a:buNone/>
                </a:pPr>
                <a:r>
                  <a:rPr lang="en-US" b="1" dirty="0">
                    <a:solidFill>
                      <a:srgbClr val="FFFFFF"/>
                    </a:solidFill>
                  </a:rPr>
                  <a:t>🇲🇽 Mexico</a:t>
                </a:r>
                <a:endParaRPr lang="en-US" dirty="0"/>
              </a:p>
            </p:txBody>
          </p:sp>
          <p:sp>
            <p:nvSpPr>
              <p:cNvPr id="26" name="Shape 24"/>
              <p:cNvSpPr/>
              <p:nvPr/>
            </p:nvSpPr>
            <p:spPr>
              <a:xfrm>
                <a:off x="4617720" y="1417320"/>
                <a:ext cx="2057400" cy="3520440"/>
              </a:xfrm>
              <a:prstGeom prst="rect">
                <a:avLst/>
              </a:prstGeom>
              <a:solidFill>
                <a:srgbClr val="1E1850"/>
              </a:solidFill>
              <a:ln/>
              <a:effectLst>
                <a:outerShdw blurRad="152400" dist="50800" dir="8100000" algn="bl" rotWithShape="0">
                  <a:srgbClr val="000000">
                    <a:alpha val="25000"/>
                  </a:srgbClr>
                </a:outerShdw>
              </a:effectLst>
            </p:spPr>
          </p:sp>
          <p:sp>
            <p:nvSpPr>
              <p:cNvPr id="27" name="Shape 25"/>
              <p:cNvSpPr/>
              <p:nvPr/>
            </p:nvSpPr>
            <p:spPr>
              <a:xfrm>
                <a:off x="4617720" y="1417320"/>
                <a:ext cx="2057400" cy="45720"/>
              </a:xfrm>
              <a:prstGeom prst="rect">
                <a:avLst/>
              </a:prstGeom>
              <a:solidFill>
                <a:srgbClr val="6C3BF5"/>
              </a:solidFill>
              <a:ln/>
            </p:spPr>
          </p:sp>
          <p:sp>
            <p:nvSpPr>
              <p:cNvPr id="28" name="Shape 26"/>
              <p:cNvSpPr/>
              <p:nvPr/>
            </p:nvSpPr>
            <p:spPr>
              <a:xfrm>
                <a:off x="4709160" y="1508760"/>
                <a:ext cx="1874520" cy="219456"/>
              </a:xfrm>
              <a:prstGeom prst="roundRect">
                <a:avLst>
                  <a:gd name="adj" fmla="val 25000"/>
                </a:avLst>
              </a:prstGeom>
              <a:solidFill>
                <a:srgbClr val="6C3BF5">
                  <a:alpha val="25000"/>
                </a:srgbClr>
              </a:solidFill>
              <a:ln/>
            </p:spPr>
          </p:sp>
          <p:sp>
            <p:nvSpPr>
              <p:cNvPr id="30" name="Text 28"/>
              <p:cNvSpPr/>
              <p:nvPr/>
            </p:nvSpPr>
            <p:spPr>
              <a:xfrm>
                <a:off x="4709160" y="1783080"/>
                <a:ext cx="1874520" cy="310896"/>
              </a:xfrm>
              <a:prstGeom prst="rect">
                <a:avLst/>
              </a:prstGeom>
              <a:noFill/>
              <a:ln/>
            </p:spPr>
            <p:txBody>
              <a:bodyPr wrap="square" lIns="0" tIns="0" rIns="0" bIns="0" rtlCol="0" anchor="ctr"/>
              <a:lstStyle/>
              <a:p>
                <a:pPr marL="0" indent="0">
                  <a:buNone/>
                </a:pPr>
                <a:r>
                  <a:rPr lang="en-US" b="1" dirty="0">
                    <a:solidFill>
                      <a:srgbClr val="FFFFFF"/>
                    </a:solidFill>
                  </a:rPr>
                  <a:t>🇨🇴 Colombia</a:t>
                </a:r>
                <a:endParaRPr lang="en-US" dirty="0"/>
              </a:p>
            </p:txBody>
          </p:sp>
          <p:sp>
            <p:nvSpPr>
              <p:cNvPr id="36" name="Shape 34"/>
              <p:cNvSpPr/>
              <p:nvPr/>
            </p:nvSpPr>
            <p:spPr>
              <a:xfrm>
                <a:off x="6766560" y="1417320"/>
                <a:ext cx="2057400" cy="3520440"/>
              </a:xfrm>
              <a:prstGeom prst="rect">
                <a:avLst/>
              </a:prstGeom>
              <a:solidFill>
                <a:srgbClr val="1E1850"/>
              </a:solidFill>
              <a:ln/>
              <a:effectLst>
                <a:outerShdw blurRad="152400" dist="50800" dir="8100000" algn="bl" rotWithShape="0">
                  <a:srgbClr val="000000">
                    <a:alpha val="25000"/>
                  </a:srgbClr>
                </a:outerShdw>
              </a:effectLst>
            </p:spPr>
          </p:sp>
          <p:sp>
            <p:nvSpPr>
              <p:cNvPr id="37" name="Shape 35"/>
              <p:cNvSpPr/>
              <p:nvPr/>
            </p:nvSpPr>
            <p:spPr>
              <a:xfrm>
                <a:off x="6766560" y="1417320"/>
                <a:ext cx="2057400" cy="45720"/>
              </a:xfrm>
              <a:prstGeom prst="rect">
                <a:avLst/>
              </a:prstGeom>
              <a:solidFill>
                <a:srgbClr val="00D4AA"/>
              </a:solidFill>
              <a:ln/>
            </p:spPr>
          </p:sp>
          <p:sp>
            <p:nvSpPr>
              <p:cNvPr id="38" name="Shape 36"/>
              <p:cNvSpPr/>
              <p:nvPr/>
            </p:nvSpPr>
            <p:spPr>
              <a:xfrm>
                <a:off x="6858000" y="1508760"/>
                <a:ext cx="1874520" cy="219456"/>
              </a:xfrm>
              <a:prstGeom prst="roundRect">
                <a:avLst>
                  <a:gd name="adj" fmla="val 25000"/>
                </a:avLst>
              </a:prstGeom>
              <a:solidFill>
                <a:srgbClr val="00D4AA">
                  <a:alpha val="25000"/>
                </a:srgbClr>
              </a:solidFill>
              <a:ln/>
            </p:spPr>
          </p:sp>
          <p:sp>
            <p:nvSpPr>
              <p:cNvPr id="40" name="Text 38"/>
              <p:cNvSpPr/>
              <p:nvPr/>
            </p:nvSpPr>
            <p:spPr>
              <a:xfrm>
                <a:off x="6858000" y="1783080"/>
                <a:ext cx="1874520" cy="310896"/>
              </a:xfrm>
              <a:prstGeom prst="rect">
                <a:avLst/>
              </a:prstGeom>
              <a:noFill/>
              <a:ln/>
            </p:spPr>
            <p:txBody>
              <a:bodyPr wrap="square" lIns="0" tIns="0" rIns="0" bIns="0" rtlCol="0" anchor="ctr"/>
              <a:lstStyle/>
              <a:p>
                <a:pPr marL="0" indent="0">
                  <a:buNone/>
                </a:pPr>
                <a:r>
                  <a:rPr lang="en-US" b="1" dirty="0">
                    <a:solidFill>
                      <a:srgbClr val="FFFFFF"/>
                    </a:solidFill>
                  </a:rPr>
                  <a:t>🇺🇸 United States</a:t>
                </a:r>
                <a:endParaRPr lang="en-US" dirty="0"/>
              </a:p>
            </p:txBody>
          </p:sp>
          <p:grpSp>
            <p:nvGrpSpPr>
              <p:cNvPr id="52" name="Group 51">
                <a:extLst>
                  <a:ext uri="{FF2B5EF4-FFF2-40B4-BE49-F238E27FC236}">
                    <a16:creationId xmlns:a16="http://schemas.microsoft.com/office/drawing/2014/main" id="{871C655B-20AF-E74A-B9F6-F9B7F3EFBF7B}"/>
                  </a:ext>
                </a:extLst>
              </p:cNvPr>
              <p:cNvGrpSpPr/>
              <p:nvPr/>
            </p:nvGrpSpPr>
            <p:grpSpPr>
              <a:xfrm>
                <a:off x="411480" y="2249424"/>
                <a:ext cx="8321040" cy="1113051"/>
                <a:chOff x="411480" y="2249424"/>
                <a:chExt cx="8321040" cy="1113051"/>
              </a:xfrm>
            </p:grpSpPr>
            <p:grpSp>
              <p:nvGrpSpPr>
                <p:cNvPr id="48" name="Group 47">
                  <a:extLst>
                    <a:ext uri="{FF2B5EF4-FFF2-40B4-BE49-F238E27FC236}">
                      <a16:creationId xmlns:a16="http://schemas.microsoft.com/office/drawing/2014/main" id="{0B2CB9E5-980F-2C7A-57EF-22C1E6D05CAE}"/>
                    </a:ext>
                  </a:extLst>
                </p:cNvPr>
                <p:cNvGrpSpPr/>
                <p:nvPr/>
              </p:nvGrpSpPr>
              <p:grpSpPr>
                <a:xfrm>
                  <a:off x="411480" y="2283483"/>
                  <a:ext cx="1874520" cy="1078992"/>
                  <a:chOff x="411480" y="2157984"/>
                  <a:chExt cx="1874520" cy="1078992"/>
                </a:xfrm>
              </p:grpSpPr>
              <p:sp>
                <p:nvSpPr>
                  <p:cNvPr id="11" name="Text 9"/>
                  <p:cNvSpPr/>
                  <p:nvPr/>
                </p:nvSpPr>
                <p:spPr>
                  <a:xfrm>
                    <a:off x="411480" y="2157984"/>
                    <a:ext cx="1874520" cy="256032"/>
                  </a:xfrm>
                  <a:prstGeom prst="rect">
                    <a:avLst/>
                  </a:prstGeom>
                  <a:noFill/>
                  <a:ln/>
                </p:spPr>
                <p:txBody>
                  <a:bodyPr wrap="square" lIns="0" tIns="0" rIns="0" bIns="0" rtlCol="0" anchor="ctr"/>
                  <a:lstStyle/>
                  <a:p>
                    <a:pPr marL="0" indent="0">
                      <a:buNone/>
                    </a:pPr>
                    <a:r>
                      <a:rPr lang="en-US" sz="1100" dirty="0">
                        <a:solidFill>
                          <a:srgbClr val="E8E4FF"/>
                        </a:solidFill>
                      </a:rPr>
                      <a:t>• ~100M customers</a:t>
                    </a:r>
                    <a:endParaRPr lang="en-US" sz="1100" dirty="0"/>
                  </a:p>
                </p:txBody>
              </p:sp>
              <p:sp>
                <p:nvSpPr>
                  <p:cNvPr id="12" name="Text 10"/>
                  <p:cNvSpPr/>
                  <p:nvPr/>
                </p:nvSpPr>
                <p:spPr>
                  <a:xfrm>
                    <a:off x="411480" y="2432304"/>
                    <a:ext cx="1874520" cy="256032"/>
                  </a:xfrm>
                  <a:prstGeom prst="rect">
                    <a:avLst/>
                  </a:prstGeom>
                  <a:noFill/>
                  <a:ln/>
                </p:spPr>
                <p:txBody>
                  <a:bodyPr wrap="square" lIns="0" tIns="0" rIns="0" bIns="0" rtlCol="0" anchor="ctr"/>
                  <a:lstStyle/>
                  <a:p>
                    <a:pPr marL="0" indent="0">
                      <a:buNone/>
                    </a:pPr>
                    <a:r>
                      <a:rPr lang="en-US" sz="1100" dirty="0">
                        <a:solidFill>
                          <a:srgbClr val="E8E4FF"/>
                        </a:solidFill>
                      </a:rPr>
                      <a:t>• Rev: $11.0B FY2025</a:t>
                    </a:r>
                    <a:endParaRPr lang="en-US" sz="1100" dirty="0"/>
                  </a:p>
                </p:txBody>
              </p:sp>
              <p:sp>
                <p:nvSpPr>
                  <p:cNvPr id="13" name="Text 11"/>
                  <p:cNvSpPr/>
                  <p:nvPr/>
                </p:nvSpPr>
                <p:spPr>
                  <a:xfrm>
                    <a:off x="411480" y="2706624"/>
                    <a:ext cx="1874520" cy="256032"/>
                  </a:xfrm>
                  <a:prstGeom prst="rect">
                    <a:avLst/>
                  </a:prstGeom>
                  <a:noFill/>
                  <a:ln/>
                </p:spPr>
                <p:txBody>
                  <a:bodyPr wrap="square" lIns="0" tIns="0" rIns="0" bIns="0" rtlCol="0" anchor="ctr"/>
                  <a:lstStyle/>
                  <a:p>
                    <a:pPr marL="0" indent="0">
                      <a:buNone/>
                    </a:pPr>
                    <a:r>
                      <a:rPr lang="en-US" sz="1100" dirty="0">
                        <a:solidFill>
                          <a:srgbClr val="E8E4FF"/>
                        </a:solidFill>
                      </a:rPr>
                      <a:t>• NIM expanding</a:t>
                    </a:r>
                    <a:endParaRPr lang="en-US" sz="1100" dirty="0"/>
                  </a:p>
                </p:txBody>
              </p:sp>
              <p:sp>
                <p:nvSpPr>
                  <p:cNvPr id="14" name="Text 12"/>
                  <p:cNvSpPr/>
                  <p:nvPr/>
                </p:nvSpPr>
                <p:spPr>
                  <a:xfrm>
                    <a:off x="411480" y="2980944"/>
                    <a:ext cx="1874520" cy="256032"/>
                  </a:xfrm>
                  <a:prstGeom prst="rect">
                    <a:avLst/>
                  </a:prstGeom>
                  <a:noFill/>
                  <a:ln/>
                </p:spPr>
                <p:txBody>
                  <a:bodyPr wrap="square" lIns="0" tIns="0" rIns="0" bIns="0" rtlCol="0" anchor="ctr"/>
                  <a:lstStyle/>
                  <a:p>
                    <a:pPr marL="0" indent="0">
                      <a:buNone/>
                    </a:pPr>
                    <a:r>
                      <a:rPr lang="en-US" sz="1100" dirty="0">
                        <a:solidFill>
                          <a:srgbClr val="E8E4FF"/>
                        </a:solidFill>
                      </a:rPr>
                      <a:t>• 50%+ adult penetration</a:t>
                    </a:r>
                    <a:endParaRPr lang="en-US" sz="1100" dirty="0"/>
                  </a:p>
                </p:txBody>
              </p:sp>
            </p:grpSp>
            <p:grpSp>
              <p:nvGrpSpPr>
                <p:cNvPr id="49" name="Group 48">
                  <a:extLst>
                    <a:ext uri="{FF2B5EF4-FFF2-40B4-BE49-F238E27FC236}">
                      <a16:creationId xmlns:a16="http://schemas.microsoft.com/office/drawing/2014/main" id="{4E7FB9F1-CDDB-E61E-E291-D19F4548D7ED}"/>
                    </a:ext>
                  </a:extLst>
                </p:cNvPr>
                <p:cNvGrpSpPr/>
                <p:nvPr/>
              </p:nvGrpSpPr>
              <p:grpSpPr>
                <a:xfrm>
                  <a:off x="2560320" y="2274339"/>
                  <a:ext cx="1874520" cy="1078992"/>
                  <a:chOff x="2560320" y="2157984"/>
                  <a:chExt cx="1874520" cy="1078992"/>
                </a:xfrm>
              </p:grpSpPr>
              <p:sp>
                <p:nvSpPr>
                  <p:cNvPr id="21" name="Text 19"/>
                  <p:cNvSpPr/>
                  <p:nvPr/>
                </p:nvSpPr>
                <p:spPr>
                  <a:xfrm>
                    <a:off x="2560320" y="2157984"/>
                    <a:ext cx="1874520" cy="256032"/>
                  </a:xfrm>
                  <a:prstGeom prst="rect">
                    <a:avLst/>
                  </a:prstGeom>
                  <a:noFill/>
                  <a:ln/>
                </p:spPr>
                <p:txBody>
                  <a:bodyPr wrap="square" lIns="0" tIns="0" rIns="0" bIns="0" rtlCol="0" anchor="ctr"/>
                  <a:lstStyle/>
                  <a:p>
                    <a:pPr marL="0" indent="0">
                      <a:buNone/>
                    </a:pPr>
                    <a:r>
                      <a:rPr lang="en-US" sz="1100" dirty="0">
                        <a:solidFill>
                          <a:srgbClr val="E8E4FF"/>
                        </a:solidFill>
                      </a:rPr>
                      <a:t>• 15M customers</a:t>
                    </a:r>
                    <a:endParaRPr lang="en-US" sz="1100" dirty="0"/>
                  </a:p>
                </p:txBody>
              </p:sp>
              <p:sp>
                <p:nvSpPr>
                  <p:cNvPr id="22" name="Text 20"/>
                  <p:cNvSpPr/>
                  <p:nvPr/>
                </p:nvSpPr>
                <p:spPr>
                  <a:xfrm>
                    <a:off x="2560320" y="2432304"/>
                    <a:ext cx="1874520" cy="256032"/>
                  </a:xfrm>
                  <a:prstGeom prst="rect">
                    <a:avLst/>
                  </a:prstGeom>
                  <a:noFill/>
                  <a:ln/>
                </p:spPr>
                <p:txBody>
                  <a:bodyPr wrap="square" lIns="0" tIns="0" rIns="0" bIns="0" rtlCol="0" anchor="ctr"/>
                  <a:lstStyle/>
                  <a:p>
                    <a:pPr marL="0" indent="0">
                      <a:buNone/>
                    </a:pPr>
                    <a:r>
                      <a:rPr lang="en-US" sz="1100" dirty="0">
                        <a:solidFill>
                          <a:srgbClr val="E8E4FF"/>
                        </a:solidFill>
                      </a:rPr>
                      <a:t>• Rev: $808M FY2025</a:t>
                    </a:r>
                    <a:endParaRPr lang="en-US" sz="1100" dirty="0"/>
                  </a:p>
                </p:txBody>
              </p:sp>
              <p:sp>
                <p:nvSpPr>
                  <p:cNvPr id="23" name="Text 21"/>
                  <p:cNvSpPr/>
                  <p:nvPr/>
                </p:nvSpPr>
                <p:spPr>
                  <a:xfrm>
                    <a:off x="2560320" y="2706624"/>
                    <a:ext cx="1874520" cy="256032"/>
                  </a:xfrm>
                  <a:prstGeom prst="rect">
                    <a:avLst/>
                  </a:prstGeom>
                  <a:noFill/>
                  <a:ln/>
                </p:spPr>
                <p:txBody>
                  <a:bodyPr wrap="square" lIns="0" tIns="0" rIns="0" bIns="0" rtlCol="0" anchor="ctr"/>
                  <a:lstStyle/>
                  <a:p>
                    <a:pPr marL="0" indent="0">
                      <a:buNone/>
                    </a:pPr>
                    <a:r>
                      <a:rPr lang="en-US" sz="1100" dirty="0">
                        <a:solidFill>
                          <a:srgbClr val="E8E4FF"/>
                        </a:solidFill>
                      </a:rPr>
                      <a:t>• Reached breakeven Q1'26</a:t>
                    </a:r>
                    <a:endParaRPr lang="en-US" sz="1100" dirty="0"/>
                  </a:p>
                </p:txBody>
              </p:sp>
              <p:sp>
                <p:nvSpPr>
                  <p:cNvPr id="24" name="Text 22"/>
                  <p:cNvSpPr/>
                  <p:nvPr/>
                </p:nvSpPr>
                <p:spPr>
                  <a:xfrm>
                    <a:off x="2560320" y="2980944"/>
                    <a:ext cx="1874520" cy="256032"/>
                  </a:xfrm>
                  <a:prstGeom prst="rect">
                    <a:avLst/>
                  </a:prstGeom>
                  <a:noFill/>
                  <a:ln/>
                </p:spPr>
                <p:txBody>
                  <a:bodyPr wrap="square" lIns="0" tIns="0" rIns="0" bIns="0" rtlCol="0" anchor="ctr"/>
                  <a:lstStyle/>
                  <a:p>
                    <a:pPr marL="0" indent="0">
                      <a:buNone/>
                    </a:pPr>
                    <a:r>
                      <a:rPr lang="en-US" sz="1100" dirty="0">
                        <a:solidFill>
                          <a:srgbClr val="E8E4FF"/>
                        </a:solidFill>
                      </a:rPr>
                      <a:t>• #3 largest bank by customers</a:t>
                    </a:r>
                    <a:endParaRPr lang="en-US" sz="1100" dirty="0"/>
                  </a:p>
                </p:txBody>
              </p:sp>
            </p:grpSp>
            <p:grpSp>
              <p:nvGrpSpPr>
                <p:cNvPr id="50" name="Group 49">
                  <a:extLst>
                    <a:ext uri="{FF2B5EF4-FFF2-40B4-BE49-F238E27FC236}">
                      <a16:creationId xmlns:a16="http://schemas.microsoft.com/office/drawing/2014/main" id="{980244BB-FB46-307C-29FA-2C9BA4B9EE35}"/>
                    </a:ext>
                  </a:extLst>
                </p:cNvPr>
                <p:cNvGrpSpPr/>
                <p:nvPr/>
              </p:nvGrpSpPr>
              <p:grpSpPr>
                <a:xfrm>
                  <a:off x="4709160" y="2274339"/>
                  <a:ext cx="1874520" cy="1078992"/>
                  <a:chOff x="4709160" y="2157984"/>
                  <a:chExt cx="1874520" cy="1078992"/>
                </a:xfrm>
              </p:grpSpPr>
              <p:sp>
                <p:nvSpPr>
                  <p:cNvPr id="31" name="Text 29"/>
                  <p:cNvSpPr/>
                  <p:nvPr/>
                </p:nvSpPr>
                <p:spPr>
                  <a:xfrm>
                    <a:off x="4709160" y="2157984"/>
                    <a:ext cx="1874520" cy="256032"/>
                  </a:xfrm>
                  <a:prstGeom prst="rect">
                    <a:avLst/>
                  </a:prstGeom>
                  <a:noFill/>
                  <a:ln/>
                </p:spPr>
                <p:txBody>
                  <a:bodyPr wrap="square" lIns="0" tIns="0" rIns="0" bIns="0" rtlCol="0" anchor="ctr"/>
                  <a:lstStyle/>
                  <a:p>
                    <a:pPr marL="0" indent="0">
                      <a:buNone/>
                    </a:pPr>
                    <a:r>
                      <a:rPr lang="en-US" sz="1100" dirty="0">
                        <a:solidFill>
                          <a:srgbClr val="E8E4FF"/>
                        </a:solidFill>
                      </a:rPr>
                      <a:t>• ~4M customers</a:t>
                    </a:r>
                    <a:endParaRPr lang="en-US" sz="1100" dirty="0"/>
                  </a:p>
                </p:txBody>
              </p:sp>
              <p:sp>
                <p:nvSpPr>
                  <p:cNvPr id="32" name="Text 30"/>
                  <p:cNvSpPr/>
                  <p:nvPr/>
                </p:nvSpPr>
                <p:spPr>
                  <a:xfrm>
                    <a:off x="4709160" y="2432304"/>
                    <a:ext cx="1874520" cy="256032"/>
                  </a:xfrm>
                  <a:prstGeom prst="rect">
                    <a:avLst/>
                  </a:prstGeom>
                  <a:noFill/>
                  <a:ln/>
                </p:spPr>
                <p:txBody>
                  <a:bodyPr wrap="square" lIns="0" tIns="0" rIns="0" bIns="0" rtlCol="0" anchor="ctr"/>
                  <a:lstStyle/>
                  <a:p>
                    <a:pPr marL="0" indent="0">
                      <a:buNone/>
                    </a:pPr>
                    <a:r>
                      <a:rPr lang="en-US" sz="1100" dirty="0">
                        <a:solidFill>
                          <a:srgbClr val="E8E4FF"/>
                        </a:solidFill>
                      </a:rPr>
                      <a:t>• Rev: $237M FY2025</a:t>
                    </a:r>
                    <a:endParaRPr lang="en-US" sz="1100" dirty="0"/>
                  </a:p>
                </p:txBody>
              </p:sp>
              <p:sp>
                <p:nvSpPr>
                  <p:cNvPr id="33" name="Text 31"/>
                  <p:cNvSpPr/>
                  <p:nvPr/>
                </p:nvSpPr>
                <p:spPr>
                  <a:xfrm>
                    <a:off x="4709160" y="2706624"/>
                    <a:ext cx="1874520" cy="256032"/>
                  </a:xfrm>
                  <a:prstGeom prst="rect">
                    <a:avLst/>
                  </a:prstGeom>
                  <a:noFill/>
                  <a:ln/>
                </p:spPr>
                <p:txBody>
                  <a:bodyPr wrap="square" lIns="0" tIns="0" rIns="0" bIns="0" rtlCol="0" anchor="ctr"/>
                  <a:lstStyle/>
                  <a:p>
                    <a:pPr marL="0" indent="0">
                      <a:buNone/>
                    </a:pPr>
                    <a:r>
                      <a:rPr lang="en-US" sz="1100" dirty="0">
                        <a:solidFill>
                          <a:srgbClr val="E8E4FF"/>
                        </a:solidFill>
                      </a:rPr>
                      <a:t>• Still pre-profit</a:t>
                    </a:r>
                    <a:endParaRPr lang="en-US" sz="1100" dirty="0"/>
                  </a:p>
                </p:txBody>
              </p:sp>
              <p:sp>
                <p:nvSpPr>
                  <p:cNvPr id="34" name="Text 32"/>
                  <p:cNvSpPr/>
                  <p:nvPr/>
                </p:nvSpPr>
                <p:spPr>
                  <a:xfrm>
                    <a:off x="4709160" y="2980944"/>
                    <a:ext cx="1874520" cy="256032"/>
                  </a:xfrm>
                  <a:prstGeom prst="rect">
                    <a:avLst/>
                  </a:prstGeom>
                  <a:noFill/>
                  <a:ln/>
                </p:spPr>
                <p:txBody>
                  <a:bodyPr wrap="square" lIns="0" tIns="0" rIns="0" bIns="0" rtlCol="0" anchor="ctr"/>
                  <a:lstStyle/>
                  <a:p>
                    <a:pPr marL="0" indent="0">
                      <a:buNone/>
                    </a:pPr>
                    <a:r>
                      <a:rPr lang="en-US" sz="1100" dirty="0">
                        <a:solidFill>
                          <a:srgbClr val="E8E4FF"/>
                        </a:solidFill>
                      </a:rPr>
                      <a:t>• Fastest customer adds</a:t>
                    </a:r>
                    <a:endParaRPr lang="en-US" sz="1100" dirty="0"/>
                  </a:p>
                </p:txBody>
              </p:sp>
            </p:grpSp>
            <p:grpSp>
              <p:nvGrpSpPr>
                <p:cNvPr id="51" name="Group 50">
                  <a:extLst>
                    <a:ext uri="{FF2B5EF4-FFF2-40B4-BE49-F238E27FC236}">
                      <a16:creationId xmlns:a16="http://schemas.microsoft.com/office/drawing/2014/main" id="{46F5AB84-D497-124D-AA01-56B8AB02B949}"/>
                    </a:ext>
                  </a:extLst>
                </p:cNvPr>
                <p:cNvGrpSpPr/>
                <p:nvPr/>
              </p:nvGrpSpPr>
              <p:grpSpPr>
                <a:xfrm>
                  <a:off x="6858000" y="2249424"/>
                  <a:ext cx="1874520" cy="1078992"/>
                  <a:chOff x="6858000" y="2157984"/>
                  <a:chExt cx="1874520" cy="1078992"/>
                </a:xfrm>
              </p:grpSpPr>
              <p:sp>
                <p:nvSpPr>
                  <p:cNvPr id="41" name="Text 39"/>
                  <p:cNvSpPr/>
                  <p:nvPr/>
                </p:nvSpPr>
                <p:spPr>
                  <a:xfrm>
                    <a:off x="6858000" y="2157984"/>
                    <a:ext cx="1874520" cy="256032"/>
                  </a:xfrm>
                  <a:prstGeom prst="rect">
                    <a:avLst/>
                  </a:prstGeom>
                  <a:noFill/>
                  <a:ln/>
                </p:spPr>
                <p:txBody>
                  <a:bodyPr wrap="square" lIns="0" tIns="0" rIns="0" bIns="0" rtlCol="0" anchor="ctr"/>
                  <a:lstStyle/>
                  <a:p>
                    <a:pPr marL="0" indent="0">
                      <a:buNone/>
                    </a:pPr>
                    <a:r>
                      <a:rPr lang="en-US" sz="1100" dirty="0">
                        <a:solidFill>
                          <a:srgbClr val="E8E4FF"/>
                        </a:solidFill>
                      </a:rPr>
                      <a:t>• Conditional bank charter</a:t>
                    </a:r>
                    <a:endParaRPr lang="en-US" sz="1100" dirty="0"/>
                  </a:p>
                </p:txBody>
              </p:sp>
              <p:sp>
                <p:nvSpPr>
                  <p:cNvPr id="42" name="Text 40"/>
                  <p:cNvSpPr/>
                  <p:nvPr/>
                </p:nvSpPr>
                <p:spPr>
                  <a:xfrm>
                    <a:off x="6858000" y="2432304"/>
                    <a:ext cx="1874520" cy="256032"/>
                  </a:xfrm>
                  <a:prstGeom prst="rect">
                    <a:avLst/>
                  </a:prstGeom>
                  <a:noFill/>
                  <a:ln/>
                </p:spPr>
                <p:txBody>
                  <a:bodyPr wrap="square" lIns="0" tIns="0" rIns="0" bIns="0" rtlCol="0" anchor="ctr"/>
                  <a:lstStyle/>
                  <a:p>
                    <a:pPr marL="0" indent="0">
                      <a:buNone/>
                    </a:pPr>
                    <a:r>
                      <a:rPr lang="en-US" sz="1100" dirty="0">
                        <a:solidFill>
                          <a:srgbClr val="E8E4FF"/>
                        </a:solidFill>
                      </a:rPr>
                      <a:t>• AI capabilities lead</a:t>
                    </a:r>
                    <a:endParaRPr lang="en-US" sz="1100" dirty="0"/>
                  </a:p>
                </p:txBody>
              </p:sp>
              <p:sp>
                <p:nvSpPr>
                  <p:cNvPr id="43" name="Text 41"/>
                  <p:cNvSpPr/>
                  <p:nvPr/>
                </p:nvSpPr>
                <p:spPr>
                  <a:xfrm>
                    <a:off x="6858000" y="2706624"/>
                    <a:ext cx="1874520" cy="256032"/>
                  </a:xfrm>
                  <a:prstGeom prst="rect">
                    <a:avLst/>
                  </a:prstGeom>
                  <a:noFill/>
                  <a:ln/>
                </p:spPr>
                <p:txBody>
                  <a:bodyPr wrap="square" lIns="0" tIns="0" rIns="0" bIns="0" rtlCol="0" anchor="ctr"/>
                  <a:lstStyle/>
                  <a:p>
                    <a:pPr marL="0" indent="0">
                      <a:buNone/>
                    </a:pPr>
                    <a:r>
                      <a:rPr lang="en-US" sz="1100" dirty="0">
                        <a:solidFill>
                          <a:srgbClr val="E8E4FF"/>
                        </a:solidFill>
                      </a:rPr>
                      <a:t>• New CFO from Visa</a:t>
                    </a:r>
                    <a:endParaRPr lang="en-US" sz="1100" dirty="0"/>
                  </a:p>
                </p:txBody>
              </p:sp>
              <p:sp>
                <p:nvSpPr>
                  <p:cNvPr id="44" name="Text 42"/>
                  <p:cNvSpPr/>
                  <p:nvPr/>
                </p:nvSpPr>
                <p:spPr>
                  <a:xfrm>
                    <a:off x="6858000" y="2980944"/>
                    <a:ext cx="1874520" cy="256032"/>
                  </a:xfrm>
                  <a:prstGeom prst="rect">
                    <a:avLst/>
                  </a:prstGeom>
                  <a:noFill/>
                  <a:ln/>
                </p:spPr>
                <p:txBody>
                  <a:bodyPr wrap="square" lIns="0" tIns="0" rIns="0" bIns="0" rtlCol="0" anchor="ctr"/>
                  <a:lstStyle/>
                  <a:p>
                    <a:pPr marL="0" indent="0">
                      <a:buNone/>
                    </a:pPr>
                    <a:r>
                      <a:rPr lang="en-US" sz="1100" dirty="0">
                        <a:solidFill>
                          <a:srgbClr val="E8E4FF"/>
                        </a:solidFill>
                      </a:rPr>
                      <a:t>• Targeting 2027 launch</a:t>
                    </a:r>
                    <a:endParaRPr lang="en-US" sz="1100" dirty="0"/>
                  </a:p>
                </p:txBody>
              </p:sp>
            </p:grpSp>
          </p:grpSp>
        </p:grpSp>
        <p:sp>
          <p:nvSpPr>
            <p:cNvPr id="9" name="Text 7"/>
            <p:cNvSpPr/>
            <p:nvPr/>
          </p:nvSpPr>
          <p:spPr>
            <a:xfrm>
              <a:off x="411480" y="1508760"/>
              <a:ext cx="1874520" cy="219456"/>
            </a:xfrm>
            <a:prstGeom prst="rect">
              <a:avLst/>
            </a:prstGeom>
            <a:noFill/>
            <a:ln/>
          </p:spPr>
          <p:txBody>
            <a:bodyPr wrap="square" lIns="0" tIns="0" rIns="0" bIns="0" rtlCol="0" anchor="ctr"/>
            <a:lstStyle/>
            <a:p>
              <a:pPr marL="0" indent="0" algn="ctr">
                <a:buNone/>
              </a:pPr>
              <a:r>
                <a:rPr lang="en-US" sz="1050" b="1" dirty="0">
                  <a:solidFill>
                    <a:srgbClr val="6C3BF5"/>
                  </a:solidFill>
                </a:rPr>
                <a:t>MATURE / MONETIZING</a:t>
              </a:r>
              <a:endParaRPr lang="en-US" sz="1050" dirty="0"/>
            </a:p>
          </p:txBody>
        </p:sp>
        <p:sp>
          <p:nvSpPr>
            <p:cNvPr id="15" name="Text 13"/>
            <p:cNvSpPr/>
            <p:nvPr/>
          </p:nvSpPr>
          <p:spPr>
            <a:xfrm>
              <a:off x="411480" y="3740399"/>
              <a:ext cx="1874520" cy="685800"/>
            </a:xfrm>
            <a:prstGeom prst="rect">
              <a:avLst/>
            </a:prstGeom>
            <a:noFill/>
            <a:ln/>
          </p:spPr>
          <p:txBody>
            <a:bodyPr wrap="square" lIns="0" tIns="0" rIns="0" bIns="0" rtlCol="0" anchor="ctr"/>
            <a:lstStyle/>
            <a:p>
              <a:pPr marL="0" indent="0">
                <a:buNone/>
              </a:pPr>
              <a:r>
                <a:rPr lang="en-US" sz="1100" dirty="0">
                  <a:solidFill>
                    <a:srgbClr val="9B96C9"/>
                  </a:solidFill>
                </a:rPr>
                <a:t>The core machine. Approaching monopoly-like penetration. Focus shifts to ARPAC growth: payroll loans, investments, insurance, and AI-powered credit expansion.</a:t>
              </a:r>
              <a:endParaRPr lang="en-US" sz="1100" dirty="0"/>
            </a:p>
          </p:txBody>
        </p:sp>
        <p:sp>
          <p:nvSpPr>
            <p:cNvPr id="19" name="Text 17"/>
            <p:cNvSpPr/>
            <p:nvPr/>
          </p:nvSpPr>
          <p:spPr>
            <a:xfrm>
              <a:off x="2560320" y="1508760"/>
              <a:ext cx="1874520" cy="219456"/>
            </a:xfrm>
            <a:prstGeom prst="rect">
              <a:avLst/>
            </a:prstGeom>
            <a:noFill/>
            <a:ln/>
          </p:spPr>
          <p:txBody>
            <a:bodyPr wrap="square" lIns="0" tIns="0" rIns="0" bIns="0" rtlCol="0" anchor="ctr"/>
            <a:lstStyle/>
            <a:p>
              <a:pPr marL="0" indent="0" algn="ctr">
                <a:buNone/>
              </a:pPr>
              <a:r>
                <a:rPr lang="en-US" sz="1050" b="1" dirty="0">
                  <a:solidFill>
                    <a:srgbClr val="00D4AA"/>
                  </a:solidFill>
                </a:rPr>
                <a:t>INFLECTION POINT</a:t>
              </a:r>
              <a:endParaRPr lang="en-US" sz="1050" dirty="0"/>
            </a:p>
          </p:txBody>
        </p:sp>
        <p:sp>
          <p:nvSpPr>
            <p:cNvPr id="25" name="Text 23"/>
            <p:cNvSpPr/>
            <p:nvPr/>
          </p:nvSpPr>
          <p:spPr>
            <a:xfrm>
              <a:off x="2560320" y="3794760"/>
              <a:ext cx="1874520" cy="685800"/>
            </a:xfrm>
            <a:prstGeom prst="rect">
              <a:avLst/>
            </a:prstGeom>
            <a:noFill/>
            <a:ln/>
          </p:spPr>
          <p:txBody>
            <a:bodyPr wrap="square" lIns="0" tIns="0" rIns="0" bIns="0" rtlCol="0" anchor="ctr"/>
            <a:lstStyle/>
            <a:p>
              <a:pPr marL="0" indent="0">
                <a:buNone/>
              </a:pPr>
              <a:r>
                <a:rPr lang="en-US" sz="1100" dirty="0">
                  <a:solidFill>
                    <a:srgbClr val="9B96C9"/>
                  </a:solidFill>
                </a:rPr>
                <a:t>Mexico has crossed the profitability threshold in Q1 2026 — the identical inflection Brazil hit in 2019. Nu is now the 3rd largest financial institution in Mexico by customer count.</a:t>
              </a:r>
              <a:endParaRPr lang="en-US" sz="1100" dirty="0"/>
            </a:p>
          </p:txBody>
        </p:sp>
        <p:sp>
          <p:nvSpPr>
            <p:cNvPr id="29" name="Text 27"/>
            <p:cNvSpPr/>
            <p:nvPr/>
          </p:nvSpPr>
          <p:spPr>
            <a:xfrm>
              <a:off x="4709160" y="1508760"/>
              <a:ext cx="1874520" cy="219456"/>
            </a:xfrm>
            <a:prstGeom prst="rect">
              <a:avLst/>
            </a:prstGeom>
            <a:noFill/>
            <a:ln/>
          </p:spPr>
          <p:txBody>
            <a:bodyPr wrap="square" lIns="0" tIns="0" rIns="0" bIns="0" rtlCol="0" anchor="ctr"/>
            <a:lstStyle/>
            <a:p>
              <a:pPr marL="0" indent="0" algn="ctr">
                <a:buNone/>
              </a:pPr>
              <a:r>
                <a:rPr lang="en-US" sz="1050" b="1" dirty="0">
                  <a:solidFill>
                    <a:srgbClr val="6C3BF5"/>
                  </a:solidFill>
                </a:rPr>
                <a:t>EARLY GROWTH</a:t>
              </a:r>
              <a:endParaRPr lang="en-US" sz="1050" dirty="0"/>
            </a:p>
          </p:txBody>
        </p:sp>
        <p:sp>
          <p:nvSpPr>
            <p:cNvPr id="35" name="Text 33"/>
            <p:cNvSpPr/>
            <p:nvPr/>
          </p:nvSpPr>
          <p:spPr>
            <a:xfrm>
              <a:off x="4709160" y="3730164"/>
              <a:ext cx="1874520" cy="685800"/>
            </a:xfrm>
            <a:prstGeom prst="rect">
              <a:avLst/>
            </a:prstGeom>
            <a:noFill/>
            <a:ln/>
          </p:spPr>
          <p:txBody>
            <a:bodyPr wrap="square" lIns="0" tIns="0" rIns="0" bIns="0" rtlCol="0" anchor="ctr"/>
            <a:lstStyle/>
            <a:p>
              <a:pPr marL="0" indent="0">
                <a:buNone/>
              </a:pPr>
              <a:r>
                <a:rPr lang="en-US" sz="1100" dirty="0">
                  <a:solidFill>
                    <a:srgbClr val="9B96C9"/>
                  </a:solidFill>
                </a:rPr>
                <a:t>Replicating the Mexico playbook. Nu sees Colombia as a 15–20M customer opportunity. Currently investing in brand building and credit portfolio quality.</a:t>
              </a:r>
              <a:endParaRPr lang="en-US" sz="1100" dirty="0"/>
            </a:p>
          </p:txBody>
        </p:sp>
        <p:sp>
          <p:nvSpPr>
            <p:cNvPr id="39" name="Text 37"/>
            <p:cNvSpPr/>
            <p:nvPr/>
          </p:nvSpPr>
          <p:spPr>
            <a:xfrm>
              <a:off x="6858000" y="1508760"/>
              <a:ext cx="1874520" cy="219456"/>
            </a:xfrm>
            <a:prstGeom prst="rect">
              <a:avLst/>
            </a:prstGeom>
            <a:noFill/>
            <a:ln/>
          </p:spPr>
          <p:txBody>
            <a:bodyPr wrap="square" lIns="0" tIns="0" rIns="0" bIns="0" rtlCol="0" anchor="ctr"/>
            <a:lstStyle/>
            <a:p>
              <a:pPr marL="0" indent="0" algn="ctr">
                <a:buNone/>
              </a:pPr>
              <a:r>
                <a:rPr lang="en-US" sz="1050" b="1" dirty="0">
                  <a:solidFill>
                    <a:srgbClr val="00D4AA"/>
                  </a:solidFill>
                </a:rPr>
                <a:t>STRATEGIC OPTION</a:t>
              </a:r>
              <a:endParaRPr lang="en-US" sz="1050" dirty="0"/>
            </a:p>
          </p:txBody>
        </p:sp>
        <p:sp>
          <p:nvSpPr>
            <p:cNvPr id="45" name="Text 43"/>
            <p:cNvSpPr/>
            <p:nvPr/>
          </p:nvSpPr>
          <p:spPr>
            <a:xfrm>
              <a:off x="6858000" y="3762756"/>
              <a:ext cx="1874520" cy="685800"/>
            </a:xfrm>
            <a:prstGeom prst="rect">
              <a:avLst/>
            </a:prstGeom>
            <a:noFill/>
            <a:ln/>
          </p:spPr>
          <p:txBody>
            <a:bodyPr wrap="square" lIns="0" tIns="0" rIns="0" bIns="0" rtlCol="0" anchor="ctr"/>
            <a:lstStyle/>
            <a:p>
              <a:pPr marL="0" indent="0">
                <a:buNone/>
              </a:pPr>
              <a:r>
                <a:rPr lang="en-US" sz="1100" dirty="0">
                  <a:solidFill>
                    <a:srgbClr val="9B96C9"/>
                  </a:solidFill>
                </a:rPr>
                <a:t>Nu received conditional US bank charter approval in early 2026. Incoming CFO Rob Livingston (ex-Visa) brings US market expertise. Represents a multi-decade optionality play.</a:t>
              </a:r>
              <a:endParaRPr lang="en-US" sz="1100" dirty="0"/>
            </a:p>
          </p:txBody>
        </p:sp>
      </p:grpSp>
      <p:sp>
        <p:nvSpPr>
          <p:cNvPr id="46" name="Shape 44"/>
          <p:cNvSpPr/>
          <p:nvPr/>
        </p:nvSpPr>
        <p:spPr>
          <a:xfrm>
            <a:off x="320040" y="4800600"/>
            <a:ext cx="8503920" cy="201168"/>
          </a:xfrm>
          <a:prstGeom prst="rect">
            <a:avLst/>
          </a:prstGeom>
          <a:solidFill>
            <a:srgbClr val="4B1FD4"/>
          </a:solidFill>
          <a:ln/>
        </p:spPr>
      </p:sp>
      <p:sp>
        <p:nvSpPr>
          <p:cNvPr id="47" name="Text 45"/>
          <p:cNvSpPr/>
          <p:nvPr/>
        </p:nvSpPr>
        <p:spPr>
          <a:xfrm>
            <a:off x="457200" y="4818888"/>
            <a:ext cx="8321040" cy="164592"/>
          </a:xfrm>
          <a:prstGeom prst="rect">
            <a:avLst/>
          </a:prstGeom>
          <a:noFill/>
          <a:ln/>
        </p:spPr>
        <p:txBody>
          <a:bodyPr wrap="square" lIns="0" tIns="0" rIns="0" bIns="0" rtlCol="0" anchor="ctr"/>
          <a:lstStyle/>
          <a:p>
            <a:pPr marL="0" indent="0">
              <a:buNone/>
            </a:pPr>
            <a:r>
              <a:rPr lang="en-US" sz="1000" dirty="0">
                <a:solidFill>
                  <a:srgbClr val="FFFFFF"/>
                </a:solidFill>
              </a:rPr>
              <a:t>Total Addressable Market: 650M+ adults in LatAm. Brazil = ~215M. Mexico = ~130M. Colombia = ~50M. US = optionality. Nu has barely scratched the surface.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0A1F"/>
        </a:solidFill>
        <a:effectLst/>
      </p:bgPr>
    </p:bg>
    <p:spTree>
      <p:nvGrpSpPr>
        <p:cNvPr id="1" name=""/>
        <p:cNvGrpSpPr/>
        <p:nvPr/>
      </p:nvGrpSpPr>
      <p:grpSpPr>
        <a:xfrm>
          <a:off x="0" y="0"/>
          <a:ext cx="0" cy="0"/>
          <a:chOff x="0" y="0"/>
          <a:chExt cx="0" cy="0"/>
        </a:xfrm>
      </p:grpSpPr>
      <p:sp>
        <p:nvSpPr>
          <p:cNvPr id="2" name="Shape 0"/>
          <p:cNvSpPr/>
          <p:nvPr/>
        </p:nvSpPr>
        <p:spPr>
          <a:xfrm>
            <a:off x="320040" y="164592"/>
            <a:ext cx="4151292" cy="256032"/>
          </a:xfrm>
          <a:prstGeom prst="roundRect">
            <a:avLst>
              <a:gd name="adj" fmla="val 28571"/>
            </a:avLst>
          </a:prstGeom>
          <a:solidFill>
            <a:srgbClr val="6C3BF5"/>
          </a:solidFill>
          <a:ln/>
        </p:spPr>
      </p:sp>
      <p:sp>
        <p:nvSpPr>
          <p:cNvPr id="3" name="Text 1"/>
          <p:cNvSpPr/>
          <p:nvPr/>
        </p:nvSpPr>
        <p:spPr>
          <a:xfrm>
            <a:off x="457200" y="164592"/>
            <a:ext cx="4092569" cy="256032"/>
          </a:xfrm>
          <a:prstGeom prst="rect">
            <a:avLst/>
          </a:prstGeom>
          <a:noFill/>
          <a:ln/>
        </p:spPr>
        <p:txBody>
          <a:bodyPr wrap="square" lIns="0" tIns="0" rIns="0" bIns="0" rtlCol="0" anchor="ctr"/>
          <a:lstStyle/>
          <a:p>
            <a:pPr marL="0" indent="0">
              <a:buNone/>
            </a:pPr>
            <a:r>
              <a:rPr lang="en-US" sz="1100" b="1" dirty="0">
                <a:solidFill>
                  <a:srgbClr val="FFFFFF"/>
                </a:solidFill>
              </a:rPr>
              <a:t>SECTION 5: AI STRATEGY &amp; PRODUCT ROADMAP</a:t>
            </a:r>
            <a:endParaRPr lang="en-US" sz="1100" dirty="0"/>
          </a:p>
        </p:txBody>
      </p:sp>
      <p:sp>
        <p:nvSpPr>
          <p:cNvPr id="4" name="Text 2"/>
          <p:cNvSpPr/>
          <p:nvPr/>
        </p:nvSpPr>
        <p:spPr>
          <a:xfrm>
            <a:off x="320040" y="457200"/>
            <a:ext cx="8503920" cy="502920"/>
          </a:xfrm>
          <a:prstGeom prst="rect">
            <a:avLst/>
          </a:prstGeom>
          <a:noFill/>
          <a:ln/>
        </p:spPr>
        <p:txBody>
          <a:bodyPr wrap="square" lIns="0" tIns="0" rIns="0" bIns="0" rtlCol="0" anchor="ctr"/>
          <a:lstStyle/>
          <a:p>
            <a:pPr marL="0" indent="0">
              <a:buNone/>
            </a:pPr>
            <a:r>
              <a:rPr lang="en-US" sz="2000" b="1" dirty="0">
                <a:solidFill>
                  <a:srgbClr val="FFFFFF"/>
                </a:solidFill>
              </a:rPr>
              <a:t>"We Are Not Adding AI to Banking — We Are Rebuilding Banking Around AI"</a:t>
            </a:r>
            <a:endParaRPr lang="en-US" sz="2000" dirty="0"/>
          </a:p>
        </p:txBody>
      </p:sp>
      <p:sp>
        <p:nvSpPr>
          <p:cNvPr id="5" name="Text 3"/>
          <p:cNvSpPr/>
          <p:nvPr/>
        </p:nvSpPr>
        <p:spPr>
          <a:xfrm>
            <a:off x="320040" y="960120"/>
            <a:ext cx="8503920" cy="256032"/>
          </a:xfrm>
          <a:prstGeom prst="rect">
            <a:avLst/>
          </a:prstGeom>
          <a:noFill/>
          <a:ln/>
        </p:spPr>
        <p:txBody>
          <a:bodyPr wrap="square" lIns="0" tIns="0" rIns="0" bIns="0" rtlCol="0" anchor="ctr"/>
          <a:lstStyle/>
          <a:p>
            <a:pPr marL="0" indent="0">
              <a:buNone/>
            </a:pPr>
            <a:r>
              <a:rPr lang="en-US" sz="1100" i="1" dirty="0">
                <a:solidFill>
                  <a:srgbClr val="00D4AA"/>
                </a:solidFill>
              </a:rPr>
              <a:t>— David Vélez, CEO, Q1 2026 Earnings Call</a:t>
            </a:r>
            <a:endParaRPr lang="en-US" sz="1100" dirty="0"/>
          </a:p>
        </p:txBody>
      </p:sp>
      <p:sp>
        <p:nvSpPr>
          <p:cNvPr id="6" name="Shape 4"/>
          <p:cNvSpPr/>
          <p:nvPr/>
        </p:nvSpPr>
        <p:spPr>
          <a:xfrm>
            <a:off x="320040" y="1417320"/>
            <a:ext cx="2743200" cy="1481328"/>
          </a:xfrm>
          <a:prstGeom prst="rect">
            <a:avLst/>
          </a:prstGeom>
          <a:solidFill>
            <a:srgbClr val="1E1850"/>
          </a:solidFill>
          <a:ln/>
          <a:effectLst>
            <a:outerShdw blurRad="152400" dist="50800" dir="8100000" algn="bl" rotWithShape="0">
              <a:srgbClr val="000000">
                <a:alpha val="25000"/>
              </a:srgbClr>
            </a:outerShdw>
          </a:effectLst>
        </p:spPr>
      </p:sp>
      <p:sp>
        <p:nvSpPr>
          <p:cNvPr id="7" name="Shape 5"/>
          <p:cNvSpPr/>
          <p:nvPr/>
        </p:nvSpPr>
        <p:spPr>
          <a:xfrm>
            <a:off x="320040" y="1417320"/>
            <a:ext cx="54864" cy="1481328"/>
          </a:xfrm>
          <a:prstGeom prst="rect">
            <a:avLst/>
          </a:prstGeom>
          <a:solidFill>
            <a:srgbClr val="24D66B"/>
          </a:solidFill>
          <a:ln/>
        </p:spPr>
      </p:sp>
      <p:sp>
        <p:nvSpPr>
          <p:cNvPr id="8" name="Shape 6"/>
          <p:cNvSpPr/>
          <p:nvPr/>
        </p:nvSpPr>
        <p:spPr>
          <a:xfrm>
            <a:off x="457200" y="1508760"/>
            <a:ext cx="1280160" cy="201168"/>
          </a:xfrm>
          <a:prstGeom prst="roundRect">
            <a:avLst>
              <a:gd name="adj" fmla="val 22727"/>
            </a:avLst>
          </a:prstGeom>
          <a:solidFill>
            <a:srgbClr val="24D66B">
              <a:alpha val="20000"/>
            </a:srgbClr>
          </a:solidFill>
          <a:ln/>
        </p:spPr>
      </p:sp>
      <p:sp>
        <p:nvSpPr>
          <p:cNvPr id="9" name="Text 7"/>
          <p:cNvSpPr/>
          <p:nvPr/>
        </p:nvSpPr>
        <p:spPr>
          <a:xfrm>
            <a:off x="457200" y="1508760"/>
            <a:ext cx="1280160" cy="201168"/>
          </a:xfrm>
          <a:prstGeom prst="rect">
            <a:avLst/>
          </a:prstGeom>
          <a:noFill/>
          <a:ln/>
        </p:spPr>
        <p:txBody>
          <a:bodyPr wrap="square" lIns="0" tIns="0" rIns="0" bIns="0" rtlCol="0" anchor="ctr"/>
          <a:lstStyle/>
          <a:p>
            <a:pPr marL="0" indent="0" algn="ctr">
              <a:buNone/>
            </a:pPr>
            <a:r>
              <a:rPr lang="en-US" sz="1100" b="1" dirty="0">
                <a:solidFill>
                  <a:srgbClr val="24D66B"/>
                </a:solidFill>
              </a:rPr>
              <a:t>LIVE / PRODUCTION</a:t>
            </a:r>
            <a:endParaRPr lang="en-US" sz="1100" dirty="0"/>
          </a:p>
        </p:txBody>
      </p:sp>
      <p:sp>
        <p:nvSpPr>
          <p:cNvPr id="10" name="Text 8"/>
          <p:cNvSpPr/>
          <p:nvPr/>
        </p:nvSpPr>
        <p:spPr>
          <a:xfrm>
            <a:off x="457200" y="1764792"/>
            <a:ext cx="2514600" cy="274320"/>
          </a:xfrm>
          <a:prstGeom prst="rect">
            <a:avLst/>
          </a:prstGeom>
          <a:noFill/>
          <a:ln/>
        </p:spPr>
        <p:txBody>
          <a:bodyPr wrap="square" lIns="0" tIns="0" rIns="0" bIns="0" rtlCol="0" anchor="ctr"/>
          <a:lstStyle/>
          <a:p>
            <a:pPr marL="0" indent="0">
              <a:buNone/>
            </a:pPr>
            <a:r>
              <a:rPr lang="en-US" sz="1100" b="1" dirty="0">
                <a:solidFill>
                  <a:srgbClr val="FFFFFF"/>
                </a:solidFill>
              </a:rPr>
              <a:t>AI Underwriting Engine</a:t>
            </a:r>
            <a:endParaRPr lang="en-US" sz="1100" dirty="0"/>
          </a:p>
        </p:txBody>
      </p:sp>
      <p:sp>
        <p:nvSpPr>
          <p:cNvPr id="11" name="Text 9"/>
          <p:cNvSpPr/>
          <p:nvPr/>
        </p:nvSpPr>
        <p:spPr>
          <a:xfrm>
            <a:off x="457200" y="2075688"/>
            <a:ext cx="2514600" cy="749808"/>
          </a:xfrm>
          <a:prstGeom prst="rect">
            <a:avLst/>
          </a:prstGeom>
          <a:noFill/>
          <a:ln/>
        </p:spPr>
        <p:txBody>
          <a:bodyPr wrap="square" lIns="0" tIns="0" rIns="0" bIns="0" rtlCol="0" anchor="ctr"/>
          <a:lstStyle/>
          <a:p>
            <a:pPr marL="0" indent="0">
              <a:buNone/>
            </a:pPr>
            <a:r>
              <a:rPr lang="en-US" sz="1050" dirty="0">
                <a:solidFill>
                  <a:srgbClr val="E8E4FF"/>
                </a:solidFill>
              </a:rPr>
              <a:t>Proprietary credit models powering $37.2B portfolio with NPL ratios well below industry. 15M+ monthly active users of AI features. Enables credit expansion with discipline.</a:t>
            </a:r>
            <a:endParaRPr lang="en-US" sz="1050" dirty="0"/>
          </a:p>
        </p:txBody>
      </p:sp>
      <p:sp>
        <p:nvSpPr>
          <p:cNvPr id="12" name="Shape 10"/>
          <p:cNvSpPr/>
          <p:nvPr/>
        </p:nvSpPr>
        <p:spPr>
          <a:xfrm>
            <a:off x="3200400" y="1417320"/>
            <a:ext cx="2743200" cy="1481328"/>
          </a:xfrm>
          <a:prstGeom prst="rect">
            <a:avLst/>
          </a:prstGeom>
          <a:solidFill>
            <a:srgbClr val="1E1850"/>
          </a:solidFill>
          <a:ln/>
          <a:effectLst>
            <a:outerShdw blurRad="152400" dist="50800" dir="8100000" algn="bl" rotWithShape="0">
              <a:srgbClr val="000000">
                <a:alpha val="25000"/>
              </a:srgbClr>
            </a:outerShdw>
          </a:effectLst>
        </p:spPr>
      </p:sp>
      <p:sp>
        <p:nvSpPr>
          <p:cNvPr id="13" name="Shape 11"/>
          <p:cNvSpPr/>
          <p:nvPr/>
        </p:nvSpPr>
        <p:spPr>
          <a:xfrm>
            <a:off x="3200400" y="1417320"/>
            <a:ext cx="54864" cy="1481328"/>
          </a:xfrm>
          <a:prstGeom prst="rect">
            <a:avLst/>
          </a:prstGeom>
          <a:solidFill>
            <a:srgbClr val="24D66B"/>
          </a:solidFill>
          <a:ln/>
        </p:spPr>
      </p:sp>
      <p:sp>
        <p:nvSpPr>
          <p:cNvPr id="14" name="Shape 12"/>
          <p:cNvSpPr/>
          <p:nvPr/>
        </p:nvSpPr>
        <p:spPr>
          <a:xfrm>
            <a:off x="3337560" y="1508760"/>
            <a:ext cx="1280160" cy="201168"/>
          </a:xfrm>
          <a:prstGeom prst="roundRect">
            <a:avLst>
              <a:gd name="adj" fmla="val 22727"/>
            </a:avLst>
          </a:prstGeom>
          <a:solidFill>
            <a:srgbClr val="24D66B">
              <a:alpha val="20000"/>
            </a:srgbClr>
          </a:solidFill>
          <a:ln/>
        </p:spPr>
      </p:sp>
      <p:sp>
        <p:nvSpPr>
          <p:cNvPr id="15" name="Text 13"/>
          <p:cNvSpPr/>
          <p:nvPr/>
        </p:nvSpPr>
        <p:spPr>
          <a:xfrm>
            <a:off x="3337560" y="1508760"/>
            <a:ext cx="1280160" cy="201168"/>
          </a:xfrm>
          <a:prstGeom prst="rect">
            <a:avLst/>
          </a:prstGeom>
          <a:noFill/>
          <a:ln/>
        </p:spPr>
        <p:txBody>
          <a:bodyPr wrap="square" lIns="0" tIns="0" rIns="0" bIns="0" rtlCol="0" anchor="ctr"/>
          <a:lstStyle/>
          <a:p>
            <a:pPr marL="0" indent="0" algn="ctr">
              <a:buNone/>
            </a:pPr>
            <a:r>
              <a:rPr lang="en-US" sz="1100" b="1" dirty="0">
                <a:solidFill>
                  <a:srgbClr val="24D66B"/>
                </a:solidFill>
              </a:rPr>
              <a:t>LIVE / SCALING</a:t>
            </a:r>
            <a:endParaRPr lang="en-US" sz="1100" dirty="0"/>
          </a:p>
        </p:txBody>
      </p:sp>
      <p:sp>
        <p:nvSpPr>
          <p:cNvPr id="16" name="Text 14"/>
          <p:cNvSpPr/>
          <p:nvPr/>
        </p:nvSpPr>
        <p:spPr>
          <a:xfrm>
            <a:off x="3337560" y="1764792"/>
            <a:ext cx="2514600" cy="274320"/>
          </a:xfrm>
          <a:prstGeom prst="rect">
            <a:avLst/>
          </a:prstGeom>
          <a:noFill/>
          <a:ln/>
        </p:spPr>
        <p:txBody>
          <a:bodyPr wrap="square" lIns="0" tIns="0" rIns="0" bIns="0" rtlCol="0" anchor="ctr"/>
          <a:lstStyle/>
          <a:p>
            <a:pPr marL="0" indent="0">
              <a:buNone/>
            </a:pPr>
            <a:r>
              <a:rPr lang="en-US" sz="1100" b="1" dirty="0">
                <a:solidFill>
                  <a:srgbClr val="FFFFFF"/>
                </a:solidFill>
              </a:rPr>
              <a:t>AI Customer Service</a:t>
            </a:r>
            <a:endParaRPr lang="en-US" sz="1100" dirty="0"/>
          </a:p>
        </p:txBody>
      </p:sp>
      <p:sp>
        <p:nvSpPr>
          <p:cNvPr id="17" name="Text 15"/>
          <p:cNvSpPr/>
          <p:nvPr/>
        </p:nvSpPr>
        <p:spPr>
          <a:xfrm>
            <a:off x="3337560" y="2075688"/>
            <a:ext cx="2514600" cy="749808"/>
          </a:xfrm>
          <a:prstGeom prst="rect">
            <a:avLst/>
          </a:prstGeom>
          <a:noFill/>
          <a:ln/>
        </p:spPr>
        <p:txBody>
          <a:bodyPr wrap="square" lIns="0" tIns="0" rIns="0" bIns="0" rtlCol="0" anchor="ctr"/>
          <a:lstStyle/>
          <a:p>
            <a:pPr marL="0" indent="0">
              <a:buNone/>
            </a:pPr>
            <a:r>
              <a:rPr lang="en-US" sz="1050" dirty="0">
                <a:solidFill>
                  <a:srgbClr val="E8E4FF"/>
                </a:solidFill>
              </a:rPr>
              <a:t>GenAI agents handling millions of service tickets. Average response time &lt;1 min. Cost of human support slashed. 17.6% efficiency ratio is structurally driven by AI — not cyclical.</a:t>
            </a:r>
            <a:endParaRPr lang="en-US" sz="1050" dirty="0"/>
          </a:p>
        </p:txBody>
      </p:sp>
      <p:sp>
        <p:nvSpPr>
          <p:cNvPr id="18" name="Shape 16"/>
          <p:cNvSpPr/>
          <p:nvPr/>
        </p:nvSpPr>
        <p:spPr>
          <a:xfrm>
            <a:off x="6080760" y="1417320"/>
            <a:ext cx="2743200" cy="1481328"/>
          </a:xfrm>
          <a:prstGeom prst="rect">
            <a:avLst/>
          </a:prstGeom>
          <a:solidFill>
            <a:srgbClr val="1E1850"/>
          </a:solidFill>
          <a:ln/>
          <a:effectLst>
            <a:outerShdw blurRad="152400" dist="50800" dir="8100000" algn="bl" rotWithShape="0">
              <a:srgbClr val="000000">
                <a:alpha val="25000"/>
              </a:srgbClr>
            </a:outerShdw>
          </a:effectLst>
        </p:spPr>
      </p:sp>
      <p:sp>
        <p:nvSpPr>
          <p:cNvPr id="19" name="Shape 17"/>
          <p:cNvSpPr/>
          <p:nvPr/>
        </p:nvSpPr>
        <p:spPr>
          <a:xfrm>
            <a:off x="6080760" y="1417320"/>
            <a:ext cx="54864" cy="1481328"/>
          </a:xfrm>
          <a:prstGeom prst="rect">
            <a:avLst/>
          </a:prstGeom>
          <a:solidFill>
            <a:srgbClr val="00D4AA"/>
          </a:solidFill>
          <a:ln/>
        </p:spPr>
      </p:sp>
      <p:sp>
        <p:nvSpPr>
          <p:cNvPr id="20" name="Shape 18"/>
          <p:cNvSpPr/>
          <p:nvPr/>
        </p:nvSpPr>
        <p:spPr>
          <a:xfrm>
            <a:off x="6217920" y="1508760"/>
            <a:ext cx="1280160" cy="201168"/>
          </a:xfrm>
          <a:prstGeom prst="roundRect">
            <a:avLst>
              <a:gd name="adj" fmla="val 22727"/>
            </a:avLst>
          </a:prstGeom>
          <a:solidFill>
            <a:srgbClr val="00D4AA">
              <a:alpha val="20000"/>
            </a:srgbClr>
          </a:solidFill>
          <a:ln/>
        </p:spPr>
      </p:sp>
      <p:sp>
        <p:nvSpPr>
          <p:cNvPr id="21" name="Text 19"/>
          <p:cNvSpPr/>
          <p:nvPr/>
        </p:nvSpPr>
        <p:spPr>
          <a:xfrm>
            <a:off x="6217920" y="1508760"/>
            <a:ext cx="1280160" cy="201168"/>
          </a:xfrm>
          <a:prstGeom prst="rect">
            <a:avLst/>
          </a:prstGeom>
          <a:noFill/>
          <a:ln/>
        </p:spPr>
        <p:txBody>
          <a:bodyPr wrap="square" lIns="0" tIns="0" rIns="0" bIns="0" rtlCol="0" anchor="ctr"/>
          <a:lstStyle/>
          <a:p>
            <a:pPr marL="0" indent="0" algn="ctr">
              <a:buNone/>
            </a:pPr>
            <a:r>
              <a:rPr lang="en-US" sz="1100" b="1" dirty="0">
                <a:solidFill>
                  <a:srgbClr val="00D4AA"/>
                </a:solidFill>
              </a:rPr>
              <a:t>LIVE / EXPANDING</a:t>
            </a:r>
            <a:endParaRPr lang="en-US" sz="1100" dirty="0"/>
          </a:p>
        </p:txBody>
      </p:sp>
      <p:sp>
        <p:nvSpPr>
          <p:cNvPr id="22" name="Text 20"/>
          <p:cNvSpPr/>
          <p:nvPr/>
        </p:nvSpPr>
        <p:spPr>
          <a:xfrm>
            <a:off x="6217920" y="1764792"/>
            <a:ext cx="2514600" cy="274320"/>
          </a:xfrm>
          <a:prstGeom prst="rect">
            <a:avLst/>
          </a:prstGeom>
          <a:noFill/>
          <a:ln/>
        </p:spPr>
        <p:txBody>
          <a:bodyPr wrap="square" lIns="0" tIns="0" rIns="0" bIns="0" rtlCol="0" anchor="ctr"/>
          <a:lstStyle/>
          <a:p>
            <a:pPr marL="0" indent="0">
              <a:buNone/>
            </a:pPr>
            <a:r>
              <a:rPr lang="en-US" sz="1100" b="1" dirty="0">
                <a:solidFill>
                  <a:srgbClr val="FFFFFF"/>
                </a:solidFill>
              </a:rPr>
              <a:t>AI Personalization</a:t>
            </a:r>
            <a:endParaRPr lang="en-US" sz="1100" dirty="0"/>
          </a:p>
        </p:txBody>
      </p:sp>
      <p:sp>
        <p:nvSpPr>
          <p:cNvPr id="23" name="Text 21"/>
          <p:cNvSpPr/>
          <p:nvPr/>
        </p:nvSpPr>
        <p:spPr>
          <a:xfrm>
            <a:off x="6217920" y="2075688"/>
            <a:ext cx="2514600" cy="749808"/>
          </a:xfrm>
          <a:prstGeom prst="rect">
            <a:avLst/>
          </a:prstGeom>
          <a:noFill/>
          <a:ln/>
        </p:spPr>
        <p:txBody>
          <a:bodyPr wrap="square" lIns="0" tIns="0" rIns="0" bIns="0" rtlCol="0" anchor="ctr"/>
          <a:lstStyle/>
          <a:p>
            <a:pPr marL="0" indent="0">
              <a:buNone/>
            </a:pPr>
            <a:r>
              <a:rPr lang="en-US" sz="1050" dirty="0">
                <a:solidFill>
                  <a:srgbClr val="E8E4FF"/>
                </a:solidFill>
              </a:rPr>
              <a:t>Behavioral models driving personalized product offers, spending insights, and savings goals. Cross-sell rate increasing — the engine behind ARPAC growing from $11 to $16 in 18 months.</a:t>
            </a:r>
            <a:endParaRPr lang="en-US" sz="1050" dirty="0"/>
          </a:p>
        </p:txBody>
      </p:sp>
      <p:sp>
        <p:nvSpPr>
          <p:cNvPr id="24" name="Shape 22"/>
          <p:cNvSpPr/>
          <p:nvPr/>
        </p:nvSpPr>
        <p:spPr>
          <a:xfrm>
            <a:off x="320040" y="3044952"/>
            <a:ext cx="2743200" cy="1481328"/>
          </a:xfrm>
          <a:prstGeom prst="rect">
            <a:avLst/>
          </a:prstGeom>
          <a:solidFill>
            <a:srgbClr val="1E1850"/>
          </a:solidFill>
          <a:ln/>
          <a:effectLst>
            <a:outerShdw blurRad="152400" dist="50800" dir="8100000" algn="bl" rotWithShape="0">
              <a:srgbClr val="000000">
                <a:alpha val="25000"/>
              </a:srgbClr>
            </a:outerShdw>
          </a:effectLst>
        </p:spPr>
      </p:sp>
      <p:sp>
        <p:nvSpPr>
          <p:cNvPr id="25" name="Shape 23"/>
          <p:cNvSpPr/>
          <p:nvPr/>
        </p:nvSpPr>
        <p:spPr>
          <a:xfrm>
            <a:off x="320040" y="3044952"/>
            <a:ext cx="54864" cy="1481328"/>
          </a:xfrm>
          <a:prstGeom prst="rect">
            <a:avLst/>
          </a:prstGeom>
          <a:solidFill>
            <a:srgbClr val="00D4AA"/>
          </a:solidFill>
          <a:ln/>
        </p:spPr>
      </p:sp>
      <p:sp>
        <p:nvSpPr>
          <p:cNvPr id="26" name="Shape 24"/>
          <p:cNvSpPr/>
          <p:nvPr/>
        </p:nvSpPr>
        <p:spPr>
          <a:xfrm>
            <a:off x="457200" y="3136392"/>
            <a:ext cx="1280160" cy="201168"/>
          </a:xfrm>
          <a:prstGeom prst="roundRect">
            <a:avLst>
              <a:gd name="adj" fmla="val 22727"/>
            </a:avLst>
          </a:prstGeom>
          <a:solidFill>
            <a:srgbClr val="00D4AA">
              <a:alpha val="20000"/>
            </a:srgbClr>
          </a:solidFill>
          <a:ln/>
        </p:spPr>
      </p:sp>
      <p:sp>
        <p:nvSpPr>
          <p:cNvPr id="27" name="Text 25"/>
          <p:cNvSpPr/>
          <p:nvPr/>
        </p:nvSpPr>
        <p:spPr>
          <a:xfrm>
            <a:off x="457200" y="3136392"/>
            <a:ext cx="1280160" cy="201168"/>
          </a:xfrm>
          <a:prstGeom prst="rect">
            <a:avLst/>
          </a:prstGeom>
          <a:noFill/>
          <a:ln/>
        </p:spPr>
        <p:txBody>
          <a:bodyPr wrap="square" lIns="0" tIns="0" rIns="0" bIns="0" rtlCol="0" anchor="ctr"/>
          <a:lstStyle/>
          <a:p>
            <a:pPr marL="0" indent="0" algn="ctr">
              <a:buNone/>
            </a:pPr>
            <a:r>
              <a:rPr lang="en-US" sz="1100" b="1" dirty="0">
                <a:solidFill>
                  <a:srgbClr val="00D4AA"/>
                </a:solidFill>
              </a:rPr>
              <a:t>2026 ROLLOUT</a:t>
            </a:r>
            <a:endParaRPr lang="en-US" sz="1100" dirty="0"/>
          </a:p>
        </p:txBody>
      </p:sp>
      <p:sp>
        <p:nvSpPr>
          <p:cNvPr id="28" name="Text 26"/>
          <p:cNvSpPr/>
          <p:nvPr/>
        </p:nvSpPr>
        <p:spPr>
          <a:xfrm>
            <a:off x="457200" y="3392424"/>
            <a:ext cx="2514600" cy="274320"/>
          </a:xfrm>
          <a:prstGeom prst="rect">
            <a:avLst/>
          </a:prstGeom>
          <a:noFill/>
          <a:ln/>
        </p:spPr>
        <p:txBody>
          <a:bodyPr wrap="square" lIns="0" tIns="0" rIns="0" bIns="0" rtlCol="0" anchor="ctr"/>
          <a:lstStyle/>
          <a:p>
            <a:pPr marL="0" indent="0">
              <a:buNone/>
            </a:pPr>
            <a:r>
              <a:rPr lang="en-US" sz="1100" b="1" dirty="0">
                <a:solidFill>
                  <a:srgbClr val="FFFFFF"/>
                </a:solidFill>
              </a:rPr>
              <a:t>Nu Intelligence (NuAI)</a:t>
            </a:r>
            <a:endParaRPr lang="en-US" sz="1100" dirty="0"/>
          </a:p>
        </p:txBody>
      </p:sp>
      <p:sp>
        <p:nvSpPr>
          <p:cNvPr id="29" name="Text 27"/>
          <p:cNvSpPr/>
          <p:nvPr/>
        </p:nvSpPr>
        <p:spPr>
          <a:xfrm>
            <a:off x="457200" y="3703320"/>
            <a:ext cx="2514600" cy="749808"/>
          </a:xfrm>
          <a:prstGeom prst="rect">
            <a:avLst/>
          </a:prstGeom>
          <a:noFill/>
          <a:ln/>
        </p:spPr>
        <p:txBody>
          <a:bodyPr wrap="square" lIns="0" tIns="0" rIns="0" bIns="0" rtlCol="0" anchor="ctr"/>
          <a:lstStyle/>
          <a:p>
            <a:pPr marL="0" indent="0">
              <a:buNone/>
            </a:pPr>
            <a:r>
              <a:rPr lang="en-US" sz="1050" dirty="0">
                <a:solidFill>
                  <a:srgbClr val="E8E4FF"/>
                </a:solidFill>
              </a:rPr>
              <a:t>Customer-facing AI assistant for financial planning, tax guidance, investment advice. Competing directly with Robinhood, Betterment, and traditional wealth management platforms.</a:t>
            </a:r>
            <a:endParaRPr lang="en-US" sz="1050" dirty="0"/>
          </a:p>
        </p:txBody>
      </p:sp>
      <p:sp>
        <p:nvSpPr>
          <p:cNvPr id="30" name="Shape 28"/>
          <p:cNvSpPr/>
          <p:nvPr/>
        </p:nvSpPr>
        <p:spPr>
          <a:xfrm>
            <a:off x="3200400" y="3044952"/>
            <a:ext cx="2743200" cy="1481328"/>
          </a:xfrm>
          <a:prstGeom prst="rect">
            <a:avLst/>
          </a:prstGeom>
          <a:solidFill>
            <a:srgbClr val="1E1850"/>
          </a:solidFill>
          <a:ln/>
          <a:effectLst>
            <a:outerShdw blurRad="152400" dist="50800" dir="8100000" algn="bl" rotWithShape="0">
              <a:srgbClr val="000000">
                <a:alpha val="25000"/>
              </a:srgbClr>
            </a:outerShdw>
          </a:effectLst>
        </p:spPr>
      </p:sp>
      <p:sp>
        <p:nvSpPr>
          <p:cNvPr id="31" name="Shape 29"/>
          <p:cNvSpPr/>
          <p:nvPr/>
        </p:nvSpPr>
        <p:spPr>
          <a:xfrm>
            <a:off x="3200400" y="3044952"/>
            <a:ext cx="54864" cy="1481328"/>
          </a:xfrm>
          <a:prstGeom prst="rect">
            <a:avLst/>
          </a:prstGeom>
          <a:solidFill>
            <a:srgbClr val="6C3BF5"/>
          </a:solidFill>
          <a:ln/>
        </p:spPr>
      </p:sp>
      <p:sp>
        <p:nvSpPr>
          <p:cNvPr id="32" name="Shape 30"/>
          <p:cNvSpPr/>
          <p:nvPr/>
        </p:nvSpPr>
        <p:spPr>
          <a:xfrm>
            <a:off x="3337560" y="3136392"/>
            <a:ext cx="1280160" cy="201168"/>
          </a:xfrm>
          <a:prstGeom prst="roundRect">
            <a:avLst>
              <a:gd name="adj" fmla="val 22727"/>
            </a:avLst>
          </a:prstGeom>
          <a:solidFill>
            <a:srgbClr val="6C3BF5">
              <a:alpha val="20000"/>
            </a:srgbClr>
          </a:solidFill>
          <a:ln/>
        </p:spPr>
      </p:sp>
      <p:sp>
        <p:nvSpPr>
          <p:cNvPr id="33" name="Text 31"/>
          <p:cNvSpPr/>
          <p:nvPr/>
        </p:nvSpPr>
        <p:spPr>
          <a:xfrm>
            <a:off x="3337560" y="3136392"/>
            <a:ext cx="1280160" cy="201168"/>
          </a:xfrm>
          <a:prstGeom prst="rect">
            <a:avLst/>
          </a:prstGeom>
          <a:noFill/>
          <a:ln/>
        </p:spPr>
        <p:txBody>
          <a:bodyPr wrap="square" lIns="0" tIns="0" rIns="0" bIns="0" rtlCol="0" anchor="ctr"/>
          <a:lstStyle/>
          <a:p>
            <a:pPr marL="0" indent="0" algn="ctr">
              <a:buNone/>
            </a:pPr>
            <a:r>
              <a:rPr lang="en-US" sz="1100" b="1" dirty="0">
                <a:solidFill>
                  <a:srgbClr val="6C3BF5"/>
                </a:solidFill>
              </a:rPr>
              <a:t>2026/27</a:t>
            </a:r>
            <a:endParaRPr lang="en-US" sz="1100" dirty="0"/>
          </a:p>
        </p:txBody>
      </p:sp>
      <p:sp>
        <p:nvSpPr>
          <p:cNvPr id="34" name="Text 32"/>
          <p:cNvSpPr/>
          <p:nvPr/>
        </p:nvSpPr>
        <p:spPr>
          <a:xfrm>
            <a:off x="3337560" y="3392424"/>
            <a:ext cx="2514600" cy="274320"/>
          </a:xfrm>
          <a:prstGeom prst="rect">
            <a:avLst/>
          </a:prstGeom>
          <a:noFill/>
          <a:ln/>
        </p:spPr>
        <p:txBody>
          <a:bodyPr wrap="square" lIns="0" tIns="0" rIns="0" bIns="0" rtlCol="0" anchor="ctr"/>
          <a:lstStyle/>
          <a:p>
            <a:pPr marL="0" indent="0">
              <a:buNone/>
            </a:pPr>
            <a:r>
              <a:rPr lang="en-US" sz="1100" b="1" dirty="0">
                <a:solidFill>
                  <a:srgbClr val="FFFFFF"/>
                </a:solidFill>
              </a:rPr>
              <a:t>Open Finance Integration</a:t>
            </a:r>
            <a:endParaRPr lang="en-US" sz="1100" dirty="0"/>
          </a:p>
        </p:txBody>
      </p:sp>
      <p:sp>
        <p:nvSpPr>
          <p:cNvPr id="35" name="Text 33"/>
          <p:cNvSpPr/>
          <p:nvPr/>
        </p:nvSpPr>
        <p:spPr>
          <a:xfrm>
            <a:off x="3337560" y="3703320"/>
            <a:ext cx="2514600" cy="749808"/>
          </a:xfrm>
          <a:prstGeom prst="rect">
            <a:avLst/>
          </a:prstGeom>
          <a:noFill/>
          <a:ln/>
        </p:spPr>
        <p:txBody>
          <a:bodyPr wrap="square" lIns="0" tIns="0" rIns="0" bIns="0" rtlCol="0" anchor="ctr"/>
          <a:lstStyle/>
          <a:p>
            <a:pPr marL="0" indent="0">
              <a:buNone/>
            </a:pPr>
            <a:r>
              <a:rPr lang="en-US" sz="1050" dirty="0">
                <a:solidFill>
                  <a:srgbClr val="E8E4FF"/>
                </a:solidFill>
              </a:rPr>
              <a:t>Brazil's Open Finance regulations enable Nu to access competitor account data with consent. Allows hyper-targeted refinancing, debt consolidation, and product migration offers.</a:t>
            </a:r>
            <a:endParaRPr lang="en-US" sz="1050" dirty="0"/>
          </a:p>
        </p:txBody>
      </p:sp>
      <p:sp>
        <p:nvSpPr>
          <p:cNvPr id="36" name="Shape 34"/>
          <p:cNvSpPr/>
          <p:nvPr/>
        </p:nvSpPr>
        <p:spPr>
          <a:xfrm>
            <a:off x="6080760" y="3044952"/>
            <a:ext cx="2743200" cy="1481328"/>
          </a:xfrm>
          <a:prstGeom prst="rect">
            <a:avLst/>
          </a:prstGeom>
          <a:solidFill>
            <a:srgbClr val="1E1850"/>
          </a:solidFill>
          <a:ln/>
          <a:effectLst>
            <a:outerShdw blurRad="152400" dist="50800" dir="8100000" algn="bl" rotWithShape="0">
              <a:srgbClr val="000000">
                <a:alpha val="25000"/>
              </a:srgbClr>
            </a:outerShdw>
          </a:effectLst>
        </p:spPr>
      </p:sp>
      <p:sp>
        <p:nvSpPr>
          <p:cNvPr id="37" name="Shape 35"/>
          <p:cNvSpPr/>
          <p:nvPr/>
        </p:nvSpPr>
        <p:spPr>
          <a:xfrm>
            <a:off x="6080760" y="3044952"/>
            <a:ext cx="54864" cy="1481328"/>
          </a:xfrm>
          <a:prstGeom prst="rect">
            <a:avLst/>
          </a:prstGeom>
          <a:solidFill>
            <a:srgbClr val="6C3BF5"/>
          </a:solidFill>
          <a:ln/>
        </p:spPr>
      </p:sp>
      <p:sp>
        <p:nvSpPr>
          <p:cNvPr id="38" name="Shape 36"/>
          <p:cNvSpPr/>
          <p:nvPr/>
        </p:nvSpPr>
        <p:spPr>
          <a:xfrm>
            <a:off x="6217920" y="3136392"/>
            <a:ext cx="1280160" cy="201168"/>
          </a:xfrm>
          <a:prstGeom prst="roundRect">
            <a:avLst>
              <a:gd name="adj" fmla="val 22727"/>
            </a:avLst>
          </a:prstGeom>
          <a:solidFill>
            <a:srgbClr val="6C3BF5">
              <a:alpha val="20000"/>
            </a:srgbClr>
          </a:solidFill>
          <a:ln/>
        </p:spPr>
      </p:sp>
      <p:sp>
        <p:nvSpPr>
          <p:cNvPr id="39" name="Text 37"/>
          <p:cNvSpPr/>
          <p:nvPr/>
        </p:nvSpPr>
        <p:spPr>
          <a:xfrm>
            <a:off x="6217920" y="3136392"/>
            <a:ext cx="1280160" cy="201168"/>
          </a:xfrm>
          <a:prstGeom prst="rect">
            <a:avLst/>
          </a:prstGeom>
          <a:noFill/>
          <a:ln/>
        </p:spPr>
        <p:txBody>
          <a:bodyPr wrap="square" lIns="0" tIns="0" rIns="0" bIns="0" rtlCol="0" anchor="ctr"/>
          <a:lstStyle/>
          <a:p>
            <a:pPr marL="0" indent="0" algn="ctr">
              <a:buNone/>
            </a:pPr>
            <a:r>
              <a:rPr lang="en-US" sz="1100" b="1" dirty="0">
                <a:solidFill>
                  <a:srgbClr val="6C3BF5"/>
                </a:solidFill>
              </a:rPr>
              <a:t>STRATEGIC</a:t>
            </a:r>
            <a:endParaRPr lang="en-US" sz="1100" dirty="0"/>
          </a:p>
        </p:txBody>
      </p:sp>
      <p:sp>
        <p:nvSpPr>
          <p:cNvPr id="40" name="Text 38"/>
          <p:cNvSpPr/>
          <p:nvPr/>
        </p:nvSpPr>
        <p:spPr>
          <a:xfrm>
            <a:off x="6217920" y="3392424"/>
            <a:ext cx="2514600" cy="274320"/>
          </a:xfrm>
          <a:prstGeom prst="rect">
            <a:avLst/>
          </a:prstGeom>
          <a:noFill/>
          <a:ln/>
        </p:spPr>
        <p:txBody>
          <a:bodyPr wrap="square" lIns="0" tIns="0" rIns="0" bIns="0" rtlCol="0" anchor="ctr"/>
          <a:lstStyle/>
          <a:p>
            <a:pPr marL="0" indent="0">
              <a:buNone/>
            </a:pPr>
            <a:r>
              <a:rPr lang="en-US" sz="1100" b="1" dirty="0">
                <a:solidFill>
                  <a:srgbClr val="FFFFFF"/>
                </a:solidFill>
              </a:rPr>
              <a:t>Proprietary Data Moat</a:t>
            </a:r>
            <a:endParaRPr lang="en-US" sz="1100" dirty="0"/>
          </a:p>
        </p:txBody>
      </p:sp>
      <p:sp>
        <p:nvSpPr>
          <p:cNvPr id="41" name="Text 39"/>
          <p:cNvSpPr/>
          <p:nvPr/>
        </p:nvSpPr>
        <p:spPr>
          <a:xfrm>
            <a:off x="6217920" y="3703320"/>
            <a:ext cx="2514600" cy="749808"/>
          </a:xfrm>
          <a:prstGeom prst="rect">
            <a:avLst/>
          </a:prstGeom>
          <a:noFill/>
          <a:ln/>
        </p:spPr>
        <p:txBody>
          <a:bodyPr wrap="square" lIns="0" tIns="0" rIns="0" bIns="0" rtlCol="0" anchor="ctr"/>
          <a:lstStyle/>
          <a:p>
            <a:pPr marL="0" indent="0">
              <a:buNone/>
            </a:pPr>
            <a:r>
              <a:rPr lang="en-US" sz="1050" dirty="0">
                <a:solidFill>
                  <a:srgbClr val="E8E4FF"/>
                </a:solidFill>
              </a:rPr>
              <a:t>135M customers × years of behavioral data = an AI training asset that no new entrant can replicate. First-mover advantage compounds exponentially with each new customer and transaction.</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0A1F"/>
        </a:solidFill>
        <a:effectLst/>
      </p:bgPr>
    </p:bg>
    <p:spTree>
      <p:nvGrpSpPr>
        <p:cNvPr id="1" name=""/>
        <p:cNvGrpSpPr/>
        <p:nvPr/>
      </p:nvGrpSpPr>
      <p:grpSpPr>
        <a:xfrm>
          <a:off x="0" y="0"/>
          <a:ext cx="0" cy="0"/>
          <a:chOff x="0" y="0"/>
          <a:chExt cx="0" cy="0"/>
        </a:xfrm>
      </p:grpSpPr>
      <p:sp>
        <p:nvSpPr>
          <p:cNvPr id="2" name="Shape 0"/>
          <p:cNvSpPr/>
          <p:nvPr/>
        </p:nvSpPr>
        <p:spPr>
          <a:xfrm>
            <a:off x="320040" y="164592"/>
            <a:ext cx="2377440" cy="256032"/>
          </a:xfrm>
          <a:prstGeom prst="roundRect">
            <a:avLst>
              <a:gd name="adj" fmla="val 28571"/>
            </a:avLst>
          </a:prstGeom>
          <a:solidFill>
            <a:srgbClr val="6C3BF5"/>
          </a:solidFill>
          <a:ln/>
        </p:spPr>
      </p:sp>
      <p:sp>
        <p:nvSpPr>
          <p:cNvPr id="3" name="Text 1"/>
          <p:cNvSpPr/>
          <p:nvPr/>
        </p:nvSpPr>
        <p:spPr>
          <a:xfrm>
            <a:off x="320040" y="164592"/>
            <a:ext cx="2377440" cy="256032"/>
          </a:xfrm>
          <a:prstGeom prst="rect">
            <a:avLst/>
          </a:prstGeom>
          <a:noFill/>
          <a:ln/>
        </p:spPr>
        <p:txBody>
          <a:bodyPr wrap="square" lIns="0" tIns="0" rIns="0" bIns="0" rtlCol="0" anchor="ctr"/>
          <a:lstStyle/>
          <a:p>
            <a:pPr marL="0" indent="0" algn="ctr">
              <a:buNone/>
            </a:pPr>
            <a:r>
              <a:rPr lang="en-US" sz="1100" b="1" dirty="0">
                <a:solidFill>
                  <a:srgbClr val="FFFFFF"/>
                </a:solidFill>
              </a:rPr>
              <a:t>SECTION 6: COMPETITIVE LANDSCAPE</a:t>
            </a:r>
            <a:endParaRPr lang="en-US" sz="1100" dirty="0"/>
          </a:p>
        </p:txBody>
      </p:sp>
      <p:sp>
        <p:nvSpPr>
          <p:cNvPr id="4" name="Text 2"/>
          <p:cNvSpPr/>
          <p:nvPr/>
        </p:nvSpPr>
        <p:spPr>
          <a:xfrm>
            <a:off x="320040" y="375233"/>
            <a:ext cx="8503920" cy="502920"/>
          </a:xfrm>
          <a:prstGeom prst="rect">
            <a:avLst/>
          </a:prstGeom>
          <a:noFill/>
          <a:ln/>
        </p:spPr>
        <p:txBody>
          <a:bodyPr wrap="square" lIns="0" tIns="0" rIns="0" bIns="0" rtlCol="0" anchor="ctr"/>
          <a:lstStyle/>
          <a:p>
            <a:pPr marL="0" indent="0">
              <a:buNone/>
            </a:pPr>
            <a:r>
              <a:rPr lang="en-US" sz="2000" b="1" dirty="0">
                <a:solidFill>
                  <a:srgbClr val="FFFFFF"/>
                </a:solidFill>
              </a:rPr>
              <a:t>Nu vs. Peers — Digital-Native Advantage vs. Legacy Giants &amp; Global Fintech</a:t>
            </a:r>
            <a:endParaRPr lang="en-US" sz="2000" dirty="0"/>
          </a:p>
        </p:txBody>
      </p:sp>
      <p:sp>
        <p:nvSpPr>
          <p:cNvPr id="5" name="Text 3"/>
          <p:cNvSpPr/>
          <p:nvPr/>
        </p:nvSpPr>
        <p:spPr>
          <a:xfrm>
            <a:off x="320040" y="818388"/>
            <a:ext cx="8503920" cy="256032"/>
          </a:xfrm>
          <a:prstGeom prst="rect">
            <a:avLst/>
          </a:prstGeom>
          <a:noFill/>
          <a:ln/>
        </p:spPr>
        <p:txBody>
          <a:bodyPr wrap="square" lIns="0" tIns="0" rIns="0" bIns="0" rtlCol="0" anchor="ctr"/>
          <a:lstStyle/>
          <a:p>
            <a:pPr marL="0" indent="0">
              <a:buNone/>
            </a:pPr>
            <a:r>
              <a:rPr lang="en-US" sz="1400" i="1" dirty="0">
                <a:solidFill>
                  <a:srgbClr val="00D4AA"/>
                </a:solidFill>
              </a:rPr>
              <a:t>Nu faces two battles: legacy LatAm banks above, global neobanks from below</a:t>
            </a:r>
            <a:endParaRPr lang="en-US" sz="1400" dirty="0"/>
          </a:p>
        </p:txBody>
      </p:sp>
      <p:graphicFrame>
        <p:nvGraphicFramePr>
          <p:cNvPr id="10" name="Table 0"/>
          <p:cNvGraphicFramePr>
            <a:graphicFrameLocks noGrp="1"/>
          </p:cNvGraphicFramePr>
          <p:nvPr>
            <p:extLst>
              <p:ext uri="{D42A27DB-BD31-4B8C-83A1-F6EECF244321}">
                <p14:modId xmlns:p14="http://schemas.microsoft.com/office/powerpoint/2010/main" val="316283198"/>
              </p:ext>
            </p:extLst>
          </p:nvPr>
        </p:nvGraphicFramePr>
        <p:xfrm>
          <a:off x="320040" y="1211580"/>
          <a:ext cx="8458200" cy="2720340"/>
        </p:xfrm>
        <a:graphic>
          <a:graphicData uri="http://schemas.openxmlformats.org/drawingml/2006/table">
            <a:tbl>
              <a:tblPr/>
              <a:tblGrid>
                <a:gridCol w="1376843">
                  <a:extLst>
                    <a:ext uri="{9D8B030D-6E8A-4147-A177-3AD203B41FA5}">
                      <a16:colId xmlns:a16="http://schemas.microsoft.com/office/drawing/2014/main" val="20000"/>
                    </a:ext>
                  </a:extLst>
                </a:gridCol>
                <a:gridCol w="570451">
                  <a:extLst>
                    <a:ext uri="{9D8B030D-6E8A-4147-A177-3AD203B41FA5}">
                      <a16:colId xmlns:a16="http://schemas.microsoft.com/office/drawing/2014/main" val="20001"/>
                    </a:ext>
                  </a:extLst>
                </a:gridCol>
                <a:gridCol w="864067">
                  <a:extLst>
                    <a:ext uri="{9D8B030D-6E8A-4147-A177-3AD203B41FA5}">
                      <a16:colId xmlns:a16="http://schemas.microsoft.com/office/drawing/2014/main" val="20002"/>
                    </a:ext>
                  </a:extLst>
                </a:gridCol>
                <a:gridCol w="847288">
                  <a:extLst>
                    <a:ext uri="{9D8B030D-6E8A-4147-A177-3AD203B41FA5}">
                      <a16:colId xmlns:a16="http://schemas.microsoft.com/office/drawing/2014/main" val="20003"/>
                    </a:ext>
                  </a:extLst>
                </a:gridCol>
                <a:gridCol w="730471">
                  <a:extLst>
                    <a:ext uri="{9D8B030D-6E8A-4147-A177-3AD203B41FA5}">
                      <a16:colId xmlns:a16="http://schemas.microsoft.com/office/drawing/2014/main" val="20004"/>
                    </a:ext>
                  </a:extLst>
                </a:gridCol>
                <a:gridCol w="620156">
                  <a:extLst>
                    <a:ext uri="{9D8B030D-6E8A-4147-A177-3AD203B41FA5}">
                      <a16:colId xmlns:a16="http://schemas.microsoft.com/office/drawing/2014/main" val="20005"/>
                    </a:ext>
                  </a:extLst>
                </a:gridCol>
                <a:gridCol w="3448924">
                  <a:extLst>
                    <a:ext uri="{9D8B030D-6E8A-4147-A177-3AD203B41FA5}">
                      <a16:colId xmlns:a16="http://schemas.microsoft.com/office/drawing/2014/main" val="20006"/>
                    </a:ext>
                  </a:extLst>
                </a:gridCol>
              </a:tblGrid>
              <a:tr h="0">
                <a:tc>
                  <a:txBody>
                    <a:bodyPr/>
                    <a:lstStyle/>
                    <a:p>
                      <a:pPr marL="0" indent="0">
                        <a:buNone/>
                      </a:pPr>
                      <a:r>
                        <a:rPr lang="en-US" sz="1050" b="1" dirty="0">
                          <a:solidFill>
                            <a:srgbClr val="FFFFFF"/>
                          </a:solidFill>
                        </a:rPr>
                        <a:t>Company</a:t>
                      </a:r>
                      <a:endParaRPr lang="en-US" sz="105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4B1FD4"/>
                    </a:solidFill>
                  </a:tcPr>
                </a:tc>
                <a:tc>
                  <a:txBody>
                    <a:bodyPr/>
                    <a:lstStyle/>
                    <a:p>
                      <a:pPr marL="0" indent="0">
                        <a:buNone/>
                      </a:pPr>
                      <a:r>
                        <a:rPr lang="en-US" sz="1050" b="1" dirty="0">
                          <a:solidFill>
                            <a:srgbClr val="FFFFFF"/>
                          </a:solidFill>
                        </a:rPr>
                        <a:t>Ticker</a:t>
                      </a:r>
                      <a:endParaRPr lang="en-US" sz="105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4B1FD4"/>
                    </a:solidFill>
                  </a:tcPr>
                </a:tc>
                <a:tc>
                  <a:txBody>
                    <a:bodyPr/>
                    <a:lstStyle/>
                    <a:p>
                      <a:pPr marL="0" indent="0">
                        <a:buNone/>
                      </a:pPr>
                      <a:r>
                        <a:rPr lang="en-US" sz="1050" b="1" dirty="0">
                          <a:solidFill>
                            <a:srgbClr val="FFFFFF"/>
                          </a:solidFill>
                        </a:rPr>
                        <a:t>Revenue</a:t>
                      </a:r>
                      <a:endParaRPr lang="en-US" sz="105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4B1FD4"/>
                    </a:solidFill>
                  </a:tcPr>
                </a:tc>
                <a:tc>
                  <a:txBody>
                    <a:bodyPr/>
                    <a:lstStyle/>
                    <a:p>
                      <a:pPr marL="0" indent="0">
                        <a:buNone/>
                      </a:pPr>
                      <a:r>
                        <a:rPr lang="en-US" sz="1050" b="1" dirty="0">
                          <a:solidFill>
                            <a:srgbClr val="FFFFFF"/>
                          </a:solidFill>
                        </a:rPr>
                        <a:t>Mkt Cap</a:t>
                      </a:r>
                      <a:endParaRPr lang="en-US" sz="105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4B1FD4"/>
                    </a:solidFill>
                  </a:tcPr>
                </a:tc>
                <a:tc>
                  <a:txBody>
                    <a:bodyPr/>
                    <a:lstStyle/>
                    <a:p>
                      <a:pPr marL="0" indent="0">
                        <a:buNone/>
                      </a:pPr>
                      <a:r>
                        <a:rPr lang="en-US" sz="1050" b="1" dirty="0">
                          <a:solidFill>
                            <a:srgbClr val="FFFFFF"/>
                          </a:solidFill>
                        </a:rPr>
                        <a:t>NTM P/E</a:t>
                      </a:r>
                      <a:endParaRPr lang="en-US" sz="105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4B1FD4"/>
                    </a:solidFill>
                  </a:tcPr>
                </a:tc>
                <a:tc>
                  <a:txBody>
                    <a:bodyPr/>
                    <a:lstStyle/>
                    <a:p>
                      <a:pPr marL="0" indent="0">
                        <a:buNone/>
                      </a:pPr>
                      <a:r>
                        <a:rPr lang="en-US" sz="1050" b="1" dirty="0">
                          <a:solidFill>
                            <a:srgbClr val="FFFFFF"/>
                          </a:solidFill>
                        </a:rPr>
                        <a:t>Rating</a:t>
                      </a:r>
                      <a:endParaRPr lang="en-US" sz="105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4B1FD4"/>
                    </a:solidFill>
                  </a:tcPr>
                </a:tc>
                <a:tc>
                  <a:txBody>
                    <a:bodyPr/>
                    <a:lstStyle/>
                    <a:p>
                      <a:pPr marL="0" indent="0">
                        <a:buNone/>
                      </a:pPr>
                      <a:r>
                        <a:rPr lang="en-US" sz="1050" b="1" dirty="0">
                          <a:solidFill>
                            <a:srgbClr val="FFFFFF"/>
                          </a:solidFill>
                        </a:rPr>
                        <a:t>Key Differentiator</a:t>
                      </a:r>
                      <a:endParaRPr lang="en-US" sz="105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4B1FD4"/>
                    </a:solidFill>
                  </a:tcPr>
                </a:tc>
                <a:extLst>
                  <a:ext uri="{0D108BD9-81ED-4DB2-BD59-A6C34878D82A}">
                    <a16:rowId xmlns:a16="http://schemas.microsoft.com/office/drawing/2014/main" val="10000"/>
                  </a:ext>
                </a:extLst>
              </a:tr>
              <a:tr h="0">
                <a:tc>
                  <a:txBody>
                    <a:bodyPr/>
                    <a:lstStyle/>
                    <a:p>
                      <a:pPr marL="0" indent="0">
                        <a:buNone/>
                      </a:pPr>
                      <a:r>
                        <a:rPr lang="en-US" sz="1050" b="1" dirty="0">
                          <a:solidFill>
                            <a:srgbClr val="00D4AA"/>
                          </a:solidFill>
                        </a:rPr>
                        <a:t>Nu Holdings</a:t>
                      </a:r>
                      <a:endParaRPr lang="en-US" sz="105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231C5A"/>
                    </a:solidFill>
                  </a:tcPr>
                </a:tc>
                <a:tc>
                  <a:txBody>
                    <a:bodyPr/>
                    <a:lstStyle/>
                    <a:p>
                      <a:pPr marL="0" indent="0">
                        <a:buNone/>
                      </a:pPr>
                      <a:r>
                        <a:rPr lang="en-US" sz="1050" dirty="0">
                          <a:solidFill>
                            <a:srgbClr val="9B96C9"/>
                          </a:solidFill>
                        </a:rPr>
                        <a:t>NU</a:t>
                      </a:r>
                      <a:endParaRPr lang="en-US" sz="105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231C5A"/>
                    </a:solidFill>
                  </a:tcPr>
                </a:tc>
                <a:tc>
                  <a:txBody>
                    <a:bodyPr/>
                    <a:lstStyle/>
                    <a:p>
                      <a:pPr marL="0" indent="0" algn="l">
                        <a:buNone/>
                      </a:pPr>
                      <a:r>
                        <a:rPr lang="en-US" sz="1050" dirty="0">
                          <a:solidFill>
                            <a:srgbClr val="FFFFFF"/>
                          </a:solidFill>
                        </a:rPr>
                        <a:t>$15.8B</a:t>
                      </a:r>
                      <a:endParaRPr lang="en-US" sz="105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231C5A"/>
                    </a:solidFill>
                  </a:tcPr>
                </a:tc>
                <a:tc>
                  <a:txBody>
                    <a:bodyPr/>
                    <a:lstStyle/>
                    <a:p>
                      <a:pPr marL="0" indent="0" algn="l">
                        <a:buNone/>
                      </a:pPr>
                      <a:r>
                        <a:rPr lang="en-US" sz="1050" dirty="0">
                          <a:solidFill>
                            <a:srgbClr val="FFFFFF"/>
                          </a:solidFill>
                        </a:rPr>
                        <a:t>$58B</a:t>
                      </a:r>
                      <a:endParaRPr lang="en-US" sz="105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231C5A"/>
                    </a:solidFill>
                  </a:tcPr>
                </a:tc>
                <a:tc>
                  <a:txBody>
                    <a:bodyPr/>
                    <a:lstStyle/>
                    <a:p>
                      <a:pPr marL="0" indent="0" algn="l">
                        <a:buNone/>
                      </a:pPr>
                      <a:r>
                        <a:rPr lang="en-US" sz="1050" dirty="0">
                          <a:solidFill>
                            <a:srgbClr val="FFFFFF"/>
                          </a:solidFill>
                        </a:rPr>
                        <a:t>~21x</a:t>
                      </a:r>
                      <a:endParaRPr lang="en-US" sz="105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231C5A"/>
                    </a:solidFill>
                  </a:tcPr>
                </a:tc>
                <a:tc>
                  <a:txBody>
                    <a:bodyPr/>
                    <a:lstStyle/>
                    <a:p>
                      <a:pPr marL="0" indent="0" algn="l">
                        <a:buNone/>
                      </a:pPr>
                      <a:r>
                        <a:rPr lang="en-US" sz="1050" b="1" dirty="0">
                          <a:solidFill>
                            <a:srgbClr val="24D66B"/>
                          </a:solidFill>
                        </a:rPr>
                        <a:t>Strong Buy</a:t>
                      </a:r>
                      <a:endParaRPr lang="en-US" sz="105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231C5A"/>
                    </a:solidFill>
                  </a:tcPr>
                </a:tc>
                <a:tc>
                  <a:txBody>
                    <a:bodyPr/>
                    <a:lstStyle/>
                    <a:p>
                      <a:pPr marL="0" indent="0">
                        <a:buNone/>
                      </a:pPr>
                      <a:r>
                        <a:rPr lang="en-US" sz="1050" dirty="0">
                          <a:solidFill>
                            <a:srgbClr val="E8E4FF"/>
                          </a:solidFill>
                        </a:rPr>
                        <a:t>135M customers, AI underwriting, 17.6% efficiency ratio — class of its own</a:t>
                      </a:r>
                      <a:endParaRPr lang="en-US" sz="105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231C5A"/>
                    </a:solidFill>
                  </a:tcPr>
                </a:tc>
                <a:extLst>
                  <a:ext uri="{0D108BD9-81ED-4DB2-BD59-A6C34878D82A}">
                    <a16:rowId xmlns:a16="http://schemas.microsoft.com/office/drawing/2014/main" val="10001"/>
                  </a:ext>
                </a:extLst>
              </a:tr>
              <a:tr h="0">
                <a:tc>
                  <a:txBody>
                    <a:bodyPr/>
                    <a:lstStyle/>
                    <a:p>
                      <a:pPr marL="0" indent="0">
                        <a:buNone/>
                      </a:pPr>
                      <a:r>
                        <a:rPr lang="en-US" sz="1050" dirty="0">
                          <a:solidFill>
                            <a:srgbClr val="FFFFFF"/>
                          </a:solidFill>
                        </a:rPr>
                        <a:t>MercadoPago (MELI)</a:t>
                      </a:r>
                      <a:endParaRPr lang="en-US" sz="105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tc>
                  <a:txBody>
                    <a:bodyPr/>
                    <a:lstStyle/>
                    <a:p>
                      <a:pPr marL="0" indent="0">
                        <a:buNone/>
                      </a:pPr>
                      <a:r>
                        <a:rPr lang="en-US" sz="1050" dirty="0">
                          <a:solidFill>
                            <a:srgbClr val="9B96C9"/>
                          </a:solidFill>
                        </a:rPr>
                        <a:t>MELI</a:t>
                      </a:r>
                      <a:endParaRPr lang="en-US" sz="105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tc>
                  <a:txBody>
                    <a:bodyPr/>
                    <a:lstStyle/>
                    <a:p>
                      <a:pPr marL="0" indent="0" algn="l">
                        <a:buNone/>
                      </a:pPr>
                      <a:r>
                        <a:rPr lang="en-US" sz="1050" dirty="0">
                          <a:solidFill>
                            <a:srgbClr val="FFFFFF"/>
                          </a:solidFill>
                        </a:rPr>
                        <a:t>$21B (total)</a:t>
                      </a:r>
                      <a:endParaRPr lang="en-US" sz="105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tc>
                  <a:txBody>
                    <a:bodyPr/>
                    <a:lstStyle/>
                    <a:p>
                      <a:pPr marL="0" indent="0" algn="l">
                        <a:buNone/>
                      </a:pPr>
                      <a:r>
                        <a:rPr lang="en-US" sz="1050" dirty="0">
                          <a:solidFill>
                            <a:srgbClr val="FFFFFF"/>
                          </a:solidFill>
                        </a:rPr>
                        <a:t>$110B</a:t>
                      </a:r>
                      <a:endParaRPr lang="en-US" sz="105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tc>
                  <a:txBody>
                    <a:bodyPr/>
                    <a:lstStyle/>
                    <a:p>
                      <a:pPr marL="0" indent="0" algn="l">
                        <a:buNone/>
                      </a:pPr>
                      <a:r>
                        <a:rPr lang="en-US" sz="1050" dirty="0">
                          <a:solidFill>
                            <a:srgbClr val="FFFFFF"/>
                          </a:solidFill>
                        </a:rPr>
                        <a:t>~38x</a:t>
                      </a:r>
                      <a:endParaRPr lang="en-US" sz="105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tc>
                  <a:txBody>
                    <a:bodyPr/>
                    <a:lstStyle/>
                    <a:p>
                      <a:pPr marL="0" indent="0" algn="l">
                        <a:buNone/>
                      </a:pPr>
                      <a:r>
                        <a:rPr lang="en-US" sz="1050" dirty="0">
                          <a:solidFill>
                            <a:srgbClr val="00D4AA"/>
                          </a:solidFill>
                        </a:rPr>
                        <a:t>Buy</a:t>
                      </a:r>
                      <a:endParaRPr lang="en-US" sz="105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tc>
                  <a:txBody>
                    <a:bodyPr/>
                    <a:lstStyle/>
                    <a:p>
                      <a:pPr marL="0" indent="0">
                        <a:buNone/>
                      </a:pPr>
                      <a:r>
                        <a:rPr lang="en-US" sz="1050" dirty="0">
                          <a:solidFill>
                            <a:srgbClr val="9B96C9"/>
                          </a:solidFill>
                        </a:rPr>
                        <a:t>Commerce + payments + fintech. Complementary — not pure-play bank competitor</a:t>
                      </a:r>
                      <a:endParaRPr lang="en-US" sz="105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extLst>
                  <a:ext uri="{0D108BD9-81ED-4DB2-BD59-A6C34878D82A}">
                    <a16:rowId xmlns:a16="http://schemas.microsoft.com/office/drawing/2014/main" val="10002"/>
                  </a:ext>
                </a:extLst>
              </a:tr>
              <a:tr h="0">
                <a:tc>
                  <a:txBody>
                    <a:bodyPr/>
                    <a:lstStyle/>
                    <a:p>
                      <a:pPr marL="0" indent="0">
                        <a:buNone/>
                      </a:pPr>
                      <a:r>
                        <a:rPr lang="en-US" sz="1050" dirty="0">
                          <a:solidFill>
                            <a:srgbClr val="FFFFFF"/>
                          </a:solidFill>
                        </a:rPr>
                        <a:t>SoFi Technologies</a:t>
                      </a:r>
                      <a:endParaRPr lang="en-US" sz="105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tc>
                  <a:txBody>
                    <a:bodyPr/>
                    <a:lstStyle/>
                    <a:p>
                      <a:pPr marL="0" indent="0">
                        <a:buNone/>
                      </a:pPr>
                      <a:r>
                        <a:rPr lang="en-US" sz="1050" dirty="0">
                          <a:solidFill>
                            <a:srgbClr val="9B96C9"/>
                          </a:solidFill>
                        </a:rPr>
                        <a:t>SOFI</a:t>
                      </a:r>
                      <a:endParaRPr lang="en-US" sz="105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tc>
                  <a:txBody>
                    <a:bodyPr/>
                    <a:lstStyle/>
                    <a:p>
                      <a:pPr marL="0" indent="0" algn="l">
                        <a:buNone/>
                      </a:pPr>
                      <a:r>
                        <a:rPr lang="en-US" sz="1050" dirty="0">
                          <a:solidFill>
                            <a:srgbClr val="FFFFFF"/>
                          </a:solidFill>
                        </a:rPr>
                        <a:t>$3.3B</a:t>
                      </a:r>
                      <a:endParaRPr lang="en-US" sz="105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tc>
                  <a:txBody>
                    <a:bodyPr/>
                    <a:lstStyle/>
                    <a:p>
                      <a:pPr marL="0" indent="0" algn="l">
                        <a:buNone/>
                      </a:pPr>
                      <a:r>
                        <a:rPr lang="en-US" sz="1050" dirty="0">
                          <a:solidFill>
                            <a:srgbClr val="FFFFFF"/>
                          </a:solidFill>
                        </a:rPr>
                        <a:t>$8B</a:t>
                      </a:r>
                      <a:endParaRPr lang="en-US" sz="105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tc>
                  <a:txBody>
                    <a:bodyPr/>
                    <a:lstStyle/>
                    <a:p>
                      <a:pPr marL="0" indent="0" algn="l">
                        <a:buNone/>
                      </a:pPr>
                      <a:r>
                        <a:rPr lang="en-US" sz="1050" dirty="0">
                          <a:solidFill>
                            <a:srgbClr val="FFFFFF"/>
                          </a:solidFill>
                        </a:rPr>
                        <a:t>~25x</a:t>
                      </a:r>
                      <a:endParaRPr lang="en-US" sz="105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tc>
                  <a:txBody>
                    <a:bodyPr/>
                    <a:lstStyle/>
                    <a:p>
                      <a:pPr marL="0" indent="0" algn="l">
                        <a:buNone/>
                      </a:pPr>
                      <a:r>
                        <a:rPr lang="en-US" sz="1050" dirty="0">
                          <a:solidFill>
                            <a:srgbClr val="F5C842"/>
                          </a:solidFill>
                        </a:rPr>
                        <a:t>Hold</a:t>
                      </a:r>
                      <a:endParaRPr lang="en-US" sz="105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tc>
                  <a:txBody>
                    <a:bodyPr/>
                    <a:lstStyle/>
                    <a:p>
                      <a:pPr marL="0" indent="0">
                        <a:buNone/>
                      </a:pPr>
                      <a:r>
                        <a:rPr lang="en-US" sz="1050" dirty="0">
                          <a:solidFill>
                            <a:srgbClr val="9B96C9"/>
                          </a:solidFill>
                        </a:rPr>
                        <a:t>US neobank; profitable but single-geography, struggling NIM</a:t>
                      </a:r>
                      <a:endParaRPr lang="en-US" sz="105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extLst>
                  <a:ext uri="{0D108BD9-81ED-4DB2-BD59-A6C34878D82A}">
                    <a16:rowId xmlns:a16="http://schemas.microsoft.com/office/drawing/2014/main" val="10003"/>
                  </a:ext>
                </a:extLst>
              </a:tr>
              <a:tr h="0">
                <a:tc>
                  <a:txBody>
                    <a:bodyPr/>
                    <a:lstStyle/>
                    <a:p>
                      <a:pPr marL="0" indent="0">
                        <a:buNone/>
                      </a:pPr>
                      <a:r>
                        <a:rPr lang="en-US" sz="1050" dirty="0">
                          <a:solidFill>
                            <a:srgbClr val="FFFFFF"/>
                          </a:solidFill>
                        </a:rPr>
                        <a:t>Itaú Unibanco</a:t>
                      </a:r>
                      <a:endParaRPr lang="en-US" sz="105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tc>
                  <a:txBody>
                    <a:bodyPr/>
                    <a:lstStyle/>
                    <a:p>
                      <a:pPr marL="0" indent="0">
                        <a:buNone/>
                      </a:pPr>
                      <a:r>
                        <a:rPr lang="en-US" sz="1050" dirty="0">
                          <a:solidFill>
                            <a:srgbClr val="9B96C9"/>
                          </a:solidFill>
                        </a:rPr>
                        <a:t>ITUB</a:t>
                      </a:r>
                      <a:endParaRPr lang="en-US" sz="105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tc>
                  <a:txBody>
                    <a:bodyPr/>
                    <a:lstStyle/>
                    <a:p>
                      <a:pPr marL="0" indent="0" algn="l">
                        <a:buNone/>
                      </a:pPr>
                      <a:r>
                        <a:rPr lang="en-US" sz="1050" dirty="0">
                          <a:solidFill>
                            <a:srgbClr val="FFFFFF"/>
                          </a:solidFill>
                        </a:rPr>
                        <a:t>$35B</a:t>
                      </a:r>
                      <a:endParaRPr lang="en-US" sz="105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tc>
                  <a:txBody>
                    <a:bodyPr/>
                    <a:lstStyle/>
                    <a:p>
                      <a:pPr marL="0" indent="0" algn="l">
                        <a:buNone/>
                      </a:pPr>
                      <a:r>
                        <a:rPr lang="en-US" sz="1050" dirty="0">
                          <a:solidFill>
                            <a:srgbClr val="FFFFFF"/>
                          </a:solidFill>
                        </a:rPr>
                        <a:t>$55B</a:t>
                      </a:r>
                      <a:endParaRPr lang="en-US" sz="105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tc>
                  <a:txBody>
                    <a:bodyPr/>
                    <a:lstStyle/>
                    <a:p>
                      <a:pPr marL="0" indent="0" algn="l">
                        <a:buNone/>
                      </a:pPr>
                      <a:r>
                        <a:rPr lang="en-US" sz="1050" dirty="0">
                          <a:solidFill>
                            <a:srgbClr val="FFFFFF"/>
                          </a:solidFill>
                        </a:rPr>
                        <a:t>~8x</a:t>
                      </a:r>
                      <a:endParaRPr lang="en-US" sz="105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tc>
                  <a:txBody>
                    <a:bodyPr/>
                    <a:lstStyle/>
                    <a:p>
                      <a:pPr marL="0" indent="0" algn="l">
                        <a:buNone/>
                      </a:pPr>
                      <a:r>
                        <a:rPr lang="en-US" sz="1050" dirty="0">
                          <a:solidFill>
                            <a:srgbClr val="F5C842"/>
                          </a:solidFill>
                        </a:rPr>
                        <a:t>Hold</a:t>
                      </a:r>
                      <a:endParaRPr lang="en-US" sz="105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tc>
                  <a:txBody>
                    <a:bodyPr/>
                    <a:lstStyle/>
                    <a:p>
                      <a:pPr marL="0" indent="0">
                        <a:buNone/>
                      </a:pPr>
                      <a:r>
                        <a:rPr lang="en-US" sz="1050" dirty="0">
                          <a:solidFill>
                            <a:srgbClr val="9B96C9"/>
                          </a:solidFill>
                        </a:rPr>
                        <a:t>Brazil legacy giant. Vast branch network. Digitizing but culture/speed mismatch vs Nu</a:t>
                      </a:r>
                      <a:endParaRPr lang="en-US" sz="105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extLst>
                  <a:ext uri="{0D108BD9-81ED-4DB2-BD59-A6C34878D82A}">
                    <a16:rowId xmlns:a16="http://schemas.microsoft.com/office/drawing/2014/main" val="10004"/>
                  </a:ext>
                </a:extLst>
              </a:tr>
              <a:tr h="0">
                <a:tc>
                  <a:txBody>
                    <a:bodyPr/>
                    <a:lstStyle/>
                    <a:p>
                      <a:pPr marL="0" indent="0">
                        <a:buNone/>
                      </a:pPr>
                      <a:r>
                        <a:rPr lang="en-US" sz="1050" dirty="0">
                          <a:solidFill>
                            <a:srgbClr val="FFFFFF"/>
                          </a:solidFill>
                        </a:rPr>
                        <a:t>Banco Bradesco</a:t>
                      </a:r>
                      <a:endParaRPr lang="en-US" sz="105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tc>
                  <a:txBody>
                    <a:bodyPr/>
                    <a:lstStyle/>
                    <a:p>
                      <a:pPr marL="0" indent="0">
                        <a:buNone/>
                      </a:pPr>
                      <a:r>
                        <a:rPr lang="en-US" sz="1050" dirty="0">
                          <a:solidFill>
                            <a:srgbClr val="9B96C9"/>
                          </a:solidFill>
                        </a:rPr>
                        <a:t>BBD</a:t>
                      </a:r>
                      <a:endParaRPr lang="en-US" sz="105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tc>
                  <a:txBody>
                    <a:bodyPr/>
                    <a:lstStyle/>
                    <a:p>
                      <a:pPr marL="0" indent="0" algn="l">
                        <a:buNone/>
                      </a:pPr>
                      <a:r>
                        <a:rPr lang="en-US" sz="1050" dirty="0">
                          <a:solidFill>
                            <a:srgbClr val="FFFFFF"/>
                          </a:solidFill>
                        </a:rPr>
                        <a:t>$27B</a:t>
                      </a:r>
                      <a:endParaRPr lang="en-US" sz="105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tc>
                  <a:txBody>
                    <a:bodyPr/>
                    <a:lstStyle/>
                    <a:p>
                      <a:pPr marL="0" indent="0" algn="l">
                        <a:buNone/>
                      </a:pPr>
                      <a:r>
                        <a:rPr lang="en-US" sz="1050" dirty="0">
                          <a:solidFill>
                            <a:srgbClr val="FFFFFF"/>
                          </a:solidFill>
                        </a:rPr>
                        <a:t>$22B</a:t>
                      </a:r>
                      <a:endParaRPr lang="en-US" sz="105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tc>
                  <a:txBody>
                    <a:bodyPr/>
                    <a:lstStyle/>
                    <a:p>
                      <a:pPr marL="0" indent="0" algn="l">
                        <a:buNone/>
                      </a:pPr>
                      <a:r>
                        <a:rPr lang="en-US" sz="1050" dirty="0">
                          <a:solidFill>
                            <a:srgbClr val="FFFFFF"/>
                          </a:solidFill>
                        </a:rPr>
                        <a:t>~7x</a:t>
                      </a:r>
                      <a:endParaRPr lang="en-US" sz="105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tc>
                  <a:txBody>
                    <a:bodyPr/>
                    <a:lstStyle/>
                    <a:p>
                      <a:pPr marL="0" indent="0" algn="l">
                        <a:buNone/>
                      </a:pPr>
                      <a:r>
                        <a:rPr lang="en-US" sz="1050" dirty="0">
                          <a:solidFill>
                            <a:srgbClr val="F5C842"/>
                          </a:solidFill>
                        </a:rPr>
                        <a:t>Hold</a:t>
                      </a:r>
                      <a:endParaRPr lang="en-US" sz="105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tc>
                  <a:txBody>
                    <a:bodyPr/>
                    <a:lstStyle/>
                    <a:p>
                      <a:pPr marL="0" indent="0">
                        <a:buNone/>
                      </a:pPr>
                      <a:r>
                        <a:rPr lang="en-US" sz="1050" dirty="0">
                          <a:solidFill>
                            <a:srgbClr val="9B96C9"/>
                          </a:solidFill>
                        </a:rPr>
                        <a:t>Brazil traditional bank losing young-adult customers to Nu at accelerating rate</a:t>
                      </a:r>
                      <a:endParaRPr lang="en-US" sz="105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extLst>
                  <a:ext uri="{0D108BD9-81ED-4DB2-BD59-A6C34878D82A}">
                    <a16:rowId xmlns:a16="http://schemas.microsoft.com/office/drawing/2014/main" val="10005"/>
                  </a:ext>
                </a:extLst>
              </a:tr>
              <a:tr h="0">
                <a:tc>
                  <a:txBody>
                    <a:bodyPr/>
                    <a:lstStyle/>
                    <a:p>
                      <a:pPr marL="0" indent="0">
                        <a:buNone/>
                      </a:pPr>
                      <a:r>
                        <a:rPr lang="en-US" sz="1050" dirty="0">
                          <a:solidFill>
                            <a:srgbClr val="FFFFFF"/>
                          </a:solidFill>
                        </a:rPr>
                        <a:t>Revolut</a:t>
                      </a:r>
                      <a:endParaRPr lang="en-US" sz="105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tc>
                  <a:txBody>
                    <a:bodyPr/>
                    <a:lstStyle/>
                    <a:p>
                      <a:pPr marL="0" indent="0">
                        <a:buNone/>
                      </a:pPr>
                      <a:r>
                        <a:rPr lang="en-US" sz="1050" dirty="0">
                          <a:solidFill>
                            <a:srgbClr val="9B96C9"/>
                          </a:solidFill>
                        </a:rPr>
                        <a:t>Private</a:t>
                      </a:r>
                      <a:endParaRPr lang="en-US" sz="105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tc>
                  <a:txBody>
                    <a:bodyPr/>
                    <a:lstStyle/>
                    <a:p>
                      <a:pPr marL="0" indent="0" algn="l">
                        <a:buNone/>
                      </a:pPr>
                      <a:r>
                        <a:rPr lang="en-US" sz="1050" dirty="0">
                          <a:solidFill>
                            <a:srgbClr val="FFFFFF"/>
                          </a:solidFill>
                        </a:rPr>
                        <a:t>~$3.5B</a:t>
                      </a:r>
                      <a:endParaRPr lang="en-US" sz="105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tc>
                  <a:txBody>
                    <a:bodyPr/>
                    <a:lstStyle/>
                    <a:p>
                      <a:pPr marL="0" indent="0" algn="l">
                        <a:buNone/>
                      </a:pPr>
                      <a:r>
                        <a:rPr lang="en-US" sz="1050" dirty="0">
                          <a:solidFill>
                            <a:srgbClr val="FFFFFF"/>
                          </a:solidFill>
                        </a:rPr>
                        <a:t>~$45B</a:t>
                      </a:r>
                      <a:endParaRPr lang="en-US" sz="105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tc>
                  <a:txBody>
                    <a:bodyPr/>
                    <a:lstStyle/>
                    <a:p>
                      <a:pPr marL="0" indent="0" algn="l">
                        <a:buNone/>
                      </a:pPr>
                      <a:r>
                        <a:rPr lang="en-US" sz="1050" dirty="0">
                          <a:solidFill>
                            <a:srgbClr val="FFFFFF"/>
                          </a:solidFill>
                        </a:rPr>
                        <a:t>N/A</a:t>
                      </a:r>
                      <a:endParaRPr lang="en-US" sz="105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tc>
                  <a:txBody>
                    <a:bodyPr/>
                    <a:lstStyle/>
                    <a:p>
                      <a:pPr marL="0" indent="0" algn="l">
                        <a:buNone/>
                      </a:pPr>
                      <a:r>
                        <a:rPr lang="en-US" sz="1050" dirty="0">
                          <a:solidFill>
                            <a:srgbClr val="F5C842"/>
                          </a:solidFill>
                        </a:rPr>
                        <a:t>Watch</a:t>
                      </a:r>
                      <a:endParaRPr lang="en-US" sz="105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tc>
                  <a:txBody>
                    <a:bodyPr/>
                    <a:lstStyle/>
                    <a:p>
                      <a:pPr marL="0" indent="0">
                        <a:buNone/>
                      </a:pPr>
                      <a:r>
                        <a:rPr lang="en-US" sz="1050" dirty="0">
                          <a:solidFill>
                            <a:srgbClr val="9B96C9"/>
                          </a:solidFill>
                        </a:rPr>
                        <a:t>European neobank expanding globally. Not yet LatAm. Potential future entrant</a:t>
                      </a:r>
                      <a:endParaRPr lang="en-US" sz="105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extLst>
                  <a:ext uri="{0D108BD9-81ED-4DB2-BD59-A6C34878D82A}">
                    <a16:rowId xmlns:a16="http://schemas.microsoft.com/office/drawing/2014/main" val="10006"/>
                  </a:ext>
                </a:extLst>
              </a:tr>
            </a:tbl>
          </a:graphicData>
        </a:graphic>
      </p:graphicFrame>
      <p:sp>
        <p:nvSpPr>
          <p:cNvPr id="7" name="Shape 4"/>
          <p:cNvSpPr/>
          <p:nvPr/>
        </p:nvSpPr>
        <p:spPr>
          <a:xfrm>
            <a:off x="320040" y="4023360"/>
            <a:ext cx="2743200" cy="914400"/>
          </a:xfrm>
          <a:prstGeom prst="rect">
            <a:avLst/>
          </a:prstGeom>
          <a:solidFill>
            <a:srgbClr val="15103A"/>
          </a:solidFill>
          <a:ln/>
          <a:effectLst>
            <a:outerShdw blurRad="152400" dist="50800" dir="8100000" algn="bl" rotWithShape="0">
              <a:srgbClr val="000000">
                <a:alpha val="25000"/>
              </a:srgbClr>
            </a:outerShdw>
          </a:effectLst>
        </p:spPr>
      </p:sp>
      <p:sp>
        <p:nvSpPr>
          <p:cNvPr id="8" name="Shape 5"/>
          <p:cNvSpPr/>
          <p:nvPr/>
        </p:nvSpPr>
        <p:spPr>
          <a:xfrm>
            <a:off x="320040" y="4023360"/>
            <a:ext cx="2743200" cy="36576"/>
          </a:xfrm>
          <a:prstGeom prst="rect">
            <a:avLst/>
          </a:prstGeom>
          <a:solidFill>
            <a:srgbClr val="6C3BF5"/>
          </a:solidFill>
          <a:ln/>
        </p:spPr>
      </p:sp>
      <p:sp>
        <p:nvSpPr>
          <p:cNvPr id="9" name="Text 6"/>
          <p:cNvSpPr/>
          <p:nvPr/>
        </p:nvSpPr>
        <p:spPr>
          <a:xfrm>
            <a:off x="411480" y="4114800"/>
            <a:ext cx="2560320" cy="237744"/>
          </a:xfrm>
          <a:prstGeom prst="rect">
            <a:avLst/>
          </a:prstGeom>
          <a:noFill/>
          <a:ln/>
        </p:spPr>
        <p:txBody>
          <a:bodyPr wrap="square" lIns="0" tIns="0" rIns="0" bIns="0" rtlCol="0" anchor="ctr"/>
          <a:lstStyle/>
          <a:p>
            <a:pPr marL="0" indent="0">
              <a:buNone/>
            </a:pPr>
            <a:r>
              <a:rPr lang="en-US" sz="1200" b="1" dirty="0">
                <a:solidFill>
                  <a:srgbClr val="FFFFFF"/>
                </a:solidFill>
              </a:rPr>
              <a:t>Efficiency Moat</a:t>
            </a:r>
            <a:endParaRPr lang="en-US" sz="1200" dirty="0"/>
          </a:p>
        </p:txBody>
      </p:sp>
      <p:sp>
        <p:nvSpPr>
          <p:cNvPr id="6" name="Text 7"/>
          <p:cNvSpPr/>
          <p:nvPr/>
        </p:nvSpPr>
        <p:spPr>
          <a:xfrm>
            <a:off x="411480" y="4390798"/>
            <a:ext cx="2560320" cy="512064"/>
          </a:xfrm>
          <a:prstGeom prst="rect">
            <a:avLst/>
          </a:prstGeom>
          <a:noFill/>
          <a:ln/>
        </p:spPr>
        <p:txBody>
          <a:bodyPr wrap="square" lIns="0" tIns="0" rIns="0" bIns="0" rtlCol="0" anchor="ctr"/>
          <a:lstStyle/>
          <a:p>
            <a:pPr marL="0" indent="0">
              <a:buNone/>
            </a:pPr>
            <a:r>
              <a:rPr lang="en-US" sz="900" dirty="0">
                <a:solidFill>
                  <a:srgbClr val="E8E4FF"/>
                </a:solidFill>
              </a:rPr>
              <a:t>17.6% efficiency ratio vs 45–60% for legacy LatAm banks — a structural, not cyclical, advantage driven by zero-branch model and AI.</a:t>
            </a:r>
            <a:endParaRPr lang="en-US" sz="900" dirty="0"/>
          </a:p>
        </p:txBody>
      </p:sp>
      <p:sp>
        <p:nvSpPr>
          <p:cNvPr id="11" name="Shape 8"/>
          <p:cNvSpPr/>
          <p:nvPr/>
        </p:nvSpPr>
        <p:spPr>
          <a:xfrm>
            <a:off x="3200400" y="4023360"/>
            <a:ext cx="2743200" cy="914400"/>
          </a:xfrm>
          <a:prstGeom prst="rect">
            <a:avLst/>
          </a:prstGeom>
          <a:solidFill>
            <a:srgbClr val="15103A"/>
          </a:solidFill>
          <a:ln/>
          <a:effectLst>
            <a:outerShdw blurRad="152400" dist="50800" dir="8100000" algn="bl" rotWithShape="0">
              <a:srgbClr val="000000">
                <a:alpha val="25000"/>
              </a:srgbClr>
            </a:outerShdw>
          </a:effectLst>
        </p:spPr>
      </p:sp>
      <p:sp>
        <p:nvSpPr>
          <p:cNvPr id="12" name="Shape 9"/>
          <p:cNvSpPr/>
          <p:nvPr/>
        </p:nvSpPr>
        <p:spPr>
          <a:xfrm>
            <a:off x="3200400" y="4023360"/>
            <a:ext cx="2743200" cy="36576"/>
          </a:xfrm>
          <a:prstGeom prst="rect">
            <a:avLst/>
          </a:prstGeom>
          <a:solidFill>
            <a:srgbClr val="00D4AA"/>
          </a:solidFill>
          <a:ln/>
        </p:spPr>
      </p:sp>
      <p:sp>
        <p:nvSpPr>
          <p:cNvPr id="13" name="Text 10"/>
          <p:cNvSpPr/>
          <p:nvPr/>
        </p:nvSpPr>
        <p:spPr>
          <a:xfrm>
            <a:off x="3291840" y="4114800"/>
            <a:ext cx="2560320" cy="237744"/>
          </a:xfrm>
          <a:prstGeom prst="rect">
            <a:avLst/>
          </a:prstGeom>
          <a:noFill/>
          <a:ln/>
        </p:spPr>
        <p:txBody>
          <a:bodyPr wrap="square" lIns="0" tIns="0" rIns="0" bIns="0" rtlCol="0" anchor="ctr"/>
          <a:lstStyle/>
          <a:p>
            <a:pPr marL="0" indent="0">
              <a:buNone/>
            </a:pPr>
            <a:r>
              <a:rPr lang="en-US" sz="1200" b="1" dirty="0">
                <a:solidFill>
                  <a:srgbClr val="FFFFFF"/>
                </a:solidFill>
              </a:rPr>
              <a:t>ARPAC Runway</a:t>
            </a:r>
            <a:endParaRPr lang="en-US" sz="1200" dirty="0"/>
          </a:p>
        </p:txBody>
      </p:sp>
      <p:sp>
        <p:nvSpPr>
          <p:cNvPr id="14" name="Text 11"/>
          <p:cNvSpPr/>
          <p:nvPr/>
        </p:nvSpPr>
        <p:spPr>
          <a:xfrm>
            <a:off x="3291840" y="4370832"/>
            <a:ext cx="2560320" cy="512064"/>
          </a:xfrm>
          <a:prstGeom prst="rect">
            <a:avLst/>
          </a:prstGeom>
          <a:noFill/>
          <a:ln/>
        </p:spPr>
        <p:txBody>
          <a:bodyPr wrap="square" lIns="0" tIns="0" rIns="0" bIns="0" rtlCol="0" anchor="ctr"/>
          <a:lstStyle/>
          <a:p>
            <a:pPr marL="0" indent="0">
              <a:buNone/>
            </a:pPr>
            <a:r>
              <a:rPr lang="en-US" sz="900" dirty="0">
                <a:solidFill>
                  <a:srgbClr val="E8E4FF"/>
                </a:solidFill>
              </a:rPr>
              <a:t>$16/month ARPAC vs $45–80 at Brazilian legacy banks. 3–5× room to grow as loans, investments, and insurance attach rates rise.</a:t>
            </a:r>
            <a:endParaRPr lang="en-US" sz="900" dirty="0"/>
          </a:p>
        </p:txBody>
      </p:sp>
      <p:sp>
        <p:nvSpPr>
          <p:cNvPr id="15" name="Shape 12"/>
          <p:cNvSpPr/>
          <p:nvPr/>
        </p:nvSpPr>
        <p:spPr>
          <a:xfrm>
            <a:off x="6080760" y="4023360"/>
            <a:ext cx="2743200" cy="914400"/>
          </a:xfrm>
          <a:prstGeom prst="rect">
            <a:avLst/>
          </a:prstGeom>
          <a:solidFill>
            <a:srgbClr val="15103A"/>
          </a:solidFill>
          <a:ln/>
          <a:effectLst>
            <a:outerShdw blurRad="152400" dist="50800" dir="8100000" algn="bl" rotWithShape="0">
              <a:srgbClr val="000000">
                <a:alpha val="25000"/>
              </a:srgbClr>
            </a:outerShdw>
          </a:effectLst>
        </p:spPr>
      </p:sp>
      <p:sp>
        <p:nvSpPr>
          <p:cNvPr id="16" name="Shape 13"/>
          <p:cNvSpPr/>
          <p:nvPr/>
        </p:nvSpPr>
        <p:spPr>
          <a:xfrm>
            <a:off x="6080760" y="4023360"/>
            <a:ext cx="2743200" cy="36576"/>
          </a:xfrm>
          <a:prstGeom prst="rect">
            <a:avLst/>
          </a:prstGeom>
          <a:solidFill>
            <a:srgbClr val="6C3BF5"/>
          </a:solidFill>
          <a:ln/>
        </p:spPr>
      </p:sp>
      <p:sp>
        <p:nvSpPr>
          <p:cNvPr id="17" name="Text 14"/>
          <p:cNvSpPr/>
          <p:nvPr/>
        </p:nvSpPr>
        <p:spPr>
          <a:xfrm>
            <a:off x="6172200" y="4114800"/>
            <a:ext cx="2560320" cy="237744"/>
          </a:xfrm>
          <a:prstGeom prst="rect">
            <a:avLst/>
          </a:prstGeom>
          <a:noFill/>
          <a:ln/>
        </p:spPr>
        <p:txBody>
          <a:bodyPr wrap="square" lIns="0" tIns="0" rIns="0" bIns="0" rtlCol="0" anchor="ctr"/>
          <a:lstStyle/>
          <a:p>
            <a:pPr marL="0" indent="0">
              <a:buNone/>
            </a:pPr>
            <a:r>
              <a:rPr lang="en-US" sz="1200" b="1" dirty="0">
                <a:solidFill>
                  <a:srgbClr val="FFFFFF"/>
                </a:solidFill>
              </a:rPr>
              <a:t>Customer Loyalty</a:t>
            </a:r>
            <a:endParaRPr lang="en-US" sz="1200" dirty="0"/>
          </a:p>
        </p:txBody>
      </p:sp>
      <p:sp>
        <p:nvSpPr>
          <p:cNvPr id="18" name="Text 15"/>
          <p:cNvSpPr/>
          <p:nvPr/>
        </p:nvSpPr>
        <p:spPr>
          <a:xfrm>
            <a:off x="6172200" y="4390798"/>
            <a:ext cx="2560320" cy="512064"/>
          </a:xfrm>
          <a:prstGeom prst="rect">
            <a:avLst/>
          </a:prstGeom>
          <a:noFill/>
          <a:ln/>
        </p:spPr>
        <p:txBody>
          <a:bodyPr wrap="square" lIns="0" tIns="0" rIns="0" bIns="0" rtlCol="0" anchor="ctr"/>
          <a:lstStyle/>
          <a:p>
            <a:pPr marL="0" indent="0">
              <a:buNone/>
            </a:pPr>
            <a:r>
              <a:rPr lang="en-US" sz="900" dirty="0">
                <a:solidFill>
                  <a:srgbClr val="E8E4FF"/>
                </a:solidFill>
              </a:rPr>
              <a:t>83% monthly activity rate — extraordinary for any bank, anywhere. Customers that love their bank don't leave. Nu's NPS scores are the highest in LatAm banking.</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0A1F"/>
        </a:solidFill>
        <a:effectLst/>
      </p:bgPr>
    </p:bg>
    <p:spTree>
      <p:nvGrpSpPr>
        <p:cNvPr id="1" name=""/>
        <p:cNvGrpSpPr/>
        <p:nvPr/>
      </p:nvGrpSpPr>
      <p:grpSpPr>
        <a:xfrm>
          <a:off x="0" y="0"/>
          <a:ext cx="0" cy="0"/>
          <a:chOff x="0" y="0"/>
          <a:chExt cx="0" cy="0"/>
        </a:xfrm>
      </p:grpSpPr>
      <p:sp>
        <p:nvSpPr>
          <p:cNvPr id="2" name="Shape 0"/>
          <p:cNvSpPr/>
          <p:nvPr/>
        </p:nvSpPr>
        <p:spPr>
          <a:xfrm>
            <a:off x="320039" y="146304"/>
            <a:ext cx="3463395" cy="274320"/>
          </a:xfrm>
          <a:prstGeom prst="roundRect">
            <a:avLst>
              <a:gd name="adj" fmla="val 28571"/>
            </a:avLst>
          </a:prstGeom>
          <a:solidFill>
            <a:srgbClr val="6C3BF5"/>
          </a:solidFill>
          <a:ln/>
        </p:spPr>
      </p:sp>
      <p:sp>
        <p:nvSpPr>
          <p:cNvPr id="3" name="Text 1"/>
          <p:cNvSpPr/>
          <p:nvPr/>
        </p:nvSpPr>
        <p:spPr>
          <a:xfrm>
            <a:off x="444964" y="158048"/>
            <a:ext cx="3145523" cy="256032"/>
          </a:xfrm>
          <a:prstGeom prst="rect">
            <a:avLst/>
          </a:prstGeom>
          <a:noFill/>
          <a:ln/>
        </p:spPr>
        <p:txBody>
          <a:bodyPr wrap="square" lIns="0" tIns="0" rIns="0" bIns="0" rtlCol="0" anchor="ctr"/>
          <a:lstStyle/>
          <a:p>
            <a:pPr marL="0" indent="0">
              <a:buNone/>
            </a:pPr>
            <a:r>
              <a:rPr lang="en-US" sz="1050" b="1" dirty="0">
                <a:solidFill>
                  <a:srgbClr val="FFFFFF"/>
                </a:solidFill>
              </a:rPr>
              <a:t>SECTION 7: RED FLAGS &amp; INVESTMENT RISKS</a:t>
            </a:r>
            <a:endParaRPr lang="en-US" sz="1050" dirty="0"/>
          </a:p>
        </p:txBody>
      </p:sp>
      <p:sp>
        <p:nvSpPr>
          <p:cNvPr id="4" name="Text 2"/>
          <p:cNvSpPr/>
          <p:nvPr/>
        </p:nvSpPr>
        <p:spPr>
          <a:xfrm>
            <a:off x="320040" y="457200"/>
            <a:ext cx="8503920" cy="502920"/>
          </a:xfrm>
          <a:prstGeom prst="rect">
            <a:avLst/>
          </a:prstGeom>
          <a:noFill/>
          <a:ln/>
        </p:spPr>
        <p:txBody>
          <a:bodyPr wrap="square" lIns="0" tIns="0" rIns="0" bIns="0" rtlCol="0" anchor="ctr"/>
          <a:lstStyle/>
          <a:p>
            <a:pPr marL="0" indent="0">
              <a:buNone/>
            </a:pPr>
            <a:r>
              <a:rPr lang="en-US" sz="2000" b="1" dirty="0">
                <a:solidFill>
                  <a:srgbClr val="FFFFFF"/>
                </a:solidFill>
              </a:rPr>
              <a:t>Regulatory, Credit, Currency &amp; Competitive Threats Investors Must Monitor</a:t>
            </a:r>
            <a:endParaRPr lang="en-US" sz="2000" dirty="0"/>
          </a:p>
        </p:txBody>
      </p:sp>
      <p:sp>
        <p:nvSpPr>
          <p:cNvPr id="5" name="Text 3"/>
          <p:cNvSpPr/>
          <p:nvPr/>
        </p:nvSpPr>
        <p:spPr>
          <a:xfrm>
            <a:off x="320040" y="960120"/>
            <a:ext cx="8503920" cy="256032"/>
          </a:xfrm>
          <a:prstGeom prst="rect">
            <a:avLst/>
          </a:prstGeom>
          <a:noFill/>
          <a:ln/>
        </p:spPr>
        <p:txBody>
          <a:bodyPr wrap="square" lIns="0" tIns="0" rIns="0" bIns="0" rtlCol="0" anchor="ctr"/>
          <a:lstStyle/>
          <a:p>
            <a:pPr marL="0" indent="0">
              <a:buNone/>
            </a:pPr>
            <a:r>
              <a:rPr lang="en-US" sz="1100" i="1" dirty="0">
                <a:solidFill>
                  <a:srgbClr val="00D4AA"/>
                </a:solidFill>
              </a:rPr>
              <a:t>Nu is not without risk — macro Brazil, rising credit provisions, and CFO transition are live concerns right now</a:t>
            </a:r>
            <a:endParaRPr lang="en-US" sz="1100" dirty="0"/>
          </a:p>
        </p:txBody>
      </p:sp>
      <p:grpSp>
        <p:nvGrpSpPr>
          <p:cNvPr id="46" name="Group 45">
            <a:extLst>
              <a:ext uri="{FF2B5EF4-FFF2-40B4-BE49-F238E27FC236}">
                <a16:creationId xmlns:a16="http://schemas.microsoft.com/office/drawing/2014/main" id="{889DFCCA-20A2-62AA-0185-4FC28BEF24FE}"/>
              </a:ext>
            </a:extLst>
          </p:cNvPr>
          <p:cNvGrpSpPr/>
          <p:nvPr/>
        </p:nvGrpSpPr>
        <p:grpSpPr>
          <a:xfrm>
            <a:off x="320038" y="1267259"/>
            <a:ext cx="8740071" cy="3721296"/>
            <a:chOff x="320040" y="1362267"/>
            <a:chExt cx="8458200" cy="3321390"/>
          </a:xfrm>
        </p:grpSpPr>
        <p:sp>
          <p:nvSpPr>
            <p:cNvPr id="6" name="Shape 4"/>
            <p:cNvSpPr/>
            <p:nvPr/>
          </p:nvSpPr>
          <p:spPr>
            <a:xfrm>
              <a:off x="320040" y="1400961"/>
              <a:ext cx="4160520" cy="731520"/>
            </a:xfrm>
            <a:prstGeom prst="rect">
              <a:avLst/>
            </a:prstGeom>
            <a:solidFill>
              <a:srgbClr val="1E1850"/>
            </a:solidFill>
            <a:ln/>
          </p:spPr>
        </p:sp>
        <p:sp>
          <p:nvSpPr>
            <p:cNvPr id="7" name="Shape 5"/>
            <p:cNvSpPr/>
            <p:nvPr/>
          </p:nvSpPr>
          <p:spPr>
            <a:xfrm>
              <a:off x="320040" y="1400961"/>
              <a:ext cx="640080" cy="731520"/>
            </a:xfrm>
            <a:prstGeom prst="rect">
              <a:avLst/>
            </a:prstGeom>
            <a:solidFill>
              <a:srgbClr val="FF5B6B">
                <a:alpha val="80000"/>
              </a:srgbClr>
            </a:solidFill>
            <a:ln/>
          </p:spPr>
        </p:sp>
        <p:sp>
          <p:nvSpPr>
            <p:cNvPr id="8" name="Text 6"/>
            <p:cNvSpPr/>
            <p:nvPr/>
          </p:nvSpPr>
          <p:spPr>
            <a:xfrm>
              <a:off x="356616" y="1602129"/>
              <a:ext cx="566928" cy="329184"/>
            </a:xfrm>
            <a:prstGeom prst="rect">
              <a:avLst/>
            </a:prstGeom>
            <a:noFill/>
            <a:ln/>
          </p:spPr>
          <p:txBody>
            <a:bodyPr wrap="square" lIns="0" tIns="0" rIns="0" bIns="0" rtlCol="0" anchor="ctr"/>
            <a:lstStyle/>
            <a:p>
              <a:pPr marL="0" indent="0" algn="ctr">
                <a:buNone/>
              </a:pPr>
              <a:r>
                <a:rPr lang="en-US" sz="800" b="1" dirty="0">
                  <a:solidFill>
                    <a:srgbClr val="0D0A1F"/>
                  </a:solidFill>
                </a:rPr>
                <a:t>CRITICAL</a:t>
              </a:r>
              <a:endParaRPr lang="en-US" sz="800" dirty="0"/>
            </a:p>
          </p:txBody>
        </p:sp>
        <p:sp>
          <p:nvSpPr>
            <p:cNvPr id="9" name="Text 7"/>
            <p:cNvSpPr/>
            <p:nvPr/>
          </p:nvSpPr>
          <p:spPr>
            <a:xfrm>
              <a:off x="1072925" y="1362431"/>
              <a:ext cx="3337560" cy="237744"/>
            </a:xfrm>
            <a:prstGeom prst="rect">
              <a:avLst/>
            </a:prstGeom>
            <a:noFill/>
            <a:ln/>
          </p:spPr>
          <p:txBody>
            <a:bodyPr wrap="square" lIns="0" tIns="0" rIns="0" bIns="0" rtlCol="0" anchor="ctr"/>
            <a:lstStyle/>
            <a:p>
              <a:pPr marL="0" indent="0">
                <a:buNone/>
              </a:pPr>
              <a:r>
                <a:rPr lang="en-US" sz="1000" b="1" dirty="0">
                  <a:solidFill>
                    <a:srgbClr val="FFFFFF"/>
                  </a:solidFill>
                </a:rPr>
                <a:t>Brazil Credit Quality Deterioration</a:t>
              </a:r>
              <a:endParaRPr lang="en-US" sz="1000" dirty="0"/>
            </a:p>
          </p:txBody>
        </p:sp>
        <p:sp>
          <p:nvSpPr>
            <p:cNvPr id="10" name="Text 8"/>
            <p:cNvSpPr/>
            <p:nvPr/>
          </p:nvSpPr>
          <p:spPr>
            <a:xfrm>
              <a:off x="1051560" y="1644669"/>
              <a:ext cx="3383280" cy="402336"/>
            </a:xfrm>
            <a:prstGeom prst="rect">
              <a:avLst/>
            </a:prstGeom>
            <a:noFill/>
            <a:ln/>
          </p:spPr>
          <p:txBody>
            <a:bodyPr wrap="square" lIns="0" tIns="0" rIns="0" bIns="0" rtlCol="0" anchor="ctr"/>
            <a:lstStyle/>
            <a:p>
              <a:pPr marL="0" indent="0">
                <a:buNone/>
              </a:pPr>
              <a:r>
                <a:rPr lang="en-US" sz="900" dirty="0">
                  <a:solidFill>
                    <a:srgbClr val="E8E4FF"/>
                  </a:solidFill>
                </a:rPr>
                <a:t>Credit loss allowances jumped 33% in recent quarters. Brazil interest rates remain elevated — Selic at ~14.75%. High-rate environment compresses risk-adjusted NIM and increases default risk in the unsecured consumer segment. BofA downgraded NU citing this specifically in June 2026.</a:t>
              </a:r>
              <a:endParaRPr lang="en-US" sz="900" dirty="0"/>
            </a:p>
          </p:txBody>
        </p:sp>
        <p:sp>
          <p:nvSpPr>
            <p:cNvPr id="11" name="Shape 9"/>
            <p:cNvSpPr/>
            <p:nvPr/>
          </p:nvSpPr>
          <p:spPr>
            <a:xfrm>
              <a:off x="4617720" y="1400961"/>
              <a:ext cx="4160520" cy="731520"/>
            </a:xfrm>
            <a:prstGeom prst="rect">
              <a:avLst/>
            </a:prstGeom>
            <a:solidFill>
              <a:srgbClr val="1E1850"/>
            </a:solidFill>
            <a:ln/>
          </p:spPr>
        </p:sp>
        <p:sp>
          <p:nvSpPr>
            <p:cNvPr id="12" name="Shape 10"/>
            <p:cNvSpPr/>
            <p:nvPr/>
          </p:nvSpPr>
          <p:spPr>
            <a:xfrm>
              <a:off x="4617720" y="1400961"/>
              <a:ext cx="640080" cy="731520"/>
            </a:xfrm>
            <a:prstGeom prst="rect">
              <a:avLst/>
            </a:prstGeom>
            <a:solidFill>
              <a:srgbClr val="FF5B6B">
                <a:alpha val="80000"/>
              </a:srgbClr>
            </a:solidFill>
            <a:ln/>
          </p:spPr>
        </p:sp>
        <p:sp>
          <p:nvSpPr>
            <p:cNvPr id="13" name="Text 11"/>
            <p:cNvSpPr/>
            <p:nvPr/>
          </p:nvSpPr>
          <p:spPr>
            <a:xfrm>
              <a:off x="4654296" y="1602129"/>
              <a:ext cx="566928" cy="329184"/>
            </a:xfrm>
            <a:prstGeom prst="rect">
              <a:avLst/>
            </a:prstGeom>
            <a:noFill/>
            <a:ln/>
          </p:spPr>
          <p:txBody>
            <a:bodyPr wrap="square" lIns="0" tIns="0" rIns="0" bIns="0" rtlCol="0" anchor="ctr"/>
            <a:lstStyle/>
            <a:p>
              <a:pPr marL="0" indent="0" algn="ctr">
                <a:buNone/>
              </a:pPr>
              <a:r>
                <a:rPr lang="en-US" sz="800" b="1" dirty="0">
                  <a:solidFill>
                    <a:srgbClr val="0D0A1F"/>
                  </a:solidFill>
                </a:rPr>
                <a:t>CRITICAL</a:t>
              </a:r>
              <a:endParaRPr lang="en-US" sz="800" dirty="0"/>
            </a:p>
          </p:txBody>
        </p:sp>
        <p:sp>
          <p:nvSpPr>
            <p:cNvPr id="14" name="Text 12"/>
            <p:cNvSpPr/>
            <p:nvPr/>
          </p:nvSpPr>
          <p:spPr>
            <a:xfrm>
              <a:off x="5349240" y="1362267"/>
              <a:ext cx="3337560" cy="237744"/>
            </a:xfrm>
            <a:prstGeom prst="rect">
              <a:avLst/>
            </a:prstGeom>
            <a:noFill/>
            <a:ln/>
          </p:spPr>
          <p:txBody>
            <a:bodyPr wrap="square" lIns="0" tIns="0" rIns="0" bIns="0" rtlCol="0" anchor="ctr"/>
            <a:lstStyle/>
            <a:p>
              <a:pPr marL="0" indent="0">
                <a:buNone/>
              </a:pPr>
              <a:r>
                <a:rPr lang="en-US" sz="1000" b="1" dirty="0">
                  <a:solidFill>
                    <a:srgbClr val="FFFFFF"/>
                  </a:solidFill>
                </a:rPr>
                <a:t>CFO Leadership Transition Risk</a:t>
              </a:r>
              <a:endParaRPr lang="en-US" sz="1000" dirty="0"/>
            </a:p>
          </p:txBody>
        </p:sp>
        <p:sp>
          <p:nvSpPr>
            <p:cNvPr id="15" name="Text 13"/>
            <p:cNvSpPr/>
            <p:nvPr/>
          </p:nvSpPr>
          <p:spPr>
            <a:xfrm>
              <a:off x="5349240" y="1665077"/>
              <a:ext cx="3429000" cy="402336"/>
            </a:xfrm>
            <a:prstGeom prst="rect">
              <a:avLst/>
            </a:prstGeom>
            <a:noFill/>
            <a:ln/>
          </p:spPr>
          <p:txBody>
            <a:bodyPr wrap="square" lIns="0" tIns="0" rIns="0" bIns="0" rtlCol="0" anchor="ctr"/>
            <a:lstStyle/>
            <a:p>
              <a:pPr marL="0" indent="0">
                <a:buNone/>
              </a:pPr>
              <a:r>
                <a:rPr lang="en-US" sz="900" dirty="0">
                  <a:solidFill>
                    <a:srgbClr val="E8E4FF"/>
                  </a:solidFill>
                </a:rPr>
                <a:t>Guilherme Lago — the architect of Nu's IPO and investor communication framework — departs July 13, 2026. Incoming CFO Rob Livingston (ex-Visa) has strong credentials but is a new voice. BofA and Susquehanna both downgraded NU specifically citing this uncertainty amid tougher market conditions.</a:t>
              </a:r>
              <a:endParaRPr lang="en-US" sz="900" dirty="0"/>
            </a:p>
          </p:txBody>
        </p:sp>
        <p:sp>
          <p:nvSpPr>
            <p:cNvPr id="16" name="Shape 14"/>
            <p:cNvSpPr/>
            <p:nvPr/>
          </p:nvSpPr>
          <p:spPr>
            <a:xfrm>
              <a:off x="320040" y="2251353"/>
              <a:ext cx="4160520" cy="731520"/>
            </a:xfrm>
            <a:prstGeom prst="rect">
              <a:avLst/>
            </a:prstGeom>
            <a:solidFill>
              <a:srgbClr val="1E1850"/>
            </a:solidFill>
            <a:ln/>
          </p:spPr>
        </p:sp>
        <p:sp>
          <p:nvSpPr>
            <p:cNvPr id="17" name="Shape 15"/>
            <p:cNvSpPr/>
            <p:nvPr/>
          </p:nvSpPr>
          <p:spPr>
            <a:xfrm>
              <a:off x="320040" y="2251353"/>
              <a:ext cx="640080" cy="731520"/>
            </a:xfrm>
            <a:prstGeom prst="rect">
              <a:avLst/>
            </a:prstGeom>
            <a:solidFill>
              <a:srgbClr val="F5C842">
                <a:alpha val="80000"/>
              </a:srgbClr>
            </a:solidFill>
            <a:ln/>
          </p:spPr>
        </p:sp>
        <p:sp>
          <p:nvSpPr>
            <p:cNvPr id="18" name="Text 16"/>
            <p:cNvSpPr/>
            <p:nvPr/>
          </p:nvSpPr>
          <p:spPr>
            <a:xfrm>
              <a:off x="356616" y="2452521"/>
              <a:ext cx="566928" cy="329184"/>
            </a:xfrm>
            <a:prstGeom prst="rect">
              <a:avLst/>
            </a:prstGeom>
            <a:noFill/>
            <a:ln/>
          </p:spPr>
          <p:txBody>
            <a:bodyPr wrap="square" lIns="0" tIns="0" rIns="0" bIns="0" rtlCol="0" anchor="ctr"/>
            <a:lstStyle/>
            <a:p>
              <a:pPr marL="0" indent="0" algn="ctr">
                <a:buNone/>
              </a:pPr>
              <a:r>
                <a:rPr lang="en-US" sz="800" b="1" dirty="0">
                  <a:solidFill>
                    <a:srgbClr val="0D0A1F"/>
                  </a:solidFill>
                </a:rPr>
                <a:t>HIGH</a:t>
              </a:r>
              <a:endParaRPr lang="en-US" sz="800" dirty="0"/>
            </a:p>
          </p:txBody>
        </p:sp>
        <p:sp>
          <p:nvSpPr>
            <p:cNvPr id="19" name="Text 17"/>
            <p:cNvSpPr/>
            <p:nvPr/>
          </p:nvSpPr>
          <p:spPr>
            <a:xfrm>
              <a:off x="1060704" y="2254799"/>
              <a:ext cx="3337560" cy="237744"/>
            </a:xfrm>
            <a:prstGeom prst="rect">
              <a:avLst/>
            </a:prstGeom>
            <a:noFill/>
            <a:ln/>
          </p:spPr>
          <p:txBody>
            <a:bodyPr wrap="square" lIns="0" tIns="0" rIns="0" bIns="0" rtlCol="0" anchor="ctr"/>
            <a:lstStyle/>
            <a:p>
              <a:pPr marL="0" indent="0">
                <a:buNone/>
              </a:pPr>
              <a:r>
                <a:rPr lang="en-US" sz="1000" b="1" dirty="0">
                  <a:solidFill>
                    <a:srgbClr val="FFFFFF"/>
                  </a:solidFill>
                </a:rPr>
                <a:t>FX / BRL Currency Drag</a:t>
              </a:r>
              <a:endParaRPr lang="en-US" sz="1000" dirty="0"/>
            </a:p>
          </p:txBody>
        </p:sp>
        <p:sp>
          <p:nvSpPr>
            <p:cNvPr id="20" name="Text 18"/>
            <p:cNvSpPr/>
            <p:nvPr/>
          </p:nvSpPr>
          <p:spPr>
            <a:xfrm>
              <a:off x="1060704" y="2502682"/>
              <a:ext cx="3337560" cy="402336"/>
            </a:xfrm>
            <a:prstGeom prst="rect">
              <a:avLst/>
            </a:prstGeom>
            <a:noFill/>
            <a:ln/>
          </p:spPr>
          <p:txBody>
            <a:bodyPr wrap="square" lIns="0" tIns="0" rIns="0" bIns="0" rtlCol="0" anchor="ctr"/>
            <a:lstStyle/>
            <a:p>
              <a:pPr marL="0" indent="0">
                <a:buNone/>
              </a:pPr>
              <a:r>
                <a:rPr lang="en-US" sz="900" dirty="0">
                  <a:solidFill>
                    <a:srgbClr val="E8E4FF"/>
                  </a:solidFill>
                </a:rPr>
                <a:t>Nu reports in USD but generates ~70% of revenue in Brazilian Reais. BRL weakness can significantly distort reported growth. FX-neutral revenue grew 39% in Q3'25, but reported USD growth was 42% — exposure runs both ways.</a:t>
              </a:r>
              <a:endParaRPr lang="en-US" sz="900" dirty="0"/>
            </a:p>
          </p:txBody>
        </p:sp>
        <p:sp>
          <p:nvSpPr>
            <p:cNvPr id="21" name="Shape 19"/>
            <p:cNvSpPr/>
            <p:nvPr/>
          </p:nvSpPr>
          <p:spPr>
            <a:xfrm>
              <a:off x="4617720" y="2251353"/>
              <a:ext cx="4160520" cy="731520"/>
            </a:xfrm>
            <a:prstGeom prst="rect">
              <a:avLst/>
            </a:prstGeom>
            <a:solidFill>
              <a:srgbClr val="1E1850"/>
            </a:solidFill>
            <a:ln/>
          </p:spPr>
        </p:sp>
        <p:sp>
          <p:nvSpPr>
            <p:cNvPr id="22" name="Shape 20"/>
            <p:cNvSpPr/>
            <p:nvPr/>
          </p:nvSpPr>
          <p:spPr>
            <a:xfrm>
              <a:off x="4617720" y="2251353"/>
              <a:ext cx="640080" cy="731520"/>
            </a:xfrm>
            <a:prstGeom prst="rect">
              <a:avLst/>
            </a:prstGeom>
            <a:solidFill>
              <a:srgbClr val="F5C842">
                <a:alpha val="80000"/>
              </a:srgbClr>
            </a:solidFill>
            <a:ln/>
          </p:spPr>
        </p:sp>
        <p:sp>
          <p:nvSpPr>
            <p:cNvPr id="23" name="Text 21"/>
            <p:cNvSpPr/>
            <p:nvPr/>
          </p:nvSpPr>
          <p:spPr>
            <a:xfrm>
              <a:off x="4654296" y="2452521"/>
              <a:ext cx="566928" cy="329184"/>
            </a:xfrm>
            <a:prstGeom prst="rect">
              <a:avLst/>
            </a:prstGeom>
            <a:noFill/>
            <a:ln/>
          </p:spPr>
          <p:txBody>
            <a:bodyPr wrap="square" lIns="0" tIns="0" rIns="0" bIns="0" rtlCol="0" anchor="ctr"/>
            <a:lstStyle/>
            <a:p>
              <a:pPr marL="0" indent="0" algn="ctr">
                <a:buNone/>
              </a:pPr>
              <a:r>
                <a:rPr lang="en-US" sz="800" b="1" dirty="0">
                  <a:solidFill>
                    <a:srgbClr val="0D0A1F"/>
                  </a:solidFill>
                </a:rPr>
                <a:t>HIGH</a:t>
              </a:r>
              <a:endParaRPr lang="en-US" sz="800" dirty="0"/>
            </a:p>
          </p:txBody>
        </p:sp>
        <p:sp>
          <p:nvSpPr>
            <p:cNvPr id="24" name="Text 22"/>
            <p:cNvSpPr/>
            <p:nvPr/>
          </p:nvSpPr>
          <p:spPr>
            <a:xfrm>
              <a:off x="5349240" y="2233065"/>
              <a:ext cx="3337560" cy="237744"/>
            </a:xfrm>
            <a:prstGeom prst="rect">
              <a:avLst/>
            </a:prstGeom>
            <a:noFill/>
            <a:ln/>
          </p:spPr>
          <p:txBody>
            <a:bodyPr wrap="square" lIns="0" tIns="0" rIns="0" bIns="0" rtlCol="0" anchor="ctr"/>
            <a:lstStyle/>
            <a:p>
              <a:pPr marL="0" indent="0">
                <a:buNone/>
              </a:pPr>
              <a:r>
                <a:rPr lang="en-US" sz="1000" b="1" dirty="0">
                  <a:solidFill>
                    <a:srgbClr val="FFFFFF"/>
                  </a:solidFill>
                </a:rPr>
                <a:t>Valuation Premium vs. Growth Rate</a:t>
              </a:r>
              <a:endParaRPr lang="en-US" sz="1000" dirty="0"/>
            </a:p>
          </p:txBody>
        </p:sp>
        <p:sp>
          <p:nvSpPr>
            <p:cNvPr id="25" name="Text 23"/>
            <p:cNvSpPr/>
            <p:nvPr/>
          </p:nvSpPr>
          <p:spPr>
            <a:xfrm>
              <a:off x="5349240" y="2525673"/>
              <a:ext cx="3337560" cy="402336"/>
            </a:xfrm>
            <a:prstGeom prst="rect">
              <a:avLst/>
            </a:prstGeom>
            <a:noFill/>
            <a:ln/>
          </p:spPr>
          <p:txBody>
            <a:bodyPr wrap="square" lIns="0" tIns="0" rIns="0" bIns="0" rtlCol="0" anchor="ctr"/>
            <a:lstStyle/>
            <a:p>
              <a:pPr marL="0" indent="0">
                <a:buNone/>
              </a:pPr>
              <a:r>
                <a:rPr lang="en-US" sz="900" dirty="0">
                  <a:solidFill>
                    <a:srgbClr val="E8E4FF"/>
                  </a:solidFill>
                </a:rPr>
                <a:t>NU trades at ~20–25x forward P/E — premium for a digital bank. If revenue growth decelerates to 20–25% (vs current 30–40% FXN), multiple compression could be severe. Q1 2026 EPS of $0.18 missed $0.20 consensus.</a:t>
              </a:r>
              <a:endParaRPr lang="en-US" sz="900" dirty="0"/>
            </a:p>
          </p:txBody>
        </p:sp>
        <p:sp>
          <p:nvSpPr>
            <p:cNvPr id="26" name="Shape 24"/>
            <p:cNvSpPr/>
            <p:nvPr/>
          </p:nvSpPr>
          <p:spPr>
            <a:xfrm>
              <a:off x="320040" y="3101745"/>
              <a:ext cx="4160520" cy="731520"/>
            </a:xfrm>
            <a:prstGeom prst="rect">
              <a:avLst/>
            </a:prstGeom>
            <a:solidFill>
              <a:srgbClr val="1E1850"/>
            </a:solidFill>
            <a:ln/>
          </p:spPr>
        </p:sp>
        <p:sp>
          <p:nvSpPr>
            <p:cNvPr id="27" name="Shape 25"/>
            <p:cNvSpPr/>
            <p:nvPr/>
          </p:nvSpPr>
          <p:spPr>
            <a:xfrm>
              <a:off x="320040" y="3101745"/>
              <a:ext cx="640080" cy="731520"/>
            </a:xfrm>
            <a:prstGeom prst="rect">
              <a:avLst/>
            </a:prstGeom>
            <a:solidFill>
              <a:srgbClr val="F5C842">
                <a:alpha val="80000"/>
              </a:srgbClr>
            </a:solidFill>
            <a:ln/>
          </p:spPr>
        </p:sp>
        <p:sp>
          <p:nvSpPr>
            <p:cNvPr id="28" name="Text 26"/>
            <p:cNvSpPr/>
            <p:nvPr/>
          </p:nvSpPr>
          <p:spPr>
            <a:xfrm>
              <a:off x="356616" y="3302913"/>
              <a:ext cx="566928" cy="329184"/>
            </a:xfrm>
            <a:prstGeom prst="rect">
              <a:avLst/>
            </a:prstGeom>
            <a:noFill/>
            <a:ln/>
          </p:spPr>
          <p:txBody>
            <a:bodyPr wrap="square" lIns="0" tIns="0" rIns="0" bIns="0" rtlCol="0" anchor="ctr"/>
            <a:lstStyle/>
            <a:p>
              <a:pPr marL="0" indent="0" algn="ctr">
                <a:buNone/>
              </a:pPr>
              <a:r>
                <a:rPr lang="en-US" sz="800" b="1" dirty="0">
                  <a:solidFill>
                    <a:srgbClr val="0D0A1F"/>
                  </a:solidFill>
                </a:rPr>
                <a:t>HIGH</a:t>
              </a:r>
              <a:endParaRPr lang="en-US" sz="800" dirty="0"/>
            </a:p>
          </p:txBody>
        </p:sp>
        <p:sp>
          <p:nvSpPr>
            <p:cNvPr id="29" name="Text 27"/>
            <p:cNvSpPr/>
            <p:nvPr/>
          </p:nvSpPr>
          <p:spPr>
            <a:xfrm>
              <a:off x="1051560" y="3109166"/>
              <a:ext cx="3337560" cy="237744"/>
            </a:xfrm>
            <a:prstGeom prst="rect">
              <a:avLst/>
            </a:prstGeom>
            <a:noFill/>
            <a:ln/>
          </p:spPr>
          <p:txBody>
            <a:bodyPr wrap="square" lIns="0" tIns="0" rIns="0" bIns="0" rtlCol="0" anchor="ctr"/>
            <a:lstStyle/>
            <a:p>
              <a:pPr marL="0" indent="0">
                <a:buNone/>
              </a:pPr>
              <a:r>
                <a:rPr lang="en-US" sz="1000" b="1" dirty="0">
                  <a:solidFill>
                    <a:srgbClr val="FFFFFF"/>
                  </a:solidFill>
                </a:rPr>
                <a:t>Competitive Pressure — Mexico &amp; Colombia</a:t>
              </a:r>
              <a:endParaRPr lang="en-US" sz="1000" dirty="0"/>
            </a:p>
          </p:txBody>
        </p:sp>
        <p:sp>
          <p:nvSpPr>
            <p:cNvPr id="30" name="Text 28"/>
            <p:cNvSpPr/>
            <p:nvPr/>
          </p:nvSpPr>
          <p:spPr>
            <a:xfrm>
              <a:off x="1051560" y="3366988"/>
              <a:ext cx="3337560" cy="402336"/>
            </a:xfrm>
            <a:prstGeom prst="rect">
              <a:avLst/>
            </a:prstGeom>
            <a:noFill/>
            <a:ln/>
          </p:spPr>
          <p:txBody>
            <a:bodyPr wrap="square" lIns="0" tIns="0" rIns="0" bIns="0" rtlCol="0" anchor="ctr"/>
            <a:lstStyle/>
            <a:p>
              <a:pPr marL="0" indent="0">
                <a:buNone/>
              </a:pPr>
              <a:r>
                <a:rPr lang="en-US" sz="900" dirty="0">
                  <a:solidFill>
                    <a:srgbClr val="E8E4FF"/>
                  </a:solidFill>
                </a:rPr>
                <a:t>Banco Santander, BBVA, and local players are digitizing aggressively. Mercado Pago is a formidable payments competitor. Winning Mexico requires sustained investment that may suppress margins for 2–3 years.</a:t>
              </a:r>
              <a:endParaRPr lang="en-US" sz="900" dirty="0"/>
            </a:p>
          </p:txBody>
        </p:sp>
        <p:sp>
          <p:nvSpPr>
            <p:cNvPr id="31" name="Shape 29"/>
            <p:cNvSpPr/>
            <p:nvPr/>
          </p:nvSpPr>
          <p:spPr>
            <a:xfrm>
              <a:off x="4617720" y="3101745"/>
              <a:ext cx="4160520" cy="731520"/>
            </a:xfrm>
            <a:prstGeom prst="rect">
              <a:avLst/>
            </a:prstGeom>
            <a:solidFill>
              <a:srgbClr val="1E1850"/>
            </a:solidFill>
            <a:ln/>
          </p:spPr>
        </p:sp>
        <p:sp>
          <p:nvSpPr>
            <p:cNvPr id="32" name="Shape 30"/>
            <p:cNvSpPr/>
            <p:nvPr/>
          </p:nvSpPr>
          <p:spPr>
            <a:xfrm>
              <a:off x="4617720" y="3101745"/>
              <a:ext cx="640080" cy="731520"/>
            </a:xfrm>
            <a:prstGeom prst="rect">
              <a:avLst/>
            </a:prstGeom>
            <a:solidFill>
              <a:srgbClr val="00D4AA">
                <a:alpha val="80000"/>
              </a:srgbClr>
            </a:solidFill>
            <a:ln/>
          </p:spPr>
        </p:sp>
        <p:sp>
          <p:nvSpPr>
            <p:cNvPr id="33" name="Text 31"/>
            <p:cNvSpPr/>
            <p:nvPr/>
          </p:nvSpPr>
          <p:spPr>
            <a:xfrm>
              <a:off x="4654296" y="3302913"/>
              <a:ext cx="566928" cy="329184"/>
            </a:xfrm>
            <a:prstGeom prst="rect">
              <a:avLst/>
            </a:prstGeom>
            <a:noFill/>
            <a:ln/>
          </p:spPr>
          <p:txBody>
            <a:bodyPr wrap="square" lIns="0" tIns="0" rIns="0" bIns="0" rtlCol="0" anchor="ctr"/>
            <a:lstStyle/>
            <a:p>
              <a:pPr marL="0" indent="0" algn="ctr">
                <a:buNone/>
              </a:pPr>
              <a:r>
                <a:rPr lang="en-US" sz="800" b="1" dirty="0">
                  <a:solidFill>
                    <a:srgbClr val="0D0A1F"/>
                  </a:solidFill>
                </a:rPr>
                <a:t>MEDIUM</a:t>
              </a:r>
              <a:endParaRPr lang="en-US" sz="800" dirty="0"/>
            </a:p>
          </p:txBody>
        </p:sp>
        <p:sp>
          <p:nvSpPr>
            <p:cNvPr id="34" name="Text 32"/>
            <p:cNvSpPr/>
            <p:nvPr/>
          </p:nvSpPr>
          <p:spPr>
            <a:xfrm>
              <a:off x="5349240" y="3092867"/>
              <a:ext cx="3337560" cy="237744"/>
            </a:xfrm>
            <a:prstGeom prst="rect">
              <a:avLst/>
            </a:prstGeom>
            <a:noFill/>
            <a:ln/>
          </p:spPr>
          <p:txBody>
            <a:bodyPr wrap="square" lIns="0" tIns="0" rIns="0" bIns="0" rtlCol="0" anchor="ctr"/>
            <a:lstStyle/>
            <a:p>
              <a:pPr marL="0" indent="0">
                <a:buNone/>
              </a:pPr>
              <a:r>
                <a:rPr lang="en-US" sz="1000" b="1" dirty="0">
                  <a:solidFill>
                    <a:srgbClr val="FFFFFF"/>
                  </a:solidFill>
                </a:rPr>
                <a:t>Regulatory &amp; Geopolitical Risk</a:t>
              </a:r>
              <a:endParaRPr lang="en-US" sz="1000" dirty="0"/>
            </a:p>
          </p:txBody>
        </p:sp>
        <p:sp>
          <p:nvSpPr>
            <p:cNvPr id="35" name="Text 33"/>
            <p:cNvSpPr/>
            <p:nvPr/>
          </p:nvSpPr>
          <p:spPr>
            <a:xfrm>
              <a:off x="5349240" y="3366988"/>
              <a:ext cx="3337560" cy="402336"/>
            </a:xfrm>
            <a:prstGeom prst="rect">
              <a:avLst/>
            </a:prstGeom>
            <a:noFill/>
            <a:ln/>
          </p:spPr>
          <p:txBody>
            <a:bodyPr wrap="square" lIns="0" tIns="0" rIns="0" bIns="0" rtlCol="0" anchor="ctr"/>
            <a:lstStyle/>
            <a:p>
              <a:pPr marL="0" indent="0">
                <a:buNone/>
              </a:pPr>
              <a:r>
                <a:rPr lang="en-US" sz="900" dirty="0">
                  <a:solidFill>
                    <a:srgbClr val="E8E4FF"/>
                  </a:solidFill>
                </a:rPr>
                <a:t>Operating across multiple jurisdictions (Brazil, Mexico, Colombia, Cayman/US) creates regulatory surface area. Brazil Bacen oversight is rigorous. Any change in Open Finance rules, capital requirements, or consumer protection regulation creates compliance burden.</a:t>
              </a:r>
              <a:endParaRPr lang="en-US" sz="900" dirty="0"/>
            </a:p>
          </p:txBody>
        </p:sp>
        <p:sp>
          <p:nvSpPr>
            <p:cNvPr id="36" name="Shape 34"/>
            <p:cNvSpPr/>
            <p:nvPr/>
          </p:nvSpPr>
          <p:spPr>
            <a:xfrm>
              <a:off x="320040" y="3952137"/>
              <a:ext cx="4160520" cy="731520"/>
            </a:xfrm>
            <a:prstGeom prst="rect">
              <a:avLst/>
            </a:prstGeom>
            <a:solidFill>
              <a:srgbClr val="1E1850"/>
            </a:solidFill>
            <a:ln/>
          </p:spPr>
        </p:sp>
        <p:sp>
          <p:nvSpPr>
            <p:cNvPr id="37" name="Shape 35"/>
            <p:cNvSpPr/>
            <p:nvPr/>
          </p:nvSpPr>
          <p:spPr>
            <a:xfrm>
              <a:off x="320040" y="3952137"/>
              <a:ext cx="640080" cy="731520"/>
            </a:xfrm>
            <a:prstGeom prst="rect">
              <a:avLst/>
            </a:prstGeom>
            <a:solidFill>
              <a:srgbClr val="00D4AA">
                <a:alpha val="80000"/>
              </a:srgbClr>
            </a:solidFill>
            <a:ln/>
          </p:spPr>
        </p:sp>
        <p:sp>
          <p:nvSpPr>
            <p:cNvPr id="38" name="Text 36"/>
            <p:cNvSpPr/>
            <p:nvPr/>
          </p:nvSpPr>
          <p:spPr>
            <a:xfrm>
              <a:off x="356616" y="4153305"/>
              <a:ext cx="566928" cy="329184"/>
            </a:xfrm>
            <a:prstGeom prst="rect">
              <a:avLst/>
            </a:prstGeom>
            <a:noFill/>
            <a:ln/>
          </p:spPr>
          <p:txBody>
            <a:bodyPr wrap="square" lIns="0" tIns="0" rIns="0" bIns="0" rtlCol="0" anchor="ctr"/>
            <a:lstStyle/>
            <a:p>
              <a:pPr marL="0" indent="0" algn="ctr">
                <a:buNone/>
              </a:pPr>
              <a:r>
                <a:rPr lang="en-US" sz="800" b="1" dirty="0">
                  <a:solidFill>
                    <a:srgbClr val="0D0A1F"/>
                  </a:solidFill>
                </a:rPr>
                <a:t>MEDIUM</a:t>
              </a:r>
              <a:endParaRPr lang="en-US" sz="800" dirty="0"/>
            </a:p>
          </p:txBody>
        </p:sp>
        <p:sp>
          <p:nvSpPr>
            <p:cNvPr id="39" name="Text 37"/>
            <p:cNvSpPr/>
            <p:nvPr/>
          </p:nvSpPr>
          <p:spPr>
            <a:xfrm>
              <a:off x="1060704" y="3988713"/>
              <a:ext cx="3337560" cy="237744"/>
            </a:xfrm>
            <a:prstGeom prst="rect">
              <a:avLst/>
            </a:prstGeom>
            <a:noFill/>
            <a:ln/>
          </p:spPr>
          <p:txBody>
            <a:bodyPr wrap="square" lIns="0" tIns="0" rIns="0" bIns="0" rtlCol="0" anchor="ctr"/>
            <a:lstStyle/>
            <a:p>
              <a:pPr marL="0" indent="0">
                <a:buNone/>
              </a:pPr>
              <a:r>
                <a:rPr lang="en-US" sz="1000" b="1" dirty="0">
                  <a:solidFill>
                    <a:srgbClr val="FFFFFF"/>
                  </a:solidFill>
                </a:rPr>
                <a:t>US Bank Charter Execution Risk</a:t>
              </a:r>
              <a:endParaRPr lang="en-US" sz="1000" dirty="0"/>
            </a:p>
          </p:txBody>
        </p:sp>
        <p:sp>
          <p:nvSpPr>
            <p:cNvPr id="40" name="Text 38"/>
            <p:cNvSpPr/>
            <p:nvPr/>
          </p:nvSpPr>
          <p:spPr>
            <a:xfrm>
              <a:off x="1051560" y="4228314"/>
              <a:ext cx="3337560" cy="402336"/>
            </a:xfrm>
            <a:prstGeom prst="rect">
              <a:avLst/>
            </a:prstGeom>
            <a:noFill/>
            <a:ln/>
          </p:spPr>
          <p:txBody>
            <a:bodyPr wrap="square" lIns="0" tIns="0" rIns="0" bIns="0" rtlCol="0" anchor="ctr"/>
            <a:lstStyle/>
            <a:p>
              <a:pPr marL="0" indent="0">
                <a:buNone/>
              </a:pPr>
              <a:r>
                <a:rPr lang="en-US" sz="900" dirty="0">
                  <a:solidFill>
                    <a:srgbClr val="E8E4FF"/>
                  </a:solidFill>
                </a:rPr>
                <a:t>Nu received conditional approval for a US bank charter. Execution in the US market — where incumbents are powerful and brand recognition is zero — carries significant capital and management bandwidth risk.</a:t>
              </a:r>
              <a:endParaRPr lang="en-US" sz="900" dirty="0"/>
            </a:p>
          </p:txBody>
        </p:sp>
        <p:sp>
          <p:nvSpPr>
            <p:cNvPr id="41" name="Shape 39"/>
            <p:cNvSpPr/>
            <p:nvPr/>
          </p:nvSpPr>
          <p:spPr>
            <a:xfrm>
              <a:off x="4617720" y="3952137"/>
              <a:ext cx="4160520" cy="731520"/>
            </a:xfrm>
            <a:prstGeom prst="rect">
              <a:avLst/>
            </a:prstGeom>
            <a:solidFill>
              <a:srgbClr val="1E1850"/>
            </a:solidFill>
            <a:ln/>
          </p:spPr>
        </p:sp>
        <p:sp>
          <p:nvSpPr>
            <p:cNvPr id="42" name="Shape 40"/>
            <p:cNvSpPr/>
            <p:nvPr/>
          </p:nvSpPr>
          <p:spPr>
            <a:xfrm>
              <a:off x="4617720" y="3952137"/>
              <a:ext cx="640080" cy="731520"/>
            </a:xfrm>
            <a:prstGeom prst="rect">
              <a:avLst/>
            </a:prstGeom>
            <a:solidFill>
              <a:srgbClr val="9B96C9">
                <a:alpha val="80000"/>
              </a:srgbClr>
            </a:solidFill>
            <a:ln/>
          </p:spPr>
        </p:sp>
        <p:sp>
          <p:nvSpPr>
            <p:cNvPr id="43" name="Text 41"/>
            <p:cNvSpPr/>
            <p:nvPr/>
          </p:nvSpPr>
          <p:spPr>
            <a:xfrm>
              <a:off x="4654296" y="4153305"/>
              <a:ext cx="566928" cy="329184"/>
            </a:xfrm>
            <a:prstGeom prst="rect">
              <a:avLst/>
            </a:prstGeom>
            <a:noFill/>
            <a:ln/>
          </p:spPr>
          <p:txBody>
            <a:bodyPr wrap="square" lIns="0" tIns="0" rIns="0" bIns="0" rtlCol="0" anchor="ctr"/>
            <a:lstStyle/>
            <a:p>
              <a:pPr marL="0" indent="0" algn="ctr">
                <a:buNone/>
              </a:pPr>
              <a:r>
                <a:rPr lang="en-US" sz="800" b="1" dirty="0">
                  <a:solidFill>
                    <a:srgbClr val="0D0A1F"/>
                  </a:solidFill>
                </a:rPr>
                <a:t>WATCH</a:t>
              </a:r>
              <a:endParaRPr lang="en-US" sz="800" dirty="0"/>
            </a:p>
          </p:txBody>
        </p:sp>
        <p:sp>
          <p:nvSpPr>
            <p:cNvPr id="44" name="Text 42"/>
            <p:cNvSpPr/>
            <p:nvPr/>
          </p:nvSpPr>
          <p:spPr>
            <a:xfrm>
              <a:off x="5349240" y="3965853"/>
              <a:ext cx="3337560" cy="237744"/>
            </a:xfrm>
            <a:prstGeom prst="rect">
              <a:avLst/>
            </a:prstGeom>
            <a:noFill/>
            <a:ln/>
          </p:spPr>
          <p:txBody>
            <a:bodyPr wrap="square" lIns="0" tIns="0" rIns="0" bIns="0" rtlCol="0" anchor="ctr"/>
            <a:lstStyle/>
            <a:p>
              <a:pPr marL="0" indent="0">
                <a:buNone/>
              </a:pPr>
              <a:r>
                <a:rPr lang="en-US" sz="1000" b="1" dirty="0">
                  <a:solidFill>
                    <a:srgbClr val="FFFFFF"/>
                  </a:solidFill>
                </a:rPr>
                <a:t>AI Over-Reliance &amp; Model Risk</a:t>
              </a:r>
              <a:endParaRPr lang="en-US" sz="1000" dirty="0"/>
            </a:p>
          </p:txBody>
        </p:sp>
        <p:sp>
          <p:nvSpPr>
            <p:cNvPr id="45" name="Text 43"/>
            <p:cNvSpPr/>
            <p:nvPr/>
          </p:nvSpPr>
          <p:spPr>
            <a:xfrm>
              <a:off x="5349240" y="4217312"/>
              <a:ext cx="3337560" cy="402336"/>
            </a:xfrm>
            <a:prstGeom prst="rect">
              <a:avLst/>
            </a:prstGeom>
            <a:noFill/>
            <a:ln/>
          </p:spPr>
          <p:txBody>
            <a:bodyPr wrap="square" lIns="0" tIns="0" rIns="0" bIns="0" rtlCol="0" anchor="ctr"/>
            <a:lstStyle/>
            <a:p>
              <a:pPr marL="0" indent="0">
                <a:buNone/>
              </a:pPr>
              <a:r>
                <a:rPr lang="en-US" sz="900" dirty="0">
                  <a:solidFill>
                    <a:srgbClr val="E8E4FF"/>
                  </a:solidFill>
                </a:rPr>
                <a:t>Nu's underwriting, pricing, and service increasingly rely on proprietary AI models. A model failure — especially in a stress scenario — could produce unexpected credit losses that historical data cannot predict.</a:t>
              </a:r>
              <a:endParaRPr lang="en-US" sz="900" dirty="0"/>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0A1F"/>
        </a:solidFill>
        <a:effectLst/>
      </p:bgPr>
    </p:bg>
    <p:spTree>
      <p:nvGrpSpPr>
        <p:cNvPr id="1" name=""/>
        <p:cNvGrpSpPr/>
        <p:nvPr/>
      </p:nvGrpSpPr>
      <p:grpSpPr>
        <a:xfrm>
          <a:off x="0" y="0"/>
          <a:ext cx="0" cy="0"/>
          <a:chOff x="0" y="0"/>
          <a:chExt cx="0" cy="0"/>
        </a:xfrm>
      </p:grpSpPr>
      <p:sp>
        <p:nvSpPr>
          <p:cNvPr id="2" name="Shape 0"/>
          <p:cNvSpPr/>
          <p:nvPr/>
        </p:nvSpPr>
        <p:spPr>
          <a:xfrm>
            <a:off x="320039" y="164592"/>
            <a:ext cx="4042235" cy="256032"/>
          </a:xfrm>
          <a:prstGeom prst="roundRect">
            <a:avLst>
              <a:gd name="adj" fmla="val 28571"/>
            </a:avLst>
          </a:prstGeom>
          <a:solidFill>
            <a:srgbClr val="6C3BF5"/>
          </a:solidFill>
          <a:ln/>
        </p:spPr>
      </p:sp>
      <p:sp>
        <p:nvSpPr>
          <p:cNvPr id="3" name="Text 1"/>
          <p:cNvSpPr/>
          <p:nvPr/>
        </p:nvSpPr>
        <p:spPr>
          <a:xfrm>
            <a:off x="320040" y="164592"/>
            <a:ext cx="3111058" cy="219456"/>
          </a:xfrm>
          <a:prstGeom prst="rect">
            <a:avLst/>
          </a:prstGeom>
          <a:noFill/>
          <a:ln/>
        </p:spPr>
        <p:txBody>
          <a:bodyPr wrap="square" lIns="0" tIns="0" rIns="0" bIns="0" rtlCol="0" anchor="ctr"/>
          <a:lstStyle/>
          <a:p>
            <a:pPr marL="0" indent="0" algn="ctr">
              <a:buNone/>
            </a:pPr>
            <a:r>
              <a:rPr lang="en-US" sz="1000" b="1" dirty="0">
                <a:solidFill>
                  <a:srgbClr val="FFFFFF"/>
                </a:solidFill>
              </a:rPr>
              <a:t>SECTION 8: INVESTMENT THESIS — THREE CORE BELIEFS</a:t>
            </a:r>
            <a:endParaRPr lang="en-US" sz="1000" dirty="0"/>
          </a:p>
        </p:txBody>
      </p:sp>
      <p:sp>
        <p:nvSpPr>
          <p:cNvPr id="4" name="Text 2"/>
          <p:cNvSpPr/>
          <p:nvPr/>
        </p:nvSpPr>
        <p:spPr>
          <a:xfrm>
            <a:off x="320040" y="426329"/>
            <a:ext cx="8503920" cy="502920"/>
          </a:xfrm>
          <a:prstGeom prst="rect">
            <a:avLst/>
          </a:prstGeom>
          <a:noFill/>
          <a:ln/>
        </p:spPr>
        <p:txBody>
          <a:bodyPr wrap="square" lIns="0" tIns="0" rIns="0" bIns="0" rtlCol="0" anchor="ctr"/>
          <a:lstStyle/>
          <a:p>
            <a:pPr marL="0" indent="0">
              <a:buNone/>
            </a:pPr>
            <a:r>
              <a:rPr lang="en-US" sz="2200" b="1" dirty="0">
                <a:solidFill>
                  <a:srgbClr val="FFFFFF"/>
                </a:solidFill>
              </a:rPr>
              <a:t>All Three Must Hold Simultaneously for the Bull Case to Work</a:t>
            </a:r>
            <a:endParaRPr lang="en-US" sz="2200" dirty="0"/>
          </a:p>
        </p:txBody>
      </p:sp>
      <p:sp>
        <p:nvSpPr>
          <p:cNvPr id="5" name="Shape 3"/>
          <p:cNvSpPr/>
          <p:nvPr/>
        </p:nvSpPr>
        <p:spPr>
          <a:xfrm>
            <a:off x="320039" y="1033272"/>
            <a:ext cx="8503920" cy="1115568"/>
          </a:xfrm>
          <a:prstGeom prst="rect">
            <a:avLst/>
          </a:prstGeom>
          <a:solidFill>
            <a:srgbClr val="1E1850"/>
          </a:solidFill>
          <a:ln/>
          <a:effectLst>
            <a:outerShdw blurRad="152400" dist="50800" dir="8100000" algn="bl" rotWithShape="0">
              <a:srgbClr val="000000">
                <a:alpha val="25000"/>
              </a:srgbClr>
            </a:outerShdw>
          </a:effectLst>
        </p:spPr>
      </p:sp>
      <p:sp>
        <p:nvSpPr>
          <p:cNvPr id="6" name="Shape 4"/>
          <p:cNvSpPr/>
          <p:nvPr/>
        </p:nvSpPr>
        <p:spPr>
          <a:xfrm>
            <a:off x="320039" y="1033272"/>
            <a:ext cx="502920" cy="1115568"/>
          </a:xfrm>
          <a:prstGeom prst="rect">
            <a:avLst/>
          </a:prstGeom>
          <a:solidFill>
            <a:srgbClr val="6C3BF5"/>
          </a:solidFill>
          <a:ln/>
        </p:spPr>
      </p:sp>
      <p:sp>
        <p:nvSpPr>
          <p:cNvPr id="7" name="Text 5"/>
          <p:cNvSpPr/>
          <p:nvPr/>
        </p:nvSpPr>
        <p:spPr>
          <a:xfrm>
            <a:off x="320039" y="1380744"/>
            <a:ext cx="502920" cy="402336"/>
          </a:xfrm>
          <a:prstGeom prst="rect">
            <a:avLst/>
          </a:prstGeom>
          <a:noFill/>
          <a:ln/>
        </p:spPr>
        <p:txBody>
          <a:bodyPr wrap="square" lIns="0" tIns="0" rIns="0" bIns="0" rtlCol="0" anchor="ctr"/>
          <a:lstStyle/>
          <a:p>
            <a:pPr marL="0" indent="0" algn="ctr">
              <a:buNone/>
            </a:pPr>
            <a:r>
              <a:rPr lang="en-US" sz="1600" b="1" dirty="0">
                <a:solidFill>
                  <a:srgbClr val="FFFFFF"/>
                </a:solidFill>
              </a:rPr>
              <a:t>01</a:t>
            </a:r>
            <a:endParaRPr lang="en-US" sz="1600" dirty="0"/>
          </a:p>
        </p:txBody>
      </p:sp>
      <p:sp>
        <p:nvSpPr>
          <p:cNvPr id="8" name="Text 6"/>
          <p:cNvSpPr/>
          <p:nvPr/>
        </p:nvSpPr>
        <p:spPr>
          <a:xfrm>
            <a:off x="932687" y="1106424"/>
            <a:ext cx="7772400" cy="274320"/>
          </a:xfrm>
          <a:prstGeom prst="rect">
            <a:avLst/>
          </a:prstGeom>
          <a:noFill/>
          <a:ln/>
        </p:spPr>
        <p:txBody>
          <a:bodyPr wrap="square" lIns="0" tIns="0" rIns="0" bIns="0" rtlCol="0" anchor="ctr"/>
          <a:lstStyle/>
          <a:p>
            <a:pPr marL="0" indent="0">
              <a:buNone/>
            </a:pPr>
            <a:r>
              <a:rPr lang="en-US" sz="1400" b="1" dirty="0">
                <a:solidFill>
                  <a:srgbClr val="FFFFFF"/>
                </a:solidFill>
              </a:rPr>
              <a:t>LatAm Financial Inclusion Is Structural, Not Cyclical</a:t>
            </a:r>
            <a:endParaRPr lang="en-US" sz="1400" dirty="0"/>
          </a:p>
        </p:txBody>
      </p:sp>
      <p:sp>
        <p:nvSpPr>
          <p:cNvPr id="9" name="Text 7"/>
          <p:cNvSpPr/>
          <p:nvPr/>
        </p:nvSpPr>
        <p:spPr>
          <a:xfrm>
            <a:off x="932687" y="1417320"/>
            <a:ext cx="7772400" cy="329184"/>
          </a:xfrm>
          <a:prstGeom prst="rect">
            <a:avLst/>
          </a:prstGeom>
          <a:noFill/>
          <a:ln/>
        </p:spPr>
        <p:txBody>
          <a:bodyPr wrap="square" lIns="0" tIns="0" rIns="0" bIns="0" rtlCol="0" anchor="ctr"/>
          <a:lstStyle/>
          <a:p>
            <a:pPr marL="0" indent="0">
              <a:buNone/>
            </a:pPr>
            <a:r>
              <a:rPr lang="en-US" sz="1000" b="1" dirty="0">
                <a:solidFill>
                  <a:srgbClr val="24D66B"/>
                </a:solidFill>
              </a:rPr>
              <a:t>IF TRUE: </a:t>
            </a:r>
            <a:r>
              <a:rPr lang="en-US" sz="1000" dirty="0">
                <a:solidFill>
                  <a:srgbClr val="E8E4FF"/>
                </a:solidFill>
              </a:rPr>
              <a:t>650M LatAm adults. 60–70% were unbanked or underbanked before Nu. Smartphone penetration &gt;80% and accelerating. Nu's zero-fee model unlocks credit for first-timers. Over 50% of Brazilian adults are already Nu customers — global peers don't exist at this scale.</a:t>
            </a:r>
            <a:endParaRPr lang="en-US" sz="1000" dirty="0"/>
          </a:p>
        </p:txBody>
      </p:sp>
      <p:sp>
        <p:nvSpPr>
          <p:cNvPr id="10" name="Text 8"/>
          <p:cNvSpPr/>
          <p:nvPr/>
        </p:nvSpPr>
        <p:spPr>
          <a:xfrm>
            <a:off x="932687" y="1783080"/>
            <a:ext cx="7772400" cy="329184"/>
          </a:xfrm>
          <a:prstGeom prst="rect">
            <a:avLst/>
          </a:prstGeom>
          <a:noFill/>
          <a:ln/>
        </p:spPr>
        <p:txBody>
          <a:bodyPr wrap="square" lIns="0" tIns="0" rIns="0" bIns="0" rtlCol="0" anchor="ctr"/>
          <a:lstStyle/>
          <a:p>
            <a:pPr marL="0" indent="0">
              <a:buNone/>
            </a:pPr>
            <a:r>
              <a:rPr lang="en-US" sz="1000" b="1" dirty="0">
                <a:solidFill>
                  <a:srgbClr val="FF5B6B"/>
                </a:solidFill>
              </a:rPr>
              <a:t>IF FALSE: </a:t>
            </a:r>
            <a:r>
              <a:rPr lang="en-US" sz="1000" dirty="0">
                <a:solidFill>
                  <a:srgbClr val="E8E4FF"/>
                </a:solidFill>
              </a:rPr>
              <a:t>If Brazil enters a prolonged credit crunch — rising delinquencies, Selic rate shock, consumer confidence collapse — Nu's unsecured consumer portfolio could generate unexpected losses that overwhelm ARPAC growth. This is cyclical, not structural risk but can last 2–3 years.</a:t>
            </a:r>
            <a:endParaRPr lang="en-US" sz="1000" dirty="0"/>
          </a:p>
        </p:txBody>
      </p:sp>
      <p:sp>
        <p:nvSpPr>
          <p:cNvPr id="11" name="Shape 9"/>
          <p:cNvSpPr/>
          <p:nvPr/>
        </p:nvSpPr>
        <p:spPr>
          <a:xfrm>
            <a:off x="320039" y="2267712"/>
            <a:ext cx="8503920" cy="1115568"/>
          </a:xfrm>
          <a:prstGeom prst="rect">
            <a:avLst/>
          </a:prstGeom>
          <a:solidFill>
            <a:srgbClr val="1E1850"/>
          </a:solidFill>
          <a:ln/>
          <a:effectLst>
            <a:outerShdw blurRad="152400" dist="50800" dir="8100000" algn="bl" rotWithShape="0">
              <a:srgbClr val="000000">
                <a:alpha val="25000"/>
              </a:srgbClr>
            </a:outerShdw>
          </a:effectLst>
        </p:spPr>
      </p:sp>
      <p:sp>
        <p:nvSpPr>
          <p:cNvPr id="12" name="Shape 10"/>
          <p:cNvSpPr/>
          <p:nvPr/>
        </p:nvSpPr>
        <p:spPr>
          <a:xfrm>
            <a:off x="320039" y="2267712"/>
            <a:ext cx="502920" cy="1115568"/>
          </a:xfrm>
          <a:prstGeom prst="rect">
            <a:avLst/>
          </a:prstGeom>
          <a:solidFill>
            <a:srgbClr val="00D4AA"/>
          </a:solidFill>
          <a:ln/>
        </p:spPr>
      </p:sp>
      <p:sp>
        <p:nvSpPr>
          <p:cNvPr id="13" name="Text 11"/>
          <p:cNvSpPr/>
          <p:nvPr/>
        </p:nvSpPr>
        <p:spPr>
          <a:xfrm>
            <a:off x="320039" y="2615184"/>
            <a:ext cx="502920" cy="402336"/>
          </a:xfrm>
          <a:prstGeom prst="rect">
            <a:avLst/>
          </a:prstGeom>
          <a:noFill/>
          <a:ln/>
        </p:spPr>
        <p:txBody>
          <a:bodyPr wrap="square" lIns="0" tIns="0" rIns="0" bIns="0" rtlCol="0" anchor="ctr"/>
          <a:lstStyle/>
          <a:p>
            <a:pPr marL="0" indent="0" algn="ctr">
              <a:buNone/>
            </a:pPr>
            <a:r>
              <a:rPr lang="en-US" sz="1600" b="1" dirty="0">
                <a:solidFill>
                  <a:srgbClr val="FFFFFF"/>
                </a:solidFill>
              </a:rPr>
              <a:t>02</a:t>
            </a:r>
            <a:endParaRPr lang="en-US" sz="1600" dirty="0"/>
          </a:p>
        </p:txBody>
      </p:sp>
      <p:sp>
        <p:nvSpPr>
          <p:cNvPr id="14" name="Text 12"/>
          <p:cNvSpPr/>
          <p:nvPr/>
        </p:nvSpPr>
        <p:spPr>
          <a:xfrm>
            <a:off x="932687" y="2340864"/>
            <a:ext cx="7772400" cy="274320"/>
          </a:xfrm>
          <a:prstGeom prst="rect">
            <a:avLst/>
          </a:prstGeom>
          <a:noFill/>
          <a:ln/>
        </p:spPr>
        <p:txBody>
          <a:bodyPr wrap="square" lIns="0" tIns="0" rIns="0" bIns="0" rtlCol="0" anchor="ctr"/>
          <a:lstStyle/>
          <a:p>
            <a:pPr marL="0" indent="0">
              <a:buNone/>
            </a:pPr>
            <a:r>
              <a:rPr lang="en-US" sz="1400" b="1" dirty="0">
                <a:solidFill>
                  <a:srgbClr val="FFFFFF"/>
                </a:solidFill>
              </a:rPr>
              <a:t>Mexico Replicates the Brazil Flywheel</a:t>
            </a:r>
            <a:endParaRPr lang="en-US" sz="1400" dirty="0"/>
          </a:p>
        </p:txBody>
      </p:sp>
      <p:sp>
        <p:nvSpPr>
          <p:cNvPr id="15" name="Text 13"/>
          <p:cNvSpPr/>
          <p:nvPr/>
        </p:nvSpPr>
        <p:spPr>
          <a:xfrm>
            <a:off x="932687" y="2651760"/>
            <a:ext cx="7772400" cy="329184"/>
          </a:xfrm>
          <a:prstGeom prst="rect">
            <a:avLst/>
          </a:prstGeom>
          <a:noFill/>
          <a:ln/>
        </p:spPr>
        <p:txBody>
          <a:bodyPr wrap="square" lIns="0" tIns="0" rIns="0" bIns="0" rtlCol="0" anchor="ctr"/>
          <a:lstStyle/>
          <a:p>
            <a:pPr marL="0" indent="0">
              <a:buNone/>
            </a:pPr>
            <a:r>
              <a:rPr lang="en-US" sz="1000" b="1" dirty="0">
                <a:solidFill>
                  <a:srgbClr val="24D66B"/>
                </a:solidFill>
              </a:rPr>
              <a:t>IF TRUE: </a:t>
            </a:r>
            <a:r>
              <a:rPr lang="en-US" sz="1000" dirty="0">
                <a:solidFill>
                  <a:srgbClr val="E8E4FF"/>
                </a:solidFill>
              </a:rPr>
              <a:t>Nu reached Mexico break-even in Q1 2026 — exactly the trajectory Brazil followed 4–5 years earlier. Mexico has 130M people, low banking penetration, and Nu just became the 3rd largest bank by customers. If the Brazil growth curve replicates, Mexico adds $5–8B revenue by 2030.</a:t>
            </a:r>
            <a:endParaRPr lang="en-US" sz="1000" dirty="0"/>
          </a:p>
        </p:txBody>
      </p:sp>
      <p:sp>
        <p:nvSpPr>
          <p:cNvPr id="16" name="Text 14"/>
          <p:cNvSpPr/>
          <p:nvPr/>
        </p:nvSpPr>
        <p:spPr>
          <a:xfrm>
            <a:off x="932687" y="3017520"/>
            <a:ext cx="7772400" cy="329184"/>
          </a:xfrm>
          <a:prstGeom prst="rect">
            <a:avLst/>
          </a:prstGeom>
          <a:noFill/>
          <a:ln/>
        </p:spPr>
        <p:txBody>
          <a:bodyPr wrap="square" lIns="0" tIns="0" rIns="0" bIns="0" rtlCol="0" anchor="ctr"/>
          <a:lstStyle/>
          <a:p>
            <a:pPr marL="0" indent="0">
              <a:buNone/>
            </a:pPr>
            <a:r>
              <a:rPr lang="en-US" sz="1000" b="1" dirty="0">
                <a:solidFill>
                  <a:srgbClr val="FF5B6B"/>
                </a:solidFill>
              </a:rPr>
              <a:t>IF FALSE: </a:t>
            </a:r>
            <a:r>
              <a:rPr lang="en-US" sz="1000" dirty="0">
                <a:solidFill>
                  <a:srgbClr val="E8E4FF"/>
                </a:solidFill>
              </a:rPr>
              <a:t>BBVA and Santander have deep Mexico roots. Mercado Pago has payments dominance. If Nu cannot achieve the credit product depth it built in Brazil — due to regulatory differences, data limitations, or competition — Mexico stays a subscale contributor and the growth story narrows.</a:t>
            </a:r>
            <a:endParaRPr lang="en-US" sz="1000" dirty="0"/>
          </a:p>
        </p:txBody>
      </p:sp>
      <p:sp>
        <p:nvSpPr>
          <p:cNvPr id="17" name="Shape 15"/>
          <p:cNvSpPr/>
          <p:nvPr/>
        </p:nvSpPr>
        <p:spPr>
          <a:xfrm>
            <a:off x="320039" y="3502152"/>
            <a:ext cx="8503920" cy="1115568"/>
          </a:xfrm>
          <a:prstGeom prst="rect">
            <a:avLst/>
          </a:prstGeom>
          <a:solidFill>
            <a:srgbClr val="1E1850"/>
          </a:solidFill>
          <a:ln/>
          <a:effectLst>
            <a:outerShdw blurRad="152400" dist="50800" dir="8100000" algn="bl" rotWithShape="0">
              <a:srgbClr val="000000">
                <a:alpha val="25000"/>
              </a:srgbClr>
            </a:outerShdw>
          </a:effectLst>
        </p:spPr>
      </p:sp>
      <p:sp>
        <p:nvSpPr>
          <p:cNvPr id="18" name="Shape 16"/>
          <p:cNvSpPr/>
          <p:nvPr/>
        </p:nvSpPr>
        <p:spPr>
          <a:xfrm>
            <a:off x="320039" y="3502152"/>
            <a:ext cx="502920" cy="1115568"/>
          </a:xfrm>
          <a:prstGeom prst="rect">
            <a:avLst/>
          </a:prstGeom>
          <a:solidFill>
            <a:srgbClr val="6C3BF5"/>
          </a:solidFill>
          <a:ln/>
        </p:spPr>
      </p:sp>
      <p:sp>
        <p:nvSpPr>
          <p:cNvPr id="19" name="Text 17"/>
          <p:cNvSpPr/>
          <p:nvPr/>
        </p:nvSpPr>
        <p:spPr>
          <a:xfrm>
            <a:off x="320039" y="3849624"/>
            <a:ext cx="502920" cy="402336"/>
          </a:xfrm>
          <a:prstGeom prst="rect">
            <a:avLst/>
          </a:prstGeom>
          <a:noFill/>
          <a:ln/>
        </p:spPr>
        <p:txBody>
          <a:bodyPr wrap="square" lIns="0" tIns="0" rIns="0" bIns="0" rtlCol="0" anchor="ctr"/>
          <a:lstStyle/>
          <a:p>
            <a:pPr marL="0" indent="0" algn="ctr">
              <a:buNone/>
            </a:pPr>
            <a:r>
              <a:rPr lang="en-US" sz="1600" b="1" dirty="0">
                <a:solidFill>
                  <a:srgbClr val="FFFFFF"/>
                </a:solidFill>
              </a:rPr>
              <a:t>03</a:t>
            </a:r>
            <a:endParaRPr lang="en-US" sz="1600" dirty="0"/>
          </a:p>
        </p:txBody>
      </p:sp>
      <p:sp>
        <p:nvSpPr>
          <p:cNvPr id="20" name="Text 18"/>
          <p:cNvSpPr/>
          <p:nvPr/>
        </p:nvSpPr>
        <p:spPr>
          <a:xfrm>
            <a:off x="932687" y="3575304"/>
            <a:ext cx="7772400" cy="274320"/>
          </a:xfrm>
          <a:prstGeom prst="rect">
            <a:avLst/>
          </a:prstGeom>
          <a:noFill/>
          <a:ln/>
        </p:spPr>
        <p:txBody>
          <a:bodyPr wrap="square" lIns="0" tIns="0" rIns="0" bIns="0" rtlCol="0" anchor="ctr"/>
          <a:lstStyle/>
          <a:p>
            <a:pPr marL="0" indent="0">
              <a:buNone/>
            </a:pPr>
            <a:r>
              <a:rPr lang="en-US" sz="1400" b="1" dirty="0">
                <a:solidFill>
                  <a:srgbClr val="FFFFFF"/>
                </a:solidFill>
              </a:rPr>
              <a:t>AI-Driven Efficiency Sustains a Structural Margin Advantage</a:t>
            </a:r>
            <a:endParaRPr lang="en-US" sz="1400" dirty="0"/>
          </a:p>
        </p:txBody>
      </p:sp>
      <p:sp>
        <p:nvSpPr>
          <p:cNvPr id="21" name="Text 19"/>
          <p:cNvSpPr/>
          <p:nvPr/>
        </p:nvSpPr>
        <p:spPr>
          <a:xfrm>
            <a:off x="932687" y="3886200"/>
            <a:ext cx="7772400" cy="329184"/>
          </a:xfrm>
          <a:prstGeom prst="rect">
            <a:avLst/>
          </a:prstGeom>
          <a:noFill/>
          <a:ln/>
        </p:spPr>
        <p:txBody>
          <a:bodyPr wrap="square" lIns="0" tIns="0" rIns="0" bIns="0" rtlCol="0" anchor="ctr"/>
          <a:lstStyle/>
          <a:p>
            <a:pPr marL="0" indent="0">
              <a:buNone/>
            </a:pPr>
            <a:r>
              <a:rPr lang="en-US" sz="1000" b="1" dirty="0">
                <a:solidFill>
                  <a:srgbClr val="24D66B"/>
                </a:solidFill>
              </a:rPr>
              <a:t>IF TRUE: </a:t>
            </a:r>
            <a:r>
              <a:rPr lang="en-US" sz="1000" dirty="0">
                <a:solidFill>
                  <a:srgbClr val="E8E4FF"/>
                </a:solidFill>
              </a:rPr>
              <a:t>17.6% efficiency ratio is not a one-quarter anomaly — it is the compounding result of zero branches, AI-automated service, and a data moat that grows with every customer. As ARPAC scales from $16 to $30–40, operating leverage should push net margins above 20%.</a:t>
            </a:r>
            <a:endParaRPr lang="en-US" sz="1000" dirty="0"/>
          </a:p>
        </p:txBody>
      </p:sp>
      <p:sp>
        <p:nvSpPr>
          <p:cNvPr id="22" name="Text 20"/>
          <p:cNvSpPr/>
          <p:nvPr/>
        </p:nvSpPr>
        <p:spPr>
          <a:xfrm>
            <a:off x="932687" y="4251960"/>
            <a:ext cx="7772400" cy="329184"/>
          </a:xfrm>
          <a:prstGeom prst="rect">
            <a:avLst/>
          </a:prstGeom>
          <a:noFill/>
          <a:ln/>
        </p:spPr>
        <p:txBody>
          <a:bodyPr wrap="square" lIns="0" tIns="0" rIns="0" bIns="0" rtlCol="0" anchor="ctr"/>
          <a:lstStyle/>
          <a:p>
            <a:pPr marL="0" indent="0">
              <a:buNone/>
            </a:pPr>
            <a:r>
              <a:rPr lang="en-US" sz="1000" b="1" dirty="0">
                <a:solidFill>
                  <a:srgbClr val="FF5B6B"/>
                </a:solidFill>
              </a:rPr>
              <a:t>IF FALSE: </a:t>
            </a:r>
            <a:r>
              <a:rPr lang="en-US" sz="1000" dirty="0">
                <a:solidFill>
                  <a:srgbClr val="E8E4FF"/>
                </a:solidFill>
              </a:rPr>
              <a:t>If AI model failures cause credit losses (a non-trivial risk as Nu pushes into higher-risk lending), or if regulators require more human oversight, or if US expansion requires building physical infrastructure — the cost structure degrades and the efficiency narrative breaks.</a:t>
            </a:r>
            <a:endParaRPr lang="en-US" sz="1000" dirty="0"/>
          </a:p>
        </p:txBody>
      </p:sp>
      <p:sp>
        <p:nvSpPr>
          <p:cNvPr id="23" name="Text 21"/>
          <p:cNvSpPr/>
          <p:nvPr/>
        </p:nvSpPr>
        <p:spPr>
          <a:xfrm>
            <a:off x="320040" y="4892040"/>
            <a:ext cx="8503920" cy="182880"/>
          </a:xfrm>
          <a:prstGeom prst="rect">
            <a:avLst/>
          </a:prstGeom>
          <a:noFill/>
          <a:ln/>
        </p:spPr>
        <p:txBody>
          <a:bodyPr wrap="square" lIns="0" tIns="0" rIns="0" bIns="0" rtlCol="0" anchor="ctr"/>
          <a:lstStyle/>
          <a:p>
            <a:pPr marL="0" indent="0">
              <a:buNone/>
            </a:pPr>
            <a:r>
              <a:rPr lang="en-US" sz="750" dirty="0">
                <a:solidFill>
                  <a:srgbClr val="8A86B8"/>
                </a:solidFill>
              </a:rPr>
              <a:t>Thesis: independent fundamental analysis. Not investment advice. June 2026.</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0A1F"/>
        </a:solidFill>
        <a:effectLst/>
      </p:bgPr>
    </p:bg>
    <p:spTree>
      <p:nvGrpSpPr>
        <p:cNvPr id="1" name=""/>
        <p:cNvGrpSpPr/>
        <p:nvPr/>
      </p:nvGrpSpPr>
      <p:grpSpPr>
        <a:xfrm>
          <a:off x="0" y="0"/>
          <a:ext cx="0" cy="0"/>
          <a:chOff x="0" y="0"/>
          <a:chExt cx="0" cy="0"/>
        </a:xfrm>
      </p:grpSpPr>
      <p:sp>
        <p:nvSpPr>
          <p:cNvPr id="2" name="Shape 0"/>
          <p:cNvSpPr/>
          <p:nvPr/>
        </p:nvSpPr>
        <p:spPr>
          <a:xfrm>
            <a:off x="320039" y="164592"/>
            <a:ext cx="4528797" cy="256032"/>
          </a:xfrm>
          <a:prstGeom prst="roundRect">
            <a:avLst>
              <a:gd name="adj" fmla="val 28571"/>
            </a:avLst>
          </a:prstGeom>
          <a:solidFill>
            <a:srgbClr val="6C3BF5"/>
          </a:solidFill>
          <a:ln/>
        </p:spPr>
      </p:sp>
      <p:sp>
        <p:nvSpPr>
          <p:cNvPr id="3" name="Text 1"/>
          <p:cNvSpPr/>
          <p:nvPr/>
        </p:nvSpPr>
        <p:spPr>
          <a:xfrm>
            <a:off x="487820" y="164592"/>
            <a:ext cx="3200400" cy="256032"/>
          </a:xfrm>
          <a:prstGeom prst="rect">
            <a:avLst/>
          </a:prstGeom>
          <a:noFill/>
          <a:ln/>
        </p:spPr>
        <p:txBody>
          <a:bodyPr wrap="square" lIns="0" tIns="0" rIns="0" bIns="0" rtlCol="0" anchor="ctr"/>
          <a:lstStyle/>
          <a:p>
            <a:pPr marL="0" indent="0">
              <a:buNone/>
            </a:pPr>
            <a:r>
              <a:rPr lang="en-US" sz="1050" b="1" dirty="0">
                <a:solidFill>
                  <a:srgbClr val="FFFFFF"/>
                </a:solidFill>
              </a:rPr>
              <a:t>SECTION 9: PRICE PROJECTION — BULL / BASE / BEAR</a:t>
            </a:r>
            <a:endParaRPr lang="en-US" sz="1050" dirty="0"/>
          </a:p>
        </p:txBody>
      </p:sp>
      <p:sp>
        <p:nvSpPr>
          <p:cNvPr id="4" name="Text 2"/>
          <p:cNvSpPr/>
          <p:nvPr/>
        </p:nvSpPr>
        <p:spPr>
          <a:xfrm>
            <a:off x="320040" y="574184"/>
            <a:ext cx="8503920" cy="502920"/>
          </a:xfrm>
          <a:prstGeom prst="rect">
            <a:avLst/>
          </a:prstGeom>
          <a:noFill/>
          <a:ln/>
        </p:spPr>
        <p:txBody>
          <a:bodyPr wrap="square" lIns="0" tIns="0" rIns="0" bIns="0" rtlCol="0" anchor="ctr"/>
          <a:lstStyle/>
          <a:p>
            <a:pPr marL="0" indent="0">
              <a:buNone/>
            </a:pPr>
            <a:r>
              <a:rPr lang="en-US" sz="2000" b="1" dirty="0">
                <a:solidFill>
                  <a:srgbClr val="FFFFFF"/>
                </a:solidFill>
              </a:rPr>
              <a:t>CMP: ~$12  ·  52-Wk High: $18.98  ·  52-Wk Low: $11.20  ·  Mkt Cap: ~$58B  ·  Shares: 4.84B  ·  Next Earnings: Aug 18, 2026</a:t>
            </a:r>
            <a:endParaRPr lang="en-US" sz="2000" dirty="0"/>
          </a:p>
        </p:txBody>
      </p:sp>
      <p:grpSp>
        <p:nvGrpSpPr>
          <p:cNvPr id="63" name="Group 62">
            <a:extLst>
              <a:ext uri="{FF2B5EF4-FFF2-40B4-BE49-F238E27FC236}">
                <a16:creationId xmlns:a16="http://schemas.microsoft.com/office/drawing/2014/main" id="{A68C40B4-B866-8FB8-F620-0E8FFC5AE597}"/>
              </a:ext>
            </a:extLst>
          </p:cNvPr>
          <p:cNvGrpSpPr/>
          <p:nvPr/>
        </p:nvGrpSpPr>
        <p:grpSpPr>
          <a:xfrm>
            <a:off x="320039" y="1244758"/>
            <a:ext cx="8503920" cy="3657600"/>
            <a:chOff x="320039" y="1244758"/>
            <a:chExt cx="8503920" cy="3657600"/>
          </a:xfrm>
        </p:grpSpPr>
        <p:sp>
          <p:nvSpPr>
            <p:cNvPr id="5" name="Shape 3"/>
            <p:cNvSpPr/>
            <p:nvPr/>
          </p:nvSpPr>
          <p:spPr>
            <a:xfrm>
              <a:off x="320039" y="1244758"/>
              <a:ext cx="2743200" cy="3657600"/>
            </a:xfrm>
            <a:prstGeom prst="rect">
              <a:avLst/>
            </a:prstGeom>
            <a:solidFill>
              <a:srgbClr val="2C0A10"/>
            </a:solidFill>
            <a:ln/>
          </p:spPr>
        </p:sp>
        <p:sp>
          <p:nvSpPr>
            <p:cNvPr id="6" name="Shape 4"/>
            <p:cNvSpPr/>
            <p:nvPr/>
          </p:nvSpPr>
          <p:spPr>
            <a:xfrm>
              <a:off x="320039" y="1244758"/>
              <a:ext cx="2743200" cy="54864"/>
            </a:xfrm>
            <a:prstGeom prst="rect">
              <a:avLst/>
            </a:prstGeom>
            <a:solidFill>
              <a:srgbClr val="FF5B6B"/>
            </a:solidFill>
            <a:ln/>
          </p:spPr>
        </p:sp>
        <p:sp>
          <p:nvSpPr>
            <p:cNvPr id="7" name="Text 5"/>
            <p:cNvSpPr/>
            <p:nvPr/>
          </p:nvSpPr>
          <p:spPr>
            <a:xfrm>
              <a:off x="411479" y="1336198"/>
              <a:ext cx="2560320" cy="237744"/>
            </a:xfrm>
            <a:prstGeom prst="rect">
              <a:avLst/>
            </a:prstGeom>
            <a:noFill/>
            <a:ln/>
          </p:spPr>
          <p:txBody>
            <a:bodyPr wrap="square" lIns="0" tIns="0" rIns="0" bIns="0" rtlCol="0" anchor="ctr"/>
            <a:lstStyle/>
            <a:p>
              <a:pPr marL="0" indent="0">
                <a:buNone/>
              </a:pPr>
              <a:r>
                <a:rPr lang="en-US" sz="1000" b="1" dirty="0">
                  <a:solidFill>
                    <a:srgbClr val="FF5B6B"/>
                  </a:solidFill>
                </a:rPr>
                <a:t>↓  BEAR CASE</a:t>
              </a:r>
              <a:endParaRPr lang="en-US" sz="1000" dirty="0"/>
            </a:p>
          </p:txBody>
        </p:sp>
        <p:sp>
          <p:nvSpPr>
            <p:cNvPr id="8" name="Text 6"/>
            <p:cNvSpPr/>
            <p:nvPr/>
          </p:nvSpPr>
          <p:spPr>
            <a:xfrm>
              <a:off x="411479" y="1647094"/>
              <a:ext cx="2560320" cy="201168"/>
            </a:xfrm>
            <a:prstGeom prst="rect">
              <a:avLst/>
            </a:prstGeom>
            <a:noFill/>
            <a:ln/>
          </p:spPr>
          <p:txBody>
            <a:bodyPr wrap="square" lIns="0" tIns="0" rIns="0" bIns="0" rtlCol="0" anchor="ctr"/>
            <a:lstStyle/>
            <a:p>
              <a:pPr marL="0" indent="0">
                <a:buNone/>
              </a:pPr>
              <a:r>
                <a:rPr lang="en-US" sz="900" dirty="0">
                  <a:solidFill>
                    <a:srgbClr val="9B96C9"/>
                  </a:solidFill>
                </a:rPr>
                <a:t>12-Month Target</a:t>
              </a:r>
              <a:endParaRPr lang="en-US" sz="900" dirty="0"/>
            </a:p>
          </p:txBody>
        </p:sp>
        <p:sp>
          <p:nvSpPr>
            <p:cNvPr id="9" name="Text 7"/>
            <p:cNvSpPr/>
            <p:nvPr/>
          </p:nvSpPr>
          <p:spPr>
            <a:xfrm>
              <a:off x="411479" y="1829974"/>
              <a:ext cx="2560320" cy="475488"/>
            </a:xfrm>
            <a:prstGeom prst="rect">
              <a:avLst/>
            </a:prstGeom>
            <a:noFill/>
            <a:ln/>
          </p:spPr>
          <p:txBody>
            <a:bodyPr wrap="square" lIns="0" tIns="0" rIns="0" bIns="0" rtlCol="0" anchor="ctr"/>
            <a:lstStyle/>
            <a:p>
              <a:pPr marL="0" indent="0">
                <a:buNone/>
              </a:pPr>
              <a:r>
                <a:rPr lang="en-US" sz="3200" b="1" dirty="0">
                  <a:solidFill>
                    <a:srgbClr val="FF5B6B"/>
                  </a:solidFill>
                </a:rPr>
                <a:t>$7–9</a:t>
              </a:r>
              <a:endParaRPr lang="en-US" sz="3200" dirty="0"/>
            </a:p>
          </p:txBody>
        </p:sp>
        <p:sp>
          <p:nvSpPr>
            <p:cNvPr id="10" name="Text 8"/>
            <p:cNvSpPr/>
            <p:nvPr/>
          </p:nvSpPr>
          <p:spPr>
            <a:xfrm>
              <a:off x="411479" y="2323750"/>
              <a:ext cx="2560320" cy="219456"/>
            </a:xfrm>
            <a:prstGeom prst="rect">
              <a:avLst/>
            </a:prstGeom>
            <a:noFill/>
            <a:ln/>
          </p:spPr>
          <p:txBody>
            <a:bodyPr wrap="square" lIns="0" tIns="0" rIns="0" bIns="0" rtlCol="0" anchor="ctr"/>
            <a:lstStyle/>
            <a:p>
              <a:pPr marL="0" indent="0">
                <a:buNone/>
              </a:pPr>
              <a:r>
                <a:rPr lang="en-US" sz="1000" b="1" dirty="0">
                  <a:solidFill>
                    <a:srgbClr val="FF5B6B"/>
                  </a:solidFill>
                </a:rPr>
                <a:t>−42% to −25% vs CMP</a:t>
              </a:r>
              <a:endParaRPr lang="en-US" sz="1000" dirty="0"/>
            </a:p>
          </p:txBody>
        </p:sp>
        <p:sp>
          <p:nvSpPr>
            <p:cNvPr id="11" name="Shape 9"/>
            <p:cNvSpPr/>
            <p:nvPr/>
          </p:nvSpPr>
          <p:spPr>
            <a:xfrm>
              <a:off x="411479" y="2598070"/>
              <a:ext cx="1097280" cy="164592"/>
            </a:xfrm>
            <a:prstGeom prst="rect">
              <a:avLst/>
            </a:prstGeom>
            <a:solidFill>
              <a:srgbClr val="FF5B6B">
                <a:alpha val="20000"/>
              </a:srgbClr>
            </a:solidFill>
            <a:ln/>
          </p:spPr>
        </p:sp>
        <p:sp>
          <p:nvSpPr>
            <p:cNvPr id="12" name="Text 10"/>
            <p:cNvSpPr/>
            <p:nvPr/>
          </p:nvSpPr>
          <p:spPr>
            <a:xfrm>
              <a:off x="411479" y="2598070"/>
              <a:ext cx="1097280" cy="164592"/>
            </a:xfrm>
            <a:prstGeom prst="rect">
              <a:avLst/>
            </a:prstGeom>
            <a:noFill/>
            <a:ln/>
          </p:spPr>
          <p:txBody>
            <a:bodyPr wrap="square" lIns="0" tIns="0" rIns="0" bIns="0" rtlCol="0" anchor="ctr"/>
            <a:lstStyle/>
            <a:p>
              <a:pPr marL="0" indent="0" algn="ctr">
                <a:buNone/>
              </a:pPr>
              <a:r>
                <a:rPr lang="en-US" sz="800" dirty="0">
                  <a:solidFill>
                    <a:srgbClr val="FF5B6B"/>
                  </a:solidFill>
                </a:rPr>
                <a:t>2026E FY Rev</a:t>
              </a:r>
              <a:endParaRPr lang="en-US" sz="800" dirty="0"/>
            </a:p>
          </p:txBody>
        </p:sp>
        <p:sp>
          <p:nvSpPr>
            <p:cNvPr id="13" name="Text 11"/>
            <p:cNvSpPr/>
            <p:nvPr/>
          </p:nvSpPr>
          <p:spPr>
            <a:xfrm>
              <a:off x="411479" y="2790094"/>
              <a:ext cx="1188720" cy="237744"/>
            </a:xfrm>
            <a:prstGeom prst="rect">
              <a:avLst/>
            </a:prstGeom>
            <a:noFill/>
            <a:ln/>
          </p:spPr>
          <p:txBody>
            <a:bodyPr wrap="square" lIns="0" tIns="0" rIns="0" bIns="0" rtlCol="0" anchor="ctr"/>
            <a:lstStyle/>
            <a:p>
              <a:pPr marL="0" indent="0">
                <a:buNone/>
              </a:pPr>
              <a:r>
                <a:rPr lang="en-US" sz="1200" b="1" dirty="0">
                  <a:solidFill>
                    <a:srgbClr val="FFFFFF"/>
                  </a:solidFill>
                </a:rPr>
                <a:t>$18–20B</a:t>
              </a:r>
              <a:endParaRPr lang="en-US" sz="1200" dirty="0"/>
            </a:p>
          </p:txBody>
        </p:sp>
        <p:sp>
          <p:nvSpPr>
            <p:cNvPr id="14" name="Shape 12"/>
            <p:cNvSpPr/>
            <p:nvPr/>
          </p:nvSpPr>
          <p:spPr>
            <a:xfrm>
              <a:off x="1691639" y="2598070"/>
              <a:ext cx="1188720" cy="164592"/>
            </a:xfrm>
            <a:prstGeom prst="rect">
              <a:avLst/>
            </a:prstGeom>
            <a:solidFill>
              <a:srgbClr val="FF5B6B">
                <a:alpha val="20000"/>
              </a:srgbClr>
            </a:solidFill>
            <a:ln/>
          </p:spPr>
        </p:sp>
        <p:sp>
          <p:nvSpPr>
            <p:cNvPr id="15" name="Text 13"/>
            <p:cNvSpPr/>
            <p:nvPr/>
          </p:nvSpPr>
          <p:spPr>
            <a:xfrm>
              <a:off x="1691639" y="2598070"/>
              <a:ext cx="1188720" cy="164592"/>
            </a:xfrm>
            <a:prstGeom prst="rect">
              <a:avLst/>
            </a:prstGeom>
            <a:noFill/>
            <a:ln/>
          </p:spPr>
          <p:txBody>
            <a:bodyPr wrap="square" lIns="0" tIns="0" rIns="0" bIns="0" rtlCol="0" anchor="ctr"/>
            <a:lstStyle/>
            <a:p>
              <a:pPr marL="0" indent="0" algn="ctr">
                <a:buNone/>
              </a:pPr>
              <a:r>
                <a:rPr lang="en-US" sz="800" dirty="0">
                  <a:solidFill>
                    <a:srgbClr val="FF5B6B"/>
                  </a:solidFill>
                </a:rPr>
                <a:t>Implied P/E</a:t>
              </a:r>
              <a:endParaRPr lang="en-US" sz="800" dirty="0"/>
            </a:p>
          </p:txBody>
        </p:sp>
        <p:sp>
          <p:nvSpPr>
            <p:cNvPr id="16" name="Text 14"/>
            <p:cNvSpPr/>
            <p:nvPr/>
          </p:nvSpPr>
          <p:spPr>
            <a:xfrm>
              <a:off x="1691639" y="2790094"/>
              <a:ext cx="1280160" cy="237744"/>
            </a:xfrm>
            <a:prstGeom prst="rect">
              <a:avLst/>
            </a:prstGeom>
            <a:noFill/>
            <a:ln/>
          </p:spPr>
          <p:txBody>
            <a:bodyPr wrap="square" lIns="0" tIns="0" rIns="0" bIns="0" rtlCol="0" anchor="ctr"/>
            <a:lstStyle/>
            <a:p>
              <a:pPr marL="0" indent="0">
                <a:buNone/>
              </a:pPr>
              <a:r>
                <a:rPr lang="en-US" sz="1000" b="1" dirty="0">
                  <a:solidFill>
                    <a:srgbClr val="FFFFFF"/>
                  </a:solidFill>
                </a:rPr>
                <a:t>10–12x Fwd P/E</a:t>
              </a:r>
              <a:endParaRPr lang="en-US" sz="1000" dirty="0"/>
            </a:p>
          </p:txBody>
        </p:sp>
        <p:sp>
          <p:nvSpPr>
            <p:cNvPr id="17" name="Text 15"/>
            <p:cNvSpPr/>
            <p:nvPr/>
          </p:nvSpPr>
          <p:spPr>
            <a:xfrm>
              <a:off x="411479" y="3110134"/>
              <a:ext cx="2560320" cy="182880"/>
            </a:xfrm>
            <a:prstGeom prst="rect">
              <a:avLst/>
            </a:prstGeom>
            <a:noFill/>
            <a:ln/>
          </p:spPr>
          <p:txBody>
            <a:bodyPr wrap="square" lIns="0" tIns="0" rIns="0" bIns="0" rtlCol="0" anchor="ctr"/>
            <a:lstStyle/>
            <a:p>
              <a:pPr marL="0" indent="0">
                <a:buNone/>
              </a:pPr>
              <a:r>
                <a:rPr lang="en-US" sz="900" b="1" dirty="0">
                  <a:solidFill>
                    <a:srgbClr val="FF5B6B"/>
                  </a:solidFill>
                </a:rPr>
                <a:t>Key triggers</a:t>
              </a:r>
              <a:endParaRPr lang="en-US" sz="900" dirty="0"/>
            </a:p>
          </p:txBody>
        </p:sp>
        <p:sp>
          <p:nvSpPr>
            <p:cNvPr id="18" name="Text 16"/>
            <p:cNvSpPr/>
            <p:nvPr/>
          </p:nvSpPr>
          <p:spPr>
            <a:xfrm>
              <a:off x="411479" y="3311302"/>
              <a:ext cx="2560320" cy="237744"/>
            </a:xfrm>
            <a:prstGeom prst="rect">
              <a:avLst/>
            </a:prstGeom>
            <a:noFill/>
            <a:ln/>
          </p:spPr>
          <p:txBody>
            <a:bodyPr wrap="square" lIns="0" tIns="0" rIns="0" bIns="0" rtlCol="0" anchor="ctr"/>
            <a:lstStyle/>
            <a:p>
              <a:pPr marL="0" indent="0">
                <a:buNone/>
              </a:pPr>
              <a:r>
                <a:rPr lang="en-US" sz="900" dirty="0">
                  <a:solidFill>
                    <a:srgbClr val="E8E4FF"/>
                  </a:solidFill>
                </a:rPr>
                <a:t>• Brazil NPL spike — credit losses overwhelm ARPAC</a:t>
              </a:r>
              <a:endParaRPr lang="en-US" sz="900" dirty="0"/>
            </a:p>
          </p:txBody>
        </p:sp>
        <p:sp>
          <p:nvSpPr>
            <p:cNvPr id="19" name="Text 17"/>
            <p:cNvSpPr/>
            <p:nvPr/>
          </p:nvSpPr>
          <p:spPr>
            <a:xfrm>
              <a:off x="411479" y="3567334"/>
              <a:ext cx="2560320" cy="237744"/>
            </a:xfrm>
            <a:prstGeom prst="rect">
              <a:avLst/>
            </a:prstGeom>
            <a:noFill/>
            <a:ln/>
          </p:spPr>
          <p:txBody>
            <a:bodyPr wrap="square" lIns="0" tIns="0" rIns="0" bIns="0" rtlCol="0" anchor="ctr"/>
            <a:lstStyle/>
            <a:p>
              <a:pPr marL="0" indent="0">
                <a:buNone/>
              </a:pPr>
              <a:r>
                <a:rPr lang="en-US" sz="900" dirty="0">
                  <a:solidFill>
                    <a:srgbClr val="E8E4FF"/>
                  </a:solidFill>
                </a:rPr>
                <a:t>• CFO transition + weak Q2 guidance cut</a:t>
              </a:r>
              <a:endParaRPr lang="en-US" sz="900" dirty="0"/>
            </a:p>
          </p:txBody>
        </p:sp>
        <p:sp>
          <p:nvSpPr>
            <p:cNvPr id="20" name="Text 18"/>
            <p:cNvSpPr/>
            <p:nvPr/>
          </p:nvSpPr>
          <p:spPr>
            <a:xfrm>
              <a:off x="411479" y="3823366"/>
              <a:ext cx="2560320" cy="237744"/>
            </a:xfrm>
            <a:prstGeom prst="rect">
              <a:avLst/>
            </a:prstGeom>
            <a:noFill/>
            <a:ln/>
          </p:spPr>
          <p:txBody>
            <a:bodyPr wrap="square" lIns="0" tIns="0" rIns="0" bIns="0" rtlCol="0" anchor="ctr"/>
            <a:lstStyle/>
            <a:p>
              <a:pPr marL="0" indent="0">
                <a:buNone/>
              </a:pPr>
              <a:r>
                <a:rPr lang="en-US" sz="900" dirty="0">
                  <a:solidFill>
                    <a:srgbClr val="E8E4FF"/>
                  </a:solidFill>
                </a:rPr>
                <a:t>• Mexico growth stalls — capital drain</a:t>
              </a:r>
              <a:endParaRPr lang="en-US" sz="900" dirty="0"/>
            </a:p>
          </p:txBody>
        </p:sp>
        <p:sp>
          <p:nvSpPr>
            <p:cNvPr id="21" name="Text 19"/>
            <p:cNvSpPr/>
            <p:nvPr/>
          </p:nvSpPr>
          <p:spPr>
            <a:xfrm>
              <a:off x="411479" y="4079398"/>
              <a:ext cx="2560320" cy="237744"/>
            </a:xfrm>
            <a:prstGeom prst="rect">
              <a:avLst/>
            </a:prstGeom>
            <a:noFill/>
            <a:ln/>
          </p:spPr>
          <p:txBody>
            <a:bodyPr wrap="square" lIns="0" tIns="0" rIns="0" bIns="0" rtlCol="0" anchor="ctr"/>
            <a:lstStyle/>
            <a:p>
              <a:pPr marL="0" indent="0">
                <a:buNone/>
              </a:pPr>
              <a:r>
                <a:rPr lang="en-US" sz="900" dirty="0">
                  <a:solidFill>
                    <a:srgbClr val="E8E4FF"/>
                  </a:solidFill>
                </a:rPr>
                <a:t>• BRL currency depreciation 20%+</a:t>
              </a:r>
              <a:endParaRPr lang="en-US" sz="900" dirty="0"/>
            </a:p>
          </p:txBody>
        </p:sp>
        <p:sp>
          <p:nvSpPr>
            <p:cNvPr id="22" name="Text 20"/>
            <p:cNvSpPr/>
            <p:nvPr/>
          </p:nvSpPr>
          <p:spPr>
            <a:xfrm>
              <a:off x="411479" y="4335430"/>
              <a:ext cx="2560320" cy="237744"/>
            </a:xfrm>
            <a:prstGeom prst="rect">
              <a:avLst/>
            </a:prstGeom>
            <a:noFill/>
            <a:ln/>
          </p:spPr>
          <p:txBody>
            <a:bodyPr wrap="square" lIns="0" tIns="0" rIns="0" bIns="0" rtlCol="0" anchor="ctr"/>
            <a:lstStyle/>
            <a:p>
              <a:pPr marL="0" indent="0">
                <a:buNone/>
              </a:pPr>
              <a:r>
                <a:rPr lang="en-US" sz="900" dirty="0">
                  <a:solidFill>
                    <a:srgbClr val="E8E4FF"/>
                  </a:solidFill>
                </a:rPr>
                <a:t>• Multiple compression: 25x → 10x on growth slowdown</a:t>
              </a:r>
              <a:endParaRPr lang="en-US" sz="900" dirty="0"/>
            </a:p>
          </p:txBody>
        </p:sp>
        <p:sp>
          <p:nvSpPr>
            <p:cNvPr id="23" name="Text 21"/>
            <p:cNvSpPr/>
            <p:nvPr/>
          </p:nvSpPr>
          <p:spPr>
            <a:xfrm>
              <a:off x="411479" y="4591462"/>
              <a:ext cx="2560320" cy="237744"/>
            </a:xfrm>
            <a:prstGeom prst="rect">
              <a:avLst/>
            </a:prstGeom>
            <a:noFill/>
            <a:ln/>
          </p:spPr>
          <p:txBody>
            <a:bodyPr wrap="square" lIns="0" tIns="0" rIns="0" bIns="0" rtlCol="0" anchor="ctr"/>
            <a:lstStyle/>
            <a:p>
              <a:pPr marL="0" indent="0">
                <a:buNone/>
              </a:pPr>
              <a:r>
                <a:rPr lang="en-US" sz="900" dirty="0">
                  <a:solidFill>
                    <a:srgbClr val="E8E4FF"/>
                  </a:solidFill>
                </a:rPr>
                <a:t>• BofA/Susquehanna bear thesis plays out in full</a:t>
              </a:r>
              <a:endParaRPr lang="en-US" sz="900" dirty="0"/>
            </a:p>
          </p:txBody>
        </p:sp>
        <p:sp>
          <p:nvSpPr>
            <p:cNvPr id="24" name="Shape 22"/>
            <p:cNvSpPr/>
            <p:nvPr/>
          </p:nvSpPr>
          <p:spPr>
            <a:xfrm>
              <a:off x="3200399" y="1244758"/>
              <a:ext cx="2743200" cy="3657600"/>
            </a:xfrm>
            <a:prstGeom prst="rect">
              <a:avLst/>
            </a:prstGeom>
            <a:solidFill>
              <a:srgbClr val="1F1A00"/>
            </a:solidFill>
            <a:ln/>
          </p:spPr>
        </p:sp>
        <p:sp>
          <p:nvSpPr>
            <p:cNvPr id="25" name="Shape 23"/>
            <p:cNvSpPr/>
            <p:nvPr/>
          </p:nvSpPr>
          <p:spPr>
            <a:xfrm>
              <a:off x="3200399" y="1244758"/>
              <a:ext cx="2743200" cy="54864"/>
            </a:xfrm>
            <a:prstGeom prst="rect">
              <a:avLst/>
            </a:prstGeom>
            <a:solidFill>
              <a:srgbClr val="F5C842"/>
            </a:solidFill>
            <a:ln/>
          </p:spPr>
        </p:sp>
        <p:sp>
          <p:nvSpPr>
            <p:cNvPr id="26" name="Text 24"/>
            <p:cNvSpPr/>
            <p:nvPr/>
          </p:nvSpPr>
          <p:spPr>
            <a:xfrm>
              <a:off x="3291839" y="1336198"/>
              <a:ext cx="2560320" cy="237744"/>
            </a:xfrm>
            <a:prstGeom prst="rect">
              <a:avLst/>
            </a:prstGeom>
            <a:noFill/>
            <a:ln/>
          </p:spPr>
          <p:txBody>
            <a:bodyPr wrap="square" lIns="0" tIns="0" rIns="0" bIns="0" rtlCol="0" anchor="ctr"/>
            <a:lstStyle/>
            <a:p>
              <a:pPr marL="0" indent="0">
                <a:buNone/>
              </a:pPr>
              <a:r>
                <a:rPr lang="en-US" sz="1000" b="1" dirty="0">
                  <a:solidFill>
                    <a:srgbClr val="F5C842"/>
                  </a:solidFill>
                </a:rPr>
                <a:t>→  BASE CASE</a:t>
              </a:r>
              <a:endParaRPr lang="en-US" sz="1000" dirty="0"/>
            </a:p>
          </p:txBody>
        </p:sp>
        <p:sp>
          <p:nvSpPr>
            <p:cNvPr id="27" name="Text 25"/>
            <p:cNvSpPr/>
            <p:nvPr/>
          </p:nvSpPr>
          <p:spPr>
            <a:xfrm>
              <a:off x="3291839" y="1647094"/>
              <a:ext cx="2560320" cy="201168"/>
            </a:xfrm>
            <a:prstGeom prst="rect">
              <a:avLst/>
            </a:prstGeom>
            <a:noFill/>
            <a:ln/>
          </p:spPr>
          <p:txBody>
            <a:bodyPr wrap="square" lIns="0" tIns="0" rIns="0" bIns="0" rtlCol="0" anchor="ctr"/>
            <a:lstStyle/>
            <a:p>
              <a:pPr marL="0" indent="0">
                <a:buNone/>
              </a:pPr>
              <a:r>
                <a:rPr lang="en-US" sz="900" dirty="0">
                  <a:solidFill>
                    <a:srgbClr val="9B96C9"/>
                  </a:solidFill>
                </a:rPr>
                <a:t>12-Month Target</a:t>
              </a:r>
              <a:endParaRPr lang="en-US" sz="900" dirty="0"/>
            </a:p>
          </p:txBody>
        </p:sp>
        <p:sp>
          <p:nvSpPr>
            <p:cNvPr id="28" name="Text 26"/>
            <p:cNvSpPr/>
            <p:nvPr/>
          </p:nvSpPr>
          <p:spPr>
            <a:xfrm>
              <a:off x="3291839" y="1829974"/>
              <a:ext cx="2560320" cy="475488"/>
            </a:xfrm>
            <a:prstGeom prst="rect">
              <a:avLst/>
            </a:prstGeom>
            <a:noFill/>
            <a:ln/>
          </p:spPr>
          <p:txBody>
            <a:bodyPr wrap="square" lIns="0" tIns="0" rIns="0" bIns="0" rtlCol="0" anchor="ctr"/>
            <a:lstStyle/>
            <a:p>
              <a:pPr marL="0" indent="0">
                <a:buNone/>
              </a:pPr>
              <a:r>
                <a:rPr lang="en-US" sz="3200" b="1" dirty="0">
                  <a:solidFill>
                    <a:srgbClr val="F5C842"/>
                  </a:solidFill>
                </a:rPr>
                <a:t>$15–19</a:t>
              </a:r>
              <a:endParaRPr lang="en-US" sz="3200" dirty="0"/>
            </a:p>
          </p:txBody>
        </p:sp>
        <p:sp>
          <p:nvSpPr>
            <p:cNvPr id="29" name="Text 27"/>
            <p:cNvSpPr/>
            <p:nvPr/>
          </p:nvSpPr>
          <p:spPr>
            <a:xfrm>
              <a:off x="3291839" y="2323750"/>
              <a:ext cx="2560320" cy="219456"/>
            </a:xfrm>
            <a:prstGeom prst="rect">
              <a:avLst/>
            </a:prstGeom>
            <a:noFill/>
            <a:ln/>
          </p:spPr>
          <p:txBody>
            <a:bodyPr wrap="square" lIns="0" tIns="0" rIns="0" bIns="0" rtlCol="0" anchor="ctr"/>
            <a:lstStyle/>
            <a:p>
              <a:pPr marL="0" indent="0">
                <a:buNone/>
              </a:pPr>
              <a:r>
                <a:rPr lang="en-US" sz="1000" b="1" dirty="0">
                  <a:solidFill>
                    <a:srgbClr val="F5C842"/>
                  </a:solidFill>
                </a:rPr>
                <a:t>+25% to +58% vs CMP</a:t>
              </a:r>
              <a:endParaRPr lang="en-US" sz="1000" dirty="0"/>
            </a:p>
          </p:txBody>
        </p:sp>
        <p:sp>
          <p:nvSpPr>
            <p:cNvPr id="30" name="Shape 28"/>
            <p:cNvSpPr/>
            <p:nvPr/>
          </p:nvSpPr>
          <p:spPr>
            <a:xfrm>
              <a:off x="3291839" y="2598070"/>
              <a:ext cx="1097280" cy="164592"/>
            </a:xfrm>
            <a:prstGeom prst="rect">
              <a:avLst/>
            </a:prstGeom>
            <a:solidFill>
              <a:srgbClr val="F5C842">
                <a:alpha val="20000"/>
              </a:srgbClr>
            </a:solidFill>
            <a:ln/>
          </p:spPr>
        </p:sp>
        <p:sp>
          <p:nvSpPr>
            <p:cNvPr id="31" name="Text 29"/>
            <p:cNvSpPr/>
            <p:nvPr/>
          </p:nvSpPr>
          <p:spPr>
            <a:xfrm>
              <a:off x="3291839" y="2598070"/>
              <a:ext cx="1097280" cy="164592"/>
            </a:xfrm>
            <a:prstGeom prst="rect">
              <a:avLst/>
            </a:prstGeom>
            <a:noFill/>
            <a:ln/>
          </p:spPr>
          <p:txBody>
            <a:bodyPr wrap="square" lIns="0" tIns="0" rIns="0" bIns="0" rtlCol="0" anchor="ctr"/>
            <a:lstStyle/>
            <a:p>
              <a:pPr marL="0" indent="0" algn="ctr">
                <a:buNone/>
              </a:pPr>
              <a:r>
                <a:rPr lang="en-US" sz="800" dirty="0">
                  <a:solidFill>
                    <a:srgbClr val="F5C842"/>
                  </a:solidFill>
                </a:rPr>
                <a:t>2026E FY Rev</a:t>
              </a:r>
              <a:endParaRPr lang="en-US" sz="800" dirty="0"/>
            </a:p>
          </p:txBody>
        </p:sp>
        <p:sp>
          <p:nvSpPr>
            <p:cNvPr id="32" name="Text 30"/>
            <p:cNvSpPr/>
            <p:nvPr/>
          </p:nvSpPr>
          <p:spPr>
            <a:xfrm>
              <a:off x="3291839" y="2790094"/>
              <a:ext cx="1188720" cy="237744"/>
            </a:xfrm>
            <a:prstGeom prst="rect">
              <a:avLst/>
            </a:prstGeom>
            <a:noFill/>
            <a:ln/>
          </p:spPr>
          <p:txBody>
            <a:bodyPr wrap="square" lIns="0" tIns="0" rIns="0" bIns="0" rtlCol="0" anchor="ctr"/>
            <a:lstStyle/>
            <a:p>
              <a:pPr marL="0" indent="0">
                <a:buNone/>
              </a:pPr>
              <a:r>
                <a:rPr lang="en-US" sz="1200" b="1" dirty="0">
                  <a:solidFill>
                    <a:srgbClr val="FFFFFF"/>
                  </a:solidFill>
                </a:rPr>
                <a:t>$20–22B</a:t>
              </a:r>
              <a:endParaRPr lang="en-US" sz="1200" dirty="0"/>
            </a:p>
          </p:txBody>
        </p:sp>
        <p:sp>
          <p:nvSpPr>
            <p:cNvPr id="33" name="Shape 31"/>
            <p:cNvSpPr/>
            <p:nvPr/>
          </p:nvSpPr>
          <p:spPr>
            <a:xfrm>
              <a:off x="4571999" y="2598070"/>
              <a:ext cx="1188720" cy="164592"/>
            </a:xfrm>
            <a:prstGeom prst="rect">
              <a:avLst/>
            </a:prstGeom>
            <a:solidFill>
              <a:srgbClr val="F5C842">
                <a:alpha val="20000"/>
              </a:srgbClr>
            </a:solidFill>
            <a:ln/>
          </p:spPr>
        </p:sp>
        <p:sp>
          <p:nvSpPr>
            <p:cNvPr id="34" name="Text 32"/>
            <p:cNvSpPr/>
            <p:nvPr/>
          </p:nvSpPr>
          <p:spPr>
            <a:xfrm>
              <a:off x="4571999" y="2598070"/>
              <a:ext cx="1188720" cy="164592"/>
            </a:xfrm>
            <a:prstGeom prst="rect">
              <a:avLst/>
            </a:prstGeom>
            <a:noFill/>
            <a:ln/>
          </p:spPr>
          <p:txBody>
            <a:bodyPr wrap="square" lIns="0" tIns="0" rIns="0" bIns="0" rtlCol="0" anchor="ctr"/>
            <a:lstStyle/>
            <a:p>
              <a:pPr marL="0" indent="0" algn="ctr">
                <a:buNone/>
              </a:pPr>
              <a:r>
                <a:rPr lang="en-US" sz="800" dirty="0">
                  <a:solidFill>
                    <a:srgbClr val="F5C842"/>
                  </a:solidFill>
                </a:rPr>
                <a:t>Implied P/E</a:t>
              </a:r>
              <a:endParaRPr lang="en-US" sz="800" dirty="0"/>
            </a:p>
          </p:txBody>
        </p:sp>
        <p:sp>
          <p:nvSpPr>
            <p:cNvPr id="35" name="Text 33"/>
            <p:cNvSpPr/>
            <p:nvPr/>
          </p:nvSpPr>
          <p:spPr>
            <a:xfrm>
              <a:off x="4571999" y="2790094"/>
              <a:ext cx="1280160" cy="237744"/>
            </a:xfrm>
            <a:prstGeom prst="rect">
              <a:avLst/>
            </a:prstGeom>
            <a:noFill/>
            <a:ln/>
          </p:spPr>
          <p:txBody>
            <a:bodyPr wrap="square" lIns="0" tIns="0" rIns="0" bIns="0" rtlCol="0" anchor="ctr"/>
            <a:lstStyle/>
            <a:p>
              <a:pPr marL="0" indent="0">
                <a:buNone/>
              </a:pPr>
              <a:r>
                <a:rPr lang="en-US" sz="1000" b="1" dirty="0">
                  <a:solidFill>
                    <a:srgbClr val="FFFFFF"/>
                  </a:solidFill>
                </a:rPr>
                <a:t>18–22x Fwd P/E</a:t>
              </a:r>
              <a:endParaRPr lang="en-US" sz="1000" dirty="0"/>
            </a:p>
          </p:txBody>
        </p:sp>
        <p:sp>
          <p:nvSpPr>
            <p:cNvPr id="36" name="Text 34"/>
            <p:cNvSpPr/>
            <p:nvPr/>
          </p:nvSpPr>
          <p:spPr>
            <a:xfrm>
              <a:off x="3291839" y="3110134"/>
              <a:ext cx="2560320" cy="182880"/>
            </a:xfrm>
            <a:prstGeom prst="rect">
              <a:avLst/>
            </a:prstGeom>
            <a:noFill/>
            <a:ln/>
          </p:spPr>
          <p:txBody>
            <a:bodyPr wrap="square" lIns="0" tIns="0" rIns="0" bIns="0" rtlCol="0" anchor="ctr"/>
            <a:lstStyle/>
            <a:p>
              <a:pPr marL="0" indent="0">
                <a:buNone/>
              </a:pPr>
              <a:r>
                <a:rPr lang="en-US" sz="900" b="1" dirty="0">
                  <a:solidFill>
                    <a:srgbClr val="F5C842"/>
                  </a:solidFill>
                </a:rPr>
                <a:t>Key triggers</a:t>
              </a:r>
              <a:endParaRPr lang="en-US" sz="900" dirty="0"/>
            </a:p>
          </p:txBody>
        </p:sp>
        <p:sp>
          <p:nvSpPr>
            <p:cNvPr id="37" name="Text 35"/>
            <p:cNvSpPr/>
            <p:nvPr/>
          </p:nvSpPr>
          <p:spPr>
            <a:xfrm>
              <a:off x="3291839" y="3311302"/>
              <a:ext cx="2560320" cy="237744"/>
            </a:xfrm>
            <a:prstGeom prst="rect">
              <a:avLst/>
            </a:prstGeom>
            <a:noFill/>
            <a:ln/>
          </p:spPr>
          <p:txBody>
            <a:bodyPr wrap="square" lIns="0" tIns="0" rIns="0" bIns="0" rtlCol="0" anchor="ctr"/>
            <a:lstStyle/>
            <a:p>
              <a:pPr marL="0" indent="0">
                <a:buNone/>
              </a:pPr>
              <a:r>
                <a:rPr lang="en-US" sz="900" dirty="0">
                  <a:solidFill>
                    <a:srgbClr val="E8E4FF"/>
                  </a:solidFill>
                </a:rPr>
                <a:t>• FY2026 consensus $21.2B revenue delivered</a:t>
              </a:r>
              <a:endParaRPr lang="en-US" sz="900" dirty="0"/>
            </a:p>
          </p:txBody>
        </p:sp>
        <p:sp>
          <p:nvSpPr>
            <p:cNvPr id="38" name="Text 36"/>
            <p:cNvSpPr/>
            <p:nvPr/>
          </p:nvSpPr>
          <p:spPr>
            <a:xfrm>
              <a:off x="3291839" y="3567334"/>
              <a:ext cx="2560320" cy="237744"/>
            </a:xfrm>
            <a:prstGeom prst="rect">
              <a:avLst/>
            </a:prstGeom>
            <a:noFill/>
            <a:ln/>
          </p:spPr>
          <p:txBody>
            <a:bodyPr wrap="square" lIns="0" tIns="0" rIns="0" bIns="0" rtlCol="0" anchor="ctr"/>
            <a:lstStyle/>
            <a:p>
              <a:pPr marL="0" indent="0">
                <a:buNone/>
              </a:pPr>
              <a:r>
                <a:rPr lang="en-US" sz="900" dirty="0">
                  <a:solidFill>
                    <a:srgbClr val="E8E4FF"/>
                  </a:solidFill>
                </a:rPr>
                <a:t>• Q2/Q3 earnings recovery from Q1 miss</a:t>
              </a:r>
              <a:endParaRPr lang="en-US" sz="900" dirty="0"/>
            </a:p>
          </p:txBody>
        </p:sp>
        <p:sp>
          <p:nvSpPr>
            <p:cNvPr id="39" name="Text 37"/>
            <p:cNvSpPr/>
            <p:nvPr/>
          </p:nvSpPr>
          <p:spPr>
            <a:xfrm>
              <a:off x="3291839" y="3823366"/>
              <a:ext cx="2560320" cy="237744"/>
            </a:xfrm>
            <a:prstGeom prst="rect">
              <a:avLst/>
            </a:prstGeom>
            <a:noFill/>
            <a:ln/>
          </p:spPr>
          <p:txBody>
            <a:bodyPr wrap="square" lIns="0" tIns="0" rIns="0" bIns="0" rtlCol="0" anchor="ctr"/>
            <a:lstStyle/>
            <a:p>
              <a:pPr marL="0" indent="0">
                <a:buNone/>
              </a:pPr>
              <a:r>
                <a:rPr lang="en-US" sz="900" dirty="0">
                  <a:solidFill>
                    <a:srgbClr val="E8E4FF"/>
                  </a:solidFill>
                </a:rPr>
                <a:t>• Mexico contribution visible in segment reporting</a:t>
              </a:r>
              <a:endParaRPr lang="en-US" sz="900" dirty="0"/>
            </a:p>
          </p:txBody>
        </p:sp>
        <p:sp>
          <p:nvSpPr>
            <p:cNvPr id="40" name="Text 38"/>
            <p:cNvSpPr/>
            <p:nvPr/>
          </p:nvSpPr>
          <p:spPr>
            <a:xfrm>
              <a:off x="3291839" y="4079398"/>
              <a:ext cx="2560320" cy="237744"/>
            </a:xfrm>
            <a:prstGeom prst="rect">
              <a:avLst/>
            </a:prstGeom>
            <a:noFill/>
            <a:ln/>
          </p:spPr>
          <p:txBody>
            <a:bodyPr wrap="square" lIns="0" tIns="0" rIns="0" bIns="0" rtlCol="0" anchor="ctr"/>
            <a:lstStyle/>
            <a:p>
              <a:pPr marL="0" indent="0">
                <a:buNone/>
              </a:pPr>
              <a:r>
                <a:rPr lang="en-US" sz="900" dirty="0">
                  <a:solidFill>
                    <a:srgbClr val="E8E4FF"/>
                  </a:solidFill>
                </a:rPr>
                <a:t>• ARPAC continues $1–2 quarterly growth</a:t>
              </a:r>
              <a:endParaRPr lang="en-US" sz="900" dirty="0"/>
            </a:p>
          </p:txBody>
        </p:sp>
        <p:sp>
          <p:nvSpPr>
            <p:cNvPr id="41" name="Text 39"/>
            <p:cNvSpPr/>
            <p:nvPr/>
          </p:nvSpPr>
          <p:spPr>
            <a:xfrm>
              <a:off x="3291839" y="4335430"/>
              <a:ext cx="2560320" cy="237744"/>
            </a:xfrm>
            <a:prstGeom prst="rect">
              <a:avLst/>
            </a:prstGeom>
            <a:noFill/>
            <a:ln/>
          </p:spPr>
          <p:txBody>
            <a:bodyPr wrap="square" lIns="0" tIns="0" rIns="0" bIns="0" rtlCol="0" anchor="ctr"/>
            <a:lstStyle/>
            <a:p>
              <a:pPr marL="0" indent="0">
                <a:buNone/>
              </a:pPr>
              <a:r>
                <a:rPr lang="en-US" sz="900" dirty="0">
                  <a:solidFill>
                    <a:srgbClr val="E8E4FF"/>
                  </a:solidFill>
                </a:rPr>
                <a:t>• Buyback program ($1B announced) provides floor</a:t>
              </a:r>
              <a:endParaRPr lang="en-US" sz="900" dirty="0"/>
            </a:p>
          </p:txBody>
        </p:sp>
        <p:sp>
          <p:nvSpPr>
            <p:cNvPr id="42" name="Text 40"/>
            <p:cNvSpPr/>
            <p:nvPr/>
          </p:nvSpPr>
          <p:spPr>
            <a:xfrm>
              <a:off x="3291839" y="4591462"/>
              <a:ext cx="2560320" cy="237744"/>
            </a:xfrm>
            <a:prstGeom prst="rect">
              <a:avLst/>
            </a:prstGeom>
            <a:noFill/>
            <a:ln/>
          </p:spPr>
          <p:txBody>
            <a:bodyPr wrap="square" lIns="0" tIns="0" rIns="0" bIns="0" rtlCol="0" anchor="ctr"/>
            <a:lstStyle/>
            <a:p>
              <a:pPr marL="0" indent="0">
                <a:buNone/>
              </a:pPr>
              <a:r>
                <a:rPr lang="en-US" sz="900" dirty="0">
                  <a:solidFill>
                    <a:srgbClr val="E8E4FF"/>
                  </a:solidFill>
                </a:rPr>
                <a:t>• New CFO Rob Livingston communicates effectively</a:t>
              </a:r>
              <a:endParaRPr lang="en-US" sz="900" dirty="0"/>
            </a:p>
          </p:txBody>
        </p:sp>
        <p:sp>
          <p:nvSpPr>
            <p:cNvPr id="43" name="Shape 41"/>
            <p:cNvSpPr/>
            <p:nvPr/>
          </p:nvSpPr>
          <p:spPr>
            <a:xfrm>
              <a:off x="6080759" y="1244758"/>
              <a:ext cx="2743200" cy="3657600"/>
            </a:xfrm>
            <a:prstGeom prst="rect">
              <a:avLst/>
            </a:prstGeom>
            <a:solidFill>
              <a:srgbClr val="001A10"/>
            </a:solidFill>
            <a:ln/>
          </p:spPr>
        </p:sp>
        <p:sp>
          <p:nvSpPr>
            <p:cNvPr id="44" name="Shape 42"/>
            <p:cNvSpPr/>
            <p:nvPr/>
          </p:nvSpPr>
          <p:spPr>
            <a:xfrm>
              <a:off x="6080759" y="1244758"/>
              <a:ext cx="2743200" cy="54864"/>
            </a:xfrm>
            <a:prstGeom prst="rect">
              <a:avLst/>
            </a:prstGeom>
            <a:solidFill>
              <a:srgbClr val="24D66B"/>
            </a:solidFill>
            <a:ln/>
          </p:spPr>
        </p:sp>
        <p:sp>
          <p:nvSpPr>
            <p:cNvPr id="45" name="Text 43"/>
            <p:cNvSpPr/>
            <p:nvPr/>
          </p:nvSpPr>
          <p:spPr>
            <a:xfrm>
              <a:off x="6172199" y="1336198"/>
              <a:ext cx="2560320" cy="237744"/>
            </a:xfrm>
            <a:prstGeom prst="rect">
              <a:avLst/>
            </a:prstGeom>
            <a:noFill/>
            <a:ln/>
          </p:spPr>
          <p:txBody>
            <a:bodyPr wrap="square" lIns="0" tIns="0" rIns="0" bIns="0" rtlCol="0" anchor="ctr"/>
            <a:lstStyle/>
            <a:p>
              <a:pPr marL="0" indent="0">
                <a:buNone/>
              </a:pPr>
              <a:r>
                <a:rPr lang="en-US" sz="1000" b="1" dirty="0">
                  <a:solidFill>
                    <a:srgbClr val="24D66B"/>
                  </a:solidFill>
                </a:rPr>
                <a:t>↑  BULL CASE</a:t>
              </a:r>
              <a:endParaRPr lang="en-US" sz="1000" dirty="0"/>
            </a:p>
          </p:txBody>
        </p:sp>
        <p:sp>
          <p:nvSpPr>
            <p:cNvPr id="46" name="Text 44"/>
            <p:cNvSpPr/>
            <p:nvPr/>
          </p:nvSpPr>
          <p:spPr>
            <a:xfrm>
              <a:off x="6172199" y="1647094"/>
              <a:ext cx="2560320" cy="201168"/>
            </a:xfrm>
            <a:prstGeom prst="rect">
              <a:avLst/>
            </a:prstGeom>
            <a:noFill/>
            <a:ln/>
          </p:spPr>
          <p:txBody>
            <a:bodyPr wrap="square" lIns="0" tIns="0" rIns="0" bIns="0" rtlCol="0" anchor="ctr"/>
            <a:lstStyle/>
            <a:p>
              <a:pPr marL="0" indent="0">
                <a:buNone/>
              </a:pPr>
              <a:r>
                <a:rPr lang="en-US" sz="900" dirty="0">
                  <a:solidFill>
                    <a:srgbClr val="9B96C9"/>
                  </a:solidFill>
                </a:rPr>
                <a:t>12-Month Target</a:t>
              </a:r>
              <a:endParaRPr lang="en-US" sz="900" dirty="0"/>
            </a:p>
          </p:txBody>
        </p:sp>
        <p:sp>
          <p:nvSpPr>
            <p:cNvPr id="47" name="Text 45"/>
            <p:cNvSpPr/>
            <p:nvPr/>
          </p:nvSpPr>
          <p:spPr>
            <a:xfrm>
              <a:off x="6172199" y="1829974"/>
              <a:ext cx="2560320" cy="475488"/>
            </a:xfrm>
            <a:prstGeom prst="rect">
              <a:avLst/>
            </a:prstGeom>
            <a:noFill/>
            <a:ln/>
          </p:spPr>
          <p:txBody>
            <a:bodyPr wrap="square" lIns="0" tIns="0" rIns="0" bIns="0" rtlCol="0" anchor="ctr"/>
            <a:lstStyle/>
            <a:p>
              <a:pPr marL="0" indent="0">
                <a:buNone/>
              </a:pPr>
              <a:r>
                <a:rPr lang="en-US" sz="3200" b="1" dirty="0">
                  <a:solidFill>
                    <a:srgbClr val="24D66B"/>
                  </a:solidFill>
                </a:rPr>
                <a:t>$22–28</a:t>
              </a:r>
              <a:endParaRPr lang="en-US" sz="3200" dirty="0"/>
            </a:p>
          </p:txBody>
        </p:sp>
        <p:sp>
          <p:nvSpPr>
            <p:cNvPr id="48" name="Text 46"/>
            <p:cNvSpPr/>
            <p:nvPr/>
          </p:nvSpPr>
          <p:spPr>
            <a:xfrm>
              <a:off x="6172199" y="2323750"/>
              <a:ext cx="2560320" cy="219456"/>
            </a:xfrm>
            <a:prstGeom prst="rect">
              <a:avLst/>
            </a:prstGeom>
            <a:noFill/>
            <a:ln/>
          </p:spPr>
          <p:txBody>
            <a:bodyPr wrap="square" lIns="0" tIns="0" rIns="0" bIns="0" rtlCol="0" anchor="ctr"/>
            <a:lstStyle/>
            <a:p>
              <a:pPr marL="0" indent="0">
                <a:buNone/>
              </a:pPr>
              <a:r>
                <a:rPr lang="en-US" sz="1000" b="1" dirty="0">
                  <a:solidFill>
                    <a:srgbClr val="24D66B"/>
                  </a:solidFill>
                </a:rPr>
                <a:t>+83% to +133% vs CMP</a:t>
              </a:r>
              <a:endParaRPr lang="en-US" sz="1000" dirty="0"/>
            </a:p>
          </p:txBody>
        </p:sp>
        <p:sp>
          <p:nvSpPr>
            <p:cNvPr id="49" name="Shape 47"/>
            <p:cNvSpPr/>
            <p:nvPr/>
          </p:nvSpPr>
          <p:spPr>
            <a:xfrm>
              <a:off x="6172199" y="2598070"/>
              <a:ext cx="1097280" cy="164592"/>
            </a:xfrm>
            <a:prstGeom prst="rect">
              <a:avLst/>
            </a:prstGeom>
            <a:solidFill>
              <a:srgbClr val="24D66B">
                <a:alpha val="20000"/>
              </a:srgbClr>
            </a:solidFill>
            <a:ln/>
          </p:spPr>
        </p:sp>
        <p:sp>
          <p:nvSpPr>
            <p:cNvPr id="50" name="Text 48"/>
            <p:cNvSpPr/>
            <p:nvPr/>
          </p:nvSpPr>
          <p:spPr>
            <a:xfrm>
              <a:off x="6172199" y="2598070"/>
              <a:ext cx="1097280" cy="164592"/>
            </a:xfrm>
            <a:prstGeom prst="rect">
              <a:avLst/>
            </a:prstGeom>
            <a:noFill/>
            <a:ln/>
          </p:spPr>
          <p:txBody>
            <a:bodyPr wrap="square" lIns="0" tIns="0" rIns="0" bIns="0" rtlCol="0" anchor="ctr"/>
            <a:lstStyle/>
            <a:p>
              <a:pPr marL="0" indent="0" algn="ctr">
                <a:buNone/>
              </a:pPr>
              <a:r>
                <a:rPr lang="en-US" sz="800" dirty="0">
                  <a:solidFill>
                    <a:srgbClr val="24D66B"/>
                  </a:solidFill>
                </a:rPr>
                <a:t>2026E FY Rev</a:t>
              </a:r>
              <a:endParaRPr lang="en-US" sz="800" dirty="0"/>
            </a:p>
          </p:txBody>
        </p:sp>
        <p:sp>
          <p:nvSpPr>
            <p:cNvPr id="51" name="Text 49"/>
            <p:cNvSpPr/>
            <p:nvPr/>
          </p:nvSpPr>
          <p:spPr>
            <a:xfrm>
              <a:off x="6172199" y="2790094"/>
              <a:ext cx="1188720" cy="237744"/>
            </a:xfrm>
            <a:prstGeom prst="rect">
              <a:avLst/>
            </a:prstGeom>
            <a:noFill/>
            <a:ln/>
          </p:spPr>
          <p:txBody>
            <a:bodyPr wrap="square" lIns="0" tIns="0" rIns="0" bIns="0" rtlCol="0" anchor="ctr"/>
            <a:lstStyle/>
            <a:p>
              <a:pPr marL="0" indent="0">
                <a:buNone/>
              </a:pPr>
              <a:r>
                <a:rPr lang="en-US" sz="1200" b="1" dirty="0">
                  <a:solidFill>
                    <a:srgbClr val="FFFFFF"/>
                  </a:solidFill>
                </a:rPr>
                <a:t>$24–28B</a:t>
              </a:r>
              <a:endParaRPr lang="en-US" sz="1200" dirty="0"/>
            </a:p>
          </p:txBody>
        </p:sp>
        <p:sp>
          <p:nvSpPr>
            <p:cNvPr id="52" name="Shape 50"/>
            <p:cNvSpPr/>
            <p:nvPr/>
          </p:nvSpPr>
          <p:spPr>
            <a:xfrm>
              <a:off x="7452359" y="2598070"/>
              <a:ext cx="1188720" cy="164592"/>
            </a:xfrm>
            <a:prstGeom prst="rect">
              <a:avLst/>
            </a:prstGeom>
            <a:solidFill>
              <a:srgbClr val="24D66B">
                <a:alpha val="20000"/>
              </a:srgbClr>
            </a:solidFill>
            <a:ln/>
          </p:spPr>
        </p:sp>
        <p:sp>
          <p:nvSpPr>
            <p:cNvPr id="53" name="Text 51"/>
            <p:cNvSpPr/>
            <p:nvPr/>
          </p:nvSpPr>
          <p:spPr>
            <a:xfrm>
              <a:off x="7452359" y="2598070"/>
              <a:ext cx="1188720" cy="164592"/>
            </a:xfrm>
            <a:prstGeom prst="rect">
              <a:avLst/>
            </a:prstGeom>
            <a:noFill/>
            <a:ln/>
          </p:spPr>
          <p:txBody>
            <a:bodyPr wrap="square" lIns="0" tIns="0" rIns="0" bIns="0" rtlCol="0" anchor="ctr"/>
            <a:lstStyle/>
            <a:p>
              <a:pPr marL="0" indent="0" algn="ctr">
                <a:buNone/>
              </a:pPr>
              <a:r>
                <a:rPr lang="en-US" sz="800" dirty="0">
                  <a:solidFill>
                    <a:srgbClr val="24D66B"/>
                  </a:solidFill>
                </a:rPr>
                <a:t>Implied P/E</a:t>
              </a:r>
              <a:endParaRPr lang="en-US" sz="800" dirty="0"/>
            </a:p>
          </p:txBody>
        </p:sp>
        <p:sp>
          <p:nvSpPr>
            <p:cNvPr id="54" name="Text 52"/>
            <p:cNvSpPr/>
            <p:nvPr/>
          </p:nvSpPr>
          <p:spPr>
            <a:xfrm>
              <a:off x="7452359" y="2790094"/>
              <a:ext cx="1280160" cy="237744"/>
            </a:xfrm>
            <a:prstGeom prst="rect">
              <a:avLst/>
            </a:prstGeom>
            <a:noFill/>
            <a:ln/>
          </p:spPr>
          <p:txBody>
            <a:bodyPr wrap="square" lIns="0" tIns="0" rIns="0" bIns="0" rtlCol="0" anchor="ctr"/>
            <a:lstStyle/>
            <a:p>
              <a:pPr marL="0" indent="0">
                <a:buNone/>
              </a:pPr>
              <a:r>
                <a:rPr lang="en-US" sz="1000" b="1" dirty="0">
                  <a:solidFill>
                    <a:srgbClr val="FFFFFF"/>
                  </a:solidFill>
                </a:rPr>
                <a:t>28–35x Fwd P/E</a:t>
              </a:r>
              <a:endParaRPr lang="en-US" sz="1000" dirty="0"/>
            </a:p>
          </p:txBody>
        </p:sp>
        <p:sp>
          <p:nvSpPr>
            <p:cNvPr id="55" name="Text 53"/>
            <p:cNvSpPr/>
            <p:nvPr/>
          </p:nvSpPr>
          <p:spPr>
            <a:xfrm>
              <a:off x="6172199" y="3110134"/>
              <a:ext cx="2560320" cy="182880"/>
            </a:xfrm>
            <a:prstGeom prst="rect">
              <a:avLst/>
            </a:prstGeom>
            <a:noFill/>
            <a:ln/>
          </p:spPr>
          <p:txBody>
            <a:bodyPr wrap="square" lIns="0" tIns="0" rIns="0" bIns="0" rtlCol="0" anchor="ctr"/>
            <a:lstStyle/>
            <a:p>
              <a:pPr marL="0" indent="0">
                <a:buNone/>
              </a:pPr>
              <a:r>
                <a:rPr lang="en-US" sz="900" b="1" dirty="0">
                  <a:solidFill>
                    <a:srgbClr val="24D66B"/>
                  </a:solidFill>
                </a:rPr>
                <a:t>Key triggers</a:t>
              </a:r>
              <a:endParaRPr lang="en-US" sz="900" dirty="0"/>
            </a:p>
          </p:txBody>
        </p:sp>
        <p:sp>
          <p:nvSpPr>
            <p:cNvPr id="56" name="Text 54"/>
            <p:cNvSpPr/>
            <p:nvPr/>
          </p:nvSpPr>
          <p:spPr>
            <a:xfrm>
              <a:off x="6172199" y="3311302"/>
              <a:ext cx="2560320" cy="237744"/>
            </a:xfrm>
            <a:prstGeom prst="rect">
              <a:avLst/>
            </a:prstGeom>
            <a:noFill/>
            <a:ln/>
          </p:spPr>
          <p:txBody>
            <a:bodyPr wrap="square" lIns="0" tIns="0" rIns="0" bIns="0" rtlCol="0" anchor="ctr"/>
            <a:lstStyle/>
            <a:p>
              <a:pPr marL="0" indent="0">
                <a:buNone/>
              </a:pPr>
              <a:r>
                <a:rPr lang="en-US" sz="900" dirty="0">
                  <a:solidFill>
                    <a:srgbClr val="E8E4FF"/>
                  </a:solidFill>
                </a:rPr>
                <a:t>• Mexico accelerates — 25M+ customers by year-end</a:t>
              </a:r>
              <a:endParaRPr lang="en-US" sz="900" dirty="0"/>
            </a:p>
          </p:txBody>
        </p:sp>
        <p:sp>
          <p:nvSpPr>
            <p:cNvPr id="57" name="Text 55"/>
            <p:cNvSpPr/>
            <p:nvPr/>
          </p:nvSpPr>
          <p:spPr>
            <a:xfrm>
              <a:off x="6172199" y="3567334"/>
              <a:ext cx="2560320" cy="237744"/>
            </a:xfrm>
            <a:prstGeom prst="rect">
              <a:avLst/>
            </a:prstGeom>
            <a:noFill/>
            <a:ln/>
          </p:spPr>
          <p:txBody>
            <a:bodyPr wrap="square" lIns="0" tIns="0" rIns="0" bIns="0" rtlCol="0" anchor="ctr"/>
            <a:lstStyle/>
            <a:p>
              <a:pPr marL="0" indent="0">
                <a:buNone/>
              </a:pPr>
              <a:r>
                <a:rPr lang="en-US" sz="900" dirty="0">
                  <a:solidFill>
                    <a:srgbClr val="E8E4FF"/>
                  </a:solidFill>
                </a:rPr>
                <a:t>• AI underwriting allows credit limits to expand safely</a:t>
              </a:r>
              <a:endParaRPr lang="en-US" sz="900" dirty="0"/>
            </a:p>
          </p:txBody>
        </p:sp>
        <p:sp>
          <p:nvSpPr>
            <p:cNvPr id="58" name="Text 56"/>
            <p:cNvSpPr/>
            <p:nvPr/>
          </p:nvSpPr>
          <p:spPr>
            <a:xfrm>
              <a:off x="6172199" y="3823366"/>
              <a:ext cx="2560320" cy="237744"/>
            </a:xfrm>
            <a:prstGeom prst="rect">
              <a:avLst/>
            </a:prstGeom>
            <a:noFill/>
            <a:ln/>
          </p:spPr>
          <p:txBody>
            <a:bodyPr wrap="square" lIns="0" tIns="0" rIns="0" bIns="0" rtlCol="0" anchor="ctr"/>
            <a:lstStyle/>
            <a:p>
              <a:pPr marL="0" indent="0">
                <a:buNone/>
              </a:pPr>
              <a:r>
                <a:rPr lang="en-US" sz="900" dirty="0">
                  <a:solidFill>
                    <a:srgbClr val="E8E4FF"/>
                  </a:solidFill>
                </a:rPr>
                <a:t>• Colombia reaches Mexico-scale faster than expected</a:t>
              </a:r>
              <a:endParaRPr lang="en-US" sz="900" dirty="0"/>
            </a:p>
          </p:txBody>
        </p:sp>
        <p:sp>
          <p:nvSpPr>
            <p:cNvPr id="59" name="Text 57"/>
            <p:cNvSpPr/>
            <p:nvPr/>
          </p:nvSpPr>
          <p:spPr>
            <a:xfrm>
              <a:off x="6172199" y="4079398"/>
              <a:ext cx="2560320" cy="237744"/>
            </a:xfrm>
            <a:prstGeom prst="rect">
              <a:avLst/>
            </a:prstGeom>
            <a:noFill/>
            <a:ln/>
          </p:spPr>
          <p:txBody>
            <a:bodyPr wrap="square" lIns="0" tIns="0" rIns="0" bIns="0" rtlCol="0" anchor="ctr"/>
            <a:lstStyle/>
            <a:p>
              <a:pPr marL="0" indent="0">
                <a:buNone/>
              </a:pPr>
              <a:r>
                <a:rPr lang="en-US" sz="900" dirty="0">
                  <a:solidFill>
                    <a:srgbClr val="E8E4FF"/>
                  </a:solidFill>
                </a:rPr>
                <a:t>• US bank charter activated — $1B+ revenue opportunity</a:t>
              </a:r>
              <a:endParaRPr lang="en-US" sz="900" dirty="0"/>
            </a:p>
          </p:txBody>
        </p:sp>
        <p:sp>
          <p:nvSpPr>
            <p:cNvPr id="60" name="Text 58"/>
            <p:cNvSpPr/>
            <p:nvPr/>
          </p:nvSpPr>
          <p:spPr>
            <a:xfrm>
              <a:off x="6172199" y="4335430"/>
              <a:ext cx="2560320" cy="237744"/>
            </a:xfrm>
            <a:prstGeom prst="rect">
              <a:avLst/>
            </a:prstGeom>
            <a:noFill/>
            <a:ln/>
          </p:spPr>
          <p:txBody>
            <a:bodyPr wrap="square" lIns="0" tIns="0" rIns="0" bIns="0" rtlCol="0" anchor="ctr"/>
            <a:lstStyle/>
            <a:p>
              <a:pPr marL="0" indent="0">
                <a:buNone/>
              </a:pPr>
              <a:r>
                <a:rPr lang="en-US" sz="900" dirty="0">
                  <a:solidFill>
                    <a:srgbClr val="E8E4FF"/>
                  </a:solidFill>
                </a:rPr>
                <a:t>• ARPAC surges to $20+/month driven by investments</a:t>
              </a:r>
              <a:endParaRPr lang="en-US" sz="900" dirty="0"/>
            </a:p>
          </p:txBody>
        </p:sp>
        <p:sp>
          <p:nvSpPr>
            <p:cNvPr id="61" name="Text 59"/>
            <p:cNvSpPr/>
            <p:nvPr/>
          </p:nvSpPr>
          <p:spPr>
            <a:xfrm>
              <a:off x="6172199" y="4591462"/>
              <a:ext cx="2560320" cy="237744"/>
            </a:xfrm>
            <a:prstGeom prst="rect">
              <a:avLst/>
            </a:prstGeom>
            <a:noFill/>
            <a:ln/>
          </p:spPr>
          <p:txBody>
            <a:bodyPr wrap="square" lIns="0" tIns="0" rIns="0" bIns="0" rtlCol="0" anchor="ctr"/>
            <a:lstStyle/>
            <a:p>
              <a:pPr marL="0" indent="0">
                <a:buNone/>
              </a:pPr>
              <a:r>
                <a:rPr lang="en-US" sz="900" dirty="0">
                  <a:solidFill>
                    <a:srgbClr val="E8E4FF"/>
                  </a:solidFill>
                </a:rPr>
                <a:t>• Buyback + strong earnings = re-rating to growth premium</a:t>
              </a:r>
              <a:endParaRPr lang="en-US" sz="900" dirty="0"/>
            </a:p>
          </p:txBody>
        </p:sp>
      </p:grpSp>
      <p:sp>
        <p:nvSpPr>
          <p:cNvPr id="62" name="Text 60"/>
          <p:cNvSpPr/>
          <p:nvPr/>
        </p:nvSpPr>
        <p:spPr>
          <a:xfrm>
            <a:off x="320040" y="4974336"/>
            <a:ext cx="8503920" cy="164592"/>
          </a:xfrm>
          <a:prstGeom prst="rect">
            <a:avLst/>
          </a:prstGeom>
          <a:noFill/>
          <a:ln/>
        </p:spPr>
        <p:txBody>
          <a:bodyPr wrap="square" lIns="0" tIns="0" rIns="0" bIns="0" rtlCol="0" anchor="ctr"/>
          <a:lstStyle/>
          <a:p>
            <a:pPr marL="0" indent="0">
              <a:buNone/>
            </a:pPr>
            <a:r>
              <a:rPr lang="en-US" sz="700" dirty="0">
                <a:solidFill>
                  <a:srgbClr val="8A86B8"/>
                </a:solidFill>
              </a:rPr>
              <a:t>Analyst consensus (21 analysts): Buy  |  Avg 12m target: $18.48  |  High PT: $22  |  Low PT: $10  |  BofA: $10 Underperform  |  Susquehanna: $13 Neutral  |  Others: $18–22 Buy. Not investment advice.</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0A1F"/>
        </a:solidFill>
        <a:effectLst/>
      </p:bgPr>
    </p:bg>
    <p:spTree>
      <p:nvGrpSpPr>
        <p:cNvPr id="1" name=""/>
        <p:cNvGrpSpPr/>
        <p:nvPr/>
      </p:nvGrpSpPr>
      <p:grpSpPr>
        <a:xfrm>
          <a:off x="0" y="0"/>
          <a:ext cx="0" cy="0"/>
          <a:chOff x="0" y="0"/>
          <a:chExt cx="0" cy="0"/>
        </a:xfrm>
      </p:grpSpPr>
      <p:sp>
        <p:nvSpPr>
          <p:cNvPr id="2" name="Shape 0"/>
          <p:cNvSpPr/>
          <p:nvPr/>
        </p:nvSpPr>
        <p:spPr>
          <a:xfrm>
            <a:off x="320040" y="146304"/>
            <a:ext cx="3675888" cy="256032"/>
          </a:xfrm>
          <a:prstGeom prst="roundRect">
            <a:avLst>
              <a:gd name="adj" fmla="val 28571"/>
            </a:avLst>
          </a:prstGeom>
          <a:solidFill>
            <a:srgbClr val="6C3BF5"/>
          </a:solidFill>
          <a:ln/>
        </p:spPr>
      </p:sp>
      <p:sp>
        <p:nvSpPr>
          <p:cNvPr id="3" name="Text 1"/>
          <p:cNvSpPr/>
          <p:nvPr/>
        </p:nvSpPr>
        <p:spPr>
          <a:xfrm>
            <a:off x="457200" y="164592"/>
            <a:ext cx="3737294" cy="237744"/>
          </a:xfrm>
          <a:prstGeom prst="rect">
            <a:avLst/>
          </a:prstGeom>
          <a:noFill/>
          <a:ln/>
        </p:spPr>
        <p:txBody>
          <a:bodyPr wrap="square" lIns="0" tIns="0" rIns="0" bIns="0" rtlCol="0" anchor="ctr"/>
          <a:lstStyle/>
          <a:p>
            <a:pPr marL="0" indent="0">
              <a:buNone/>
            </a:pPr>
            <a:r>
              <a:rPr lang="en-US" sz="1000" b="1" dirty="0">
                <a:solidFill>
                  <a:srgbClr val="FFFFFF"/>
                </a:solidFill>
              </a:rPr>
              <a:t>SECTION 10: VALUATION FRAMEWORK &amp; PEER COMPARISON</a:t>
            </a:r>
            <a:endParaRPr lang="en-US" sz="1000" dirty="0"/>
          </a:p>
        </p:txBody>
      </p:sp>
      <p:sp>
        <p:nvSpPr>
          <p:cNvPr id="4" name="Text 2"/>
          <p:cNvSpPr/>
          <p:nvPr/>
        </p:nvSpPr>
        <p:spPr>
          <a:xfrm>
            <a:off x="320040" y="457200"/>
            <a:ext cx="8503920" cy="502920"/>
          </a:xfrm>
          <a:prstGeom prst="rect">
            <a:avLst/>
          </a:prstGeom>
          <a:noFill/>
          <a:ln/>
        </p:spPr>
        <p:txBody>
          <a:bodyPr wrap="square" lIns="0" tIns="0" rIns="0" bIns="0" rtlCol="0" anchor="ctr"/>
          <a:lstStyle/>
          <a:p>
            <a:pPr marL="0" indent="0">
              <a:buNone/>
            </a:pPr>
            <a:r>
              <a:rPr lang="en-US" sz="2000" b="1" dirty="0">
                <a:solidFill>
                  <a:srgbClr val="FFFFFF"/>
                </a:solidFill>
              </a:rPr>
              <a:t>NU Trades at Growth-Stock Premium — Justified Only If Mexico Thesis Holds</a:t>
            </a:r>
            <a:endParaRPr lang="en-US" sz="2000" dirty="0"/>
          </a:p>
        </p:txBody>
      </p:sp>
      <p:sp>
        <p:nvSpPr>
          <p:cNvPr id="5" name="Text 3"/>
          <p:cNvSpPr/>
          <p:nvPr/>
        </p:nvSpPr>
        <p:spPr>
          <a:xfrm>
            <a:off x="320040" y="923544"/>
            <a:ext cx="8503920" cy="256032"/>
          </a:xfrm>
          <a:prstGeom prst="rect">
            <a:avLst/>
          </a:prstGeom>
          <a:noFill/>
          <a:ln/>
        </p:spPr>
        <p:txBody>
          <a:bodyPr wrap="square" lIns="0" tIns="0" rIns="0" bIns="0" rtlCol="0" anchor="ctr"/>
          <a:lstStyle/>
          <a:p>
            <a:pPr marL="0" indent="0">
              <a:buNone/>
            </a:pPr>
            <a:r>
              <a:rPr lang="en-US" sz="1100" i="1" dirty="0">
                <a:solidFill>
                  <a:srgbClr val="00D4AA"/>
                </a:solidFill>
              </a:rPr>
              <a:t>Recent analyst downgrades reflect multiple compression concerns — the key debate for 2026</a:t>
            </a:r>
            <a:endParaRPr lang="en-US" sz="1100" dirty="0"/>
          </a:p>
        </p:txBody>
      </p:sp>
      <p:sp>
        <p:nvSpPr>
          <p:cNvPr id="6" name="Shape 4"/>
          <p:cNvSpPr/>
          <p:nvPr/>
        </p:nvSpPr>
        <p:spPr>
          <a:xfrm>
            <a:off x="320040" y="1261872"/>
            <a:ext cx="1133856" cy="768096"/>
          </a:xfrm>
          <a:prstGeom prst="rect">
            <a:avLst/>
          </a:prstGeom>
          <a:solidFill>
            <a:srgbClr val="1E1850"/>
          </a:solidFill>
          <a:ln/>
          <a:effectLst>
            <a:outerShdw blurRad="152400" dist="50800" dir="8100000" algn="bl" rotWithShape="0">
              <a:srgbClr val="000000">
                <a:alpha val="25000"/>
              </a:srgbClr>
            </a:outerShdw>
          </a:effectLst>
        </p:spPr>
      </p:sp>
      <p:sp>
        <p:nvSpPr>
          <p:cNvPr id="7" name="Text 5"/>
          <p:cNvSpPr/>
          <p:nvPr/>
        </p:nvSpPr>
        <p:spPr>
          <a:xfrm>
            <a:off x="374904" y="1316736"/>
            <a:ext cx="1024128" cy="402336"/>
          </a:xfrm>
          <a:prstGeom prst="rect">
            <a:avLst/>
          </a:prstGeom>
          <a:noFill/>
          <a:ln/>
        </p:spPr>
        <p:txBody>
          <a:bodyPr wrap="square" lIns="0" tIns="0" rIns="0" bIns="0" rtlCol="0" anchor="ctr"/>
          <a:lstStyle/>
          <a:p>
            <a:pPr marL="0" indent="0" algn="ctr">
              <a:buNone/>
            </a:pPr>
            <a:r>
              <a:rPr lang="en-US" sz="1800" b="1" dirty="0">
                <a:solidFill>
                  <a:srgbClr val="FFFFFF"/>
                </a:solidFill>
              </a:rPr>
              <a:t>~$12.13</a:t>
            </a:r>
            <a:endParaRPr lang="en-US" sz="1800" dirty="0"/>
          </a:p>
        </p:txBody>
      </p:sp>
      <p:sp>
        <p:nvSpPr>
          <p:cNvPr id="8" name="Text 6"/>
          <p:cNvSpPr/>
          <p:nvPr/>
        </p:nvSpPr>
        <p:spPr>
          <a:xfrm>
            <a:off x="374904" y="1719072"/>
            <a:ext cx="1024128" cy="256032"/>
          </a:xfrm>
          <a:prstGeom prst="rect">
            <a:avLst/>
          </a:prstGeom>
          <a:noFill/>
          <a:ln/>
        </p:spPr>
        <p:txBody>
          <a:bodyPr wrap="square" lIns="0" tIns="0" rIns="0" bIns="0" rtlCol="0" anchor="ctr"/>
          <a:lstStyle/>
          <a:p>
            <a:pPr marL="0" indent="0" algn="ctr">
              <a:buNone/>
            </a:pPr>
            <a:r>
              <a:rPr lang="en-US" sz="750" dirty="0">
                <a:solidFill>
                  <a:srgbClr val="9B96C9"/>
                </a:solidFill>
              </a:rPr>
              <a:t>CMP (Jun 2026)</a:t>
            </a:r>
            <a:endParaRPr lang="en-US" sz="750" dirty="0"/>
          </a:p>
        </p:txBody>
      </p:sp>
      <p:sp>
        <p:nvSpPr>
          <p:cNvPr id="9" name="Shape 7"/>
          <p:cNvSpPr/>
          <p:nvPr/>
        </p:nvSpPr>
        <p:spPr>
          <a:xfrm>
            <a:off x="1545336" y="1261872"/>
            <a:ext cx="1133856" cy="768096"/>
          </a:xfrm>
          <a:prstGeom prst="rect">
            <a:avLst/>
          </a:prstGeom>
          <a:solidFill>
            <a:srgbClr val="1E1850"/>
          </a:solidFill>
          <a:ln/>
          <a:effectLst>
            <a:outerShdw blurRad="152400" dist="50800" dir="8100000" algn="bl" rotWithShape="0">
              <a:srgbClr val="000000">
                <a:alpha val="25000"/>
              </a:srgbClr>
            </a:outerShdw>
          </a:effectLst>
        </p:spPr>
      </p:sp>
      <p:sp>
        <p:nvSpPr>
          <p:cNvPr id="10" name="Text 8"/>
          <p:cNvSpPr/>
          <p:nvPr/>
        </p:nvSpPr>
        <p:spPr>
          <a:xfrm>
            <a:off x="1600200" y="1316736"/>
            <a:ext cx="1024128" cy="402336"/>
          </a:xfrm>
          <a:prstGeom prst="rect">
            <a:avLst/>
          </a:prstGeom>
          <a:noFill/>
          <a:ln/>
        </p:spPr>
        <p:txBody>
          <a:bodyPr wrap="square" lIns="0" tIns="0" rIns="0" bIns="0" rtlCol="0" anchor="ctr"/>
          <a:lstStyle/>
          <a:p>
            <a:pPr marL="0" indent="0" algn="ctr">
              <a:buNone/>
            </a:pPr>
            <a:r>
              <a:rPr lang="en-US" sz="1800" b="1" dirty="0">
                <a:solidFill>
                  <a:srgbClr val="FFFFFF"/>
                </a:solidFill>
              </a:rPr>
              <a:t>~$58B</a:t>
            </a:r>
            <a:endParaRPr lang="en-US" sz="1800" dirty="0"/>
          </a:p>
        </p:txBody>
      </p:sp>
      <p:sp>
        <p:nvSpPr>
          <p:cNvPr id="11" name="Text 9"/>
          <p:cNvSpPr/>
          <p:nvPr/>
        </p:nvSpPr>
        <p:spPr>
          <a:xfrm>
            <a:off x="1600200" y="1719072"/>
            <a:ext cx="1024128" cy="256032"/>
          </a:xfrm>
          <a:prstGeom prst="rect">
            <a:avLst/>
          </a:prstGeom>
          <a:noFill/>
          <a:ln/>
        </p:spPr>
        <p:txBody>
          <a:bodyPr wrap="square" lIns="0" tIns="0" rIns="0" bIns="0" rtlCol="0" anchor="ctr"/>
          <a:lstStyle/>
          <a:p>
            <a:pPr marL="0" indent="0" algn="ctr">
              <a:buNone/>
            </a:pPr>
            <a:r>
              <a:rPr lang="en-US" sz="750" dirty="0">
                <a:solidFill>
                  <a:srgbClr val="9B96C9"/>
                </a:solidFill>
              </a:rPr>
              <a:t>Market Cap</a:t>
            </a:r>
            <a:endParaRPr lang="en-US" sz="750" dirty="0"/>
          </a:p>
        </p:txBody>
      </p:sp>
      <p:sp>
        <p:nvSpPr>
          <p:cNvPr id="12" name="Shape 10"/>
          <p:cNvSpPr/>
          <p:nvPr/>
        </p:nvSpPr>
        <p:spPr>
          <a:xfrm>
            <a:off x="2770632" y="1261872"/>
            <a:ext cx="1133856" cy="768096"/>
          </a:xfrm>
          <a:prstGeom prst="rect">
            <a:avLst/>
          </a:prstGeom>
          <a:solidFill>
            <a:srgbClr val="1E1850"/>
          </a:solidFill>
          <a:ln/>
          <a:effectLst>
            <a:outerShdw blurRad="152400" dist="50800" dir="8100000" algn="bl" rotWithShape="0">
              <a:srgbClr val="000000">
                <a:alpha val="25000"/>
              </a:srgbClr>
            </a:outerShdw>
          </a:effectLst>
        </p:spPr>
      </p:sp>
      <p:sp>
        <p:nvSpPr>
          <p:cNvPr id="13" name="Text 11"/>
          <p:cNvSpPr/>
          <p:nvPr/>
        </p:nvSpPr>
        <p:spPr>
          <a:xfrm>
            <a:off x="2825496" y="1316736"/>
            <a:ext cx="1024128" cy="402336"/>
          </a:xfrm>
          <a:prstGeom prst="rect">
            <a:avLst/>
          </a:prstGeom>
          <a:noFill/>
          <a:ln/>
        </p:spPr>
        <p:txBody>
          <a:bodyPr wrap="square" lIns="0" tIns="0" rIns="0" bIns="0" rtlCol="0" anchor="ctr"/>
          <a:lstStyle/>
          <a:p>
            <a:pPr marL="0" indent="0" algn="ctr">
              <a:buNone/>
            </a:pPr>
            <a:r>
              <a:rPr lang="en-US" sz="1800" b="1" dirty="0">
                <a:solidFill>
                  <a:srgbClr val="6C3BF5"/>
                </a:solidFill>
              </a:rPr>
              <a:t>~21x</a:t>
            </a:r>
            <a:endParaRPr lang="en-US" sz="1800" dirty="0"/>
          </a:p>
        </p:txBody>
      </p:sp>
      <p:sp>
        <p:nvSpPr>
          <p:cNvPr id="14" name="Text 12"/>
          <p:cNvSpPr/>
          <p:nvPr/>
        </p:nvSpPr>
        <p:spPr>
          <a:xfrm>
            <a:off x="2825496" y="1719072"/>
            <a:ext cx="1024128" cy="256032"/>
          </a:xfrm>
          <a:prstGeom prst="rect">
            <a:avLst/>
          </a:prstGeom>
          <a:noFill/>
          <a:ln/>
        </p:spPr>
        <p:txBody>
          <a:bodyPr wrap="square" lIns="0" tIns="0" rIns="0" bIns="0" rtlCol="0" anchor="ctr"/>
          <a:lstStyle/>
          <a:p>
            <a:pPr marL="0" indent="0" algn="ctr">
              <a:buNone/>
            </a:pPr>
            <a:r>
              <a:rPr lang="en-US" sz="750" dirty="0">
                <a:solidFill>
                  <a:srgbClr val="9B96C9"/>
                </a:solidFill>
              </a:rPr>
              <a:t>P/E (FY2025A)</a:t>
            </a:r>
            <a:endParaRPr lang="en-US" sz="750" dirty="0"/>
          </a:p>
        </p:txBody>
      </p:sp>
      <p:sp>
        <p:nvSpPr>
          <p:cNvPr id="15" name="Shape 13"/>
          <p:cNvSpPr/>
          <p:nvPr/>
        </p:nvSpPr>
        <p:spPr>
          <a:xfrm>
            <a:off x="3995928" y="1261872"/>
            <a:ext cx="1133856" cy="768096"/>
          </a:xfrm>
          <a:prstGeom prst="rect">
            <a:avLst/>
          </a:prstGeom>
          <a:solidFill>
            <a:srgbClr val="1E1850"/>
          </a:solidFill>
          <a:ln/>
          <a:effectLst>
            <a:outerShdw blurRad="152400" dist="50800" dir="8100000" algn="bl" rotWithShape="0">
              <a:srgbClr val="000000">
                <a:alpha val="25000"/>
              </a:srgbClr>
            </a:outerShdw>
          </a:effectLst>
        </p:spPr>
      </p:sp>
      <p:sp>
        <p:nvSpPr>
          <p:cNvPr id="16" name="Text 14"/>
          <p:cNvSpPr/>
          <p:nvPr/>
        </p:nvSpPr>
        <p:spPr>
          <a:xfrm>
            <a:off x="4050792" y="1316736"/>
            <a:ext cx="1024128" cy="402336"/>
          </a:xfrm>
          <a:prstGeom prst="rect">
            <a:avLst/>
          </a:prstGeom>
          <a:noFill/>
          <a:ln/>
        </p:spPr>
        <p:txBody>
          <a:bodyPr wrap="square" lIns="0" tIns="0" rIns="0" bIns="0" rtlCol="0" anchor="ctr"/>
          <a:lstStyle/>
          <a:p>
            <a:pPr marL="0" indent="0" algn="ctr">
              <a:buNone/>
            </a:pPr>
            <a:r>
              <a:rPr lang="en-US" sz="1800" b="1" dirty="0">
                <a:solidFill>
                  <a:srgbClr val="6C3BF5"/>
                </a:solidFill>
              </a:rPr>
              <a:t>~14–18x</a:t>
            </a:r>
            <a:endParaRPr lang="en-US" sz="1800" dirty="0"/>
          </a:p>
        </p:txBody>
      </p:sp>
      <p:sp>
        <p:nvSpPr>
          <p:cNvPr id="17" name="Text 15"/>
          <p:cNvSpPr/>
          <p:nvPr/>
        </p:nvSpPr>
        <p:spPr>
          <a:xfrm>
            <a:off x="4050792" y="1719072"/>
            <a:ext cx="1024128" cy="256032"/>
          </a:xfrm>
          <a:prstGeom prst="rect">
            <a:avLst/>
          </a:prstGeom>
          <a:noFill/>
          <a:ln/>
        </p:spPr>
        <p:txBody>
          <a:bodyPr wrap="square" lIns="0" tIns="0" rIns="0" bIns="0" rtlCol="0" anchor="ctr"/>
          <a:lstStyle/>
          <a:p>
            <a:pPr marL="0" indent="0" algn="ctr">
              <a:buNone/>
            </a:pPr>
            <a:r>
              <a:rPr lang="en-US" sz="750" dirty="0">
                <a:solidFill>
                  <a:srgbClr val="9B96C9"/>
                </a:solidFill>
              </a:rPr>
              <a:t>P/E FY2026E NTM</a:t>
            </a:r>
            <a:endParaRPr lang="en-US" sz="750" dirty="0"/>
          </a:p>
        </p:txBody>
      </p:sp>
      <p:sp>
        <p:nvSpPr>
          <p:cNvPr id="18" name="Shape 16"/>
          <p:cNvSpPr/>
          <p:nvPr/>
        </p:nvSpPr>
        <p:spPr>
          <a:xfrm>
            <a:off x="5221224" y="1261872"/>
            <a:ext cx="1133856" cy="768096"/>
          </a:xfrm>
          <a:prstGeom prst="rect">
            <a:avLst/>
          </a:prstGeom>
          <a:solidFill>
            <a:srgbClr val="1E1850"/>
          </a:solidFill>
          <a:ln/>
          <a:effectLst>
            <a:outerShdw blurRad="152400" dist="50800" dir="8100000" algn="bl" rotWithShape="0">
              <a:srgbClr val="000000">
                <a:alpha val="25000"/>
              </a:srgbClr>
            </a:outerShdw>
          </a:effectLst>
        </p:spPr>
      </p:sp>
      <p:sp>
        <p:nvSpPr>
          <p:cNvPr id="19" name="Text 17"/>
          <p:cNvSpPr/>
          <p:nvPr/>
        </p:nvSpPr>
        <p:spPr>
          <a:xfrm>
            <a:off x="5276088" y="1316736"/>
            <a:ext cx="1024128" cy="402336"/>
          </a:xfrm>
          <a:prstGeom prst="rect">
            <a:avLst/>
          </a:prstGeom>
          <a:noFill/>
          <a:ln/>
        </p:spPr>
        <p:txBody>
          <a:bodyPr wrap="square" lIns="0" tIns="0" rIns="0" bIns="0" rtlCol="0" anchor="ctr"/>
          <a:lstStyle/>
          <a:p>
            <a:pPr marL="0" indent="0" algn="ctr">
              <a:buNone/>
            </a:pPr>
            <a:r>
              <a:rPr lang="en-US" sz="1800" b="1" dirty="0">
                <a:solidFill>
                  <a:srgbClr val="24D66B"/>
                </a:solidFill>
              </a:rPr>
              <a:t>$18.48</a:t>
            </a:r>
            <a:endParaRPr lang="en-US" sz="1800" dirty="0"/>
          </a:p>
        </p:txBody>
      </p:sp>
      <p:sp>
        <p:nvSpPr>
          <p:cNvPr id="20" name="Text 18"/>
          <p:cNvSpPr/>
          <p:nvPr/>
        </p:nvSpPr>
        <p:spPr>
          <a:xfrm>
            <a:off x="5276088" y="1719072"/>
            <a:ext cx="1024128" cy="256032"/>
          </a:xfrm>
          <a:prstGeom prst="rect">
            <a:avLst/>
          </a:prstGeom>
          <a:noFill/>
          <a:ln/>
        </p:spPr>
        <p:txBody>
          <a:bodyPr wrap="square" lIns="0" tIns="0" rIns="0" bIns="0" rtlCol="0" anchor="ctr"/>
          <a:lstStyle/>
          <a:p>
            <a:pPr marL="0" indent="0" algn="ctr">
              <a:buNone/>
            </a:pPr>
            <a:r>
              <a:rPr lang="en-US" sz="750" dirty="0">
                <a:solidFill>
                  <a:srgbClr val="9B96C9"/>
                </a:solidFill>
              </a:rPr>
              <a:t>Consensus PT</a:t>
            </a:r>
            <a:endParaRPr lang="en-US" sz="750" dirty="0"/>
          </a:p>
        </p:txBody>
      </p:sp>
      <p:sp>
        <p:nvSpPr>
          <p:cNvPr id="21" name="Shape 19"/>
          <p:cNvSpPr/>
          <p:nvPr/>
        </p:nvSpPr>
        <p:spPr>
          <a:xfrm>
            <a:off x="6446520" y="1261872"/>
            <a:ext cx="1133856" cy="768096"/>
          </a:xfrm>
          <a:prstGeom prst="rect">
            <a:avLst/>
          </a:prstGeom>
          <a:solidFill>
            <a:srgbClr val="1E1850"/>
          </a:solidFill>
          <a:ln/>
          <a:effectLst>
            <a:outerShdw blurRad="152400" dist="50800" dir="8100000" algn="bl" rotWithShape="0">
              <a:srgbClr val="000000">
                <a:alpha val="25000"/>
              </a:srgbClr>
            </a:outerShdw>
          </a:effectLst>
        </p:spPr>
      </p:sp>
      <p:sp>
        <p:nvSpPr>
          <p:cNvPr id="22" name="Text 20"/>
          <p:cNvSpPr/>
          <p:nvPr/>
        </p:nvSpPr>
        <p:spPr>
          <a:xfrm>
            <a:off x="6501384" y="1316736"/>
            <a:ext cx="1024128" cy="402336"/>
          </a:xfrm>
          <a:prstGeom prst="rect">
            <a:avLst/>
          </a:prstGeom>
          <a:noFill/>
          <a:ln/>
        </p:spPr>
        <p:txBody>
          <a:bodyPr wrap="square" lIns="0" tIns="0" rIns="0" bIns="0" rtlCol="0" anchor="ctr"/>
          <a:lstStyle/>
          <a:p>
            <a:pPr marL="0" indent="0" algn="ctr">
              <a:buNone/>
            </a:pPr>
            <a:r>
              <a:rPr lang="en-US" sz="1800" b="1" dirty="0">
                <a:solidFill>
                  <a:srgbClr val="24D66B"/>
                </a:solidFill>
              </a:rPr>
              <a:t>$22</a:t>
            </a:r>
            <a:endParaRPr lang="en-US" sz="1800" dirty="0"/>
          </a:p>
        </p:txBody>
      </p:sp>
      <p:sp>
        <p:nvSpPr>
          <p:cNvPr id="23" name="Text 21"/>
          <p:cNvSpPr/>
          <p:nvPr/>
        </p:nvSpPr>
        <p:spPr>
          <a:xfrm>
            <a:off x="6501384" y="1719072"/>
            <a:ext cx="1024128" cy="256032"/>
          </a:xfrm>
          <a:prstGeom prst="rect">
            <a:avLst/>
          </a:prstGeom>
          <a:noFill/>
          <a:ln/>
        </p:spPr>
        <p:txBody>
          <a:bodyPr wrap="square" lIns="0" tIns="0" rIns="0" bIns="0" rtlCol="0" anchor="ctr"/>
          <a:lstStyle/>
          <a:p>
            <a:pPr marL="0" indent="0" algn="ctr">
              <a:buNone/>
            </a:pPr>
            <a:r>
              <a:rPr lang="en-US" sz="750" dirty="0">
                <a:solidFill>
                  <a:srgbClr val="9B96C9"/>
                </a:solidFill>
              </a:rPr>
              <a:t>Highest PT</a:t>
            </a:r>
            <a:endParaRPr lang="en-US" sz="750" dirty="0"/>
          </a:p>
        </p:txBody>
      </p:sp>
      <p:sp>
        <p:nvSpPr>
          <p:cNvPr id="24" name="Shape 22"/>
          <p:cNvSpPr/>
          <p:nvPr/>
        </p:nvSpPr>
        <p:spPr>
          <a:xfrm>
            <a:off x="7671816" y="1261872"/>
            <a:ext cx="1133856" cy="768096"/>
          </a:xfrm>
          <a:prstGeom prst="rect">
            <a:avLst/>
          </a:prstGeom>
          <a:solidFill>
            <a:srgbClr val="1E1850"/>
          </a:solidFill>
          <a:ln/>
          <a:effectLst>
            <a:outerShdw blurRad="152400" dist="50800" dir="8100000" algn="bl" rotWithShape="0">
              <a:srgbClr val="000000">
                <a:alpha val="25000"/>
              </a:srgbClr>
            </a:outerShdw>
          </a:effectLst>
        </p:spPr>
      </p:sp>
      <p:sp>
        <p:nvSpPr>
          <p:cNvPr id="25" name="Text 23"/>
          <p:cNvSpPr/>
          <p:nvPr/>
        </p:nvSpPr>
        <p:spPr>
          <a:xfrm>
            <a:off x="7726680" y="1316736"/>
            <a:ext cx="1024128" cy="402336"/>
          </a:xfrm>
          <a:prstGeom prst="rect">
            <a:avLst/>
          </a:prstGeom>
          <a:noFill/>
          <a:ln/>
        </p:spPr>
        <p:txBody>
          <a:bodyPr wrap="square" lIns="0" tIns="0" rIns="0" bIns="0" rtlCol="0" anchor="ctr"/>
          <a:lstStyle/>
          <a:p>
            <a:pPr marL="0" indent="0" algn="ctr">
              <a:buNone/>
            </a:pPr>
            <a:r>
              <a:rPr lang="en-US" sz="1800" b="1" dirty="0">
                <a:solidFill>
                  <a:srgbClr val="FF5B6B"/>
                </a:solidFill>
              </a:rPr>
              <a:t>$10</a:t>
            </a:r>
            <a:endParaRPr lang="en-US" sz="1800" dirty="0"/>
          </a:p>
        </p:txBody>
      </p:sp>
      <p:sp>
        <p:nvSpPr>
          <p:cNvPr id="26" name="Text 24"/>
          <p:cNvSpPr/>
          <p:nvPr/>
        </p:nvSpPr>
        <p:spPr>
          <a:xfrm>
            <a:off x="7726680" y="1719072"/>
            <a:ext cx="1024128" cy="256032"/>
          </a:xfrm>
          <a:prstGeom prst="rect">
            <a:avLst/>
          </a:prstGeom>
          <a:noFill/>
          <a:ln/>
        </p:spPr>
        <p:txBody>
          <a:bodyPr wrap="square" lIns="0" tIns="0" rIns="0" bIns="0" rtlCol="0" anchor="ctr"/>
          <a:lstStyle/>
          <a:p>
            <a:pPr marL="0" indent="0" algn="ctr">
              <a:buNone/>
            </a:pPr>
            <a:r>
              <a:rPr lang="en-US" sz="750" dirty="0">
                <a:solidFill>
                  <a:srgbClr val="9B96C9"/>
                </a:solidFill>
              </a:rPr>
              <a:t>Bear PT (BofA)</a:t>
            </a:r>
            <a:endParaRPr lang="en-US" sz="750" dirty="0"/>
          </a:p>
        </p:txBody>
      </p:sp>
      <p:graphicFrame>
        <p:nvGraphicFramePr>
          <p:cNvPr id="27" name="Table 0"/>
          <p:cNvGraphicFramePr>
            <a:graphicFrameLocks noGrp="1"/>
          </p:cNvGraphicFramePr>
          <p:nvPr>
            <p:extLst>
              <p:ext uri="{D42A27DB-BD31-4B8C-83A1-F6EECF244321}">
                <p14:modId xmlns:p14="http://schemas.microsoft.com/office/powerpoint/2010/main" val="2155773695"/>
              </p:ext>
            </p:extLst>
          </p:nvPr>
        </p:nvGraphicFramePr>
        <p:xfrm>
          <a:off x="320040" y="2148840"/>
          <a:ext cx="8503919" cy="1981200"/>
        </p:xfrm>
        <a:graphic>
          <a:graphicData uri="http://schemas.openxmlformats.org/drawingml/2006/table">
            <a:tbl>
              <a:tblPr/>
              <a:tblGrid>
                <a:gridCol w="1394085">
                  <a:extLst>
                    <a:ext uri="{9D8B030D-6E8A-4147-A177-3AD203B41FA5}">
                      <a16:colId xmlns:a16="http://schemas.microsoft.com/office/drawing/2014/main" val="20000"/>
                    </a:ext>
                  </a:extLst>
                </a:gridCol>
                <a:gridCol w="557634">
                  <a:extLst>
                    <a:ext uri="{9D8B030D-6E8A-4147-A177-3AD203B41FA5}">
                      <a16:colId xmlns:a16="http://schemas.microsoft.com/office/drawing/2014/main" val="20001"/>
                    </a:ext>
                  </a:extLst>
                </a:gridCol>
                <a:gridCol w="836451">
                  <a:extLst>
                    <a:ext uri="{9D8B030D-6E8A-4147-A177-3AD203B41FA5}">
                      <a16:colId xmlns:a16="http://schemas.microsoft.com/office/drawing/2014/main" val="20002"/>
                    </a:ext>
                  </a:extLst>
                </a:gridCol>
                <a:gridCol w="836451">
                  <a:extLst>
                    <a:ext uri="{9D8B030D-6E8A-4147-A177-3AD203B41FA5}">
                      <a16:colId xmlns:a16="http://schemas.microsoft.com/office/drawing/2014/main" val="20003"/>
                    </a:ext>
                  </a:extLst>
                </a:gridCol>
                <a:gridCol w="650573">
                  <a:extLst>
                    <a:ext uri="{9D8B030D-6E8A-4147-A177-3AD203B41FA5}">
                      <a16:colId xmlns:a16="http://schemas.microsoft.com/office/drawing/2014/main" val="20004"/>
                    </a:ext>
                  </a:extLst>
                </a:gridCol>
                <a:gridCol w="557634">
                  <a:extLst>
                    <a:ext uri="{9D8B030D-6E8A-4147-A177-3AD203B41FA5}">
                      <a16:colId xmlns:a16="http://schemas.microsoft.com/office/drawing/2014/main" val="20005"/>
                    </a:ext>
                  </a:extLst>
                </a:gridCol>
                <a:gridCol w="975860">
                  <a:extLst>
                    <a:ext uri="{9D8B030D-6E8A-4147-A177-3AD203B41FA5}">
                      <a16:colId xmlns:a16="http://schemas.microsoft.com/office/drawing/2014/main" val="20006"/>
                    </a:ext>
                  </a:extLst>
                </a:gridCol>
                <a:gridCol w="2695231">
                  <a:extLst>
                    <a:ext uri="{9D8B030D-6E8A-4147-A177-3AD203B41FA5}">
                      <a16:colId xmlns:a16="http://schemas.microsoft.com/office/drawing/2014/main" val="20007"/>
                    </a:ext>
                  </a:extLst>
                </a:gridCol>
              </a:tblGrid>
              <a:tr h="0">
                <a:tc>
                  <a:txBody>
                    <a:bodyPr/>
                    <a:lstStyle/>
                    <a:p>
                      <a:pPr marL="0" indent="0">
                        <a:buNone/>
                      </a:pPr>
                      <a:r>
                        <a:rPr lang="en-US" sz="1000" b="1" dirty="0">
                          <a:solidFill>
                            <a:srgbClr val="FFFFFF"/>
                          </a:solidFill>
                        </a:rPr>
                        <a:t>Company</a:t>
                      </a:r>
                      <a:endParaRPr lang="en-US" sz="10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4B1FD4"/>
                    </a:solidFill>
                  </a:tcPr>
                </a:tc>
                <a:tc>
                  <a:txBody>
                    <a:bodyPr/>
                    <a:lstStyle/>
                    <a:p>
                      <a:pPr marL="0" indent="0">
                        <a:buNone/>
                      </a:pPr>
                      <a:r>
                        <a:rPr lang="en-US" sz="1000" b="1" dirty="0">
                          <a:solidFill>
                            <a:srgbClr val="FFFFFF"/>
                          </a:solidFill>
                        </a:rPr>
                        <a:t>Ticker</a:t>
                      </a:r>
                      <a:endParaRPr lang="en-US" sz="10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4B1FD4"/>
                    </a:solidFill>
                  </a:tcPr>
                </a:tc>
                <a:tc>
                  <a:txBody>
                    <a:bodyPr/>
                    <a:lstStyle/>
                    <a:p>
                      <a:pPr marL="0" indent="0">
                        <a:buNone/>
                      </a:pPr>
                      <a:r>
                        <a:rPr lang="en-US" sz="1000" b="1" dirty="0">
                          <a:solidFill>
                            <a:srgbClr val="FFFFFF"/>
                          </a:solidFill>
                        </a:rPr>
                        <a:t>FY2025 Rev</a:t>
                      </a:r>
                      <a:endParaRPr lang="en-US" sz="10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4B1FD4"/>
                    </a:solidFill>
                  </a:tcPr>
                </a:tc>
                <a:tc>
                  <a:txBody>
                    <a:bodyPr/>
                    <a:lstStyle/>
                    <a:p>
                      <a:pPr marL="0" indent="0">
                        <a:buNone/>
                      </a:pPr>
                      <a:r>
                        <a:rPr lang="en-US" sz="1000" b="1" dirty="0">
                          <a:solidFill>
                            <a:srgbClr val="FFFFFF"/>
                          </a:solidFill>
                        </a:rPr>
                        <a:t>FY2026E Rev</a:t>
                      </a:r>
                      <a:endParaRPr lang="en-US" sz="10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4B1FD4"/>
                    </a:solidFill>
                  </a:tcPr>
                </a:tc>
                <a:tc>
                  <a:txBody>
                    <a:bodyPr/>
                    <a:lstStyle/>
                    <a:p>
                      <a:pPr marL="0" indent="0">
                        <a:buNone/>
                      </a:pPr>
                      <a:r>
                        <a:rPr lang="en-US" sz="1000" b="1" dirty="0">
                          <a:solidFill>
                            <a:srgbClr val="FFFFFF"/>
                          </a:solidFill>
                        </a:rPr>
                        <a:t>NTM P/E</a:t>
                      </a:r>
                      <a:endParaRPr lang="en-US" sz="10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4B1FD4"/>
                    </a:solidFill>
                  </a:tcPr>
                </a:tc>
                <a:tc>
                  <a:txBody>
                    <a:bodyPr/>
                    <a:lstStyle/>
                    <a:p>
                      <a:pPr marL="0" indent="0">
                        <a:buNone/>
                      </a:pPr>
                      <a:r>
                        <a:rPr lang="en-US" sz="1000" b="1" dirty="0">
                          <a:solidFill>
                            <a:srgbClr val="FFFFFF"/>
                          </a:solidFill>
                        </a:rPr>
                        <a:t>ROE</a:t>
                      </a:r>
                      <a:endParaRPr lang="en-US" sz="10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4B1FD4"/>
                    </a:solidFill>
                  </a:tcPr>
                </a:tc>
                <a:tc>
                  <a:txBody>
                    <a:bodyPr/>
                    <a:lstStyle/>
                    <a:p>
                      <a:pPr marL="0" indent="0">
                        <a:buNone/>
                      </a:pPr>
                      <a:r>
                        <a:rPr lang="en-US" sz="1000" b="1" dirty="0">
                          <a:solidFill>
                            <a:srgbClr val="FFFFFF"/>
                          </a:solidFill>
                        </a:rPr>
                        <a:t>Rating</a:t>
                      </a:r>
                      <a:endParaRPr lang="en-US" sz="10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4B1FD4"/>
                    </a:solidFill>
                  </a:tcPr>
                </a:tc>
                <a:tc>
                  <a:txBody>
                    <a:bodyPr/>
                    <a:lstStyle/>
                    <a:p>
                      <a:pPr marL="0" indent="0">
                        <a:buNone/>
                      </a:pPr>
                      <a:r>
                        <a:rPr lang="en-US" sz="1000" b="1" dirty="0">
                          <a:solidFill>
                            <a:srgbClr val="FFFFFF"/>
                          </a:solidFill>
                        </a:rPr>
                        <a:t>Key Differentiator</a:t>
                      </a:r>
                      <a:endParaRPr lang="en-US" sz="10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4B1FD4"/>
                    </a:solidFill>
                  </a:tcPr>
                </a:tc>
                <a:extLst>
                  <a:ext uri="{0D108BD9-81ED-4DB2-BD59-A6C34878D82A}">
                    <a16:rowId xmlns:a16="http://schemas.microsoft.com/office/drawing/2014/main" val="10000"/>
                  </a:ext>
                </a:extLst>
              </a:tr>
              <a:tr h="0">
                <a:tc>
                  <a:txBody>
                    <a:bodyPr/>
                    <a:lstStyle/>
                    <a:p>
                      <a:pPr marL="0" indent="0">
                        <a:buNone/>
                      </a:pPr>
                      <a:r>
                        <a:rPr lang="en-US" sz="1000" b="1" dirty="0">
                          <a:solidFill>
                            <a:srgbClr val="00D4AA"/>
                          </a:solidFill>
                        </a:rPr>
                        <a:t>Nu Holdings</a:t>
                      </a:r>
                      <a:endParaRPr lang="en-US" sz="10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231C5A"/>
                    </a:solidFill>
                  </a:tcPr>
                </a:tc>
                <a:tc>
                  <a:txBody>
                    <a:bodyPr/>
                    <a:lstStyle/>
                    <a:p>
                      <a:pPr marL="0" indent="0">
                        <a:buNone/>
                      </a:pPr>
                      <a:r>
                        <a:rPr lang="en-US" sz="1000" dirty="0">
                          <a:solidFill>
                            <a:srgbClr val="9B96C9"/>
                          </a:solidFill>
                        </a:rPr>
                        <a:t>NU</a:t>
                      </a:r>
                      <a:endParaRPr lang="en-US" sz="10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231C5A"/>
                    </a:solidFill>
                  </a:tcPr>
                </a:tc>
                <a:tc>
                  <a:txBody>
                    <a:bodyPr/>
                    <a:lstStyle/>
                    <a:p>
                      <a:pPr marL="0" indent="0" algn="ctr">
                        <a:buNone/>
                      </a:pPr>
                      <a:r>
                        <a:rPr lang="en-US" sz="1000" dirty="0">
                          <a:solidFill>
                            <a:srgbClr val="FFFFFF"/>
                          </a:solidFill>
                        </a:rPr>
                        <a:t>$15.8B</a:t>
                      </a:r>
                      <a:endParaRPr lang="en-US" sz="10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231C5A"/>
                    </a:solidFill>
                  </a:tcPr>
                </a:tc>
                <a:tc>
                  <a:txBody>
                    <a:bodyPr/>
                    <a:lstStyle/>
                    <a:p>
                      <a:pPr marL="0" indent="0" algn="ctr">
                        <a:buNone/>
                      </a:pPr>
                      <a:r>
                        <a:rPr lang="en-US" sz="1000" dirty="0">
                          <a:solidFill>
                            <a:srgbClr val="FFFFFF"/>
                          </a:solidFill>
                        </a:rPr>
                        <a:t>~$21.2B</a:t>
                      </a:r>
                      <a:endParaRPr lang="en-US" sz="10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231C5A"/>
                    </a:solidFill>
                  </a:tcPr>
                </a:tc>
                <a:tc>
                  <a:txBody>
                    <a:bodyPr/>
                    <a:lstStyle/>
                    <a:p>
                      <a:pPr marL="0" indent="0" algn="ctr">
                        <a:buNone/>
                      </a:pPr>
                      <a:r>
                        <a:rPr lang="en-US" sz="1000" dirty="0">
                          <a:solidFill>
                            <a:srgbClr val="FFFFFF"/>
                          </a:solidFill>
                        </a:rPr>
                        <a:t>~14–18x</a:t>
                      </a:r>
                      <a:endParaRPr lang="en-US" sz="10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231C5A"/>
                    </a:solidFill>
                  </a:tcPr>
                </a:tc>
                <a:tc>
                  <a:txBody>
                    <a:bodyPr/>
                    <a:lstStyle/>
                    <a:p>
                      <a:pPr marL="0" indent="0" algn="ctr">
                        <a:buNone/>
                      </a:pPr>
                      <a:r>
                        <a:rPr lang="en-US" sz="1000" dirty="0">
                          <a:solidFill>
                            <a:srgbClr val="00D4AA"/>
                          </a:solidFill>
                        </a:rPr>
                        <a:t>29%</a:t>
                      </a:r>
                      <a:endParaRPr lang="en-US" sz="10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231C5A"/>
                    </a:solidFill>
                  </a:tcPr>
                </a:tc>
                <a:tc>
                  <a:txBody>
                    <a:bodyPr/>
                    <a:lstStyle/>
                    <a:p>
                      <a:pPr marL="0" indent="0">
                        <a:buNone/>
                      </a:pPr>
                      <a:r>
                        <a:rPr lang="en-US" sz="1000" dirty="0">
                          <a:solidFill>
                            <a:srgbClr val="00D4AA"/>
                          </a:solidFill>
                        </a:rPr>
                        <a:t>Buy (21/23)</a:t>
                      </a:r>
                      <a:endParaRPr lang="en-US" sz="10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231C5A"/>
                    </a:solidFill>
                  </a:tcPr>
                </a:tc>
                <a:tc>
                  <a:txBody>
                    <a:bodyPr/>
                    <a:lstStyle/>
                    <a:p>
                      <a:pPr marL="0" indent="0">
                        <a:buNone/>
                      </a:pPr>
                      <a:r>
                        <a:rPr lang="en-US" sz="900" dirty="0">
                          <a:solidFill>
                            <a:srgbClr val="E8E4FF"/>
                          </a:solidFill>
                        </a:rPr>
                        <a:t>Digital bank + LatAm TAM + AI underwriting moat</a:t>
                      </a:r>
                      <a:endParaRPr lang="en-US" sz="9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231C5A"/>
                    </a:solidFill>
                  </a:tcPr>
                </a:tc>
                <a:extLst>
                  <a:ext uri="{0D108BD9-81ED-4DB2-BD59-A6C34878D82A}">
                    <a16:rowId xmlns:a16="http://schemas.microsoft.com/office/drawing/2014/main" val="10001"/>
                  </a:ext>
                </a:extLst>
              </a:tr>
              <a:tr h="0">
                <a:tc>
                  <a:txBody>
                    <a:bodyPr/>
                    <a:lstStyle/>
                    <a:p>
                      <a:pPr marL="0" indent="0">
                        <a:buNone/>
                      </a:pPr>
                      <a:r>
                        <a:rPr lang="en-US" sz="1000" dirty="0">
                          <a:solidFill>
                            <a:srgbClr val="FFFFFF"/>
                          </a:solidFill>
                        </a:rPr>
                        <a:t>MercadoLibre</a:t>
                      </a:r>
                      <a:endParaRPr lang="en-US" sz="10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tc>
                  <a:txBody>
                    <a:bodyPr/>
                    <a:lstStyle/>
                    <a:p>
                      <a:pPr marL="0" indent="0">
                        <a:buNone/>
                      </a:pPr>
                      <a:r>
                        <a:rPr lang="en-US" sz="1000" dirty="0">
                          <a:solidFill>
                            <a:srgbClr val="9B96C9"/>
                          </a:solidFill>
                        </a:rPr>
                        <a:t>MELI</a:t>
                      </a:r>
                      <a:endParaRPr lang="en-US" sz="10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tc>
                  <a:txBody>
                    <a:bodyPr/>
                    <a:lstStyle/>
                    <a:p>
                      <a:pPr marL="0" indent="0" algn="ctr">
                        <a:buNone/>
                      </a:pPr>
                      <a:r>
                        <a:rPr lang="en-US" sz="1000" dirty="0">
                          <a:solidFill>
                            <a:srgbClr val="FFFFFF"/>
                          </a:solidFill>
                        </a:rPr>
                        <a:t>$21.3B</a:t>
                      </a:r>
                      <a:endParaRPr lang="en-US" sz="10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tc>
                  <a:txBody>
                    <a:bodyPr/>
                    <a:lstStyle/>
                    <a:p>
                      <a:pPr marL="0" indent="0" algn="ctr">
                        <a:buNone/>
                      </a:pPr>
                      <a:r>
                        <a:rPr lang="en-US" sz="1000" dirty="0">
                          <a:solidFill>
                            <a:srgbClr val="FFFFFF"/>
                          </a:solidFill>
                        </a:rPr>
                        <a:t>~$26B</a:t>
                      </a:r>
                      <a:endParaRPr lang="en-US" sz="10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tc>
                  <a:txBody>
                    <a:bodyPr/>
                    <a:lstStyle/>
                    <a:p>
                      <a:pPr marL="0" indent="0" algn="ctr">
                        <a:buNone/>
                      </a:pPr>
                      <a:r>
                        <a:rPr lang="en-US" sz="1000" dirty="0">
                          <a:solidFill>
                            <a:srgbClr val="FFFFFF"/>
                          </a:solidFill>
                        </a:rPr>
                        <a:t>~38x</a:t>
                      </a:r>
                      <a:endParaRPr lang="en-US" sz="10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tc>
                  <a:txBody>
                    <a:bodyPr/>
                    <a:lstStyle/>
                    <a:p>
                      <a:pPr marL="0" indent="0" algn="ctr">
                        <a:buNone/>
                      </a:pPr>
                      <a:r>
                        <a:rPr lang="en-US" sz="1000" dirty="0">
                          <a:solidFill>
                            <a:srgbClr val="FFFFFF"/>
                          </a:solidFill>
                        </a:rPr>
                        <a:t>35%</a:t>
                      </a:r>
                      <a:endParaRPr lang="en-US" sz="10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tc>
                  <a:txBody>
                    <a:bodyPr/>
                    <a:lstStyle/>
                    <a:p>
                      <a:pPr marL="0" indent="0">
                        <a:buNone/>
                      </a:pPr>
                      <a:r>
                        <a:rPr lang="en-US" sz="1000" dirty="0">
                          <a:solidFill>
                            <a:srgbClr val="00D4AA"/>
                          </a:solidFill>
                        </a:rPr>
                        <a:t>Buy</a:t>
                      </a:r>
                      <a:endParaRPr lang="en-US" sz="10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tc>
                  <a:txBody>
                    <a:bodyPr/>
                    <a:lstStyle/>
                    <a:p>
                      <a:pPr marL="0" indent="0">
                        <a:buNone/>
                      </a:pPr>
                      <a:r>
                        <a:rPr lang="en-US" sz="900" dirty="0">
                          <a:solidFill>
                            <a:srgbClr val="9B96C9"/>
                          </a:solidFill>
                        </a:rPr>
                        <a:t>LatAm e-commerce + fintech; broader moat but less pure-play</a:t>
                      </a:r>
                      <a:endParaRPr lang="en-US" sz="9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extLst>
                  <a:ext uri="{0D108BD9-81ED-4DB2-BD59-A6C34878D82A}">
                    <a16:rowId xmlns:a16="http://schemas.microsoft.com/office/drawing/2014/main" val="10002"/>
                  </a:ext>
                </a:extLst>
              </a:tr>
              <a:tr h="0">
                <a:tc>
                  <a:txBody>
                    <a:bodyPr/>
                    <a:lstStyle/>
                    <a:p>
                      <a:pPr marL="0" indent="0">
                        <a:buNone/>
                      </a:pPr>
                      <a:r>
                        <a:rPr lang="en-US" sz="1000" dirty="0">
                          <a:solidFill>
                            <a:srgbClr val="FFFFFF"/>
                          </a:solidFill>
                        </a:rPr>
                        <a:t>SoFi Technologies</a:t>
                      </a:r>
                      <a:endParaRPr lang="en-US" sz="10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tc>
                  <a:txBody>
                    <a:bodyPr/>
                    <a:lstStyle/>
                    <a:p>
                      <a:pPr marL="0" indent="0">
                        <a:buNone/>
                      </a:pPr>
                      <a:r>
                        <a:rPr lang="en-US" sz="1000" dirty="0">
                          <a:solidFill>
                            <a:srgbClr val="9B96C9"/>
                          </a:solidFill>
                        </a:rPr>
                        <a:t>SOFI</a:t>
                      </a:r>
                      <a:endParaRPr lang="en-US" sz="10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tc>
                  <a:txBody>
                    <a:bodyPr/>
                    <a:lstStyle/>
                    <a:p>
                      <a:pPr marL="0" indent="0" algn="ctr">
                        <a:buNone/>
                      </a:pPr>
                      <a:r>
                        <a:rPr lang="en-US" sz="1000" dirty="0">
                          <a:solidFill>
                            <a:srgbClr val="FFFFFF"/>
                          </a:solidFill>
                        </a:rPr>
                        <a:t>$3.3B</a:t>
                      </a:r>
                      <a:endParaRPr lang="en-US" sz="10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tc>
                  <a:txBody>
                    <a:bodyPr/>
                    <a:lstStyle/>
                    <a:p>
                      <a:pPr marL="0" indent="0" algn="ctr">
                        <a:buNone/>
                      </a:pPr>
                      <a:r>
                        <a:rPr lang="en-US" sz="1000" dirty="0">
                          <a:solidFill>
                            <a:srgbClr val="FFFFFF"/>
                          </a:solidFill>
                        </a:rPr>
                        <a:t>~$3.8B</a:t>
                      </a:r>
                      <a:endParaRPr lang="en-US" sz="10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tc>
                  <a:txBody>
                    <a:bodyPr/>
                    <a:lstStyle/>
                    <a:p>
                      <a:pPr marL="0" indent="0" algn="ctr">
                        <a:buNone/>
                      </a:pPr>
                      <a:r>
                        <a:rPr lang="en-US" sz="1000" dirty="0">
                          <a:solidFill>
                            <a:srgbClr val="FFFFFF"/>
                          </a:solidFill>
                        </a:rPr>
                        <a:t>~25x</a:t>
                      </a:r>
                      <a:endParaRPr lang="en-US" sz="10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tc>
                  <a:txBody>
                    <a:bodyPr/>
                    <a:lstStyle/>
                    <a:p>
                      <a:pPr marL="0" indent="0" algn="ctr">
                        <a:buNone/>
                      </a:pPr>
                      <a:r>
                        <a:rPr lang="en-US" sz="1000" dirty="0">
                          <a:solidFill>
                            <a:srgbClr val="FFFFFF"/>
                          </a:solidFill>
                        </a:rPr>
                        <a:t>8%</a:t>
                      </a:r>
                      <a:endParaRPr lang="en-US" sz="10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tc>
                  <a:txBody>
                    <a:bodyPr/>
                    <a:lstStyle/>
                    <a:p>
                      <a:pPr marL="0" indent="0">
                        <a:buNone/>
                      </a:pPr>
                      <a:r>
                        <a:rPr lang="en-US" sz="1000" dirty="0">
                          <a:solidFill>
                            <a:srgbClr val="00D4AA"/>
                          </a:solidFill>
                        </a:rPr>
                        <a:t>Hold</a:t>
                      </a:r>
                      <a:endParaRPr lang="en-US" sz="10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tc>
                  <a:txBody>
                    <a:bodyPr/>
                    <a:lstStyle/>
                    <a:p>
                      <a:pPr marL="0" indent="0">
                        <a:buNone/>
                      </a:pPr>
                      <a:r>
                        <a:rPr lang="en-US" sz="900" dirty="0">
                          <a:solidFill>
                            <a:srgbClr val="9B96C9"/>
                          </a:solidFill>
                        </a:rPr>
                        <a:t>US neobank; less scale, lower ARPAC, tougher competitive env.</a:t>
                      </a:r>
                      <a:endParaRPr lang="en-US" sz="9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extLst>
                  <a:ext uri="{0D108BD9-81ED-4DB2-BD59-A6C34878D82A}">
                    <a16:rowId xmlns:a16="http://schemas.microsoft.com/office/drawing/2014/main" val="10003"/>
                  </a:ext>
                </a:extLst>
              </a:tr>
              <a:tr h="0">
                <a:tc>
                  <a:txBody>
                    <a:bodyPr/>
                    <a:lstStyle/>
                    <a:p>
                      <a:pPr marL="0" indent="0">
                        <a:buNone/>
                      </a:pPr>
                      <a:r>
                        <a:rPr lang="en-US" sz="1000" dirty="0">
                          <a:solidFill>
                            <a:srgbClr val="FFFFFF"/>
                          </a:solidFill>
                        </a:rPr>
                        <a:t>Itaú Unibanco</a:t>
                      </a:r>
                      <a:endParaRPr lang="en-US" sz="10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tc>
                  <a:txBody>
                    <a:bodyPr/>
                    <a:lstStyle/>
                    <a:p>
                      <a:pPr marL="0" indent="0">
                        <a:buNone/>
                      </a:pPr>
                      <a:r>
                        <a:rPr lang="en-US" sz="1000" dirty="0">
                          <a:solidFill>
                            <a:srgbClr val="9B96C9"/>
                          </a:solidFill>
                        </a:rPr>
                        <a:t>ITUB</a:t>
                      </a:r>
                      <a:endParaRPr lang="en-US" sz="10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tc>
                  <a:txBody>
                    <a:bodyPr/>
                    <a:lstStyle/>
                    <a:p>
                      <a:pPr marL="0" indent="0" algn="ctr">
                        <a:buNone/>
                      </a:pPr>
                      <a:r>
                        <a:rPr lang="en-US" sz="1000" dirty="0">
                          <a:solidFill>
                            <a:srgbClr val="FFFFFF"/>
                          </a:solidFill>
                        </a:rPr>
                        <a:t>~$35B</a:t>
                      </a:r>
                      <a:endParaRPr lang="en-US" sz="10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tc>
                  <a:txBody>
                    <a:bodyPr/>
                    <a:lstStyle/>
                    <a:p>
                      <a:pPr marL="0" indent="0" algn="ctr">
                        <a:buNone/>
                      </a:pPr>
                      <a:r>
                        <a:rPr lang="en-US" sz="1000" dirty="0">
                          <a:solidFill>
                            <a:srgbClr val="FFFFFF"/>
                          </a:solidFill>
                        </a:rPr>
                        <a:t>~$37B</a:t>
                      </a:r>
                      <a:endParaRPr lang="en-US" sz="10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tc>
                  <a:txBody>
                    <a:bodyPr/>
                    <a:lstStyle/>
                    <a:p>
                      <a:pPr marL="0" indent="0" algn="ctr">
                        <a:buNone/>
                      </a:pPr>
                      <a:r>
                        <a:rPr lang="en-US" sz="1000" dirty="0">
                          <a:solidFill>
                            <a:srgbClr val="FFFFFF"/>
                          </a:solidFill>
                        </a:rPr>
                        <a:t>~8x</a:t>
                      </a:r>
                      <a:endParaRPr lang="en-US" sz="10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tc>
                  <a:txBody>
                    <a:bodyPr/>
                    <a:lstStyle/>
                    <a:p>
                      <a:pPr marL="0" indent="0" algn="ctr">
                        <a:buNone/>
                      </a:pPr>
                      <a:r>
                        <a:rPr lang="en-US" sz="1000" dirty="0">
                          <a:solidFill>
                            <a:srgbClr val="FFFFFF"/>
                          </a:solidFill>
                        </a:rPr>
                        <a:t>22%</a:t>
                      </a:r>
                      <a:endParaRPr lang="en-US" sz="10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tc>
                  <a:txBody>
                    <a:bodyPr/>
                    <a:lstStyle/>
                    <a:p>
                      <a:pPr marL="0" indent="0">
                        <a:buNone/>
                      </a:pPr>
                      <a:r>
                        <a:rPr lang="en-US" sz="1000" dirty="0">
                          <a:solidFill>
                            <a:srgbClr val="00D4AA"/>
                          </a:solidFill>
                        </a:rPr>
                        <a:t>Hold</a:t>
                      </a:r>
                      <a:endParaRPr lang="en-US" sz="10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tc>
                  <a:txBody>
                    <a:bodyPr/>
                    <a:lstStyle/>
                    <a:p>
                      <a:pPr marL="0" indent="0">
                        <a:buNone/>
                      </a:pPr>
                      <a:r>
                        <a:rPr lang="en-US" sz="900" dirty="0">
                          <a:solidFill>
                            <a:srgbClr val="9B96C9"/>
                          </a:solidFill>
                        </a:rPr>
                        <a:t>Brazil legacy scale; high NIM but zero growth profile</a:t>
                      </a:r>
                      <a:endParaRPr lang="en-US" sz="9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extLst>
                  <a:ext uri="{0D108BD9-81ED-4DB2-BD59-A6C34878D82A}">
                    <a16:rowId xmlns:a16="http://schemas.microsoft.com/office/drawing/2014/main" val="10004"/>
                  </a:ext>
                </a:extLst>
              </a:tr>
              <a:tr h="0">
                <a:tc>
                  <a:txBody>
                    <a:bodyPr/>
                    <a:lstStyle/>
                    <a:p>
                      <a:pPr marL="0" indent="0">
                        <a:buNone/>
                      </a:pPr>
                      <a:r>
                        <a:rPr lang="en-US" sz="1000" dirty="0">
                          <a:solidFill>
                            <a:srgbClr val="FFFFFF"/>
                          </a:solidFill>
                        </a:rPr>
                        <a:t>Nubank (FY2021 IPO)</a:t>
                      </a:r>
                      <a:endParaRPr lang="en-US" sz="10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tc>
                  <a:txBody>
                    <a:bodyPr/>
                    <a:lstStyle/>
                    <a:p>
                      <a:pPr marL="0" indent="0">
                        <a:buNone/>
                      </a:pPr>
                      <a:r>
                        <a:rPr lang="en-US" sz="1000" dirty="0">
                          <a:solidFill>
                            <a:srgbClr val="9B96C9"/>
                          </a:solidFill>
                        </a:rPr>
                        <a:t>NU</a:t>
                      </a:r>
                      <a:endParaRPr lang="en-US" sz="10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tc>
                  <a:txBody>
                    <a:bodyPr/>
                    <a:lstStyle/>
                    <a:p>
                      <a:pPr marL="0" indent="0" algn="ctr">
                        <a:buNone/>
                      </a:pPr>
                      <a:r>
                        <a:rPr lang="en-US" sz="1000" dirty="0">
                          <a:solidFill>
                            <a:srgbClr val="FFFFFF"/>
                          </a:solidFill>
                        </a:rPr>
                        <a:t>~$1.7B</a:t>
                      </a:r>
                      <a:endParaRPr lang="en-US" sz="10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tc>
                  <a:txBody>
                    <a:bodyPr/>
                    <a:lstStyle/>
                    <a:p>
                      <a:pPr marL="0" indent="0" algn="ctr">
                        <a:buNone/>
                      </a:pPr>
                      <a:r>
                        <a:rPr lang="en-US" sz="1000" dirty="0">
                          <a:solidFill>
                            <a:srgbClr val="FFFFFF"/>
                          </a:solidFill>
                        </a:rPr>
                        <a:t>N/A</a:t>
                      </a:r>
                      <a:endParaRPr lang="en-US" sz="10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tc>
                  <a:txBody>
                    <a:bodyPr/>
                    <a:lstStyle/>
                    <a:p>
                      <a:pPr marL="0" indent="0" algn="ctr">
                        <a:buNone/>
                      </a:pPr>
                      <a:r>
                        <a:rPr lang="en-US" sz="1000" dirty="0">
                          <a:solidFill>
                            <a:srgbClr val="FFFFFF"/>
                          </a:solidFill>
                        </a:rPr>
                        <a:t>Loss</a:t>
                      </a:r>
                      <a:endParaRPr lang="en-US" sz="10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tc>
                  <a:txBody>
                    <a:bodyPr/>
                    <a:lstStyle/>
                    <a:p>
                      <a:pPr marL="0" indent="0" algn="ctr">
                        <a:buNone/>
                      </a:pPr>
                      <a:r>
                        <a:rPr lang="en-US" sz="1000" dirty="0">
                          <a:solidFill>
                            <a:srgbClr val="FFFFFF"/>
                          </a:solidFill>
                        </a:rPr>
                        <a:t>neg</a:t>
                      </a:r>
                      <a:endParaRPr lang="en-US" sz="10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tc>
                  <a:txBody>
                    <a:bodyPr/>
                    <a:lstStyle/>
                    <a:p>
                      <a:pPr marL="0" indent="0">
                        <a:buNone/>
                      </a:pPr>
                      <a:r>
                        <a:rPr lang="en-US" sz="1000" dirty="0">
                          <a:solidFill>
                            <a:srgbClr val="00D4AA"/>
                          </a:solidFill>
                        </a:rPr>
                        <a:t>Historical</a:t>
                      </a:r>
                      <a:endParaRPr lang="en-US" sz="10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tc>
                  <a:txBody>
                    <a:bodyPr/>
                    <a:lstStyle/>
                    <a:p>
                      <a:pPr marL="0" indent="0">
                        <a:buNone/>
                      </a:pPr>
                      <a:r>
                        <a:rPr lang="en-US" sz="900" dirty="0">
                          <a:solidFill>
                            <a:srgbClr val="9B96C9"/>
                          </a:solidFill>
                        </a:rPr>
                        <a:t>Reminder: NU was loss-making at IPO. Now $2.9B net income. Story matured fast.</a:t>
                      </a:r>
                      <a:endParaRPr lang="en-US" sz="900" dirty="0"/>
                    </a:p>
                  </a:txBody>
                  <a:tcPr>
                    <a:lnL w="3810" cap="flat" cmpd="sng" algn="ctr">
                      <a:solidFill>
                        <a:srgbClr val="2A2466"/>
                      </a:solidFill>
                      <a:prstDash val="solid"/>
                      <a:round/>
                      <a:headEnd type="none" w="med" len="med"/>
                      <a:tailEnd type="none" w="med" len="med"/>
                    </a:lnL>
                    <a:lnR w="3810" cap="flat" cmpd="sng" algn="ctr">
                      <a:solidFill>
                        <a:srgbClr val="2A2466"/>
                      </a:solidFill>
                      <a:prstDash val="solid"/>
                      <a:round/>
                      <a:headEnd type="none" w="med" len="med"/>
                      <a:tailEnd type="none" w="med" len="med"/>
                    </a:lnR>
                    <a:lnT w="3810" cap="flat" cmpd="sng" algn="ctr">
                      <a:solidFill>
                        <a:srgbClr val="2A2466"/>
                      </a:solidFill>
                      <a:prstDash val="solid"/>
                      <a:round/>
                      <a:headEnd type="none" w="med" len="med"/>
                      <a:tailEnd type="none" w="med" len="med"/>
                    </a:lnT>
                    <a:lnB w="3810" cap="flat" cmpd="sng" algn="ctr">
                      <a:solidFill>
                        <a:srgbClr val="2A2466"/>
                      </a:solidFill>
                      <a:prstDash val="solid"/>
                      <a:round/>
                      <a:headEnd type="none" w="med" len="med"/>
                      <a:tailEnd type="none" w="med" len="med"/>
                    </a:lnB>
                    <a:solidFill>
                      <a:srgbClr val="1E1850"/>
                    </a:solidFill>
                  </a:tcPr>
                </a:tc>
                <a:extLst>
                  <a:ext uri="{0D108BD9-81ED-4DB2-BD59-A6C34878D82A}">
                    <a16:rowId xmlns:a16="http://schemas.microsoft.com/office/drawing/2014/main" val="10005"/>
                  </a:ext>
                </a:extLst>
              </a:tr>
            </a:tbl>
          </a:graphicData>
        </a:graphic>
      </p:graphicFrame>
      <p:sp>
        <p:nvSpPr>
          <p:cNvPr id="28" name="Shape 25"/>
          <p:cNvSpPr/>
          <p:nvPr/>
        </p:nvSpPr>
        <p:spPr>
          <a:xfrm>
            <a:off x="320040" y="4297680"/>
            <a:ext cx="8503920" cy="699516"/>
          </a:xfrm>
          <a:prstGeom prst="rect">
            <a:avLst/>
          </a:prstGeom>
          <a:solidFill>
            <a:srgbClr val="15103A"/>
          </a:solidFill>
          <a:ln/>
        </p:spPr>
      </p:sp>
      <p:sp>
        <p:nvSpPr>
          <p:cNvPr id="29" name="Text 26"/>
          <p:cNvSpPr/>
          <p:nvPr/>
        </p:nvSpPr>
        <p:spPr>
          <a:xfrm>
            <a:off x="463492" y="4297680"/>
            <a:ext cx="1828800" cy="201168"/>
          </a:xfrm>
          <a:prstGeom prst="rect">
            <a:avLst/>
          </a:prstGeom>
          <a:noFill/>
          <a:ln/>
        </p:spPr>
        <p:txBody>
          <a:bodyPr wrap="square" lIns="0" tIns="0" rIns="0" bIns="0" rtlCol="0" anchor="ctr"/>
          <a:lstStyle/>
          <a:p>
            <a:pPr marL="0" indent="0">
              <a:buNone/>
            </a:pPr>
            <a:r>
              <a:rPr lang="en-US" sz="1000" b="1" dirty="0">
                <a:solidFill>
                  <a:srgbClr val="00D4AA"/>
                </a:solidFill>
              </a:rPr>
              <a:t>KEY VALUATION INSIGHT</a:t>
            </a:r>
            <a:endParaRPr lang="en-US" sz="1000" dirty="0"/>
          </a:p>
        </p:txBody>
      </p:sp>
      <p:sp>
        <p:nvSpPr>
          <p:cNvPr id="30" name="Text 27"/>
          <p:cNvSpPr/>
          <p:nvPr/>
        </p:nvSpPr>
        <p:spPr>
          <a:xfrm>
            <a:off x="457200" y="4517136"/>
            <a:ext cx="8321040" cy="402336"/>
          </a:xfrm>
          <a:prstGeom prst="rect">
            <a:avLst/>
          </a:prstGeom>
          <a:noFill/>
          <a:ln/>
        </p:spPr>
        <p:txBody>
          <a:bodyPr wrap="square" lIns="0" tIns="0" rIns="0" bIns="0" rtlCol="0" anchor="ctr"/>
          <a:lstStyle/>
          <a:p>
            <a:pPr marL="0" indent="0">
              <a:buNone/>
            </a:pPr>
            <a:r>
              <a:rPr lang="en-US" sz="1000" dirty="0">
                <a:solidFill>
                  <a:srgbClr val="E8E4FF"/>
                </a:solidFill>
              </a:rPr>
              <a:t>NU trades at a significant premium to legacy LatAm banks (8–10x P/E) but at a discount to global growth fintechs. The key debate: is 14–18x P/E fair for a 30–35% revenue grower with 29% ROE and a 135M-customer base? Bulls say yes — Mexico and AI optionality alone justify this. Bears (BofA) say the CFO change + credit deterioration argues for a re-rate to 13x. The difference is your view on Brazil macro conditions in 2H 2026.</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E1B4B"/>
          </a:solidFill>
          <a:ln w="12700">
            <a:solidFill>
              <a:srgbClr val="1E1B4B"/>
            </a:solidFill>
            <a:prstDash val="solid"/>
          </a:ln>
        </p:spPr>
      </p:sp>
      <p:sp>
        <p:nvSpPr>
          <p:cNvPr id="3" name="Text 1"/>
          <p:cNvSpPr/>
          <p:nvPr/>
        </p:nvSpPr>
        <p:spPr>
          <a:xfrm>
            <a:off x="274320" y="73152"/>
            <a:ext cx="859536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SECTION 11: INVESTOR RESEARCH CHECKLIST &amp; KEY MONITORING ITEMS</a:t>
            </a:r>
            <a:endParaRPr lang="en-US" sz="1400" dirty="0"/>
          </a:p>
        </p:txBody>
      </p:sp>
      <p:sp>
        <p:nvSpPr>
          <p:cNvPr id="4" name="Text 2"/>
          <p:cNvSpPr/>
          <p:nvPr/>
        </p:nvSpPr>
        <p:spPr>
          <a:xfrm>
            <a:off x="329184" y="632488"/>
            <a:ext cx="8595360" cy="274320"/>
          </a:xfrm>
          <a:prstGeom prst="rect">
            <a:avLst/>
          </a:prstGeom>
          <a:noFill/>
          <a:ln/>
        </p:spPr>
        <p:txBody>
          <a:bodyPr wrap="square" lIns="0" tIns="0" rIns="0" bIns="0" rtlCol="0" anchor="ctr"/>
          <a:lstStyle/>
          <a:p>
            <a:pPr marL="0" indent="0">
              <a:buNone/>
            </a:pPr>
            <a:r>
              <a:rPr lang="en-US" sz="1100" i="1" dirty="0">
                <a:latin typeface="Calibri" pitchFamily="34" charset="0"/>
                <a:ea typeface="Calibri" pitchFamily="34" charset="-122"/>
                <a:cs typeface="Calibri" pitchFamily="34" charset="-120"/>
              </a:rPr>
              <a:t>What to track every quarter before conviction can be maintained or increased</a:t>
            </a:r>
            <a:endParaRPr lang="en-US" sz="1100" dirty="0"/>
          </a:p>
        </p:txBody>
      </p:sp>
      <p:grpSp>
        <p:nvGrpSpPr>
          <p:cNvPr id="48" name="Group 47">
            <a:extLst>
              <a:ext uri="{FF2B5EF4-FFF2-40B4-BE49-F238E27FC236}">
                <a16:creationId xmlns:a16="http://schemas.microsoft.com/office/drawing/2014/main" id="{C33422F3-E251-20D6-3B76-D3D7AB5C0B8E}"/>
              </a:ext>
            </a:extLst>
          </p:cNvPr>
          <p:cNvGrpSpPr/>
          <p:nvPr/>
        </p:nvGrpSpPr>
        <p:grpSpPr>
          <a:xfrm>
            <a:off x="219456" y="807881"/>
            <a:ext cx="8558784" cy="3904488"/>
            <a:chOff x="219456" y="807881"/>
            <a:chExt cx="8558784" cy="3904488"/>
          </a:xfrm>
        </p:grpSpPr>
        <p:grpSp>
          <p:nvGrpSpPr>
            <p:cNvPr id="47" name="Group 46">
              <a:extLst>
                <a:ext uri="{FF2B5EF4-FFF2-40B4-BE49-F238E27FC236}">
                  <a16:creationId xmlns:a16="http://schemas.microsoft.com/office/drawing/2014/main" id="{8AE655ED-CA5E-B21F-E84D-766753D1ECE9}"/>
                </a:ext>
              </a:extLst>
            </p:cNvPr>
            <p:cNvGrpSpPr/>
            <p:nvPr/>
          </p:nvGrpSpPr>
          <p:grpSpPr>
            <a:xfrm>
              <a:off x="219456" y="807881"/>
              <a:ext cx="8558784" cy="3904488"/>
              <a:chOff x="219456" y="807881"/>
              <a:chExt cx="8558784" cy="3904488"/>
            </a:xfrm>
          </p:grpSpPr>
          <p:grpSp>
            <p:nvGrpSpPr>
              <p:cNvPr id="43" name="Group 42">
                <a:extLst>
                  <a:ext uri="{FF2B5EF4-FFF2-40B4-BE49-F238E27FC236}">
                    <a16:creationId xmlns:a16="http://schemas.microsoft.com/office/drawing/2014/main" id="{548BBA71-43A5-B3FE-9792-7AEB9AAAF1F4}"/>
                  </a:ext>
                </a:extLst>
              </p:cNvPr>
              <p:cNvGrpSpPr/>
              <p:nvPr/>
            </p:nvGrpSpPr>
            <p:grpSpPr>
              <a:xfrm>
                <a:off x="219456" y="807881"/>
                <a:ext cx="8558784" cy="3886200"/>
                <a:chOff x="274320" y="987552"/>
                <a:chExt cx="8558784" cy="3886200"/>
              </a:xfrm>
            </p:grpSpPr>
            <p:sp>
              <p:nvSpPr>
                <p:cNvPr id="5" name="Shape 3"/>
                <p:cNvSpPr/>
                <p:nvPr/>
              </p:nvSpPr>
              <p:spPr>
                <a:xfrm>
                  <a:off x="274320" y="987552"/>
                  <a:ext cx="4206240" cy="1920240"/>
                </a:xfrm>
                <a:prstGeom prst="rect">
                  <a:avLst/>
                </a:prstGeom>
                <a:solidFill>
                  <a:srgbClr val="FFFFFF"/>
                </a:solidFill>
                <a:ln w="12700">
                  <a:solidFill>
                    <a:srgbClr val="DDD6FE"/>
                  </a:solidFill>
                  <a:prstDash val="solid"/>
                </a:ln>
                <a:effectLst>
                  <a:outerShdw blurRad="101600" dist="25400" dir="8100000" algn="bl" rotWithShape="0">
                    <a:srgbClr val="000000">
                      <a:alpha val="10000"/>
                    </a:srgbClr>
                  </a:outerShdw>
                </a:effectLst>
              </p:spPr>
            </p:sp>
            <p:sp>
              <p:nvSpPr>
                <p:cNvPr id="6" name="Shape 4"/>
                <p:cNvSpPr/>
                <p:nvPr/>
              </p:nvSpPr>
              <p:spPr>
                <a:xfrm>
                  <a:off x="274320" y="987552"/>
                  <a:ext cx="4206240" cy="384048"/>
                </a:xfrm>
                <a:prstGeom prst="rect">
                  <a:avLst/>
                </a:prstGeom>
                <a:solidFill>
                  <a:srgbClr val="7C3AED"/>
                </a:solidFill>
                <a:ln w="12700">
                  <a:solidFill>
                    <a:srgbClr val="7C3AED"/>
                  </a:solidFill>
                  <a:prstDash val="solid"/>
                </a:ln>
              </p:spPr>
            </p:sp>
            <p:pic>
              <p:nvPicPr>
                <p:cNvPr id="7" name="Image 0" descr="preencoded.png"/>
                <p:cNvPicPr>
                  <a:picLocks noChangeAspect="1"/>
                </p:cNvPicPr>
                <p:nvPr/>
              </p:nvPicPr>
              <p:blipFill>
                <a:blip r:embed="rId3"/>
                <a:stretch>
                  <a:fillRect/>
                </a:stretch>
              </p:blipFill>
              <p:spPr>
                <a:xfrm>
                  <a:off x="365760" y="1060704"/>
                  <a:ext cx="219456" cy="219456"/>
                </a:xfrm>
                <a:prstGeom prst="rect">
                  <a:avLst/>
                </a:prstGeom>
              </p:spPr>
            </p:pic>
            <p:sp>
              <p:nvSpPr>
                <p:cNvPr id="8" name="Text 5"/>
                <p:cNvSpPr/>
                <p:nvPr/>
              </p:nvSpPr>
              <p:spPr>
                <a:xfrm>
                  <a:off x="658368" y="1042416"/>
                  <a:ext cx="3703320" cy="292608"/>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Q2/Q3 2026 Earnings Metrics</a:t>
                  </a:r>
                  <a:endParaRPr lang="en-US" sz="950" dirty="0"/>
                </a:p>
              </p:txBody>
            </p:sp>
            <p:sp>
              <p:nvSpPr>
                <p:cNvPr id="9" name="Text 6"/>
                <p:cNvSpPr/>
                <p:nvPr/>
              </p:nvSpPr>
              <p:spPr>
                <a:xfrm>
                  <a:off x="402336" y="1444752"/>
                  <a:ext cx="3968496" cy="256032"/>
                </a:xfrm>
                <a:prstGeom prst="rect">
                  <a:avLst/>
                </a:prstGeom>
                <a:noFill/>
                <a:ln/>
              </p:spPr>
              <p:txBody>
                <a:bodyPr wrap="square" lIns="0" tIns="0" rIns="0" bIns="0" rtlCol="0" anchor="ctr"/>
                <a:lstStyle/>
                <a:p>
                  <a:pPr marL="0" indent="0">
                    <a:buNone/>
                  </a:pPr>
                  <a:r>
                    <a:rPr lang="en-US" sz="1000" b="1" dirty="0">
                      <a:solidFill>
                        <a:srgbClr val="7C3AED"/>
                      </a:solidFill>
                      <a:latin typeface="Calibri" pitchFamily="34" charset="0"/>
                      <a:ea typeface="Calibri" pitchFamily="34" charset="-122"/>
                      <a:cs typeface="Calibri" pitchFamily="34" charset="-120"/>
                    </a:rPr>
                    <a:t>→  </a:t>
                  </a:r>
                  <a:r>
                    <a:rPr lang="en-US" sz="1000" dirty="0">
                      <a:solidFill>
                        <a:srgbClr val="374151"/>
                      </a:solidFill>
                      <a:latin typeface="Calibri" pitchFamily="34" charset="0"/>
                      <a:ea typeface="Calibri" pitchFamily="34" charset="-122"/>
                      <a:cs typeface="Calibri" pitchFamily="34" charset="-120"/>
                    </a:rPr>
                    <a:t>Revenue vs $5.5–6B Q2 consensus — is 40%+ FXN growth sustained?</a:t>
                  </a:r>
                  <a:endParaRPr lang="en-US" sz="1000" dirty="0"/>
                </a:p>
              </p:txBody>
            </p:sp>
            <p:sp>
              <p:nvSpPr>
                <p:cNvPr id="10" name="Text 7"/>
                <p:cNvSpPr/>
                <p:nvPr/>
              </p:nvSpPr>
              <p:spPr>
                <a:xfrm>
                  <a:off x="402336" y="1737360"/>
                  <a:ext cx="3968496" cy="256032"/>
                </a:xfrm>
                <a:prstGeom prst="rect">
                  <a:avLst/>
                </a:prstGeom>
                <a:noFill/>
                <a:ln/>
              </p:spPr>
              <p:txBody>
                <a:bodyPr wrap="square" lIns="0" tIns="0" rIns="0" bIns="0" rtlCol="0" anchor="ctr"/>
                <a:lstStyle/>
                <a:p>
                  <a:pPr marL="0" indent="0">
                    <a:buNone/>
                  </a:pPr>
                  <a:r>
                    <a:rPr lang="en-US" sz="1000" b="1" dirty="0">
                      <a:solidFill>
                        <a:srgbClr val="7C3AED"/>
                      </a:solidFill>
                      <a:latin typeface="Calibri" pitchFamily="34" charset="0"/>
                      <a:ea typeface="Calibri" pitchFamily="34" charset="-122"/>
                      <a:cs typeface="Calibri" pitchFamily="34" charset="-120"/>
                    </a:rPr>
                    <a:t>→  </a:t>
                  </a:r>
                  <a:r>
                    <a:rPr lang="en-US" sz="1000" dirty="0">
                      <a:solidFill>
                        <a:srgbClr val="374151"/>
                      </a:solidFill>
                      <a:latin typeface="Calibri" pitchFamily="34" charset="0"/>
                      <a:ea typeface="Calibri" pitchFamily="34" charset="-122"/>
                      <a:cs typeface="Calibri" pitchFamily="34" charset="-120"/>
                    </a:rPr>
                    <a:t>ARPAC trajectory — can $16+ hold with cost-to-serve recovery?</a:t>
                  </a:r>
                  <a:endParaRPr lang="en-US" sz="1000" dirty="0"/>
                </a:p>
              </p:txBody>
            </p:sp>
            <p:sp>
              <p:nvSpPr>
                <p:cNvPr id="11" name="Text 8"/>
                <p:cNvSpPr/>
                <p:nvPr/>
              </p:nvSpPr>
              <p:spPr>
                <a:xfrm>
                  <a:off x="402336" y="2029968"/>
                  <a:ext cx="3968496" cy="256032"/>
                </a:xfrm>
                <a:prstGeom prst="rect">
                  <a:avLst/>
                </a:prstGeom>
                <a:noFill/>
                <a:ln/>
              </p:spPr>
              <p:txBody>
                <a:bodyPr wrap="square" lIns="0" tIns="0" rIns="0" bIns="0" rtlCol="0" anchor="ctr"/>
                <a:lstStyle/>
                <a:p>
                  <a:pPr marL="0" indent="0">
                    <a:buNone/>
                  </a:pPr>
                  <a:r>
                    <a:rPr lang="en-US" sz="1000" b="1" dirty="0">
                      <a:solidFill>
                        <a:srgbClr val="7C3AED"/>
                      </a:solidFill>
                      <a:latin typeface="Calibri" pitchFamily="34" charset="0"/>
                      <a:ea typeface="Calibri" pitchFamily="34" charset="-122"/>
                      <a:cs typeface="Calibri" pitchFamily="34" charset="-120"/>
                    </a:rPr>
                    <a:t>→  </a:t>
                  </a:r>
                  <a:r>
                    <a:rPr lang="en-US" sz="1000" dirty="0">
                      <a:solidFill>
                        <a:srgbClr val="374151"/>
                      </a:solidFill>
                      <a:latin typeface="Calibri" pitchFamily="34" charset="0"/>
                      <a:ea typeface="Calibri" pitchFamily="34" charset="-122"/>
                      <a:cs typeface="Calibri" pitchFamily="34" charset="-120"/>
                    </a:rPr>
                    <a:t>Efficiency ratio — Q1'26 was 17.6%; will it hold below 20%?</a:t>
                  </a:r>
                  <a:endParaRPr lang="en-US" sz="1000" dirty="0"/>
                </a:p>
              </p:txBody>
            </p:sp>
            <p:sp>
              <p:nvSpPr>
                <p:cNvPr id="12" name="Text 9"/>
                <p:cNvSpPr/>
                <p:nvPr/>
              </p:nvSpPr>
              <p:spPr>
                <a:xfrm>
                  <a:off x="402336" y="2322576"/>
                  <a:ext cx="3968496" cy="256032"/>
                </a:xfrm>
                <a:prstGeom prst="rect">
                  <a:avLst/>
                </a:prstGeom>
                <a:noFill/>
                <a:ln/>
              </p:spPr>
              <p:txBody>
                <a:bodyPr wrap="square" lIns="0" tIns="0" rIns="0" bIns="0" rtlCol="0" anchor="ctr"/>
                <a:lstStyle/>
                <a:p>
                  <a:pPr marL="0" indent="0">
                    <a:buNone/>
                  </a:pPr>
                  <a:r>
                    <a:rPr lang="en-US" sz="1000" b="1" dirty="0">
                      <a:solidFill>
                        <a:srgbClr val="7C3AED"/>
                      </a:solidFill>
                      <a:latin typeface="Calibri" pitchFamily="34" charset="0"/>
                      <a:ea typeface="Calibri" pitchFamily="34" charset="-122"/>
                      <a:cs typeface="Calibri" pitchFamily="34" charset="-120"/>
                    </a:rPr>
                    <a:t>→  </a:t>
                  </a:r>
                  <a:r>
                    <a:rPr lang="en-US" sz="1000" dirty="0">
                      <a:solidFill>
                        <a:srgbClr val="374151"/>
                      </a:solidFill>
                      <a:latin typeface="Calibri" pitchFamily="34" charset="0"/>
                      <a:ea typeface="Calibri" pitchFamily="34" charset="-122"/>
                      <a:cs typeface="Calibri" pitchFamily="34" charset="-120"/>
                    </a:rPr>
                    <a:t>NPL 15-90 and 90+ — any further deterioration signals credit stress</a:t>
                  </a:r>
                  <a:endParaRPr lang="en-US" sz="1000" dirty="0"/>
                </a:p>
              </p:txBody>
            </p:sp>
            <p:sp>
              <p:nvSpPr>
                <p:cNvPr id="13" name="Text 10"/>
                <p:cNvSpPr/>
                <p:nvPr/>
              </p:nvSpPr>
              <p:spPr>
                <a:xfrm>
                  <a:off x="402336" y="2615184"/>
                  <a:ext cx="3968496" cy="256032"/>
                </a:xfrm>
                <a:prstGeom prst="rect">
                  <a:avLst/>
                </a:prstGeom>
                <a:noFill/>
                <a:ln/>
              </p:spPr>
              <p:txBody>
                <a:bodyPr wrap="square" lIns="0" tIns="0" rIns="0" bIns="0" rtlCol="0" anchor="ctr"/>
                <a:lstStyle/>
                <a:p>
                  <a:pPr marL="0" indent="0">
                    <a:buNone/>
                  </a:pPr>
                  <a:r>
                    <a:rPr lang="en-US" sz="1000" b="1" dirty="0">
                      <a:solidFill>
                        <a:srgbClr val="7C3AED"/>
                      </a:solidFill>
                      <a:latin typeface="Calibri" pitchFamily="34" charset="0"/>
                      <a:ea typeface="Calibri" pitchFamily="34" charset="-122"/>
                      <a:cs typeface="Calibri" pitchFamily="34" charset="-120"/>
                    </a:rPr>
                    <a:t>→  </a:t>
                  </a:r>
                  <a:r>
                    <a:rPr lang="en-US" sz="1000" dirty="0">
                      <a:solidFill>
                        <a:srgbClr val="374151"/>
                      </a:solidFill>
                      <a:latin typeface="Calibri" pitchFamily="34" charset="0"/>
                      <a:ea typeface="Calibri" pitchFamily="34" charset="-122"/>
                      <a:cs typeface="Calibri" pitchFamily="34" charset="-120"/>
                    </a:rPr>
                    <a:t>Mexico quarterly ARPAC milestone — must be inflecting upward</a:t>
                  </a:r>
                  <a:endParaRPr lang="en-US" sz="1000" dirty="0"/>
                </a:p>
              </p:txBody>
            </p:sp>
            <p:sp>
              <p:nvSpPr>
                <p:cNvPr id="14" name="Shape 11"/>
                <p:cNvSpPr/>
                <p:nvPr/>
              </p:nvSpPr>
              <p:spPr>
                <a:xfrm>
                  <a:off x="4626864" y="987552"/>
                  <a:ext cx="4206240" cy="1920240"/>
                </a:xfrm>
                <a:prstGeom prst="rect">
                  <a:avLst/>
                </a:prstGeom>
                <a:solidFill>
                  <a:srgbClr val="FFFFFF"/>
                </a:solidFill>
                <a:ln w="12700">
                  <a:solidFill>
                    <a:srgbClr val="DDD6FE"/>
                  </a:solidFill>
                  <a:prstDash val="solid"/>
                </a:ln>
                <a:effectLst>
                  <a:outerShdw blurRad="101600" dist="25400" dir="8100000" algn="bl" rotWithShape="0">
                    <a:srgbClr val="000000">
                      <a:alpha val="10000"/>
                    </a:srgbClr>
                  </a:outerShdw>
                </a:effectLst>
              </p:spPr>
            </p:sp>
            <p:sp>
              <p:nvSpPr>
                <p:cNvPr id="15" name="Shape 12"/>
                <p:cNvSpPr/>
                <p:nvPr/>
              </p:nvSpPr>
              <p:spPr>
                <a:xfrm>
                  <a:off x="4626864" y="987552"/>
                  <a:ext cx="4206240" cy="384048"/>
                </a:xfrm>
                <a:prstGeom prst="rect">
                  <a:avLst/>
                </a:prstGeom>
                <a:solidFill>
                  <a:srgbClr val="059669"/>
                </a:solidFill>
                <a:ln w="12700">
                  <a:solidFill>
                    <a:srgbClr val="059669"/>
                  </a:solidFill>
                  <a:prstDash val="solid"/>
                </a:ln>
              </p:spPr>
            </p:sp>
            <p:pic>
              <p:nvPicPr>
                <p:cNvPr id="16" name="Image 1" descr="preencoded.png"/>
                <p:cNvPicPr>
                  <a:picLocks noChangeAspect="1"/>
                </p:cNvPicPr>
                <p:nvPr/>
              </p:nvPicPr>
              <p:blipFill>
                <a:blip r:embed="rId4"/>
                <a:stretch>
                  <a:fillRect/>
                </a:stretch>
              </p:blipFill>
              <p:spPr>
                <a:xfrm>
                  <a:off x="4718304" y="1060704"/>
                  <a:ext cx="219456" cy="219456"/>
                </a:xfrm>
                <a:prstGeom prst="rect">
                  <a:avLst/>
                </a:prstGeom>
              </p:spPr>
            </p:pic>
            <p:sp>
              <p:nvSpPr>
                <p:cNvPr id="17" name="Text 13"/>
                <p:cNvSpPr/>
                <p:nvPr/>
              </p:nvSpPr>
              <p:spPr>
                <a:xfrm>
                  <a:off x="5010912" y="1042416"/>
                  <a:ext cx="3703320" cy="292608"/>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Geographic Expansion Progress</a:t>
                  </a:r>
                  <a:endParaRPr lang="en-US" sz="950" dirty="0"/>
                </a:p>
              </p:txBody>
            </p:sp>
            <p:sp>
              <p:nvSpPr>
                <p:cNvPr id="18" name="Text 14"/>
                <p:cNvSpPr/>
                <p:nvPr/>
              </p:nvSpPr>
              <p:spPr>
                <a:xfrm>
                  <a:off x="4754880" y="1444752"/>
                  <a:ext cx="3968496" cy="256032"/>
                </a:xfrm>
                <a:prstGeom prst="rect">
                  <a:avLst/>
                </a:prstGeom>
                <a:noFill/>
                <a:ln/>
              </p:spPr>
              <p:txBody>
                <a:bodyPr wrap="square" lIns="0" tIns="0" rIns="0" bIns="0" rtlCol="0" anchor="ctr"/>
                <a:lstStyle/>
                <a:p>
                  <a:pPr marL="0" indent="0">
                    <a:buNone/>
                  </a:pPr>
                  <a:r>
                    <a:rPr lang="en-US" sz="1000" b="1" dirty="0">
                      <a:solidFill>
                        <a:srgbClr val="059669"/>
                      </a:solidFill>
                      <a:latin typeface="Calibri" pitchFamily="34" charset="0"/>
                      <a:ea typeface="Calibri" pitchFamily="34" charset="-122"/>
                      <a:cs typeface="Calibri" pitchFamily="34" charset="-120"/>
                    </a:rPr>
                    <a:t>→  </a:t>
                  </a:r>
                  <a:r>
                    <a:rPr lang="en-US" sz="1000" dirty="0">
                      <a:solidFill>
                        <a:srgbClr val="374151"/>
                      </a:solidFill>
                      <a:latin typeface="Calibri" pitchFamily="34" charset="0"/>
                      <a:ea typeface="Calibri" pitchFamily="34" charset="-122"/>
                      <a:cs typeface="Calibri" pitchFamily="34" charset="-120"/>
                    </a:rPr>
                    <a:t>Mexico banking license final operational approval — critical unlock</a:t>
                  </a:r>
                  <a:endParaRPr lang="en-US" sz="1000" dirty="0"/>
                </a:p>
              </p:txBody>
            </p:sp>
            <p:sp>
              <p:nvSpPr>
                <p:cNvPr id="19" name="Text 15"/>
                <p:cNvSpPr/>
                <p:nvPr/>
              </p:nvSpPr>
              <p:spPr>
                <a:xfrm>
                  <a:off x="4754880" y="1737360"/>
                  <a:ext cx="3968496" cy="256032"/>
                </a:xfrm>
                <a:prstGeom prst="rect">
                  <a:avLst/>
                </a:prstGeom>
                <a:noFill/>
                <a:ln/>
              </p:spPr>
              <p:txBody>
                <a:bodyPr wrap="square" lIns="0" tIns="0" rIns="0" bIns="0" rtlCol="0" anchor="ctr"/>
                <a:lstStyle/>
                <a:p>
                  <a:pPr marL="0" indent="0">
                    <a:buNone/>
                  </a:pPr>
                  <a:r>
                    <a:rPr lang="en-US" sz="1000" b="1" dirty="0">
                      <a:solidFill>
                        <a:srgbClr val="059669"/>
                      </a:solidFill>
                      <a:latin typeface="Calibri" pitchFamily="34" charset="0"/>
                      <a:ea typeface="Calibri" pitchFamily="34" charset="-122"/>
                      <a:cs typeface="Calibri" pitchFamily="34" charset="-120"/>
                    </a:rPr>
                    <a:t>→  </a:t>
                  </a:r>
                  <a:r>
                    <a:rPr lang="en-US" sz="1000" dirty="0">
                      <a:solidFill>
                        <a:srgbClr val="374151"/>
                      </a:solidFill>
                      <a:latin typeface="Calibri" pitchFamily="34" charset="0"/>
                      <a:ea typeface="Calibri" pitchFamily="34" charset="-122"/>
                      <a:cs typeface="Calibri" pitchFamily="34" charset="-120"/>
                    </a:rPr>
                    <a:t>Mexico unit economics approaching Brazil breakeven levels</a:t>
                  </a:r>
                  <a:endParaRPr lang="en-US" sz="1000" dirty="0"/>
                </a:p>
              </p:txBody>
            </p:sp>
            <p:sp>
              <p:nvSpPr>
                <p:cNvPr id="20" name="Text 16"/>
                <p:cNvSpPr/>
                <p:nvPr/>
              </p:nvSpPr>
              <p:spPr>
                <a:xfrm>
                  <a:off x="4754880" y="2029968"/>
                  <a:ext cx="3968496" cy="256032"/>
                </a:xfrm>
                <a:prstGeom prst="rect">
                  <a:avLst/>
                </a:prstGeom>
                <a:noFill/>
                <a:ln/>
              </p:spPr>
              <p:txBody>
                <a:bodyPr wrap="square" lIns="0" tIns="0" rIns="0" bIns="0" rtlCol="0" anchor="ctr"/>
                <a:lstStyle/>
                <a:p>
                  <a:pPr marL="0" indent="0">
                    <a:buNone/>
                  </a:pPr>
                  <a:r>
                    <a:rPr lang="en-US" sz="1000" b="1" dirty="0">
                      <a:solidFill>
                        <a:srgbClr val="059669"/>
                      </a:solidFill>
                      <a:latin typeface="Calibri" pitchFamily="34" charset="0"/>
                      <a:ea typeface="Calibri" pitchFamily="34" charset="-122"/>
                      <a:cs typeface="Calibri" pitchFamily="34" charset="-120"/>
                    </a:rPr>
                    <a:t>→  </a:t>
                  </a:r>
                  <a:r>
                    <a:rPr lang="en-US" sz="1000" dirty="0">
                      <a:solidFill>
                        <a:srgbClr val="374151"/>
                      </a:solidFill>
                      <a:latin typeface="Calibri" pitchFamily="34" charset="0"/>
                      <a:ea typeface="Calibri" pitchFamily="34" charset="-122"/>
                      <a:cs typeface="Calibri" pitchFamily="34" charset="-120"/>
                    </a:rPr>
                    <a:t>Colombia credit card portfolio growth + deposits launch timeline</a:t>
                  </a:r>
                  <a:endParaRPr lang="en-US" sz="1000" dirty="0"/>
                </a:p>
              </p:txBody>
            </p:sp>
            <p:sp>
              <p:nvSpPr>
                <p:cNvPr id="21" name="Text 17"/>
                <p:cNvSpPr/>
                <p:nvPr/>
              </p:nvSpPr>
              <p:spPr>
                <a:xfrm>
                  <a:off x="4754880" y="2322576"/>
                  <a:ext cx="3968496" cy="256032"/>
                </a:xfrm>
                <a:prstGeom prst="rect">
                  <a:avLst/>
                </a:prstGeom>
                <a:noFill/>
                <a:ln/>
              </p:spPr>
              <p:txBody>
                <a:bodyPr wrap="square" lIns="0" tIns="0" rIns="0" bIns="0" rtlCol="0" anchor="ctr"/>
                <a:lstStyle/>
                <a:p>
                  <a:pPr marL="0" indent="0">
                    <a:buNone/>
                  </a:pPr>
                  <a:r>
                    <a:rPr lang="en-US" sz="1000" b="1" dirty="0">
                      <a:solidFill>
                        <a:srgbClr val="059669"/>
                      </a:solidFill>
                      <a:latin typeface="Calibri" pitchFamily="34" charset="0"/>
                      <a:ea typeface="Calibri" pitchFamily="34" charset="-122"/>
                      <a:cs typeface="Calibri" pitchFamily="34" charset="-120"/>
                    </a:rPr>
                    <a:t>→  </a:t>
                  </a:r>
                  <a:r>
                    <a:rPr lang="en-US" sz="1000" dirty="0">
                      <a:solidFill>
                        <a:srgbClr val="374151"/>
                      </a:solidFill>
                      <a:latin typeface="Calibri" pitchFamily="34" charset="0"/>
                      <a:ea typeface="Calibri" pitchFamily="34" charset="-122"/>
                      <a:cs typeface="Calibri" pitchFamily="34" charset="-120"/>
                    </a:rPr>
                    <a:t>US Nubank N.A. — FDIC + Fed Reserve approvals status</a:t>
                  </a:r>
                  <a:endParaRPr lang="en-US" sz="1000" dirty="0"/>
                </a:p>
              </p:txBody>
            </p:sp>
            <p:sp>
              <p:nvSpPr>
                <p:cNvPr id="22" name="Text 18"/>
                <p:cNvSpPr/>
                <p:nvPr/>
              </p:nvSpPr>
              <p:spPr>
                <a:xfrm>
                  <a:off x="4754880" y="2615184"/>
                  <a:ext cx="3968496" cy="256032"/>
                </a:xfrm>
                <a:prstGeom prst="rect">
                  <a:avLst/>
                </a:prstGeom>
                <a:noFill/>
                <a:ln/>
              </p:spPr>
              <p:txBody>
                <a:bodyPr wrap="square" lIns="0" tIns="0" rIns="0" bIns="0" rtlCol="0" anchor="ctr"/>
                <a:lstStyle/>
                <a:p>
                  <a:pPr marL="0" indent="0">
                    <a:buNone/>
                  </a:pPr>
                  <a:r>
                    <a:rPr lang="en-US" sz="1000" b="1" dirty="0">
                      <a:solidFill>
                        <a:srgbClr val="059669"/>
                      </a:solidFill>
                      <a:latin typeface="Calibri" pitchFamily="34" charset="0"/>
                      <a:ea typeface="Calibri" pitchFamily="34" charset="-122"/>
                      <a:cs typeface="Calibri" pitchFamily="34" charset="-120"/>
                    </a:rPr>
                    <a:t>→  </a:t>
                  </a:r>
                  <a:r>
                    <a:rPr lang="en-US" sz="1000" dirty="0">
                      <a:solidFill>
                        <a:srgbClr val="374151"/>
                      </a:solidFill>
                      <a:latin typeface="Calibri" pitchFamily="34" charset="0"/>
                      <a:ea typeface="Calibri" pitchFamily="34" charset="-122"/>
                      <a:cs typeface="Calibri" pitchFamily="34" charset="-120"/>
                    </a:rPr>
                    <a:t>US capitalization and product launch on OCC-required 18-month clock</a:t>
                  </a:r>
                  <a:endParaRPr lang="en-US" sz="1000" dirty="0"/>
                </a:p>
              </p:txBody>
            </p:sp>
            <p:sp>
              <p:nvSpPr>
                <p:cNvPr id="23" name="Shape 19"/>
                <p:cNvSpPr/>
                <p:nvPr/>
              </p:nvSpPr>
              <p:spPr>
                <a:xfrm>
                  <a:off x="274320" y="3063240"/>
                  <a:ext cx="4206240" cy="1810512"/>
                </a:xfrm>
                <a:prstGeom prst="rect">
                  <a:avLst/>
                </a:prstGeom>
                <a:solidFill>
                  <a:srgbClr val="FFFFFF"/>
                </a:solidFill>
                <a:ln w="12700">
                  <a:solidFill>
                    <a:srgbClr val="DDD6FE"/>
                  </a:solidFill>
                  <a:prstDash val="solid"/>
                </a:ln>
                <a:effectLst>
                  <a:outerShdw blurRad="101600" dist="25400" dir="8100000" algn="bl" rotWithShape="0">
                    <a:srgbClr val="000000">
                      <a:alpha val="10000"/>
                    </a:srgbClr>
                  </a:outerShdw>
                </a:effectLst>
              </p:spPr>
            </p:sp>
            <p:sp>
              <p:nvSpPr>
                <p:cNvPr id="24" name="Shape 20"/>
                <p:cNvSpPr/>
                <p:nvPr/>
              </p:nvSpPr>
              <p:spPr>
                <a:xfrm>
                  <a:off x="274320" y="3063240"/>
                  <a:ext cx="4206240" cy="384048"/>
                </a:xfrm>
                <a:prstGeom prst="rect">
                  <a:avLst/>
                </a:prstGeom>
                <a:solidFill>
                  <a:srgbClr val="7C3AED"/>
                </a:solidFill>
                <a:ln w="12700">
                  <a:solidFill>
                    <a:srgbClr val="7C3AED"/>
                  </a:solidFill>
                  <a:prstDash val="solid"/>
                </a:ln>
              </p:spPr>
            </p:sp>
            <p:pic>
              <p:nvPicPr>
                <p:cNvPr id="25" name="Image 2" descr="preencoded.png"/>
                <p:cNvPicPr>
                  <a:picLocks noChangeAspect="1"/>
                </p:cNvPicPr>
                <p:nvPr/>
              </p:nvPicPr>
              <p:blipFill>
                <a:blip r:embed="rId5"/>
                <a:stretch>
                  <a:fillRect/>
                </a:stretch>
              </p:blipFill>
              <p:spPr>
                <a:xfrm>
                  <a:off x="365760" y="3136392"/>
                  <a:ext cx="219456" cy="219456"/>
                </a:xfrm>
                <a:prstGeom prst="rect">
                  <a:avLst/>
                </a:prstGeom>
              </p:spPr>
            </p:pic>
            <p:sp>
              <p:nvSpPr>
                <p:cNvPr id="26" name="Text 21"/>
                <p:cNvSpPr/>
                <p:nvPr/>
              </p:nvSpPr>
              <p:spPr>
                <a:xfrm>
                  <a:off x="658368" y="3118104"/>
                  <a:ext cx="3703320" cy="292608"/>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AI &amp; Product Launches</a:t>
                  </a:r>
                  <a:endParaRPr lang="en-US" sz="950" dirty="0"/>
                </a:p>
              </p:txBody>
            </p:sp>
            <p:sp>
              <p:nvSpPr>
                <p:cNvPr id="27" name="Text 22"/>
                <p:cNvSpPr/>
                <p:nvPr/>
              </p:nvSpPr>
              <p:spPr>
                <a:xfrm>
                  <a:off x="402336" y="3520440"/>
                  <a:ext cx="3968496" cy="256032"/>
                </a:xfrm>
                <a:prstGeom prst="rect">
                  <a:avLst/>
                </a:prstGeom>
                <a:noFill/>
                <a:ln/>
              </p:spPr>
              <p:txBody>
                <a:bodyPr wrap="square" lIns="0" tIns="0" rIns="0" bIns="0" rtlCol="0" anchor="ctr"/>
                <a:lstStyle/>
                <a:p>
                  <a:pPr marL="0" indent="0">
                    <a:buNone/>
                  </a:pPr>
                  <a:r>
                    <a:rPr lang="en-US" sz="1000" b="1" dirty="0">
                      <a:solidFill>
                        <a:srgbClr val="7C3AED"/>
                      </a:solidFill>
                      <a:latin typeface="Calibri" pitchFamily="34" charset="0"/>
                      <a:ea typeface="Calibri" pitchFamily="34" charset="-122"/>
                      <a:cs typeface="Calibri" pitchFamily="34" charset="-120"/>
                    </a:rPr>
                    <a:t>→  </a:t>
                  </a:r>
                  <a:r>
                    <a:rPr lang="en-US" sz="1000" dirty="0">
                      <a:solidFill>
                        <a:srgbClr val="374151"/>
                      </a:solidFill>
                      <a:latin typeface="Calibri" pitchFamily="34" charset="0"/>
                      <a:ea typeface="Calibri" pitchFamily="34" charset="-122"/>
                      <a:cs typeface="Calibri" pitchFamily="34" charset="-120"/>
                    </a:rPr>
                    <a:t>nuFormer expansion: Brazil lending + Mexico credit cards — data?</a:t>
                  </a:r>
                  <a:endParaRPr lang="en-US" sz="1000" dirty="0"/>
                </a:p>
              </p:txBody>
            </p:sp>
            <p:sp>
              <p:nvSpPr>
                <p:cNvPr id="28" name="Text 23"/>
                <p:cNvSpPr/>
                <p:nvPr/>
              </p:nvSpPr>
              <p:spPr>
                <a:xfrm>
                  <a:off x="402336" y="3813048"/>
                  <a:ext cx="3968496" cy="256032"/>
                </a:xfrm>
                <a:prstGeom prst="rect">
                  <a:avLst/>
                </a:prstGeom>
                <a:noFill/>
                <a:ln/>
              </p:spPr>
              <p:txBody>
                <a:bodyPr wrap="square" lIns="0" tIns="0" rIns="0" bIns="0" rtlCol="0" anchor="ctr"/>
                <a:lstStyle/>
                <a:p>
                  <a:pPr marL="0" indent="0">
                    <a:buNone/>
                  </a:pPr>
                  <a:r>
                    <a:rPr lang="en-US" sz="1000" b="1" dirty="0">
                      <a:solidFill>
                        <a:srgbClr val="7C3AED"/>
                      </a:solidFill>
                      <a:latin typeface="Calibri" pitchFamily="34" charset="0"/>
                      <a:ea typeface="Calibri" pitchFamily="34" charset="-122"/>
                      <a:cs typeface="Calibri" pitchFamily="34" charset="-120"/>
                    </a:rPr>
                    <a:t>→  </a:t>
                  </a:r>
                  <a:r>
                    <a:rPr lang="en-US" sz="1000" dirty="0">
                      <a:solidFill>
                        <a:srgbClr val="374151"/>
                      </a:solidFill>
                      <a:latin typeface="Calibri" pitchFamily="34" charset="0"/>
                      <a:ea typeface="Calibri" pitchFamily="34" charset="-122"/>
                      <a:cs typeface="Calibri" pitchFamily="34" charset="-120"/>
                    </a:rPr>
                    <a:t>PIX with AI — crossing 15M+ monthly active users</a:t>
                  </a:r>
                  <a:endParaRPr lang="en-US" sz="1000" dirty="0"/>
                </a:p>
              </p:txBody>
            </p:sp>
            <p:sp>
              <p:nvSpPr>
                <p:cNvPr id="29" name="Text 24"/>
                <p:cNvSpPr/>
                <p:nvPr/>
              </p:nvSpPr>
              <p:spPr>
                <a:xfrm>
                  <a:off x="402336" y="4105656"/>
                  <a:ext cx="3968496" cy="256032"/>
                </a:xfrm>
                <a:prstGeom prst="rect">
                  <a:avLst/>
                </a:prstGeom>
                <a:noFill/>
                <a:ln/>
              </p:spPr>
              <p:txBody>
                <a:bodyPr wrap="square" lIns="0" tIns="0" rIns="0" bIns="0" rtlCol="0" anchor="ctr"/>
                <a:lstStyle/>
                <a:p>
                  <a:pPr marL="0" indent="0">
                    <a:buNone/>
                  </a:pPr>
                  <a:r>
                    <a:rPr lang="en-US" sz="1000" b="1" dirty="0">
                      <a:solidFill>
                        <a:srgbClr val="7C3AED"/>
                      </a:solidFill>
                      <a:latin typeface="Calibri" pitchFamily="34" charset="0"/>
                      <a:ea typeface="Calibri" pitchFamily="34" charset="-122"/>
                      <a:cs typeface="Calibri" pitchFamily="34" charset="-120"/>
                    </a:rPr>
                    <a:t>→  </a:t>
                  </a:r>
                  <a:r>
                    <a:rPr lang="en-US" sz="1000" dirty="0">
                      <a:solidFill>
                        <a:srgbClr val="374151"/>
                      </a:solidFill>
                      <a:latin typeface="Calibri" pitchFamily="34" charset="0"/>
                      <a:ea typeface="Calibri" pitchFamily="34" charset="-122"/>
                      <a:cs typeface="Calibri" pitchFamily="34" charset="-120"/>
                    </a:rPr>
                    <a:t>Payroll loan book growth and NPL performance (new product)</a:t>
                  </a:r>
                  <a:endParaRPr lang="en-US" sz="1000" dirty="0"/>
                </a:p>
              </p:txBody>
            </p:sp>
            <p:sp>
              <p:nvSpPr>
                <p:cNvPr id="30" name="Text 25"/>
                <p:cNvSpPr/>
                <p:nvPr/>
              </p:nvSpPr>
              <p:spPr>
                <a:xfrm>
                  <a:off x="402336" y="4398264"/>
                  <a:ext cx="3968496" cy="256032"/>
                </a:xfrm>
                <a:prstGeom prst="rect">
                  <a:avLst/>
                </a:prstGeom>
                <a:noFill/>
                <a:ln/>
              </p:spPr>
              <p:txBody>
                <a:bodyPr wrap="square" lIns="0" tIns="0" rIns="0" bIns="0" rtlCol="0" anchor="ctr"/>
                <a:lstStyle/>
                <a:p>
                  <a:pPr marL="0" indent="0">
                    <a:buNone/>
                  </a:pPr>
                  <a:r>
                    <a:rPr lang="en-US" sz="1000" b="1" dirty="0">
                      <a:solidFill>
                        <a:srgbClr val="7C3AED"/>
                      </a:solidFill>
                      <a:latin typeface="Calibri" pitchFamily="34" charset="0"/>
                      <a:ea typeface="Calibri" pitchFamily="34" charset="-122"/>
                      <a:cs typeface="Calibri" pitchFamily="34" charset="-120"/>
                    </a:rPr>
                    <a:t>→  </a:t>
                  </a:r>
                  <a:r>
                    <a:rPr lang="en-US" sz="1000" dirty="0">
                      <a:solidFill>
                        <a:srgbClr val="374151"/>
                      </a:solidFill>
                      <a:latin typeface="Calibri" pitchFamily="34" charset="0"/>
                      <a:ea typeface="Calibri" pitchFamily="34" charset="-122"/>
                      <a:cs typeface="Calibri" pitchFamily="34" charset="-120"/>
                    </a:rPr>
                    <a:t>SME segment customer growth + ARPAC contribution</a:t>
                  </a:r>
                  <a:endParaRPr lang="en-US" sz="1000" dirty="0"/>
                </a:p>
              </p:txBody>
            </p:sp>
            <p:sp>
              <p:nvSpPr>
                <p:cNvPr id="32" name="Shape 27"/>
                <p:cNvSpPr/>
                <p:nvPr/>
              </p:nvSpPr>
              <p:spPr>
                <a:xfrm>
                  <a:off x="4626864" y="3063240"/>
                  <a:ext cx="4206240" cy="1810512"/>
                </a:xfrm>
                <a:prstGeom prst="rect">
                  <a:avLst/>
                </a:prstGeom>
                <a:solidFill>
                  <a:srgbClr val="FFFFFF"/>
                </a:solidFill>
                <a:ln w="12700">
                  <a:solidFill>
                    <a:srgbClr val="DDD6FE"/>
                  </a:solidFill>
                  <a:prstDash val="solid"/>
                </a:ln>
                <a:effectLst>
                  <a:outerShdw blurRad="101600" dist="25400" dir="8100000" algn="bl" rotWithShape="0">
                    <a:srgbClr val="000000">
                      <a:alpha val="10000"/>
                    </a:srgbClr>
                  </a:outerShdw>
                </a:effectLst>
              </p:spPr>
            </p:sp>
            <p:sp>
              <p:nvSpPr>
                <p:cNvPr id="33" name="Shape 28"/>
                <p:cNvSpPr/>
                <p:nvPr/>
              </p:nvSpPr>
              <p:spPr>
                <a:xfrm>
                  <a:off x="4626864" y="3063240"/>
                  <a:ext cx="4206240" cy="384048"/>
                </a:xfrm>
                <a:prstGeom prst="rect">
                  <a:avLst/>
                </a:prstGeom>
                <a:solidFill>
                  <a:srgbClr val="D97706"/>
                </a:solidFill>
                <a:ln w="12700">
                  <a:solidFill>
                    <a:srgbClr val="D97706"/>
                  </a:solidFill>
                  <a:prstDash val="solid"/>
                </a:ln>
              </p:spPr>
            </p:sp>
            <p:pic>
              <p:nvPicPr>
                <p:cNvPr id="34" name="Image 3" descr="preencoded.png"/>
                <p:cNvPicPr>
                  <a:picLocks noChangeAspect="1"/>
                </p:cNvPicPr>
                <p:nvPr/>
              </p:nvPicPr>
              <p:blipFill>
                <a:blip r:embed="rId6"/>
                <a:stretch>
                  <a:fillRect/>
                </a:stretch>
              </p:blipFill>
              <p:spPr>
                <a:xfrm>
                  <a:off x="4718304" y="3136392"/>
                  <a:ext cx="219456" cy="219456"/>
                </a:xfrm>
                <a:prstGeom prst="rect">
                  <a:avLst/>
                </a:prstGeom>
              </p:spPr>
            </p:pic>
            <p:sp>
              <p:nvSpPr>
                <p:cNvPr id="35" name="Text 29"/>
                <p:cNvSpPr/>
                <p:nvPr/>
              </p:nvSpPr>
              <p:spPr>
                <a:xfrm>
                  <a:off x="5010912" y="3118104"/>
                  <a:ext cx="3703320" cy="292608"/>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Credit Quality &amp; Capital</a:t>
                  </a:r>
                  <a:endParaRPr lang="en-US" sz="950" dirty="0"/>
                </a:p>
              </p:txBody>
            </p:sp>
            <p:sp>
              <p:nvSpPr>
                <p:cNvPr id="36" name="Text 30"/>
                <p:cNvSpPr/>
                <p:nvPr/>
              </p:nvSpPr>
              <p:spPr>
                <a:xfrm>
                  <a:off x="4754880" y="3520440"/>
                  <a:ext cx="3968496" cy="256032"/>
                </a:xfrm>
                <a:prstGeom prst="rect">
                  <a:avLst/>
                </a:prstGeom>
                <a:noFill/>
                <a:ln/>
              </p:spPr>
              <p:txBody>
                <a:bodyPr wrap="square" lIns="0" tIns="0" rIns="0" bIns="0" rtlCol="0" anchor="ctr"/>
                <a:lstStyle/>
                <a:p>
                  <a:pPr marL="0" indent="0">
                    <a:buNone/>
                  </a:pPr>
                  <a:r>
                    <a:rPr lang="en-US" sz="1000" b="1" dirty="0">
                      <a:solidFill>
                        <a:srgbClr val="D97706"/>
                      </a:solidFill>
                      <a:latin typeface="Calibri" pitchFamily="34" charset="0"/>
                      <a:ea typeface="Calibri" pitchFamily="34" charset="-122"/>
                      <a:cs typeface="Calibri" pitchFamily="34" charset="-120"/>
                    </a:rPr>
                    <a:t>→  </a:t>
                  </a:r>
                  <a:r>
                    <a:rPr lang="en-US" sz="1000" dirty="0">
                      <a:solidFill>
                        <a:srgbClr val="374151"/>
                      </a:solidFill>
                      <a:latin typeface="Calibri" pitchFamily="34" charset="0"/>
                      <a:ea typeface="Calibri" pitchFamily="34" charset="-122"/>
                      <a:cs typeface="Calibri" pitchFamily="34" charset="-120"/>
                    </a:rPr>
                    <a:t>NPL 90+ — any systemic uptick beyond 6.6% is a major red flag</a:t>
                  </a:r>
                  <a:endParaRPr lang="en-US" sz="1000" dirty="0"/>
                </a:p>
              </p:txBody>
            </p:sp>
            <p:sp>
              <p:nvSpPr>
                <p:cNvPr id="37" name="Text 31"/>
                <p:cNvSpPr/>
                <p:nvPr/>
              </p:nvSpPr>
              <p:spPr>
                <a:xfrm>
                  <a:off x="4754880" y="3771103"/>
                  <a:ext cx="3968496" cy="256032"/>
                </a:xfrm>
                <a:prstGeom prst="rect">
                  <a:avLst/>
                </a:prstGeom>
                <a:noFill/>
                <a:ln/>
              </p:spPr>
              <p:txBody>
                <a:bodyPr wrap="square" lIns="0" tIns="0" rIns="0" bIns="0" rtlCol="0" anchor="ctr"/>
                <a:lstStyle/>
                <a:p>
                  <a:pPr marL="0" indent="0">
                    <a:buNone/>
                  </a:pPr>
                  <a:r>
                    <a:rPr lang="en-US" sz="1000" b="1" dirty="0">
                      <a:solidFill>
                        <a:srgbClr val="D97706"/>
                      </a:solidFill>
                      <a:latin typeface="Calibri" pitchFamily="34" charset="0"/>
                      <a:ea typeface="Calibri" pitchFamily="34" charset="-122"/>
                      <a:cs typeface="Calibri" pitchFamily="34" charset="-120"/>
                    </a:rPr>
                    <a:t>→  </a:t>
                  </a:r>
                  <a:r>
                    <a:rPr lang="en-US" sz="1000" dirty="0">
                      <a:solidFill>
                        <a:srgbClr val="374151"/>
                      </a:solidFill>
                      <a:latin typeface="Calibri" pitchFamily="34" charset="0"/>
                      <a:ea typeface="Calibri" pitchFamily="34" charset="-122"/>
                      <a:cs typeface="Calibri" pitchFamily="34" charset="-120"/>
                    </a:rPr>
                    <a:t>Risk-adjusted NIM — needs to hold above 9%</a:t>
                  </a:r>
                  <a:endParaRPr lang="en-US" sz="1000" dirty="0"/>
                </a:p>
              </p:txBody>
            </p:sp>
            <p:sp>
              <p:nvSpPr>
                <p:cNvPr id="38" name="Text 32"/>
                <p:cNvSpPr/>
                <p:nvPr/>
              </p:nvSpPr>
              <p:spPr>
                <a:xfrm>
                  <a:off x="4754880" y="4030155"/>
                  <a:ext cx="3968496" cy="256032"/>
                </a:xfrm>
                <a:prstGeom prst="rect">
                  <a:avLst/>
                </a:prstGeom>
                <a:noFill/>
                <a:ln/>
              </p:spPr>
              <p:txBody>
                <a:bodyPr wrap="square" lIns="0" tIns="0" rIns="0" bIns="0" rtlCol="0" anchor="ctr"/>
                <a:lstStyle/>
                <a:p>
                  <a:pPr marL="0" indent="0">
                    <a:buNone/>
                  </a:pPr>
                  <a:r>
                    <a:rPr lang="en-US" sz="1000" b="1" dirty="0">
                      <a:solidFill>
                        <a:srgbClr val="D97706"/>
                      </a:solidFill>
                      <a:latin typeface="Calibri" pitchFamily="34" charset="0"/>
                      <a:ea typeface="Calibri" pitchFamily="34" charset="-122"/>
                      <a:cs typeface="Calibri" pitchFamily="34" charset="-120"/>
                    </a:rPr>
                    <a:t>→  </a:t>
                  </a:r>
                  <a:r>
                    <a:rPr lang="en-US" sz="1000" dirty="0">
                      <a:solidFill>
                        <a:srgbClr val="374151"/>
                      </a:solidFill>
                      <a:latin typeface="Calibri" pitchFamily="34" charset="0"/>
                      <a:ea typeface="Calibri" pitchFamily="34" charset="-122"/>
                      <a:cs typeface="Calibri" pitchFamily="34" charset="-120"/>
                    </a:rPr>
                    <a:t>Total credit portfolio growth rate vs. revenue growth alignment</a:t>
                  </a:r>
                  <a:endParaRPr lang="en-US" sz="1000" dirty="0"/>
                </a:p>
              </p:txBody>
            </p:sp>
            <p:sp>
              <p:nvSpPr>
                <p:cNvPr id="39" name="Text 33"/>
                <p:cNvSpPr/>
                <p:nvPr/>
              </p:nvSpPr>
              <p:spPr>
                <a:xfrm>
                  <a:off x="4754880" y="4289207"/>
                  <a:ext cx="3968496" cy="256032"/>
                </a:xfrm>
                <a:prstGeom prst="rect">
                  <a:avLst/>
                </a:prstGeom>
                <a:noFill/>
                <a:ln/>
              </p:spPr>
              <p:txBody>
                <a:bodyPr wrap="square" lIns="0" tIns="0" rIns="0" bIns="0" rtlCol="0" anchor="ctr"/>
                <a:lstStyle/>
                <a:p>
                  <a:pPr marL="0" indent="0">
                    <a:buNone/>
                  </a:pPr>
                  <a:r>
                    <a:rPr lang="en-US" sz="1000" b="1" dirty="0">
                      <a:solidFill>
                        <a:srgbClr val="D97706"/>
                      </a:solidFill>
                      <a:latin typeface="Calibri" pitchFamily="34" charset="0"/>
                      <a:ea typeface="Calibri" pitchFamily="34" charset="-122"/>
                      <a:cs typeface="Calibri" pitchFamily="34" charset="-120"/>
                    </a:rPr>
                    <a:t>→  </a:t>
                  </a:r>
                  <a:r>
                    <a:rPr lang="en-US" sz="1000" dirty="0">
                      <a:solidFill>
                        <a:srgbClr val="374151"/>
                      </a:solidFill>
                      <a:latin typeface="Calibri" pitchFamily="34" charset="0"/>
                      <a:ea typeface="Calibri" pitchFamily="34" charset="-122"/>
                      <a:cs typeface="Calibri" pitchFamily="34" charset="-120"/>
                    </a:rPr>
                    <a:t>Holding-level capital ratio and excess capital deployment</a:t>
                  </a:r>
                  <a:endParaRPr lang="en-US" sz="1000" dirty="0"/>
                </a:p>
              </p:txBody>
            </p:sp>
          </p:grpSp>
          <p:sp>
            <p:nvSpPr>
              <p:cNvPr id="44" name="Text 26"/>
              <p:cNvSpPr/>
              <p:nvPr/>
            </p:nvSpPr>
            <p:spPr>
              <a:xfrm>
                <a:off x="338328" y="4456337"/>
                <a:ext cx="3968496" cy="256032"/>
              </a:xfrm>
              <a:prstGeom prst="rect">
                <a:avLst/>
              </a:prstGeom>
              <a:noFill/>
              <a:ln/>
            </p:spPr>
            <p:txBody>
              <a:bodyPr wrap="square" lIns="0" tIns="0" rIns="0" bIns="0" rtlCol="0" anchor="ctr"/>
              <a:lstStyle/>
              <a:p>
                <a:pPr marL="0" indent="0">
                  <a:buNone/>
                </a:pPr>
                <a:r>
                  <a:rPr lang="en-US" sz="1000" b="1" dirty="0">
                    <a:solidFill>
                      <a:srgbClr val="7C3AED"/>
                    </a:solidFill>
                    <a:latin typeface="Calibri" pitchFamily="34" charset="0"/>
                    <a:ea typeface="Calibri" pitchFamily="34" charset="-122"/>
                    <a:cs typeface="Calibri" pitchFamily="34" charset="-120"/>
                  </a:rPr>
                  <a:t>→  </a:t>
                </a:r>
                <a:r>
                  <a:rPr lang="en-US" sz="1000" dirty="0">
                    <a:solidFill>
                      <a:srgbClr val="374151"/>
                    </a:solidFill>
                    <a:latin typeface="Calibri" pitchFamily="34" charset="0"/>
                    <a:ea typeface="Calibri" pitchFamily="34" charset="-122"/>
                    <a:cs typeface="Calibri" pitchFamily="34" charset="-120"/>
                  </a:rPr>
                  <a:t>NuScore adoption and impact on credit approval rates</a:t>
                </a:r>
                <a:endParaRPr lang="en-US" sz="1000" dirty="0"/>
              </a:p>
            </p:txBody>
          </p:sp>
        </p:grpSp>
        <p:sp>
          <p:nvSpPr>
            <p:cNvPr id="40" name="Text 34"/>
            <p:cNvSpPr/>
            <p:nvPr/>
          </p:nvSpPr>
          <p:spPr>
            <a:xfrm>
              <a:off x="4700016" y="4353404"/>
              <a:ext cx="3968496" cy="256032"/>
            </a:xfrm>
            <a:prstGeom prst="rect">
              <a:avLst/>
            </a:prstGeom>
            <a:noFill/>
            <a:ln/>
          </p:spPr>
          <p:txBody>
            <a:bodyPr wrap="square" lIns="0" tIns="0" rIns="0" bIns="0" rtlCol="0" anchor="ctr"/>
            <a:lstStyle/>
            <a:p>
              <a:pPr marL="0" indent="0">
                <a:buNone/>
              </a:pPr>
              <a:r>
                <a:rPr lang="en-US" sz="900" b="1" dirty="0">
                  <a:solidFill>
                    <a:srgbClr val="D97706"/>
                  </a:solidFill>
                  <a:latin typeface="Calibri" pitchFamily="34" charset="0"/>
                  <a:ea typeface="Calibri" pitchFamily="34" charset="-122"/>
                  <a:cs typeface="Calibri" pitchFamily="34" charset="-120"/>
                </a:rPr>
                <a:t>→  </a:t>
              </a:r>
              <a:r>
                <a:rPr lang="en-US" sz="900" dirty="0">
                  <a:solidFill>
                    <a:srgbClr val="374151"/>
                  </a:solidFill>
                  <a:latin typeface="Calibri" pitchFamily="34" charset="0"/>
                  <a:ea typeface="Calibri" pitchFamily="34" charset="-122"/>
                  <a:cs typeface="Calibri" pitchFamily="34" charset="-120"/>
                </a:rPr>
                <a:t>Prosofipo contribution (Mexico deposit insurance) — one-time?</a:t>
              </a:r>
              <a:endParaRPr lang="en-US" sz="900" dirty="0"/>
            </a:p>
          </p:txBody>
        </p:sp>
      </p:grpSp>
      <p:grpSp>
        <p:nvGrpSpPr>
          <p:cNvPr id="49" name="Group 48">
            <a:extLst>
              <a:ext uri="{FF2B5EF4-FFF2-40B4-BE49-F238E27FC236}">
                <a16:creationId xmlns:a16="http://schemas.microsoft.com/office/drawing/2014/main" id="{BB12E0A2-7BDB-A18F-72D3-C09B08612C01}"/>
              </a:ext>
            </a:extLst>
          </p:cNvPr>
          <p:cNvGrpSpPr/>
          <p:nvPr/>
        </p:nvGrpSpPr>
        <p:grpSpPr>
          <a:xfrm>
            <a:off x="219456" y="4828074"/>
            <a:ext cx="8595360" cy="201168"/>
            <a:chOff x="219456" y="4828074"/>
            <a:chExt cx="8595360" cy="201168"/>
          </a:xfrm>
        </p:grpSpPr>
        <p:sp>
          <p:nvSpPr>
            <p:cNvPr id="41" name="Shape 35"/>
            <p:cNvSpPr/>
            <p:nvPr/>
          </p:nvSpPr>
          <p:spPr>
            <a:xfrm>
              <a:off x="219456" y="4828074"/>
              <a:ext cx="8595360" cy="201168"/>
            </a:xfrm>
            <a:prstGeom prst="rect">
              <a:avLst/>
            </a:prstGeom>
            <a:solidFill>
              <a:srgbClr val="EDE9FE"/>
            </a:solidFill>
            <a:ln w="12700">
              <a:solidFill>
                <a:srgbClr val="DDD6FE"/>
              </a:solidFill>
              <a:prstDash val="solid"/>
            </a:ln>
          </p:spPr>
        </p:sp>
        <p:sp>
          <p:nvSpPr>
            <p:cNvPr id="42" name="Text 36"/>
            <p:cNvSpPr/>
            <p:nvPr/>
          </p:nvSpPr>
          <p:spPr>
            <a:xfrm>
              <a:off x="310896" y="4828074"/>
              <a:ext cx="7536669" cy="173736"/>
            </a:xfrm>
            <a:prstGeom prst="rect">
              <a:avLst/>
            </a:prstGeom>
            <a:noFill/>
            <a:ln/>
          </p:spPr>
          <p:txBody>
            <a:bodyPr wrap="square" lIns="0" tIns="0" rIns="0" bIns="0" rtlCol="0" anchor="ctr"/>
            <a:lstStyle/>
            <a:p>
              <a:pPr marL="0" indent="0">
                <a:buNone/>
              </a:pPr>
              <a:r>
                <a:rPr lang="en-US" sz="850" b="1" dirty="0">
                  <a:solidFill>
                    <a:srgbClr val="7C3AED"/>
                  </a:solidFill>
                  <a:latin typeface="Calibri" pitchFamily="34" charset="0"/>
                  <a:ea typeface="Calibri" pitchFamily="34" charset="-122"/>
                  <a:cs typeface="Calibri" pitchFamily="34" charset="-120"/>
                </a:rPr>
                <a:t>CRITICAL CATALYST: Q2'26 Earnings (Aug 18, 2026). Mexico banking license operational approval + US capitalization progress = dual re-rating triggers.</a:t>
              </a:r>
              <a:endParaRPr lang="en-US" sz="850" dirty="0"/>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0A1F"/>
        </a:solidFill>
        <a:effectLst/>
      </p:bgPr>
    </p:bg>
    <p:spTree>
      <p:nvGrpSpPr>
        <p:cNvPr id="1" name=""/>
        <p:cNvGrpSpPr/>
        <p:nvPr/>
      </p:nvGrpSpPr>
      <p:grpSpPr>
        <a:xfrm>
          <a:off x="0" y="0"/>
          <a:ext cx="0" cy="0"/>
          <a:chOff x="0" y="0"/>
          <a:chExt cx="0" cy="0"/>
        </a:xfrm>
      </p:grpSpPr>
      <p:sp>
        <p:nvSpPr>
          <p:cNvPr id="2" name="Text 0"/>
          <p:cNvSpPr/>
          <p:nvPr/>
        </p:nvSpPr>
        <p:spPr>
          <a:xfrm>
            <a:off x="320040" y="164592"/>
            <a:ext cx="8503920" cy="402336"/>
          </a:xfrm>
          <a:prstGeom prst="rect">
            <a:avLst/>
          </a:prstGeom>
          <a:noFill/>
          <a:ln/>
        </p:spPr>
        <p:txBody>
          <a:bodyPr wrap="square" lIns="0" tIns="0" rIns="0" bIns="0" rtlCol="0" anchor="ctr"/>
          <a:lstStyle/>
          <a:p>
            <a:pPr marL="0" indent="0">
              <a:buNone/>
            </a:pPr>
            <a:r>
              <a:rPr lang="en-US" sz="2000" b="1" dirty="0">
                <a:solidFill>
                  <a:srgbClr val="FFFFFF"/>
                </a:solidFill>
              </a:rPr>
              <a:t>NU HOLDINGS — SUMMARY VIEW</a:t>
            </a:r>
            <a:endParaRPr lang="en-US" sz="2000" dirty="0"/>
          </a:p>
        </p:txBody>
      </p:sp>
      <p:sp>
        <p:nvSpPr>
          <p:cNvPr id="3" name="Shape 1"/>
          <p:cNvSpPr/>
          <p:nvPr/>
        </p:nvSpPr>
        <p:spPr>
          <a:xfrm>
            <a:off x="320040" y="594360"/>
            <a:ext cx="8503920" cy="36576"/>
          </a:xfrm>
          <a:prstGeom prst="rect">
            <a:avLst/>
          </a:prstGeom>
          <a:solidFill>
            <a:srgbClr val="00D4AA"/>
          </a:solidFill>
          <a:ln/>
        </p:spPr>
      </p:sp>
      <p:sp>
        <p:nvSpPr>
          <p:cNvPr id="4" name="Shape 2"/>
          <p:cNvSpPr/>
          <p:nvPr/>
        </p:nvSpPr>
        <p:spPr>
          <a:xfrm>
            <a:off x="320040" y="713232"/>
            <a:ext cx="8503920" cy="749808"/>
          </a:xfrm>
          <a:prstGeom prst="rect">
            <a:avLst/>
          </a:prstGeom>
          <a:solidFill>
            <a:srgbClr val="1E1850"/>
          </a:solidFill>
          <a:ln/>
        </p:spPr>
      </p:sp>
      <p:sp>
        <p:nvSpPr>
          <p:cNvPr id="5" name="Shape 3"/>
          <p:cNvSpPr/>
          <p:nvPr/>
        </p:nvSpPr>
        <p:spPr>
          <a:xfrm>
            <a:off x="320040" y="713232"/>
            <a:ext cx="1463040" cy="749808"/>
          </a:xfrm>
          <a:prstGeom prst="rect">
            <a:avLst/>
          </a:prstGeom>
          <a:solidFill>
            <a:srgbClr val="00D4AA">
              <a:alpha val="15000"/>
            </a:srgbClr>
          </a:solidFill>
          <a:ln/>
        </p:spPr>
      </p:sp>
      <p:sp>
        <p:nvSpPr>
          <p:cNvPr id="6" name="Text 4"/>
          <p:cNvSpPr/>
          <p:nvPr/>
        </p:nvSpPr>
        <p:spPr>
          <a:xfrm>
            <a:off x="365760" y="914400"/>
            <a:ext cx="1389888" cy="329184"/>
          </a:xfrm>
          <a:prstGeom prst="rect">
            <a:avLst/>
          </a:prstGeom>
          <a:noFill/>
          <a:ln/>
        </p:spPr>
        <p:txBody>
          <a:bodyPr wrap="square" lIns="0" tIns="0" rIns="0" bIns="0" rtlCol="0" anchor="ctr"/>
          <a:lstStyle/>
          <a:p>
            <a:pPr marL="0" indent="0" algn="ctr">
              <a:buNone/>
            </a:pPr>
            <a:r>
              <a:rPr lang="en-US" sz="1100" b="1" dirty="0">
                <a:solidFill>
                  <a:srgbClr val="00D4AA"/>
                </a:solidFill>
              </a:rPr>
              <a:t>ONE-LINE THESIS</a:t>
            </a:r>
            <a:endParaRPr lang="en-US" sz="1100" dirty="0"/>
          </a:p>
        </p:txBody>
      </p:sp>
      <p:sp>
        <p:nvSpPr>
          <p:cNvPr id="7" name="Text 5"/>
          <p:cNvSpPr/>
          <p:nvPr/>
        </p:nvSpPr>
        <p:spPr>
          <a:xfrm>
            <a:off x="1874520" y="804672"/>
            <a:ext cx="6858000" cy="566928"/>
          </a:xfrm>
          <a:prstGeom prst="rect">
            <a:avLst/>
          </a:prstGeom>
          <a:noFill/>
          <a:ln/>
        </p:spPr>
        <p:txBody>
          <a:bodyPr wrap="square" lIns="0" tIns="0" rIns="0" bIns="0" rtlCol="0" anchor="ctr"/>
          <a:lstStyle/>
          <a:p>
            <a:pPr marL="0" indent="0">
              <a:buNone/>
            </a:pPr>
            <a:r>
              <a:rPr lang="en-US" sz="1100" dirty="0">
                <a:solidFill>
                  <a:srgbClr val="E8E4FF"/>
                </a:solidFill>
              </a:rPr>
              <a:t>Nu Holdings is the world's most efficient digital bank — 135M customers, 17.6% efficiency ratio, 29% ROE — executing a compounding ARPAC flywheel across Brazil while replicating the playbook in Mexico, the next $5B+ revenue market.</a:t>
            </a:r>
            <a:endParaRPr lang="en-US" sz="1100" dirty="0"/>
          </a:p>
        </p:txBody>
      </p:sp>
      <p:sp>
        <p:nvSpPr>
          <p:cNvPr id="8" name="Shape 6"/>
          <p:cNvSpPr/>
          <p:nvPr/>
        </p:nvSpPr>
        <p:spPr>
          <a:xfrm>
            <a:off x="320040" y="1536192"/>
            <a:ext cx="8503920" cy="749808"/>
          </a:xfrm>
          <a:prstGeom prst="rect">
            <a:avLst/>
          </a:prstGeom>
          <a:solidFill>
            <a:srgbClr val="1E1850"/>
          </a:solidFill>
          <a:ln/>
        </p:spPr>
      </p:sp>
      <p:sp>
        <p:nvSpPr>
          <p:cNvPr id="9" name="Shape 7"/>
          <p:cNvSpPr/>
          <p:nvPr/>
        </p:nvSpPr>
        <p:spPr>
          <a:xfrm>
            <a:off x="320040" y="1536192"/>
            <a:ext cx="1463040" cy="749808"/>
          </a:xfrm>
          <a:prstGeom prst="rect">
            <a:avLst/>
          </a:prstGeom>
          <a:solidFill>
            <a:srgbClr val="6C3BF5">
              <a:alpha val="15000"/>
            </a:srgbClr>
          </a:solidFill>
          <a:ln/>
        </p:spPr>
      </p:sp>
      <p:sp>
        <p:nvSpPr>
          <p:cNvPr id="10" name="Text 8"/>
          <p:cNvSpPr/>
          <p:nvPr/>
        </p:nvSpPr>
        <p:spPr>
          <a:xfrm>
            <a:off x="365760" y="1737360"/>
            <a:ext cx="1389888" cy="329184"/>
          </a:xfrm>
          <a:prstGeom prst="rect">
            <a:avLst/>
          </a:prstGeom>
          <a:noFill/>
          <a:ln/>
        </p:spPr>
        <p:txBody>
          <a:bodyPr wrap="square" lIns="0" tIns="0" rIns="0" bIns="0" rtlCol="0" anchor="ctr"/>
          <a:lstStyle/>
          <a:p>
            <a:pPr marL="0" indent="0" algn="ctr">
              <a:buNone/>
            </a:pPr>
            <a:r>
              <a:rPr lang="en-US" sz="1100" b="1" dirty="0">
                <a:solidFill>
                  <a:srgbClr val="6C3BF5"/>
                </a:solidFill>
              </a:rPr>
              <a:t>WHY IT'S DIFFERENT</a:t>
            </a:r>
            <a:endParaRPr lang="en-US" sz="1100" dirty="0"/>
          </a:p>
        </p:txBody>
      </p:sp>
      <p:sp>
        <p:nvSpPr>
          <p:cNvPr id="11" name="Text 9"/>
          <p:cNvSpPr/>
          <p:nvPr/>
        </p:nvSpPr>
        <p:spPr>
          <a:xfrm>
            <a:off x="1874520" y="1627632"/>
            <a:ext cx="6858000" cy="566928"/>
          </a:xfrm>
          <a:prstGeom prst="rect">
            <a:avLst/>
          </a:prstGeom>
          <a:noFill/>
          <a:ln/>
        </p:spPr>
        <p:txBody>
          <a:bodyPr wrap="square" lIns="0" tIns="0" rIns="0" bIns="0" rtlCol="0" anchor="ctr"/>
          <a:lstStyle/>
          <a:p>
            <a:pPr marL="0" indent="0">
              <a:buNone/>
            </a:pPr>
            <a:r>
              <a:rPr lang="en-US" sz="1100" dirty="0">
                <a:solidFill>
                  <a:srgbClr val="E8E4FF"/>
                </a:solidFill>
              </a:rPr>
              <a:t>Unlike Itaú/Bradesco (legacy Brazil banks), Nu has zero branch costs and AI-native underwriting. Unlike Revolut/SoFi (Western neobanks), Nu has 135M customers and deep LatAm cultural fit. Unlike MercadoPago, Nu is pure-play banking with full credit stack depth.</a:t>
            </a:r>
            <a:endParaRPr lang="en-US" sz="1100" dirty="0"/>
          </a:p>
        </p:txBody>
      </p:sp>
      <p:sp>
        <p:nvSpPr>
          <p:cNvPr id="12" name="Shape 10"/>
          <p:cNvSpPr/>
          <p:nvPr/>
        </p:nvSpPr>
        <p:spPr>
          <a:xfrm>
            <a:off x="320040" y="2359152"/>
            <a:ext cx="8503920" cy="749808"/>
          </a:xfrm>
          <a:prstGeom prst="rect">
            <a:avLst/>
          </a:prstGeom>
          <a:solidFill>
            <a:srgbClr val="1E1850"/>
          </a:solidFill>
          <a:ln/>
        </p:spPr>
      </p:sp>
      <p:sp>
        <p:nvSpPr>
          <p:cNvPr id="13" name="Shape 11"/>
          <p:cNvSpPr/>
          <p:nvPr/>
        </p:nvSpPr>
        <p:spPr>
          <a:xfrm>
            <a:off x="320040" y="2359152"/>
            <a:ext cx="1463040" cy="749808"/>
          </a:xfrm>
          <a:prstGeom prst="rect">
            <a:avLst/>
          </a:prstGeom>
          <a:solidFill>
            <a:srgbClr val="24D66B">
              <a:alpha val="15000"/>
            </a:srgbClr>
          </a:solidFill>
          <a:ln/>
        </p:spPr>
      </p:sp>
      <p:sp>
        <p:nvSpPr>
          <p:cNvPr id="14" name="Text 12"/>
          <p:cNvSpPr/>
          <p:nvPr/>
        </p:nvSpPr>
        <p:spPr>
          <a:xfrm>
            <a:off x="365760" y="2560320"/>
            <a:ext cx="1389888" cy="329184"/>
          </a:xfrm>
          <a:prstGeom prst="rect">
            <a:avLst/>
          </a:prstGeom>
          <a:noFill/>
          <a:ln/>
        </p:spPr>
        <p:txBody>
          <a:bodyPr wrap="square" lIns="0" tIns="0" rIns="0" bIns="0" rtlCol="0" anchor="ctr"/>
          <a:lstStyle/>
          <a:p>
            <a:pPr marL="0" indent="0" algn="ctr">
              <a:buNone/>
            </a:pPr>
            <a:r>
              <a:rPr lang="en-US" sz="1100" b="1" dirty="0">
                <a:solidFill>
                  <a:srgbClr val="24D66B"/>
                </a:solidFill>
              </a:rPr>
              <a:t>WHAT WE LIKE</a:t>
            </a:r>
            <a:endParaRPr lang="en-US" sz="1100" dirty="0"/>
          </a:p>
        </p:txBody>
      </p:sp>
      <p:sp>
        <p:nvSpPr>
          <p:cNvPr id="15" name="Text 13"/>
          <p:cNvSpPr/>
          <p:nvPr/>
        </p:nvSpPr>
        <p:spPr>
          <a:xfrm>
            <a:off x="1874520" y="2450592"/>
            <a:ext cx="6858000" cy="566928"/>
          </a:xfrm>
          <a:prstGeom prst="rect">
            <a:avLst/>
          </a:prstGeom>
          <a:noFill/>
          <a:ln/>
        </p:spPr>
        <p:txBody>
          <a:bodyPr wrap="square" lIns="0" tIns="0" rIns="0" bIns="0" rtlCol="0" anchor="ctr"/>
          <a:lstStyle/>
          <a:p>
            <a:pPr marL="0" indent="0">
              <a:buNone/>
            </a:pPr>
            <a:r>
              <a:rPr lang="en-US" sz="1100" dirty="0">
                <a:solidFill>
                  <a:srgbClr val="E8E4FF"/>
                </a:solidFill>
              </a:rPr>
              <a:t>$15.8B FY2025 revenue growing 37% · Q1 2026 revenue $5.3B — first $5B quarter · 17.6% efficiency ratio — the most efficient major bank in the world · Mexico break-even achieved Q1'26 · $1B share buyback announced June 2026 · 29% ROE at 135M customer scale</a:t>
            </a:r>
            <a:endParaRPr lang="en-US" sz="1100" dirty="0"/>
          </a:p>
        </p:txBody>
      </p:sp>
      <p:sp>
        <p:nvSpPr>
          <p:cNvPr id="16" name="Shape 14"/>
          <p:cNvSpPr/>
          <p:nvPr/>
        </p:nvSpPr>
        <p:spPr>
          <a:xfrm>
            <a:off x="320040" y="3182112"/>
            <a:ext cx="8503920" cy="749808"/>
          </a:xfrm>
          <a:prstGeom prst="rect">
            <a:avLst/>
          </a:prstGeom>
          <a:solidFill>
            <a:srgbClr val="1E1850"/>
          </a:solidFill>
          <a:ln/>
        </p:spPr>
      </p:sp>
      <p:sp>
        <p:nvSpPr>
          <p:cNvPr id="17" name="Shape 15"/>
          <p:cNvSpPr/>
          <p:nvPr/>
        </p:nvSpPr>
        <p:spPr>
          <a:xfrm>
            <a:off x="320040" y="3182112"/>
            <a:ext cx="1463040" cy="749808"/>
          </a:xfrm>
          <a:prstGeom prst="rect">
            <a:avLst/>
          </a:prstGeom>
          <a:solidFill>
            <a:srgbClr val="F5C842">
              <a:alpha val="15000"/>
            </a:srgbClr>
          </a:solidFill>
          <a:ln/>
        </p:spPr>
      </p:sp>
      <p:sp>
        <p:nvSpPr>
          <p:cNvPr id="18" name="Text 16"/>
          <p:cNvSpPr/>
          <p:nvPr/>
        </p:nvSpPr>
        <p:spPr>
          <a:xfrm>
            <a:off x="365760" y="3383280"/>
            <a:ext cx="1389888" cy="329184"/>
          </a:xfrm>
          <a:prstGeom prst="rect">
            <a:avLst/>
          </a:prstGeom>
          <a:noFill/>
          <a:ln/>
        </p:spPr>
        <p:txBody>
          <a:bodyPr wrap="square" lIns="0" tIns="0" rIns="0" bIns="0" rtlCol="0" anchor="ctr"/>
          <a:lstStyle/>
          <a:p>
            <a:pPr marL="0" indent="0" algn="ctr">
              <a:buNone/>
            </a:pPr>
            <a:r>
              <a:rPr lang="en-US" sz="1100" b="1" dirty="0">
                <a:solidFill>
                  <a:srgbClr val="F5C842"/>
                </a:solidFill>
              </a:rPr>
              <a:t>WHAT WORRIES US</a:t>
            </a:r>
            <a:endParaRPr lang="en-US" sz="1100" dirty="0"/>
          </a:p>
        </p:txBody>
      </p:sp>
      <p:sp>
        <p:nvSpPr>
          <p:cNvPr id="19" name="Text 17"/>
          <p:cNvSpPr/>
          <p:nvPr/>
        </p:nvSpPr>
        <p:spPr>
          <a:xfrm>
            <a:off x="1874520" y="3273552"/>
            <a:ext cx="6858000" cy="566928"/>
          </a:xfrm>
          <a:prstGeom prst="rect">
            <a:avLst/>
          </a:prstGeom>
          <a:noFill/>
          <a:ln/>
        </p:spPr>
        <p:txBody>
          <a:bodyPr wrap="square" lIns="0" tIns="0" rIns="0" bIns="0" rtlCol="0" anchor="ctr"/>
          <a:lstStyle/>
          <a:p>
            <a:pPr marL="0" indent="0">
              <a:buNone/>
            </a:pPr>
            <a:r>
              <a:rPr lang="en-US" sz="1100" dirty="0">
                <a:solidFill>
                  <a:srgbClr val="E8E4FF"/>
                </a:solidFill>
              </a:rPr>
              <a:t>Brazil credit quality deterioration — NPL ratios rising, provisions up 33% · CFO Guilherme Lago departure July 2026 — most investor-facing executive exits amid credit uncertainty · Q1 2026 EPS missed consensus by 10% · BofA downgrade to $10 PT signals bear case risk is live · BRL/USD currency drag on reported numbers</a:t>
            </a:r>
            <a:endParaRPr lang="en-US" sz="1100" dirty="0"/>
          </a:p>
        </p:txBody>
      </p:sp>
      <p:sp>
        <p:nvSpPr>
          <p:cNvPr id="20" name="Shape 18"/>
          <p:cNvSpPr/>
          <p:nvPr/>
        </p:nvSpPr>
        <p:spPr>
          <a:xfrm>
            <a:off x="320040" y="4005072"/>
            <a:ext cx="8503920" cy="749808"/>
          </a:xfrm>
          <a:prstGeom prst="rect">
            <a:avLst/>
          </a:prstGeom>
          <a:solidFill>
            <a:srgbClr val="1E1850"/>
          </a:solidFill>
          <a:ln/>
        </p:spPr>
      </p:sp>
      <p:sp>
        <p:nvSpPr>
          <p:cNvPr id="21" name="Shape 19"/>
          <p:cNvSpPr/>
          <p:nvPr/>
        </p:nvSpPr>
        <p:spPr>
          <a:xfrm>
            <a:off x="320040" y="4005072"/>
            <a:ext cx="1463040" cy="749808"/>
          </a:xfrm>
          <a:prstGeom prst="rect">
            <a:avLst/>
          </a:prstGeom>
          <a:solidFill>
            <a:srgbClr val="FFFFFF">
              <a:alpha val="15000"/>
            </a:srgbClr>
          </a:solidFill>
          <a:ln/>
        </p:spPr>
      </p:sp>
      <p:sp>
        <p:nvSpPr>
          <p:cNvPr id="22" name="Text 20"/>
          <p:cNvSpPr/>
          <p:nvPr/>
        </p:nvSpPr>
        <p:spPr>
          <a:xfrm>
            <a:off x="365760" y="4206240"/>
            <a:ext cx="1389888" cy="329184"/>
          </a:xfrm>
          <a:prstGeom prst="rect">
            <a:avLst/>
          </a:prstGeom>
          <a:noFill/>
          <a:ln/>
        </p:spPr>
        <p:txBody>
          <a:bodyPr wrap="square" lIns="0" tIns="0" rIns="0" bIns="0" rtlCol="0" anchor="ctr"/>
          <a:lstStyle/>
          <a:p>
            <a:pPr marL="0" indent="0" algn="ctr">
              <a:buNone/>
            </a:pPr>
            <a:r>
              <a:rPr lang="en-US" sz="1100" b="1" dirty="0">
                <a:solidFill>
                  <a:srgbClr val="FFFFFF"/>
                </a:solidFill>
              </a:rPr>
              <a:t>PRICE TARGET RANGE</a:t>
            </a:r>
            <a:endParaRPr lang="en-US" sz="1100" dirty="0"/>
          </a:p>
        </p:txBody>
      </p:sp>
      <p:sp>
        <p:nvSpPr>
          <p:cNvPr id="23" name="Text 21"/>
          <p:cNvSpPr/>
          <p:nvPr/>
        </p:nvSpPr>
        <p:spPr>
          <a:xfrm>
            <a:off x="1874520" y="4096512"/>
            <a:ext cx="6858000" cy="566928"/>
          </a:xfrm>
          <a:prstGeom prst="rect">
            <a:avLst/>
          </a:prstGeom>
          <a:noFill/>
          <a:ln/>
        </p:spPr>
        <p:txBody>
          <a:bodyPr wrap="square" lIns="0" tIns="0" rIns="0" bIns="0" rtlCol="0" anchor="ctr"/>
          <a:lstStyle/>
          <a:p>
            <a:pPr marL="0" indent="0">
              <a:buNone/>
            </a:pPr>
            <a:r>
              <a:rPr lang="en-US" sz="1100" dirty="0">
                <a:solidFill>
                  <a:srgbClr val="E8E4FF"/>
                </a:solidFill>
              </a:rPr>
              <a:t>Bear: $7–9 (Brazil credit crunch, CFO uncertainty, multiple de-rating to 10–12x) · Base: $15–19 (guidance execution, ARPAC growth, Mexico inflection confirmed, 18–22x P/E) · Bull: $22–28 (Mexico acceleration, US optionality, AI monetization, 28–35x P/E re-rating)</a:t>
            </a:r>
            <a:endParaRPr lang="en-US" sz="1100" dirty="0"/>
          </a:p>
        </p:txBody>
      </p:sp>
      <p:sp>
        <p:nvSpPr>
          <p:cNvPr id="24" name="Text 22"/>
          <p:cNvSpPr/>
          <p:nvPr/>
        </p:nvSpPr>
        <p:spPr>
          <a:xfrm>
            <a:off x="320040" y="4919472"/>
            <a:ext cx="8503920" cy="182880"/>
          </a:xfrm>
          <a:prstGeom prst="rect">
            <a:avLst/>
          </a:prstGeom>
          <a:noFill/>
          <a:ln/>
        </p:spPr>
        <p:txBody>
          <a:bodyPr wrap="square" lIns="0" tIns="0" rIns="0" bIns="0" rtlCol="0" anchor="ctr"/>
          <a:lstStyle/>
          <a:p>
            <a:pPr marL="0" indent="0" algn="ctr">
              <a:buNone/>
            </a:pPr>
            <a:r>
              <a:rPr lang="en-US" sz="800" dirty="0">
                <a:solidFill>
                  <a:srgbClr val="8A86B8"/>
                </a:solidFill>
              </a:rPr>
              <a:t>For Research &amp; Educational Purposes Only. Not Investment Advice. June 2026.</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2A8A1E5E-F0A6-BFF6-4BED-6A02878C6352}"/>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6203" y="-7633"/>
            <a:ext cx="9131594" cy="5146233"/>
          </a:xfrm>
          <a:prstGeom prst="rect">
            <a:avLst/>
          </a:prstGeom>
        </p:spPr>
      </p:pic>
      <p:sp>
        <p:nvSpPr>
          <p:cNvPr id="4" name="Title 7">
            <a:extLst>
              <a:ext uri="{FF2B5EF4-FFF2-40B4-BE49-F238E27FC236}">
                <a16:creationId xmlns:a16="http://schemas.microsoft.com/office/drawing/2014/main" id="{B00ECB92-5091-43A0-3A50-D1D1ABDD48F6}"/>
              </a:ext>
            </a:extLst>
          </p:cNvPr>
          <p:cNvSpPr txBox="1">
            <a:spLocks/>
          </p:cNvSpPr>
          <p:nvPr/>
        </p:nvSpPr>
        <p:spPr>
          <a:xfrm>
            <a:off x="12406" y="2393991"/>
            <a:ext cx="9131594" cy="1227119"/>
          </a:xfrm>
          <a:prstGeom prst="rect">
            <a:avLst/>
          </a:prstGeom>
          <a:solidFill>
            <a:srgbClr val="FFFFFF">
              <a:alpha val="14902"/>
            </a:srgbClr>
          </a:solidFill>
        </p:spPr>
        <p:txBody>
          <a:bodyPr vert="horz" lIns="68580" tIns="34290" rIns="68580" bIns="34290" rtlCol="0" anchor="b">
            <a:noAutofit/>
          </a:bodyPr>
          <a:lstStyle>
            <a:defPPr>
              <a:defRPr lang="en-US"/>
            </a:defPPr>
            <a:lvl1pPr algn="ctr">
              <a:lnSpc>
                <a:spcPct val="120000"/>
              </a:lnSpc>
              <a:spcBef>
                <a:spcPct val="0"/>
              </a:spcBef>
              <a:buNone/>
              <a:defRPr sz="6000" b="1">
                <a:solidFill>
                  <a:srgbClr val="FFFF00"/>
                </a:solidFill>
                <a:latin typeface="FN Shyamol Bangla" panose="02000600000000000000" pitchFamily="2" charset="0"/>
                <a:ea typeface="+mj-ea"/>
                <a:cs typeface="FN Shyamol Bangla" panose="02000600000000000000" pitchFamily="2" charset="0"/>
              </a:defRPr>
            </a:lvl1pPr>
          </a:lstStyle>
          <a:p>
            <a:pPr algn="r"/>
            <a:r>
              <a:rPr lang="en-US" sz="5400" dirty="0">
                <a:solidFill>
                  <a:schemeClr val="bg1"/>
                </a:solidFill>
              </a:rPr>
              <a:t>Nu Holdings Ltd.</a:t>
            </a:r>
          </a:p>
        </p:txBody>
      </p:sp>
      <p:pic>
        <p:nvPicPr>
          <p:cNvPr id="26" name="Graphic 25" descr="Peacock with solid fill">
            <a:extLst>
              <a:ext uri="{FF2B5EF4-FFF2-40B4-BE49-F238E27FC236}">
                <a16:creationId xmlns:a16="http://schemas.microsoft.com/office/drawing/2014/main" id="{D51B320B-44D3-C018-F5E1-7D535FBF5E3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14646" y="2565484"/>
            <a:ext cx="999805" cy="999805"/>
          </a:xfrm>
          <a:prstGeom prst="rect">
            <a:avLst/>
          </a:prstGeom>
        </p:spPr>
      </p:pic>
      <p:pic>
        <p:nvPicPr>
          <p:cNvPr id="5" name="Untitled (2)">
            <a:hlinkClick r:id="" action="ppaction://media"/>
            <a:extLst>
              <a:ext uri="{FF2B5EF4-FFF2-40B4-BE49-F238E27FC236}">
                <a16:creationId xmlns:a16="http://schemas.microsoft.com/office/drawing/2014/main" id="{7DB4B856-C49B-D335-E682-925244857C03}"/>
              </a:ext>
            </a:extLst>
          </p:cNvPr>
          <p:cNvPicPr>
            <a:picLocks noChangeAspect="1"/>
          </p:cNvPicPr>
          <p:nvPr>
            <a:audioFile r:link="rId1"/>
            <p:extLst>
              <p:ext uri="{DAA4B4D4-6D71-4841-9C94-3DE7FCFB9230}">
                <p14:media xmlns:p14="http://schemas.microsoft.com/office/powerpoint/2010/main" r:embed="rId2">
                  <p14:trim end="213320"/>
                </p14:media>
              </p:ext>
            </p:extLst>
          </p:nvPr>
        </p:nvPicPr>
        <p:blipFill>
          <a:blip r:embed="rId7"/>
          <a:stretch>
            <a:fillRect/>
          </a:stretch>
        </p:blipFill>
        <p:spPr>
          <a:xfrm>
            <a:off x="-1282370" y="2565484"/>
            <a:ext cx="304800" cy="304800"/>
          </a:xfrm>
          <a:prstGeom prst="rect">
            <a:avLst/>
          </a:prstGeom>
        </p:spPr>
      </p:pic>
    </p:spTree>
    <p:extLst>
      <p:ext uri="{BB962C8B-B14F-4D97-AF65-F5344CB8AC3E}">
        <p14:creationId xmlns:p14="http://schemas.microsoft.com/office/powerpoint/2010/main" val="984047693"/>
      </p:ext>
    </p:extLst>
  </p:cSld>
  <p:clrMapOvr>
    <a:masterClrMapping/>
  </p:clrMapOvr>
  <mc:AlternateContent xmlns:mc="http://schemas.openxmlformats.org/markup-compatibility/2006" xmlns:p14="http://schemas.microsoft.com/office/powerpoint/2010/main">
    <mc:Choice Requires="p14">
      <p:transition spd="slow" p14:dur="2000" advTm="12212"/>
    </mc:Choice>
    <mc:Fallback xmlns="">
      <p:transition spd="slow" advTm="1221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000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5"/>
                </p:tgtEl>
              </p:cMediaNode>
            </p:audi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80</TotalTime>
  <Words>16335</Words>
  <Application>Microsoft Office PowerPoint</Application>
  <PresentationFormat>On-screen Show (16:9)</PresentationFormat>
  <Paragraphs>1137</Paragraphs>
  <Slides>16</Slides>
  <Notes>16</Notes>
  <HiddenSlides>0</HiddenSlides>
  <MMClips>3</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Aptos</vt:lpstr>
      <vt:lpstr>Arial</vt:lpstr>
      <vt:lpstr>Calibri</vt:lpstr>
      <vt:lpstr>FN Shyamol Bangla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Nu Holdings — Dreamlit Equity Research</dc:title>
  <dc:subject>PptxGenJS Presentation</dc:subject>
  <dc:creator>PptxGenJS</dc:creator>
  <cp:lastModifiedBy>Swapan Masanta</cp:lastModifiedBy>
  <cp:revision>32</cp:revision>
  <dcterms:created xsi:type="dcterms:W3CDTF">2026-06-05T05:39:48Z</dcterms:created>
  <dcterms:modified xsi:type="dcterms:W3CDTF">2026-06-08T06:27:57Z</dcterms:modified>
</cp:coreProperties>
</file>