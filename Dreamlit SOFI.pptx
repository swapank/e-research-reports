
<file path=[Content_Types].xml><?xml version="1.0" encoding="utf-8"?>
<Types xmlns="http://schemas.openxmlformats.org/package/2006/content-types">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455" r:id="rId2"/>
    <p:sldId id="413" r:id="rId3"/>
    <p:sldId id="256" r:id="rId4"/>
    <p:sldId id="259" r:id="rId5"/>
    <p:sldId id="260" r:id="rId6"/>
    <p:sldId id="261" r:id="rId7"/>
    <p:sldId id="262" r:id="rId8"/>
    <p:sldId id="263" r:id="rId9"/>
    <p:sldId id="264" r:id="rId10"/>
    <p:sldId id="265" r:id="rId11"/>
    <p:sldId id="266" r:id="rId12"/>
    <p:sldId id="267" r:id="rId13"/>
    <p:sldId id="268" r:id="rId14"/>
    <p:sldId id="500" r:id="rId15"/>
    <p:sldId id="270" r:id="rId16"/>
    <p:sldId id="271" r:id="rId17"/>
    <p:sldId id="272" r:id="rId18"/>
    <p:sldId id="4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7FC2064-0C2D-429F-A4A3-4FEED3D9A4AE}">
          <p14:sldIdLst>
            <p14:sldId id="455"/>
            <p14:sldId id="413"/>
            <p14:sldId id="256"/>
            <p14:sldId id="259"/>
            <p14:sldId id="260"/>
            <p14:sldId id="261"/>
            <p14:sldId id="262"/>
            <p14:sldId id="263"/>
            <p14:sldId id="264"/>
            <p14:sldId id="265"/>
            <p14:sldId id="266"/>
            <p14:sldId id="267"/>
            <p14:sldId id="268"/>
            <p14:sldId id="500"/>
            <p14:sldId id="270"/>
            <p14:sldId id="271"/>
            <p14:sldId id="272"/>
            <p14:sldId id="4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A80C2A"/>
    <a:srgbClr val="B1B0AE"/>
    <a:srgbClr val="F0EDE6"/>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057" autoAdjust="0"/>
  </p:normalViewPr>
  <p:slideViewPr>
    <p:cSldViewPr snapToGrid="0">
      <p:cViewPr varScale="1">
        <p:scale>
          <a:sx n="38" d="100"/>
          <a:sy n="38" d="100"/>
        </p:scale>
        <p:origin x="56" y="180"/>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chemeClr val="tx1"/>
                </a:solidFill>
                <a:latin typeface="Arial"/>
              </a:defRPr>
            </a:pPr>
            <a:r>
              <a:rPr lang="en-US" sz="1100" b="0" i="0" u="none" strike="noStrike">
                <a:solidFill>
                  <a:schemeClr val="tx1"/>
                </a:solidFill>
                <a:latin typeface="Arial"/>
              </a:rPr>
              <a:t>Adjusted Net Revenue ($B) — FY2022 to FY2026E</a:t>
            </a:r>
          </a:p>
        </c:rich>
      </c:tx>
      <c:overlay val="0"/>
    </c:title>
    <c:autoTitleDeleted val="0"/>
    <c:plotArea>
      <c:layout/>
      <c:barChart>
        <c:barDir val="col"/>
        <c:grouping val="clustered"/>
        <c:varyColors val="0"/>
        <c:ser>
          <c:idx val="0"/>
          <c:order val="0"/>
          <c:tx>
            <c:strRef>
              <c:f>Sheet1!$B$1</c:f>
              <c:strCache>
                <c:ptCount val="1"/>
                <c:pt idx="0">
                  <c:v>Adj. Net Revenue ($B)</c:v>
                </c:pt>
              </c:strCache>
            </c:strRef>
          </c:tx>
          <c:spPr>
            <a:solidFill>
              <a:srgbClr val="00C8C8"/>
            </a:solidFill>
            <a:effectLst/>
          </c:spPr>
          <c:invertIfNegative val="0"/>
          <c:dLbls>
            <c:numFmt formatCode="#,##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FY2022</c:v>
                </c:pt>
                <c:pt idx="1">
                  <c:v>FY2023</c:v>
                </c:pt>
                <c:pt idx="2">
                  <c:v>FY2024</c:v>
                </c:pt>
                <c:pt idx="3">
                  <c:v>FY2025</c:v>
                </c:pt>
                <c:pt idx="4">
                  <c:v>FY2026E</c:v>
                </c:pt>
              </c:strCache>
            </c:strRef>
          </c:cat>
          <c:val>
            <c:numRef>
              <c:f>Sheet1!$B$2:$B$6</c:f>
              <c:numCache>
                <c:formatCode>General</c:formatCode>
                <c:ptCount val="5"/>
                <c:pt idx="0">
                  <c:v>1.5</c:v>
                </c:pt>
                <c:pt idx="1">
                  <c:v>2.1</c:v>
                </c:pt>
                <c:pt idx="2">
                  <c:v>2.6</c:v>
                </c:pt>
                <c:pt idx="3">
                  <c:v>3.7</c:v>
                </c:pt>
                <c:pt idx="4">
                  <c:v>4.6550000000000002</c:v>
                </c:pt>
              </c:numCache>
            </c:numRef>
          </c:val>
          <c:extLst>
            <c:ext xmlns:c16="http://schemas.microsoft.com/office/drawing/2014/chart" uri="{C3380CC4-5D6E-409C-BE32-E72D297353CC}">
              <c16:uniqueId val="{00000000-4DC7-4A58-8FC4-AD8B1DBB1B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06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chemeClr val="tx1"/>
                </a:solidFill>
                <a:latin typeface="Arial"/>
              </a:defRPr>
            </a:pPr>
            <a:endParaRPr lang="en-US"/>
          </a:p>
        </c:txPr>
        <c:crossAx val="2094734554"/>
        <c:crosses val="autoZero"/>
        <c:crossBetween val="between"/>
      </c:valAx>
      <c:spPr>
        <a:solidFill>
          <a:schemeClr val="bg1"/>
        </a:solidFill>
        <a:ln>
          <a:noFill/>
        </a:ln>
        <a:effectLst/>
      </c:spPr>
    </c:plotArea>
    <c:plotVisOnly val="1"/>
    <c:dispBlanksAs val="span"/>
    <c:showDLblsOverMax val="1"/>
  </c:chart>
  <c:spPr>
    <a:solidFill>
      <a:schemeClr val="bg1"/>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6ADD3-E4C9-4B15-B72E-7CE80015322E}" type="datetimeFigureOut">
              <a:rPr lang="en-IN" smtClean="0"/>
              <a:t>07-06-2026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3E57C-F302-4DDA-9D05-13A296E43432}" type="slidenum">
              <a:rPr lang="en-IN" smtClean="0"/>
              <a:t>‹#›</a:t>
            </a:fld>
            <a:endParaRPr lang="en-IN"/>
          </a:p>
        </p:txBody>
      </p:sp>
    </p:spTree>
    <p:extLst>
      <p:ext uri="{BB962C8B-B14F-4D97-AF65-F5344CB8AC3E}">
        <p14:creationId xmlns:p14="http://schemas.microsoft.com/office/powerpoint/2010/main" val="16718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Welcome back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Today, we are going deep on a company that I get asked about more than almost any other in the fintech space. A company that has been called a fraud by one of Wall Street's most feared short sellers. A company that has delivered 10 consecutive profitable quarters while the stock sits 40% below its peak. A company that simultaneously operates as a consumer bank, a lender, a </a:t>
            </a:r>
            <a:r>
              <a:rPr lang="en-IN" sz="1200" b="0" i="0" kern="1200" dirty="0" err="1">
                <a:solidFill>
                  <a:schemeClr val="tx1"/>
                </a:solidFill>
                <a:effectLst/>
                <a:latin typeface="+mn-lt"/>
                <a:ea typeface="+mn-ea"/>
                <a:cs typeface="+mn-cs"/>
              </a:rPr>
              <a:t>robo</a:t>
            </a:r>
            <a:r>
              <a:rPr lang="en-IN" sz="1200" b="0" i="0" kern="1200" dirty="0">
                <a:solidFill>
                  <a:schemeClr val="tx1"/>
                </a:solidFill>
                <a:effectLst/>
                <a:latin typeface="+mn-lt"/>
                <a:ea typeface="+mn-ea"/>
                <a:cs typeface="+mn-cs"/>
              </a:rPr>
              <a:t>-advisor, a crypto platform, and a wholesale banking infrastructure provider for some of the biggest names in fintech.</a:t>
            </a:r>
          </a:p>
        </p:txBody>
      </p:sp>
      <p:sp>
        <p:nvSpPr>
          <p:cNvPr id="4" name="Slide Number Placeholder 3"/>
          <p:cNvSpPr>
            <a:spLocks noGrp="1"/>
          </p:cNvSpPr>
          <p:nvPr>
            <p:ph type="sldNum" sz="quarter" idx="5"/>
          </p:nvPr>
        </p:nvSpPr>
        <p:spPr/>
        <p:txBody>
          <a:bodyPr/>
          <a:lstStyle/>
          <a:p>
            <a:fld id="{49F3E57C-F302-4DDA-9D05-13A296E43432}" type="slidenum">
              <a:rPr lang="en-IN" smtClean="0"/>
              <a:t>1</a:t>
            </a:fld>
            <a:endParaRPr lang="en-IN"/>
          </a:p>
        </p:txBody>
      </p:sp>
    </p:spTree>
    <p:extLst>
      <p:ext uri="{BB962C8B-B14F-4D97-AF65-F5344CB8AC3E}">
        <p14:creationId xmlns:p14="http://schemas.microsoft.com/office/powerpoint/2010/main" val="219933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Before we go anywhere, 30 seconds on the disclaimer. Because it matters.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content is for educational and entertainment purposes only. I am not a licensed financial advisor. I am not registered with the SEC or SEBI. Nothing in this video constitutes financial, investment, legal, or tax advice.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opinions you hear are mine and mine alone. They can and will change as new data arrives. Investing involves risk. You can lose principal. The companies we discuss may go up, may go down, or may do absolutely nothing for extended periods.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Perform your own research. Consult a qualified professional before making investment decisions.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Third-party data referenced in this report is used under fair use for commentary, criticism, and analysis. All data is sourced from publicly available SEC filings, earnings releases, and publicly available research.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Now. Legal house in order. Let us get into the data.</a:t>
            </a:r>
          </a:p>
        </p:txBody>
      </p:sp>
      <p:sp>
        <p:nvSpPr>
          <p:cNvPr id="4" name="Slide Number Placeholder 3"/>
          <p:cNvSpPr>
            <a:spLocks noGrp="1"/>
          </p:cNvSpPr>
          <p:nvPr>
            <p:ph type="sldNum" sz="quarter" idx="5"/>
          </p:nvPr>
        </p:nvSpPr>
        <p:spPr/>
        <p:txBody>
          <a:bodyPr/>
          <a:lstStyle/>
          <a:p>
            <a:fld id="{49F3E57C-F302-4DDA-9D05-13A296E43432}" type="slidenum">
              <a:rPr lang="en-IN" smtClean="0"/>
              <a:t>2</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 are talking about SoFi Technologies. NASDAQ: SOFI.</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let me frame this one right at the top — because this is not a straightforward story. This is a genuinely complex, genuinely contested investment case. There are serious bulls and serious bears. Respected analysts have price targets ranging from $12 to $31 on the exact same stock, at the exact same moment in time. That tells you something. That tells you this is not a consensus name. It is a judgment call. And our job today is to give you every piece of data and analysis you need to make your own judgment.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what I find remarkable about SoFi in May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company just delivered $1.1B in Q1 2026 revenue — up 41% year over year. That is not bad-quarter territory. That is record revenue. Record members. Record loan originations. And yet the stock trades at $15.65 — 40% below its 52-week high of $32.73.</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How does that happen? A company posting record fundamentals, and the stock is down 40%? That is the central mystery we are going to solve today.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answer, as we will see, involves a short seller named Carson Block, an accounting dispute that could either be nothing or could be a billion-dollar problem, a macro backdrop with no Federal Reserve rate cuts in sight, and a valuation debate that comes down to one question: is SoFi a bank or a software company? Because the answer to that question implies a stock price somewhere between $8 and $40.</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 in this video — which will run approximately 55–65 minutes — we are going to go through this entire research report, slide by slide, with full analyst-level commentary. We will cover the company's 15-year history, the 3-segment business model, the financials, the growth engines, unit economics, management and governance, competitive dynamics, the red flags you absolutely must understand, the investment thesis framework, price projections, and a quarterly monitoring checklist.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a research note, not a financial recommendation. I am not your financial advisor. This is education. Do your own due diligence. Now — let us begin.</a:t>
            </a:r>
          </a:p>
          <a:p>
            <a:br>
              <a:rPr lang="en-US" dirty="0"/>
            </a:br>
            <a:br>
              <a:rPr lang="en-US" dirty="0"/>
            </a:br>
            <a:br>
              <a:rPr lang="en-US" dirty="0"/>
            </a:br>
            <a:r>
              <a:rPr lang="en-IN" sz="1200" b="0" i="0" kern="1200" dirty="0">
                <a:solidFill>
                  <a:schemeClr val="tx1"/>
                </a:solidFill>
                <a:effectLst/>
                <a:latin typeface="+mn-lt"/>
                <a:ea typeface="+mn-ea"/>
                <a:cs typeface="+mn-cs"/>
              </a:rPr>
              <a:t>This is the dashboard slide. And I want you to really sit with these numbers — because there is a striking contradiction embedded here. These are the numbers of a company that is growing extremely well. And yet the stock is in a deep drawdown. Both of those things are simultaneously true. Let us understand why.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2026 Revenue: $1.1B. Up 41%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me give you context for that number. 41% revenue growth is not the growth rate of a bank. Banks grow at 3–8% in good years. 41% growth is the kind of number you see from enterprise software companies or early-stage hypergrowth tech. But SoFi is also generating real net income, holding a national bank charter, and managing a $40.2B deposit book. That combination — 41% growth plus real profitability plus a bank charter — is essentially unprecedented in US financial services right now.</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FY 2026 Guidance: $4.655B.</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is the full-year revenue guidance that management reaffirmed in the Q1 2026 earnings call. Roughly 30% full-year revenue growth. For a company that was doing $1.5B in FY 2022, this would represent a tripling of revenue in 4 years.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Total Members: 14.7M.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Members, not customers. SoFi calls them members because the relationship model is designed around mutual obligation — the company provides financial education, career resources, and product access, and members are expected to deepen their relationship over time. Members grew 35% year over year in Q1 2026. That is a record. And critically, every new member is a potential cross-sell target. We will come back to this when we discuss the Financial Services Productivity Loop.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Q1 Net Income: $167M.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tenth consecutive quarter of GAAP net income. Let that sink in. Ten straight profitable quarters for a company that was losing $320M in FY 2022. That is a genuine financial transformation. Not accounting tricks. Not adjustments. GAAP net income.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Market Cap: ~$21B. Current market price ~$15.65 as of May 2026.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52-week high: $32.73. 52-week low: $12.86.</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That high was in late 2025, when SoFi had just delivered its first one-billion-dollar quarter. The stock ran on optimism. Then the Muddy Waters short report hit in March 2026, and the stock collapsed. We will spend serious time on that later.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Here is the central tension of this entire investment case: at $15.65, you are either buying a deeply undervalued compounding fintech at a discount — or you are buying a stock that deserves to be cheap because the Muddy Waters allegations are more serious than management admits.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Today, our job is to equip you to decide which of those it 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"To understand SoFi today, you have to understand where it came from. Because this is a company that has reinvented itself 3x in 15 years."]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SLIDE 4 — COMPANY HISTORY</a:t>
            </a:r>
          </a:p>
          <a:p>
            <a:r>
              <a:rPr lang="en-IN" sz="1200" b="0" i="0" kern="1200" dirty="0">
                <a:solidFill>
                  <a:schemeClr val="tx1"/>
                </a:solidFill>
                <a:effectLst/>
                <a:latin typeface="+mn-lt"/>
                <a:ea typeface="+mn-ea"/>
                <a:cs typeface="+mn-cs"/>
              </a:rPr>
              <a:t>"SECTION 1: COMPANY HISTORY — FROM STUDENT LOANS TO EVERYTHING APP"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[STORYTELLING MODE — SPEND 5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15 years. 15 years of pivots, setbacks, regulatory battles, a founder scandal, a SPAC merger, a pandemic, and a student loan moratorium. And yet here SoFi is, in 2026, with 14.7M members, a national bank charter, and 41% revenue growth.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Let us walk the timeline.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2011. Mike Cagney founds SoFi — Social Finance — at Stanford Graduate School of Business. The original model is peer-to-peer student loan refinancing. The idea was elegant: connect creditworthy graduates who needed to refinance their expensive student debt with alumni investors who wanted to earn better returns than they could get from money market funds. Very Silicon Valley. Very 2011.</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2018. Everything changes. Anthony Noto — former Goldman Sachs Chief Financial Officer, former Twitter Chief Operating Officer, former Chief Financial Officer of the NFL — becomes CEO. And from day one, Noto makes clear: SoFi is not going to be a student loan niche lender. It is going to be a one-stop shop for everything financial in a person's life. This is the founding vision of what they call the Financial Services Productivity Loop. We will come back to this concept repeatedly.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2020. The pandemic hits. And for SoFi, it is particularly brutal. The federal government imposes a moratorium on student loan repayments, which means refinancing demand evaporates overnight. SoFi's core revenue product dries up. This crisis forces the company to accelerate its diversification into personal loans, banking, and investing. Necessity is the mother of reinvention.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2021. SoFi goes public via SPAC merger with Chamath Palihapitiya's Social Capital </a:t>
            </a:r>
            <a:r>
              <a:rPr lang="en-IN" sz="1200" b="0" i="0" kern="1200" dirty="0" err="1">
                <a:solidFill>
                  <a:schemeClr val="tx1"/>
                </a:solidFill>
                <a:effectLst/>
                <a:latin typeface="+mn-lt"/>
                <a:ea typeface="+mn-ea"/>
                <a:cs typeface="+mn-cs"/>
              </a:rPr>
              <a:t>Hedosophia</a:t>
            </a:r>
            <a:r>
              <a:rPr lang="en-IN" sz="1200" b="0" i="0" kern="1200" dirty="0">
                <a:solidFill>
                  <a:schemeClr val="tx1"/>
                </a:solidFill>
                <a:effectLst/>
                <a:latin typeface="+mn-lt"/>
                <a:ea typeface="+mn-ea"/>
                <a:cs typeface="+mn-cs"/>
              </a:rPr>
              <a:t>. This is a landmark moment — and a complicated one. SPACs were controversial vehicles. SoFi's SPAC valuation of $9B was widely seen as rich. The stock initially traded well above the merger price, then collapsed during the fintech winter of 2022. That SPAC baggage still sits in the share structure today. In the same year, SoFi acquires Galileo for $1.2B — and this is arguably the most important acquisition in SoFi's history. We will spend significant time on Galileo.</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2022. National Bank Charter. This is the single most transformative event in SoFi's corporate history. SoFi acquires Golden Pacific Bancorp and converts it into SoFi Bank, obtaining a full OCC national bank charter. Before the charter, SoFi had to borrow money from warehouse lenders at five to 7% interest to fund its loans. After the charter, SoFi can take FDIC-insured consumer deposits at approximately 1.2% and use them to fund loans at rates generating 5.94% net interest margin. That transformation alone — replacing expensive warehouse debt with cheap deposits — fundamentally changes the unit economics of the entire business.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2023. The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acquisition is integrated. SoFi Bank deposits surge to $14B. And critically, SoFi reports its first steps toward GAAP profitability.</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2025. GAAP profitable for the full year. Revenue exceeds $3.7B. The Rule of 40 — a software industry benchmark where revenue growth plus EBITDA margin exceeds forty — has been maintained for 18 consecutive quarters. In Q4 2025, SoFi delivers its first ever one-billion-dollar quarter.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2026. Q1 revenue $1.1B. 14.7M members. Muddy Waters short attack. FY guidance $4.655B. Launch of </a:t>
            </a:r>
            <a:r>
              <a:rPr lang="en-IN" sz="1200" b="0" i="0" kern="1200" dirty="0" err="1">
                <a:solidFill>
                  <a:schemeClr val="tx1"/>
                </a:solidFill>
                <a:effectLst/>
                <a:latin typeface="+mn-lt"/>
                <a:ea typeface="+mn-ea"/>
                <a:cs typeface="+mn-cs"/>
              </a:rPr>
              <a:t>SoFiUSD</a:t>
            </a:r>
            <a:r>
              <a:rPr lang="en-IN" sz="1200" b="0" i="0" kern="1200" dirty="0">
                <a:solidFill>
                  <a:schemeClr val="tx1"/>
                </a:solidFill>
                <a:effectLst/>
                <a:latin typeface="+mn-lt"/>
                <a:ea typeface="+mn-ea"/>
                <a:cs typeface="+mn-cs"/>
              </a:rPr>
              <a:t> stablecoin. Big Business Banking launch for small and medium businesses.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structural advantages that this history produced: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ONE: National Bank Charter. Before the charter, SoFi paid five to 7% for warehouse credit. After the charter, SoFi pays approximately 1.2% for FDIC-insured deposits. Net interest margin expanded from roughly two to 3% pre-charter to 5.94% today. The deposit book is now $40.2B. The regulatory moat to replicate this would take 12–24 months minimum.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TWO: Financial Services Productivity Loop. Each new product a member adds deepens the relationship. 43% of new products in Q1 2026 were opened by existing members. Products per member is growing from 1.5 one toward a target of 2.5 plus. The more products, the lower the churn. Members with 3+ products have two to 3x lower churn. This is the flywheel.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THREE: Galileo and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B2B Infrastructure. Galileo processes payments, issues cards, and handles ACH for 128.5M accounts globally — including for SoFi's own competitors like Cash App and Chime.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Cyberbank Core provides cloud-native core banking for legacy institutions. This is the infrastructure layer that CEO Noto is positioning as the AWS of Fintech — building the plumbing that everyone else runs 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5 — BUSINESS MODEL</a:t>
            </a:r>
          </a:p>
          <a:p>
            <a:r>
              <a:rPr lang="en-IN" sz="1200" b="0" i="0" kern="1200" dirty="0">
                <a:solidFill>
                  <a:schemeClr val="tx1"/>
                </a:solidFill>
                <a:effectLst/>
                <a:latin typeface="+mn-lt"/>
                <a:ea typeface="+mn-ea"/>
                <a:cs typeface="+mn-cs"/>
              </a:rPr>
              <a:t>"SECTION 2: BUSINESS MODEL — THREE-SEGMENT FINANCIAL PLATFORM"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[ANALYTICAL, DETAILED — SPEND 6 MINUTES HERE]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positioning strip at the top of this slide tells you the fundamental argument.</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Traditional banks on the left — JPMorgan, Bank of America, Wells Fargo. Branch-based. High cost-to-serve. Slow innovation. Capital-heavy. These are trillion-dollar institutions, but they are growing at 3–5% annually. They are not going away. But they are not nimble.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in the middle — mobile-first, bank charter secured, high net interest margin, fee-based diversification, plus a B2B technology infrastructure business. CEO Noto argues SoFi is the best of both worlds: the credibility and funding advantage of a chartered bank, with the growth velocity of a fintech.</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market gap SoFi fills: the only profitable digital bank in America with a national charter, a B2B infrastructure platform, and 14.7M engaged members. That combination does not exist anywhere else. Not Chime. Not Robinhood. Not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Not anyone.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Now let us go through the three revenue segments.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SEGMENT ONE: LENDING. Approximately 58% of Q1 2026 revenue. $642M.</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primary revenue engine. Three core products.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Personal Loans: $8.3B in originations in Q1 2026. Up 51% year over year. Average FICO score of 748 — that is a high-quality borrower. These are not subprime. These are professionals, graduate degree holders, high earners. SoFi's personal loans are the number one product by revenue.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Student Loan Refinancing: $2.6B in Q1 originations. Up 68% year over year. The moratorium that crushed this business from 2020 to 2023 is fully resolved. That headwind has become a tailwind.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Home Loans: $1.3B in Q1. Mortgage refinancing is growing as the housing market adjusts.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then there is the Loan Platform Business — LPB. This is SoFi originating loans on behalf of third-party institutional buyers. SoFi takes fee income, the buyer takes the credit risk. Capital-light. Recurring. This is the mechanism driving fee revenue above 40% of total revenue and reducing SoFi's dependence on the interest rate cycle.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Net interest margin of 5.94% is the headline number here. For comparison, JPMorgan Chase runs at approximately 2.8% NIM. SoFi earns more than twice the spread per dollar of deposits. That is structural.</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SEGMENT TWO: FINANCIAL SERVICES. Approximately 39% of Q1 2026 revenue. $428M. Up 41%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where the consumer super-app vision lives.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Money — checking and savings at three point 8% APY. In a world where traditional banks pay near-zero on savings, SoFi is paying three point 8%. This is how they attract direct deposit members. 43% of SoFi members use it as their primary bank.</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Invest — stocks, crypto, </a:t>
            </a:r>
            <a:r>
              <a:rPr lang="en-IN" sz="1200" b="0" i="0" kern="1200" dirty="0" err="1">
                <a:solidFill>
                  <a:schemeClr val="tx1"/>
                </a:solidFill>
                <a:effectLst/>
                <a:latin typeface="+mn-lt"/>
                <a:ea typeface="+mn-ea"/>
                <a:cs typeface="+mn-cs"/>
              </a:rPr>
              <a:t>robo</a:t>
            </a:r>
            <a:r>
              <a:rPr lang="en-IN" sz="1200" b="0" i="0" kern="1200" dirty="0">
                <a:solidFill>
                  <a:schemeClr val="tx1"/>
                </a:solidFill>
                <a:effectLst/>
                <a:latin typeface="+mn-lt"/>
                <a:ea typeface="+mn-ea"/>
                <a:cs typeface="+mn-cs"/>
              </a:rPr>
              <a:t>-advisory, IPO access, alternatives. Members can invest across asset classes from the same app.</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Credit Card — unlimited 2% cash back. Growing revolving credit portfolio.</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SoFiUSD</a:t>
            </a:r>
            <a:r>
              <a:rPr lang="en-IN" sz="1200" b="0" i="0" kern="1200" dirty="0">
                <a:solidFill>
                  <a:schemeClr val="tx1"/>
                </a:solidFill>
                <a:effectLst/>
                <a:latin typeface="+mn-lt"/>
                <a:ea typeface="+mn-ea"/>
                <a:cs typeface="+mn-cs"/>
              </a:rPr>
              <a:t> — launched in 2025, this is the first stablecoin issued by a US national bank. CEO Noto has described digital assets as a significant new growth area.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SoFi Relay — a financial insights aggregation tool that aggregates a member's outside accounts for a holistic financial picture. Drives cross-sell. Keeps members engaged.</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The financial services segment is growing fast and is increasingly fee-based — meaning it does not require SoFi to put loans on its balance sheet to earn revenue.</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SEGMENT THREE: TECHNOLOGY PLATFORM. Approximately 7% of Q1 2026 revenue. $75M. Down 27% year over year.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This is the pain point right now. And I will be direct with you: this decline is a real concern. We will revisit it in the red flags section.</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Galileo: payment processing, card issuing, ACH settlement for 128.5M enabled accounts globally.</a:t>
            </a:r>
          </a:p>
          <a:p>
            <a:r>
              <a:rPr lang="en-IN" sz="1200" b="0" i="0" kern="1200" dirty="0">
                <a:solidFill>
                  <a:schemeClr val="tx1"/>
                </a:solidFill>
                <a:effectLst/>
                <a:latin typeface="+mn-lt"/>
                <a:ea typeface="+mn-ea"/>
                <a:cs typeface="+mn-cs"/>
              </a:rPr>
              <a:t> </a:t>
            </a:r>
          </a:p>
          <a:p>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Cyberbank Core: cloud-native core banking replacement for legacy banks. Already deployed at Banco </a:t>
            </a:r>
            <a:r>
              <a:rPr lang="en-IN" sz="1200" b="0" i="0" kern="1200" dirty="0" err="1">
                <a:solidFill>
                  <a:schemeClr val="tx1"/>
                </a:solidFill>
                <a:effectLst/>
                <a:latin typeface="+mn-lt"/>
                <a:ea typeface="+mn-ea"/>
                <a:cs typeface="+mn-cs"/>
              </a:rPr>
              <a:t>Nación</a:t>
            </a:r>
            <a:r>
              <a:rPr lang="en-IN" sz="1200" b="0" i="0" kern="1200" dirty="0">
                <a:solidFill>
                  <a:schemeClr val="tx1"/>
                </a:solidFill>
                <a:effectLst/>
                <a:latin typeface="+mn-lt"/>
                <a:ea typeface="+mn-ea"/>
                <a:cs typeface="+mn-cs"/>
              </a:rPr>
              <a:t> in Argentina.</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Cyberbank </a:t>
            </a:r>
            <a:r>
              <a:rPr lang="en-IN" sz="1200" b="0" i="0" kern="1200" dirty="0" err="1">
                <a:solidFill>
                  <a:schemeClr val="tx1"/>
                </a:solidFill>
                <a:effectLst/>
                <a:latin typeface="+mn-lt"/>
                <a:ea typeface="+mn-ea"/>
                <a:cs typeface="+mn-cs"/>
              </a:rPr>
              <a:t>Konecta</a:t>
            </a:r>
            <a:r>
              <a:rPr lang="en-IN" sz="1200" b="0" i="0" kern="1200" dirty="0">
                <a:solidFill>
                  <a:schemeClr val="tx1"/>
                </a:solidFill>
                <a:effectLst/>
                <a:latin typeface="+mn-lt"/>
                <a:ea typeface="+mn-ea"/>
                <a:cs typeface="+mn-cs"/>
              </a:rPr>
              <a:t> AI: an AI-powered customer service assistant that has reduced response times by 65% and halved chat abandonment rates.</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Why did revenue fall 27%? Because a major client — we believe a large fintech — fully transitioned off the Galileo platform in late 2025. That client had been a significant revenue contributor. When they left, the B2B revenue dropped sharply. Management insists this is transitory and that new client wins will restore growth. That is a thesis that needs to be validated quarter by quarter.</a:t>
            </a:r>
          </a:p>
          <a:p>
            <a:r>
              <a:rPr lang="en-IN" sz="1200" b="0" i="0" kern="1200" dirty="0">
                <a:solidFill>
                  <a:schemeClr val="tx1"/>
                </a:solidFill>
                <a:effectLst/>
                <a:latin typeface="+mn-lt"/>
                <a:ea typeface="+mn-ea"/>
                <a:cs typeface="+mn-cs"/>
              </a:rPr>
              <a:t> </a:t>
            </a:r>
          </a:p>
          <a:p>
            <a:r>
              <a:rPr lang="en-IN" sz="1200" b="0" i="0" kern="1200" dirty="0">
                <a:solidFill>
                  <a:schemeClr val="tx1"/>
                </a:solidFill>
                <a:effectLst/>
                <a:latin typeface="+mn-lt"/>
                <a:ea typeface="+mn-ea"/>
                <a:cs typeface="+mn-cs"/>
              </a:rPr>
              <a:t>And then there are two emerging areas: Digital Assets and Big Business Banking. Both launched or expanded in 2026. The SMB banking opportunity is a three-trillion-dollar-plus commercial deposit market that SoFi has essentially not touched yet. Big Business Banking is CEO Noto's described third leg of growth — alongside consumer banking and B2B infrastructure.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go to the financial analysis — because the numbers tell a dramatic story of transformation."]</a:t>
            </a:r>
          </a:p>
          <a:p>
            <a:r>
              <a:rPr lang="en-IN" sz="1200" b="0" i="0" kern="1200" dirty="0">
                <a:solidFill>
                  <a:schemeClr val="tx1"/>
                </a:solidFill>
                <a:effectLst/>
                <a:latin typeface="+mn-lt"/>
                <a:ea typeface="+mn-ea"/>
                <a:cs typeface="+mn-cs"/>
              </a:rPr>
              <a:t>SLIDE 6 — FINANCIAL ANALYSIS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3: FINANCIAL ANALYSIS"</a:t>
            </a:r>
          </a:p>
          <a:p>
            <a:r>
              <a:rPr lang="en-IN" sz="1200" b="0" i="0" kern="1200" dirty="0">
                <a:solidFill>
                  <a:schemeClr val="tx1"/>
                </a:solidFill>
                <a:effectLst/>
                <a:latin typeface="+mn-lt"/>
                <a:ea typeface="+mn-ea"/>
                <a:cs typeface="+mn-cs"/>
              </a:rPr>
              <a:t>[DATA-DENSE, AUTHORITATIVE — SPEND 5-6 MINUTES HERE]</a:t>
            </a:r>
          </a:p>
          <a:p>
            <a:r>
              <a:rPr lang="en-IN" sz="1200" b="0" i="0" kern="1200" dirty="0">
                <a:solidFill>
                  <a:schemeClr val="tx1"/>
                </a:solidFill>
                <a:effectLst/>
                <a:latin typeface="+mn-lt"/>
                <a:ea typeface="+mn-ea"/>
                <a:cs typeface="+mn-cs"/>
              </a:rPr>
              <a:t>This slide is the financial spine of the thesis. And I want you to look at the trend. Not just the numbers. The direction.</a:t>
            </a:r>
          </a:p>
          <a:p>
            <a:r>
              <a:rPr lang="en-IN" sz="1200" b="0" i="0" kern="1200" dirty="0">
                <a:solidFill>
                  <a:schemeClr val="tx1"/>
                </a:solidFill>
                <a:effectLst/>
                <a:latin typeface="+mn-lt"/>
                <a:ea typeface="+mn-ea"/>
                <a:cs typeface="+mn-cs"/>
              </a:rPr>
              <a:t>Revenue trajectory:</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2022:</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$1.5B.**</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 **$2.1B.</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$2.6B.**</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 **$3.7B.</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$4.655B.</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That is revenue growing at approximately </a:t>
            </a:r>
            <a:r>
              <a:rPr lang="en-IN" sz="1200" b="1" i="0" kern="1200" dirty="0">
                <a:solidFill>
                  <a:schemeClr val="tx1"/>
                </a:solidFill>
                <a:effectLst/>
                <a:latin typeface="+mn-lt"/>
                <a:ea typeface="+mn-ea"/>
                <a:cs typeface="+mn-cs"/>
              </a:rPr>
              <a:t>27% compounded annually</a:t>
            </a:r>
            <a:r>
              <a:rPr lang="en-IN" sz="1200" b="0" i="0" kern="1200" dirty="0">
                <a:solidFill>
                  <a:schemeClr val="tx1"/>
                </a:solidFill>
                <a:effectLst/>
                <a:latin typeface="+mn-lt"/>
                <a:ea typeface="+mn-ea"/>
                <a:cs typeface="+mn-cs"/>
              </a:rPr>
              <a:t> over 4 years — and </a:t>
            </a:r>
            <a:r>
              <a:rPr lang="en-IN" sz="1200" b="1" i="0" kern="1200" dirty="0">
                <a:solidFill>
                  <a:schemeClr val="tx1"/>
                </a:solidFill>
                <a:effectLst/>
                <a:latin typeface="+mn-lt"/>
                <a:ea typeface="+mn-ea"/>
                <a:cs typeface="+mn-cs"/>
              </a:rPr>
              <a:t>accelerating</a:t>
            </a:r>
            <a:r>
              <a:rPr lang="en-IN" sz="1200" b="0" i="0" kern="1200" dirty="0">
                <a:solidFill>
                  <a:schemeClr val="tx1"/>
                </a:solidFill>
                <a:effectLst/>
                <a:latin typeface="+mn-lt"/>
                <a:ea typeface="+mn-ea"/>
                <a:cs typeface="+mn-cs"/>
              </a:rPr>
              <a:t>. FY 2025 came in at plus 27% year over year. Q1 2026 came in at </a:t>
            </a:r>
            <a:r>
              <a:rPr lang="en-IN" sz="1200" b="1" i="0" kern="1200" dirty="0">
                <a:solidFill>
                  <a:schemeClr val="tx1"/>
                </a:solidFill>
                <a:effectLst/>
                <a:latin typeface="+mn-lt"/>
                <a:ea typeface="+mn-ea"/>
                <a:cs typeface="+mn-cs"/>
              </a:rPr>
              <a:t>plus 41%</a:t>
            </a:r>
            <a:r>
              <a:rPr lang="en-IN" sz="1200" b="0" i="0" kern="1200" dirty="0">
                <a:solidFill>
                  <a:schemeClr val="tx1"/>
                </a:solidFill>
                <a:effectLst/>
                <a:latin typeface="+mn-lt"/>
                <a:ea typeface="+mn-ea"/>
                <a:cs typeface="+mn-cs"/>
              </a:rPr>
              <a:t> year over year. The growth rate is not decelerating. That is an important signal.</a:t>
            </a:r>
          </a:p>
          <a:p>
            <a:r>
              <a:rPr lang="en-IN" sz="1200" b="0" i="0" kern="1200" dirty="0">
                <a:solidFill>
                  <a:schemeClr val="tx1"/>
                </a:solidFill>
                <a:effectLst/>
                <a:latin typeface="+mn-lt"/>
                <a:ea typeface="+mn-ea"/>
                <a:cs typeface="+mn-cs"/>
              </a:rPr>
              <a:t>Now the headline Q1 2026 numbers:</a:t>
            </a:r>
          </a:p>
          <a:p>
            <a:r>
              <a:rPr lang="en-IN" sz="1200" b="1" i="0" kern="1200" dirty="0">
                <a:solidFill>
                  <a:schemeClr val="tx1"/>
                </a:solidFill>
                <a:effectLst/>
                <a:latin typeface="+mn-lt"/>
                <a:ea typeface="+mn-ea"/>
                <a:cs typeface="+mn-cs"/>
              </a:rPr>
              <a:t>Q1 Revenue: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$1.1B.** **Up 41%** year over year.</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**Q1 Net Income:** **$167M.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Double</a:t>
            </a:r>
            <a:r>
              <a:rPr lang="en-IN" sz="1200" b="0" i="0" kern="1200" dirty="0">
                <a:solidFill>
                  <a:schemeClr val="tx1"/>
                </a:solidFill>
                <a:effectLst/>
                <a:latin typeface="+mn-lt"/>
                <a:ea typeface="+mn-ea"/>
                <a:cs typeface="+mn-cs"/>
              </a:rPr>
              <a:t> the net income from Q1 2025. Year over year net income </a:t>
            </a:r>
            <a:r>
              <a:rPr lang="en-IN" sz="1200" b="1" i="0" kern="1200" dirty="0">
                <a:solidFill>
                  <a:schemeClr val="tx1"/>
                </a:solidFill>
                <a:effectLst/>
                <a:latin typeface="+mn-lt"/>
                <a:ea typeface="+mn-ea"/>
                <a:cs typeface="+mn-cs"/>
              </a:rPr>
              <a:t>doubled</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Q1 Adjusted EBITDA:</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$340M.** **Up 62%** year over year. **31% EBITDA margin**.</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**Q1 Loan Originations:** **$12.2B.</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Up 68%</a:t>
            </a:r>
            <a:r>
              <a:rPr lang="en-IN" sz="1200" b="0" i="0" kern="1200" dirty="0">
                <a:solidFill>
                  <a:schemeClr val="tx1"/>
                </a:solidFill>
                <a:effectLst/>
                <a:latin typeface="+mn-lt"/>
                <a:ea typeface="+mn-ea"/>
                <a:cs typeface="+mn-cs"/>
              </a:rPr>
              <a:t> year over year. A record.</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Total Deposits: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$40.2B.** Net interest margin **5.94%**.</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Adjusted EBITDA guidance:** **$1.6B.</a:t>
            </a:r>
            <a:r>
              <a:rPr lang="en-IN" sz="1200" b="0" i="0" kern="1200" dirty="0">
                <a:solidFill>
                  <a:schemeClr val="tx1"/>
                </a:solidFill>
                <a:effectLst/>
                <a:latin typeface="+mn-lt"/>
                <a:ea typeface="+mn-ea"/>
                <a:cs typeface="+mn-cs"/>
              </a:rPr>
              <a:t> Targeting a </a:t>
            </a:r>
            <a:r>
              <a:rPr lang="en-IN" sz="1200" b="1" i="0" kern="1200" dirty="0">
                <a:solidFill>
                  <a:schemeClr val="tx1"/>
                </a:solidFill>
                <a:effectLst/>
                <a:latin typeface="+mn-lt"/>
                <a:ea typeface="+mn-ea"/>
                <a:cs typeface="+mn-cs"/>
              </a:rPr>
              <a:t>34% margin</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Now let me walk you through the multi-year table that tells the full story.</a:t>
            </a:r>
          </a:p>
          <a:p>
            <a:r>
              <a:rPr lang="en-IN" sz="1200" b="0" i="0" kern="1200" dirty="0">
                <a:solidFill>
                  <a:schemeClr val="tx1"/>
                </a:solidFill>
                <a:effectLst/>
                <a:latin typeface="+mn-lt"/>
                <a:ea typeface="+mn-ea"/>
                <a:cs typeface="+mn-cs"/>
              </a:rPr>
              <a:t>Adjusted EBITDA margin:</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2022:</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10%.</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21%.</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26%.</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28%.</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a:t>
            </a:r>
            <a:r>
              <a:rPr lang="en-IN" sz="1200" b="0" i="0" kern="1200" dirty="0">
                <a:solidFill>
                  <a:schemeClr val="tx1"/>
                </a:solidFill>
                <a:effectLst/>
                <a:latin typeface="+mn-lt"/>
                <a:ea typeface="+mn-ea"/>
                <a:cs typeface="+mn-cs"/>
              </a:rPr>
              <a:t> approximately </a:t>
            </a:r>
            <a:r>
              <a:rPr lang="en-IN" sz="1200" b="1" i="0" kern="1200" dirty="0">
                <a:solidFill>
                  <a:schemeClr val="tx1"/>
                </a:solidFill>
                <a:effectLst/>
                <a:latin typeface="+mn-lt"/>
                <a:ea typeface="+mn-ea"/>
                <a:cs typeface="+mn-cs"/>
              </a:rPr>
              <a:t>34%</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That is a </a:t>
            </a:r>
            <a:r>
              <a:rPr lang="en-IN" sz="1200" b="1" i="0" kern="1200" dirty="0">
                <a:solidFill>
                  <a:schemeClr val="tx1"/>
                </a:solidFill>
                <a:effectLst/>
                <a:latin typeface="+mn-lt"/>
                <a:ea typeface="+mn-ea"/>
                <a:cs typeface="+mn-cs"/>
              </a:rPr>
              <a:t>24 percentage point margin expansion</a:t>
            </a:r>
            <a:r>
              <a:rPr lang="en-IN" sz="1200" b="0" i="0" kern="1200" dirty="0">
                <a:solidFill>
                  <a:schemeClr val="tx1"/>
                </a:solidFill>
                <a:effectLst/>
                <a:latin typeface="+mn-lt"/>
                <a:ea typeface="+mn-ea"/>
                <a:cs typeface="+mn-cs"/>
              </a:rPr>
              <a:t> in 4 years. From 10% to 34%. That is what operating leverage looks like when a business model matures and fixed costs get absorbed by growing revenue.</a:t>
            </a:r>
          </a:p>
          <a:p>
            <a:r>
              <a:rPr lang="en-IN" sz="1200" b="0" i="0" kern="1200" dirty="0">
                <a:solidFill>
                  <a:schemeClr val="tx1"/>
                </a:solidFill>
                <a:effectLst/>
                <a:latin typeface="+mn-lt"/>
                <a:ea typeface="+mn-ea"/>
                <a:cs typeface="+mn-cs"/>
              </a:rPr>
              <a:t>GAAP Net Income:</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2022:</a:t>
            </a:r>
            <a:r>
              <a:rPr lang="en-IN" sz="1200" b="0" i="0" kern="1200" dirty="0">
                <a:solidFill>
                  <a:schemeClr val="tx1"/>
                </a:solidFill>
                <a:effectLst/>
                <a:latin typeface="+mn-lt"/>
                <a:ea typeface="+mn-ea"/>
                <a:cs typeface="+mn-cs"/>
              </a:rPr>
              <a:t> negative </a:t>
            </a:r>
            <a:r>
              <a:rPr lang="en-IN" sz="1200" b="1" i="0" kern="1200" dirty="0">
                <a:solidFill>
                  <a:schemeClr val="tx1"/>
                </a:solidFill>
                <a:effectLst/>
                <a:latin typeface="+mn-lt"/>
                <a:ea typeface="+mn-ea"/>
                <a:cs typeface="+mn-cs"/>
              </a:rPr>
              <a:t>$320M**.</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 negative **$301M</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a:t>
            </a:r>
            <a:r>
              <a:rPr lang="en-IN" sz="1200" b="0" i="0" kern="1200" dirty="0">
                <a:solidFill>
                  <a:schemeClr val="tx1"/>
                </a:solidFill>
                <a:effectLst/>
                <a:latin typeface="+mn-lt"/>
                <a:ea typeface="+mn-ea"/>
                <a:cs typeface="+mn-cs"/>
              </a:rPr>
              <a:t> positive </a:t>
            </a:r>
            <a:r>
              <a:rPr lang="en-IN" sz="1200" b="1" i="0" kern="1200" dirty="0">
                <a:solidFill>
                  <a:schemeClr val="tx1"/>
                </a:solidFill>
                <a:effectLst/>
                <a:latin typeface="+mn-lt"/>
                <a:ea typeface="+mn-ea"/>
                <a:cs typeface="+mn-cs"/>
              </a:rPr>
              <a:t>$499M**.</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 positive **$559M</a:t>
            </a:r>
            <a:r>
              <a:rPr lang="en-IN" sz="1200" b="0" i="0" kern="1200" dirty="0">
                <a:solidFill>
                  <a:schemeClr val="tx1"/>
                </a:solidFill>
                <a:effectLst/>
                <a:latin typeface="+mn-lt"/>
                <a:ea typeface="+mn-ea"/>
                <a:cs typeface="+mn-cs"/>
              </a:rPr>
              <a:t> — though it is important to note that this includes a **$239M deferred tax asset benefit**. Adjusted net income was approximately $395M.</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a:t>
            </a:r>
            <a:r>
              <a:rPr lang="en-IN" sz="1200" b="0" i="0" kern="1200" dirty="0">
                <a:solidFill>
                  <a:schemeClr val="tx1"/>
                </a:solidFill>
                <a:effectLst/>
                <a:latin typeface="+mn-lt"/>
                <a:ea typeface="+mn-ea"/>
                <a:cs typeface="+mn-cs"/>
              </a:rPr>
              <a:t> approximately </a:t>
            </a:r>
            <a:r>
              <a:rPr lang="en-IN" sz="1200" b="1" i="0" kern="1200" dirty="0">
                <a:solidFill>
                  <a:schemeClr val="tx1"/>
                </a:solidFill>
                <a:effectLst/>
                <a:latin typeface="+mn-lt"/>
                <a:ea typeface="+mn-ea"/>
                <a:cs typeface="+mn-cs"/>
              </a:rPr>
              <a:t>$825M</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EPS trajectory:</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2022:</a:t>
            </a:r>
            <a:r>
              <a:rPr lang="en-IN" sz="1200" b="0" i="0" kern="1200" dirty="0">
                <a:solidFill>
                  <a:schemeClr val="tx1"/>
                </a:solidFill>
                <a:effectLst/>
                <a:latin typeface="+mn-lt"/>
                <a:ea typeface="+mn-ea"/>
                <a:cs typeface="+mn-cs"/>
              </a:rPr>
              <a:t> negative </a:t>
            </a:r>
            <a:r>
              <a:rPr lang="en-IN" sz="1200" b="1" i="0" kern="1200" dirty="0">
                <a:solidFill>
                  <a:schemeClr val="tx1"/>
                </a:solidFill>
                <a:effectLst/>
                <a:latin typeface="+mn-lt"/>
                <a:ea typeface="+mn-ea"/>
                <a:cs typeface="+mn-cs"/>
              </a:rPr>
              <a:t>$0.35**.</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 negative **$0.27</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a:t>
            </a:r>
            <a:r>
              <a:rPr lang="en-IN" sz="1200" b="0" i="0" kern="1200" dirty="0">
                <a:solidFill>
                  <a:schemeClr val="tx1"/>
                </a:solidFill>
                <a:effectLst/>
                <a:latin typeface="+mn-lt"/>
                <a:ea typeface="+mn-ea"/>
                <a:cs typeface="+mn-cs"/>
              </a:rPr>
              <a:t> positive </a:t>
            </a:r>
            <a:r>
              <a:rPr lang="en-IN" sz="1200" b="1" i="0" kern="1200" dirty="0">
                <a:solidFill>
                  <a:schemeClr val="tx1"/>
                </a:solidFill>
                <a:effectLst/>
                <a:latin typeface="+mn-lt"/>
                <a:ea typeface="+mn-ea"/>
                <a:cs typeface="+mn-cs"/>
              </a:rPr>
              <a:t>$0.39**.</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 positive **$0.44</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a:t>
            </a:r>
            <a:r>
              <a:rPr lang="en-IN" sz="1200" b="0" i="0" kern="1200" dirty="0">
                <a:solidFill>
                  <a:schemeClr val="tx1"/>
                </a:solidFill>
                <a:effectLst/>
                <a:latin typeface="+mn-lt"/>
                <a:ea typeface="+mn-ea"/>
                <a:cs typeface="+mn-cs"/>
              </a:rPr>
              <a:t> approximately </a:t>
            </a:r>
            <a:r>
              <a:rPr lang="en-IN" sz="1200" b="1" i="0" kern="1200" dirty="0">
                <a:solidFill>
                  <a:schemeClr val="tx1"/>
                </a:solidFill>
                <a:effectLst/>
                <a:latin typeface="+mn-lt"/>
                <a:ea typeface="+mn-ea"/>
                <a:cs typeface="+mn-cs"/>
              </a:rPr>
              <a:t>$0.55</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Diluted EPS of approximately $0.55 on a stock trading at $15.65 implies a forward price-to-earnings ratio of </a:t>
            </a:r>
            <a:r>
              <a:rPr lang="en-IN" sz="1200" b="1" i="0" kern="1200" dirty="0">
                <a:solidFill>
                  <a:schemeClr val="tx1"/>
                </a:solidFill>
                <a:effectLst/>
                <a:latin typeface="+mn-lt"/>
                <a:ea typeface="+mn-ea"/>
                <a:cs typeface="+mn-cs"/>
              </a:rPr>
              <a:t>~28x</a:t>
            </a:r>
            <a:r>
              <a:rPr lang="en-IN" sz="1200" b="0" i="0" kern="1200" dirty="0">
                <a:solidFill>
                  <a:schemeClr val="tx1"/>
                </a:solidFill>
                <a:effectLst/>
                <a:latin typeface="+mn-lt"/>
                <a:ea typeface="+mn-ea"/>
                <a:cs typeface="+mn-cs"/>
              </a:rPr>
              <a:t>. For a company growing revenue at 40%, that is not obviously expensive — though there is a serious debate about what multiple SoFi deserves, which we will come to in the valuation section.</a:t>
            </a:r>
          </a:p>
          <a:p>
            <a:r>
              <a:rPr lang="en-IN" sz="1200" b="0" i="0" kern="1200" dirty="0">
                <a:solidFill>
                  <a:schemeClr val="tx1"/>
                </a:solidFill>
                <a:effectLst/>
                <a:latin typeface="+mn-lt"/>
                <a:ea typeface="+mn-ea"/>
                <a:cs typeface="+mn-cs"/>
              </a:rPr>
              <a:t>Member growth:</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2022:</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4.3M</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7.5M</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10.6M</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14.0M</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a:t>
            </a:r>
            <a:r>
              <a:rPr lang="en-IN" sz="1200" b="0" i="0" kern="1200" dirty="0">
                <a:solidFill>
                  <a:schemeClr val="tx1"/>
                </a:solidFill>
                <a:effectLst/>
                <a:latin typeface="+mn-lt"/>
                <a:ea typeface="+mn-ea"/>
                <a:cs typeface="+mn-cs"/>
              </a:rPr>
              <a:t> approximately </a:t>
            </a:r>
            <a:r>
              <a:rPr lang="en-IN" sz="1200" b="1" i="0" kern="1200" dirty="0">
                <a:solidFill>
                  <a:schemeClr val="tx1"/>
                </a:solidFill>
                <a:effectLst/>
                <a:latin typeface="+mn-lt"/>
                <a:ea typeface="+mn-ea"/>
                <a:cs typeface="+mn-cs"/>
              </a:rPr>
              <a:t>17.5M</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That is a </a:t>
            </a:r>
            <a:r>
              <a:rPr lang="en-IN" sz="1200" b="1" i="0" kern="1200" dirty="0">
                <a:solidFill>
                  <a:schemeClr val="tx1"/>
                </a:solidFill>
                <a:effectLst/>
                <a:latin typeface="+mn-lt"/>
                <a:ea typeface="+mn-ea"/>
                <a:cs typeface="+mn-cs"/>
              </a:rPr>
              <a:t>32% compound annual growth rate</a:t>
            </a:r>
            <a:r>
              <a:rPr lang="en-IN" sz="1200" b="0" i="0" kern="1200" dirty="0">
                <a:solidFill>
                  <a:schemeClr val="tx1"/>
                </a:solidFill>
                <a:effectLst/>
                <a:latin typeface="+mn-lt"/>
                <a:ea typeface="+mn-ea"/>
                <a:cs typeface="+mn-cs"/>
              </a:rPr>
              <a:t> in members. And it is accelerating — Q1 2026 added </a:t>
            </a:r>
            <a:r>
              <a:rPr lang="en-IN" sz="1200" b="1" i="0" kern="1200" dirty="0">
                <a:solidFill>
                  <a:schemeClr val="tx1"/>
                </a:solidFill>
                <a:effectLst/>
                <a:latin typeface="+mn-lt"/>
                <a:ea typeface="+mn-ea"/>
                <a:cs typeface="+mn-cs"/>
              </a:rPr>
              <a:t>1.055M net new members</a:t>
            </a:r>
            <a:r>
              <a:rPr lang="en-IN" sz="1200" b="0" i="0" kern="1200" dirty="0">
                <a:solidFill>
                  <a:schemeClr val="tx1"/>
                </a:solidFill>
                <a:effectLst/>
                <a:latin typeface="+mn-lt"/>
                <a:ea typeface="+mn-ea"/>
                <a:cs typeface="+mn-cs"/>
              </a:rPr>
              <a:t>, which was itself a record.</a:t>
            </a:r>
          </a:p>
          <a:p>
            <a:r>
              <a:rPr lang="en-IN" sz="1200" b="0" i="0" kern="1200" dirty="0">
                <a:solidFill>
                  <a:schemeClr val="tx1"/>
                </a:solidFill>
                <a:effectLst/>
                <a:latin typeface="+mn-lt"/>
                <a:ea typeface="+mn-ea"/>
                <a:cs typeface="+mn-cs"/>
              </a:rPr>
              <a:t>Deposits:</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2023:</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$14B**.</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2024:** **$26B</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2025:</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$35B plus**.</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**FY 2026 estimate:** approximately **$48B</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This deposit growth is the national bank charter doing its job. Every new deposit dollar reduces SoFi's cost of funds and enables more lending at a </a:t>
            </a:r>
            <a:r>
              <a:rPr lang="en-IN" sz="1200" b="1" i="0" kern="1200" dirty="0">
                <a:solidFill>
                  <a:schemeClr val="tx1"/>
                </a:solidFill>
                <a:effectLst/>
                <a:latin typeface="+mn-lt"/>
                <a:ea typeface="+mn-ea"/>
                <a:cs typeface="+mn-cs"/>
              </a:rPr>
              <a:t>5.94% net interest margin</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The overall financial picture is one of </a:t>
            </a:r>
            <a:r>
              <a:rPr lang="en-IN" sz="1200" b="1" i="0" kern="1200" dirty="0">
                <a:solidFill>
                  <a:schemeClr val="tx1"/>
                </a:solidFill>
                <a:effectLst/>
                <a:latin typeface="+mn-lt"/>
                <a:ea typeface="+mn-ea"/>
                <a:cs typeface="+mn-cs"/>
              </a:rPr>
              <a:t>genuine, documented progress</a:t>
            </a:r>
            <a:r>
              <a:rPr lang="en-IN" sz="1200" b="0" i="0" kern="1200" dirty="0">
                <a:solidFill>
                  <a:schemeClr val="tx1"/>
                </a:solidFill>
                <a:effectLst/>
                <a:latin typeface="+mn-lt"/>
                <a:ea typeface="+mn-ea"/>
                <a:cs typeface="+mn-cs"/>
              </a:rPr>
              <a:t>. This is not a story about what SoFi might one day do. This is a story about what SoFi </a:t>
            </a:r>
            <a:r>
              <a:rPr lang="en-IN" sz="1200" b="1" i="0" kern="1200" dirty="0">
                <a:solidFill>
                  <a:schemeClr val="tx1"/>
                </a:solidFill>
                <a:effectLst/>
                <a:latin typeface="+mn-lt"/>
                <a:ea typeface="+mn-ea"/>
                <a:cs typeface="+mn-cs"/>
              </a:rPr>
              <a:t>is already doing</a:t>
            </a:r>
            <a:r>
              <a:rPr lang="en-IN" sz="1200" b="0" i="0" kern="1200" dirty="0">
                <a:solidFill>
                  <a:schemeClr val="tx1"/>
                </a:solidFill>
                <a:effectLst/>
                <a:latin typeface="+mn-lt"/>
                <a:ea typeface="+mn-ea"/>
                <a:cs typeface="+mn-cs"/>
              </a:rPr>
              <a:t>, right now.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"How did SoFi build this? Let us look at the product innovations and growth engines that created these numbers."]</a:t>
            </a:r>
          </a:p>
          <a:p>
            <a:r>
              <a:rPr lang="en-IN" sz="1200" b="0" i="0" kern="1200" dirty="0">
                <a:solidFill>
                  <a:schemeClr val="tx1"/>
                </a:solidFill>
                <a:effectLst/>
                <a:latin typeface="+mn-lt"/>
                <a:ea typeface="+mn-ea"/>
                <a:cs typeface="+mn-cs"/>
              </a:rPr>
              <a:t>SLIDE 7 — GROWTH ENGINES &amp; PRODUCT INNOVATIONS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4: GROWTH ENGINES &amp; KEY PRODUCT INNOVATIONS"</a:t>
            </a:r>
          </a:p>
          <a:p>
            <a:r>
              <a:rPr lang="en-IN" sz="1200" b="0" i="0" kern="1200" dirty="0">
                <a:solidFill>
                  <a:schemeClr val="tx1"/>
                </a:solidFill>
                <a:effectLst/>
                <a:latin typeface="+mn-lt"/>
                <a:ea typeface="+mn-ea"/>
                <a:cs typeface="+mn-cs"/>
              </a:rPr>
              <a:t>[ENERGETIC, ANALYTICAL — SPEND 5-6 MINUTES HERE]</a:t>
            </a:r>
          </a:p>
          <a:p>
            <a:r>
              <a:rPr lang="en-IN" sz="1200" b="0" i="0" kern="1200" dirty="0">
                <a:solidFill>
                  <a:schemeClr val="tx1"/>
                </a:solidFill>
                <a:effectLst/>
                <a:latin typeface="+mn-lt"/>
                <a:ea typeface="+mn-ea"/>
                <a:cs typeface="+mn-cs"/>
              </a:rPr>
              <a:t>Six milestones. Six moments where SoFi made a bet that changed the trajectory of the business. Let me take you through each one.</a:t>
            </a:r>
          </a:p>
          <a:p>
            <a:r>
              <a:rPr lang="en-IN" sz="1200" b="1" i="0" kern="1200" dirty="0">
                <a:solidFill>
                  <a:schemeClr val="tx1"/>
                </a:solidFill>
                <a:effectLst/>
                <a:latin typeface="+mn-lt"/>
                <a:ea typeface="+mn-ea"/>
                <a:cs typeface="+mn-cs"/>
              </a:rPr>
              <a:t>MILESTONE ONE: 2022 — National Bank Charter. Game-Changing.</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 have already described the economics. But I want to hammer home one specific number. Before the charter, SoFi's net interest margin was approximately </a:t>
            </a:r>
            <a:r>
              <a:rPr lang="en-IN" sz="1200" b="1" i="0" kern="1200" dirty="0">
                <a:solidFill>
                  <a:schemeClr val="tx1"/>
                </a:solidFill>
                <a:effectLst/>
                <a:latin typeface="+mn-lt"/>
                <a:ea typeface="+mn-ea"/>
                <a:cs typeface="+mn-cs"/>
              </a:rPr>
              <a:t>two to 3%</a:t>
            </a:r>
            <a:r>
              <a:rPr lang="en-IN" sz="1200" b="0" i="0" kern="1200" dirty="0">
                <a:solidFill>
                  <a:schemeClr val="tx1"/>
                </a:solidFill>
                <a:effectLst/>
                <a:latin typeface="+mn-lt"/>
                <a:ea typeface="+mn-ea"/>
                <a:cs typeface="+mn-cs"/>
              </a:rPr>
              <a:t>. After the charter, it is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That is a </a:t>
            </a:r>
            <a:r>
              <a:rPr lang="en-IN" sz="1200" b="1" i="0" kern="1200" dirty="0">
                <a:solidFill>
                  <a:schemeClr val="tx1"/>
                </a:solidFill>
                <a:effectLst/>
                <a:latin typeface="+mn-lt"/>
                <a:ea typeface="+mn-ea"/>
                <a:cs typeface="+mn-cs"/>
              </a:rPr>
              <a:t>near-doubling</a:t>
            </a:r>
            <a:r>
              <a:rPr lang="en-IN" sz="1200" b="0" i="0" kern="1200" dirty="0">
                <a:solidFill>
                  <a:schemeClr val="tx1"/>
                </a:solidFill>
                <a:effectLst/>
                <a:latin typeface="+mn-lt"/>
                <a:ea typeface="+mn-ea"/>
                <a:cs typeface="+mn-cs"/>
              </a:rPr>
              <a:t> of the spread on every dollar of lending. On a forty-billion-dollar deposit book, the difference between 3% NIM and 6% NIM is approximately </a:t>
            </a:r>
            <a:r>
              <a:rPr lang="en-IN" sz="1200" b="1" i="0" kern="1200" dirty="0">
                <a:solidFill>
                  <a:schemeClr val="tx1"/>
                </a:solidFill>
                <a:effectLst/>
                <a:latin typeface="+mn-lt"/>
                <a:ea typeface="+mn-ea"/>
                <a:cs typeface="+mn-cs"/>
              </a:rPr>
              <a:t>$1.2B of additional annual net interest income</a:t>
            </a:r>
            <a:r>
              <a:rPr lang="en-IN" sz="1200" b="0" i="0" kern="1200" dirty="0">
                <a:solidFill>
                  <a:schemeClr val="tx1"/>
                </a:solidFill>
                <a:effectLst/>
                <a:latin typeface="+mn-lt"/>
                <a:ea typeface="+mn-ea"/>
                <a:cs typeface="+mn-cs"/>
              </a:rPr>
              <a:t>. Annually. Recurring. Structural.</a:t>
            </a:r>
          </a:p>
          <a:p>
            <a:r>
              <a:rPr lang="en-IN" sz="1200" b="0" i="0" kern="1200" dirty="0">
                <a:solidFill>
                  <a:schemeClr val="tx1"/>
                </a:solidFill>
                <a:effectLst/>
                <a:latin typeface="+mn-lt"/>
                <a:ea typeface="+mn-ea"/>
                <a:cs typeface="+mn-cs"/>
              </a:rPr>
              <a:t>The Golden Pacific Bancorp acquisition that secured the charter was worth approximately **$22M** in purchase price. That might be the **single greatest return on investment in the history of US fintech**. $22M to unlock more than $1B of annual structural profit improvement.</a:t>
            </a:r>
          </a:p>
          <a:p>
            <a:r>
              <a:rPr lang="en-IN" sz="1200" b="1" i="0" kern="1200" dirty="0">
                <a:solidFill>
                  <a:schemeClr val="tx1"/>
                </a:solidFill>
                <a:effectLst/>
                <a:latin typeface="+mn-lt"/>
                <a:ea typeface="+mn-ea"/>
                <a:cs typeface="+mn-cs"/>
              </a:rPr>
              <a:t>MILESTONE TWO: 2023 — </a:t>
            </a:r>
            <a:r>
              <a:rPr lang="en-IN" sz="1200" b="1" i="0" kern="1200" dirty="0" err="1">
                <a:solidFill>
                  <a:schemeClr val="tx1"/>
                </a:solidFill>
                <a:effectLst/>
                <a:latin typeface="+mn-lt"/>
                <a:ea typeface="+mn-ea"/>
                <a:cs typeface="+mn-cs"/>
              </a:rPr>
              <a:t>Technisys</a:t>
            </a:r>
            <a:r>
              <a:rPr lang="en-IN" sz="1200" b="1" i="0" kern="1200" dirty="0">
                <a:solidFill>
                  <a:schemeClr val="tx1"/>
                </a:solidFill>
                <a:effectLst/>
                <a:latin typeface="+mn-lt"/>
                <a:ea typeface="+mn-ea"/>
                <a:cs typeface="+mn-cs"/>
              </a:rPr>
              <a:t> Integration. B2B Scale.</a:t>
            </a:r>
            <a:endParaRPr lang="en-IN" sz="1200" b="0" i="0" kern="1200" dirty="0">
              <a:solidFill>
                <a:schemeClr val="tx1"/>
              </a:solidFill>
              <a:effectLst/>
              <a:latin typeface="+mn-lt"/>
              <a:ea typeface="+mn-ea"/>
              <a:cs typeface="+mn-cs"/>
            </a:endParaRPr>
          </a:p>
          <a:p>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Cyberbank Core was integrated with Galileo to create a full-stack banking-as-a-service platform. The AI-powered Cyberbank </a:t>
            </a:r>
            <a:r>
              <a:rPr lang="en-IN" sz="1200" b="0" i="0" kern="1200" dirty="0" err="1">
                <a:solidFill>
                  <a:schemeClr val="tx1"/>
                </a:solidFill>
                <a:effectLst/>
                <a:latin typeface="+mn-lt"/>
                <a:ea typeface="+mn-ea"/>
                <a:cs typeface="+mn-cs"/>
              </a:rPr>
              <a:t>Konecta</a:t>
            </a:r>
            <a:r>
              <a:rPr lang="en-IN" sz="1200" b="0" i="0" kern="1200" dirty="0">
                <a:solidFill>
                  <a:schemeClr val="tx1"/>
                </a:solidFill>
                <a:effectLst/>
                <a:latin typeface="+mn-lt"/>
                <a:ea typeface="+mn-ea"/>
                <a:cs typeface="+mn-cs"/>
              </a:rPr>
              <a:t> assistant reduces support costs by </a:t>
            </a:r>
            <a:r>
              <a:rPr lang="en-IN" sz="1200" b="1" i="0" kern="1200" dirty="0">
                <a:solidFill>
                  <a:schemeClr val="tx1"/>
                </a:solidFill>
                <a:effectLst/>
                <a:latin typeface="+mn-lt"/>
                <a:ea typeface="+mn-ea"/>
                <a:cs typeface="+mn-cs"/>
              </a:rPr>
              <a:t>40%</a:t>
            </a:r>
            <a:r>
              <a:rPr lang="en-IN" sz="1200" b="0" i="0" kern="1200" dirty="0">
                <a:solidFill>
                  <a:schemeClr val="tx1"/>
                </a:solidFill>
                <a:effectLst/>
                <a:latin typeface="+mn-lt"/>
                <a:ea typeface="+mn-ea"/>
                <a:cs typeface="+mn-cs"/>
              </a:rPr>
              <a:t> and cut chat abandonment rates in half. Banco </a:t>
            </a:r>
            <a:r>
              <a:rPr lang="en-IN" sz="1200" b="0" i="0" kern="1200" dirty="0" err="1">
                <a:solidFill>
                  <a:schemeClr val="tx1"/>
                </a:solidFill>
                <a:effectLst/>
                <a:latin typeface="+mn-lt"/>
                <a:ea typeface="+mn-ea"/>
                <a:cs typeface="+mn-cs"/>
              </a:rPr>
              <a:t>Nación</a:t>
            </a:r>
            <a:r>
              <a:rPr lang="en-IN" sz="1200" b="0" i="0" kern="1200" dirty="0">
                <a:solidFill>
                  <a:schemeClr val="tx1"/>
                </a:solidFill>
                <a:effectLst/>
                <a:latin typeface="+mn-lt"/>
                <a:ea typeface="+mn-ea"/>
                <a:cs typeface="+mn-cs"/>
              </a:rPr>
              <a:t> Argentina — one of the largest banks in Latin America — went live on Cyberbank Core in just </a:t>
            </a:r>
            <a:r>
              <a:rPr lang="en-IN" sz="1200" b="1" i="0" kern="1200" dirty="0">
                <a:solidFill>
                  <a:schemeClr val="tx1"/>
                </a:solidFill>
                <a:effectLst/>
                <a:latin typeface="+mn-lt"/>
                <a:ea typeface="+mn-ea"/>
                <a:cs typeface="+mn-cs"/>
              </a:rPr>
              <a:t>4 days</a:t>
            </a:r>
            <a:r>
              <a:rPr lang="en-IN" sz="1200" b="0" i="0" kern="1200" dirty="0">
                <a:solidFill>
                  <a:schemeClr val="tx1"/>
                </a:solidFill>
                <a:effectLst/>
                <a:latin typeface="+mn-lt"/>
                <a:ea typeface="+mn-ea"/>
                <a:cs typeface="+mn-cs"/>
              </a:rPr>
              <a:t>. Post-implementation, the bank saw </a:t>
            </a:r>
            <a:r>
              <a:rPr lang="en-IN" sz="1200" b="1" i="0" kern="1200" dirty="0">
                <a:solidFill>
                  <a:schemeClr val="tx1"/>
                </a:solidFill>
                <a:effectLst/>
                <a:latin typeface="+mn-lt"/>
                <a:ea typeface="+mn-ea"/>
                <a:cs typeface="+mn-cs"/>
              </a:rPr>
              <a:t>25% organic client growth</a:t>
            </a:r>
            <a:r>
              <a:rPr lang="en-IN" sz="1200" b="0" i="0" kern="1200" dirty="0">
                <a:solidFill>
                  <a:schemeClr val="tx1"/>
                </a:solidFill>
                <a:effectLst/>
                <a:latin typeface="+mn-lt"/>
                <a:ea typeface="+mn-ea"/>
                <a:cs typeface="+mn-cs"/>
              </a:rPr>
              <a:t>. That is the kind of reference client that attracts other banks. If SoFi can replicate this across 5–10 major banking institutions globally, the technology platform thesis becomes very powerful.</a:t>
            </a:r>
          </a:p>
          <a:p>
            <a:r>
              <a:rPr lang="en-IN" sz="1200" b="1" i="0" kern="1200" dirty="0">
                <a:solidFill>
                  <a:schemeClr val="tx1"/>
                </a:solidFill>
                <a:effectLst/>
                <a:latin typeface="+mn-lt"/>
                <a:ea typeface="+mn-ea"/>
                <a:cs typeface="+mn-cs"/>
              </a:rPr>
              <a:t>MILESTONE THREE: 2025 — Loan Platform Business. Capital-Light.</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The Loan Platform Business scales rapidly: SoFi originates loans using its underwriting technology and brand, but sells them to institutional buyers — insurance companies, asset managers, sovereign wealth funds — generating fee income without retaining the credit risk on its balance sheet. Fee revenue reached </a:t>
            </a:r>
            <a:r>
              <a:rPr lang="en-IN" sz="1200" b="1" i="0" kern="1200" dirty="0">
                <a:solidFill>
                  <a:schemeClr val="tx1"/>
                </a:solidFill>
                <a:effectLst/>
                <a:latin typeface="+mn-lt"/>
                <a:ea typeface="+mn-ea"/>
                <a:cs typeface="+mn-cs"/>
              </a:rPr>
              <a:t>40% plus</a:t>
            </a:r>
            <a:r>
              <a:rPr lang="en-IN" sz="1200" b="0" i="0" kern="1200" dirty="0">
                <a:solidFill>
                  <a:schemeClr val="tx1"/>
                </a:solidFill>
                <a:effectLst/>
                <a:latin typeface="+mn-lt"/>
                <a:ea typeface="+mn-ea"/>
                <a:cs typeface="+mn-cs"/>
              </a:rPr>
              <a:t> of total revenue in FY 2025. This is critically important because it means SoFi is earning money from its lending expertise without requiring ever-larger amounts of balance sheet capital. As the LPB scales, the return on equity improves and the cyclicality of the business decreases.</a:t>
            </a:r>
          </a:p>
          <a:p>
            <a:r>
              <a:rPr lang="en-IN" sz="1200" b="1" i="0" kern="1200" dirty="0">
                <a:solidFill>
                  <a:schemeClr val="tx1"/>
                </a:solidFill>
                <a:effectLst/>
                <a:latin typeface="+mn-lt"/>
                <a:ea typeface="+mn-ea"/>
                <a:cs typeface="+mn-cs"/>
              </a:rPr>
              <a:t>MILESTONE FOUR: 2025 — </a:t>
            </a:r>
            <a:r>
              <a:rPr lang="en-IN" sz="1200" b="1" i="0" kern="1200" dirty="0" err="1">
                <a:solidFill>
                  <a:schemeClr val="tx1"/>
                </a:solidFill>
                <a:effectLst/>
                <a:latin typeface="+mn-lt"/>
                <a:ea typeface="+mn-ea"/>
                <a:cs typeface="+mn-cs"/>
              </a:rPr>
              <a:t>SoFiUSD</a:t>
            </a:r>
            <a:r>
              <a:rPr lang="en-IN" sz="1200" b="1" i="0" kern="1200" dirty="0">
                <a:solidFill>
                  <a:schemeClr val="tx1"/>
                </a:solidFill>
                <a:effectLst/>
                <a:latin typeface="+mn-lt"/>
                <a:ea typeface="+mn-ea"/>
                <a:cs typeface="+mn-cs"/>
              </a:rPr>
              <a:t> Stablecoin. First-of-Kind.</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SoFi becomes the </a:t>
            </a:r>
            <a:r>
              <a:rPr lang="en-IN" sz="1200" b="1" i="0" kern="1200" dirty="0">
                <a:solidFill>
                  <a:schemeClr val="tx1"/>
                </a:solidFill>
                <a:effectLst/>
                <a:latin typeface="+mn-lt"/>
                <a:ea typeface="+mn-ea"/>
                <a:cs typeface="+mn-cs"/>
              </a:rPr>
              <a:t>first US national bank to issue a stablecoin</a:t>
            </a:r>
            <a:r>
              <a:rPr lang="en-IN" sz="1200" b="0" i="0" kern="1200" dirty="0">
                <a:solidFill>
                  <a:schemeClr val="tx1"/>
                </a:solidFill>
                <a:effectLst/>
                <a:latin typeface="+mn-lt"/>
                <a:ea typeface="+mn-ea"/>
                <a:cs typeface="+mn-cs"/>
              </a:rPr>
              <a:t>. This is a genuinely novel position. A stablecoin issued by a FDIC-insured national bank is fundamentally different from a stablecoin issued by a crypto firm, because it carries regulatory legitimacy that competitors cannot claim. CEO Noto has called digital assets a significant new growth area. Crypto trading integration adds a new member acquisition channel, particularly among younger consumers. How large this becomes commercially is unclear — but the first-mover positioning is real.</a:t>
            </a:r>
          </a:p>
          <a:p>
            <a:r>
              <a:rPr lang="en-IN" sz="1200" b="1" i="0" kern="1200" dirty="0">
                <a:solidFill>
                  <a:schemeClr val="tx1"/>
                </a:solidFill>
                <a:effectLst/>
                <a:latin typeface="+mn-lt"/>
                <a:ea typeface="+mn-ea"/>
                <a:cs typeface="+mn-cs"/>
              </a:rPr>
              <a:t>MILESTONE FIVE: Q1 2026 — Big Business Banking. New TAM.</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SoFi launches SMB and commercial banking products targeting the </a:t>
            </a:r>
            <a:r>
              <a:rPr lang="en-IN" sz="1200" b="1" i="0" kern="1200" dirty="0">
                <a:solidFill>
                  <a:schemeClr val="tx1"/>
                </a:solidFill>
                <a:effectLst/>
                <a:latin typeface="+mn-lt"/>
                <a:ea typeface="+mn-ea"/>
                <a:cs typeface="+mn-cs"/>
              </a:rPr>
              <a:t>$3T plus business deposit market</a:t>
            </a:r>
            <a:r>
              <a:rPr lang="en-IN" sz="1200" b="0" i="0" kern="1200" dirty="0">
                <a:solidFill>
                  <a:schemeClr val="tx1"/>
                </a:solidFill>
                <a:effectLst/>
                <a:latin typeface="+mn-lt"/>
                <a:ea typeface="+mn-ea"/>
                <a:cs typeface="+mn-cs"/>
              </a:rPr>
              <a:t>. The SoFi at Work employer benefit integration gives SoFi a corporate relationship channel — companies offer SoFi products as employee benefits, particularly student loan repayment assistance. Commercial lending adds diversification beyond consumer credit. CEO Noto has described this as the </a:t>
            </a:r>
            <a:r>
              <a:rPr lang="en-IN" sz="1200" b="1" i="0" kern="1200" dirty="0">
                <a:solidFill>
                  <a:schemeClr val="tx1"/>
                </a:solidFill>
                <a:effectLst/>
                <a:latin typeface="+mn-lt"/>
                <a:ea typeface="+mn-ea"/>
                <a:cs typeface="+mn-cs"/>
              </a:rPr>
              <a:t>third leg of growth</a:t>
            </a:r>
            <a:r>
              <a:rPr lang="en-IN" sz="1200" b="0" i="0" kern="1200" dirty="0">
                <a:solidFill>
                  <a:schemeClr val="tx1"/>
                </a:solidFill>
                <a:effectLst/>
                <a:latin typeface="+mn-lt"/>
                <a:ea typeface="+mn-ea"/>
                <a:cs typeface="+mn-cs"/>
              </a:rPr>
              <a:t>, after consumer financial services and B2B infrastructure. This is early-stage but potentially very large.</a:t>
            </a:r>
          </a:p>
          <a:p>
            <a:r>
              <a:rPr lang="en-IN" sz="1200" b="1" i="0" kern="1200" dirty="0">
                <a:solidFill>
                  <a:schemeClr val="tx1"/>
                </a:solidFill>
                <a:effectLst/>
                <a:latin typeface="+mn-lt"/>
                <a:ea typeface="+mn-ea"/>
                <a:cs typeface="+mn-cs"/>
              </a:rPr>
              <a:t>MILESTONE SIX: 2026 — Rule of 40 for 18 consecutive Quarters.</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This is the single most important operational metric in the CEO's communication framework. Rule of 40 means: revenue growth rate plus EBITDA margin equals at least 40. This is a software industry benchmark. SoFi has maintained it for </a:t>
            </a:r>
            <a:r>
              <a:rPr lang="en-IN" sz="1200" b="1" i="0" kern="1200" dirty="0">
                <a:solidFill>
                  <a:schemeClr val="tx1"/>
                </a:solidFill>
                <a:effectLst/>
                <a:latin typeface="+mn-lt"/>
                <a:ea typeface="+mn-ea"/>
                <a:cs typeface="+mn-cs"/>
              </a:rPr>
              <a:t>18 straight quarters</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At Q1 2026: revenue growth </a:t>
            </a:r>
            <a:r>
              <a:rPr lang="en-IN" sz="1200" b="1" i="0" kern="1200" dirty="0">
                <a:solidFill>
                  <a:schemeClr val="tx1"/>
                </a:solidFill>
                <a:effectLst/>
                <a:latin typeface="+mn-lt"/>
                <a:ea typeface="+mn-ea"/>
                <a:cs typeface="+mn-cs"/>
              </a:rPr>
              <a:t>41%</a:t>
            </a:r>
            <a:r>
              <a:rPr lang="en-IN" sz="1200" b="0" i="0" kern="1200" dirty="0">
                <a:solidFill>
                  <a:schemeClr val="tx1"/>
                </a:solidFill>
                <a:effectLst/>
                <a:latin typeface="+mn-lt"/>
                <a:ea typeface="+mn-ea"/>
                <a:cs typeface="+mn-cs"/>
              </a:rPr>
              <a:t> plus EBITDA margin </a:t>
            </a:r>
            <a:r>
              <a:rPr lang="en-IN" sz="1200" b="1" i="0" kern="1200" dirty="0">
                <a:solidFill>
                  <a:schemeClr val="tx1"/>
                </a:solidFill>
                <a:effectLst/>
                <a:latin typeface="+mn-lt"/>
                <a:ea typeface="+mn-ea"/>
                <a:cs typeface="+mn-cs"/>
              </a:rPr>
              <a:t>31%</a:t>
            </a:r>
            <a:r>
              <a:rPr lang="en-IN" sz="1200" b="0" i="0" kern="1200" dirty="0">
                <a:solidFill>
                  <a:schemeClr val="tx1"/>
                </a:solidFill>
                <a:effectLst/>
                <a:latin typeface="+mn-lt"/>
                <a:ea typeface="+mn-ea"/>
                <a:cs typeface="+mn-cs"/>
              </a:rPr>
              <a:t> equals </a:t>
            </a:r>
            <a:r>
              <a:rPr lang="en-IN" sz="1200" b="1" i="0" kern="1200" dirty="0">
                <a:solidFill>
                  <a:schemeClr val="tx1"/>
                </a:solidFill>
                <a:effectLst/>
                <a:latin typeface="+mn-lt"/>
                <a:ea typeface="+mn-ea"/>
                <a:cs typeface="+mn-cs"/>
              </a:rPr>
              <a:t>72</a:t>
            </a:r>
            <a:r>
              <a:rPr lang="en-IN" sz="1200" b="0" i="0" kern="1200" dirty="0">
                <a:solidFill>
                  <a:schemeClr val="tx1"/>
                </a:solidFill>
                <a:effectLst/>
                <a:latin typeface="+mn-lt"/>
                <a:ea typeface="+mn-ea"/>
                <a:cs typeface="+mn-cs"/>
              </a:rPr>
              <a:t>. That's a Rule of 40 score of </a:t>
            </a:r>
            <a:r>
              <a:rPr lang="en-IN" sz="1200" b="1" i="0" kern="1200" dirty="0">
                <a:solidFill>
                  <a:schemeClr val="tx1"/>
                </a:solidFill>
                <a:effectLst/>
                <a:latin typeface="+mn-lt"/>
                <a:ea typeface="+mn-ea"/>
                <a:cs typeface="+mn-cs"/>
              </a:rPr>
              <a:t>72</a:t>
            </a:r>
            <a:r>
              <a:rPr lang="en-IN" sz="1200" b="0" i="0" kern="1200" dirty="0">
                <a:solidFill>
                  <a:schemeClr val="tx1"/>
                </a:solidFill>
                <a:effectLst/>
                <a:latin typeface="+mn-lt"/>
                <a:ea typeface="+mn-ea"/>
                <a:cs typeface="+mn-cs"/>
              </a:rPr>
              <a:t>. That is not barely clearing the Rule of 40. That is </a:t>
            </a:r>
            <a:r>
              <a:rPr lang="en-IN" sz="1200" b="1" i="0" kern="1200" dirty="0">
                <a:solidFill>
                  <a:schemeClr val="tx1"/>
                </a:solidFill>
                <a:effectLst/>
                <a:latin typeface="+mn-lt"/>
                <a:ea typeface="+mn-ea"/>
                <a:cs typeface="+mn-cs"/>
              </a:rPr>
              <a:t>dominating</a:t>
            </a:r>
            <a:r>
              <a:rPr lang="en-IN" sz="1200" b="0" i="0" kern="1200" dirty="0">
                <a:solidFill>
                  <a:schemeClr val="tx1"/>
                </a:solidFill>
                <a:effectLst/>
                <a:latin typeface="+mn-lt"/>
                <a:ea typeface="+mn-ea"/>
                <a:cs typeface="+mn-cs"/>
              </a:rPr>
              <a:t> it. The argument CEO Noto makes — and it is a legitimate argument — is that a company maintaining Rule of 40 for 18 consecutive quarters should be valued as a </a:t>
            </a:r>
            <a:r>
              <a:rPr lang="en-IN" sz="1200" b="1" i="0" kern="1200" dirty="0">
                <a:solidFill>
                  <a:schemeClr val="tx1"/>
                </a:solidFill>
                <a:effectLst/>
                <a:latin typeface="+mn-lt"/>
                <a:ea typeface="+mn-ea"/>
                <a:cs typeface="+mn-cs"/>
              </a:rPr>
              <a:t>software company</a:t>
            </a:r>
            <a:r>
              <a:rPr lang="en-IN" sz="1200" b="0" i="0" kern="1200" dirty="0">
                <a:solidFill>
                  <a:schemeClr val="tx1"/>
                </a:solidFill>
                <a:effectLst/>
                <a:latin typeface="+mn-lt"/>
                <a:ea typeface="+mn-ea"/>
                <a:cs typeface="+mn-cs"/>
              </a:rPr>
              <a:t>, not as a bank. If the market accepts that reframing, the multiple rerate is enormous. If the market rejects it and continues to value SoFi as a bank, the stock stays cheap. This is literally the </a:t>
            </a:r>
            <a:r>
              <a:rPr lang="en-IN" sz="1200" b="1" i="0" kern="1200" dirty="0">
                <a:solidFill>
                  <a:schemeClr val="tx1"/>
                </a:solidFill>
                <a:effectLst/>
                <a:latin typeface="+mn-lt"/>
                <a:ea typeface="+mn-ea"/>
                <a:cs typeface="+mn-cs"/>
              </a:rPr>
              <a:t>central valuation question</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SoFi launches new products </a:t>
            </a:r>
            <a:r>
              <a:rPr lang="en-IN" sz="1200" b="1" i="0" kern="1200" dirty="0">
                <a:solidFill>
                  <a:schemeClr val="tx1"/>
                </a:solidFill>
                <a:effectLst/>
                <a:latin typeface="+mn-lt"/>
                <a:ea typeface="+mn-ea"/>
                <a:cs typeface="+mn-cs"/>
              </a:rPr>
              <a:t>4x faster</a:t>
            </a:r>
            <a:r>
              <a:rPr lang="en-IN" sz="1200" b="0" i="0" kern="1200" dirty="0">
                <a:solidFill>
                  <a:schemeClr val="tx1"/>
                </a:solidFill>
                <a:effectLst/>
                <a:latin typeface="+mn-lt"/>
                <a:ea typeface="+mn-ea"/>
                <a:cs typeface="+mn-cs"/>
              </a:rPr>
              <a:t> than traditional banks because it builds everything on its own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and Galileo stack. The CEO's goal: to be every member's </a:t>
            </a:r>
            <a:r>
              <a:rPr lang="en-IN" sz="1200" b="1" i="0" kern="1200" dirty="0">
                <a:solidFill>
                  <a:schemeClr val="tx1"/>
                </a:solidFill>
                <a:effectLst/>
                <a:latin typeface="+mn-lt"/>
                <a:ea typeface="+mn-ea"/>
                <a:cs typeface="+mn-cs"/>
              </a:rPr>
              <a:t>primary financial app</a:t>
            </a:r>
            <a:r>
              <a:rPr lang="en-IN" sz="1200" b="0" i="0" kern="1200" dirty="0">
                <a:solidFill>
                  <a:schemeClr val="tx1"/>
                </a:solidFill>
                <a:effectLst/>
                <a:latin typeface="+mn-lt"/>
                <a:ea typeface="+mn-ea"/>
                <a:cs typeface="+mn-cs"/>
              </a:rPr>
              <a:t> across borrowing, saving, investing, spending, and protection.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us go deeper on the member economics — because the quality of the membership base is as important as the quantity."]</a:t>
            </a:r>
          </a:p>
          <a:p>
            <a:r>
              <a:rPr lang="en-IN" sz="1200" b="0" i="0" kern="1200" dirty="0">
                <a:solidFill>
                  <a:schemeClr val="tx1"/>
                </a:solidFill>
                <a:effectLst/>
                <a:latin typeface="+mn-lt"/>
                <a:ea typeface="+mn-ea"/>
                <a:cs typeface="+mn-cs"/>
              </a:rPr>
              <a:t>SLIDE 8 — MEMBER METRICS &amp; UNIT ECONOMICS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5: MEMBER METRICS, UNIT ECONOMICS &amp; GEOGRAPHIC PROFILE"</a:t>
            </a:r>
          </a:p>
          <a:p>
            <a:r>
              <a:rPr lang="en-IN" sz="1200" b="0" i="0" kern="1200" dirty="0">
                <a:solidFill>
                  <a:schemeClr val="tx1"/>
                </a:solidFill>
                <a:effectLst/>
                <a:latin typeface="+mn-lt"/>
                <a:ea typeface="+mn-ea"/>
                <a:cs typeface="+mn-cs"/>
              </a:rPr>
              <a:t>[PRECISE, ANALYTICAL — SPEND 4-5 MINUTES HERE]</a:t>
            </a:r>
          </a:p>
          <a:p>
            <a:r>
              <a:rPr lang="en-IN" sz="1200" b="0" i="0" kern="1200" dirty="0">
                <a:solidFill>
                  <a:schemeClr val="tx1"/>
                </a:solidFill>
                <a:effectLst/>
                <a:latin typeface="+mn-lt"/>
                <a:ea typeface="+mn-ea"/>
                <a:cs typeface="+mn-cs"/>
              </a:rPr>
              <a:t>The numbers:</a:t>
            </a:r>
          </a:p>
          <a:p>
            <a:r>
              <a:rPr lang="en-IN" sz="1200" b="1" i="0" kern="1200" dirty="0">
                <a:solidFill>
                  <a:schemeClr val="tx1"/>
                </a:solidFill>
                <a:effectLst/>
                <a:latin typeface="+mn-lt"/>
                <a:ea typeface="+mn-ea"/>
                <a:cs typeface="+mn-cs"/>
              </a:rPr>
              <a:t>Total Members: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14.7M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Up 35%</a:t>
            </a:r>
            <a:r>
              <a:rPr lang="en-IN" sz="1200" b="0" i="0" kern="1200" dirty="0">
                <a:solidFill>
                  <a:schemeClr val="tx1"/>
                </a:solidFill>
                <a:effectLst/>
                <a:latin typeface="+mn-lt"/>
                <a:ea typeface="+mn-ea"/>
                <a:cs typeface="+mn-cs"/>
              </a:rPr>
              <a:t> year over year.</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Total Products: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22.2M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Up 39%</a:t>
            </a:r>
            <a:r>
              <a:rPr lang="en-IN" sz="1200" b="0" i="0" kern="1200" dirty="0">
                <a:solidFill>
                  <a:schemeClr val="tx1"/>
                </a:solidFill>
                <a:effectLst/>
                <a:latin typeface="+mn-lt"/>
                <a:ea typeface="+mn-ea"/>
                <a:cs typeface="+mn-cs"/>
              </a:rPr>
              <a:t> year over year. </a:t>
            </a:r>
            <a:r>
              <a:rPr lang="en-IN" sz="1200" b="1" i="0" kern="1200" dirty="0">
                <a:solidFill>
                  <a:schemeClr val="tx1"/>
                </a:solidFill>
                <a:effectLst/>
                <a:latin typeface="+mn-lt"/>
                <a:ea typeface="+mn-ea"/>
                <a:cs typeface="+mn-cs"/>
              </a:rPr>
              <a:t>1.5 one</a:t>
            </a:r>
            <a:r>
              <a:rPr lang="en-IN" sz="1200" b="0" i="0" kern="1200" dirty="0">
                <a:solidFill>
                  <a:schemeClr val="tx1"/>
                </a:solidFill>
                <a:effectLst/>
                <a:latin typeface="+mn-lt"/>
                <a:ea typeface="+mn-ea"/>
                <a:cs typeface="+mn-cs"/>
              </a:rPr>
              <a:t> products per member.</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New Members Added in Q1:</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1.055M</a:t>
            </a:r>
            <a:r>
              <a:rPr lang="en-IN" sz="1200" b="0" i="0" kern="1200" dirty="0">
                <a:solidFill>
                  <a:schemeClr val="tx1"/>
                </a:solidFill>
                <a:effectLst/>
                <a:latin typeface="+mn-lt"/>
                <a:ea typeface="+mn-ea"/>
                <a:cs typeface="+mn-cs"/>
              </a:rPr>
              <a:t>. A record.</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Products From Existing Members: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43%</a:t>
            </a:r>
            <a:r>
              <a:rPr lang="en-IN" sz="1200" b="0" i="0" kern="1200" dirty="0">
                <a:solidFill>
                  <a:schemeClr val="tx1"/>
                </a:solidFill>
                <a:effectLst/>
                <a:latin typeface="+mn-lt"/>
                <a:ea typeface="+mn-ea"/>
                <a:cs typeface="+mn-cs"/>
              </a:rPr>
              <a:t>. This is the cross-sell metric.</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Average FICO Score:</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748</a:t>
            </a:r>
            <a:r>
              <a:rPr lang="en-IN" sz="1200" b="0" i="0" kern="1200" dirty="0">
                <a:solidFill>
                  <a:schemeClr val="tx1"/>
                </a:solidFill>
                <a:effectLst/>
                <a:latin typeface="+mn-lt"/>
                <a:ea typeface="+mn-ea"/>
                <a:cs typeface="+mn-cs"/>
              </a:rPr>
              <a:t> for personal loan borrowers.</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SoFi Bank Net Interest Margin:</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Let me spend a moment on the </a:t>
            </a:r>
            <a:r>
              <a:rPr lang="en-IN" sz="1200" b="1" i="0" kern="1200" dirty="0">
                <a:solidFill>
                  <a:schemeClr val="tx1"/>
                </a:solidFill>
                <a:effectLst/>
                <a:latin typeface="+mn-lt"/>
                <a:ea typeface="+mn-ea"/>
                <a:cs typeface="+mn-cs"/>
              </a:rPr>
              <a:t>FICO number</a:t>
            </a:r>
            <a:r>
              <a:rPr lang="en-IN" sz="1200" b="0" i="0" kern="1200" dirty="0">
                <a:solidFill>
                  <a:schemeClr val="tx1"/>
                </a:solidFill>
                <a:effectLst/>
                <a:latin typeface="+mn-lt"/>
                <a:ea typeface="+mn-ea"/>
                <a:cs typeface="+mn-cs"/>
              </a:rPr>
              <a:t> because it is central to the credit quality thesis.</a:t>
            </a:r>
          </a:p>
          <a:p>
            <a:r>
              <a:rPr lang="en-IN" sz="1200" b="0" i="0" kern="1200" dirty="0">
                <a:solidFill>
                  <a:schemeClr val="tx1"/>
                </a:solidFill>
                <a:effectLst/>
                <a:latin typeface="+mn-lt"/>
                <a:ea typeface="+mn-ea"/>
                <a:cs typeface="+mn-cs"/>
              </a:rPr>
              <a:t>A FICO score of </a:t>
            </a:r>
            <a:r>
              <a:rPr lang="en-IN" sz="1200" b="1" i="0" kern="1200" dirty="0">
                <a:solidFill>
                  <a:schemeClr val="tx1"/>
                </a:solidFill>
                <a:effectLst/>
                <a:latin typeface="+mn-lt"/>
                <a:ea typeface="+mn-ea"/>
                <a:cs typeface="+mn-cs"/>
              </a:rPr>
              <a:t>748</a:t>
            </a:r>
            <a:r>
              <a:rPr lang="en-IN" sz="1200" b="0" i="0" kern="1200" dirty="0">
                <a:solidFill>
                  <a:schemeClr val="tx1"/>
                </a:solidFill>
                <a:effectLst/>
                <a:latin typeface="+mn-lt"/>
                <a:ea typeface="+mn-ea"/>
                <a:cs typeface="+mn-cs"/>
              </a:rPr>
              <a:t> is solidly in "good" to "very good" territory. These are not subprime borrowers. These are </a:t>
            </a:r>
            <a:r>
              <a:rPr lang="en-IN" sz="1200" b="1" i="0" kern="1200" dirty="0">
                <a:solidFill>
                  <a:schemeClr val="tx1"/>
                </a:solidFill>
                <a:effectLst/>
                <a:latin typeface="+mn-lt"/>
                <a:ea typeface="+mn-ea"/>
                <a:cs typeface="+mn-cs"/>
              </a:rPr>
              <a:t>HENRYs</a:t>
            </a:r>
            <a:r>
              <a:rPr lang="en-IN" sz="1200" b="0" i="0" kern="1200" dirty="0">
                <a:solidFill>
                  <a:schemeClr val="tx1"/>
                </a:solidFill>
                <a:effectLst/>
                <a:latin typeface="+mn-lt"/>
                <a:ea typeface="+mn-ea"/>
                <a:cs typeface="+mn-cs"/>
              </a:rPr>
              <a:t> — High Earners Not Rich Yet. Professionals. Graduates. People who have managed their credit responsibly but have not yet built the wealth to avoid needing consumer credit. This demographic is lucrative precisely because they have high income, stable employment, and low default risk — but they still need to borrow for home purchases, life events, and refinancing.</a:t>
            </a:r>
          </a:p>
          <a:p>
            <a:r>
              <a:rPr lang="en-IN" sz="1200" b="0" i="0" kern="1200" dirty="0">
                <a:solidFill>
                  <a:schemeClr val="tx1"/>
                </a:solidFill>
                <a:effectLst/>
                <a:latin typeface="+mn-lt"/>
                <a:ea typeface="+mn-ea"/>
                <a:cs typeface="+mn-cs"/>
              </a:rPr>
              <a:t>Now the revenue mix:</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Lending:</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$642M**. **58%** of Q1 revenue.</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**Financial Services:** **$428M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39%</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Technology Platform: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$75M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7%</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The trend within this mix is the key story. Lending, as the largest segment, is growing fast — but financial services is growing at comparable rates and is more fee-based. The longer-term ambition is for financial services and technology to become larger portions of the mix, reducing the company's sensitivity to the interest rate cycle.</a:t>
            </a:r>
          </a:p>
          <a:p>
            <a:r>
              <a:rPr lang="en-IN" sz="1200" b="0" i="0" kern="1200" dirty="0">
                <a:solidFill>
                  <a:schemeClr val="tx1"/>
                </a:solidFill>
                <a:effectLst/>
                <a:latin typeface="+mn-lt"/>
                <a:ea typeface="+mn-ea"/>
                <a:cs typeface="+mn-cs"/>
              </a:rPr>
              <a:t>Now three unit economics points I want to highlight:</a:t>
            </a:r>
          </a:p>
          <a:p>
            <a:r>
              <a:rPr lang="en-IN" sz="1200" b="1" i="0" kern="1200" dirty="0">
                <a:solidFill>
                  <a:schemeClr val="tx1"/>
                </a:solidFill>
                <a:effectLst/>
                <a:latin typeface="+mn-lt"/>
                <a:ea typeface="+mn-ea"/>
                <a:cs typeface="+mn-cs"/>
              </a:rPr>
              <a:t>STRENGTH ONE:</a:t>
            </a:r>
            <a:r>
              <a:rPr lang="en-IN" sz="1200" b="0" i="0" kern="1200" dirty="0">
                <a:solidFill>
                  <a:schemeClr val="tx1"/>
                </a:solidFill>
                <a:effectLst/>
                <a:latin typeface="+mn-lt"/>
                <a:ea typeface="+mn-ea"/>
                <a:cs typeface="+mn-cs"/>
              </a:rPr>
              <a:t> Net interest margin of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 more than double traditional banks.</a:t>
            </a:r>
          </a:p>
          <a:p>
            <a:r>
              <a:rPr lang="en-IN" sz="1200" b="0" i="0" kern="1200" dirty="0">
                <a:solidFill>
                  <a:schemeClr val="tx1"/>
                </a:solidFill>
                <a:effectLst/>
                <a:latin typeface="+mn-lt"/>
                <a:ea typeface="+mn-ea"/>
                <a:cs typeface="+mn-cs"/>
              </a:rPr>
              <a:t>SoFi's deposit cost is approximately </a:t>
            </a:r>
            <a:r>
              <a:rPr lang="en-IN" sz="1200" b="1" i="0" kern="1200" dirty="0">
                <a:solidFill>
                  <a:schemeClr val="tx1"/>
                </a:solidFill>
                <a:effectLst/>
                <a:latin typeface="+mn-lt"/>
                <a:ea typeface="+mn-ea"/>
                <a:cs typeface="+mn-cs"/>
              </a:rPr>
              <a:t>1.2%</a:t>
            </a:r>
            <a:r>
              <a:rPr lang="en-IN" sz="1200" b="0" i="0" kern="1200" dirty="0">
                <a:solidFill>
                  <a:schemeClr val="tx1"/>
                </a:solidFill>
                <a:effectLst/>
                <a:latin typeface="+mn-lt"/>
                <a:ea typeface="+mn-ea"/>
                <a:cs typeface="+mn-cs"/>
              </a:rPr>
              <a:t>. They lend at rates generating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net interest margin. JPMorgan Chase's NIM is approximately </a:t>
            </a:r>
            <a:r>
              <a:rPr lang="en-IN" sz="1200" b="1" i="0" kern="1200" dirty="0">
                <a:solidFill>
                  <a:schemeClr val="tx1"/>
                </a:solidFill>
                <a:effectLst/>
                <a:latin typeface="+mn-lt"/>
                <a:ea typeface="+mn-ea"/>
                <a:cs typeface="+mn-cs"/>
              </a:rPr>
              <a:t>2.8%</a:t>
            </a:r>
            <a:r>
              <a:rPr lang="en-IN" sz="1200" b="0" i="0" kern="1200" dirty="0">
                <a:solidFill>
                  <a:schemeClr val="tx1"/>
                </a:solidFill>
                <a:effectLst/>
                <a:latin typeface="+mn-lt"/>
                <a:ea typeface="+mn-ea"/>
                <a:cs typeface="+mn-cs"/>
              </a:rPr>
              <a:t>. That spread advantage — roughly </a:t>
            </a:r>
            <a:r>
              <a:rPr lang="en-IN" sz="1200" b="1" i="0" kern="1200" dirty="0">
                <a:solidFill>
                  <a:schemeClr val="tx1"/>
                </a:solidFill>
                <a:effectLst/>
                <a:latin typeface="+mn-lt"/>
                <a:ea typeface="+mn-ea"/>
                <a:cs typeface="+mn-cs"/>
              </a:rPr>
              <a:t>3 percentage points</a:t>
            </a:r>
            <a:r>
              <a:rPr lang="en-IN" sz="1200" b="0" i="0" kern="1200" dirty="0">
                <a:solidFill>
                  <a:schemeClr val="tx1"/>
                </a:solidFill>
                <a:effectLst/>
                <a:latin typeface="+mn-lt"/>
                <a:ea typeface="+mn-ea"/>
                <a:cs typeface="+mn-cs"/>
              </a:rPr>
              <a:t> — is structural and is directly attributable to the national bank charter. Every deposit dollar SoFi collects generates roughly </a:t>
            </a:r>
            <a:r>
              <a:rPr lang="en-IN" sz="1200" b="1" i="0" kern="1200" dirty="0">
                <a:solidFill>
                  <a:schemeClr val="tx1"/>
                </a:solidFill>
                <a:effectLst/>
                <a:latin typeface="+mn-lt"/>
                <a:ea typeface="+mn-ea"/>
                <a:cs typeface="+mn-cs"/>
              </a:rPr>
              <a:t>twice</a:t>
            </a:r>
            <a:r>
              <a:rPr lang="en-IN" sz="1200" b="0" i="0" kern="1200" dirty="0">
                <a:solidFill>
                  <a:schemeClr val="tx1"/>
                </a:solidFill>
                <a:effectLst/>
                <a:latin typeface="+mn-lt"/>
                <a:ea typeface="+mn-ea"/>
                <a:cs typeface="+mn-cs"/>
              </a:rPr>
              <a:t> the net interest income of a dollar collected by JPMorgan. This is not a temporary advantage. It is built into the regulatory structure of the business.</a:t>
            </a:r>
          </a:p>
          <a:p>
            <a:r>
              <a:rPr lang="en-IN" sz="1200" b="1" i="0" kern="1200" dirty="0">
                <a:solidFill>
                  <a:schemeClr val="tx1"/>
                </a:solidFill>
                <a:effectLst/>
                <a:latin typeface="+mn-lt"/>
                <a:ea typeface="+mn-ea"/>
                <a:cs typeface="+mn-cs"/>
              </a:rPr>
              <a:t>STRENGTH TWO:</a:t>
            </a:r>
            <a:r>
              <a:rPr lang="en-IN" sz="1200" b="0" i="0" kern="1200" dirty="0">
                <a:solidFill>
                  <a:schemeClr val="tx1"/>
                </a:solidFill>
                <a:effectLst/>
                <a:latin typeface="+mn-lt"/>
                <a:ea typeface="+mn-ea"/>
                <a:cs typeface="+mn-cs"/>
              </a:rPr>
              <a:t> FICO </a:t>
            </a:r>
            <a:r>
              <a:rPr lang="en-IN" sz="1200" b="1" i="0" kern="1200" dirty="0">
                <a:solidFill>
                  <a:schemeClr val="tx1"/>
                </a:solidFill>
                <a:effectLst/>
                <a:latin typeface="+mn-lt"/>
                <a:ea typeface="+mn-ea"/>
                <a:cs typeface="+mn-cs"/>
              </a:rPr>
              <a:t>748</a:t>
            </a:r>
            <a:r>
              <a:rPr lang="en-IN" sz="1200" b="0" i="0" kern="1200" dirty="0">
                <a:solidFill>
                  <a:schemeClr val="tx1"/>
                </a:solidFill>
                <a:effectLst/>
                <a:latin typeface="+mn-lt"/>
                <a:ea typeface="+mn-ea"/>
                <a:cs typeface="+mn-cs"/>
              </a:rPr>
              <a:t> average. Credit quality moat.</a:t>
            </a:r>
          </a:p>
          <a:p>
            <a:r>
              <a:rPr lang="en-IN" sz="1200" b="0" i="0" kern="1200" dirty="0">
                <a:solidFill>
                  <a:schemeClr val="tx1"/>
                </a:solidFill>
                <a:effectLst/>
                <a:latin typeface="+mn-lt"/>
                <a:ea typeface="+mn-ea"/>
                <a:cs typeface="+mn-cs"/>
              </a:rPr>
              <a:t>Q1 personal loan net charge-off rate: </a:t>
            </a:r>
            <a:r>
              <a:rPr lang="en-IN" sz="1200" b="1" i="0" kern="1200" dirty="0">
                <a:solidFill>
                  <a:schemeClr val="tx1"/>
                </a:solidFill>
                <a:effectLst/>
                <a:latin typeface="+mn-lt"/>
                <a:ea typeface="+mn-ea"/>
                <a:cs typeface="+mn-cs"/>
              </a:rPr>
              <a:t>3.37%</a:t>
            </a:r>
            <a:r>
              <a:rPr lang="en-IN" sz="1200" b="0" i="0" kern="1200" dirty="0">
                <a:solidFill>
                  <a:schemeClr val="tx1"/>
                </a:solidFill>
                <a:effectLst/>
                <a:latin typeface="+mn-lt"/>
                <a:ea typeface="+mn-ea"/>
                <a:cs typeface="+mn-cs"/>
              </a:rPr>
              <a:t> — and declining from prior quarters. 90-day delinquency rate: </a:t>
            </a:r>
            <a:r>
              <a:rPr lang="en-IN" sz="1200" b="1" i="0" kern="1200" dirty="0">
                <a:solidFill>
                  <a:schemeClr val="tx1"/>
                </a:solidFill>
                <a:effectLst/>
                <a:latin typeface="+mn-lt"/>
                <a:ea typeface="+mn-ea"/>
                <a:cs typeface="+mn-cs"/>
              </a:rPr>
              <a:t>0.55%</a:t>
            </a:r>
            <a:r>
              <a:rPr lang="en-IN" sz="1200" b="0" i="0" kern="1200" dirty="0">
                <a:solidFill>
                  <a:schemeClr val="tx1"/>
                </a:solidFill>
                <a:effectLst/>
                <a:latin typeface="+mn-lt"/>
                <a:ea typeface="+mn-ea"/>
                <a:cs typeface="+mn-cs"/>
              </a:rPr>
              <a:t>. The 2020 to 2025 loan cohort has maintained cumulative net losses below the </a:t>
            </a:r>
            <a:r>
              <a:rPr lang="en-IN" sz="1200" b="1" i="0" kern="1200" dirty="0">
                <a:solidFill>
                  <a:schemeClr val="tx1"/>
                </a:solidFill>
                <a:effectLst/>
                <a:latin typeface="+mn-lt"/>
                <a:ea typeface="+mn-ea"/>
                <a:cs typeface="+mn-cs"/>
              </a:rPr>
              <a:t>8% tolerance</a:t>
            </a:r>
            <a:r>
              <a:rPr lang="en-IN" sz="1200" b="0" i="0" kern="1200" dirty="0">
                <a:solidFill>
                  <a:schemeClr val="tx1"/>
                </a:solidFill>
                <a:effectLst/>
                <a:latin typeface="+mn-lt"/>
                <a:ea typeface="+mn-ea"/>
                <a:cs typeface="+mn-cs"/>
              </a:rPr>
              <a:t> that SoFi uses as its underwriting ceiling. High FICO borrowers default at lower rates, which allows SoFi to price aggressively while maintaining credit quality. It is a virtuous cycle.</a:t>
            </a:r>
          </a:p>
          <a:p>
            <a:r>
              <a:rPr lang="en-IN" sz="1200" b="1" i="0" kern="1200" dirty="0">
                <a:solidFill>
                  <a:schemeClr val="tx1"/>
                </a:solidFill>
                <a:effectLst/>
                <a:latin typeface="+mn-lt"/>
                <a:ea typeface="+mn-ea"/>
                <a:cs typeface="+mn-cs"/>
              </a:rPr>
              <a:t>WATCH:</a:t>
            </a:r>
            <a:r>
              <a:rPr lang="en-IN" sz="1200" b="0" i="0" kern="1200" dirty="0">
                <a:solidFill>
                  <a:schemeClr val="tx1"/>
                </a:solidFill>
                <a:effectLst/>
                <a:latin typeface="+mn-lt"/>
                <a:ea typeface="+mn-ea"/>
                <a:cs typeface="+mn-cs"/>
              </a:rPr>
              <a:t> Q1 net charge-offs of </a:t>
            </a:r>
            <a:r>
              <a:rPr lang="en-IN" sz="1200" b="1" i="0" kern="1200" dirty="0">
                <a:solidFill>
                  <a:schemeClr val="tx1"/>
                </a:solidFill>
                <a:effectLst/>
                <a:latin typeface="+mn-lt"/>
                <a:ea typeface="+mn-ea"/>
                <a:cs typeface="+mn-cs"/>
              </a:rPr>
              <a:t>$201.6M</a:t>
            </a:r>
            <a:r>
              <a:rPr lang="en-IN" sz="1200" b="0" i="0" kern="1200" dirty="0">
                <a:solidFill>
                  <a:schemeClr val="tx1"/>
                </a:solidFill>
                <a:effectLst/>
                <a:latin typeface="+mn-lt"/>
                <a:ea typeface="+mn-ea"/>
                <a:cs typeface="+mn-cs"/>
              </a:rPr>
              <a:t> — elevated year over year.</a:t>
            </a:r>
          </a:p>
          <a:p>
            <a:r>
              <a:rPr lang="en-IN" sz="1200" b="0" i="0" kern="1200" dirty="0">
                <a:solidFill>
                  <a:schemeClr val="tx1"/>
                </a:solidFill>
                <a:effectLst/>
                <a:latin typeface="+mn-lt"/>
                <a:ea typeface="+mn-ea"/>
                <a:cs typeface="+mn-cs"/>
              </a:rPr>
              <a:t>Even as delinquency rates are improving, absolute charge-offs rose year over year in Q1 2026. Keefe Bruyette analysts had flagged early credit cracks in securitizations before Q1 results. This needs to be monitored carefully. If charge-off rates push above </a:t>
            </a:r>
            <a:r>
              <a:rPr lang="en-IN" sz="1200" b="1" i="0" kern="1200" dirty="0">
                <a:solidFill>
                  <a:schemeClr val="tx1"/>
                </a:solidFill>
                <a:effectLst/>
                <a:latin typeface="+mn-lt"/>
                <a:ea typeface="+mn-ea"/>
                <a:cs typeface="+mn-cs"/>
              </a:rPr>
              <a:t>three point five to 4%</a:t>
            </a:r>
            <a:r>
              <a:rPr lang="en-IN" sz="1200" b="0" i="0" kern="1200" dirty="0">
                <a:solidFill>
                  <a:schemeClr val="tx1"/>
                </a:solidFill>
                <a:effectLst/>
                <a:latin typeface="+mn-lt"/>
                <a:ea typeface="+mn-ea"/>
                <a:cs typeface="+mn-cs"/>
              </a:rPr>
              <a:t>, that would put meaningful pressure on the lending economics. In a macroeconomic downturn, this is the most likely pressure point.</a:t>
            </a:r>
          </a:p>
          <a:p>
            <a:r>
              <a:rPr lang="en-IN" sz="1200" b="1" i="0" kern="1200" dirty="0">
                <a:solidFill>
                  <a:schemeClr val="tx1"/>
                </a:solidFill>
                <a:effectLst/>
                <a:latin typeface="+mn-lt"/>
                <a:ea typeface="+mn-ea"/>
                <a:cs typeface="+mn-cs"/>
              </a:rPr>
              <a:t>RISK:</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No Federal Reserve rate cuts</a:t>
            </a:r>
            <a:r>
              <a:rPr lang="en-IN" sz="1200" b="0" i="0" kern="1200" dirty="0">
                <a:solidFill>
                  <a:schemeClr val="tx1"/>
                </a:solidFill>
                <a:effectLst/>
                <a:latin typeface="+mn-lt"/>
                <a:ea typeface="+mn-ea"/>
                <a:cs typeface="+mn-cs"/>
              </a:rPr>
              <a:t> now assumed for 2026.</a:t>
            </a:r>
          </a:p>
          <a:p>
            <a:r>
              <a:rPr lang="en-IN" sz="1200" b="0" i="0" kern="1200" dirty="0">
                <a:solidFill>
                  <a:schemeClr val="tx1"/>
                </a:solidFill>
                <a:effectLst/>
                <a:latin typeface="+mn-lt"/>
                <a:ea typeface="+mn-ea"/>
                <a:cs typeface="+mn-cs"/>
              </a:rPr>
              <a:t>CEO Noto was explicit on the Q1 2026 earnings call. The original FY 2026 guidance had assumed </a:t>
            </a:r>
            <a:r>
              <a:rPr lang="en-IN" sz="1200" b="1" i="0" kern="1200" dirty="0">
                <a:solidFill>
                  <a:schemeClr val="tx1"/>
                </a:solidFill>
                <a:effectLst/>
                <a:latin typeface="+mn-lt"/>
                <a:ea typeface="+mn-ea"/>
                <a:cs typeface="+mn-cs"/>
              </a:rPr>
              <a:t>2+ Fed rate cuts</a:t>
            </a:r>
            <a:r>
              <a:rPr lang="en-IN" sz="1200" b="0" i="0" kern="1200" dirty="0">
                <a:solidFill>
                  <a:schemeClr val="tx1"/>
                </a:solidFill>
                <a:effectLst/>
                <a:latin typeface="+mn-lt"/>
                <a:ea typeface="+mn-ea"/>
                <a:cs typeface="+mn-cs"/>
              </a:rPr>
              <a:t>. After Q1, he held guidance flat — not raised it despite the beat — because those rate cuts are no longer expected. </a:t>
            </a:r>
            <a:r>
              <a:rPr lang="en-IN" sz="1200" b="1" i="0" kern="1200" dirty="0">
                <a:solidFill>
                  <a:schemeClr val="tx1"/>
                </a:solidFill>
                <a:effectLst/>
                <a:latin typeface="+mn-lt"/>
                <a:ea typeface="+mn-ea"/>
                <a:cs typeface="+mn-cs"/>
              </a:rPr>
              <a:t>Higher rates for longer</a:t>
            </a:r>
            <a:r>
              <a:rPr lang="en-IN" sz="1200" b="0" i="0" kern="1200" dirty="0">
                <a:solidFill>
                  <a:schemeClr val="tx1"/>
                </a:solidFill>
                <a:effectLst/>
                <a:latin typeface="+mn-lt"/>
                <a:ea typeface="+mn-ea"/>
                <a:cs typeface="+mn-cs"/>
              </a:rPr>
              <a:t> suppress loan demand, particularly in mortgage and student loan refinancing. This macro headwind is real and is one of the primary reasons the stock has not rerated despite strong operating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"Who is running this company? And do we trust them? Let us look at management and governance."]</a:t>
            </a:r>
          </a:p>
          <a:p>
            <a:r>
              <a:rPr lang="en-IN" sz="1200" b="0" i="0" kern="1200" dirty="0">
                <a:solidFill>
                  <a:schemeClr val="tx1"/>
                </a:solidFill>
                <a:effectLst/>
                <a:latin typeface="+mn-lt"/>
                <a:ea typeface="+mn-ea"/>
                <a:cs typeface="+mn-cs"/>
              </a:rPr>
              <a:t>SLIDE 9 — MANAGEMENT, GOVERNANCE &amp; CAPITAL ALLOCATION</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6: MANAGEMENT, GOVERNANCE &amp; CAPITAL ALLOCATION"</a:t>
            </a:r>
          </a:p>
          <a:p>
            <a:r>
              <a:rPr lang="en-IN" sz="1200" b="0" i="0" kern="1200" dirty="0">
                <a:solidFill>
                  <a:schemeClr val="tx1"/>
                </a:solidFill>
                <a:effectLst/>
                <a:latin typeface="+mn-lt"/>
                <a:ea typeface="+mn-ea"/>
                <a:cs typeface="+mn-cs"/>
              </a:rPr>
              <a:t>[THOUGHTFUL, EVALUATIVE — SPEND 4-5 MINUTES HERE]</a:t>
            </a:r>
          </a:p>
          <a:p>
            <a:r>
              <a:rPr lang="en-IN" sz="1200" b="1" i="0" kern="1200" dirty="0">
                <a:solidFill>
                  <a:schemeClr val="tx1"/>
                </a:solidFill>
                <a:effectLst/>
                <a:latin typeface="+mn-lt"/>
                <a:ea typeface="+mn-ea"/>
                <a:cs typeface="+mn-cs"/>
              </a:rPr>
              <a:t>Anthony Noto.</a:t>
            </a:r>
            <a:r>
              <a:rPr lang="en-IN" sz="1200" b="0" i="0" kern="1200" dirty="0">
                <a:solidFill>
                  <a:schemeClr val="tx1"/>
                </a:solidFill>
                <a:effectLst/>
                <a:latin typeface="+mn-lt"/>
                <a:ea typeface="+mn-ea"/>
                <a:cs typeface="+mn-cs"/>
              </a:rPr>
              <a:t> CEO since January 2018. Former Goldman Sachs Chief Financial Officer. Former Twitter Chief Operating Officer. Former NFL Chief Financial Officer.</a:t>
            </a:r>
          </a:p>
          <a:p>
            <a:r>
              <a:rPr lang="en-IN" sz="1200" b="0" i="0" kern="1200" dirty="0">
                <a:solidFill>
                  <a:schemeClr val="tx1"/>
                </a:solidFill>
                <a:effectLst/>
                <a:latin typeface="+mn-lt"/>
                <a:ea typeface="+mn-ea"/>
                <a:cs typeface="+mn-cs"/>
              </a:rPr>
              <a:t>This is an unusual background for a fintech CEO. He is not a technologist who built a product. He is a capital markets and operations professional who transformed an organisation. And by the operational record — </a:t>
            </a:r>
            <a:r>
              <a:rPr lang="en-IN" sz="1200" b="1" i="0" kern="1200" dirty="0">
                <a:solidFill>
                  <a:schemeClr val="tx1"/>
                </a:solidFill>
                <a:effectLst/>
                <a:latin typeface="+mn-lt"/>
                <a:ea typeface="+mn-ea"/>
                <a:cs typeface="+mn-cs"/>
              </a:rPr>
              <a:t>18 consecutive Rule of 40 quarters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ten straight GAAP profitable quarters</a:t>
            </a:r>
            <a:r>
              <a:rPr lang="en-IN" sz="1200" b="0" i="0" kern="1200" dirty="0">
                <a:solidFill>
                  <a:schemeClr val="tx1"/>
                </a:solidFill>
                <a:effectLst/>
                <a:latin typeface="+mn-lt"/>
                <a:ea typeface="+mn-ea"/>
                <a:cs typeface="+mn-cs"/>
              </a:rPr>
              <a:t>, revenue tripled in 4 years — the transformation has been real.</a:t>
            </a:r>
          </a:p>
          <a:p>
            <a:r>
              <a:rPr lang="en-IN" sz="1200" b="0" i="0" kern="1200" dirty="0">
                <a:solidFill>
                  <a:schemeClr val="tx1"/>
                </a:solidFill>
                <a:effectLst/>
                <a:latin typeface="+mn-lt"/>
                <a:ea typeface="+mn-ea"/>
                <a:cs typeface="+mn-cs"/>
              </a:rPr>
              <a:t>But here is the number that I find most compelling as a signal of CEO conviction: Anthony Noto owns approximately </a:t>
            </a:r>
            <a:r>
              <a:rPr lang="en-IN" sz="1200" b="1" i="0" kern="1200" dirty="0">
                <a:solidFill>
                  <a:schemeClr val="tx1"/>
                </a:solidFill>
                <a:effectLst/>
                <a:latin typeface="+mn-lt"/>
                <a:ea typeface="+mn-ea"/>
                <a:cs typeface="+mn-cs"/>
              </a:rPr>
              <a:t>2%</a:t>
            </a:r>
            <a:r>
              <a:rPr lang="en-IN" sz="1200" b="0" i="0" kern="1200" dirty="0">
                <a:solidFill>
                  <a:schemeClr val="tx1"/>
                </a:solidFill>
                <a:effectLst/>
                <a:latin typeface="+mn-lt"/>
                <a:ea typeface="+mn-ea"/>
                <a:cs typeface="+mn-cs"/>
              </a:rPr>
              <a:t> of SoFi Technologies — approximately </a:t>
            </a:r>
            <a:r>
              <a:rPr lang="en-IN" sz="1200" b="1" i="0" kern="1200" dirty="0">
                <a:solidFill>
                  <a:schemeClr val="tx1"/>
                </a:solidFill>
                <a:effectLst/>
                <a:latin typeface="+mn-lt"/>
                <a:ea typeface="+mn-ea"/>
                <a:cs typeface="+mn-cs"/>
              </a:rPr>
              <a:t>$215M</a:t>
            </a:r>
            <a:r>
              <a:rPr lang="en-IN" sz="1200" b="0" i="0" kern="1200" dirty="0">
                <a:solidFill>
                  <a:schemeClr val="tx1"/>
                </a:solidFill>
                <a:effectLst/>
                <a:latin typeface="+mn-lt"/>
                <a:ea typeface="+mn-ea"/>
                <a:cs typeface="+mn-cs"/>
              </a:rPr>
              <a:t> at a fifteen dollar stock price. This is among the </a:t>
            </a:r>
            <a:r>
              <a:rPr lang="en-IN" sz="1200" b="1" i="0" kern="1200" dirty="0">
                <a:solidFill>
                  <a:schemeClr val="tx1"/>
                </a:solidFill>
                <a:effectLst/>
                <a:latin typeface="+mn-lt"/>
                <a:ea typeface="+mn-ea"/>
                <a:cs typeface="+mn-cs"/>
              </a:rPr>
              <a:t>highest CEO ownership percentages</a:t>
            </a:r>
            <a:r>
              <a:rPr lang="en-IN" sz="1200" b="0" i="0" kern="1200" dirty="0">
                <a:solidFill>
                  <a:schemeClr val="tx1"/>
                </a:solidFill>
                <a:effectLst/>
                <a:latin typeface="+mn-lt"/>
                <a:ea typeface="+mn-ea"/>
                <a:cs typeface="+mn-cs"/>
              </a:rPr>
              <a:t> of any major US fintech CEO. </a:t>
            </a:r>
            <a:r>
              <a:rPr lang="en-IN" sz="1200" b="1" i="0" kern="1200" dirty="0">
                <a:solidFill>
                  <a:schemeClr val="tx1"/>
                </a:solidFill>
                <a:effectLst/>
                <a:latin typeface="+mn-lt"/>
                <a:ea typeface="+mn-ea"/>
                <a:cs typeface="+mn-cs"/>
              </a:rPr>
              <a:t>Skin in the game</a:t>
            </a:r>
            <a:r>
              <a:rPr lang="en-IN" sz="1200" b="0" i="0" kern="1200" dirty="0">
                <a:solidFill>
                  <a:schemeClr val="tx1"/>
                </a:solidFill>
                <a:effectLst/>
                <a:latin typeface="+mn-lt"/>
                <a:ea typeface="+mn-ea"/>
                <a:cs typeface="+mn-cs"/>
              </a:rPr>
              <a:t> is real.</a:t>
            </a:r>
          </a:p>
          <a:p>
            <a:r>
              <a:rPr lang="en-IN" sz="1200" b="0" i="0" kern="1200" dirty="0">
                <a:solidFill>
                  <a:schemeClr val="tx1"/>
                </a:solidFill>
                <a:effectLst/>
                <a:latin typeface="+mn-lt"/>
                <a:ea typeface="+mn-ea"/>
                <a:cs typeface="+mn-cs"/>
              </a:rPr>
              <a:t>And then there is this: on the day the </a:t>
            </a:r>
            <a:r>
              <a:rPr lang="en-IN" sz="1200" b="1" i="0" kern="1200" dirty="0">
                <a:solidFill>
                  <a:schemeClr val="tx1"/>
                </a:solidFill>
                <a:effectLst/>
                <a:latin typeface="+mn-lt"/>
                <a:ea typeface="+mn-ea"/>
                <a:cs typeface="+mn-cs"/>
              </a:rPr>
              <a:t>Muddy Waters short report</a:t>
            </a:r>
            <a:r>
              <a:rPr lang="en-IN" sz="1200" b="0" i="0" kern="1200" dirty="0">
                <a:solidFill>
                  <a:schemeClr val="tx1"/>
                </a:solidFill>
                <a:effectLst/>
                <a:latin typeface="+mn-lt"/>
                <a:ea typeface="+mn-ea"/>
                <a:cs typeface="+mn-cs"/>
              </a:rPr>
              <a:t> dropped in March 2026, Anthony Noto went into the open market and bought </a:t>
            </a:r>
            <a:r>
              <a:rPr lang="en-IN" sz="1200" b="1" i="0" kern="1200" dirty="0">
                <a:solidFill>
                  <a:schemeClr val="tx1"/>
                </a:solidFill>
                <a:effectLst/>
                <a:latin typeface="+mn-lt"/>
                <a:ea typeface="+mn-ea"/>
                <a:cs typeface="+mn-cs"/>
              </a:rPr>
              <a:t>28,900 shares</a:t>
            </a:r>
            <a:r>
              <a:rPr lang="en-IN" sz="1200" b="0" i="0" kern="1200" dirty="0">
                <a:solidFill>
                  <a:schemeClr val="tx1"/>
                </a:solidFill>
                <a:effectLst/>
                <a:latin typeface="+mn-lt"/>
                <a:ea typeface="+mn-ea"/>
                <a:cs typeface="+mn-cs"/>
              </a:rPr>
              <a:t> of SoFi stock at </a:t>
            </a:r>
            <a:r>
              <a:rPr lang="en-IN" sz="1200" b="1" i="0" kern="1200" dirty="0">
                <a:solidFill>
                  <a:schemeClr val="tx1"/>
                </a:solidFill>
                <a:effectLst/>
                <a:latin typeface="+mn-lt"/>
                <a:ea typeface="+mn-ea"/>
                <a:cs typeface="+mn-cs"/>
              </a:rPr>
              <a:t>$17.32</a:t>
            </a:r>
            <a:r>
              <a:rPr lang="en-IN" sz="1200" b="0" i="0" kern="1200" dirty="0">
                <a:solidFill>
                  <a:schemeClr val="tx1"/>
                </a:solidFill>
                <a:effectLst/>
                <a:latin typeface="+mn-lt"/>
                <a:ea typeface="+mn-ea"/>
                <a:cs typeface="+mn-cs"/>
              </a:rPr>
              <a:t>. That is not a planned RSU exercise. That is a discretionary open-market purchase at the exact moment your company is being called a fraud. That is either </a:t>
            </a:r>
            <a:r>
              <a:rPr lang="en-IN" sz="1200" b="1" i="0" kern="1200" dirty="0">
                <a:solidFill>
                  <a:schemeClr val="tx1"/>
                </a:solidFill>
                <a:effectLst/>
                <a:latin typeface="+mn-lt"/>
                <a:ea typeface="+mn-ea"/>
                <a:cs typeface="+mn-cs"/>
              </a:rPr>
              <a:t>extraordinary conviction</a:t>
            </a:r>
            <a:r>
              <a:rPr lang="en-IN" sz="1200" b="0" i="0" kern="1200" dirty="0">
                <a:solidFill>
                  <a:schemeClr val="tx1"/>
                </a:solidFill>
                <a:effectLst/>
                <a:latin typeface="+mn-lt"/>
                <a:ea typeface="+mn-ea"/>
                <a:cs typeface="+mn-cs"/>
              </a:rPr>
              <a:t> — or </a:t>
            </a:r>
            <a:r>
              <a:rPr lang="en-IN" sz="1200" b="1" i="0" kern="1200" dirty="0">
                <a:solidFill>
                  <a:schemeClr val="tx1"/>
                </a:solidFill>
                <a:effectLst/>
                <a:latin typeface="+mn-lt"/>
                <a:ea typeface="+mn-ea"/>
                <a:cs typeface="+mn-cs"/>
              </a:rPr>
              <a:t>extraordinary theatre</a:t>
            </a:r>
            <a:r>
              <a:rPr lang="en-IN" sz="1200" b="0" i="0" kern="1200" dirty="0">
                <a:solidFill>
                  <a:schemeClr val="tx1"/>
                </a:solidFill>
                <a:effectLst/>
                <a:latin typeface="+mn-lt"/>
                <a:ea typeface="+mn-ea"/>
                <a:cs typeface="+mn-cs"/>
              </a:rPr>
              <a:t>. You have to decide which.</a:t>
            </a:r>
          </a:p>
          <a:p>
            <a:r>
              <a:rPr lang="en-IN" sz="1200" b="1" i="0" kern="1200" dirty="0">
                <a:solidFill>
                  <a:schemeClr val="tx1"/>
                </a:solidFill>
                <a:effectLst/>
                <a:latin typeface="+mn-lt"/>
                <a:ea typeface="+mn-ea"/>
                <a:cs typeface="+mn-cs"/>
              </a:rPr>
              <a:t>Chris Lapointe, CFO.</a:t>
            </a:r>
            <a:r>
              <a:rPr lang="en-IN" sz="1200" b="0" i="0" kern="1200" dirty="0">
                <a:solidFill>
                  <a:schemeClr val="tx1"/>
                </a:solidFill>
                <a:effectLst/>
                <a:latin typeface="+mn-lt"/>
                <a:ea typeface="+mn-ea"/>
                <a:cs typeface="+mn-cs"/>
              </a:rPr>
              <a:t> Goldman Sachs and Google finance background. Strong capital markets credentials. His most notable characteristic is </a:t>
            </a:r>
            <a:r>
              <a:rPr lang="en-IN" sz="1200" b="1" i="0" kern="1200" dirty="0">
                <a:solidFill>
                  <a:schemeClr val="tx1"/>
                </a:solidFill>
                <a:effectLst/>
                <a:latin typeface="+mn-lt"/>
                <a:ea typeface="+mn-ea"/>
                <a:cs typeface="+mn-cs"/>
              </a:rPr>
              <a:t>guidance credibility</a:t>
            </a:r>
            <a:r>
              <a:rPr lang="en-IN" sz="1200" b="0" i="0" kern="1200" dirty="0">
                <a:solidFill>
                  <a:schemeClr val="tx1"/>
                </a:solidFill>
                <a:effectLst/>
                <a:latin typeface="+mn-lt"/>
                <a:ea typeface="+mn-ea"/>
                <a:cs typeface="+mn-cs"/>
              </a:rPr>
              <a:t> — in FY 2025, he raised guidance every single quarter. 4 quarters, four raises. That kind of consistent guidance discipline builds institutional investor trust. Post-Muddy Waters, maintaining that credibility is critical.</a:t>
            </a:r>
          </a:p>
          <a:p>
            <a:r>
              <a:rPr lang="en-IN" sz="1200" b="1" i="0" kern="1200" dirty="0">
                <a:solidFill>
                  <a:schemeClr val="tx1"/>
                </a:solidFill>
                <a:effectLst/>
                <a:latin typeface="+mn-lt"/>
                <a:ea typeface="+mn-ea"/>
                <a:cs typeface="+mn-cs"/>
              </a:rPr>
              <a:t>Micah Heavener, Chief Risk Officer.</a:t>
            </a:r>
            <a:r>
              <a:rPr lang="en-IN" sz="1200" b="0" i="0" kern="1200" dirty="0">
                <a:solidFill>
                  <a:schemeClr val="tx1"/>
                </a:solidFill>
                <a:effectLst/>
                <a:latin typeface="+mn-lt"/>
                <a:ea typeface="+mn-ea"/>
                <a:cs typeface="+mn-cs"/>
              </a:rPr>
              <a:t> The person responsible for managing the </a:t>
            </a:r>
            <a:r>
              <a:rPr lang="en-IN" sz="1200" b="1" i="0" kern="1200" dirty="0">
                <a:solidFill>
                  <a:schemeClr val="tx1"/>
                </a:solidFill>
                <a:effectLst/>
                <a:latin typeface="+mn-lt"/>
                <a:ea typeface="+mn-ea"/>
                <a:cs typeface="+mn-cs"/>
              </a:rPr>
              <a:t>$42B loan book</a:t>
            </a:r>
            <a:r>
              <a:rPr lang="en-IN" sz="1200" b="0" i="0" kern="1200" dirty="0">
                <a:solidFill>
                  <a:schemeClr val="tx1"/>
                </a:solidFill>
                <a:effectLst/>
                <a:latin typeface="+mn-lt"/>
                <a:ea typeface="+mn-ea"/>
                <a:cs typeface="+mn-cs"/>
              </a:rPr>
              <a:t>. He has maintained personal loan charge-off rates below </a:t>
            </a:r>
            <a:r>
              <a:rPr lang="en-IN" sz="1200" b="1" i="0" kern="1200" dirty="0">
                <a:solidFill>
                  <a:schemeClr val="tx1"/>
                </a:solidFill>
                <a:effectLst/>
                <a:latin typeface="+mn-lt"/>
                <a:ea typeface="+mn-ea"/>
                <a:cs typeface="+mn-cs"/>
              </a:rPr>
              <a:t>three point 5%</a:t>
            </a:r>
            <a:r>
              <a:rPr lang="en-IN" sz="1200" b="0" i="0" kern="1200" dirty="0">
                <a:solidFill>
                  <a:schemeClr val="tx1"/>
                </a:solidFill>
                <a:effectLst/>
                <a:latin typeface="+mn-lt"/>
                <a:ea typeface="+mn-ea"/>
                <a:cs typeface="+mn-cs"/>
              </a:rPr>
              <a:t> across multiple rate cycles and lending growth phases. The Muddy Waters allegations about charge-off manipulation fall squarely within his domain. Any regulatory escalation would scrutinise the risk management function intensely.</a:t>
            </a:r>
          </a:p>
          <a:p>
            <a:r>
              <a:rPr lang="en-IN" sz="1200" b="0" i="0" kern="1200" dirty="0">
                <a:solidFill>
                  <a:schemeClr val="tx1"/>
                </a:solidFill>
                <a:effectLst/>
                <a:latin typeface="+mn-lt"/>
                <a:ea typeface="+mn-ea"/>
                <a:cs typeface="+mn-cs"/>
              </a:rPr>
              <a:t>Board composition has improved significantly post-SPAC. Board members now include veterans from JPMorgan, Goldman, eBay, and the technology sector. The audit committee was specifically upgraded after the Muddy Waters report to address accounting scrutiny — which is the appropriate response.</a:t>
            </a:r>
          </a:p>
          <a:p>
            <a:r>
              <a:rPr lang="en-IN" sz="1200" b="0" i="0" kern="1200" dirty="0">
                <a:solidFill>
                  <a:schemeClr val="tx1"/>
                </a:solidFill>
                <a:effectLst/>
                <a:latin typeface="+mn-lt"/>
                <a:ea typeface="+mn-ea"/>
                <a:cs typeface="+mn-cs"/>
              </a:rPr>
              <a:t>Capital allocation philosophy: </a:t>
            </a:r>
            <a:r>
              <a:rPr lang="en-IN" sz="1200" b="1" i="0" kern="1200" dirty="0">
                <a:solidFill>
                  <a:schemeClr val="tx1"/>
                </a:solidFill>
                <a:effectLst/>
                <a:latin typeface="+mn-lt"/>
                <a:ea typeface="+mn-ea"/>
                <a:cs typeface="+mn-cs"/>
              </a:rPr>
              <a:t>no dividend</a:t>
            </a:r>
            <a:r>
              <a:rPr lang="en-IN" sz="1200" b="0" i="0" kern="1200" dirty="0">
                <a:solidFill>
                  <a:schemeClr val="tx1"/>
                </a:solidFill>
                <a:effectLst/>
                <a:latin typeface="+mn-lt"/>
                <a:ea typeface="+mn-ea"/>
                <a:cs typeface="+mn-cs"/>
              </a:rPr>
              <a:t>. All capital retained for growth. The management team is targeting </a:t>
            </a:r>
            <a:r>
              <a:rPr lang="en-IN" sz="1200" b="1" i="0" kern="1200" dirty="0">
                <a:solidFill>
                  <a:schemeClr val="tx1"/>
                </a:solidFill>
                <a:effectLst/>
                <a:latin typeface="+mn-lt"/>
                <a:ea typeface="+mn-ea"/>
                <a:cs typeface="+mn-cs"/>
              </a:rPr>
              <a:t>30% plus annual revenue CAGR</a:t>
            </a:r>
            <a:r>
              <a:rPr lang="en-IN" sz="1200" b="0" i="0" kern="1200" dirty="0">
                <a:solidFill>
                  <a:schemeClr val="tx1"/>
                </a:solidFill>
                <a:effectLst/>
                <a:latin typeface="+mn-lt"/>
                <a:ea typeface="+mn-ea"/>
                <a:cs typeface="+mn-cs"/>
              </a:rPr>
              <a:t> through 2028, and </a:t>
            </a:r>
            <a:r>
              <a:rPr lang="en-IN" sz="1200" b="1" i="0" kern="1200" dirty="0">
                <a:solidFill>
                  <a:schemeClr val="tx1"/>
                </a:solidFill>
                <a:effectLst/>
                <a:latin typeface="+mn-lt"/>
                <a:ea typeface="+mn-ea"/>
                <a:cs typeface="+mn-cs"/>
              </a:rPr>
              <a:t>38–42% EPS CAGR</a:t>
            </a:r>
            <a:r>
              <a:rPr lang="en-IN" sz="1200" b="0" i="0" kern="1200" dirty="0">
                <a:solidFill>
                  <a:schemeClr val="tx1"/>
                </a:solidFill>
                <a:effectLst/>
                <a:latin typeface="+mn-lt"/>
                <a:ea typeface="+mn-ea"/>
                <a:cs typeface="+mn-cs"/>
              </a:rPr>
              <a:t>. Share count is rising approximately </a:t>
            </a:r>
            <a:r>
              <a:rPr lang="en-IN" sz="1200" b="1" i="0" kern="1200" dirty="0">
                <a:solidFill>
                  <a:schemeClr val="tx1"/>
                </a:solidFill>
                <a:effectLst/>
                <a:latin typeface="+mn-lt"/>
                <a:ea typeface="+mn-ea"/>
                <a:cs typeface="+mn-cs"/>
              </a:rPr>
              <a:t>2% annually</a:t>
            </a:r>
            <a:r>
              <a:rPr lang="en-IN" sz="1200" b="0" i="0" kern="1200" dirty="0">
                <a:solidFill>
                  <a:schemeClr val="tx1"/>
                </a:solidFill>
                <a:effectLst/>
                <a:latin typeface="+mn-lt"/>
                <a:ea typeface="+mn-ea"/>
                <a:cs typeface="+mn-cs"/>
              </a:rPr>
              <a:t> from equity compensation — not dramatic dilution, but worth monitoring.</a:t>
            </a:r>
          </a:p>
          <a:p>
            <a:r>
              <a:rPr lang="en-IN" sz="1200" b="0" i="0" kern="1200" dirty="0">
                <a:solidFill>
                  <a:schemeClr val="tx1"/>
                </a:solidFill>
                <a:effectLst/>
                <a:latin typeface="+mn-lt"/>
                <a:ea typeface="+mn-ea"/>
                <a:cs typeface="+mn-cs"/>
              </a:rPr>
              <a:t>A serious red flag in the governance section: the </a:t>
            </a:r>
            <a:r>
              <a:rPr lang="en-IN" sz="1200" b="1" i="0" kern="1200" dirty="0">
                <a:solidFill>
                  <a:schemeClr val="tx1"/>
                </a:solidFill>
                <a:effectLst/>
                <a:latin typeface="+mn-lt"/>
                <a:ea typeface="+mn-ea"/>
                <a:cs typeface="+mn-cs"/>
              </a:rPr>
              <a:t>CRO</a:t>
            </a:r>
            <a:r>
              <a:rPr lang="en-IN" sz="1200" b="0" i="0" kern="1200" dirty="0">
                <a:solidFill>
                  <a:schemeClr val="tx1"/>
                </a:solidFill>
                <a:effectLst/>
                <a:latin typeface="+mn-lt"/>
                <a:ea typeface="+mn-ea"/>
                <a:cs typeface="+mn-cs"/>
              </a:rPr>
              <a:t> — the Chief Risk Officer — sold </a:t>
            </a:r>
            <a:r>
              <a:rPr lang="en-IN" sz="1200" b="1" i="0" kern="1200" dirty="0">
                <a:solidFill>
                  <a:schemeClr val="tx1"/>
                </a:solidFill>
                <a:effectLst/>
                <a:latin typeface="+mn-lt"/>
                <a:ea typeface="+mn-ea"/>
                <a:cs typeface="+mn-cs"/>
              </a:rPr>
              <a:t>1.14M shares</a:t>
            </a:r>
            <a:r>
              <a:rPr lang="en-IN" sz="1200" b="0" i="0" kern="1200" dirty="0">
                <a:solidFill>
                  <a:schemeClr val="tx1"/>
                </a:solidFill>
                <a:effectLst/>
                <a:latin typeface="+mn-lt"/>
                <a:ea typeface="+mn-ea"/>
                <a:cs typeface="+mn-cs"/>
              </a:rPr>
              <a:t> at </a:t>
            </a:r>
            <a:r>
              <a:rPr lang="en-IN" sz="1200" b="1" i="0" kern="1200" dirty="0">
                <a:solidFill>
                  <a:schemeClr val="tx1"/>
                </a:solidFill>
                <a:effectLst/>
                <a:latin typeface="+mn-lt"/>
                <a:ea typeface="+mn-ea"/>
                <a:cs typeface="+mn-cs"/>
              </a:rPr>
              <a:t>$24.76</a:t>
            </a:r>
            <a:r>
              <a:rPr lang="en-IN" sz="1200" b="0" i="0" kern="1200" dirty="0">
                <a:solidFill>
                  <a:schemeClr val="tx1"/>
                </a:solidFill>
                <a:effectLst/>
                <a:latin typeface="+mn-lt"/>
                <a:ea typeface="+mn-ea"/>
                <a:cs typeface="+mn-cs"/>
              </a:rPr>
              <a:t> on November 21, 2025. That was near the 52-week high. Other officers also sold. While insider selling near peak prices can be rationalised as RSU vesting, the volume and timing raise questions — particularly when Muddy Waters raised specific issues with the risk management function months later.</a:t>
            </a:r>
          </a:p>
          <a:p>
            <a:r>
              <a:rPr lang="en-IN" sz="1200" b="0" i="0" kern="1200" dirty="0">
                <a:solidFill>
                  <a:schemeClr val="tx1"/>
                </a:solidFill>
                <a:effectLst/>
                <a:latin typeface="+mn-lt"/>
                <a:ea typeface="+mn-ea"/>
                <a:cs typeface="+mn-cs"/>
              </a:rPr>
              <a:t>Institutional ownership is approximately </a:t>
            </a:r>
            <a:r>
              <a:rPr lang="en-IN" sz="1200" b="1" i="0" kern="1200" dirty="0">
                <a:solidFill>
                  <a:schemeClr val="tx1"/>
                </a:solidFill>
                <a:effectLst/>
                <a:latin typeface="+mn-lt"/>
                <a:ea typeface="+mn-ea"/>
                <a:cs typeface="+mn-cs"/>
              </a:rPr>
              <a:t>72%</a:t>
            </a:r>
            <a:r>
              <a:rPr lang="en-IN" sz="1200" b="0" i="0" kern="1200" dirty="0">
                <a:solidFill>
                  <a:schemeClr val="tx1"/>
                </a:solidFill>
                <a:effectLst/>
                <a:latin typeface="+mn-lt"/>
                <a:ea typeface="+mn-ea"/>
                <a:cs typeface="+mn-cs"/>
              </a:rPr>
              <a:t> of the float. Vanguard holds </a:t>
            </a:r>
            <a:r>
              <a:rPr lang="en-IN" sz="1200" b="1" i="0" kern="1200" dirty="0">
                <a:solidFill>
                  <a:schemeClr val="tx1"/>
                </a:solidFill>
                <a:effectLst/>
                <a:latin typeface="+mn-lt"/>
                <a:ea typeface="+mn-ea"/>
                <a:cs typeface="+mn-cs"/>
              </a:rPr>
              <a:t>8.5%</a:t>
            </a:r>
            <a:r>
              <a:rPr lang="en-IN" sz="1200" b="0" i="0" kern="1200" dirty="0">
                <a:solidFill>
                  <a:schemeClr val="tx1"/>
                </a:solidFill>
                <a:effectLst/>
                <a:latin typeface="+mn-lt"/>
                <a:ea typeface="+mn-ea"/>
                <a:cs typeface="+mn-cs"/>
              </a:rPr>
              <a:t>. BlackRock holds </a:t>
            </a:r>
            <a:r>
              <a:rPr lang="en-IN" sz="1200" b="1" i="0" kern="1200" dirty="0">
                <a:solidFill>
                  <a:schemeClr val="tx1"/>
                </a:solidFill>
                <a:effectLst/>
                <a:latin typeface="+mn-lt"/>
                <a:ea typeface="+mn-ea"/>
                <a:cs typeface="+mn-cs"/>
              </a:rPr>
              <a:t>7.1%</a:t>
            </a:r>
            <a:r>
              <a:rPr lang="en-IN" sz="1200" b="0" i="0" kern="1200" dirty="0">
                <a:solidFill>
                  <a:schemeClr val="tx1"/>
                </a:solidFill>
                <a:effectLst/>
                <a:latin typeface="+mn-lt"/>
                <a:ea typeface="+mn-ea"/>
                <a:cs typeface="+mn-cs"/>
              </a:rPr>
              <a:t>. This is a highly institutionally owned stock — which means significant blocks of shares can move on fundamental changes in analyst recommendations.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let us look at who SoFi is competing against — and where it genuinely wins."]</a:t>
            </a:r>
          </a:p>
          <a:p>
            <a:r>
              <a:rPr lang="en-IN" sz="1200" b="0" i="0" kern="1200" dirty="0">
                <a:solidFill>
                  <a:schemeClr val="tx1"/>
                </a:solidFill>
                <a:effectLst/>
                <a:latin typeface="+mn-lt"/>
                <a:ea typeface="+mn-ea"/>
                <a:cs typeface="+mn-cs"/>
              </a:rPr>
              <a:t>SLIDE 10 — COMPETITIVE LANDSCAPE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7: COMPETITIVE LANDSCAPE — SOFI VS PEERS"</a:t>
            </a:r>
          </a:p>
          <a:p>
            <a:r>
              <a:rPr lang="en-IN" sz="1200" b="0" i="0" kern="1200" dirty="0">
                <a:solidFill>
                  <a:schemeClr val="tx1"/>
                </a:solidFill>
                <a:effectLst/>
                <a:latin typeface="+mn-lt"/>
                <a:ea typeface="+mn-ea"/>
                <a:cs typeface="+mn-cs"/>
              </a:rPr>
              <a:t>[CONFIDENT, COMPARATIVE — SPEND 4-5 MINUTES HERE]</a:t>
            </a:r>
          </a:p>
          <a:p>
            <a:r>
              <a:rPr lang="en-IN" sz="1200" b="0" i="0" kern="1200" dirty="0">
                <a:solidFill>
                  <a:schemeClr val="tx1"/>
                </a:solidFill>
                <a:effectLst/>
                <a:latin typeface="+mn-lt"/>
                <a:ea typeface="+mn-ea"/>
                <a:cs typeface="+mn-cs"/>
              </a:rPr>
              <a:t>Five competitors. Let me go through each comparison quickly and tell you where SoFi wins, where it loses, and where the match is genuinely unclear.</a:t>
            </a:r>
          </a:p>
          <a:p>
            <a:r>
              <a:rPr lang="en-IN" sz="1200" b="1" i="0" kern="1200" dirty="0">
                <a:solidFill>
                  <a:schemeClr val="tx1"/>
                </a:solidFill>
                <a:effectLst/>
                <a:latin typeface="+mn-lt"/>
                <a:ea typeface="+mn-ea"/>
                <a:cs typeface="+mn-cs"/>
              </a:rPr>
              <a:t>SOFI vs CHIME.</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Chime has approximately </a:t>
            </a:r>
            <a:r>
              <a:rPr lang="en-IN" sz="1200" b="1" i="0" kern="1200" dirty="0">
                <a:solidFill>
                  <a:schemeClr val="tx1"/>
                </a:solidFill>
                <a:effectLst/>
                <a:latin typeface="+mn-lt"/>
                <a:ea typeface="+mn-ea"/>
                <a:cs typeface="+mn-cs"/>
              </a:rPr>
              <a:t>20M or more</a:t>
            </a:r>
            <a:r>
              <a:rPr lang="en-IN" sz="1200" b="0" i="0" kern="1200" dirty="0">
                <a:solidFill>
                  <a:schemeClr val="tx1"/>
                </a:solidFill>
                <a:effectLst/>
                <a:latin typeface="+mn-lt"/>
                <a:ea typeface="+mn-ea"/>
                <a:cs typeface="+mn-cs"/>
              </a:rPr>
              <a:t> estimated US users — more than SoFi's 14.7M members. By user count, Chime is larger. But here is the critical structural difference: </a:t>
            </a:r>
            <a:r>
              <a:rPr lang="en-IN" sz="1200" b="1" i="0" kern="1200" dirty="0">
                <a:solidFill>
                  <a:schemeClr val="tx1"/>
                </a:solidFill>
                <a:effectLst/>
                <a:latin typeface="+mn-lt"/>
                <a:ea typeface="+mn-ea"/>
                <a:cs typeface="+mn-cs"/>
              </a:rPr>
              <a:t>Chime does not have a bank charter</a:t>
            </a:r>
            <a:r>
              <a:rPr lang="en-IN" sz="1200" b="0" i="0" kern="1200" dirty="0">
                <a:solidFill>
                  <a:schemeClr val="tx1"/>
                </a:solidFill>
                <a:effectLst/>
                <a:latin typeface="+mn-lt"/>
                <a:ea typeface="+mn-ea"/>
                <a:cs typeface="+mn-cs"/>
              </a:rPr>
              <a:t>. Chime works through banking partners. Chime earns approximately </a:t>
            </a:r>
            <a:r>
              <a:rPr lang="en-IN" sz="1200" b="1" i="0" kern="1200" dirty="0">
                <a:solidFill>
                  <a:schemeClr val="tx1"/>
                </a:solidFill>
                <a:effectLst/>
                <a:latin typeface="+mn-lt"/>
                <a:ea typeface="+mn-ea"/>
                <a:cs typeface="+mn-cs"/>
              </a:rPr>
              <a:t>zero</a:t>
            </a:r>
            <a:r>
              <a:rPr lang="en-IN" sz="1200" b="0" i="0" kern="1200" dirty="0">
                <a:solidFill>
                  <a:schemeClr val="tx1"/>
                </a:solidFill>
                <a:effectLst/>
                <a:latin typeface="+mn-lt"/>
                <a:ea typeface="+mn-ea"/>
                <a:cs typeface="+mn-cs"/>
              </a:rPr>
              <a:t> on the deposits its customers hold, because it does not have the regulatory infrastructure to deploy those deposits in interest-bearing assets.</a:t>
            </a:r>
          </a:p>
          <a:p>
            <a:r>
              <a:rPr lang="en-IN" sz="1200" b="0" i="0" kern="1200" dirty="0">
                <a:solidFill>
                  <a:schemeClr val="tx1"/>
                </a:solidFill>
                <a:effectLst/>
                <a:latin typeface="+mn-lt"/>
                <a:ea typeface="+mn-ea"/>
                <a:cs typeface="+mn-cs"/>
              </a:rPr>
              <a:t>SoFi earns </a:t>
            </a:r>
            <a:r>
              <a:rPr lang="en-IN" sz="1200" b="1" i="0" kern="1200" dirty="0">
                <a:solidFill>
                  <a:schemeClr val="tx1"/>
                </a:solidFill>
                <a:effectLst/>
                <a:latin typeface="+mn-lt"/>
                <a:ea typeface="+mn-ea"/>
                <a:cs typeface="+mn-cs"/>
              </a:rPr>
              <a:t>5.94% net interest margin</a:t>
            </a:r>
            <a:r>
              <a:rPr lang="en-IN" sz="1200" b="0" i="0" kern="1200" dirty="0">
                <a:solidFill>
                  <a:schemeClr val="tx1"/>
                </a:solidFill>
                <a:effectLst/>
                <a:latin typeface="+mn-lt"/>
                <a:ea typeface="+mn-ea"/>
                <a:cs typeface="+mn-cs"/>
              </a:rPr>
              <a:t> on $40.2B in deposits. Chime earns essentially </a:t>
            </a:r>
            <a:r>
              <a:rPr lang="en-IN" sz="1200" b="1" i="0" kern="1200" dirty="0">
                <a:solidFill>
                  <a:schemeClr val="tx1"/>
                </a:solidFill>
                <a:effectLst/>
                <a:latin typeface="+mn-lt"/>
                <a:ea typeface="+mn-ea"/>
                <a:cs typeface="+mn-cs"/>
              </a:rPr>
              <a:t>nothing</a:t>
            </a:r>
            <a:r>
              <a:rPr lang="en-IN" sz="1200" b="0" i="0" kern="1200" dirty="0">
                <a:solidFill>
                  <a:schemeClr val="tx1"/>
                </a:solidFill>
                <a:effectLst/>
                <a:latin typeface="+mn-lt"/>
                <a:ea typeface="+mn-ea"/>
                <a:cs typeface="+mn-cs"/>
              </a:rPr>
              <a:t> on its deposit base.</a:t>
            </a:r>
          </a:p>
          <a:p>
            <a:r>
              <a:rPr lang="en-IN" sz="1200" b="1" i="0" kern="1200" dirty="0">
                <a:solidFill>
                  <a:schemeClr val="tx1"/>
                </a:solidFill>
                <a:effectLst/>
                <a:latin typeface="+mn-lt"/>
                <a:ea typeface="+mn-ea"/>
                <a:cs typeface="+mn-cs"/>
              </a:rPr>
              <a:t>6x more earning power per deposit dollar.</a:t>
            </a:r>
            <a:r>
              <a:rPr lang="en-IN" sz="1200" b="0" i="0" kern="1200" dirty="0">
                <a:solidFill>
                  <a:schemeClr val="tx1"/>
                </a:solidFill>
                <a:effectLst/>
                <a:latin typeface="+mn-lt"/>
                <a:ea typeface="+mn-ea"/>
                <a:cs typeface="+mn-cs"/>
              </a:rPr>
              <a:t> That is not a small competitive advantage. That is a </a:t>
            </a:r>
            <a:r>
              <a:rPr lang="en-IN" sz="1200" b="1" i="0" kern="1200" dirty="0">
                <a:solidFill>
                  <a:schemeClr val="tx1"/>
                </a:solidFill>
                <a:effectLst/>
                <a:latin typeface="+mn-lt"/>
                <a:ea typeface="+mn-ea"/>
                <a:cs typeface="+mn-cs"/>
              </a:rPr>
              <a:t>structural moat</a:t>
            </a:r>
            <a:r>
              <a:rPr lang="en-IN" sz="1200" b="0" i="0" kern="1200" dirty="0">
                <a:solidFill>
                  <a:schemeClr val="tx1"/>
                </a:solidFill>
                <a:effectLst/>
                <a:latin typeface="+mn-lt"/>
                <a:ea typeface="+mn-ea"/>
                <a:cs typeface="+mn-cs"/>
              </a:rPr>
              <a:t>. And here is the twist: some of those Chime deposits actually flow through </a:t>
            </a:r>
            <a:r>
              <a:rPr lang="en-IN" sz="1200" b="1" i="0" kern="1200" dirty="0">
                <a:solidFill>
                  <a:schemeClr val="tx1"/>
                </a:solidFill>
                <a:effectLst/>
                <a:latin typeface="+mn-lt"/>
                <a:ea typeface="+mn-ea"/>
                <a:cs typeface="+mn-cs"/>
              </a:rPr>
              <a:t>Galileo</a:t>
            </a:r>
            <a:r>
              <a:rPr lang="en-IN" sz="1200" b="0" i="0" kern="1200" dirty="0">
                <a:solidFill>
                  <a:schemeClr val="tx1"/>
                </a:solidFill>
                <a:effectLst/>
                <a:latin typeface="+mn-lt"/>
                <a:ea typeface="+mn-ea"/>
                <a:cs typeface="+mn-cs"/>
              </a:rPr>
              <a:t> infrastructure — meaning SoFi's B2B platform earns revenue from processing transactions for the very competitor competing against it for members. That is an unusual and powerful position.</a:t>
            </a:r>
          </a:p>
          <a:p>
            <a:r>
              <a:rPr lang="en-IN" sz="1200" b="1" i="0" kern="1200" dirty="0">
                <a:solidFill>
                  <a:schemeClr val="tx1"/>
                </a:solidFill>
                <a:effectLst/>
                <a:latin typeface="+mn-lt"/>
                <a:ea typeface="+mn-ea"/>
                <a:cs typeface="+mn-cs"/>
              </a:rPr>
              <a:t>SOFI vs LENDINGCLUB.</a:t>
            </a:r>
            <a:endParaRPr lang="en-IN" sz="1200" b="0" i="0" kern="1200" dirty="0">
              <a:solidFill>
                <a:schemeClr val="tx1"/>
              </a:solidFill>
              <a:effectLst/>
              <a:latin typeface="+mn-lt"/>
              <a:ea typeface="+mn-ea"/>
              <a:cs typeface="+mn-cs"/>
            </a:endParaRPr>
          </a:p>
          <a:p>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also has a bank charter, so the fundamental banking model comparison is more direct. But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has </a:t>
            </a:r>
            <a:r>
              <a:rPr lang="en-IN" sz="1200" b="1" i="0" kern="1200" dirty="0">
                <a:solidFill>
                  <a:schemeClr val="tx1"/>
                </a:solidFill>
                <a:effectLst/>
                <a:latin typeface="+mn-lt"/>
                <a:ea typeface="+mn-ea"/>
                <a:cs typeface="+mn-cs"/>
              </a:rPr>
              <a:t>4.5M members</a:t>
            </a:r>
            <a:r>
              <a:rPr lang="en-IN" sz="1200" b="0" i="0" kern="1200" dirty="0">
                <a:solidFill>
                  <a:schemeClr val="tx1"/>
                </a:solidFill>
                <a:effectLst/>
                <a:latin typeface="+mn-lt"/>
                <a:ea typeface="+mn-ea"/>
                <a:cs typeface="+mn-cs"/>
              </a:rPr>
              <a:t> versus SoFi's </a:t>
            </a:r>
            <a:r>
              <a:rPr lang="en-IN" sz="1200" b="1" i="0" kern="1200" dirty="0">
                <a:solidFill>
                  <a:schemeClr val="tx1"/>
                </a:solidFill>
                <a:effectLst/>
                <a:latin typeface="+mn-lt"/>
                <a:ea typeface="+mn-ea"/>
                <a:cs typeface="+mn-cs"/>
              </a:rPr>
              <a:t>14.7M</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revenue is approximately </a:t>
            </a:r>
            <a:r>
              <a:rPr lang="en-IN" sz="1200" b="1" i="0" kern="1200" dirty="0">
                <a:solidFill>
                  <a:schemeClr val="tx1"/>
                </a:solidFill>
                <a:effectLst/>
                <a:latin typeface="+mn-lt"/>
                <a:ea typeface="+mn-ea"/>
                <a:cs typeface="+mn-cs"/>
              </a:rPr>
              <a:t>$1.2B annualised** versus SoFi's **$4.655B</a:t>
            </a:r>
            <a:r>
              <a:rPr lang="en-IN" sz="1200" b="0" i="0" kern="1200" dirty="0">
                <a:solidFill>
                  <a:schemeClr val="tx1"/>
                </a:solidFill>
                <a:effectLst/>
                <a:latin typeface="+mn-lt"/>
                <a:ea typeface="+mn-ea"/>
                <a:cs typeface="+mn-cs"/>
              </a:rPr>
              <a:t> full-year guidance. </a:t>
            </a:r>
            <a:r>
              <a:rPr lang="en-IN" sz="1200" b="0" i="0" kern="1200" dirty="0" err="1">
                <a:solidFill>
                  <a:schemeClr val="tx1"/>
                </a:solidFill>
                <a:effectLst/>
                <a:latin typeface="+mn-lt"/>
                <a:ea typeface="+mn-ea"/>
                <a:cs typeface="+mn-cs"/>
              </a:rPr>
              <a:t>LendingClub's</a:t>
            </a:r>
            <a:r>
              <a:rPr lang="en-IN" sz="1200" b="0" i="0" kern="1200" dirty="0">
                <a:solidFill>
                  <a:schemeClr val="tx1"/>
                </a:solidFill>
                <a:effectLst/>
                <a:latin typeface="+mn-lt"/>
                <a:ea typeface="+mn-ea"/>
                <a:cs typeface="+mn-cs"/>
              </a:rPr>
              <a:t> NIM is approximately </a:t>
            </a:r>
            <a:r>
              <a:rPr lang="en-IN" sz="1200" b="1" i="0" kern="1200" dirty="0">
                <a:solidFill>
                  <a:schemeClr val="tx1"/>
                </a:solidFill>
                <a:effectLst/>
                <a:latin typeface="+mn-lt"/>
                <a:ea typeface="+mn-ea"/>
                <a:cs typeface="+mn-cs"/>
              </a:rPr>
              <a:t>four point 5%</a:t>
            </a:r>
            <a:r>
              <a:rPr lang="en-IN" sz="1200" b="0" i="0" kern="1200" dirty="0">
                <a:solidFill>
                  <a:schemeClr val="tx1"/>
                </a:solidFill>
                <a:effectLst/>
                <a:latin typeface="+mn-lt"/>
                <a:ea typeface="+mn-ea"/>
                <a:cs typeface="+mn-cs"/>
              </a:rPr>
              <a:t> versus SoFi's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And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has </a:t>
            </a:r>
            <a:r>
              <a:rPr lang="en-IN" sz="1200" b="1" i="0" kern="1200" dirty="0">
                <a:solidFill>
                  <a:schemeClr val="tx1"/>
                </a:solidFill>
                <a:effectLst/>
                <a:latin typeface="+mn-lt"/>
                <a:ea typeface="+mn-ea"/>
                <a:cs typeface="+mn-cs"/>
              </a:rPr>
              <a:t>no B2B infrastructure platform</a:t>
            </a:r>
            <a:r>
              <a:rPr lang="en-IN" sz="1200" b="0" i="0" kern="1200" dirty="0">
                <a:solidFill>
                  <a:schemeClr val="tx1"/>
                </a:solidFill>
                <a:effectLst/>
                <a:latin typeface="+mn-lt"/>
                <a:ea typeface="+mn-ea"/>
                <a:cs typeface="+mn-cs"/>
              </a:rPr>
              <a:t>. This is a hold for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in our assessment — decent business, but not the scale or scope of SoFi.</a:t>
            </a:r>
          </a:p>
          <a:p>
            <a:r>
              <a:rPr lang="en-IN" sz="1200" b="1" i="0" kern="1200" dirty="0">
                <a:solidFill>
                  <a:schemeClr val="tx1"/>
                </a:solidFill>
                <a:effectLst/>
                <a:latin typeface="+mn-lt"/>
                <a:ea typeface="+mn-ea"/>
                <a:cs typeface="+mn-cs"/>
              </a:rPr>
              <a:t>SOFI vs UPSTART.</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Upstart is an AI-driven credit marketplace. Approximately </a:t>
            </a:r>
            <a:r>
              <a:rPr lang="en-IN" sz="1200" b="1" i="0" kern="1200" dirty="0">
                <a:solidFill>
                  <a:schemeClr val="tx1"/>
                </a:solidFill>
                <a:effectLst/>
                <a:latin typeface="+mn-lt"/>
                <a:ea typeface="+mn-ea"/>
                <a:cs typeface="+mn-cs"/>
              </a:rPr>
              <a:t>8M plus</a:t>
            </a:r>
            <a:r>
              <a:rPr lang="en-IN" sz="1200" b="0" i="0" kern="1200" dirty="0">
                <a:solidFill>
                  <a:schemeClr val="tx1"/>
                </a:solidFill>
                <a:effectLst/>
                <a:latin typeface="+mn-lt"/>
                <a:ea typeface="+mn-ea"/>
                <a:cs typeface="+mn-cs"/>
              </a:rPr>
              <a:t> borrowers. Revenue approximately </a:t>
            </a:r>
            <a:r>
              <a:rPr lang="en-IN" sz="1200" b="1" i="0" kern="1200" dirty="0">
                <a:solidFill>
                  <a:schemeClr val="tx1"/>
                </a:solidFill>
                <a:effectLst/>
                <a:latin typeface="+mn-lt"/>
                <a:ea typeface="+mn-ea"/>
                <a:cs typeface="+mn-cs"/>
              </a:rPr>
              <a:t>$800M</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No bank charter</a:t>
            </a:r>
            <a:r>
              <a:rPr lang="en-IN" sz="1200" b="0" i="0" kern="1200" dirty="0">
                <a:solidFill>
                  <a:schemeClr val="tx1"/>
                </a:solidFill>
                <a:effectLst/>
                <a:latin typeface="+mn-lt"/>
                <a:ea typeface="+mn-ea"/>
                <a:cs typeface="+mn-cs"/>
              </a:rPr>
              <a:t>. Upstart's value proposition is AI-driven underwriting accuracy — the ability to price credit more precisely than FICO-based models. This is a real capability. But it is also a single-dimensional story compared to SoFi's multi-segment model. We rate Upstart speculative. The AI underwriting thesis is compelling but unproven at cycle scale.</a:t>
            </a:r>
          </a:p>
          <a:p>
            <a:r>
              <a:rPr lang="en-IN" sz="1200" b="1" i="0" kern="1200" dirty="0">
                <a:solidFill>
                  <a:schemeClr val="tx1"/>
                </a:solidFill>
                <a:effectLst/>
                <a:latin typeface="+mn-lt"/>
                <a:ea typeface="+mn-ea"/>
                <a:cs typeface="+mn-cs"/>
              </a:rPr>
              <a:t>SOFI vs JPMORGAN CHASE.</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This is not really a competitive comparison for equal-footing assessment — JPMorgan has </a:t>
            </a:r>
            <a:r>
              <a:rPr lang="en-IN" sz="1200" b="1" i="0" kern="1200" dirty="0">
                <a:solidFill>
                  <a:schemeClr val="tx1"/>
                </a:solidFill>
                <a:effectLst/>
                <a:latin typeface="+mn-lt"/>
                <a:ea typeface="+mn-ea"/>
                <a:cs typeface="+mn-cs"/>
              </a:rPr>
              <a:t>86M US customers</a:t>
            </a:r>
            <a:r>
              <a:rPr lang="en-IN" sz="1200" b="0" i="0" kern="1200" dirty="0">
                <a:solidFill>
                  <a:schemeClr val="tx1"/>
                </a:solidFill>
                <a:effectLst/>
                <a:latin typeface="+mn-lt"/>
                <a:ea typeface="+mn-ea"/>
                <a:cs typeface="+mn-cs"/>
              </a:rPr>
              <a:t>, a full-service global banking operation, and a market cap of approximately </a:t>
            </a:r>
            <a:r>
              <a:rPr lang="en-IN" sz="1200" b="1" i="0" kern="1200" dirty="0">
                <a:solidFill>
                  <a:schemeClr val="tx1"/>
                </a:solidFill>
                <a:effectLst/>
                <a:latin typeface="+mn-lt"/>
                <a:ea typeface="+mn-ea"/>
                <a:cs typeface="+mn-cs"/>
              </a:rPr>
              <a:t>$550B</a:t>
            </a:r>
            <a:r>
              <a:rPr lang="en-IN" sz="1200" b="0" i="0" kern="1200" dirty="0">
                <a:solidFill>
                  <a:schemeClr val="tx1"/>
                </a:solidFill>
                <a:effectLst/>
                <a:latin typeface="+mn-lt"/>
                <a:ea typeface="+mn-ea"/>
                <a:cs typeface="+mn-cs"/>
              </a:rPr>
              <a:t>. But it is worth noting: JPMorgan's NIM is approximately </a:t>
            </a:r>
            <a:r>
              <a:rPr lang="en-IN" sz="1200" b="1" i="0" kern="1200" dirty="0">
                <a:solidFill>
                  <a:schemeClr val="tx1"/>
                </a:solidFill>
                <a:effectLst/>
                <a:latin typeface="+mn-lt"/>
                <a:ea typeface="+mn-ea"/>
                <a:cs typeface="+mn-cs"/>
              </a:rPr>
              <a:t>2.8%</a:t>
            </a:r>
            <a:r>
              <a:rPr lang="en-IN" sz="1200" b="0" i="0" kern="1200" dirty="0">
                <a:solidFill>
                  <a:schemeClr val="tx1"/>
                </a:solidFill>
                <a:effectLst/>
                <a:latin typeface="+mn-lt"/>
                <a:ea typeface="+mn-ea"/>
                <a:cs typeface="+mn-cs"/>
              </a:rPr>
              <a:t> versus SoFi's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SoFi earns </a:t>
            </a:r>
            <a:r>
              <a:rPr lang="en-IN" sz="1200" b="1" i="0" kern="1200" dirty="0">
                <a:solidFill>
                  <a:schemeClr val="tx1"/>
                </a:solidFill>
                <a:effectLst/>
                <a:latin typeface="+mn-lt"/>
                <a:ea typeface="+mn-ea"/>
                <a:cs typeface="+mn-cs"/>
              </a:rPr>
              <a:t>more than twice the spread</a:t>
            </a:r>
            <a:r>
              <a:rPr lang="en-IN" sz="1200" b="0" i="0" kern="1200" dirty="0">
                <a:solidFill>
                  <a:schemeClr val="tx1"/>
                </a:solidFill>
                <a:effectLst/>
                <a:latin typeface="+mn-lt"/>
                <a:ea typeface="+mn-ea"/>
                <a:cs typeface="+mn-cs"/>
              </a:rPr>
              <a:t> per dollar of deposits. The reason: SoFi targets high-yield lending categories — personal loans and student loan refinancing — rather than lower-margin commercial lending. That higher-NIM positioning is SoFi's sustainable competitive advantage over much larger traditional banks in the specific categories where they compete.</a:t>
            </a:r>
          </a:p>
          <a:p>
            <a:r>
              <a:rPr lang="en-IN" sz="1200" b="0" i="0" kern="1200" dirty="0">
                <a:solidFill>
                  <a:schemeClr val="tx1"/>
                </a:solidFill>
                <a:effectLst/>
                <a:latin typeface="+mn-lt"/>
                <a:ea typeface="+mn-ea"/>
                <a:cs typeface="+mn-cs"/>
              </a:rPr>
              <a:t>The overall competitive conclusion: </a:t>
            </a:r>
            <a:r>
              <a:rPr lang="en-IN" sz="1200" b="1" i="0" kern="1200" dirty="0">
                <a:solidFill>
                  <a:schemeClr val="tx1"/>
                </a:solidFill>
                <a:effectLst/>
                <a:latin typeface="+mn-lt"/>
                <a:ea typeface="+mn-ea"/>
                <a:cs typeface="+mn-cs"/>
              </a:rPr>
              <a:t>SoFi has built a genuinely differentiated position.</a:t>
            </a:r>
            <a:r>
              <a:rPr lang="en-IN" sz="1200" b="0" i="0" kern="1200" dirty="0">
                <a:solidFill>
                  <a:schemeClr val="tx1"/>
                </a:solidFill>
                <a:effectLst/>
                <a:latin typeface="+mn-lt"/>
                <a:ea typeface="+mn-ea"/>
                <a:cs typeface="+mn-cs"/>
              </a:rPr>
              <a:t> Charter plus FSPL plus Galileo is not something any single competitor has replicated. Chime has users but no charter.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has a charter but no B2B infrastructure and is far smaller. Upstart has AI underwriting but no charter and no bank. The combination that SoFi has assembled is </a:t>
            </a:r>
            <a:r>
              <a:rPr lang="en-IN" sz="1200" b="1" i="0" kern="1200" dirty="0">
                <a:solidFill>
                  <a:schemeClr val="tx1"/>
                </a:solidFill>
                <a:effectLst/>
                <a:latin typeface="+mn-lt"/>
                <a:ea typeface="+mn-ea"/>
                <a:cs typeface="+mn-cs"/>
              </a:rPr>
              <a:t>rare</a:t>
            </a:r>
            <a:r>
              <a:rPr lang="en-IN"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"Now we get to the part of the report that every serious investor needs to sit with carefully. The red flags. Because there are real ones here."]</a:t>
            </a:r>
          </a:p>
          <a:p>
            <a:r>
              <a:rPr lang="en-IN" sz="1200" b="0" i="0" kern="1200" dirty="0">
                <a:solidFill>
                  <a:schemeClr val="tx1"/>
                </a:solidFill>
                <a:effectLst/>
                <a:latin typeface="+mn-lt"/>
                <a:ea typeface="+mn-ea"/>
                <a:cs typeface="+mn-cs"/>
              </a:rPr>
              <a:t>SLIDE 11 — RED FLAGS &amp; INVESTMENT RISKS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8: RED FLAGS &amp; INVESTMENT RISKS"</a:t>
            </a:r>
          </a:p>
          <a:p>
            <a:r>
              <a:rPr lang="en-IN" sz="1200" b="0" i="0" kern="1200" dirty="0">
                <a:solidFill>
                  <a:schemeClr val="tx1"/>
                </a:solidFill>
                <a:effectLst/>
                <a:latin typeface="+mn-lt"/>
                <a:ea typeface="+mn-ea"/>
                <a:cs typeface="+mn-cs"/>
              </a:rPr>
              <a:t>[SERIOUS, SOBER — SPEND 6-7 MINUTES HERE — THIS IS THE CORE OF DUE DILIGENCE]</a:t>
            </a:r>
          </a:p>
          <a:p>
            <a:r>
              <a:rPr lang="en-IN" sz="1200" b="0" i="0" kern="1200" dirty="0">
                <a:solidFill>
                  <a:schemeClr val="tx1"/>
                </a:solidFill>
                <a:effectLst/>
                <a:latin typeface="+mn-lt"/>
                <a:ea typeface="+mn-ea"/>
                <a:cs typeface="+mn-cs"/>
              </a:rPr>
              <a:t>Six risks. Two of them I would classify as </a:t>
            </a:r>
            <a:r>
              <a:rPr lang="en-IN" sz="1200" b="1" i="0" kern="1200" dirty="0">
                <a:solidFill>
                  <a:schemeClr val="tx1"/>
                </a:solidFill>
                <a:effectLst/>
                <a:latin typeface="+mn-lt"/>
                <a:ea typeface="+mn-ea"/>
                <a:cs typeface="+mn-cs"/>
              </a:rPr>
              <a:t>potentially existential</a:t>
            </a:r>
            <a:r>
              <a:rPr lang="en-IN" sz="1200" b="0" i="0" kern="1200" dirty="0">
                <a:solidFill>
                  <a:schemeClr val="tx1"/>
                </a:solidFill>
                <a:effectLst/>
                <a:latin typeface="+mn-lt"/>
                <a:ea typeface="+mn-ea"/>
                <a:cs typeface="+mn-cs"/>
              </a:rPr>
              <a:t>. Let me be completely direct with you.</a:t>
            </a:r>
          </a:p>
          <a:p>
            <a:r>
              <a:rPr lang="en-IN" sz="1200" b="1" i="0" kern="1200" dirty="0">
                <a:solidFill>
                  <a:schemeClr val="tx1"/>
                </a:solidFill>
                <a:effectLst/>
                <a:latin typeface="+mn-lt"/>
                <a:ea typeface="+mn-ea"/>
                <a:cs typeface="+mn-cs"/>
              </a:rPr>
              <a:t>CRITICAL RISK ONE: Muddy Waters Short Report — Accounting Allegations and Potential $1B EBITDA Reversal.</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In March 2026, </a:t>
            </a:r>
            <a:r>
              <a:rPr lang="en-IN" sz="1200" b="1" i="0" kern="1200" dirty="0">
                <a:solidFill>
                  <a:schemeClr val="tx1"/>
                </a:solidFill>
                <a:effectLst/>
                <a:latin typeface="+mn-lt"/>
                <a:ea typeface="+mn-ea"/>
                <a:cs typeface="+mn-cs"/>
              </a:rPr>
              <a:t>Carson Block</a:t>
            </a:r>
            <a:r>
              <a:rPr lang="en-IN" sz="1200" b="0" i="0" kern="1200" dirty="0">
                <a:solidFill>
                  <a:schemeClr val="tx1"/>
                </a:solidFill>
                <a:effectLst/>
                <a:latin typeface="+mn-lt"/>
                <a:ea typeface="+mn-ea"/>
                <a:cs typeface="+mn-cs"/>
              </a:rPr>
              <a:t> — the founder of Muddy Waters Research, one of the most respected and feared short sellers in the world — released a </a:t>
            </a:r>
            <a:r>
              <a:rPr lang="en-IN" sz="1200" b="1" i="0" kern="1200" dirty="0">
                <a:solidFill>
                  <a:schemeClr val="tx1"/>
                </a:solidFill>
                <a:effectLst/>
                <a:latin typeface="+mn-lt"/>
                <a:ea typeface="+mn-ea"/>
                <a:cs typeface="+mn-cs"/>
              </a:rPr>
              <a:t>28-page short report</a:t>
            </a:r>
            <a:r>
              <a:rPr lang="en-IN" sz="1200" b="0" i="0" kern="1200" dirty="0">
                <a:solidFill>
                  <a:schemeClr val="tx1"/>
                </a:solidFill>
                <a:effectLst/>
                <a:latin typeface="+mn-lt"/>
                <a:ea typeface="+mn-ea"/>
                <a:cs typeface="+mn-cs"/>
              </a:rPr>
              <a:t> on SoFi. And the allegations are </a:t>
            </a:r>
            <a:r>
              <a:rPr lang="en-IN" sz="1200" b="1" i="0" kern="1200" dirty="0">
                <a:solidFill>
                  <a:schemeClr val="tx1"/>
                </a:solidFill>
                <a:effectLst/>
                <a:latin typeface="+mn-lt"/>
                <a:ea typeface="+mn-ea"/>
                <a:cs typeface="+mn-cs"/>
              </a:rPr>
              <a:t>serious</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The primary allegation: SoFi mis-accounted a </a:t>
            </a:r>
            <a:r>
              <a:rPr lang="en-IN" sz="1200" b="1" i="0" kern="1200" dirty="0">
                <a:solidFill>
                  <a:schemeClr val="tx1"/>
                </a:solidFill>
                <a:effectLst/>
                <a:latin typeface="+mn-lt"/>
                <a:ea typeface="+mn-ea"/>
                <a:cs typeface="+mn-cs"/>
              </a:rPr>
              <a:t>$312M JPMorgan loan</a:t>
            </a:r>
            <a:r>
              <a:rPr lang="en-IN" sz="1200" b="0" i="0" kern="1200" dirty="0">
                <a:solidFill>
                  <a:schemeClr val="tx1"/>
                </a:solidFill>
                <a:effectLst/>
                <a:latin typeface="+mn-lt"/>
                <a:ea typeface="+mn-ea"/>
                <a:cs typeface="+mn-cs"/>
              </a:rPr>
              <a:t> as a loan sale — which allowed SoFi to book a gain-on-sale and report higher profits — when Muddy Waters alleges it was actually a secured financing arrangement, which would have required SoFi to keep the liability on its balance sheet. If true, this would mean SoFi </a:t>
            </a:r>
            <a:r>
              <a:rPr lang="en-IN" sz="1200" b="1" i="0" kern="1200" dirty="0">
                <a:solidFill>
                  <a:schemeClr val="tx1"/>
                </a:solidFill>
                <a:effectLst/>
                <a:latin typeface="+mn-lt"/>
                <a:ea typeface="+mn-ea"/>
                <a:cs typeface="+mn-cs"/>
              </a:rPr>
              <a:t>inflated its reported profits</a:t>
            </a:r>
            <a:r>
              <a:rPr lang="en-IN" sz="1200" b="0" i="0" kern="1200" dirty="0">
                <a:solidFill>
                  <a:schemeClr val="tx1"/>
                </a:solidFill>
                <a:effectLst/>
                <a:latin typeface="+mn-lt"/>
                <a:ea typeface="+mn-ea"/>
                <a:cs typeface="+mn-cs"/>
              </a:rPr>
              <a:t> and inflated the management bonuses tied to those profits while </a:t>
            </a:r>
            <a:r>
              <a:rPr lang="en-IN" sz="1200" b="1" i="0" kern="1200" dirty="0">
                <a:solidFill>
                  <a:schemeClr val="tx1"/>
                </a:solidFill>
                <a:effectLst/>
                <a:latin typeface="+mn-lt"/>
                <a:ea typeface="+mn-ea"/>
                <a:cs typeface="+mn-cs"/>
              </a:rPr>
              <a:t>hiding debt</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Muddy Waters followed up with a second report escalating the claims to a </a:t>
            </a:r>
            <a:r>
              <a:rPr lang="en-IN" sz="1200" b="1" i="0" kern="1200" dirty="0">
                <a:solidFill>
                  <a:schemeClr val="tx1"/>
                </a:solidFill>
                <a:effectLst/>
                <a:latin typeface="+mn-lt"/>
                <a:ea typeface="+mn-ea"/>
                <a:cs typeface="+mn-cs"/>
              </a:rPr>
              <a:t>potential $1B EBITDA reversal**. For a company guiding to **$1.6B</a:t>
            </a:r>
            <a:r>
              <a:rPr lang="en-IN" sz="1200" b="0" i="0" kern="1200" dirty="0">
                <a:solidFill>
                  <a:schemeClr val="tx1"/>
                </a:solidFill>
                <a:effectLst/>
                <a:latin typeface="+mn-lt"/>
                <a:ea typeface="+mn-ea"/>
                <a:cs typeface="+mn-cs"/>
              </a:rPr>
              <a:t> in full-year 2026 EBITDA, a $1B restatement would be </a:t>
            </a:r>
            <a:r>
              <a:rPr lang="en-IN" sz="1200" b="1" i="0" kern="1200" dirty="0">
                <a:solidFill>
                  <a:schemeClr val="tx1"/>
                </a:solidFill>
                <a:effectLst/>
                <a:latin typeface="+mn-lt"/>
                <a:ea typeface="+mn-ea"/>
                <a:cs typeface="+mn-cs"/>
              </a:rPr>
              <a:t>catastrophic</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SoFi's response: </a:t>
            </a:r>
            <a:r>
              <a:rPr lang="en-IN" sz="1200" b="1" i="0" kern="1200" dirty="0">
                <a:solidFill>
                  <a:schemeClr val="tx1"/>
                </a:solidFill>
                <a:effectLst/>
                <a:latin typeface="+mn-lt"/>
                <a:ea typeface="+mn-ea"/>
                <a:cs typeface="+mn-cs"/>
              </a:rPr>
              <a:t>total denial</a:t>
            </a:r>
            <a:r>
              <a:rPr lang="en-IN" sz="1200" b="0" i="0" kern="1200" dirty="0">
                <a:solidFill>
                  <a:schemeClr val="tx1"/>
                </a:solidFill>
                <a:effectLst/>
                <a:latin typeface="+mn-lt"/>
                <a:ea typeface="+mn-ea"/>
                <a:cs typeface="+mn-cs"/>
              </a:rPr>
              <a:t>. CEO Noto called the allegations false and misleading. He personally bought </a:t>
            </a:r>
            <a:r>
              <a:rPr lang="en-IN" sz="1200" b="1" i="0" kern="1200" dirty="0">
                <a:solidFill>
                  <a:schemeClr val="tx1"/>
                </a:solidFill>
                <a:effectLst/>
                <a:latin typeface="+mn-lt"/>
                <a:ea typeface="+mn-ea"/>
                <a:cs typeface="+mn-cs"/>
              </a:rPr>
              <a:t>28,900 shares</a:t>
            </a:r>
            <a:r>
              <a:rPr lang="en-IN" sz="1200" b="0" i="0" kern="1200" dirty="0">
                <a:solidFill>
                  <a:schemeClr val="tx1"/>
                </a:solidFill>
                <a:effectLst/>
                <a:latin typeface="+mn-lt"/>
                <a:ea typeface="+mn-ea"/>
                <a:cs typeface="+mn-cs"/>
              </a:rPr>
              <a:t> at $17.32 on the day of the report. The company has indicated it may pursue legal action against Muddy Waters.</a:t>
            </a:r>
          </a:p>
          <a:p>
            <a:r>
              <a:rPr lang="en-IN" sz="1200" b="0" i="0" kern="1200" dirty="0">
                <a:solidFill>
                  <a:schemeClr val="tx1"/>
                </a:solidFill>
                <a:effectLst/>
                <a:latin typeface="+mn-lt"/>
                <a:ea typeface="+mn-ea"/>
                <a:cs typeface="+mn-cs"/>
              </a:rPr>
              <a:t>Mizuho analyst coverage found the Muddy Waters report mischaracterises key facts.</a:t>
            </a:r>
          </a:p>
          <a:p>
            <a:r>
              <a:rPr lang="en-IN" sz="1200" b="0" i="0" kern="1200" dirty="0">
                <a:solidFill>
                  <a:schemeClr val="tx1"/>
                </a:solidFill>
                <a:effectLst/>
                <a:latin typeface="+mn-lt"/>
                <a:ea typeface="+mn-ea"/>
                <a:cs typeface="+mn-cs"/>
              </a:rPr>
              <a:t>But here is where I want to be precise with you: </a:t>
            </a:r>
            <a:r>
              <a:rPr lang="en-IN" sz="1200" b="1" i="0" kern="1200" dirty="0">
                <a:solidFill>
                  <a:schemeClr val="tx1"/>
                </a:solidFill>
                <a:effectLst/>
                <a:latin typeface="+mn-lt"/>
                <a:ea typeface="+mn-ea"/>
                <a:cs typeface="+mn-cs"/>
              </a:rPr>
              <a:t>I do not know who is right.</a:t>
            </a:r>
            <a:r>
              <a:rPr lang="en-IN" sz="1200" b="0" i="0" kern="1200" dirty="0">
                <a:solidFill>
                  <a:schemeClr val="tx1"/>
                </a:solidFill>
                <a:effectLst/>
                <a:latin typeface="+mn-lt"/>
                <a:ea typeface="+mn-ea"/>
                <a:cs typeface="+mn-cs"/>
              </a:rPr>
              <a:t> You do not know who is right. Muddy Waters sometimes gets it completely wrong — see their </a:t>
            </a:r>
            <a:r>
              <a:rPr lang="en-IN" sz="1200" b="1" i="0" kern="1200" dirty="0">
                <a:solidFill>
                  <a:schemeClr val="tx1"/>
                </a:solidFill>
                <a:effectLst/>
                <a:latin typeface="+mn-lt"/>
                <a:ea typeface="+mn-ea"/>
                <a:cs typeface="+mn-cs"/>
              </a:rPr>
              <a:t>Herbalife campaign</a:t>
            </a:r>
            <a:r>
              <a:rPr lang="en-IN" sz="1200" b="0" i="0" kern="1200" dirty="0">
                <a:solidFill>
                  <a:schemeClr val="tx1"/>
                </a:solidFill>
                <a:effectLst/>
                <a:latin typeface="+mn-lt"/>
                <a:ea typeface="+mn-ea"/>
                <a:cs typeface="+mn-cs"/>
              </a:rPr>
              <a:t>, which cost them significant credibility. But Muddy Waters also got it completely right in cases like </a:t>
            </a:r>
            <a:r>
              <a:rPr lang="en-IN" sz="1200" b="1" i="0" kern="1200" dirty="0">
                <a:solidFill>
                  <a:schemeClr val="tx1"/>
                </a:solidFill>
                <a:effectLst/>
                <a:latin typeface="+mn-lt"/>
                <a:ea typeface="+mn-ea"/>
                <a:cs typeface="+mn-cs"/>
              </a:rPr>
              <a:t>Luckin Coffee</a:t>
            </a:r>
            <a:r>
              <a:rPr lang="en-IN" sz="1200" b="0" i="0" kern="1200" dirty="0">
                <a:solidFill>
                  <a:schemeClr val="tx1"/>
                </a:solidFill>
                <a:effectLst/>
                <a:latin typeface="+mn-lt"/>
                <a:ea typeface="+mn-ea"/>
                <a:cs typeface="+mn-cs"/>
              </a:rPr>
              <a:t> and </a:t>
            </a:r>
            <a:r>
              <a:rPr lang="en-IN" sz="1200" b="1" i="0" kern="1200" dirty="0">
                <a:solidFill>
                  <a:schemeClr val="tx1"/>
                </a:solidFill>
                <a:effectLst/>
                <a:latin typeface="+mn-lt"/>
                <a:ea typeface="+mn-ea"/>
                <a:cs typeface="+mn-cs"/>
              </a:rPr>
              <a:t>NMC Health</a:t>
            </a:r>
            <a:r>
              <a:rPr lang="en-IN" sz="1200" b="0" i="0" kern="1200" dirty="0">
                <a:solidFill>
                  <a:schemeClr val="tx1"/>
                </a:solidFill>
                <a:effectLst/>
                <a:latin typeface="+mn-lt"/>
                <a:ea typeface="+mn-ea"/>
                <a:cs typeface="+mn-cs"/>
              </a:rPr>
              <a:t>, where they identified genuine accounting fraud that regulators subsequently confirmed. The track record cuts both ways.</a:t>
            </a:r>
          </a:p>
          <a:p>
            <a:r>
              <a:rPr lang="en-IN" sz="1200" b="0" i="0" kern="1200" dirty="0">
                <a:solidFill>
                  <a:schemeClr val="tx1"/>
                </a:solidFill>
                <a:effectLst/>
                <a:latin typeface="+mn-lt"/>
                <a:ea typeface="+mn-ea"/>
                <a:cs typeface="+mn-cs"/>
              </a:rPr>
              <a:t>What I know is this: the </a:t>
            </a:r>
            <a:r>
              <a:rPr lang="en-IN" sz="1200" b="1" i="0" kern="1200" dirty="0">
                <a:solidFill>
                  <a:schemeClr val="tx1"/>
                </a:solidFill>
                <a:effectLst/>
                <a:latin typeface="+mn-lt"/>
                <a:ea typeface="+mn-ea"/>
                <a:cs typeface="+mn-cs"/>
              </a:rPr>
              <a:t>cloud of doubt</a:t>
            </a:r>
            <a:r>
              <a:rPr lang="en-IN" sz="1200" b="0" i="0" kern="1200" dirty="0">
                <a:solidFill>
                  <a:schemeClr val="tx1"/>
                </a:solidFill>
                <a:effectLst/>
                <a:latin typeface="+mn-lt"/>
                <a:ea typeface="+mn-ea"/>
                <a:cs typeface="+mn-cs"/>
              </a:rPr>
              <a:t> is real and it is not resolved. Any SEC comment letter, regulatory inquiry, or external auditor disagreement would be a </a:t>
            </a:r>
            <a:r>
              <a:rPr lang="en-IN" sz="1200" b="1" i="0" kern="1200" dirty="0">
                <a:solidFill>
                  <a:schemeClr val="tx1"/>
                </a:solidFill>
                <a:effectLst/>
                <a:latin typeface="+mn-lt"/>
                <a:ea typeface="+mn-ea"/>
                <a:cs typeface="+mn-cs"/>
              </a:rPr>
              <a:t>severe negative catalyst</a:t>
            </a:r>
            <a:r>
              <a:rPr lang="en-IN" sz="1200" b="0" i="0" kern="1200" dirty="0">
                <a:solidFill>
                  <a:schemeClr val="tx1"/>
                </a:solidFill>
                <a:effectLst/>
                <a:latin typeface="+mn-lt"/>
                <a:ea typeface="+mn-ea"/>
                <a:cs typeface="+mn-cs"/>
              </a:rPr>
              <a:t>. This is the </a:t>
            </a:r>
            <a:r>
              <a:rPr lang="en-IN" sz="1200" b="1" i="0" kern="1200" dirty="0">
                <a:solidFill>
                  <a:schemeClr val="tx1"/>
                </a:solidFill>
                <a:effectLst/>
                <a:latin typeface="+mn-lt"/>
                <a:ea typeface="+mn-ea"/>
                <a:cs typeface="+mn-cs"/>
              </a:rPr>
              <a:t>single biggest risk</a:t>
            </a:r>
            <a:r>
              <a:rPr lang="en-IN" sz="1200" b="0" i="0" kern="1200" dirty="0">
                <a:solidFill>
                  <a:schemeClr val="tx1"/>
                </a:solidFill>
                <a:effectLst/>
                <a:latin typeface="+mn-lt"/>
                <a:ea typeface="+mn-ea"/>
                <a:cs typeface="+mn-cs"/>
              </a:rPr>
              <a:t> in owning SoFi today.</a:t>
            </a:r>
          </a:p>
          <a:p>
            <a:r>
              <a:rPr lang="en-IN" sz="1200" b="1" i="0" kern="1200" dirty="0">
                <a:solidFill>
                  <a:schemeClr val="tx1"/>
                </a:solidFill>
                <a:effectLst/>
                <a:latin typeface="+mn-lt"/>
                <a:ea typeface="+mn-ea"/>
                <a:cs typeface="+mn-cs"/>
              </a:rPr>
              <a:t>CRITICAL RISK TWO: Valuation Multiple Confusion — Bank versus Software.</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CEO Noto explicitly argues that SoFi should be valued as a </a:t>
            </a:r>
            <a:r>
              <a:rPr lang="en-IN" sz="1200" b="1" i="0" kern="1200" dirty="0">
                <a:solidFill>
                  <a:schemeClr val="tx1"/>
                </a:solidFill>
                <a:effectLst/>
                <a:latin typeface="+mn-lt"/>
                <a:ea typeface="+mn-ea"/>
                <a:cs typeface="+mn-cs"/>
              </a:rPr>
              <a:t>software or platform company</a:t>
            </a:r>
            <a:r>
              <a:rPr lang="en-IN" sz="1200" b="0" i="0" kern="1200" dirty="0">
                <a:solidFill>
                  <a:schemeClr val="tx1"/>
                </a:solidFill>
                <a:effectLst/>
                <a:latin typeface="+mn-lt"/>
                <a:ea typeface="+mn-ea"/>
                <a:cs typeface="+mn-cs"/>
              </a:rPr>
              <a:t> at </a:t>
            </a:r>
            <a:r>
              <a:rPr lang="en-IN" sz="1200" b="1" i="0" kern="1200" dirty="0">
                <a:solidFill>
                  <a:schemeClr val="tx1"/>
                </a:solidFill>
                <a:effectLst/>
                <a:latin typeface="+mn-lt"/>
                <a:ea typeface="+mn-ea"/>
                <a:cs typeface="+mn-cs"/>
              </a:rPr>
              <a:t>five to 10x revenue</a:t>
            </a:r>
            <a:r>
              <a:rPr lang="en-IN" sz="1200" b="0" i="0" kern="1200" dirty="0">
                <a:solidFill>
                  <a:schemeClr val="tx1"/>
                </a:solidFill>
                <a:effectLst/>
                <a:latin typeface="+mn-lt"/>
                <a:ea typeface="+mn-ea"/>
                <a:cs typeface="+mn-cs"/>
              </a:rPr>
              <a:t>. At $21B market cap on $4.655B 2026 estimate revenue, SoFi currently trades at approximately </a:t>
            </a:r>
            <a:r>
              <a:rPr lang="en-IN" sz="1200" b="1" i="0" kern="1200" dirty="0">
                <a:solidFill>
                  <a:schemeClr val="tx1"/>
                </a:solidFill>
                <a:effectLst/>
                <a:latin typeface="+mn-lt"/>
                <a:ea typeface="+mn-ea"/>
                <a:cs typeface="+mn-cs"/>
              </a:rPr>
              <a:t>four point 5x forward revenue</a:t>
            </a:r>
            <a:r>
              <a:rPr lang="en-IN" sz="1200" b="0" i="0" kern="1200" dirty="0">
                <a:solidFill>
                  <a:schemeClr val="tx1"/>
                </a:solidFill>
                <a:effectLst/>
                <a:latin typeface="+mn-lt"/>
                <a:ea typeface="+mn-ea"/>
                <a:cs typeface="+mn-cs"/>
              </a:rPr>
              <a:t>. That is in the range of lower-end software multiples.</a:t>
            </a:r>
          </a:p>
          <a:p>
            <a:r>
              <a:rPr lang="en-IN" sz="1200" b="0" i="0" kern="1200" dirty="0">
                <a:solidFill>
                  <a:schemeClr val="tx1"/>
                </a:solidFill>
                <a:effectLst/>
                <a:latin typeface="+mn-lt"/>
                <a:ea typeface="+mn-ea"/>
                <a:cs typeface="+mn-cs"/>
              </a:rPr>
              <a:t>But here is the bear case math: </a:t>
            </a:r>
            <a:r>
              <a:rPr lang="en-IN" sz="1200" b="1" i="0" kern="1200" dirty="0">
                <a:solidFill>
                  <a:schemeClr val="tx1"/>
                </a:solidFill>
                <a:effectLst/>
                <a:latin typeface="+mn-lt"/>
                <a:ea typeface="+mn-ea"/>
                <a:cs typeface="+mn-cs"/>
              </a:rPr>
              <a:t>70% of SoFi's revenue is lending.</a:t>
            </a:r>
            <a:r>
              <a:rPr lang="en-IN" sz="1200" b="0" i="0" kern="1200" dirty="0">
                <a:solidFill>
                  <a:schemeClr val="tx1"/>
                </a:solidFill>
                <a:effectLst/>
                <a:latin typeface="+mn-lt"/>
                <a:ea typeface="+mn-ea"/>
                <a:cs typeface="+mn-cs"/>
              </a:rPr>
              <a:t> Lending is cyclical. Lending is credit-risk-exposed. Lending is interest-rate-sensitive. Traditional bank valuation uses </a:t>
            </a:r>
            <a:r>
              <a:rPr lang="en-IN" sz="1200" b="1" i="0" kern="1200" dirty="0">
                <a:solidFill>
                  <a:schemeClr val="tx1"/>
                </a:solidFill>
                <a:effectLst/>
                <a:latin typeface="+mn-lt"/>
                <a:ea typeface="+mn-ea"/>
                <a:cs typeface="+mn-cs"/>
              </a:rPr>
              <a:t>price-to-book</a:t>
            </a:r>
            <a:r>
              <a:rPr lang="en-IN" sz="1200" b="0" i="0" kern="1200" dirty="0">
                <a:solidFill>
                  <a:schemeClr val="tx1"/>
                </a:solidFill>
                <a:effectLst/>
                <a:latin typeface="+mn-lt"/>
                <a:ea typeface="+mn-ea"/>
                <a:cs typeface="+mn-cs"/>
              </a:rPr>
              <a:t>. At approximately </a:t>
            </a:r>
            <a:r>
              <a:rPr lang="en-IN" sz="1200" b="1" i="0" kern="1200" dirty="0">
                <a:solidFill>
                  <a:schemeClr val="tx1"/>
                </a:solidFill>
                <a:effectLst/>
                <a:latin typeface="+mn-lt"/>
                <a:ea typeface="+mn-ea"/>
                <a:cs typeface="+mn-cs"/>
              </a:rPr>
              <a:t>2x book value</a:t>
            </a:r>
            <a:r>
              <a:rPr lang="en-IN" sz="1200" b="0" i="0" kern="1200" dirty="0">
                <a:solidFill>
                  <a:schemeClr val="tx1"/>
                </a:solidFill>
                <a:effectLst/>
                <a:latin typeface="+mn-lt"/>
                <a:ea typeface="+mn-ea"/>
                <a:cs typeface="+mn-cs"/>
              </a:rPr>
              <a:t>, which is how some bank analysts model SoFi, fair value is approximately **$10–12 per share** — implying the stock is actually **overvalued** at $15.65.</a:t>
            </a:r>
          </a:p>
          <a:p>
            <a:r>
              <a:rPr lang="en-IN" sz="1200" b="0" i="0" kern="1200" dirty="0">
                <a:solidFill>
                  <a:schemeClr val="tx1"/>
                </a:solidFill>
                <a:effectLst/>
                <a:latin typeface="+mn-lt"/>
                <a:ea typeface="+mn-ea"/>
                <a:cs typeface="+mn-cs"/>
              </a:rPr>
              <a:t>If the market decides SoFi is a </a:t>
            </a:r>
            <a:r>
              <a:rPr lang="en-IN" sz="1200" b="1" i="0" kern="1200" dirty="0">
                <a:solidFill>
                  <a:schemeClr val="tx1"/>
                </a:solidFill>
                <a:effectLst/>
                <a:latin typeface="+mn-lt"/>
                <a:ea typeface="+mn-ea"/>
                <a:cs typeface="+mn-cs"/>
              </a:rPr>
              <a:t>bank</a:t>
            </a:r>
            <a:r>
              <a:rPr lang="en-IN" sz="1200" b="0" i="0" kern="1200" dirty="0">
                <a:solidFill>
                  <a:schemeClr val="tx1"/>
                </a:solidFill>
                <a:effectLst/>
                <a:latin typeface="+mn-lt"/>
                <a:ea typeface="+mn-ea"/>
                <a:cs typeface="+mn-cs"/>
              </a:rPr>
              <a:t> — not software — the multiple compression could be </a:t>
            </a:r>
            <a:r>
              <a:rPr lang="en-IN" sz="1200" b="1" i="0" kern="1200" dirty="0">
                <a:solidFill>
                  <a:schemeClr val="tx1"/>
                </a:solidFill>
                <a:effectLst/>
                <a:latin typeface="+mn-lt"/>
                <a:ea typeface="+mn-ea"/>
                <a:cs typeface="+mn-cs"/>
              </a:rPr>
              <a:t>40–60%</a:t>
            </a:r>
            <a:r>
              <a:rPr lang="en-IN" sz="1200" b="0" i="0" kern="1200" dirty="0">
                <a:solidFill>
                  <a:schemeClr val="tx1"/>
                </a:solidFill>
                <a:effectLst/>
                <a:latin typeface="+mn-lt"/>
                <a:ea typeface="+mn-ea"/>
                <a:cs typeface="+mn-cs"/>
              </a:rPr>
              <a:t>. The Rule of 40 framing is legitimate for the portion of the business that is truly platform revenue. But applying it to the entire company when most revenue comes from lending is a stretch that some investors will not accept.</a:t>
            </a:r>
          </a:p>
          <a:p>
            <a:r>
              <a:rPr lang="en-IN" sz="1200" b="1" i="0" kern="1200" dirty="0">
                <a:solidFill>
                  <a:schemeClr val="tx1"/>
                </a:solidFill>
                <a:effectLst/>
                <a:latin typeface="+mn-lt"/>
                <a:ea typeface="+mn-ea"/>
                <a:cs typeface="+mn-cs"/>
              </a:rPr>
              <a:t>HIGH RISK THREE: Technology Platform Revenue Down 27% Year Over Year.</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The Galileo and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B2B business — the </a:t>
            </a:r>
            <a:r>
              <a:rPr lang="en-IN" sz="1200" b="1" i="0" kern="1200" dirty="0">
                <a:solidFill>
                  <a:schemeClr val="tx1"/>
                </a:solidFill>
                <a:effectLst/>
                <a:latin typeface="+mn-lt"/>
                <a:ea typeface="+mn-ea"/>
                <a:cs typeface="+mn-cs"/>
              </a:rPr>
              <a:t>AWS of Fintech</a:t>
            </a:r>
            <a:r>
              <a:rPr lang="en-IN" sz="1200" b="0" i="0" kern="1200" dirty="0">
                <a:solidFill>
                  <a:schemeClr val="tx1"/>
                </a:solidFill>
                <a:effectLst/>
                <a:latin typeface="+mn-lt"/>
                <a:ea typeface="+mn-ea"/>
                <a:cs typeface="+mn-cs"/>
              </a:rPr>
              <a:t> — saw revenue decline </a:t>
            </a:r>
            <a:r>
              <a:rPr lang="en-IN" sz="1200" b="1" i="0" kern="1200" dirty="0">
                <a:solidFill>
                  <a:schemeClr val="tx1"/>
                </a:solidFill>
                <a:effectLst/>
                <a:latin typeface="+mn-lt"/>
                <a:ea typeface="+mn-ea"/>
                <a:cs typeface="+mn-cs"/>
              </a:rPr>
              <a:t>27%</a:t>
            </a:r>
            <a:r>
              <a:rPr lang="en-IN" sz="1200" b="0" i="0" kern="1200" dirty="0">
                <a:solidFill>
                  <a:schemeClr val="tx1"/>
                </a:solidFill>
                <a:effectLst/>
                <a:latin typeface="+mn-lt"/>
                <a:ea typeface="+mn-ea"/>
                <a:cs typeface="+mn-cs"/>
              </a:rPr>
              <a:t> year over year in Q1 2026. The reason was a </a:t>
            </a:r>
            <a:r>
              <a:rPr lang="en-IN" sz="1200" b="1" i="0" kern="1200" dirty="0">
                <a:solidFill>
                  <a:schemeClr val="tx1"/>
                </a:solidFill>
                <a:effectLst/>
                <a:latin typeface="+mn-lt"/>
                <a:ea typeface="+mn-ea"/>
                <a:cs typeface="+mn-cs"/>
              </a:rPr>
              <a:t>single large client</a:t>
            </a:r>
            <a:r>
              <a:rPr lang="en-IN" sz="1200" b="0" i="0" kern="1200" dirty="0">
                <a:solidFill>
                  <a:schemeClr val="tx1"/>
                </a:solidFill>
                <a:effectLst/>
                <a:latin typeface="+mn-lt"/>
                <a:ea typeface="+mn-ea"/>
                <a:cs typeface="+mn-cs"/>
              </a:rPr>
              <a:t> departing the platform before the end of 2025. Galileo's total enabled accounts have stalled at approximately </a:t>
            </a:r>
            <a:r>
              <a:rPr lang="en-IN" sz="1200" b="1" i="0" kern="1200" dirty="0">
                <a:solidFill>
                  <a:schemeClr val="tx1"/>
                </a:solidFill>
                <a:effectLst/>
                <a:latin typeface="+mn-lt"/>
                <a:ea typeface="+mn-ea"/>
                <a:cs typeface="+mn-cs"/>
              </a:rPr>
              <a:t>128.5M</a:t>
            </a:r>
            <a:r>
              <a:rPr lang="en-IN" sz="1200" b="0" i="0" kern="1200" dirty="0">
                <a:solidFill>
                  <a:schemeClr val="tx1"/>
                </a:solidFill>
                <a:effectLst/>
                <a:latin typeface="+mn-lt"/>
                <a:ea typeface="+mn-ea"/>
                <a:cs typeface="+mn-cs"/>
              </a:rPr>
              <a:t> — there has been no meaningful growth in the headline account number.</a:t>
            </a:r>
          </a:p>
          <a:p>
            <a:r>
              <a:rPr lang="en-IN" sz="1200" b="0" i="0" kern="1200" dirty="0">
                <a:solidFill>
                  <a:schemeClr val="tx1"/>
                </a:solidFill>
                <a:effectLst/>
                <a:latin typeface="+mn-lt"/>
                <a:ea typeface="+mn-ea"/>
                <a:cs typeface="+mn-cs"/>
              </a:rPr>
              <a:t>If the B2B platform cannot re-accelerate — if it stays at $75M per quarter or declines further — then the highest-margin, most defensible, most software-like part of the SoFi story is actually a </a:t>
            </a:r>
            <a:r>
              <a:rPr lang="en-IN" sz="1200" b="1" i="0" kern="1200" dirty="0">
                <a:solidFill>
                  <a:schemeClr val="tx1"/>
                </a:solidFill>
                <a:effectLst/>
                <a:latin typeface="+mn-lt"/>
                <a:ea typeface="+mn-ea"/>
                <a:cs typeface="+mn-cs"/>
              </a:rPr>
              <a:t>liability</a:t>
            </a:r>
            <a:r>
              <a:rPr lang="en-IN" sz="1200" b="0" i="0" kern="1200" dirty="0">
                <a:solidFill>
                  <a:schemeClr val="tx1"/>
                </a:solidFill>
                <a:effectLst/>
                <a:latin typeface="+mn-lt"/>
                <a:ea typeface="+mn-ea"/>
                <a:cs typeface="+mn-cs"/>
              </a:rPr>
              <a:t>. The "AWS of Fintech" becomes a cautionary tale rather than a competitive moat.</a:t>
            </a:r>
          </a:p>
          <a:p>
            <a:r>
              <a:rPr lang="en-IN" sz="1200" b="0" i="0" kern="1200" dirty="0">
                <a:solidFill>
                  <a:schemeClr val="tx1"/>
                </a:solidFill>
                <a:effectLst/>
                <a:latin typeface="+mn-lt"/>
                <a:ea typeface="+mn-ea"/>
                <a:cs typeface="+mn-cs"/>
              </a:rPr>
              <a:t>This is not yet a crisis. But it is a </a:t>
            </a:r>
            <a:r>
              <a:rPr lang="en-IN" sz="1200" b="1" i="0" kern="1200" dirty="0">
                <a:solidFill>
                  <a:schemeClr val="tx1"/>
                </a:solidFill>
                <a:effectLst/>
                <a:latin typeface="+mn-lt"/>
                <a:ea typeface="+mn-ea"/>
                <a:cs typeface="+mn-cs"/>
              </a:rPr>
              <a:t>watch item</a:t>
            </a:r>
            <a:r>
              <a:rPr lang="en-IN" sz="1200" b="0" i="0" kern="1200" dirty="0">
                <a:solidFill>
                  <a:schemeClr val="tx1"/>
                </a:solidFill>
                <a:effectLst/>
                <a:latin typeface="+mn-lt"/>
                <a:ea typeface="+mn-ea"/>
                <a:cs typeface="+mn-cs"/>
              </a:rPr>
              <a:t> that is very close to becoming one.</a:t>
            </a:r>
          </a:p>
          <a:p>
            <a:r>
              <a:rPr lang="en-IN" sz="1200" b="1" i="0" kern="1200" dirty="0">
                <a:solidFill>
                  <a:schemeClr val="tx1"/>
                </a:solidFill>
                <a:effectLst/>
                <a:latin typeface="+mn-lt"/>
                <a:ea typeface="+mn-ea"/>
                <a:cs typeface="+mn-cs"/>
              </a:rPr>
              <a:t>HIGH RISK FOUR: Macro and Credit Quality — No Fed Cuts; Net Charge-Offs Rising.</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Q1 2026 net charge-offs: </a:t>
            </a:r>
            <a:r>
              <a:rPr lang="en-IN" sz="1200" b="1" i="0" kern="1200" dirty="0">
                <a:solidFill>
                  <a:schemeClr val="tx1"/>
                </a:solidFill>
                <a:effectLst/>
                <a:latin typeface="+mn-lt"/>
                <a:ea typeface="+mn-ea"/>
                <a:cs typeface="+mn-cs"/>
              </a:rPr>
              <a:t>$201.6M</a:t>
            </a:r>
            <a:r>
              <a:rPr lang="en-IN" sz="1200" b="0" i="0" kern="1200" dirty="0">
                <a:solidFill>
                  <a:schemeClr val="tx1"/>
                </a:solidFill>
                <a:effectLst/>
                <a:latin typeface="+mn-lt"/>
                <a:ea typeface="+mn-ea"/>
                <a:cs typeface="+mn-cs"/>
              </a:rPr>
              <a:t>. Rising year over year even as delinquencies improved. CEO Noto held FY guidance flat after Q1 because the original guidance had assumed </a:t>
            </a:r>
            <a:r>
              <a:rPr lang="en-IN" sz="1200" b="1" i="0" kern="1200" dirty="0">
                <a:solidFill>
                  <a:schemeClr val="tx1"/>
                </a:solidFill>
                <a:effectLst/>
                <a:latin typeface="+mn-lt"/>
                <a:ea typeface="+mn-ea"/>
                <a:cs typeface="+mn-cs"/>
              </a:rPr>
              <a:t>2+ Federal Reserve rate cuts</a:t>
            </a:r>
            <a:r>
              <a:rPr lang="en-IN" sz="1200" b="0" i="0" kern="1200" dirty="0">
                <a:solidFill>
                  <a:schemeClr val="tx1"/>
                </a:solidFill>
                <a:effectLst/>
                <a:latin typeface="+mn-lt"/>
                <a:ea typeface="+mn-ea"/>
                <a:cs typeface="+mn-cs"/>
              </a:rPr>
              <a:t> that are no longer expected.</a:t>
            </a:r>
          </a:p>
          <a:p>
            <a:r>
              <a:rPr lang="en-IN" sz="1200" b="0" i="0" kern="1200" dirty="0">
                <a:solidFill>
                  <a:schemeClr val="tx1"/>
                </a:solidFill>
                <a:effectLst/>
                <a:latin typeface="+mn-lt"/>
                <a:ea typeface="+mn-ea"/>
                <a:cs typeface="+mn-cs"/>
              </a:rPr>
              <a:t>Tariff-driven macro uncertainty could push the US economy toward a slowdown or recession. In a hard landing scenario, personal loan charge-offs could spike well above the </a:t>
            </a:r>
            <a:r>
              <a:rPr lang="en-IN" sz="1200" b="1" i="0" kern="1200" dirty="0">
                <a:solidFill>
                  <a:schemeClr val="tx1"/>
                </a:solidFill>
                <a:effectLst/>
                <a:latin typeface="+mn-lt"/>
                <a:ea typeface="+mn-ea"/>
                <a:cs typeface="+mn-cs"/>
              </a:rPr>
              <a:t>3.37%</a:t>
            </a:r>
            <a:r>
              <a:rPr lang="en-IN" sz="1200" b="0" i="0" kern="1200" dirty="0">
                <a:solidFill>
                  <a:schemeClr val="tx1"/>
                </a:solidFill>
                <a:effectLst/>
                <a:latin typeface="+mn-lt"/>
                <a:ea typeface="+mn-ea"/>
                <a:cs typeface="+mn-cs"/>
              </a:rPr>
              <a:t> current rate. If charge-offs breach </a:t>
            </a:r>
            <a:r>
              <a:rPr lang="en-IN" sz="1200" b="1" i="0" kern="1200" dirty="0">
                <a:solidFill>
                  <a:schemeClr val="tx1"/>
                </a:solidFill>
                <a:effectLst/>
                <a:latin typeface="+mn-lt"/>
                <a:ea typeface="+mn-ea"/>
                <a:cs typeface="+mn-cs"/>
              </a:rPr>
              <a:t>four to 5%</a:t>
            </a:r>
            <a:r>
              <a:rPr lang="en-IN" sz="1200" b="0" i="0" kern="1200" dirty="0">
                <a:solidFill>
                  <a:schemeClr val="tx1"/>
                </a:solidFill>
                <a:effectLst/>
                <a:latin typeface="+mn-lt"/>
                <a:ea typeface="+mn-ea"/>
                <a:cs typeface="+mn-cs"/>
              </a:rPr>
              <a:t>, the lending economics deteriorate sharply. At 5% charge-offs on a forty-billion-dollar loan book, losses jump to </a:t>
            </a:r>
            <a:r>
              <a:rPr lang="en-IN" sz="1200" b="1" i="0" kern="1200" dirty="0">
                <a:solidFill>
                  <a:schemeClr val="tx1"/>
                </a:solidFill>
                <a:effectLst/>
                <a:latin typeface="+mn-lt"/>
                <a:ea typeface="+mn-ea"/>
                <a:cs typeface="+mn-cs"/>
              </a:rPr>
              <a:t>two billion dollars annually</a:t>
            </a:r>
            <a:r>
              <a:rPr lang="en-IN" sz="1200" b="0" i="0" kern="1200" dirty="0">
                <a:solidFill>
                  <a:schemeClr val="tx1"/>
                </a:solidFill>
                <a:effectLst/>
                <a:latin typeface="+mn-lt"/>
                <a:ea typeface="+mn-ea"/>
                <a:cs typeface="+mn-cs"/>
              </a:rPr>
              <a:t>. That changes the profitability picture dramatically.</a:t>
            </a:r>
          </a:p>
          <a:p>
            <a:r>
              <a:rPr lang="en-IN" sz="1200" b="0" i="0" kern="1200" dirty="0">
                <a:solidFill>
                  <a:schemeClr val="tx1"/>
                </a:solidFill>
                <a:effectLst/>
                <a:latin typeface="+mn-lt"/>
                <a:ea typeface="+mn-ea"/>
                <a:cs typeface="+mn-cs"/>
              </a:rPr>
              <a:t>SoFi's FICO 748 average is a genuine buffer. High-credit borrowers default at lower rates. But </a:t>
            </a:r>
            <a:r>
              <a:rPr lang="en-IN" sz="1200" b="1" i="0" kern="1200" dirty="0">
                <a:solidFill>
                  <a:schemeClr val="tx1"/>
                </a:solidFill>
                <a:effectLst/>
                <a:latin typeface="+mn-lt"/>
                <a:ea typeface="+mn-ea"/>
                <a:cs typeface="+mn-cs"/>
              </a:rPr>
              <a:t>no lender is immune</a:t>
            </a:r>
            <a:r>
              <a:rPr lang="en-IN" sz="1200" b="0" i="0" kern="1200" dirty="0">
                <a:solidFill>
                  <a:schemeClr val="tx1"/>
                </a:solidFill>
                <a:effectLst/>
                <a:latin typeface="+mn-lt"/>
                <a:ea typeface="+mn-ea"/>
                <a:cs typeface="+mn-cs"/>
              </a:rPr>
              <a:t> to a severe macro downturn.</a:t>
            </a:r>
          </a:p>
          <a:p>
            <a:r>
              <a:rPr lang="en-IN" sz="1200" b="1" i="0" kern="1200" dirty="0">
                <a:solidFill>
                  <a:schemeClr val="tx1"/>
                </a:solidFill>
                <a:effectLst/>
                <a:latin typeface="+mn-lt"/>
                <a:ea typeface="+mn-ea"/>
                <a:cs typeface="+mn-cs"/>
              </a:rPr>
              <a:t>MEDIUM RISK FIVE: Stock Down 40% Year-to-Date Despite Record Fundamentals.</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This is either the </a:t>
            </a:r>
            <a:r>
              <a:rPr lang="en-IN" sz="1200" b="1" i="0" kern="1200" dirty="0">
                <a:solidFill>
                  <a:schemeClr val="tx1"/>
                </a:solidFill>
                <a:effectLst/>
                <a:latin typeface="+mn-lt"/>
                <a:ea typeface="+mn-ea"/>
                <a:cs typeface="+mn-cs"/>
              </a:rPr>
              <a:t>best buying opportunity</a:t>
            </a:r>
            <a:r>
              <a:rPr lang="en-IN" sz="1200" b="0" i="0" kern="1200" dirty="0">
                <a:solidFill>
                  <a:schemeClr val="tx1"/>
                </a:solidFill>
                <a:effectLst/>
                <a:latin typeface="+mn-lt"/>
                <a:ea typeface="+mn-ea"/>
                <a:cs typeface="+mn-cs"/>
              </a:rPr>
              <a:t> in SoFi's recent history — or it is a market signal that the fundamentals are </a:t>
            </a:r>
            <a:r>
              <a:rPr lang="en-IN" sz="1200" b="1" i="0" kern="1200" dirty="0">
                <a:solidFill>
                  <a:schemeClr val="tx1"/>
                </a:solidFill>
                <a:effectLst/>
                <a:latin typeface="+mn-lt"/>
                <a:ea typeface="+mn-ea"/>
                <a:cs typeface="+mn-cs"/>
              </a:rPr>
              <a:t>not as strong as reported</a:t>
            </a:r>
            <a:r>
              <a:rPr lang="en-IN" sz="1200" b="0" i="0" kern="1200" dirty="0">
                <a:solidFill>
                  <a:schemeClr val="tx1"/>
                </a:solidFill>
                <a:effectLst/>
                <a:latin typeface="+mn-lt"/>
                <a:ea typeface="+mn-ea"/>
                <a:cs typeface="+mn-cs"/>
              </a:rPr>
              <a:t>. The stock hit </a:t>
            </a:r>
            <a:r>
              <a:rPr lang="en-IN" sz="1200" b="1" i="0" kern="1200" dirty="0">
                <a:solidFill>
                  <a:schemeClr val="tx1"/>
                </a:solidFill>
                <a:effectLst/>
                <a:latin typeface="+mn-lt"/>
                <a:ea typeface="+mn-ea"/>
                <a:cs typeface="+mn-cs"/>
              </a:rPr>
              <a:t>$32.73** in late 2025 and is now **$15.65</a:t>
            </a:r>
            <a:r>
              <a:rPr lang="en-IN" sz="1200" b="0" i="0" kern="1200" dirty="0">
                <a:solidFill>
                  <a:schemeClr val="tx1"/>
                </a:solidFill>
                <a:effectLst/>
                <a:latin typeface="+mn-lt"/>
                <a:ea typeface="+mn-ea"/>
                <a:cs typeface="+mn-cs"/>
              </a:rPr>
              <a:t>. BofA rates the stock </a:t>
            </a:r>
            <a:r>
              <a:rPr lang="en-IN" sz="1200" b="1" i="0" kern="1200" dirty="0">
                <a:solidFill>
                  <a:schemeClr val="tx1"/>
                </a:solidFill>
                <a:effectLst/>
                <a:latin typeface="+mn-lt"/>
                <a:ea typeface="+mn-ea"/>
                <a:cs typeface="+mn-cs"/>
              </a:rPr>
              <a:t>Underperform</a:t>
            </a:r>
            <a:r>
              <a:rPr lang="en-IN" sz="1200" b="0" i="0" kern="1200" dirty="0">
                <a:solidFill>
                  <a:schemeClr val="tx1"/>
                </a:solidFill>
                <a:effectLst/>
                <a:latin typeface="+mn-lt"/>
                <a:ea typeface="+mn-ea"/>
                <a:cs typeface="+mn-cs"/>
              </a:rPr>
              <a:t> with an eighteen dollar target. TD Cowen rates it </a:t>
            </a:r>
            <a:r>
              <a:rPr lang="en-IN" sz="1200" b="1" i="0" kern="1200" dirty="0">
                <a:solidFill>
                  <a:schemeClr val="tx1"/>
                </a:solidFill>
                <a:effectLst/>
                <a:latin typeface="+mn-lt"/>
                <a:ea typeface="+mn-ea"/>
                <a:cs typeface="+mn-cs"/>
              </a:rPr>
              <a:t>Hold</a:t>
            </a:r>
            <a:r>
              <a:rPr lang="en-IN" sz="1200" b="0" i="0" kern="1200" dirty="0">
                <a:solidFill>
                  <a:schemeClr val="tx1"/>
                </a:solidFill>
                <a:effectLst/>
                <a:latin typeface="+mn-lt"/>
                <a:ea typeface="+mn-ea"/>
                <a:cs typeface="+mn-cs"/>
              </a:rPr>
              <a:t> at $17. KBW rates it **Underperform** at $17. The only </a:t>
            </a:r>
            <a:r>
              <a:rPr lang="en-IN" sz="1200" b="1" i="0" kern="1200" dirty="0">
                <a:solidFill>
                  <a:schemeClr val="tx1"/>
                </a:solidFill>
                <a:effectLst/>
                <a:latin typeface="+mn-lt"/>
                <a:ea typeface="+mn-ea"/>
                <a:cs typeface="+mn-cs"/>
              </a:rPr>
              <a:t>Buy-rated</a:t>
            </a:r>
            <a:r>
              <a:rPr lang="en-IN" sz="1200" b="0" i="0" kern="1200" dirty="0">
                <a:solidFill>
                  <a:schemeClr val="tx1"/>
                </a:solidFill>
                <a:effectLst/>
                <a:latin typeface="+mn-lt"/>
                <a:ea typeface="+mn-ea"/>
                <a:cs typeface="+mn-cs"/>
              </a:rPr>
              <a:t> major analyst target I can find is Mizuho at </a:t>
            </a:r>
            <a:r>
              <a:rPr lang="en-IN" sz="1200" b="1" i="0" kern="1200" dirty="0">
                <a:solidFill>
                  <a:schemeClr val="tx1"/>
                </a:solidFill>
                <a:effectLst/>
                <a:latin typeface="+mn-lt"/>
                <a:ea typeface="+mn-ea"/>
                <a:cs typeface="+mn-cs"/>
              </a:rPr>
              <a:t>$31</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When three major bank analysts are simultaneously at Underperform or Hold on a stock at the same moment management is celebrating record revenue, that is a </a:t>
            </a:r>
            <a:r>
              <a:rPr lang="en-IN" sz="1200" b="1" i="0" kern="1200" dirty="0">
                <a:solidFill>
                  <a:schemeClr val="tx1"/>
                </a:solidFill>
                <a:effectLst/>
                <a:latin typeface="+mn-lt"/>
                <a:ea typeface="+mn-ea"/>
                <a:cs typeface="+mn-cs"/>
              </a:rPr>
              <a:t>meaningful disagreement</a:t>
            </a:r>
            <a:r>
              <a:rPr lang="en-IN" sz="1200" b="0" i="0" kern="1200" dirty="0">
                <a:solidFill>
                  <a:schemeClr val="tx1"/>
                </a:solidFill>
                <a:effectLst/>
                <a:latin typeface="+mn-lt"/>
                <a:ea typeface="+mn-ea"/>
                <a:cs typeface="+mn-cs"/>
              </a:rPr>
              <a:t> that you need to take seriously.</a:t>
            </a:r>
          </a:p>
          <a:p>
            <a:r>
              <a:rPr lang="en-IN" sz="1200" b="1" i="0" kern="1200" dirty="0">
                <a:solidFill>
                  <a:schemeClr val="tx1"/>
                </a:solidFill>
                <a:effectLst/>
                <a:latin typeface="+mn-lt"/>
                <a:ea typeface="+mn-ea"/>
                <a:cs typeface="+mn-cs"/>
              </a:rPr>
              <a:t>WATCH RISK SIX: Founder Era Governance and SPAC Legacy.</a:t>
            </a:r>
            <a:endParaRPr lang="en-IN" sz="1200" b="0" i="0" kern="1200" dirty="0">
              <a:solidFill>
                <a:schemeClr val="tx1"/>
              </a:solidFill>
              <a:effectLst/>
              <a:latin typeface="+mn-lt"/>
              <a:ea typeface="+mn-ea"/>
              <a:cs typeface="+mn-cs"/>
            </a:endParaRPr>
          </a:p>
          <a:p>
            <a:r>
              <a:rPr lang="en-IN" sz="1200" b="1" i="0" kern="1200" dirty="0">
                <a:solidFill>
                  <a:schemeClr val="tx1"/>
                </a:solidFill>
                <a:effectLst/>
                <a:latin typeface="+mn-lt"/>
                <a:ea typeface="+mn-ea"/>
                <a:cs typeface="+mn-cs"/>
              </a:rPr>
              <a:t>Mike Cagney</a:t>
            </a:r>
            <a:r>
              <a:rPr lang="en-IN" sz="1200" b="0" i="0" kern="1200" dirty="0">
                <a:solidFill>
                  <a:schemeClr val="tx1"/>
                </a:solidFill>
                <a:effectLst/>
                <a:latin typeface="+mn-lt"/>
                <a:ea typeface="+mn-ea"/>
                <a:cs typeface="+mn-cs"/>
              </a:rPr>
              <a:t>, the founder, resigned in 2017 following sexual harassment allegations and failures to maintain proper risk and compliance controls. In 2018, SoFi settled FTC charges related to false claims about student loan refinancing savings. The SPAC merger created complex warrant structures and dilution overhangs that still sit in the capital structure. Share count is growing approximately </a:t>
            </a:r>
            <a:r>
              <a:rPr lang="en-IN" sz="1200" b="1" i="0" kern="1200" dirty="0">
                <a:solidFill>
                  <a:schemeClr val="tx1"/>
                </a:solidFill>
                <a:effectLst/>
                <a:latin typeface="+mn-lt"/>
                <a:ea typeface="+mn-ea"/>
                <a:cs typeface="+mn-cs"/>
              </a:rPr>
              <a:t>2% annually</a:t>
            </a:r>
            <a:r>
              <a:rPr lang="en-IN" sz="1200" b="0" i="0" kern="1200" dirty="0">
                <a:solidFill>
                  <a:schemeClr val="tx1"/>
                </a:solidFill>
                <a:effectLst/>
                <a:latin typeface="+mn-lt"/>
                <a:ea typeface="+mn-ea"/>
                <a:cs typeface="+mn-cs"/>
              </a:rPr>
              <a:t>. While Noto has rebuilt credibility significantly, any repeat of the type of governance scrutiny the company faced under Cagney would be disproportionately damaging given the Muddy Waters context.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"All of those risks acknowledged — let us now turn to the investment thesis. Because there is a genuine bull case here, if and only if three core beliefs hold simultaneously."]</a:t>
            </a:r>
          </a:p>
          <a:p>
            <a:r>
              <a:rPr lang="en-IN" sz="1200" b="0" i="0" kern="1200" dirty="0">
                <a:solidFill>
                  <a:schemeClr val="tx1"/>
                </a:solidFill>
                <a:effectLst/>
                <a:latin typeface="+mn-lt"/>
                <a:ea typeface="+mn-ea"/>
                <a:cs typeface="+mn-cs"/>
              </a:rPr>
              <a:t>SLIDE 12 — INVESTMENT THESIS: THREE CORE BELIEFS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9: INVESTMENT THESIS — THREE CORE BELIEFS"</a:t>
            </a:r>
          </a:p>
          <a:p>
            <a:r>
              <a:rPr lang="en-IN" sz="1200" b="0" i="0" kern="1200" dirty="0">
                <a:solidFill>
                  <a:schemeClr val="tx1"/>
                </a:solidFill>
                <a:effectLst/>
                <a:latin typeface="+mn-lt"/>
                <a:ea typeface="+mn-ea"/>
                <a:cs typeface="+mn-cs"/>
              </a:rPr>
              <a:t>[STRUCTURED, ANALYTICAL — SPEND 4-5 MINUTES HERE]</a:t>
            </a:r>
          </a:p>
          <a:p>
            <a:r>
              <a:rPr lang="en-IN" sz="1200" b="0" i="0" kern="1200" dirty="0">
                <a:solidFill>
                  <a:schemeClr val="tx1"/>
                </a:solidFill>
                <a:effectLst/>
                <a:latin typeface="+mn-lt"/>
                <a:ea typeface="+mn-ea"/>
                <a:cs typeface="+mn-cs"/>
              </a:rPr>
              <a:t>This is the framework slide. And the key word in the section title is: </a:t>
            </a:r>
            <a:r>
              <a:rPr lang="en-IN" sz="1200" b="1" i="0" kern="1200" dirty="0">
                <a:solidFill>
                  <a:schemeClr val="tx1"/>
                </a:solidFill>
                <a:effectLst/>
                <a:latin typeface="+mn-lt"/>
                <a:ea typeface="+mn-ea"/>
                <a:cs typeface="+mn-cs"/>
              </a:rPr>
              <a:t>simultaneously</a:t>
            </a:r>
            <a:r>
              <a:rPr lang="en-IN" sz="1200" b="0" i="0" kern="1200" dirty="0">
                <a:solidFill>
                  <a:schemeClr val="tx1"/>
                </a:solidFill>
                <a:effectLst/>
                <a:latin typeface="+mn-lt"/>
                <a:ea typeface="+mn-ea"/>
                <a:cs typeface="+mn-cs"/>
              </a:rPr>
              <a:t>. All three of these must hold at the same time for the long-term bull case to work.</a:t>
            </a:r>
          </a:p>
          <a:p>
            <a:r>
              <a:rPr lang="en-IN" sz="1200" b="1" i="0" kern="1200" dirty="0">
                <a:solidFill>
                  <a:schemeClr val="tx1"/>
                </a:solidFill>
                <a:effectLst/>
                <a:latin typeface="+mn-lt"/>
                <a:ea typeface="+mn-ea"/>
                <a:cs typeface="+mn-cs"/>
              </a:rPr>
              <a:t>CORE BELIEF ONE: The Financial Services Productivity Loop Creates Durable Compounding.</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If true: </a:t>
            </a:r>
            <a:r>
              <a:rPr lang="en-IN" sz="1200" b="1" i="0" kern="1200" dirty="0">
                <a:solidFill>
                  <a:schemeClr val="tx1"/>
                </a:solidFill>
                <a:effectLst/>
                <a:latin typeface="+mn-lt"/>
                <a:ea typeface="+mn-ea"/>
                <a:cs typeface="+mn-cs"/>
              </a:rPr>
              <a:t>14.7M</a:t>
            </a:r>
            <a:r>
              <a:rPr lang="en-IN" sz="1200" b="0" i="0" kern="1200" dirty="0">
                <a:solidFill>
                  <a:schemeClr val="tx1"/>
                </a:solidFill>
                <a:effectLst/>
                <a:latin typeface="+mn-lt"/>
                <a:ea typeface="+mn-ea"/>
                <a:cs typeface="+mn-cs"/>
              </a:rPr>
              <a:t> high-FICO members plus bank charter NIM of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plus cross-sell of </a:t>
            </a:r>
            <a:r>
              <a:rPr lang="en-IN" sz="1200" b="1" i="0" kern="1200" dirty="0">
                <a:solidFill>
                  <a:schemeClr val="tx1"/>
                </a:solidFill>
                <a:effectLst/>
                <a:latin typeface="+mn-lt"/>
                <a:ea typeface="+mn-ea"/>
                <a:cs typeface="+mn-cs"/>
              </a:rPr>
              <a:t>43%</a:t>
            </a:r>
            <a:r>
              <a:rPr lang="en-IN" sz="1200" b="0" i="0" kern="1200" dirty="0">
                <a:solidFill>
                  <a:schemeClr val="tx1"/>
                </a:solidFill>
                <a:effectLst/>
                <a:latin typeface="+mn-lt"/>
                <a:ea typeface="+mn-ea"/>
                <a:cs typeface="+mn-cs"/>
              </a:rPr>
              <a:t> of new products from existing members equals compounding lifetime value per member. As members deepen engagement — adding their second product, third product, fourth product — the fee revenue per member grows, the churn rate declines, and the cost of that member relationship amortises across an ever-larger revenue base. Members with </a:t>
            </a:r>
            <a:r>
              <a:rPr lang="en-IN" sz="1200" b="1" i="0" kern="1200" dirty="0">
                <a:solidFill>
                  <a:schemeClr val="tx1"/>
                </a:solidFill>
                <a:effectLst/>
                <a:latin typeface="+mn-lt"/>
                <a:ea typeface="+mn-ea"/>
                <a:cs typeface="+mn-cs"/>
              </a:rPr>
              <a:t>3+ products</a:t>
            </a:r>
            <a:r>
              <a:rPr lang="en-IN" sz="1200" b="0" i="0" kern="1200" dirty="0">
                <a:solidFill>
                  <a:schemeClr val="tx1"/>
                </a:solidFill>
                <a:effectLst/>
                <a:latin typeface="+mn-lt"/>
                <a:ea typeface="+mn-ea"/>
                <a:cs typeface="+mn-cs"/>
              </a:rPr>
              <a:t> have </a:t>
            </a:r>
            <a:r>
              <a:rPr lang="en-IN" sz="1200" b="1" i="0" kern="1200" dirty="0">
                <a:solidFill>
                  <a:schemeClr val="tx1"/>
                </a:solidFill>
                <a:effectLst/>
                <a:latin typeface="+mn-lt"/>
                <a:ea typeface="+mn-ea"/>
                <a:cs typeface="+mn-cs"/>
              </a:rPr>
              <a:t>two to 3x lower churn</a:t>
            </a:r>
            <a:r>
              <a:rPr lang="en-IN" sz="1200" b="0" i="0" kern="1200" dirty="0">
                <a:solidFill>
                  <a:schemeClr val="tx1"/>
                </a:solidFill>
                <a:effectLst/>
                <a:latin typeface="+mn-lt"/>
                <a:ea typeface="+mn-ea"/>
                <a:cs typeface="+mn-cs"/>
              </a:rPr>
              <a:t>. Financial services is sticky. Once you trust a platform with your direct deposit, you very rarely leave.</a:t>
            </a:r>
          </a:p>
          <a:p>
            <a:r>
              <a:rPr lang="en-IN" sz="1200" b="0" i="0" kern="1200" dirty="0">
                <a:solidFill>
                  <a:schemeClr val="tx1"/>
                </a:solidFill>
                <a:effectLst/>
                <a:latin typeface="+mn-lt"/>
                <a:ea typeface="+mn-ea"/>
                <a:cs typeface="+mn-cs"/>
              </a:rPr>
              <a:t>If false: </a:t>
            </a:r>
            <a:r>
              <a:rPr lang="en-IN" sz="1200" b="1" i="0" kern="1200" dirty="0">
                <a:solidFill>
                  <a:schemeClr val="tx1"/>
                </a:solidFill>
                <a:effectLst/>
                <a:latin typeface="+mn-lt"/>
                <a:ea typeface="+mn-ea"/>
                <a:cs typeface="+mn-cs"/>
              </a:rPr>
              <a:t>57%</a:t>
            </a:r>
            <a:r>
              <a:rPr lang="en-IN" sz="1200" b="0" i="0" kern="1200" dirty="0">
                <a:solidFill>
                  <a:schemeClr val="tx1"/>
                </a:solidFill>
                <a:effectLst/>
                <a:latin typeface="+mn-lt"/>
                <a:ea typeface="+mn-ea"/>
                <a:cs typeface="+mn-cs"/>
              </a:rPr>
              <a:t> of SoFi members still only use one product. If the vision of a one-stop-shop financial app plateaus at </a:t>
            </a:r>
            <a:r>
              <a:rPr lang="en-IN" sz="1200" b="1" i="0" kern="1200" dirty="0">
                <a:solidFill>
                  <a:schemeClr val="tx1"/>
                </a:solidFill>
                <a:effectLst/>
                <a:latin typeface="+mn-lt"/>
                <a:ea typeface="+mn-ea"/>
                <a:cs typeface="+mn-cs"/>
              </a:rPr>
              <a:t>1.5 products per member</a:t>
            </a:r>
            <a:r>
              <a:rPr lang="en-IN" sz="1200" b="0" i="0" kern="1200" dirty="0">
                <a:solidFill>
                  <a:schemeClr val="tx1"/>
                </a:solidFill>
                <a:effectLst/>
                <a:latin typeface="+mn-lt"/>
                <a:ea typeface="+mn-ea"/>
                <a:cs typeface="+mn-cs"/>
              </a:rPr>
              <a:t> rather than reaching the </a:t>
            </a:r>
            <a:r>
              <a:rPr lang="en-IN" sz="1200" b="1" i="0" kern="1200" dirty="0">
                <a:solidFill>
                  <a:schemeClr val="tx1"/>
                </a:solidFill>
                <a:effectLst/>
                <a:latin typeface="+mn-lt"/>
                <a:ea typeface="+mn-ea"/>
                <a:cs typeface="+mn-cs"/>
              </a:rPr>
              <a:t>2.5 plus</a:t>
            </a:r>
            <a:r>
              <a:rPr lang="en-IN" sz="1200" b="0" i="0" kern="1200" dirty="0">
                <a:solidFill>
                  <a:schemeClr val="tx1"/>
                </a:solidFill>
                <a:effectLst/>
                <a:latin typeface="+mn-lt"/>
                <a:ea typeface="+mn-ea"/>
                <a:cs typeface="+mn-cs"/>
              </a:rPr>
              <a:t> target, the FSPL becomes a marketing story, not a business model. Growth decelerates, the premium valuation evaporates, and what remains is a decent personal loan company that should be valued like one.</a:t>
            </a:r>
          </a:p>
          <a:p>
            <a:r>
              <a:rPr lang="en-IN" sz="1200" b="1" i="0" kern="1200" dirty="0">
                <a:solidFill>
                  <a:schemeClr val="tx1"/>
                </a:solidFill>
                <a:effectLst/>
                <a:latin typeface="+mn-lt"/>
                <a:ea typeface="+mn-ea"/>
                <a:cs typeface="+mn-cs"/>
              </a:rPr>
              <a:t>CORE BELIEF TWO: The National Bank Charter Creates a Structural NIM Advantage That Compounds.</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If true: deposit cost approximately </a:t>
            </a:r>
            <a:r>
              <a:rPr lang="en-IN" sz="1200" b="1" i="0" kern="1200" dirty="0">
                <a:solidFill>
                  <a:schemeClr val="tx1"/>
                </a:solidFill>
                <a:effectLst/>
                <a:latin typeface="+mn-lt"/>
                <a:ea typeface="+mn-ea"/>
                <a:cs typeface="+mn-cs"/>
              </a:rPr>
              <a:t>1.2%</a:t>
            </a:r>
            <a:r>
              <a:rPr lang="en-IN" sz="1200" b="0" i="0" kern="1200" dirty="0">
                <a:solidFill>
                  <a:schemeClr val="tx1"/>
                </a:solidFill>
                <a:effectLst/>
                <a:latin typeface="+mn-lt"/>
                <a:ea typeface="+mn-ea"/>
                <a:cs typeface="+mn-cs"/>
              </a:rPr>
              <a:t>, NIM </a:t>
            </a:r>
            <a:r>
              <a:rPr lang="en-IN" sz="1200" b="1" i="0" kern="1200" dirty="0">
                <a:solidFill>
                  <a:schemeClr val="tx1"/>
                </a:solidFill>
                <a:effectLst/>
                <a:latin typeface="+mn-lt"/>
                <a:ea typeface="+mn-ea"/>
                <a:cs typeface="+mn-cs"/>
              </a:rPr>
              <a:t>5.94%</a:t>
            </a:r>
            <a:r>
              <a:rPr lang="en-IN" sz="1200" b="0" i="0" kern="1200" dirty="0">
                <a:solidFill>
                  <a:schemeClr val="tx1"/>
                </a:solidFill>
                <a:effectLst/>
                <a:latin typeface="+mn-lt"/>
                <a:ea typeface="+mn-ea"/>
                <a:cs typeface="+mn-cs"/>
              </a:rPr>
              <a:t>, deposit base </a:t>
            </a:r>
            <a:r>
              <a:rPr lang="en-IN" sz="1200" b="1" i="0" kern="1200" dirty="0">
                <a:solidFill>
                  <a:schemeClr val="tx1"/>
                </a:solidFill>
                <a:effectLst/>
                <a:latin typeface="+mn-lt"/>
                <a:ea typeface="+mn-ea"/>
                <a:cs typeface="+mn-cs"/>
              </a:rPr>
              <a:t>$40.2B** — that equals **more than $2.3B of annual net interest income</a:t>
            </a:r>
            <a:r>
              <a:rPr lang="en-IN" sz="1200" b="0" i="0" kern="1200" dirty="0">
                <a:solidFill>
                  <a:schemeClr val="tx1"/>
                </a:solidFill>
                <a:effectLst/>
                <a:latin typeface="+mn-lt"/>
                <a:ea typeface="+mn-ea"/>
                <a:cs typeface="+mn-cs"/>
              </a:rPr>
              <a:t> structurally earned just by having the charter. Digital-only competitors without charters — Chime, Robinhood — cannot replicate this advantage without a </a:t>
            </a:r>
            <a:r>
              <a:rPr lang="en-IN" sz="1200" b="1" i="0" kern="1200" dirty="0">
                <a:solidFill>
                  <a:schemeClr val="tx1"/>
                </a:solidFill>
                <a:effectLst/>
                <a:latin typeface="+mn-lt"/>
                <a:ea typeface="+mn-ea"/>
                <a:cs typeface="+mn-cs"/>
              </a:rPr>
              <a:t>12–24 month regulatory process</a:t>
            </a:r>
            <a:r>
              <a:rPr lang="en-IN" sz="1200" b="0" i="0" kern="1200" dirty="0">
                <a:solidFill>
                  <a:schemeClr val="tx1"/>
                </a:solidFill>
                <a:effectLst/>
                <a:latin typeface="+mn-lt"/>
                <a:ea typeface="+mn-ea"/>
                <a:cs typeface="+mn-cs"/>
              </a:rPr>
              <a:t>. The charter is the most defensible structural moat SoFi has built.</a:t>
            </a:r>
          </a:p>
          <a:p>
            <a:r>
              <a:rPr lang="en-IN" sz="1200" b="0" i="0" kern="1200" dirty="0">
                <a:solidFill>
                  <a:schemeClr val="tx1"/>
                </a:solidFill>
                <a:effectLst/>
                <a:latin typeface="+mn-lt"/>
                <a:ea typeface="+mn-ea"/>
                <a:cs typeface="+mn-cs"/>
              </a:rPr>
              <a:t>If false: net charge-offs are rising. </a:t>
            </a:r>
            <a:r>
              <a:rPr lang="en-IN" sz="1200" b="1" i="0" kern="1200" dirty="0">
                <a:solidFill>
                  <a:schemeClr val="tx1"/>
                </a:solidFill>
                <a:effectLst/>
                <a:latin typeface="+mn-lt"/>
                <a:ea typeface="+mn-ea"/>
                <a:cs typeface="+mn-cs"/>
              </a:rPr>
              <a:t>$201.6M</a:t>
            </a:r>
            <a:r>
              <a:rPr lang="en-IN" sz="1200" b="0" i="0" kern="1200" dirty="0">
                <a:solidFill>
                  <a:schemeClr val="tx1"/>
                </a:solidFill>
                <a:effectLst/>
                <a:latin typeface="+mn-lt"/>
                <a:ea typeface="+mn-ea"/>
                <a:cs typeface="+mn-cs"/>
              </a:rPr>
              <a:t> in Q1. If macro deteriorates and charge-off rates breach </a:t>
            </a:r>
            <a:r>
              <a:rPr lang="en-IN" sz="1200" b="1" i="0" kern="1200" dirty="0">
                <a:solidFill>
                  <a:schemeClr val="tx1"/>
                </a:solidFill>
                <a:effectLst/>
                <a:latin typeface="+mn-lt"/>
                <a:ea typeface="+mn-ea"/>
                <a:cs typeface="+mn-cs"/>
              </a:rPr>
              <a:t>four to 5%</a:t>
            </a:r>
            <a:r>
              <a:rPr lang="en-IN" sz="1200" b="0" i="0" kern="1200" dirty="0">
                <a:solidFill>
                  <a:schemeClr val="tx1"/>
                </a:solidFill>
                <a:effectLst/>
                <a:latin typeface="+mn-lt"/>
                <a:ea typeface="+mn-ea"/>
                <a:cs typeface="+mn-cs"/>
              </a:rPr>
              <a:t>, loan loss provisions eat through the NIM advantage. The 2020 to 2025 loan cohort has </a:t>
            </a:r>
            <a:r>
              <a:rPr lang="en-IN" sz="1200" b="1" i="0" kern="1200" dirty="0">
                <a:solidFill>
                  <a:schemeClr val="tx1"/>
                </a:solidFill>
                <a:effectLst/>
                <a:latin typeface="+mn-lt"/>
                <a:ea typeface="+mn-ea"/>
                <a:cs typeface="+mn-cs"/>
              </a:rPr>
              <a:t>six point 7% cumulative net losses</a:t>
            </a:r>
            <a:r>
              <a:rPr lang="en-IN" sz="1200" b="0" i="0" kern="1200" dirty="0">
                <a:solidFill>
                  <a:schemeClr val="tx1"/>
                </a:solidFill>
                <a:effectLst/>
                <a:latin typeface="+mn-lt"/>
                <a:ea typeface="+mn-ea"/>
                <a:cs typeface="+mn-cs"/>
              </a:rPr>
              <a:t> on 60% of paid-down principal. If the remaining 40% performs worse than expected, the </a:t>
            </a:r>
            <a:r>
              <a:rPr lang="en-IN" sz="1200" b="1" i="0" kern="1200" dirty="0">
                <a:solidFill>
                  <a:schemeClr val="tx1"/>
                </a:solidFill>
                <a:effectLst/>
                <a:latin typeface="+mn-lt"/>
                <a:ea typeface="+mn-ea"/>
                <a:cs typeface="+mn-cs"/>
              </a:rPr>
              <a:t>8% loss tolerance</a:t>
            </a:r>
            <a:r>
              <a:rPr lang="en-IN" sz="1200" b="0" i="0" kern="1200" dirty="0">
                <a:solidFill>
                  <a:schemeClr val="tx1"/>
                </a:solidFill>
                <a:effectLst/>
                <a:latin typeface="+mn-lt"/>
                <a:ea typeface="+mn-ea"/>
                <a:cs typeface="+mn-cs"/>
              </a:rPr>
              <a:t> is at risk. The charter advantage is real — but it does not protect you from credit cycle risk.</a:t>
            </a:r>
          </a:p>
          <a:p>
            <a:r>
              <a:rPr lang="en-IN" sz="1200" b="1" i="0" kern="1200" dirty="0">
                <a:solidFill>
                  <a:schemeClr val="tx1"/>
                </a:solidFill>
                <a:effectLst/>
                <a:latin typeface="+mn-lt"/>
                <a:ea typeface="+mn-ea"/>
                <a:cs typeface="+mn-cs"/>
              </a:rPr>
              <a:t>CORE BELIEF THREE: Galileo and </a:t>
            </a:r>
            <a:r>
              <a:rPr lang="en-IN" sz="1200" b="1" i="0" kern="1200" dirty="0" err="1">
                <a:solidFill>
                  <a:schemeClr val="tx1"/>
                </a:solidFill>
                <a:effectLst/>
                <a:latin typeface="+mn-lt"/>
                <a:ea typeface="+mn-ea"/>
                <a:cs typeface="+mn-cs"/>
              </a:rPr>
              <a:t>Technisys</a:t>
            </a:r>
            <a:r>
              <a:rPr lang="en-IN" sz="1200" b="1" i="0" kern="1200" dirty="0">
                <a:solidFill>
                  <a:schemeClr val="tx1"/>
                </a:solidFill>
                <a:effectLst/>
                <a:latin typeface="+mn-lt"/>
                <a:ea typeface="+mn-ea"/>
                <a:cs typeface="+mn-cs"/>
              </a:rPr>
              <a:t> Becomes the AWS of Fintech.</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If true: </a:t>
            </a:r>
            <a:r>
              <a:rPr lang="en-IN" sz="1200" b="1" i="0" kern="1200" dirty="0">
                <a:solidFill>
                  <a:schemeClr val="tx1"/>
                </a:solidFill>
                <a:effectLst/>
                <a:latin typeface="+mn-lt"/>
                <a:ea typeface="+mn-ea"/>
                <a:cs typeface="+mn-cs"/>
              </a:rPr>
              <a:t>128.5M enabled accounts</a:t>
            </a:r>
            <a:r>
              <a:rPr lang="en-IN" sz="1200" b="0" i="0" kern="1200" dirty="0">
                <a:solidFill>
                  <a:schemeClr val="tx1"/>
                </a:solidFill>
                <a:effectLst/>
                <a:latin typeface="+mn-lt"/>
                <a:ea typeface="+mn-ea"/>
                <a:cs typeface="+mn-cs"/>
              </a:rPr>
              <a:t> globally. Cyberbank Core live at major Latin American banks. AI assistant reducing support costs </a:t>
            </a:r>
            <a:r>
              <a:rPr lang="en-IN" sz="1200" b="1" i="0" kern="1200" dirty="0">
                <a:solidFill>
                  <a:schemeClr val="tx1"/>
                </a:solidFill>
                <a:effectLst/>
                <a:latin typeface="+mn-lt"/>
                <a:ea typeface="+mn-ea"/>
                <a:cs typeface="+mn-cs"/>
              </a:rPr>
              <a:t>40%</a:t>
            </a:r>
            <a:r>
              <a:rPr lang="en-IN" sz="1200" b="0" i="0" kern="1200" dirty="0">
                <a:solidFill>
                  <a:schemeClr val="tx1"/>
                </a:solidFill>
                <a:effectLst/>
                <a:latin typeface="+mn-lt"/>
                <a:ea typeface="+mn-ea"/>
                <a:cs typeface="+mn-cs"/>
              </a:rPr>
              <a:t>. If Galileo adds </a:t>
            </a:r>
            <a:r>
              <a:rPr lang="en-IN" sz="1200" b="1" i="0" kern="1200" dirty="0">
                <a:solidFill>
                  <a:schemeClr val="tx1"/>
                </a:solidFill>
                <a:effectLst/>
                <a:latin typeface="+mn-lt"/>
                <a:ea typeface="+mn-ea"/>
                <a:cs typeface="+mn-cs"/>
              </a:rPr>
              <a:t>3–5 major banking clients</a:t>
            </a:r>
            <a:r>
              <a:rPr lang="en-IN" sz="1200" b="0" i="0" kern="1200" dirty="0">
                <a:solidFill>
                  <a:schemeClr val="tx1"/>
                </a:solidFill>
                <a:effectLst/>
                <a:latin typeface="+mn-lt"/>
                <a:ea typeface="+mn-ea"/>
                <a:cs typeface="+mn-cs"/>
              </a:rPr>
              <a:t> per year and the technology platform returns to </a:t>
            </a:r>
            <a:r>
              <a:rPr lang="en-IN" sz="1200" b="1" i="0" kern="1200" dirty="0">
                <a:solidFill>
                  <a:schemeClr val="tx1"/>
                </a:solidFill>
                <a:effectLst/>
                <a:latin typeface="+mn-lt"/>
                <a:ea typeface="+mn-ea"/>
                <a:cs typeface="+mn-cs"/>
              </a:rPr>
              <a:t>20% plus growth</a:t>
            </a:r>
            <a:r>
              <a:rPr lang="en-IN" sz="1200" b="0" i="0" kern="1200" dirty="0">
                <a:solidFill>
                  <a:schemeClr val="tx1"/>
                </a:solidFill>
                <a:effectLst/>
                <a:latin typeface="+mn-lt"/>
                <a:ea typeface="+mn-ea"/>
                <a:cs typeface="+mn-cs"/>
              </a:rPr>
              <a:t>, the mix shift toward high-margin B2B recurring fee revenue fundamentally rerate the entire company. As CEO Noto puts it, the tech platform allows SoFi to build products </a:t>
            </a:r>
            <a:r>
              <a:rPr lang="en-IN" sz="1200" b="1" i="0" kern="1200" dirty="0">
                <a:solidFill>
                  <a:schemeClr val="tx1"/>
                </a:solidFill>
                <a:effectLst/>
                <a:latin typeface="+mn-lt"/>
                <a:ea typeface="+mn-ea"/>
                <a:cs typeface="+mn-cs"/>
              </a:rPr>
              <a:t>4x faster</a:t>
            </a:r>
            <a:r>
              <a:rPr lang="en-IN" sz="1200" b="0" i="0" kern="1200" dirty="0">
                <a:solidFill>
                  <a:schemeClr val="tx1"/>
                </a:solidFill>
                <a:effectLst/>
                <a:latin typeface="+mn-lt"/>
                <a:ea typeface="+mn-ea"/>
                <a:cs typeface="+mn-cs"/>
              </a:rPr>
              <a:t> than competitors — and that advantage compounds.</a:t>
            </a:r>
          </a:p>
          <a:p>
            <a:r>
              <a:rPr lang="en-IN" sz="1200" b="0" i="0" kern="1200" dirty="0">
                <a:solidFill>
                  <a:schemeClr val="tx1"/>
                </a:solidFill>
                <a:effectLst/>
                <a:latin typeface="+mn-lt"/>
                <a:ea typeface="+mn-ea"/>
                <a:cs typeface="+mn-cs"/>
              </a:rPr>
              <a:t>If false: Q1 technology platform revenue down </a:t>
            </a:r>
            <a:r>
              <a:rPr lang="en-IN" sz="1200" b="1" i="0" kern="1200" dirty="0">
                <a:solidFill>
                  <a:schemeClr val="tx1"/>
                </a:solidFill>
                <a:effectLst/>
                <a:latin typeface="+mn-lt"/>
                <a:ea typeface="+mn-ea"/>
                <a:cs typeface="+mn-cs"/>
              </a:rPr>
              <a:t>27%</a:t>
            </a:r>
            <a:r>
              <a:rPr lang="en-IN" sz="1200" b="0" i="0" kern="1200" dirty="0">
                <a:solidFill>
                  <a:schemeClr val="tx1"/>
                </a:solidFill>
                <a:effectLst/>
                <a:latin typeface="+mn-lt"/>
                <a:ea typeface="+mn-ea"/>
                <a:cs typeface="+mn-cs"/>
              </a:rPr>
              <a:t>. Client concentration risk real — </a:t>
            </a:r>
            <a:r>
              <a:rPr lang="en-IN" sz="1200" b="1" i="0" kern="1200" dirty="0">
                <a:solidFill>
                  <a:schemeClr val="tx1"/>
                </a:solidFill>
                <a:effectLst/>
                <a:latin typeface="+mn-lt"/>
                <a:ea typeface="+mn-ea"/>
                <a:cs typeface="+mn-cs"/>
              </a:rPr>
              <a:t>one client departure</a:t>
            </a:r>
            <a:r>
              <a:rPr lang="en-IN" sz="1200" b="0" i="0" kern="1200" dirty="0">
                <a:solidFill>
                  <a:schemeClr val="tx1"/>
                </a:solidFill>
                <a:effectLst/>
                <a:latin typeface="+mn-lt"/>
                <a:ea typeface="+mn-ea"/>
                <a:cs typeface="+mn-cs"/>
              </a:rPr>
              <a:t> caused a 27% revenue decline. Salesforce, FIS, and Jack Henry all compete in adjacent spaces. If Galileo cannot re-accelerate to </a:t>
            </a:r>
            <a:r>
              <a:rPr lang="en-IN" sz="1200" b="1" i="0" kern="1200" dirty="0">
                <a:solidFill>
                  <a:schemeClr val="tx1"/>
                </a:solidFill>
                <a:effectLst/>
                <a:latin typeface="+mn-lt"/>
                <a:ea typeface="+mn-ea"/>
                <a:cs typeface="+mn-cs"/>
              </a:rPr>
              <a:t>20% plus accounts growth</a:t>
            </a:r>
            <a:r>
              <a:rPr lang="en-IN" sz="1200" b="0" i="0" kern="1200" dirty="0">
                <a:solidFill>
                  <a:schemeClr val="tx1"/>
                </a:solidFill>
                <a:effectLst/>
                <a:latin typeface="+mn-lt"/>
                <a:ea typeface="+mn-ea"/>
                <a:cs typeface="+mn-cs"/>
              </a:rPr>
              <a:t>, the B2B thesis becomes a drag, not an accelerant.</a:t>
            </a:r>
          </a:p>
          <a:p>
            <a:r>
              <a:rPr lang="en-IN" sz="1200" b="1" i="0" kern="1200" dirty="0">
                <a:solidFill>
                  <a:schemeClr val="tx1"/>
                </a:solidFill>
                <a:effectLst/>
                <a:latin typeface="+mn-lt"/>
                <a:ea typeface="+mn-ea"/>
                <a:cs typeface="+mn-cs"/>
              </a:rPr>
              <a:t>Three beliefs. All must hold.</a:t>
            </a:r>
            <a:r>
              <a:rPr lang="en-IN" sz="1200" b="0" i="0" kern="1200" dirty="0">
                <a:solidFill>
                  <a:schemeClr val="tx1"/>
                </a:solidFill>
                <a:effectLst/>
                <a:latin typeface="+mn-lt"/>
                <a:ea typeface="+mn-ea"/>
                <a:cs typeface="+mn-cs"/>
              </a:rPr>
              <a:t> If even one breaks — particularly belief three, which is already under stress — the thesis weakens materially.</a:t>
            </a:r>
          </a:p>
          <a:p>
            <a:r>
              <a:rPr lang="en-IN" sz="1200" b="0" i="0" kern="1200" dirty="0">
                <a:solidFill>
                  <a:schemeClr val="tx1"/>
                </a:solidFill>
                <a:effectLst/>
                <a:latin typeface="+mn-lt"/>
                <a:ea typeface="+mn-ea"/>
                <a:cs typeface="+mn-cs"/>
              </a:rPr>
              <a:t>[TRANSITION: "Given all of this — what does the stock look like in three scenarios? Let us build the price targets."]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"Given all of this — what does the stock look like in three scenarios? Let us build the price targets."]</a:t>
            </a:r>
          </a:p>
          <a:p>
            <a:r>
              <a:rPr lang="en-IN" sz="1200" b="0" i="0" kern="1200" dirty="0">
                <a:solidFill>
                  <a:schemeClr val="tx1"/>
                </a:solidFill>
                <a:effectLst/>
                <a:latin typeface="+mn-lt"/>
                <a:ea typeface="+mn-ea"/>
                <a:cs typeface="+mn-cs"/>
              </a:rPr>
              <a:t>SLIDE 13 — PRICE PROJECTIONS: BULL / BASE / BEAR</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10: PRICE PROJECTION — BULL / BASE / BEAR"</a:t>
            </a:r>
          </a:p>
          <a:p>
            <a:r>
              <a:rPr lang="en-IN" sz="1200" b="0" i="0" kern="1200" dirty="0">
                <a:solidFill>
                  <a:schemeClr val="tx1"/>
                </a:solidFill>
                <a:effectLst/>
                <a:latin typeface="+mn-lt"/>
                <a:ea typeface="+mn-ea"/>
                <a:cs typeface="+mn-cs"/>
              </a:rPr>
              <a:t>[QUANTITATIVE, PRECISE — SPEND 4-5 MINUTES HERE]</a:t>
            </a:r>
          </a:p>
          <a:p>
            <a:r>
              <a:rPr lang="en-IN" sz="1200" b="0" i="0" kern="1200" dirty="0">
                <a:solidFill>
                  <a:schemeClr val="tx1"/>
                </a:solidFill>
                <a:effectLst/>
                <a:latin typeface="+mn-lt"/>
                <a:ea typeface="+mn-ea"/>
                <a:cs typeface="+mn-cs"/>
              </a:rPr>
              <a:t>Current market price: </a:t>
            </a:r>
            <a:r>
              <a:rPr lang="en-IN" sz="1200" b="1" i="0" kern="1200" dirty="0">
                <a:solidFill>
                  <a:schemeClr val="tx1"/>
                </a:solidFill>
                <a:effectLst/>
                <a:latin typeface="+mn-lt"/>
                <a:ea typeface="+mn-ea"/>
                <a:cs typeface="+mn-cs"/>
              </a:rPr>
              <a:t>~$15.65**. Market cap **~$21B</a:t>
            </a:r>
            <a:r>
              <a:rPr lang="en-IN" sz="1200" b="0" i="0" kern="1200" dirty="0">
                <a:solidFill>
                  <a:schemeClr val="tx1"/>
                </a:solidFill>
                <a:effectLst/>
                <a:latin typeface="+mn-lt"/>
                <a:ea typeface="+mn-ea"/>
                <a:cs typeface="+mn-cs"/>
              </a:rPr>
              <a:t>. Shares outstanding approximately </a:t>
            </a:r>
            <a:r>
              <a:rPr lang="en-IN" sz="1200" b="1" i="0" kern="1200" dirty="0">
                <a:solidFill>
                  <a:schemeClr val="tx1"/>
                </a:solidFill>
                <a:effectLst/>
                <a:latin typeface="+mn-lt"/>
                <a:ea typeface="+mn-ea"/>
                <a:cs typeface="+mn-cs"/>
              </a:rPr>
              <a:t>1.34B</a:t>
            </a:r>
            <a:r>
              <a:rPr lang="en-IN" sz="1200" b="0" i="0" kern="1200" dirty="0">
                <a:solidFill>
                  <a:schemeClr val="tx1"/>
                </a:solidFill>
                <a:effectLst/>
                <a:latin typeface="+mn-lt"/>
                <a:ea typeface="+mn-ea"/>
                <a:cs typeface="+mn-cs"/>
              </a:rPr>
              <a:t>. Next earnings: </a:t>
            </a:r>
            <a:r>
              <a:rPr lang="en-IN" sz="1200" b="1" i="0" kern="1200" dirty="0">
                <a:solidFill>
                  <a:schemeClr val="tx1"/>
                </a:solidFill>
                <a:effectLst/>
                <a:latin typeface="+mn-lt"/>
                <a:ea typeface="+mn-ea"/>
                <a:cs typeface="+mn-cs"/>
              </a:rPr>
              <a:t>July 28, 2026</a:t>
            </a:r>
            <a:r>
              <a:rPr lang="en-IN" sz="1200" b="0" i="0" kern="1200" dirty="0">
                <a:solidFill>
                  <a:schemeClr val="tx1"/>
                </a:solidFill>
                <a:effectLst/>
                <a:latin typeface="+mn-lt"/>
                <a:ea typeface="+mn-ea"/>
                <a:cs typeface="+mn-cs"/>
              </a:rPr>
              <a:t>.</a:t>
            </a:r>
          </a:p>
          <a:p>
            <a:r>
              <a:rPr lang="en-IN" sz="1200" b="1" i="0" kern="1200" dirty="0">
                <a:solidFill>
                  <a:schemeClr val="tx1"/>
                </a:solidFill>
                <a:effectLst/>
                <a:latin typeface="+mn-lt"/>
                <a:ea typeface="+mn-ea"/>
                <a:cs typeface="+mn-cs"/>
              </a:rPr>
              <a:t>BEAR CASE — Twelve-Month Target: Eight to $10.</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That is </a:t>
            </a:r>
            <a:r>
              <a:rPr lang="en-IN" sz="1200" b="1" i="0" kern="1200" dirty="0">
                <a:solidFill>
                  <a:schemeClr val="tx1"/>
                </a:solidFill>
                <a:effectLst/>
                <a:latin typeface="+mn-lt"/>
                <a:ea typeface="+mn-ea"/>
                <a:cs typeface="+mn-cs"/>
              </a:rPr>
              <a:t>−36% to −49%</a:t>
            </a:r>
            <a:r>
              <a:rPr lang="en-IN" sz="1200" b="0" i="0" kern="1200" dirty="0">
                <a:solidFill>
                  <a:schemeClr val="tx1"/>
                </a:solidFill>
                <a:effectLst/>
                <a:latin typeface="+mn-lt"/>
                <a:ea typeface="+mn-ea"/>
                <a:cs typeface="+mn-cs"/>
              </a:rPr>
              <a:t> from current price.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2026 revenue estimate in bear: </a:t>
            </a:r>
            <a:r>
              <a:rPr lang="en-IN" sz="1200" b="1" i="0" kern="1200" dirty="0">
                <a:solidFill>
                  <a:schemeClr val="tx1"/>
                </a:solidFill>
                <a:effectLst/>
                <a:latin typeface="+mn-lt"/>
                <a:ea typeface="+mn-ea"/>
                <a:cs typeface="+mn-cs"/>
              </a:rPr>
              <a:t>3.8 to $4.0B</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Implied multiple: </a:t>
            </a:r>
            <a:r>
              <a:rPr lang="en-IN" sz="1200" b="1" i="0" kern="1200" dirty="0">
                <a:solidFill>
                  <a:schemeClr val="tx1"/>
                </a:solidFill>
                <a:effectLst/>
                <a:latin typeface="+mn-lt"/>
                <a:ea typeface="+mn-ea"/>
                <a:cs typeface="+mn-cs"/>
              </a:rPr>
              <a:t>one point eight to two point 2x</a:t>
            </a:r>
            <a:r>
              <a:rPr lang="en-IN" sz="1200" b="0" i="0" kern="1200" dirty="0">
                <a:solidFill>
                  <a:schemeClr val="tx1"/>
                </a:solidFill>
                <a:effectLst/>
                <a:latin typeface="+mn-lt"/>
                <a:ea typeface="+mn-ea"/>
                <a:cs typeface="+mn-cs"/>
              </a:rPr>
              <a:t> forward revenue — bank valuation.</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Muddy Waters allegations validated by SEC or auditor review.</a:t>
            </a:r>
          </a:p>
          <a:p>
            <a:r>
              <a:rPr lang="en-IN" sz="1200" b="0" i="0" kern="1200" dirty="0">
                <a:solidFill>
                  <a:schemeClr val="tx1"/>
                </a:solidFill>
                <a:effectLst/>
                <a:latin typeface="+mn-lt"/>
                <a:ea typeface="+mn-ea"/>
                <a:cs typeface="+mn-cs"/>
              </a:rPr>
              <a:t>EBITDA restatement of approximately </a:t>
            </a:r>
            <a:r>
              <a:rPr lang="en-IN" sz="1200" b="1" i="0" kern="1200" dirty="0">
                <a:solidFill>
                  <a:schemeClr val="tx1"/>
                </a:solidFill>
                <a:effectLst/>
                <a:latin typeface="+mn-lt"/>
                <a:ea typeface="+mn-ea"/>
                <a:cs typeface="+mn-cs"/>
              </a:rPr>
              <a:t>$1B</a:t>
            </a:r>
            <a:r>
              <a:rPr lang="en-IN" sz="1200" b="0" i="0" kern="1200" dirty="0">
                <a:solidFill>
                  <a:schemeClr val="tx1"/>
                </a:solidFill>
                <a:effectLst/>
                <a:latin typeface="+mn-lt"/>
                <a:ea typeface="+mn-ea"/>
                <a:cs typeface="+mn-cs"/>
              </a:rPr>
              <a:t> triggers capital ratio breach at SoFi Bank.</a:t>
            </a:r>
          </a:p>
          <a:p>
            <a:r>
              <a:rPr lang="en-IN" sz="1200" b="0" i="0" kern="1200" dirty="0">
                <a:solidFill>
                  <a:schemeClr val="tx1"/>
                </a:solidFill>
                <a:effectLst/>
                <a:latin typeface="+mn-lt"/>
                <a:ea typeface="+mn-ea"/>
                <a:cs typeface="+mn-cs"/>
              </a:rPr>
              <a:t>Macro recession — charge-offs rise above </a:t>
            </a:r>
            <a:r>
              <a:rPr lang="en-IN" sz="1200" b="1" i="0" kern="1200" dirty="0">
                <a:solidFill>
                  <a:schemeClr val="tx1"/>
                </a:solidFill>
                <a:effectLst/>
                <a:latin typeface="+mn-lt"/>
                <a:ea typeface="+mn-ea"/>
                <a:cs typeface="+mn-cs"/>
              </a:rPr>
              <a:t>5%</a:t>
            </a:r>
            <a:r>
              <a:rPr lang="en-IN" sz="1200" b="0" i="0" kern="1200" dirty="0">
                <a:solidFill>
                  <a:schemeClr val="tx1"/>
                </a:solidFill>
                <a:effectLst/>
                <a:latin typeface="+mn-lt"/>
                <a:ea typeface="+mn-ea"/>
                <a:cs typeface="+mn-cs"/>
              </a:rPr>
              <a:t> on personal loans.</a:t>
            </a:r>
          </a:p>
          <a:p>
            <a:r>
              <a:rPr lang="en-IN" sz="1200" b="0" i="0" kern="1200" dirty="0">
                <a:solidFill>
                  <a:schemeClr val="tx1"/>
                </a:solidFill>
                <a:effectLst/>
                <a:latin typeface="+mn-lt"/>
                <a:ea typeface="+mn-ea"/>
                <a:cs typeface="+mn-cs"/>
              </a:rPr>
              <a:t>Technology platform continues declining — no new Galileo clients added.</a:t>
            </a:r>
          </a:p>
          <a:p>
            <a:r>
              <a:rPr lang="en-IN" sz="1200" b="0" i="0" kern="1200" dirty="0">
                <a:solidFill>
                  <a:schemeClr val="tx1"/>
                </a:solidFill>
                <a:effectLst/>
                <a:latin typeface="+mn-lt"/>
                <a:ea typeface="+mn-ea"/>
                <a:cs typeface="+mn-cs"/>
              </a:rPr>
              <a:t>Federal Reserve raises rates again — NIM benefit reverses on deposit repricing.</a:t>
            </a:r>
          </a:p>
          <a:p>
            <a:r>
              <a:rPr lang="en-IN" sz="1200" b="0" i="0" kern="1200" dirty="0">
                <a:solidFill>
                  <a:schemeClr val="tx1"/>
                </a:solidFill>
                <a:effectLst/>
                <a:latin typeface="+mn-lt"/>
                <a:ea typeface="+mn-ea"/>
                <a:cs typeface="+mn-cs"/>
              </a:rPr>
              <a:t>Bank charter regulators impose growth restrictions.</a:t>
            </a:r>
          </a:p>
          <a:p>
            <a:r>
              <a:rPr lang="en-IN" sz="1200" b="0" i="0" kern="1200" dirty="0">
                <a:solidFill>
                  <a:schemeClr val="tx1"/>
                </a:solidFill>
                <a:effectLst/>
                <a:latin typeface="+mn-lt"/>
                <a:ea typeface="+mn-ea"/>
                <a:cs typeface="+mn-cs"/>
              </a:rPr>
              <a:t>This is </a:t>
            </a:r>
            <a:r>
              <a:rPr lang="en-IN" sz="1200" b="1" i="0" kern="1200" dirty="0">
                <a:solidFill>
                  <a:schemeClr val="tx1"/>
                </a:solidFill>
                <a:effectLst/>
                <a:latin typeface="+mn-lt"/>
                <a:ea typeface="+mn-ea"/>
                <a:cs typeface="+mn-cs"/>
              </a:rPr>
              <a:t>not a tail risk scenario</a:t>
            </a:r>
            <a:r>
              <a:rPr lang="en-IN" sz="1200" b="0" i="0" kern="1200" dirty="0">
                <a:solidFill>
                  <a:schemeClr val="tx1"/>
                </a:solidFill>
                <a:effectLst/>
                <a:latin typeface="+mn-lt"/>
                <a:ea typeface="+mn-ea"/>
                <a:cs typeface="+mn-cs"/>
              </a:rPr>
              <a:t>. If two or three of these triggers materialise simultaneously, </a:t>
            </a:r>
            <a:r>
              <a:rPr lang="en-IN" sz="1200" b="1" i="0" kern="1200" dirty="0">
                <a:solidFill>
                  <a:schemeClr val="tx1"/>
                </a:solidFill>
                <a:effectLst/>
                <a:latin typeface="+mn-lt"/>
                <a:ea typeface="+mn-ea"/>
                <a:cs typeface="+mn-cs"/>
              </a:rPr>
              <a:t>eight to $10</a:t>
            </a:r>
            <a:r>
              <a:rPr lang="en-IN" sz="1200" b="0" i="0" kern="1200" dirty="0">
                <a:solidFill>
                  <a:schemeClr val="tx1"/>
                </a:solidFill>
                <a:effectLst/>
                <a:latin typeface="+mn-lt"/>
                <a:ea typeface="+mn-ea"/>
                <a:cs typeface="+mn-cs"/>
              </a:rPr>
              <a:t> is the destination.</a:t>
            </a:r>
          </a:p>
          <a:p>
            <a:r>
              <a:rPr lang="en-IN" sz="1200" b="1" i="0" kern="1200" dirty="0">
                <a:solidFill>
                  <a:schemeClr val="tx1"/>
                </a:solidFill>
                <a:effectLst/>
                <a:latin typeface="+mn-lt"/>
                <a:ea typeface="+mn-ea"/>
                <a:cs typeface="+mn-cs"/>
              </a:rPr>
              <a:t>BASE CASE — Twelve-Month Target: $20–25.</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That is </a:t>
            </a:r>
            <a:r>
              <a:rPr lang="en-IN" sz="1200" b="1" i="0" kern="1200" dirty="0">
                <a:solidFill>
                  <a:schemeClr val="tx1"/>
                </a:solidFill>
                <a:effectLst/>
                <a:latin typeface="+mn-lt"/>
                <a:ea typeface="+mn-ea"/>
                <a:cs typeface="+mn-cs"/>
              </a:rPr>
              <a:t>+28% to +60%</a:t>
            </a:r>
            <a:r>
              <a:rPr lang="en-IN" sz="1200" b="0" i="0" kern="1200" dirty="0">
                <a:solidFill>
                  <a:schemeClr val="tx1"/>
                </a:solidFill>
                <a:effectLst/>
                <a:latin typeface="+mn-lt"/>
                <a:ea typeface="+mn-ea"/>
                <a:cs typeface="+mn-cs"/>
              </a:rPr>
              <a:t> from current price.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2026 revenue in base: </a:t>
            </a:r>
            <a:r>
              <a:rPr lang="en-IN" sz="1200" b="1" i="0" kern="1200" dirty="0">
                <a:solidFill>
                  <a:schemeClr val="tx1"/>
                </a:solidFill>
                <a:effectLst/>
                <a:latin typeface="+mn-lt"/>
                <a:ea typeface="+mn-ea"/>
                <a:cs typeface="+mn-cs"/>
              </a:rPr>
              <a:t>$4.655B</a:t>
            </a:r>
            <a:r>
              <a:rPr lang="en-IN" sz="1200" b="0" i="0" kern="1200" dirty="0">
                <a:solidFill>
                  <a:schemeClr val="tx1"/>
                </a:solidFill>
                <a:effectLst/>
                <a:latin typeface="+mn-lt"/>
                <a:ea typeface="+mn-ea"/>
                <a:cs typeface="+mn-cs"/>
              </a:rPr>
              <a:t> — management guidance achieved.</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Implied multiple: </a:t>
            </a:r>
            <a:r>
              <a:rPr lang="en-IN" sz="1200" b="1" i="0" kern="1200" dirty="0">
                <a:solidFill>
                  <a:schemeClr val="tx1"/>
                </a:solidFill>
                <a:effectLst/>
                <a:latin typeface="+mn-lt"/>
                <a:ea typeface="+mn-ea"/>
                <a:cs typeface="+mn-cs"/>
              </a:rPr>
              <a:t>4–5x</a:t>
            </a:r>
            <a:r>
              <a:rPr lang="en-IN" sz="1200" b="0" i="0" kern="1200" dirty="0">
                <a:solidFill>
                  <a:schemeClr val="tx1"/>
                </a:solidFill>
                <a:effectLst/>
                <a:latin typeface="+mn-lt"/>
                <a:ea typeface="+mn-ea"/>
                <a:cs typeface="+mn-cs"/>
              </a:rPr>
              <a:t> forward revenue.</a:t>
            </a:r>
          </a:p>
          <a:p>
            <a:r>
              <a:rPr lang="en-IN" sz="1200" b="0" i="0" kern="1200" dirty="0">
                <a:solidFill>
                  <a:schemeClr val="tx1"/>
                </a:solidFill>
                <a:effectLst/>
                <a:latin typeface="+mn-lt"/>
                <a:ea typeface="+mn-ea"/>
                <a:cs typeface="+mn-cs"/>
              </a:rPr>
              <a:t>Triggers required:</a:t>
            </a:r>
          </a:p>
          <a:p>
            <a:r>
              <a:rPr lang="en-IN" sz="1200" b="0" i="0" kern="1200" dirty="0">
                <a:solidFill>
                  <a:schemeClr val="tx1"/>
                </a:solidFill>
                <a:effectLst/>
                <a:latin typeface="+mn-lt"/>
                <a:ea typeface="+mn-ea"/>
                <a:cs typeface="+mn-cs"/>
              </a:rPr>
              <a:t>FY 2026 revenue guidance </a:t>
            </a:r>
            <a:r>
              <a:rPr lang="en-IN" sz="1200" b="1" i="0" kern="1200" dirty="0">
                <a:solidFill>
                  <a:schemeClr val="tx1"/>
                </a:solidFill>
                <a:effectLst/>
                <a:latin typeface="+mn-lt"/>
                <a:ea typeface="+mn-ea"/>
                <a:cs typeface="+mn-cs"/>
              </a:rPr>
              <a:t>$4.655B</a:t>
            </a:r>
            <a:r>
              <a:rPr lang="en-IN" sz="1200" b="0" i="0" kern="1200" dirty="0">
                <a:solidFill>
                  <a:schemeClr val="tx1"/>
                </a:solidFill>
                <a:effectLst/>
                <a:latin typeface="+mn-lt"/>
                <a:ea typeface="+mn-ea"/>
                <a:cs typeface="+mn-cs"/>
              </a:rPr>
              <a:t> achieved.</a:t>
            </a:r>
          </a:p>
          <a:p>
            <a:r>
              <a:rPr lang="en-IN" sz="1200" b="0" i="0" kern="1200" dirty="0">
                <a:solidFill>
                  <a:schemeClr val="tx1"/>
                </a:solidFill>
                <a:effectLst/>
                <a:latin typeface="+mn-lt"/>
                <a:ea typeface="+mn-ea"/>
                <a:cs typeface="+mn-cs"/>
              </a:rPr>
              <a:t>GAAP net income approximately </a:t>
            </a:r>
            <a:r>
              <a:rPr lang="en-IN" sz="1200" b="1" i="0" kern="1200" dirty="0">
                <a:solidFill>
                  <a:schemeClr val="tx1"/>
                </a:solidFill>
                <a:effectLst/>
                <a:latin typeface="+mn-lt"/>
                <a:ea typeface="+mn-ea"/>
                <a:cs typeface="+mn-cs"/>
              </a:rPr>
              <a:t>$825M**, EPS approximately **$0.55</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Muddy Waters allegations dismissed after review — accounting stands.</a:t>
            </a:r>
          </a:p>
          <a:p>
            <a:r>
              <a:rPr lang="en-IN" sz="1200" b="0" i="0" kern="1200" dirty="0">
                <a:solidFill>
                  <a:schemeClr val="tx1"/>
                </a:solidFill>
                <a:effectLst/>
                <a:latin typeface="+mn-lt"/>
                <a:ea typeface="+mn-ea"/>
                <a:cs typeface="+mn-cs"/>
              </a:rPr>
              <a:t>Galileo re-accelerates to </a:t>
            </a:r>
            <a:r>
              <a:rPr lang="en-IN" sz="1200" b="1" i="0" kern="1200" dirty="0">
                <a:solidFill>
                  <a:schemeClr val="tx1"/>
                </a:solidFill>
                <a:effectLst/>
                <a:latin typeface="+mn-lt"/>
                <a:ea typeface="+mn-ea"/>
                <a:cs typeface="+mn-cs"/>
              </a:rPr>
              <a:t>15% plus</a:t>
            </a:r>
            <a:r>
              <a:rPr lang="en-IN" sz="1200" b="0" i="0" kern="1200" dirty="0">
                <a:solidFill>
                  <a:schemeClr val="tx1"/>
                </a:solidFill>
                <a:effectLst/>
                <a:latin typeface="+mn-lt"/>
                <a:ea typeface="+mn-ea"/>
                <a:cs typeface="+mn-cs"/>
              </a:rPr>
              <a:t> B2B account growth.</a:t>
            </a:r>
          </a:p>
          <a:p>
            <a:r>
              <a:rPr lang="en-IN" sz="1200" b="0" i="0" kern="1200" dirty="0">
                <a:solidFill>
                  <a:schemeClr val="tx1"/>
                </a:solidFill>
                <a:effectLst/>
                <a:latin typeface="+mn-lt"/>
                <a:ea typeface="+mn-ea"/>
                <a:cs typeface="+mn-cs"/>
              </a:rPr>
              <a:t>Cross-buy reaches </a:t>
            </a:r>
            <a:r>
              <a:rPr lang="en-IN" sz="1200" b="1" i="0" kern="1200" dirty="0">
                <a:solidFill>
                  <a:schemeClr val="tx1"/>
                </a:solidFill>
                <a:effectLst/>
                <a:latin typeface="+mn-lt"/>
                <a:ea typeface="+mn-ea"/>
                <a:cs typeface="+mn-cs"/>
              </a:rPr>
              <a:t>1.75 products per member</a:t>
            </a:r>
            <a:r>
              <a:rPr lang="en-IN" sz="1200" b="0" i="0" kern="1200" dirty="0">
                <a:solidFill>
                  <a:schemeClr val="tx1"/>
                </a:solidFill>
                <a:effectLst/>
                <a:latin typeface="+mn-lt"/>
                <a:ea typeface="+mn-ea"/>
                <a:cs typeface="+mn-cs"/>
              </a:rPr>
              <a:t> by end of 2026.</a:t>
            </a:r>
          </a:p>
          <a:p>
            <a:r>
              <a:rPr lang="en-IN" sz="1200" b="0" i="0" kern="1200" dirty="0">
                <a:solidFill>
                  <a:schemeClr val="tx1"/>
                </a:solidFill>
                <a:effectLst/>
                <a:latin typeface="+mn-lt"/>
                <a:ea typeface="+mn-ea"/>
                <a:cs typeface="+mn-cs"/>
              </a:rPr>
              <a:t>Personal loan charge-offs stay below </a:t>
            </a:r>
            <a:r>
              <a:rPr lang="en-IN" sz="1200" b="1" i="0" kern="1200" dirty="0">
                <a:solidFill>
                  <a:schemeClr val="tx1"/>
                </a:solidFill>
                <a:effectLst/>
                <a:latin typeface="+mn-lt"/>
                <a:ea typeface="+mn-ea"/>
                <a:cs typeface="+mn-cs"/>
              </a:rPr>
              <a:t>4%</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This is the scenario where management delivers on what they guided to and the Muddy Waters cloud clears. This is the </a:t>
            </a:r>
            <a:r>
              <a:rPr lang="en-IN" sz="1200" b="1" i="0" kern="1200" dirty="0">
                <a:solidFill>
                  <a:schemeClr val="tx1"/>
                </a:solidFill>
                <a:effectLst/>
                <a:latin typeface="+mn-lt"/>
                <a:ea typeface="+mn-ea"/>
                <a:cs typeface="+mn-cs"/>
              </a:rPr>
              <a:t>most probable positive outcome</a:t>
            </a:r>
            <a:r>
              <a:rPr lang="en-IN" sz="1200" b="0" i="0" kern="1200" dirty="0">
                <a:solidFill>
                  <a:schemeClr val="tx1"/>
                </a:solidFill>
                <a:effectLst/>
                <a:latin typeface="+mn-lt"/>
                <a:ea typeface="+mn-ea"/>
                <a:cs typeface="+mn-cs"/>
              </a:rPr>
              <a:t>.</a:t>
            </a:r>
          </a:p>
          <a:p>
            <a:r>
              <a:rPr lang="en-IN" sz="1200" b="1" i="0" kern="1200" dirty="0">
                <a:solidFill>
                  <a:schemeClr val="tx1"/>
                </a:solidFill>
                <a:effectLst/>
                <a:latin typeface="+mn-lt"/>
                <a:ea typeface="+mn-ea"/>
                <a:cs typeface="+mn-cs"/>
              </a:rPr>
              <a:t>BULL CASE — Twelve-Month Target: $32–40.</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That is </a:t>
            </a:r>
            <a:r>
              <a:rPr lang="en-IN" sz="1200" b="1" i="0" kern="1200" dirty="0">
                <a:solidFill>
                  <a:schemeClr val="tx1"/>
                </a:solidFill>
                <a:effectLst/>
                <a:latin typeface="+mn-lt"/>
                <a:ea typeface="+mn-ea"/>
                <a:cs typeface="+mn-cs"/>
              </a:rPr>
              <a:t>+104% to +155%</a:t>
            </a:r>
            <a:r>
              <a:rPr lang="en-IN" sz="1200" b="0" i="0" kern="1200" dirty="0">
                <a:solidFill>
                  <a:schemeClr val="tx1"/>
                </a:solidFill>
                <a:effectLst/>
                <a:latin typeface="+mn-lt"/>
                <a:ea typeface="+mn-ea"/>
                <a:cs typeface="+mn-cs"/>
              </a:rPr>
              <a:t> from current price.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2026 revenue in bull: </a:t>
            </a:r>
            <a:r>
              <a:rPr lang="en-IN" sz="1200" b="1" i="0" kern="1200" dirty="0">
                <a:solidFill>
                  <a:schemeClr val="tx1"/>
                </a:solidFill>
                <a:effectLst/>
                <a:latin typeface="+mn-lt"/>
                <a:ea typeface="+mn-ea"/>
                <a:cs typeface="+mn-cs"/>
              </a:rPr>
              <a:t>five point zero to $5.5B</a:t>
            </a:r>
            <a:r>
              <a:rPr lang="en-IN" sz="1200" b="0" i="0" kern="1200" dirty="0">
                <a:solidFill>
                  <a:schemeClr val="tx1"/>
                </a:solidFill>
                <a:effectLst/>
                <a:latin typeface="+mn-lt"/>
                <a:ea typeface="+mn-ea"/>
                <a:cs typeface="+mn-cs"/>
              </a:rPr>
              <a:t> — above guidance.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Implied multiple: </a:t>
            </a:r>
            <a:r>
              <a:rPr lang="en-IN" sz="1200" b="1" i="0" kern="1200" dirty="0">
                <a:solidFill>
                  <a:schemeClr val="tx1"/>
                </a:solidFill>
                <a:effectLst/>
                <a:latin typeface="+mn-lt"/>
                <a:ea typeface="+mn-ea"/>
                <a:cs typeface="+mn-cs"/>
              </a:rPr>
              <a:t>7–9x</a:t>
            </a:r>
            <a:r>
              <a:rPr lang="en-IN" sz="1200" b="0" i="0" kern="1200" dirty="0">
                <a:solidFill>
                  <a:schemeClr val="tx1"/>
                </a:solidFill>
                <a:effectLst/>
                <a:latin typeface="+mn-lt"/>
                <a:ea typeface="+mn-ea"/>
                <a:cs typeface="+mn-cs"/>
              </a:rPr>
              <a:t> forward revenue — software valuation.</a:t>
            </a:r>
          </a:p>
          <a:p>
            <a:r>
              <a:rPr lang="en-IN" sz="1200" b="0" i="0" kern="1200" dirty="0">
                <a:solidFill>
                  <a:schemeClr val="tx1"/>
                </a:solidFill>
                <a:effectLst/>
                <a:latin typeface="+mn-lt"/>
                <a:ea typeface="+mn-ea"/>
                <a:cs typeface="+mn-cs"/>
              </a:rPr>
              <a:t>Triggers required:</a:t>
            </a:r>
          </a:p>
          <a:p>
            <a:r>
              <a:rPr lang="en-IN" sz="1200" b="1" i="0" kern="1200" dirty="0">
                <a:solidFill>
                  <a:schemeClr val="tx1"/>
                </a:solidFill>
                <a:effectLst/>
                <a:latin typeface="+mn-lt"/>
                <a:ea typeface="+mn-ea"/>
                <a:cs typeface="+mn-cs"/>
              </a:rPr>
              <a:t>S&amp;P 500 index inclusion</a:t>
            </a:r>
            <a:r>
              <a:rPr lang="en-IN" sz="1200" b="0" i="0" kern="1200" dirty="0">
                <a:solidFill>
                  <a:schemeClr val="tx1"/>
                </a:solidFill>
                <a:effectLst/>
                <a:latin typeface="+mn-lt"/>
                <a:ea typeface="+mn-ea"/>
                <a:cs typeface="+mn-cs"/>
              </a:rPr>
              <a:t> — forces passive fund buying of approximately </a:t>
            </a:r>
            <a:r>
              <a:rPr lang="en-IN" sz="1200" b="1" i="0" kern="1200" dirty="0">
                <a:solidFill>
                  <a:schemeClr val="tx1"/>
                </a:solidFill>
                <a:effectLst/>
                <a:latin typeface="+mn-lt"/>
                <a:ea typeface="+mn-ea"/>
                <a:cs typeface="+mn-cs"/>
              </a:rPr>
              <a:t>$800M plus</a:t>
            </a:r>
            <a:r>
              <a:rPr lang="en-IN" sz="1200" b="0" i="0" kern="1200" dirty="0">
                <a:solidFill>
                  <a:schemeClr val="tx1"/>
                </a:solidFill>
                <a:effectLst/>
                <a:latin typeface="+mn-lt"/>
                <a:ea typeface="+mn-ea"/>
                <a:cs typeface="+mn-cs"/>
              </a:rPr>
              <a:t> shares.</a:t>
            </a:r>
          </a:p>
          <a:p>
            <a:r>
              <a:rPr lang="en-IN" sz="1200" b="0" i="0" kern="1200" dirty="0">
                <a:solidFill>
                  <a:schemeClr val="tx1"/>
                </a:solidFill>
                <a:effectLst/>
                <a:latin typeface="+mn-lt"/>
                <a:ea typeface="+mn-ea"/>
                <a:cs typeface="+mn-cs"/>
              </a:rPr>
              <a:t>Big Business Banking adds </a:t>
            </a:r>
            <a:r>
              <a:rPr lang="en-IN" sz="1200" b="1" i="0" kern="1200" dirty="0">
                <a:solidFill>
                  <a:schemeClr val="tx1"/>
                </a:solidFill>
                <a:effectLst/>
                <a:latin typeface="+mn-lt"/>
                <a:ea typeface="+mn-ea"/>
                <a:cs typeface="+mn-cs"/>
              </a:rPr>
              <a:t>$500M plus</a:t>
            </a:r>
            <a:r>
              <a:rPr lang="en-IN" sz="1200" b="0" i="0" kern="1200" dirty="0">
                <a:solidFill>
                  <a:schemeClr val="tx1"/>
                </a:solidFill>
                <a:effectLst/>
                <a:latin typeface="+mn-lt"/>
                <a:ea typeface="+mn-ea"/>
                <a:cs typeface="+mn-cs"/>
              </a:rPr>
              <a:t> revenue by end of 2027.</a:t>
            </a:r>
          </a:p>
          <a:p>
            <a:r>
              <a:rPr lang="en-IN" sz="1200" b="0" i="0" kern="1200" dirty="0">
                <a:solidFill>
                  <a:schemeClr val="tx1"/>
                </a:solidFill>
                <a:effectLst/>
                <a:latin typeface="+mn-lt"/>
                <a:ea typeface="+mn-ea"/>
                <a:cs typeface="+mn-cs"/>
              </a:rPr>
              <a:t>Galileo becomes dominant B2B banking operating system for </a:t>
            </a:r>
            <a:r>
              <a:rPr lang="en-IN" sz="1200" b="1" i="0" kern="1200" dirty="0">
                <a:solidFill>
                  <a:schemeClr val="tx1"/>
                </a:solidFill>
                <a:effectLst/>
                <a:latin typeface="+mn-lt"/>
                <a:ea typeface="+mn-ea"/>
                <a:cs typeface="+mn-cs"/>
              </a:rPr>
              <a:t>five or more</a:t>
            </a:r>
            <a:r>
              <a:rPr lang="en-IN" sz="1200" b="0" i="0" kern="1200" dirty="0">
                <a:solidFill>
                  <a:schemeClr val="tx1"/>
                </a:solidFill>
                <a:effectLst/>
                <a:latin typeface="+mn-lt"/>
                <a:ea typeface="+mn-ea"/>
                <a:cs typeface="+mn-cs"/>
              </a:rPr>
              <a:t> major banks.</a:t>
            </a:r>
          </a:p>
          <a:p>
            <a:r>
              <a:rPr lang="en-IN" sz="1200" b="0" i="0" kern="1200" dirty="0">
                <a:solidFill>
                  <a:schemeClr val="tx1"/>
                </a:solidFill>
                <a:effectLst/>
                <a:latin typeface="+mn-lt"/>
                <a:ea typeface="+mn-ea"/>
                <a:cs typeface="+mn-cs"/>
              </a:rPr>
              <a:t>CEO Noto's software valuation thesis accepted and re-rated by Wall Street.</a:t>
            </a:r>
          </a:p>
          <a:p>
            <a:r>
              <a:rPr lang="en-IN" sz="1200" b="0" i="0" kern="1200" dirty="0">
                <a:solidFill>
                  <a:schemeClr val="tx1"/>
                </a:solidFill>
                <a:effectLst/>
                <a:latin typeface="+mn-lt"/>
                <a:ea typeface="+mn-ea"/>
                <a:cs typeface="+mn-cs"/>
              </a:rPr>
              <a:t>Revenue 2028 target of </a:t>
            </a:r>
            <a:r>
              <a:rPr lang="en-IN" sz="1200" b="1" i="0" kern="1200" dirty="0">
                <a:solidFill>
                  <a:schemeClr val="tx1"/>
                </a:solidFill>
                <a:effectLst/>
                <a:latin typeface="+mn-lt"/>
                <a:ea typeface="+mn-ea"/>
                <a:cs typeface="+mn-cs"/>
              </a:rPr>
              <a:t>30% plus CAGR</a:t>
            </a:r>
            <a:r>
              <a:rPr lang="en-IN" sz="1200" b="0" i="0" kern="1200" dirty="0">
                <a:solidFill>
                  <a:schemeClr val="tx1"/>
                </a:solidFill>
                <a:effectLst/>
                <a:latin typeface="+mn-lt"/>
                <a:ea typeface="+mn-ea"/>
                <a:cs typeface="+mn-cs"/>
              </a:rPr>
              <a:t> confirmed.</a:t>
            </a:r>
          </a:p>
          <a:p>
            <a:r>
              <a:rPr lang="en-IN" sz="1200" b="0" i="0" kern="1200" dirty="0">
                <a:solidFill>
                  <a:schemeClr val="tx1"/>
                </a:solidFill>
                <a:effectLst/>
                <a:latin typeface="+mn-lt"/>
                <a:ea typeface="+mn-ea"/>
                <a:cs typeface="+mn-cs"/>
              </a:rPr>
              <a:t>Digital assets and stablecoin partnership creates new total addressable market.</a:t>
            </a:r>
          </a:p>
          <a:p>
            <a:r>
              <a:rPr lang="en-IN" sz="1200" b="0" i="0" kern="1200" dirty="0">
                <a:solidFill>
                  <a:schemeClr val="tx1"/>
                </a:solidFill>
                <a:effectLst/>
                <a:latin typeface="+mn-lt"/>
                <a:ea typeface="+mn-ea"/>
                <a:cs typeface="+mn-cs"/>
              </a:rPr>
              <a:t>The </a:t>
            </a:r>
            <a:r>
              <a:rPr lang="en-IN" sz="1200" b="1" i="0" kern="1200" dirty="0">
                <a:solidFill>
                  <a:schemeClr val="tx1"/>
                </a:solidFill>
                <a:effectLst/>
                <a:latin typeface="+mn-lt"/>
                <a:ea typeface="+mn-ea"/>
                <a:cs typeface="+mn-cs"/>
              </a:rPr>
              <a:t>S&amp;P 500 inclusion trigger</a:t>
            </a:r>
            <a:r>
              <a:rPr lang="en-IN" sz="1200" b="0" i="0" kern="1200" dirty="0">
                <a:solidFill>
                  <a:schemeClr val="tx1"/>
                </a:solidFill>
                <a:effectLst/>
                <a:latin typeface="+mn-lt"/>
                <a:ea typeface="+mn-ea"/>
                <a:cs typeface="+mn-cs"/>
              </a:rPr>
              <a:t> is particularly interesting. SoFi is not currently in the S&amp;P 500. When a stock enters the index, every passive S&amp;P 500 index fund must buy it proportionally. With approximately 1.34B shares outstanding, the passive buying pressure on S&amp;P inclusion could be substantial and rapid.</a:t>
            </a:r>
          </a:p>
          <a:p>
            <a:r>
              <a:rPr lang="en-IN" sz="1200" b="0" i="0" kern="1200" dirty="0">
                <a:solidFill>
                  <a:schemeClr val="tx1"/>
                </a:solidFill>
                <a:effectLst/>
                <a:latin typeface="+mn-lt"/>
                <a:ea typeface="+mn-ea"/>
                <a:cs typeface="+mn-cs"/>
              </a:rPr>
              <a:t>Analyst consensus as of May 2026: average 12-month target </a:t>
            </a:r>
            <a:r>
              <a:rPr lang="en-IN" sz="1200" b="1" i="0" kern="1200" dirty="0">
                <a:solidFill>
                  <a:schemeClr val="tx1"/>
                </a:solidFill>
                <a:effectLst/>
                <a:latin typeface="+mn-lt"/>
                <a:ea typeface="+mn-ea"/>
                <a:cs typeface="+mn-cs"/>
              </a:rPr>
              <a:t>~$21**. High: **$31</a:t>
            </a:r>
            <a:r>
              <a:rPr lang="en-IN" sz="1200" b="0" i="0" kern="1200" dirty="0">
                <a:solidFill>
                  <a:schemeClr val="tx1"/>
                </a:solidFill>
                <a:effectLst/>
                <a:latin typeface="+mn-lt"/>
                <a:ea typeface="+mn-ea"/>
                <a:cs typeface="+mn-cs"/>
              </a:rPr>
              <a:t> from Mizuho Buy. Low: </a:t>
            </a:r>
            <a:r>
              <a:rPr lang="en-IN" sz="1200" b="1" i="0" kern="1200" dirty="0">
                <a:solidFill>
                  <a:schemeClr val="tx1"/>
                </a:solidFill>
                <a:effectLst/>
                <a:latin typeface="+mn-lt"/>
                <a:ea typeface="+mn-ea"/>
                <a:cs typeface="+mn-cs"/>
              </a:rPr>
              <a:t>$12**. TD Cowen Hold at **$17</a:t>
            </a:r>
            <a:r>
              <a:rPr lang="en-IN" sz="1200" b="0" i="0" kern="1200" dirty="0">
                <a:solidFill>
                  <a:schemeClr val="tx1"/>
                </a:solidFill>
                <a:effectLst/>
                <a:latin typeface="+mn-lt"/>
                <a:ea typeface="+mn-ea"/>
                <a:cs typeface="+mn-cs"/>
              </a:rPr>
              <a:t>. BofA Underperform at </a:t>
            </a:r>
            <a:r>
              <a:rPr lang="en-IN" sz="1200" b="1" i="0" kern="1200" dirty="0">
                <a:solidFill>
                  <a:schemeClr val="tx1"/>
                </a:solidFill>
                <a:effectLst/>
                <a:latin typeface="+mn-lt"/>
                <a:ea typeface="+mn-ea"/>
                <a:cs typeface="+mn-cs"/>
              </a:rPr>
              <a:t>$18**. KBW Underperform at **$17</a:t>
            </a:r>
            <a:r>
              <a:rPr lang="en-IN" sz="1200" b="0" i="0" kern="1200" dirty="0">
                <a:solidFill>
                  <a:schemeClr val="tx1"/>
                </a:solidFill>
                <a:effectLst/>
                <a:latin typeface="+mn-lt"/>
                <a:ea typeface="+mn-ea"/>
                <a:cs typeface="+mn-cs"/>
              </a:rPr>
              <a:t>. This is genuinely mixed analyst coverage — not one-sided pessimism, but not one-sided optimism either.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"Let us be even more precise on valuation — what multiple does SoFi deserve, and how does it compare to peers?"]</a:t>
            </a:r>
          </a:p>
          <a:p>
            <a:r>
              <a:rPr lang="en-IN" sz="1200" b="0" i="0" kern="1200" dirty="0">
                <a:solidFill>
                  <a:schemeClr val="tx1"/>
                </a:solidFill>
                <a:effectLst/>
                <a:latin typeface="+mn-lt"/>
                <a:ea typeface="+mn-ea"/>
                <a:cs typeface="+mn-cs"/>
              </a:rPr>
              <a:t>SLIDE 14 — VALUATION FRAMEWORK &amp; PEER COMPARISON</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10B: VALUATION FRAMEWORK &amp; PEER COMPARISON"</a:t>
            </a:r>
          </a:p>
          <a:p>
            <a:r>
              <a:rPr lang="en-IN" sz="1200" b="0" i="0" kern="1200" dirty="0">
                <a:solidFill>
                  <a:schemeClr val="tx1"/>
                </a:solidFill>
                <a:effectLst/>
                <a:latin typeface="+mn-lt"/>
                <a:ea typeface="+mn-ea"/>
                <a:cs typeface="+mn-cs"/>
              </a:rPr>
              <a:t>[TECHNICAL, PRECISE — SPEND 3-4 MINUTES HERE]</a:t>
            </a:r>
          </a:p>
          <a:p>
            <a:r>
              <a:rPr lang="en-IN" sz="1200" b="0" i="0" kern="1200" dirty="0">
                <a:solidFill>
                  <a:schemeClr val="tx1"/>
                </a:solidFill>
                <a:effectLst/>
                <a:latin typeface="+mn-lt"/>
                <a:ea typeface="+mn-ea"/>
                <a:cs typeface="+mn-cs"/>
              </a:rPr>
              <a:t>The current metrics: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CMP May 2026: </a:t>
            </a:r>
            <a:r>
              <a:rPr lang="en-IN" sz="1200" b="1" i="0" kern="1200" dirty="0">
                <a:solidFill>
                  <a:schemeClr val="tx1"/>
                </a:solidFill>
                <a:effectLst/>
                <a:latin typeface="+mn-lt"/>
                <a:ea typeface="+mn-ea"/>
                <a:cs typeface="+mn-cs"/>
              </a:rPr>
              <a:t>~$15.65**.</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Market cap: **~$21B</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Forward price-to-revenue: approximately </a:t>
            </a:r>
            <a:r>
              <a:rPr lang="en-IN" sz="1200" b="1" i="0" kern="1200" dirty="0">
                <a:solidFill>
                  <a:schemeClr val="tx1"/>
                </a:solidFill>
                <a:effectLst/>
                <a:latin typeface="+mn-lt"/>
                <a:ea typeface="+mn-ea"/>
                <a:cs typeface="+mn-cs"/>
              </a:rPr>
              <a:t>four point 5x</a:t>
            </a:r>
            <a:r>
              <a:rPr lang="en-IN" sz="1200" b="0" i="0" kern="1200" dirty="0">
                <a:solidFill>
                  <a:schemeClr val="tx1"/>
                </a:solidFill>
                <a:effectLst/>
                <a:latin typeface="+mn-lt"/>
                <a:ea typeface="+mn-ea"/>
                <a:cs typeface="+mn-cs"/>
              </a:rPr>
              <a:t> on $4.655B guidance.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Forward price-to-earnings: approximately **25x** on approximately $0.60 estimated diluted EPS.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Consensus price target: </a:t>
            </a:r>
            <a:r>
              <a:rPr lang="en-IN" sz="1200" b="1" i="0" kern="1200" dirty="0">
                <a:solidFill>
                  <a:schemeClr val="tx1"/>
                </a:solidFill>
                <a:effectLst/>
                <a:latin typeface="+mn-lt"/>
                <a:ea typeface="+mn-ea"/>
                <a:cs typeface="+mn-cs"/>
              </a:rPr>
              <a:t>~$21** from 12 analysts.</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Highest target: **$31</a:t>
            </a:r>
            <a:r>
              <a:rPr lang="en-IN" sz="1200" b="0" i="0" kern="1200" dirty="0">
                <a:solidFill>
                  <a:schemeClr val="tx1"/>
                </a:solidFill>
                <a:effectLst/>
                <a:latin typeface="+mn-lt"/>
                <a:ea typeface="+mn-ea"/>
                <a:cs typeface="+mn-cs"/>
              </a:rPr>
              <a:t> from Mizuho.</a:t>
            </a:r>
          </a:p>
          <a:p>
            <a:r>
              <a:rPr lang="en-IN" sz="1200" b="0" i="0" kern="1200" dirty="0">
                <a:solidFill>
                  <a:schemeClr val="tx1"/>
                </a:solidFill>
                <a:effectLst/>
                <a:latin typeface="+mn-lt"/>
                <a:ea typeface="+mn-ea"/>
                <a:cs typeface="+mn-cs"/>
              </a:rPr>
              <a:t>Now the peer comparison — and this is where the </a:t>
            </a:r>
            <a:r>
              <a:rPr lang="en-IN" sz="1200" b="1" i="0" kern="1200" dirty="0">
                <a:solidFill>
                  <a:schemeClr val="tx1"/>
                </a:solidFill>
                <a:effectLst/>
                <a:latin typeface="+mn-lt"/>
                <a:ea typeface="+mn-ea"/>
                <a:cs typeface="+mn-cs"/>
              </a:rPr>
              <a:t>bank-versus-software framing</a:t>
            </a:r>
            <a:r>
              <a:rPr lang="en-IN" sz="1200" b="0" i="0" kern="1200" dirty="0">
                <a:solidFill>
                  <a:schemeClr val="tx1"/>
                </a:solidFill>
                <a:effectLst/>
                <a:latin typeface="+mn-lt"/>
                <a:ea typeface="+mn-ea"/>
                <a:cs typeface="+mn-cs"/>
              </a:rPr>
              <a:t> becomes viscerally real.</a:t>
            </a:r>
          </a:p>
          <a:p>
            <a:r>
              <a:rPr lang="en-IN" sz="1200" b="1"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 forward revenue approximately $1.2B, NTM price-to-revenue approximately </a:t>
            </a:r>
            <a:r>
              <a:rPr lang="en-IN" sz="1200" b="1" i="0" kern="1200" dirty="0">
                <a:solidFill>
                  <a:schemeClr val="tx1"/>
                </a:solidFill>
                <a:effectLst/>
                <a:latin typeface="+mn-lt"/>
                <a:ea typeface="+mn-ea"/>
                <a:cs typeface="+mn-cs"/>
              </a:rPr>
              <a:t>2x</a:t>
            </a:r>
            <a:r>
              <a:rPr lang="en-IN" sz="1200" b="0" i="0" kern="1200" dirty="0">
                <a:solidFill>
                  <a:schemeClr val="tx1"/>
                </a:solidFill>
                <a:effectLst/>
                <a:latin typeface="+mn-lt"/>
                <a:ea typeface="+mn-ea"/>
                <a:cs typeface="+mn-cs"/>
              </a:rPr>
              <a:t>. Rated Hold.</a:t>
            </a:r>
          </a:p>
          <a:p>
            <a:r>
              <a:rPr lang="en-IN" sz="1200" b="1" i="0" kern="1200" dirty="0">
                <a:solidFill>
                  <a:schemeClr val="tx1"/>
                </a:solidFill>
                <a:effectLst/>
                <a:latin typeface="+mn-lt"/>
                <a:ea typeface="+mn-ea"/>
                <a:cs typeface="+mn-cs"/>
              </a:rPr>
              <a:t>Upstart Holdings</a:t>
            </a:r>
            <a:r>
              <a:rPr lang="en-IN" sz="1200" b="0" i="0" kern="1200" dirty="0">
                <a:solidFill>
                  <a:schemeClr val="tx1"/>
                </a:solidFill>
                <a:effectLst/>
                <a:latin typeface="+mn-lt"/>
                <a:ea typeface="+mn-ea"/>
                <a:cs typeface="+mn-cs"/>
              </a:rPr>
              <a:t> — forward revenue approximately $800M, NTM price-to-revenue approximately </a:t>
            </a:r>
            <a:r>
              <a:rPr lang="en-IN" sz="1200" b="1" i="0" kern="1200" dirty="0">
                <a:solidFill>
                  <a:schemeClr val="tx1"/>
                </a:solidFill>
                <a:effectLst/>
                <a:latin typeface="+mn-lt"/>
                <a:ea typeface="+mn-ea"/>
                <a:cs typeface="+mn-cs"/>
              </a:rPr>
              <a:t>5x</a:t>
            </a:r>
            <a:r>
              <a:rPr lang="en-IN" sz="1200" b="0" i="0" kern="1200" dirty="0">
                <a:solidFill>
                  <a:schemeClr val="tx1"/>
                </a:solidFill>
                <a:effectLst/>
                <a:latin typeface="+mn-lt"/>
                <a:ea typeface="+mn-ea"/>
                <a:cs typeface="+mn-cs"/>
              </a:rPr>
              <a:t>. Rated speculative Buy. Notice that Upstart — which has no bank charter, is not GAAP profitable, and has far less revenue than SoFi — trades at approximately the same revenue multiple as SoFi. That tells you something about how the market is pricing the AI narrative premium in fintech.</a:t>
            </a:r>
          </a:p>
          <a:p>
            <a:r>
              <a:rPr lang="en-IN" sz="1200" b="1" i="0" kern="1200" dirty="0">
                <a:solidFill>
                  <a:schemeClr val="tx1"/>
                </a:solidFill>
                <a:effectLst/>
                <a:latin typeface="+mn-lt"/>
                <a:ea typeface="+mn-ea"/>
                <a:cs typeface="+mn-cs"/>
              </a:rPr>
              <a:t>Nu Holdings</a:t>
            </a:r>
            <a:r>
              <a:rPr lang="en-IN" sz="1200" b="0" i="0" kern="1200" dirty="0">
                <a:solidFill>
                  <a:schemeClr val="tx1"/>
                </a:solidFill>
                <a:effectLst/>
                <a:latin typeface="+mn-lt"/>
                <a:ea typeface="+mn-ea"/>
                <a:cs typeface="+mn-cs"/>
              </a:rPr>
              <a:t> — the Brazilian digital bank — forward revenue approximately $3.5B, NTM price-to-revenue </a:t>
            </a:r>
            <a:r>
              <a:rPr lang="en-IN" sz="1200" b="1" i="0" kern="1200" dirty="0">
                <a:solidFill>
                  <a:schemeClr val="tx1"/>
                </a:solidFill>
                <a:effectLst/>
                <a:latin typeface="+mn-lt"/>
                <a:ea typeface="+mn-ea"/>
                <a:cs typeface="+mn-cs"/>
              </a:rPr>
              <a:t>~8x</a:t>
            </a:r>
            <a:r>
              <a:rPr lang="en-IN" sz="1200" b="0" i="0" kern="1200" dirty="0">
                <a:solidFill>
                  <a:schemeClr val="tx1"/>
                </a:solidFill>
                <a:effectLst/>
                <a:latin typeface="+mn-lt"/>
                <a:ea typeface="+mn-ea"/>
                <a:cs typeface="+mn-cs"/>
              </a:rPr>
              <a:t>. That is nearly </a:t>
            </a:r>
            <a:r>
              <a:rPr lang="en-IN" sz="1200" b="1" i="0" kern="1200" dirty="0">
                <a:solidFill>
                  <a:schemeClr val="tx1"/>
                </a:solidFill>
                <a:effectLst/>
                <a:latin typeface="+mn-lt"/>
                <a:ea typeface="+mn-ea"/>
                <a:cs typeface="+mn-cs"/>
              </a:rPr>
              <a:t>double</a:t>
            </a:r>
            <a:r>
              <a:rPr lang="en-IN" sz="1200" b="0" i="0" kern="1200" dirty="0">
                <a:solidFill>
                  <a:schemeClr val="tx1"/>
                </a:solidFill>
                <a:effectLst/>
                <a:latin typeface="+mn-lt"/>
                <a:ea typeface="+mn-ea"/>
                <a:cs typeface="+mn-cs"/>
              </a:rPr>
              <a:t> SoFi's multiple, for a company with similar revenue scale and similar digital banking positioning but operating in Latin America. The Nu premium reflects high growth expectations in an underpenetrated market.</a:t>
            </a:r>
          </a:p>
          <a:p>
            <a:r>
              <a:rPr lang="en-IN" sz="1200" b="1" i="0" kern="1200" dirty="0">
                <a:solidFill>
                  <a:schemeClr val="tx1"/>
                </a:solidFill>
                <a:effectLst/>
                <a:latin typeface="+mn-lt"/>
                <a:ea typeface="+mn-ea"/>
                <a:cs typeface="+mn-cs"/>
              </a:rPr>
              <a:t>Block</a:t>
            </a:r>
            <a:r>
              <a:rPr lang="en-IN" sz="1200" b="0" i="0" kern="1200" dirty="0">
                <a:solidFill>
                  <a:schemeClr val="tx1"/>
                </a:solidFill>
                <a:effectLst/>
                <a:latin typeface="+mn-lt"/>
                <a:ea typeface="+mn-ea"/>
                <a:cs typeface="+mn-cs"/>
              </a:rPr>
              <a:t> — formerly Square — forward revenue approximately $8.5B, NTM price-to-revenue approximately </a:t>
            </a:r>
            <a:r>
              <a:rPr lang="en-IN" sz="1200" b="1" i="0" kern="1200" dirty="0">
                <a:solidFill>
                  <a:schemeClr val="tx1"/>
                </a:solidFill>
                <a:effectLst/>
                <a:latin typeface="+mn-lt"/>
                <a:ea typeface="+mn-ea"/>
                <a:cs typeface="+mn-cs"/>
              </a:rPr>
              <a:t>two point 5x</a:t>
            </a:r>
            <a:r>
              <a:rPr lang="en-IN" sz="1200" b="0" i="0" kern="1200" dirty="0">
                <a:solidFill>
                  <a:schemeClr val="tx1"/>
                </a:solidFill>
                <a:effectLst/>
                <a:latin typeface="+mn-lt"/>
                <a:ea typeface="+mn-ea"/>
                <a:cs typeface="+mn-cs"/>
              </a:rPr>
              <a:t>. Despite being 2x larger in revenue, Block trades at a lower revenue multiple than SoFi. This reflects lower growth rates and mixed execution signals from Cash App.</a:t>
            </a:r>
          </a:p>
          <a:p>
            <a:r>
              <a:rPr lang="en-IN" sz="1200" b="1" i="0" kern="1200" dirty="0">
                <a:solidFill>
                  <a:schemeClr val="tx1"/>
                </a:solidFill>
                <a:effectLst/>
                <a:latin typeface="+mn-lt"/>
                <a:ea typeface="+mn-ea"/>
                <a:cs typeface="+mn-cs"/>
              </a:rPr>
              <a:t>Ally Financial</a:t>
            </a:r>
            <a:r>
              <a:rPr lang="en-IN" sz="1200" b="0" i="0" kern="1200" dirty="0">
                <a:solidFill>
                  <a:schemeClr val="tx1"/>
                </a:solidFill>
                <a:effectLst/>
                <a:latin typeface="+mn-lt"/>
                <a:ea typeface="+mn-ea"/>
                <a:cs typeface="+mn-cs"/>
              </a:rPr>
              <a:t> — forward revenue ~$8B, NTM price-to-revenue approximately </a:t>
            </a:r>
            <a:r>
              <a:rPr lang="en-IN" sz="1200" b="1" i="0" kern="1200" dirty="0">
                <a:solidFill>
                  <a:schemeClr val="tx1"/>
                </a:solidFill>
                <a:effectLst/>
                <a:latin typeface="+mn-lt"/>
                <a:ea typeface="+mn-ea"/>
                <a:cs typeface="+mn-cs"/>
              </a:rPr>
              <a:t>1.5x</a:t>
            </a:r>
            <a:r>
              <a:rPr lang="en-IN" sz="1200" b="0" i="0" kern="1200" dirty="0">
                <a:solidFill>
                  <a:schemeClr val="tx1"/>
                </a:solidFill>
                <a:effectLst/>
                <a:latin typeface="+mn-lt"/>
                <a:ea typeface="+mn-ea"/>
                <a:cs typeface="+mn-cs"/>
              </a:rPr>
              <a:t>. Ally is a pure digital bank focused on auto lending. Its 1.5x revenue multiple reflects the market's view of it as a bank, not a software company.</a:t>
            </a:r>
          </a:p>
          <a:p>
            <a:r>
              <a:rPr lang="en-IN" sz="1200" b="0" i="0" kern="1200" dirty="0">
                <a:solidFill>
                  <a:schemeClr val="tx1"/>
                </a:solidFill>
                <a:effectLst/>
                <a:latin typeface="+mn-lt"/>
                <a:ea typeface="+mn-ea"/>
                <a:cs typeface="+mn-cs"/>
              </a:rPr>
              <a:t>The DCF key assumptions built into this research:</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Revenue: </a:t>
            </a:r>
            <a:r>
              <a:rPr lang="en-IN" sz="1200" b="1" i="0" kern="1200" dirty="0">
                <a:solidFill>
                  <a:schemeClr val="tx1"/>
                </a:solidFill>
                <a:effectLst/>
                <a:latin typeface="+mn-lt"/>
                <a:ea typeface="+mn-ea"/>
                <a:cs typeface="+mn-cs"/>
              </a:rPr>
              <a:t>$4.7B** 2026 estimate growing to **eight to $10B</a:t>
            </a:r>
            <a:r>
              <a:rPr lang="en-IN" sz="1200" b="0" i="0" kern="1200" dirty="0">
                <a:solidFill>
                  <a:schemeClr val="tx1"/>
                </a:solidFill>
                <a:effectLst/>
                <a:latin typeface="+mn-lt"/>
                <a:ea typeface="+mn-ea"/>
                <a:cs typeface="+mn-cs"/>
              </a:rPr>
              <a:t> by 2030 at management's 30% CAGR target.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WACC: </a:t>
            </a:r>
            <a:r>
              <a:rPr lang="en-IN" sz="1200" b="1" i="0" kern="1200" dirty="0">
                <a:solidFill>
                  <a:schemeClr val="tx1"/>
                </a:solidFill>
                <a:effectLst/>
                <a:latin typeface="+mn-lt"/>
                <a:ea typeface="+mn-ea"/>
                <a:cs typeface="+mn-cs"/>
              </a:rPr>
              <a:t>10%</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Terminal EBITDA margin: </a:t>
            </a:r>
            <a:r>
              <a:rPr lang="en-IN" sz="1200" b="1" i="0" kern="1200" dirty="0">
                <a:solidFill>
                  <a:schemeClr val="tx1"/>
                </a:solidFill>
                <a:effectLst/>
                <a:latin typeface="+mn-lt"/>
                <a:ea typeface="+mn-ea"/>
                <a:cs typeface="+mn-cs"/>
              </a:rPr>
              <a:t>38%</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Terminal growth rate: </a:t>
            </a:r>
            <a:r>
              <a:rPr lang="en-IN" sz="1200" b="1" i="0" kern="1200" dirty="0">
                <a:solidFill>
                  <a:schemeClr val="tx1"/>
                </a:solidFill>
                <a:effectLst/>
                <a:latin typeface="+mn-lt"/>
                <a:ea typeface="+mn-ea"/>
                <a:cs typeface="+mn-cs"/>
              </a:rPr>
              <a:t>4%</a:t>
            </a:r>
            <a:r>
              <a:rPr lang="en-IN" sz="1200" b="0" i="0" kern="1200" dirty="0">
                <a:solidFill>
                  <a:schemeClr val="tx1"/>
                </a:solidFill>
                <a:effectLst/>
                <a:latin typeface="+mn-lt"/>
                <a:ea typeface="+mn-ea"/>
                <a:cs typeface="+mn-cs"/>
              </a:rPr>
              <a: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DCF implied range: </a:t>
            </a:r>
            <a:r>
              <a:rPr lang="en-IN" sz="1200" b="1" i="0" kern="1200" dirty="0">
                <a:solidFill>
                  <a:schemeClr val="tx1"/>
                </a:solidFill>
                <a:effectLst/>
                <a:latin typeface="+mn-lt"/>
                <a:ea typeface="+mn-ea"/>
                <a:cs typeface="+mn-cs"/>
              </a:rPr>
              <a:t>eighteen to $25 per share** base case.</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Bull case on software rerating plus S&amp;P 500 inclusion: **$32–38</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The core flag on this slide is worth reading verbatim: </a:t>
            </a:r>
            <a:r>
              <a:rPr lang="en-IN" sz="1200" b="1" i="0" kern="1200" dirty="0">
                <a:solidFill>
                  <a:schemeClr val="tx1"/>
                </a:solidFill>
                <a:effectLst/>
                <a:latin typeface="+mn-lt"/>
                <a:ea typeface="+mn-ea"/>
                <a:cs typeface="+mn-cs"/>
              </a:rPr>
              <a:t>the bank-versus-software valuation debate is unresolved.</a:t>
            </a:r>
            <a:r>
              <a:rPr lang="en-IN" sz="1200" b="0" i="0" kern="1200" dirty="0">
                <a:solidFill>
                  <a:schemeClr val="tx1"/>
                </a:solidFill>
                <a:effectLst/>
                <a:latin typeface="+mn-lt"/>
                <a:ea typeface="+mn-ea"/>
                <a:cs typeface="+mn-cs"/>
              </a:rPr>
              <a:t> At 1–2x book value — bank framing — SOFI is worth approximately </a:t>
            </a:r>
            <a:r>
              <a:rPr lang="en-IN" sz="1200" b="1" i="0" kern="1200" dirty="0">
                <a:solidFill>
                  <a:schemeClr val="tx1"/>
                </a:solidFill>
                <a:effectLst/>
                <a:latin typeface="+mn-lt"/>
                <a:ea typeface="+mn-ea"/>
                <a:cs typeface="+mn-cs"/>
              </a:rPr>
              <a:t>$10–12**. At 7–9x forward revenue — software framing — SOFI is worth **$32–40</a:t>
            </a:r>
            <a:r>
              <a:rPr lang="en-IN" sz="1200" b="0" i="0" kern="1200" dirty="0">
                <a:solidFill>
                  <a:schemeClr val="tx1"/>
                </a:solidFill>
                <a:effectLst/>
                <a:latin typeface="+mn-lt"/>
                <a:ea typeface="+mn-ea"/>
                <a:cs typeface="+mn-cs"/>
              </a:rPr>
              <a:t>. The multiple is entirely determined by which framework investors apply. Macro regime shift or Muddy Waters resolution will determine the winner.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[TRANSITION: "So how do you monitor this investment quarter by quarter? Let me give you the exact checklist."]</a:t>
            </a:r>
          </a:p>
          <a:p>
            <a:r>
              <a:rPr lang="en-IN" sz="1200" b="0" i="0" kern="1200" dirty="0">
                <a:solidFill>
                  <a:schemeClr val="tx1"/>
                </a:solidFill>
                <a:effectLst/>
                <a:latin typeface="+mn-lt"/>
                <a:ea typeface="+mn-ea"/>
                <a:cs typeface="+mn-cs"/>
              </a:rPr>
              <a:t>SLIDE 15 — INVESTOR RESEARCH CHECKLIST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"SECTION 11: INVESTOR RESEARCH CHECKLIST &amp; KEY MONITORING ITEMS"</a:t>
            </a:r>
          </a:p>
          <a:p>
            <a:r>
              <a:rPr lang="en-IN" sz="1200" b="0" i="0" kern="1200" dirty="0">
                <a:solidFill>
                  <a:schemeClr val="tx1"/>
                </a:solidFill>
                <a:effectLst/>
                <a:latin typeface="+mn-lt"/>
                <a:ea typeface="+mn-ea"/>
                <a:cs typeface="+mn-cs"/>
              </a:rPr>
              <a:t>[PRACTICAL, ACTIONABLE — SPEND 3-4 MINUTES HERE]</a:t>
            </a:r>
          </a:p>
          <a:p>
            <a:r>
              <a:rPr lang="en-IN" sz="1200" b="0" i="0" kern="1200" dirty="0">
                <a:solidFill>
                  <a:schemeClr val="tx1"/>
                </a:solidFill>
                <a:effectLst/>
                <a:latin typeface="+mn-lt"/>
                <a:ea typeface="+mn-ea"/>
                <a:cs typeface="+mn-cs"/>
              </a:rPr>
              <a:t>Three monitoring categories. Watch these every quarter.</a:t>
            </a:r>
          </a:p>
          <a:p>
            <a:r>
              <a:rPr lang="en-IN" sz="1200" b="1" i="0" kern="1200" dirty="0">
                <a:solidFill>
                  <a:schemeClr val="tx1"/>
                </a:solidFill>
                <a:effectLst/>
                <a:latin typeface="+mn-lt"/>
                <a:ea typeface="+mn-ea"/>
                <a:cs typeface="+mn-cs"/>
              </a:rPr>
              <a:t>CATEGORY ONE: Earnings Metrics — Q2 and Q3 2026.</a:t>
            </a:r>
            <a:endParaRPr lang="en-IN" sz="1200" b="0" i="0" kern="1200" dirty="0">
              <a:solidFill>
                <a:schemeClr val="tx1"/>
              </a:solidFill>
              <a:effectLst/>
              <a:latin typeface="+mn-lt"/>
              <a:ea typeface="+mn-ea"/>
              <a:cs typeface="+mn-cs"/>
            </a:endParaRPr>
          </a:p>
          <a:p>
            <a:r>
              <a:rPr lang="en-IN" sz="1200" b="1" i="0" kern="1200" dirty="0">
                <a:solidFill>
                  <a:schemeClr val="tx1"/>
                </a:solidFill>
                <a:effectLst/>
                <a:latin typeface="+mn-lt"/>
                <a:ea typeface="+mn-ea"/>
                <a:cs typeface="+mn-cs"/>
              </a:rPr>
              <a:t>Next earnings: July 28, 2026.</a:t>
            </a:r>
            <a:r>
              <a:rPr lang="en-IN" sz="1200" b="0" i="0" kern="1200" dirty="0">
                <a:solidFill>
                  <a:schemeClr val="tx1"/>
                </a:solidFill>
                <a:effectLst/>
                <a:latin typeface="+mn-lt"/>
                <a:ea typeface="+mn-ea"/>
                <a:cs typeface="+mn-cs"/>
              </a:rPr>
              <a:t> Mark the calendar.</a:t>
            </a:r>
          </a:p>
          <a:p>
            <a:r>
              <a:rPr lang="en-IN" sz="1200" b="0" i="0" kern="1200" dirty="0">
                <a:solidFill>
                  <a:schemeClr val="tx1"/>
                </a:solidFill>
                <a:effectLst/>
                <a:latin typeface="+mn-lt"/>
                <a:ea typeface="+mn-ea"/>
                <a:cs typeface="+mn-cs"/>
              </a:rPr>
              <a:t>Revenue versus </a:t>
            </a:r>
            <a:r>
              <a:rPr lang="en-IN" sz="1200" b="1" i="0" kern="1200" dirty="0">
                <a:solidFill>
                  <a:schemeClr val="tx1"/>
                </a:solidFill>
                <a:effectLst/>
                <a:latin typeface="+mn-lt"/>
                <a:ea typeface="+mn-ea"/>
                <a:cs typeface="+mn-cs"/>
              </a:rPr>
              <a:t>$1.1–1.15B Q2 consensus</a:t>
            </a:r>
            <a:r>
              <a:rPr lang="en-IN" sz="1200" b="0" i="0" kern="1200" dirty="0">
                <a:solidFill>
                  <a:schemeClr val="tx1"/>
                </a:solidFill>
                <a:effectLst/>
                <a:latin typeface="+mn-lt"/>
                <a:ea typeface="+mn-ea"/>
                <a:cs typeface="+mn-cs"/>
              </a:rPr>
              <a:t> — is 30% full-year growth on track?</a:t>
            </a:r>
          </a:p>
          <a:p>
            <a:r>
              <a:rPr lang="en-IN" sz="1200" b="0" i="0" kern="1200" dirty="0">
                <a:solidFill>
                  <a:schemeClr val="tx1"/>
                </a:solidFill>
                <a:effectLst/>
                <a:latin typeface="+mn-lt"/>
                <a:ea typeface="+mn-ea"/>
                <a:cs typeface="+mn-cs"/>
              </a:rPr>
              <a:t>Personal loan originations above **$8B** or slowing from Q1's $8.3B?</a:t>
            </a:r>
          </a:p>
          <a:p>
            <a:r>
              <a:rPr lang="en-IN" sz="1200" b="0" i="0" kern="1200" dirty="0">
                <a:solidFill>
                  <a:schemeClr val="tx1"/>
                </a:solidFill>
                <a:effectLst/>
                <a:latin typeface="+mn-lt"/>
                <a:ea typeface="+mn-ea"/>
                <a:cs typeface="+mn-cs"/>
              </a:rPr>
              <a:t>Net charge-off rate — holding below </a:t>
            </a:r>
            <a:r>
              <a:rPr lang="en-IN" sz="1200" b="1" i="0" kern="1200" dirty="0">
                <a:solidFill>
                  <a:schemeClr val="tx1"/>
                </a:solidFill>
                <a:effectLst/>
                <a:latin typeface="+mn-lt"/>
                <a:ea typeface="+mn-ea"/>
                <a:cs typeface="+mn-cs"/>
              </a:rPr>
              <a:t>three point 5%</a:t>
            </a:r>
            <a:r>
              <a:rPr lang="en-IN" sz="1200" b="0" i="0" kern="1200" dirty="0">
                <a:solidFill>
                  <a:schemeClr val="tx1"/>
                </a:solidFill>
                <a:effectLst/>
                <a:latin typeface="+mn-lt"/>
                <a:ea typeface="+mn-ea"/>
                <a:cs typeface="+mn-cs"/>
              </a:rPr>
              <a:t>, or rising toward </a:t>
            </a:r>
            <a:r>
              <a:rPr lang="en-IN" sz="1200" b="1" i="0" kern="1200" dirty="0">
                <a:solidFill>
                  <a:schemeClr val="tx1"/>
                </a:solidFill>
                <a:effectLst/>
                <a:latin typeface="+mn-lt"/>
                <a:ea typeface="+mn-ea"/>
                <a:cs typeface="+mn-cs"/>
              </a:rPr>
              <a:t>4% danger zone</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Adjusted EBITDA margin — targeting </a:t>
            </a:r>
            <a:r>
              <a:rPr lang="en-IN" sz="1200" b="1" i="0" kern="1200" dirty="0">
                <a:solidFill>
                  <a:schemeClr val="tx1"/>
                </a:solidFill>
                <a:effectLst/>
                <a:latin typeface="+mn-lt"/>
                <a:ea typeface="+mn-ea"/>
                <a:cs typeface="+mn-cs"/>
              </a:rPr>
              <a:t>34%</a:t>
            </a:r>
            <a:r>
              <a:rPr lang="en-IN" sz="1200" b="0" i="0" kern="1200" dirty="0">
                <a:solidFill>
                  <a:schemeClr val="tx1"/>
                </a:solidFill>
                <a:effectLst/>
                <a:latin typeface="+mn-lt"/>
                <a:ea typeface="+mn-ea"/>
                <a:cs typeface="+mn-cs"/>
              </a:rPr>
              <a:t> for full year, any compression?</a:t>
            </a:r>
          </a:p>
          <a:p>
            <a:r>
              <a:rPr lang="en-IN" sz="1200" b="0" i="0" kern="1200" dirty="0">
                <a:solidFill>
                  <a:schemeClr val="tx1"/>
                </a:solidFill>
                <a:effectLst/>
                <a:latin typeface="+mn-lt"/>
                <a:ea typeface="+mn-ea"/>
                <a:cs typeface="+mn-cs"/>
              </a:rPr>
              <a:t>Technology platform revenue — stabilising at </a:t>
            </a:r>
            <a:r>
              <a:rPr lang="en-IN" sz="1200" b="1" i="0" kern="1200" dirty="0">
                <a:solidFill>
                  <a:schemeClr val="tx1"/>
                </a:solidFill>
                <a:effectLst/>
                <a:latin typeface="+mn-lt"/>
                <a:ea typeface="+mn-ea"/>
                <a:cs typeface="+mn-cs"/>
              </a:rPr>
              <a:t>$75M</a:t>
            </a:r>
            <a:r>
              <a:rPr lang="en-IN" sz="1200" b="0" i="0" kern="1200" dirty="0">
                <a:solidFill>
                  <a:schemeClr val="tx1"/>
                </a:solidFill>
                <a:effectLst/>
                <a:latin typeface="+mn-lt"/>
                <a:ea typeface="+mn-ea"/>
                <a:cs typeface="+mn-cs"/>
              </a:rPr>
              <a:t> or declining further?</a:t>
            </a:r>
          </a:p>
          <a:p>
            <a:r>
              <a:rPr lang="en-IN" sz="1200" b="0" i="0" kern="1200" dirty="0">
                <a:solidFill>
                  <a:schemeClr val="tx1"/>
                </a:solidFill>
                <a:effectLst/>
                <a:latin typeface="+mn-lt"/>
                <a:ea typeface="+mn-ea"/>
                <a:cs typeface="+mn-cs"/>
              </a:rPr>
              <a:t>Full year guidance — </a:t>
            </a:r>
            <a:r>
              <a:rPr lang="en-IN" sz="1200" b="1" i="0" kern="1200" dirty="0">
                <a:solidFill>
                  <a:schemeClr val="tx1"/>
                </a:solidFill>
                <a:effectLst/>
                <a:latin typeface="+mn-lt"/>
                <a:ea typeface="+mn-ea"/>
                <a:cs typeface="+mn-cs"/>
              </a:rPr>
              <a:t>any raise</a:t>
            </a:r>
            <a:r>
              <a:rPr lang="en-IN" sz="1200" b="0" i="0" kern="1200" dirty="0">
                <a:solidFill>
                  <a:schemeClr val="tx1"/>
                </a:solidFill>
                <a:effectLst/>
                <a:latin typeface="+mn-lt"/>
                <a:ea typeface="+mn-ea"/>
                <a:cs typeface="+mn-cs"/>
              </a:rPr>
              <a:t> is a strong buy signal, </a:t>
            </a:r>
            <a:r>
              <a:rPr lang="en-IN" sz="1200" b="1" i="0" kern="1200" dirty="0">
                <a:solidFill>
                  <a:schemeClr val="tx1"/>
                </a:solidFill>
                <a:effectLst/>
                <a:latin typeface="+mn-lt"/>
                <a:ea typeface="+mn-ea"/>
                <a:cs typeface="+mn-cs"/>
              </a:rPr>
              <a:t>any cut</a:t>
            </a:r>
            <a:r>
              <a:rPr lang="en-IN" sz="1200" b="0" i="0" kern="1200" dirty="0">
                <a:solidFill>
                  <a:schemeClr val="tx1"/>
                </a:solidFill>
                <a:effectLst/>
                <a:latin typeface="+mn-lt"/>
                <a:ea typeface="+mn-ea"/>
                <a:cs typeface="+mn-cs"/>
              </a:rPr>
              <a:t> is a severe de-rating risk.</a:t>
            </a:r>
          </a:p>
          <a:p>
            <a:r>
              <a:rPr lang="en-IN" sz="1200" b="1" i="0" kern="1200" dirty="0">
                <a:solidFill>
                  <a:schemeClr val="tx1"/>
                </a:solidFill>
                <a:effectLst/>
                <a:latin typeface="+mn-lt"/>
                <a:ea typeface="+mn-ea"/>
                <a:cs typeface="+mn-cs"/>
              </a:rPr>
              <a:t>CATEGORY TWO: Muddy Waters and Regulatory Watchlist.</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SEC comment letter or inquiry into JPMorgan loan accounting — any such disclosure would be disclosed publicly.</a:t>
            </a:r>
          </a:p>
          <a:p>
            <a:r>
              <a:rPr lang="en-IN" sz="1200" b="0" i="0" kern="1200" dirty="0">
                <a:solidFill>
                  <a:schemeClr val="tx1"/>
                </a:solidFill>
                <a:effectLst/>
                <a:latin typeface="+mn-lt"/>
                <a:ea typeface="+mn-ea"/>
                <a:cs typeface="+mn-cs"/>
              </a:rPr>
              <a:t>External auditor </a:t>
            </a:r>
            <a:r>
              <a:rPr lang="en-IN" sz="1200" b="1" i="0" kern="1200" dirty="0">
                <a:solidFill>
                  <a:schemeClr val="tx1"/>
                </a:solidFill>
                <a:effectLst/>
                <a:latin typeface="+mn-lt"/>
                <a:ea typeface="+mn-ea"/>
                <a:cs typeface="+mn-cs"/>
              </a:rPr>
              <a:t>Deloitte</a:t>
            </a:r>
            <a:r>
              <a:rPr lang="en-IN" sz="1200" b="0" i="0" kern="1200" dirty="0">
                <a:solidFill>
                  <a:schemeClr val="tx1"/>
                </a:solidFill>
                <a:effectLst/>
                <a:latin typeface="+mn-lt"/>
                <a:ea typeface="+mn-ea"/>
                <a:cs typeface="+mn-cs"/>
              </a:rPr>
              <a:t> — any change in audit opinion, going concern language, or audit qualification.</a:t>
            </a:r>
          </a:p>
          <a:p>
            <a:r>
              <a:rPr lang="en-IN" sz="1200" b="0" i="0" kern="1200" dirty="0">
                <a:solidFill>
                  <a:schemeClr val="tx1"/>
                </a:solidFill>
                <a:effectLst/>
                <a:latin typeface="+mn-lt"/>
                <a:ea typeface="+mn-ea"/>
                <a:cs typeface="+mn-cs"/>
              </a:rPr>
              <a:t>Any regulatory communication from </a:t>
            </a:r>
            <a:r>
              <a:rPr lang="en-IN" sz="1200" b="1" i="0" kern="1200" dirty="0">
                <a:solidFill>
                  <a:schemeClr val="tx1"/>
                </a:solidFill>
                <a:effectLst/>
                <a:latin typeface="+mn-lt"/>
                <a:ea typeface="+mn-ea"/>
                <a:cs typeface="+mn-cs"/>
              </a:rPr>
              <a:t>OCC, FDIC, or Federal Reserve</a:t>
            </a:r>
            <a:r>
              <a:rPr lang="en-IN" sz="1200" b="0" i="0" kern="1200" dirty="0">
                <a:solidFill>
                  <a:schemeClr val="tx1"/>
                </a:solidFill>
                <a:effectLst/>
                <a:latin typeface="+mn-lt"/>
                <a:ea typeface="+mn-ea"/>
                <a:cs typeface="+mn-cs"/>
              </a:rPr>
              <a:t> specifically to SoFi Bank.</a:t>
            </a:r>
          </a:p>
          <a:p>
            <a:r>
              <a:rPr lang="en-IN" sz="1200" b="0" i="0" kern="1200" dirty="0">
                <a:solidFill>
                  <a:schemeClr val="tx1"/>
                </a:solidFill>
                <a:effectLst/>
                <a:latin typeface="+mn-lt"/>
                <a:ea typeface="+mn-ea"/>
                <a:cs typeface="+mn-cs"/>
              </a:rPr>
              <a:t>Muddy Waters follow-up reports — if their tone moderates, that is a positive. If they escalate, that is severe.</a:t>
            </a:r>
          </a:p>
          <a:p>
            <a:r>
              <a:rPr lang="en-IN" sz="1200" b="0" i="0" kern="1200" dirty="0">
                <a:solidFill>
                  <a:schemeClr val="tx1"/>
                </a:solidFill>
                <a:effectLst/>
                <a:latin typeface="+mn-lt"/>
                <a:ea typeface="+mn-ea"/>
                <a:cs typeface="+mn-cs"/>
              </a:rPr>
              <a:t>Legal action by SoFi against Muddy Waters — progress indicates management confidence.</a:t>
            </a:r>
          </a:p>
          <a:p>
            <a:r>
              <a:rPr lang="en-IN" sz="1200" b="0" i="0" kern="1200" dirty="0">
                <a:solidFill>
                  <a:schemeClr val="tx1"/>
                </a:solidFill>
                <a:effectLst/>
                <a:latin typeface="+mn-lt"/>
                <a:ea typeface="+mn-ea"/>
                <a:cs typeface="+mn-cs"/>
              </a:rPr>
              <a:t>Capital ratios: </a:t>
            </a:r>
            <a:r>
              <a:rPr lang="en-IN" sz="1200" b="1" i="0" kern="1200" dirty="0">
                <a:solidFill>
                  <a:schemeClr val="tx1"/>
                </a:solidFill>
                <a:effectLst/>
                <a:latin typeface="+mn-lt"/>
                <a:ea typeface="+mn-ea"/>
                <a:cs typeface="+mn-cs"/>
              </a:rPr>
              <a:t>CET1 and Tier 1</a:t>
            </a:r>
            <a:r>
              <a:rPr lang="en-IN" sz="1200" b="0" i="0" kern="1200" dirty="0">
                <a:solidFill>
                  <a:schemeClr val="tx1"/>
                </a:solidFill>
                <a:effectLst/>
                <a:latin typeface="+mn-lt"/>
                <a:ea typeface="+mn-ea"/>
                <a:cs typeface="+mn-cs"/>
              </a:rPr>
              <a:t> — any deterioration flags potential restatement impact.</a:t>
            </a:r>
          </a:p>
          <a:p>
            <a:r>
              <a:rPr lang="en-IN" sz="1200" b="1" i="0" kern="1200" dirty="0">
                <a:solidFill>
                  <a:schemeClr val="tx1"/>
                </a:solidFill>
                <a:effectLst/>
                <a:latin typeface="+mn-lt"/>
                <a:ea typeface="+mn-ea"/>
                <a:cs typeface="+mn-cs"/>
              </a:rPr>
              <a:t>CATEGORY THREE: Member Economics and Technology Platform.</a:t>
            </a:r>
            <a:endParaRPr lang="en-IN" sz="1200" b="0" i="0" kern="1200" dirty="0">
              <a:solidFill>
                <a:schemeClr val="tx1"/>
              </a:solidFill>
              <a:effectLst/>
              <a:latin typeface="+mn-lt"/>
              <a:ea typeface="+mn-ea"/>
              <a:cs typeface="+mn-cs"/>
            </a:endParaRPr>
          </a:p>
          <a:p>
            <a:r>
              <a:rPr lang="en-IN" sz="1200" b="0" i="0" kern="1200" dirty="0">
                <a:solidFill>
                  <a:schemeClr val="tx1"/>
                </a:solidFill>
                <a:effectLst/>
                <a:latin typeface="+mn-lt"/>
                <a:ea typeface="+mn-ea"/>
                <a:cs typeface="+mn-cs"/>
              </a:rPr>
              <a:t>Products per member: from </a:t>
            </a:r>
            <a:r>
              <a:rPr lang="en-IN" sz="1200" b="1" i="0" kern="1200" dirty="0">
                <a:solidFill>
                  <a:schemeClr val="tx1"/>
                </a:solidFill>
                <a:effectLst/>
                <a:latin typeface="+mn-lt"/>
                <a:ea typeface="+mn-ea"/>
                <a:cs typeface="+mn-cs"/>
              </a:rPr>
              <a:t>1.5 one</a:t>
            </a:r>
            <a:r>
              <a:rPr lang="en-IN" sz="1200" b="0" i="0" kern="1200" dirty="0">
                <a:solidFill>
                  <a:schemeClr val="tx1"/>
                </a:solidFill>
                <a:effectLst/>
                <a:latin typeface="+mn-lt"/>
                <a:ea typeface="+mn-ea"/>
                <a:cs typeface="+mn-cs"/>
              </a:rPr>
              <a:t> now — targeting </a:t>
            </a:r>
            <a:r>
              <a:rPr lang="en-IN" sz="1200" b="1" i="0" kern="1200" dirty="0">
                <a:solidFill>
                  <a:schemeClr val="tx1"/>
                </a:solidFill>
                <a:effectLst/>
                <a:latin typeface="+mn-lt"/>
                <a:ea typeface="+mn-ea"/>
                <a:cs typeface="+mn-cs"/>
              </a:rPr>
              <a:t>2.0</a:t>
            </a:r>
            <a:r>
              <a:rPr lang="en-IN" sz="1200" b="0" i="0" kern="1200" dirty="0">
                <a:solidFill>
                  <a:schemeClr val="tx1"/>
                </a:solidFill>
                <a:effectLst/>
                <a:latin typeface="+mn-lt"/>
                <a:ea typeface="+mn-ea"/>
                <a:cs typeface="+mn-cs"/>
              </a:rPr>
              <a:t> by end of 2026.</a:t>
            </a:r>
          </a:p>
          <a:p>
            <a:r>
              <a:rPr lang="en-IN" sz="1200" b="0" i="0" kern="1200" dirty="0">
                <a:solidFill>
                  <a:schemeClr val="tx1"/>
                </a:solidFill>
                <a:effectLst/>
                <a:latin typeface="+mn-lt"/>
                <a:ea typeface="+mn-ea"/>
                <a:cs typeface="+mn-cs"/>
              </a:rPr>
              <a:t>Percentage of products from existing members: should hold above </a:t>
            </a:r>
            <a:r>
              <a:rPr lang="en-IN" sz="1200" b="1" i="0" kern="1200" dirty="0">
                <a:solidFill>
                  <a:schemeClr val="tx1"/>
                </a:solidFill>
                <a:effectLst/>
                <a:latin typeface="+mn-lt"/>
                <a:ea typeface="+mn-ea"/>
                <a:cs typeface="+mn-cs"/>
              </a:rPr>
              <a:t>40%</a:t>
            </a:r>
            <a:r>
              <a:rPr lang="en-IN" sz="1200" b="0" i="0" kern="1200" dirty="0">
                <a:solidFill>
                  <a:schemeClr val="tx1"/>
                </a:solidFill>
                <a:effectLst/>
                <a:latin typeface="+mn-lt"/>
                <a:ea typeface="+mn-ea"/>
                <a:cs typeface="+mn-cs"/>
              </a:rPr>
              <a:t>. Decline signals FSPL faltering.</a:t>
            </a:r>
          </a:p>
          <a:p>
            <a:r>
              <a:rPr lang="en-IN" sz="1200" b="0" i="0" kern="1200" dirty="0">
                <a:solidFill>
                  <a:schemeClr val="tx1"/>
                </a:solidFill>
                <a:effectLst/>
                <a:latin typeface="+mn-lt"/>
                <a:ea typeface="+mn-ea"/>
                <a:cs typeface="+mn-cs"/>
              </a:rPr>
              <a:t>Direct deposit penetration: what % of members use SoFi as primary bank?</a:t>
            </a:r>
          </a:p>
          <a:p>
            <a:r>
              <a:rPr lang="en-IN" sz="1200" b="0" i="0" kern="1200" dirty="0">
                <a:solidFill>
                  <a:schemeClr val="tx1"/>
                </a:solidFill>
                <a:effectLst/>
                <a:latin typeface="+mn-lt"/>
                <a:ea typeface="+mn-ea"/>
                <a:cs typeface="+mn-cs"/>
              </a:rPr>
              <a:t>SoFi Money deposits: is </a:t>
            </a:r>
            <a:r>
              <a:rPr lang="en-IN" sz="1200" b="1" i="0" kern="1200" dirty="0">
                <a:solidFill>
                  <a:schemeClr val="tx1"/>
                </a:solidFill>
                <a:effectLst/>
                <a:latin typeface="+mn-lt"/>
                <a:ea typeface="+mn-ea"/>
                <a:cs typeface="+mn-cs"/>
              </a:rPr>
              <a:t>$40.2B** growing at **$2–3B per quarter</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Galileo total enabled accounts — reversing the stall from approximately </a:t>
            </a:r>
            <a:r>
              <a:rPr lang="en-IN" sz="1200" b="1" i="0" kern="1200" dirty="0">
                <a:solidFill>
                  <a:schemeClr val="tx1"/>
                </a:solidFill>
                <a:effectLst/>
                <a:latin typeface="+mn-lt"/>
                <a:ea typeface="+mn-ea"/>
                <a:cs typeface="+mn-cs"/>
              </a:rPr>
              <a:t>128.5M</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New B2B client announcements — any major bank signing Cyberbank Core.</a:t>
            </a:r>
          </a:p>
          <a:p>
            <a:r>
              <a:rPr lang="en-IN" sz="1200" b="0" i="0" kern="1200" dirty="0" err="1">
                <a:solidFill>
                  <a:schemeClr val="tx1"/>
                </a:solidFill>
                <a:effectLst/>
                <a:latin typeface="+mn-lt"/>
                <a:ea typeface="+mn-ea"/>
                <a:cs typeface="+mn-cs"/>
              </a:rPr>
              <a:t>SoFiUSD</a:t>
            </a:r>
            <a:r>
              <a:rPr lang="en-IN" sz="1200" b="0" i="0" kern="1200" dirty="0">
                <a:solidFill>
                  <a:schemeClr val="tx1"/>
                </a:solidFill>
                <a:effectLst/>
                <a:latin typeface="+mn-lt"/>
                <a:ea typeface="+mn-ea"/>
                <a:cs typeface="+mn-cs"/>
              </a:rPr>
              <a:t> stablecoin — any major enterprise adoption or regulatory partnership announcement.</a:t>
            </a:r>
          </a:p>
          <a:p>
            <a:r>
              <a:rPr lang="en-IN" sz="1200" b="0" i="0" kern="1200" dirty="0">
                <a:solidFill>
                  <a:schemeClr val="tx1"/>
                </a:solidFill>
                <a:effectLst/>
                <a:latin typeface="+mn-lt"/>
                <a:ea typeface="+mn-ea"/>
                <a:cs typeface="+mn-cs"/>
              </a:rPr>
              <a:t>Q2 technology platform revenue — does it stabilise or continue declining?</a:t>
            </a:r>
          </a:p>
          <a:p>
            <a:r>
              <a:rPr lang="en-IN" sz="1200" b="0" i="0" kern="1200" dirty="0">
                <a:solidFill>
                  <a:schemeClr val="tx1"/>
                </a:solidFill>
                <a:effectLst/>
                <a:latin typeface="+mn-lt"/>
                <a:ea typeface="+mn-ea"/>
                <a:cs typeface="+mn-cs"/>
              </a:rPr>
              <a:t>The critical binary event: </a:t>
            </a:r>
            <a:r>
              <a:rPr lang="en-IN" sz="1200" b="1" i="0" kern="1200" dirty="0">
                <a:solidFill>
                  <a:schemeClr val="tx1"/>
                </a:solidFill>
                <a:effectLst/>
                <a:latin typeface="+mn-lt"/>
                <a:ea typeface="+mn-ea"/>
                <a:cs typeface="+mn-cs"/>
              </a:rPr>
              <a:t>Q2 2026 earnings on July 28</a:t>
            </a:r>
            <a:r>
              <a:rPr lang="en-IN" sz="1200" b="0" i="0" kern="1200" dirty="0">
                <a:solidFill>
                  <a:schemeClr val="tx1"/>
                </a:solidFill>
                <a:effectLst/>
                <a:latin typeface="+mn-lt"/>
                <a:ea typeface="+mn-ea"/>
                <a:cs typeface="+mn-cs"/>
              </a:rPr>
              <a:t>. Any FY guidance raise equals </a:t>
            </a:r>
            <a:r>
              <a:rPr lang="en-IN" sz="1200" b="1" i="0" kern="1200" dirty="0">
                <a:solidFill>
                  <a:schemeClr val="tx1"/>
                </a:solidFill>
                <a:effectLst/>
                <a:latin typeface="+mn-lt"/>
                <a:ea typeface="+mn-ea"/>
                <a:cs typeface="+mn-cs"/>
              </a:rPr>
              <a:t>strong rerating catalyst</a:t>
            </a:r>
            <a:r>
              <a:rPr lang="en-IN" sz="1200" b="0" i="0" kern="1200" dirty="0">
                <a:solidFill>
                  <a:schemeClr val="tx1"/>
                </a:solidFill>
                <a:effectLst/>
                <a:latin typeface="+mn-lt"/>
                <a:ea typeface="+mn-ea"/>
                <a:cs typeface="+mn-cs"/>
              </a:rPr>
              <a:t>. Any guidance cut equals stock retesting </a:t>
            </a:r>
            <a:r>
              <a:rPr lang="en-IN" sz="1200" b="1" i="0" kern="1200" dirty="0">
                <a:solidFill>
                  <a:schemeClr val="tx1"/>
                </a:solidFill>
                <a:effectLst/>
                <a:latin typeface="+mn-lt"/>
                <a:ea typeface="+mn-ea"/>
                <a:cs typeface="+mn-cs"/>
              </a:rPr>
              <a:t>$12–13 lows</a:t>
            </a:r>
            <a:r>
              <a:rPr lang="en-IN" sz="1200" b="0" i="0" kern="1200" dirty="0">
                <a:solidFill>
                  <a:schemeClr val="tx1"/>
                </a:solidFill>
                <a:effectLst/>
                <a:latin typeface="+mn-lt"/>
                <a:ea typeface="+mn-ea"/>
                <a:cs typeface="+mn-cs"/>
              </a:rPr>
              <a:t>. Muddy Waters legal resolution or regulatory inquiry is the most important non-earnings catalyst.</a:t>
            </a:r>
          </a:p>
          <a:p>
            <a:r>
              <a:rPr lang="en-IN" sz="1200" b="0" i="0" kern="1200" dirty="0">
                <a:solidFill>
                  <a:schemeClr val="tx1"/>
                </a:solidFill>
                <a:effectLst/>
                <a:latin typeface="+mn-lt"/>
                <a:ea typeface="+mn-ea"/>
                <a:cs typeface="+mn-cs"/>
              </a:rPr>
              <a:t>[TRANSITION: "Let me bring this all together."]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16 — SOFI TECHNOLOGIES: SUMMARY VIEW</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"SOFI TECHNOLOGIES — Summary View"</a:t>
            </a:r>
          </a:p>
          <a:p>
            <a:r>
              <a:rPr lang="en-IN" sz="1200" b="0" i="0" kern="1200" dirty="0">
                <a:solidFill>
                  <a:schemeClr val="tx1"/>
                </a:solidFill>
                <a:effectLst/>
                <a:latin typeface="+mn-lt"/>
                <a:ea typeface="+mn-ea"/>
                <a:cs typeface="+mn-cs"/>
              </a:rPr>
              <a:t>[REFLECTIVE, SYNTHESISING — SPEND 3-4 MINUTES HERE]</a:t>
            </a:r>
          </a:p>
          <a:p>
            <a:r>
              <a:rPr lang="en-IN" sz="1200" b="0" i="0" kern="1200" dirty="0">
                <a:solidFill>
                  <a:schemeClr val="tx1"/>
                </a:solidFill>
                <a:effectLst/>
                <a:latin typeface="+mn-lt"/>
                <a:ea typeface="+mn-ea"/>
                <a:cs typeface="+mn-cs"/>
              </a:rPr>
              <a:t>This is the one-slide version. If I could show one slide to someone who had never heard of SoFi, this is it.</a:t>
            </a:r>
          </a:p>
          <a:p>
            <a:r>
              <a:rPr lang="en-IN" sz="1200" b="1" i="0" kern="1200" dirty="0">
                <a:solidFill>
                  <a:schemeClr val="tx1"/>
                </a:solidFill>
                <a:effectLst/>
                <a:latin typeface="+mn-lt"/>
                <a:ea typeface="+mn-ea"/>
                <a:cs typeface="+mn-cs"/>
              </a:rPr>
              <a:t>ONE-LINE THESIS: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SoFi is the </a:t>
            </a:r>
            <a:r>
              <a:rPr lang="en-IN" sz="1200" b="1" i="0" kern="1200" dirty="0">
                <a:solidFill>
                  <a:schemeClr val="tx1"/>
                </a:solidFill>
                <a:effectLst/>
                <a:latin typeface="+mn-lt"/>
                <a:ea typeface="+mn-ea"/>
                <a:cs typeface="+mn-cs"/>
              </a:rPr>
              <a:t>only profitable digital bank</a:t>
            </a:r>
            <a:r>
              <a:rPr lang="en-IN" sz="1200" b="0" i="0" kern="1200" dirty="0">
                <a:solidFill>
                  <a:schemeClr val="tx1"/>
                </a:solidFill>
                <a:effectLst/>
                <a:latin typeface="+mn-lt"/>
                <a:ea typeface="+mn-ea"/>
                <a:cs typeface="+mn-cs"/>
              </a:rPr>
              <a:t> with a national charter, a B2B fintech infrastructure platform in Galileo and </a:t>
            </a:r>
            <a:r>
              <a:rPr lang="en-IN" sz="1200" b="0" i="0" kern="1200" dirty="0" err="1">
                <a:solidFill>
                  <a:schemeClr val="tx1"/>
                </a:solidFill>
                <a:effectLst/>
                <a:latin typeface="+mn-lt"/>
                <a:ea typeface="+mn-ea"/>
                <a:cs typeface="+mn-cs"/>
              </a:rPr>
              <a:t>Technisys</a:t>
            </a:r>
            <a:r>
              <a:rPr lang="en-IN" sz="1200" b="0" i="0" kern="1200" dirty="0">
                <a:solidFill>
                  <a:schemeClr val="tx1"/>
                </a:solidFill>
                <a:effectLst/>
                <a:latin typeface="+mn-lt"/>
                <a:ea typeface="+mn-ea"/>
                <a:cs typeface="+mn-cs"/>
              </a:rPr>
              <a:t>, and a 14.7M member base growing at 35% — a rare combination of banking economics, fintech growth velocity, and software-like scalability that no single-category competitor can replicate.</a:t>
            </a:r>
          </a:p>
          <a:p>
            <a:r>
              <a:rPr lang="en-IN" sz="1200" b="1" i="0" kern="1200" dirty="0">
                <a:solidFill>
                  <a:schemeClr val="tx1"/>
                </a:solidFill>
                <a:effectLst/>
                <a:latin typeface="+mn-lt"/>
                <a:ea typeface="+mn-ea"/>
                <a:cs typeface="+mn-cs"/>
              </a:rPr>
              <a:t>WHY IT IS DIFFERENT:</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Unlike Chime — no charter, no NIM — SoFi earns </a:t>
            </a:r>
            <a:r>
              <a:rPr lang="en-IN" sz="1200" b="1" i="0" kern="1200" dirty="0">
                <a:solidFill>
                  <a:schemeClr val="tx1"/>
                </a:solidFill>
                <a:effectLst/>
                <a:latin typeface="+mn-lt"/>
                <a:ea typeface="+mn-ea"/>
                <a:cs typeface="+mn-cs"/>
              </a:rPr>
              <a:t>5.94% net interest margin</a:t>
            </a:r>
            <a:r>
              <a:rPr lang="en-IN" sz="1200" b="0" i="0" kern="1200" dirty="0">
                <a:solidFill>
                  <a:schemeClr val="tx1"/>
                </a:solidFill>
                <a:effectLst/>
                <a:latin typeface="+mn-lt"/>
                <a:ea typeface="+mn-ea"/>
                <a:cs typeface="+mn-cs"/>
              </a:rPr>
              <a:t>. Unlike </a:t>
            </a:r>
            <a:r>
              <a:rPr lang="en-IN" sz="1200" b="0" i="0" kern="1200" dirty="0" err="1">
                <a:solidFill>
                  <a:schemeClr val="tx1"/>
                </a:solidFill>
                <a:effectLst/>
                <a:latin typeface="+mn-lt"/>
                <a:ea typeface="+mn-ea"/>
                <a:cs typeface="+mn-cs"/>
              </a:rPr>
              <a:t>LendingClub</a:t>
            </a:r>
            <a:r>
              <a:rPr lang="en-IN" sz="1200" b="0" i="0" kern="1200" dirty="0">
                <a:solidFill>
                  <a:schemeClr val="tx1"/>
                </a:solidFill>
                <a:effectLst/>
                <a:latin typeface="+mn-lt"/>
                <a:ea typeface="+mn-ea"/>
                <a:cs typeface="+mn-cs"/>
              </a:rPr>
              <a:t>, SoFi has Galileo powering </a:t>
            </a:r>
            <a:r>
              <a:rPr lang="en-IN" sz="1200" b="1" i="0" kern="1200" dirty="0">
                <a:solidFill>
                  <a:schemeClr val="tx1"/>
                </a:solidFill>
                <a:effectLst/>
                <a:latin typeface="+mn-lt"/>
                <a:ea typeface="+mn-ea"/>
                <a:cs typeface="+mn-cs"/>
              </a:rPr>
              <a:t>128M B2B accounts</a:t>
            </a:r>
            <a:r>
              <a:rPr lang="en-IN" sz="1200" b="0" i="0" kern="1200" dirty="0">
                <a:solidFill>
                  <a:schemeClr val="tx1"/>
                </a:solidFill>
                <a:effectLst/>
                <a:latin typeface="+mn-lt"/>
                <a:ea typeface="+mn-ea"/>
                <a:cs typeface="+mn-cs"/>
              </a:rPr>
              <a:t>. Unlike traditional banks, SoFi acquires members via app, not branches, with zero retail overhead. The FSPL model is genuinely novel: each product added compounds lifetime value. CEO Noto's track record — </a:t>
            </a:r>
            <a:r>
              <a:rPr lang="en-IN" sz="1200" b="1" i="0" kern="1200" dirty="0">
                <a:solidFill>
                  <a:schemeClr val="tx1"/>
                </a:solidFill>
                <a:effectLst/>
                <a:latin typeface="+mn-lt"/>
                <a:ea typeface="+mn-ea"/>
                <a:cs typeface="+mn-cs"/>
              </a:rPr>
              <a:t>18 consecutive Rule of 40 quarters</a:t>
            </a:r>
            <a:r>
              <a:rPr lang="en-IN" sz="1200" b="0" i="0" kern="1200" dirty="0">
                <a:solidFill>
                  <a:schemeClr val="tx1"/>
                </a:solidFill>
                <a:effectLst/>
                <a:latin typeface="+mn-lt"/>
                <a:ea typeface="+mn-ea"/>
                <a:cs typeface="+mn-cs"/>
              </a:rPr>
              <a:t> — is the strongest in US fintech.</a:t>
            </a:r>
          </a:p>
          <a:p>
            <a:r>
              <a:rPr lang="en-IN" sz="1200" b="1" i="0" kern="1200" dirty="0">
                <a:solidFill>
                  <a:schemeClr val="tx1"/>
                </a:solidFill>
                <a:effectLst/>
                <a:latin typeface="+mn-lt"/>
                <a:ea typeface="+mn-ea"/>
                <a:cs typeface="+mn-cs"/>
              </a:rPr>
              <a:t>WHAT WE LIKE:</a:t>
            </a:r>
            <a:br>
              <a:rPr lang="en-IN" sz="1200" b="0"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$1.1B** Q1 2026 revenue up **41%** year over year. **$167M</a:t>
            </a:r>
            <a:r>
              <a:rPr lang="en-IN" sz="1200" b="0" i="0" kern="1200" dirty="0">
                <a:solidFill>
                  <a:schemeClr val="tx1"/>
                </a:solidFill>
                <a:effectLst/>
                <a:latin typeface="+mn-lt"/>
                <a:ea typeface="+mn-ea"/>
                <a:cs typeface="+mn-cs"/>
              </a:rPr>
              <a:t> net income, doubled year over year. </a:t>
            </a:r>
            <a:r>
              <a:rPr lang="en-IN" sz="1200" b="1" i="0" kern="1200" dirty="0">
                <a:solidFill>
                  <a:schemeClr val="tx1"/>
                </a:solidFill>
                <a:effectLst/>
                <a:latin typeface="+mn-lt"/>
                <a:ea typeface="+mn-ea"/>
                <a:cs typeface="+mn-cs"/>
              </a:rPr>
              <a:t>10 consecutive profitable quarters</a:t>
            </a:r>
            <a:r>
              <a:rPr lang="en-IN" sz="1200" b="0" i="0" kern="1200" dirty="0">
                <a:solidFill>
                  <a:schemeClr val="tx1"/>
                </a:solidFill>
                <a:effectLst/>
                <a:latin typeface="+mn-lt"/>
                <a:ea typeface="+mn-ea"/>
                <a:cs typeface="+mn-cs"/>
              </a:rPr>
              <a:t>. </a:t>
            </a:r>
            <a:r>
              <a:rPr lang="en-IN" sz="1200" b="1" i="0" kern="1200" dirty="0">
                <a:solidFill>
                  <a:schemeClr val="tx1"/>
                </a:solidFill>
                <a:effectLst/>
                <a:latin typeface="+mn-lt"/>
                <a:ea typeface="+mn-ea"/>
                <a:cs typeface="+mn-cs"/>
              </a:rPr>
              <a:t>$40.2B** in deposits at **5.94%** NIM. Record **$12.2B</a:t>
            </a:r>
            <a:r>
              <a:rPr lang="en-IN" sz="1200" b="0" i="0" kern="1200" dirty="0">
                <a:solidFill>
                  <a:schemeClr val="tx1"/>
                </a:solidFill>
                <a:effectLst/>
                <a:latin typeface="+mn-lt"/>
                <a:ea typeface="+mn-ea"/>
                <a:cs typeface="+mn-cs"/>
              </a:rPr>
              <a:t> loan originations. </a:t>
            </a:r>
            <a:r>
              <a:rPr lang="en-IN" sz="1200" b="1" i="0" kern="1200" dirty="0">
                <a:solidFill>
                  <a:schemeClr val="tx1"/>
                </a:solidFill>
                <a:effectLst/>
                <a:latin typeface="+mn-lt"/>
                <a:ea typeface="+mn-ea"/>
                <a:cs typeface="+mn-cs"/>
              </a:rPr>
              <a:t>14.7M members</a:t>
            </a:r>
            <a:r>
              <a:rPr lang="en-IN" sz="1200" b="0" i="0" kern="1200" dirty="0">
                <a:solidFill>
                  <a:schemeClr val="tx1"/>
                </a:solidFill>
                <a:effectLst/>
                <a:latin typeface="+mn-lt"/>
                <a:ea typeface="+mn-ea"/>
                <a:cs typeface="+mn-cs"/>
              </a:rPr>
              <a:t> growing </a:t>
            </a:r>
            <a:r>
              <a:rPr lang="en-IN" sz="1200" b="1" i="0" kern="1200" dirty="0">
                <a:solidFill>
                  <a:schemeClr val="tx1"/>
                </a:solidFill>
                <a:effectLst/>
                <a:latin typeface="+mn-lt"/>
                <a:ea typeface="+mn-ea"/>
                <a:cs typeface="+mn-cs"/>
              </a:rPr>
              <a:t>35%</a:t>
            </a:r>
            <a:r>
              <a:rPr lang="en-IN" sz="1200" b="0" i="0" kern="1200" dirty="0">
                <a:solidFill>
                  <a:schemeClr val="tx1"/>
                </a:solidFill>
                <a:effectLst/>
                <a:latin typeface="+mn-lt"/>
                <a:ea typeface="+mn-ea"/>
                <a:cs typeface="+mn-cs"/>
              </a:rPr>
              <a:t>. FY 2026 guidance </a:t>
            </a:r>
            <a:r>
              <a:rPr lang="en-IN" sz="1200" b="1" i="0" kern="1200" dirty="0">
                <a:solidFill>
                  <a:schemeClr val="tx1"/>
                </a:solidFill>
                <a:effectLst/>
                <a:latin typeface="+mn-lt"/>
                <a:ea typeface="+mn-ea"/>
                <a:cs typeface="+mn-cs"/>
              </a:rPr>
              <a:t>$4.655B**. Management 2025 to 2028 targets of **30% plus revenue CAGR** and **38–42% EPS CAGR**. CEO personal stake of approximately **$215M</a:t>
            </a:r>
            <a:r>
              <a:rPr lang="en-IN" sz="1200" b="0" i="0" kern="1200" dirty="0">
                <a:solidFill>
                  <a:schemeClr val="tx1"/>
                </a:solidFill>
                <a:effectLst/>
                <a:latin typeface="+mn-lt"/>
                <a:ea typeface="+mn-ea"/>
                <a:cs typeface="+mn-cs"/>
              </a:rPr>
              <a:t> aligning incentives.</a:t>
            </a:r>
          </a:p>
          <a:p>
            <a:r>
              <a:rPr lang="en-IN" sz="1200" b="1" i="0" kern="1200" dirty="0">
                <a:solidFill>
                  <a:schemeClr val="tx1"/>
                </a:solidFill>
                <a:effectLst/>
                <a:latin typeface="+mn-lt"/>
                <a:ea typeface="+mn-ea"/>
                <a:cs typeface="+mn-cs"/>
              </a:rPr>
              <a:t>WHAT WORRIES US:</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Muddy Waters short report alleging </a:t>
            </a:r>
            <a:r>
              <a:rPr lang="en-IN" sz="1200" b="1" i="0" kern="1200" dirty="0">
                <a:solidFill>
                  <a:schemeClr val="tx1"/>
                </a:solidFill>
                <a:effectLst/>
                <a:latin typeface="+mn-lt"/>
                <a:ea typeface="+mn-ea"/>
                <a:cs typeface="+mn-cs"/>
              </a:rPr>
              <a:t>$1B EBITDA restatement** remains unresolved. Technology platform down **27%** year over year. Macro uncertainty — no Fed cuts assumed — plus net charge-offs rising. Stock down **40%** year-to-date despite record fundamentals — signal or opportunity? Bank versus software valuation framework unresolved. Analyst consensus mixed: BofA, KBW, TD Cowen all at Underperform or Hold at **$17–18</a:t>
            </a:r>
            <a:r>
              <a:rPr lang="en-IN" sz="1200" b="0" i="0" kern="1200" dirty="0">
                <a:solidFill>
                  <a:schemeClr val="tx1"/>
                </a:solidFill>
                <a:effectLst/>
                <a:latin typeface="+mn-lt"/>
                <a:ea typeface="+mn-ea"/>
                <a:cs typeface="+mn-cs"/>
              </a:rPr>
              <a:t>.</a:t>
            </a:r>
          </a:p>
          <a:p>
            <a:r>
              <a:rPr lang="en-IN" sz="1200" b="1" i="0" kern="1200" dirty="0">
                <a:solidFill>
                  <a:schemeClr val="tx1"/>
                </a:solidFill>
                <a:effectLst/>
                <a:latin typeface="+mn-lt"/>
                <a:ea typeface="+mn-ea"/>
                <a:cs typeface="+mn-cs"/>
              </a:rPr>
              <a:t>PRICE TARGET RANGE: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Bear: </a:t>
            </a:r>
            <a:r>
              <a:rPr lang="en-IN" sz="1200" b="1" i="0" kern="1200" dirty="0">
                <a:solidFill>
                  <a:schemeClr val="tx1"/>
                </a:solidFill>
                <a:effectLst/>
                <a:latin typeface="+mn-lt"/>
                <a:ea typeface="+mn-ea"/>
                <a:cs typeface="+mn-cs"/>
              </a:rPr>
              <a:t>eight to $10** — Muddy Waters validated plus recession plus bank rerating.</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Base: **$20–25</a:t>
            </a:r>
            <a:r>
              <a:rPr lang="en-IN" sz="1200" b="0" i="0" kern="1200" dirty="0">
                <a:solidFill>
                  <a:schemeClr val="tx1"/>
                </a:solidFill>
                <a:effectLst/>
                <a:latin typeface="+mn-lt"/>
                <a:ea typeface="+mn-ea"/>
                <a:cs typeface="+mn-cs"/>
              </a:rPr>
              <a:t> — guidance achieved, Galileo stabilises, macro holds, 4–5x forward revenue.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Bull: </a:t>
            </a:r>
            <a:r>
              <a:rPr lang="en-IN" sz="1200" b="1" i="0" kern="1200" dirty="0">
                <a:solidFill>
                  <a:schemeClr val="tx1"/>
                </a:solidFill>
                <a:effectLst/>
                <a:latin typeface="+mn-lt"/>
                <a:ea typeface="+mn-ea"/>
                <a:cs typeface="+mn-cs"/>
              </a:rPr>
              <a:t>$32–40** — S&amp;P 500 inclusion plus Big Business Banking traction plus software rerating at 7–9x forward revenue.</a:t>
            </a:r>
            <a:br>
              <a:rPr lang="en-IN" sz="1200" b="1" i="0" kern="1200" dirty="0">
                <a:solidFill>
                  <a:schemeClr val="tx1"/>
                </a:solidFill>
                <a:effectLst/>
                <a:latin typeface="+mn-lt"/>
                <a:ea typeface="+mn-ea"/>
                <a:cs typeface="+mn-cs"/>
              </a:rPr>
            </a:br>
            <a:r>
              <a:rPr lang="en-IN" sz="1200" b="1" i="0" kern="1200" dirty="0">
                <a:solidFill>
                  <a:schemeClr val="tx1"/>
                </a:solidFill>
                <a:effectLst/>
                <a:latin typeface="+mn-lt"/>
                <a:ea typeface="+mn-ea"/>
                <a:cs typeface="+mn-cs"/>
              </a:rPr>
              <a:t>Current price: **~$15.65</a:t>
            </a:r>
            <a:r>
              <a:rPr lang="en-IN" sz="1200" b="0" i="0" kern="1200" dirty="0">
                <a:solidFill>
                  <a:schemeClr val="tx1"/>
                </a:solidFill>
                <a:effectLst/>
                <a:latin typeface="+mn-lt"/>
                <a:ea typeface="+mn-ea"/>
                <a:cs typeface="+mn-cs"/>
              </a:rPr>
              <a:t> — sitting exactly between the bear and base scenarios.</a:t>
            </a:r>
          </a:p>
          <a:p>
            <a:r>
              <a:rPr lang="en-IN" sz="1200" b="0" i="0" kern="1200" dirty="0">
                <a:solidFill>
                  <a:schemeClr val="tx1"/>
                </a:solidFill>
                <a:effectLst/>
                <a:latin typeface="+mn-lt"/>
                <a:ea typeface="+mn-ea"/>
                <a:cs typeface="+mn-cs"/>
              </a:rPr>
              <a:t>[TRANSITION: "And that brings us to the close."]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SLIDE 17 — CLOSING SLIDE</a:t>
            </a:r>
            <a:br>
              <a:rPr lang="en-IN" sz="1200" b="0" i="0" kern="1200" dirty="0">
                <a:solidFill>
                  <a:schemeClr val="tx1"/>
                </a:solidFill>
                <a:effectLst/>
                <a:latin typeface="+mn-lt"/>
                <a:ea typeface="+mn-ea"/>
                <a:cs typeface="+mn-cs"/>
              </a:rPr>
            </a:br>
            <a:r>
              <a:rPr lang="en-IN" sz="1200" b="0" i="0" kern="1200" dirty="0">
                <a:solidFill>
                  <a:schemeClr val="tx1"/>
                </a:solidFill>
                <a:effectLst/>
                <a:latin typeface="+mn-lt"/>
                <a:ea typeface="+mn-ea"/>
                <a:cs typeface="+mn-cs"/>
              </a:rPr>
              <a:t>"SoFi Technologies — The Everything App for Finance"</a:t>
            </a:r>
          </a:p>
          <a:p>
            <a:r>
              <a:rPr lang="en-IN" sz="1200" b="0" i="0" kern="1200" dirty="0">
                <a:solidFill>
                  <a:schemeClr val="tx1"/>
                </a:solidFill>
                <a:effectLst/>
                <a:latin typeface="+mn-lt"/>
                <a:ea typeface="+mn-ea"/>
                <a:cs typeface="+mn-cs"/>
              </a:rPr>
              <a:t>[WARM, COMPELLING — SPEND 2-3 MINUTES — CLOSE STRONG]</a:t>
            </a:r>
          </a:p>
          <a:p>
            <a:r>
              <a:rPr lang="en-IN" sz="1200" b="0" i="0" kern="1200" dirty="0">
                <a:solidFill>
                  <a:schemeClr val="tx1"/>
                </a:solidFill>
                <a:effectLst/>
                <a:latin typeface="+mn-lt"/>
                <a:ea typeface="+mn-ea"/>
                <a:cs typeface="+mn-cs"/>
              </a:rPr>
              <a:t>That is the full research note on SoFi Technologies. NASDAQ: SOFI.</a:t>
            </a:r>
          </a:p>
          <a:p>
            <a:r>
              <a:rPr lang="en-IN" sz="1200" b="0" i="0" kern="1200" dirty="0">
                <a:solidFill>
                  <a:schemeClr val="tx1"/>
                </a:solidFill>
                <a:effectLst/>
                <a:latin typeface="+mn-lt"/>
                <a:ea typeface="+mn-ea"/>
                <a:cs typeface="+mn-cs"/>
              </a:rPr>
              <a:t>Let me give you the </a:t>
            </a:r>
            <a:r>
              <a:rPr lang="en-IN" sz="1200" b="1" i="0" kern="1200" dirty="0">
                <a:solidFill>
                  <a:schemeClr val="tx1"/>
                </a:solidFill>
                <a:effectLst/>
                <a:latin typeface="+mn-lt"/>
                <a:ea typeface="+mn-ea"/>
                <a:cs typeface="+mn-cs"/>
              </a:rPr>
              <a:t>five-sentence version</a:t>
            </a:r>
            <a:r>
              <a:rPr lang="en-IN" sz="1200" b="0" i="0" kern="1200" dirty="0">
                <a:solidFill>
                  <a:schemeClr val="tx1"/>
                </a:solidFill>
                <a:effectLst/>
                <a:latin typeface="+mn-lt"/>
                <a:ea typeface="+mn-ea"/>
                <a:cs typeface="+mn-cs"/>
              </a:rPr>
              <a:t> of everything we covered today.</a:t>
            </a:r>
          </a:p>
          <a:p>
            <a:r>
              <a:rPr lang="en-IN" sz="1200" b="1" i="0" kern="1200" dirty="0">
                <a:solidFill>
                  <a:schemeClr val="tx1"/>
                </a:solidFill>
                <a:effectLst/>
                <a:latin typeface="+mn-lt"/>
                <a:ea typeface="+mn-ea"/>
                <a:cs typeface="+mn-cs"/>
              </a:rPr>
              <a:t>ONE:</a:t>
            </a:r>
            <a:r>
              <a:rPr lang="en-IN" sz="1200" b="0" i="0" kern="1200" dirty="0">
                <a:solidFill>
                  <a:schemeClr val="tx1"/>
                </a:solidFill>
                <a:effectLst/>
                <a:latin typeface="+mn-lt"/>
                <a:ea typeface="+mn-ea"/>
                <a:cs typeface="+mn-cs"/>
              </a:rPr>
              <a:t> SoFi is the </a:t>
            </a:r>
            <a:r>
              <a:rPr lang="en-IN" sz="1200" b="1" i="0" kern="1200" dirty="0">
                <a:solidFill>
                  <a:schemeClr val="tx1"/>
                </a:solidFill>
                <a:effectLst/>
                <a:latin typeface="+mn-lt"/>
                <a:ea typeface="+mn-ea"/>
                <a:cs typeface="+mn-cs"/>
              </a:rPr>
              <a:t>only US fintech company</a:t>
            </a:r>
            <a:r>
              <a:rPr lang="en-IN" sz="1200" b="0" i="0" kern="1200" dirty="0">
                <a:solidFill>
                  <a:schemeClr val="tx1"/>
                </a:solidFill>
                <a:effectLst/>
                <a:latin typeface="+mn-lt"/>
                <a:ea typeface="+mn-ea"/>
                <a:cs typeface="+mn-cs"/>
              </a:rPr>
              <a:t> that simultaneously operates as a GAAP-profitable consumer bank with a national charter, a wholesale B2B infrastructure platform serving 128M accounts, and a 14.7M member consumer app growing at 35% annually. That combination is </a:t>
            </a:r>
            <a:r>
              <a:rPr lang="en-IN" sz="1200" b="1" i="0" kern="1200" dirty="0">
                <a:solidFill>
                  <a:schemeClr val="tx1"/>
                </a:solidFill>
                <a:effectLst/>
                <a:latin typeface="+mn-lt"/>
                <a:ea typeface="+mn-ea"/>
                <a:cs typeface="+mn-cs"/>
              </a:rPr>
              <a:t>unique</a:t>
            </a:r>
            <a:r>
              <a:rPr lang="en-IN" sz="1200" b="0" i="0" kern="1200" dirty="0">
                <a:solidFill>
                  <a:schemeClr val="tx1"/>
                </a:solidFill>
                <a:effectLst/>
                <a:latin typeface="+mn-lt"/>
                <a:ea typeface="+mn-ea"/>
                <a:cs typeface="+mn-cs"/>
              </a:rPr>
              <a:t> and has taken 15 years and multiple near-death experiences to build.</a:t>
            </a:r>
          </a:p>
          <a:p>
            <a:r>
              <a:rPr lang="en-IN" sz="1200" b="1" i="0" kern="1200" dirty="0">
                <a:solidFill>
                  <a:schemeClr val="tx1"/>
                </a:solidFill>
                <a:effectLst/>
                <a:latin typeface="+mn-lt"/>
                <a:ea typeface="+mn-ea"/>
                <a:cs typeface="+mn-cs"/>
              </a:rPr>
              <a:t>TWO:</a:t>
            </a:r>
            <a:r>
              <a:rPr lang="en-IN" sz="1200" b="0" i="0" kern="1200" dirty="0">
                <a:solidFill>
                  <a:schemeClr val="tx1"/>
                </a:solidFill>
                <a:effectLst/>
                <a:latin typeface="+mn-lt"/>
                <a:ea typeface="+mn-ea"/>
                <a:cs typeface="+mn-cs"/>
              </a:rPr>
              <a:t> The </a:t>
            </a:r>
            <a:r>
              <a:rPr lang="en-IN" sz="1200" b="1" i="0" kern="1200" dirty="0">
                <a:solidFill>
                  <a:schemeClr val="tx1"/>
                </a:solidFill>
                <a:effectLst/>
                <a:latin typeface="+mn-lt"/>
                <a:ea typeface="+mn-ea"/>
                <a:cs typeface="+mn-cs"/>
              </a:rPr>
              <a:t>national bank charter</a:t>
            </a:r>
            <a:r>
              <a:rPr lang="en-IN" sz="1200" b="0" i="0" kern="1200" dirty="0">
                <a:solidFill>
                  <a:schemeClr val="tx1"/>
                </a:solidFill>
                <a:effectLst/>
                <a:latin typeface="+mn-lt"/>
                <a:ea typeface="+mn-ea"/>
                <a:cs typeface="+mn-cs"/>
              </a:rPr>
              <a:t> is the single most important structural asset SoFi possesses. The ability to fund loans at </a:t>
            </a:r>
            <a:r>
              <a:rPr lang="en-IN" sz="1200" b="1" i="0" kern="1200" dirty="0">
                <a:solidFill>
                  <a:schemeClr val="tx1"/>
                </a:solidFill>
                <a:effectLst/>
                <a:latin typeface="+mn-lt"/>
                <a:ea typeface="+mn-ea"/>
                <a:cs typeface="+mn-cs"/>
              </a:rPr>
              <a:t>1.2% deposit cost</a:t>
            </a:r>
            <a:r>
              <a:rPr lang="en-IN" sz="1200" b="0" i="0" kern="1200" dirty="0">
                <a:solidFill>
                  <a:schemeClr val="tx1"/>
                </a:solidFill>
                <a:effectLst/>
                <a:latin typeface="+mn-lt"/>
                <a:ea typeface="+mn-ea"/>
                <a:cs typeface="+mn-cs"/>
              </a:rPr>
              <a:t> while earning </a:t>
            </a:r>
            <a:r>
              <a:rPr lang="en-IN" sz="1200" b="1" i="0" kern="1200" dirty="0">
                <a:solidFill>
                  <a:schemeClr val="tx1"/>
                </a:solidFill>
                <a:effectLst/>
                <a:latin typeface="+mn-lt"/>
                <a:ea typeface="+mn-ea"/>
                <a:cs typeface="+mn-cs"/>
              </a:rPr>
              <a:t>5.94% net interest margin</a:t>
            </a:r>
            <a:r>
              <a:rPr lang="en-IN" sz="1200" b="0" i="0" kern="1200" dirty="0">
                <a:solidFill>
                  <a:schemeClr val="tx1"/>
                </a:solidFill>
                <a:effectLst/>
                <a:latin typeface="+mn-lt"/>
                <a:ea typeface="+mn-ea"/>
                <a:cs typeface="+mn-cs"/>
              </a:rPr>
              <a:t> — generating more than **$2.3B of annual net interest income** structurally — is not replicable overnight by any competitor. It took a $22M acquisition and a multi-year regulatory process. The moat is real.</a:t>
            </a:r>
          </a:p>
          <a:p>
            <a:r>
              <a:rPr lang="en-IN" sz="1200" b="1" i="0" kern="1200" dirty="0">
                <a:solidFill>
                  <a:schemeClr val="tx1"/>
                </a:solidFill>
                <a:effectLst/>
                <a:latin typeface="+mn-lt"/>
                <a:ea typeface="+mn-ea"/>
                <a:cs typeface="+mn-cs"/>
              </a:rPr>
              <a:t>THREE:</a:t>
            </a:r>
            <a:r>
              <a:rPr lang="en-IN" sz="1200" b="0" i="0" kern="1200" dirty="0">
                <a:solidFill>
                  <a:schemeClr val="tx1"/>
                </a:solidFill>
                <a:effectLst/>
                <a:latin typeface="+mn-lt"/>
                <a:ea typeface="+mn-ea"/>
                <a:cs typeface="+mn-cs"/>
              </a:rPr>
              <a:t> The </a:t>
            </a:r>
            <a:r>
              <a:rPr lang="en-IN" sz="1200" b="1" i="0" kern="1200" dirty="0">
                <a:solidFill>
                  <a:schemeClr val="tx1"/>
                </a:solidFill>
                <a:effectLst/>
                <a:latin typeface="+mn-lt"/>
                <a:ea typeface="+mn-ea"/>
                <a:cs typeface="+mn-cs"/>
              </a:rPr>
              <a:t>Muddy Waters short report</a:t>
            </a:r>
            <a:r>
              <a:rPr lang="en-IN" sz="1200" b="0" i="0" kern="1200" dirty="0">
                <a:solidFill>
                  <a:schemeClr val="tx1"/>
                </a:solidFill>
                <a:effectLst/>
                <a:latin typeface="+mn-lt"/>
                <a:ea typeface="+mn-ea"/>
                <a:cs typeface="+mn-cs"/>
              </a:rPr>
              <a:t> is the single most important risk in owning this stock today. I cannot tell you the allegations are false. I cannot tell you they are true. What I can tell you is that until there is a clear resolution — via SEC inquiry, auditor statement, or legal outcome — this cloud will suppress the stock. Investors must factor this risk explicitly. </a:t>
            </a:r>
            <a:r>
              <a:rPr lang="en-IN" sz="1200" b="1" i="0" kern="1200" dirty="0">
                <a:solidFill>
                  <a:schemeClr val="tx1"/>
                </a:solidFill>
                <a:effectLst/>
                <a:latin typeface="+mn-lt"/>
                <a:ea typeface="+mn-ea"/>
                <a:cs typeface="+mn-cs"/>
              </a:rPr>
              <a:t>Do not hold more of this stock than you can afford to lose</a:t>
            </a:r>
            <a:r>
              <a:rPr lang="en-IN" sz="1200" b="0" i="0" kern="1200" dirty="0">
                <a:solidFill>
                  <a:schemeClr val="tx1"/>
                </a:solidFill>
                <a:effectLst/>
                <a:latin typeface="+mn-lt"/>
                <a:ea typeface="+mn-ea"/>
                <a:cs typeface="+mn-cs"/>
              </a:rPr>
              <a:t> if the worst-case scenario proves out.</a:t>
            </a:r>
          </a:p>
          <a:p>
            <a:r>
              <a:rPr lang="en-IN" sz="1200" b="1" i="0" kern="1200" dirty="0">
                <a:solidFill>
                  <a:schemeClr val="tx1"/>
                </a:solidFill>
                <a:effectLst/>
                <a:latin typeface="+mn-lt"/>
                <a:ea typeface="+mn-ea"/>
                <a:cs typeface="+mn-cs"/>
              </a:rPr>
              <a:t>FOUR:</a:t>
            </a:r>
            <a:r>
              <a:rPr lang="en-IN" sz="1200" b="0" i="0" kern="1200" dirty="0">
                <a:solidFill>
                  <a:schemeClr val="tx1"/>
                </a:solidFill>
                <a:effectLst/>
                <a:latin typeface="+mn-lt"/>
                <a:ea typeface="+mn-ea"/>
                <a:cs typeface="+mn-cs"/>
              </a:rPr>
              <a:t> The </a:t>
            </a:r>
            <a:r>
              <a:rPr lang="en-IN" sz="1200" b="1" i="0" kern="1200" dirty="0">
                <a:solidFill>
                  <a:schemeClr val="tx1"/>
                </a:solidFill>
                <a:effectLst/>
                <a:latin typeface="+mn-lt"/>
                <a:ea typeface="+mn-ea"/>
                <a:cs typeface="+mn-cs"/>
              </a:rPr>
              <a:t>technology platform decline</a:t>
            </a:r>
            <a:r>
              <a:rPr lang="en-IN" sz="1200" b="0" i="0" kern="1200" dirty="0">
                <a:solidFill>
                  <a:schemeClr val="tx1"/>
                </a:solidFill>
                <a:effectLst/>
                <a:latin typeface="+mn-lt"/>
                <a:ea typeface="+mn-ea"/>
                <a:cs typeface="+mn-cs"/>
              </a:rPr>
              <a:t> — down 27% year over year — is the most important metric to watch over the next two quarters. If Galileo cannot re-accelerate, if no new major banking clients sign Cyberbank Core, the highest-multiple-worthy segment of SoFi's business is in structural decline. That matters enormously for valuation.</a:t>
            </a:r>
          </a:p>
          <a:p>
            <a:r>
              <a:rPr lang="en-IN" sz="1200" b="1" i="0" kern="1200" dirty="0">
                <a:solidFill>
                  <a:schemeClr val="tx1"/>
                </a:solidFill>
                <a:effectLst/>
                <a:latin typeface="+mn-lt"/>
                <a:ea typeface="+mn-ea"/>
                <a:cs typeface="+mn-cs"/>
              </a:rPr>
              <a:t>FIVE:</a:t>
            </a:r>
            <a:r>
              <a:rPr lang="en-IN" sz="1200" b="0" i="0" kern="1200" dirty="0">
                <a:solidFill>
                  <a:schemeClr val="tx1"/>
                </a:solidFill>
                <a:effectLst/>
                <a:latin typeface="+mn-lt"/>
                <a:ea typeface="+mn-ea"/>
                <a:cs typeface="+mn-cs"/>
              </a:rPr>
              <a:t> At </a:t>
            </a:r>
            <a:r>
              <a:rPr lang="en-IN" sz="1200" b="1" i="0" kern="1200" dirty="0">
                <a:solidFill>
                  <a:schemeClr val="tx1"/>
                </a:solidFill>
                <a:effectLst/>
                <a:latin typeface="+mn-lt"/>
                <a:ea typeface="+mn-ea"/>
                <a:cs typeface="+mn-cs"/>
              </a:rPr>
              <a:t>~$15.65**, SoFi sits between its bear and base case valuation. For a long-term investor with a **3–5 year horizon**, willing to hold through Muddy Waters resolution and macro uncertainty, the base case return of **$20–25</a:t>
            </a:r>
            <a:r>
              <a:rPr lang="en-IN" sz="1200" b="0" i="0" kern="1200" dirty="0">
                <a:solidFill>
                  <a:schemeClr val="tx1"/>
                </a:solidFill>
                <a:effectLst/>
                <a:latin typeface="+mn-lt"/>
                <a:ea typeface="+mn-ea"/>
                <a:cs typeface="+mn-cs"/>
              </a:rPr>
              <a:t> represents a </a:t>
            </a:r>
            <a:r>
              <a:rPr lang="en-IN" sz="1200" b="1" i="0" kern="1200" dirty="0">
                <a:solidFill>
                  <a:schemeClr val="tx1"/>
                </a:solidFill>
                <a:effectLst/>
                <a:latin typeface="+mn-lt"/>
                <a:ea typeface="+mn-ea"/>
                <a:cs typeface="+mn-cs"/>
              </a:rPr>
              <a:t>40–60% gain</a:t>
            </a:r>
            <a:r>
              <a:rPr lang="en-IN" sz="1200" b="0" i="0" kern="1200" dirty="0">
                <a:solidFill>
                  <a:schemeClr val="tx1"/>
                </a:solidFill>
                <a:effectLst/>
                <a:latin typeface="+mn-lt"/>
                <a:ea typeface="+mn-ea"/>
                <a:cs typeface="+mn-cs"/>
              </a:rPr>
              <a:t> from current levels. The bull case of </a:t>
            </a:r>
            <a:r>
              <a:rPr lang="en-IN" sz="1200" b="1" i="0" kern="1200" dirty="0">
                <a:solidFill>
                  <a:schemeClr val="tx1"/>
                </a:solidFill>
                <a:effectLst/>
                <a:latin typeface="+mn-lt"/>
                <a:ea typeface="+mn-ea"/>
                <a:cs typeface="+mn-cs"/>
              </a:rPr>
              <a:t>$32–40</a:t>
            </a:r>
            <a:r>
              <a:rPr lang="en-IN" sz="1200" b="0" i="0" kern="1200" dirty="0">
                <a:solidFill>
                  <a:schemeClr val="tx1"/>
                </a:solidFill>
                <a:effectLst/>
                <a:latin typeface="+mn-lt"/>
                <a:ea typeface="+mn-ea"/>
                <a:cs typeface="+mn-cs"/>
              </a:rPr>
              <a:t> requires multiple catalysts to align. This is a </a:t>
            </a:r>
            <a:r>
              <a:rPr lang="en-IN" sz="1200" b="1" i="0" kern="1200" dirty="0">
                <a:solidFill>
                  <a:schemeClr val="tx1"/>
                </a:solidFill>
                <a:effectLst/>
                <a:latin typeface="+mn-lt"/>
                <a:ea typeface="+mn-ea"/>
                <a:cs typeface="+mn-cs"/>
              </a:rPr>
              <a:t>high-conviction position</a:t>
            </a:r>
            <a:r>
              <a:rPr lang="en-IN" sz="1200" b="0" i="0" kern="1200" dirty="0">
                <a:solidFill>
                  <a:schemeClr val="tx1"/>
                </a:solidFill>
                <a:effectLst/>
                <a:latin typeface="+mn-lt"/>
                <a:ea typeface="+mn-ea"/>
                <a:cs typeface="+mn-cs"/>
              </a:rPr>
              <a:t> only for investors who have done the work, accept the specific risks, and are prepared for binary outcomes around the Q2 earnings call on </a:t>
            </a:r>
            <a:r>
              <a:rPr lang="en-IN" sz="1200" b="1" i="0" kern="1200" dirty="0">
                <a:solidFill>
                  <a:schemeClr val="tx1"/>
                </a:solidFill>
                <a:effectLst/>
                <a:latin typeface="+mn-lt"/>
                <a:ea typeface="+mn-ea"/>
                <a:cs typeface="+mn-cs"/>
              </a:rPr>
              <a:t>July 28</a:t>
            </a:r>
            <a:r>
              <a:rPr lang="en-IN" sz="1200" b="0" i="0" kern="1200" dirty="0">
                <a:solidFill>
                  <a:schemeClr val="tx1"/>
                </a:solidFill>
                <a:effectLst/>
                <a:latin typeface="+mn-lt"/>
                <a:ea typeface="+mn-ea"/>
                <a:cs typeface="+mn-cs"/>
              </a:rPr>
              <a:t>.</a:t>
            </a:r>
          </a:p>
          <a:p>
            <a:r>
              <a:rPr lang="en-IN" sz="1200" b="0" i="0" kern="1200" dirty="0">
                <a:solidFill>
                  <a:schemeClr val="tx1"/>
                </a:solidFill>
                <a:effectLst/>
                <a:latin typeface="+mn-lt"/>
                <a:ea typeface="+mn-ea"/>
                <a:cs typeface="+mn-cs"/>
              </a:rPr>
              <a:t>This is not a comfortable investment. It is a </a:t>
            </a:r>
            <a:r>
              <a:rPr lang="en-IN" sz="1200" b="1" i="0" kern="1200" dirty="0">
                <a:solidFill>
                  <a:schemeClr val="tx1"/>
                </a:solidFill>
                <a:effectLst/>
                <a:latin typeface="+mn-lt"/>
                <a:ea typeface="+mn-ea"/>
                <a:cs typeface="+mn-cs"/>
              </a:rPr>
              <a:t>contested</a:t>
            </a:r>
            <a:r>
              <a:rPr lang="en-IN" sz="1200" b="0" i="0" kern="1200" dirty="0">
                <a:solidFill>
                  <a:schemeClr val="tx1"/>
                </a:solidFill>
                <a:effectLst/>
                <a:latin typeface="+mn-lt"/>
                <a:ea typeface="+mn-ea"/>
                <a:cs typeface="+mn-cs"/>
              </a:rPr>
              <a:t> investment. The best investments usually are.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kern="1200" dirty="0">
                <a:solidFill>
                  <a:schemeClr val="tx1"/>
                </a:solidFill>
                <a:effectLst/>
                <a:latin typeface="+mn-lt"/>
                <a:ea typeface="+mn-ea"/>
                <a:cs typeface="+mn-cs"/>
              </a:rPr>
              <a:t>Do your own research.</a:t>
            </a:r>
            <a:r>
              <a:rPr lang="en-IN" sz="1200" b="0" i="0" kern="1200" dirty="0">
                <a:solidFill>
                  <a:schemeClr val="tx1"/>
                </a:solidFill>
                <a:effectLst/>
                <a:latin typeface="+mn-lt"/>
                <a:ea typeface="+mn-ea"/>
                <a:cs typeface="+mn-cs"/>
              </a:rPr>
              <a:t> Consult a qualified financial professional. If you found this analysis useful, please like the video, subscribe to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and leave your perspective in the comments. What is your view on SoFi? What am I missing? What data point are you watching most carefully?</a:t>
            </a:r>
          </a:p>
          <a:p>
            <a:r>
              <a:rPr lang="en-IN" sz="1200" b="0" i="0" kern="1200" dirty="0">
                <a:solidFill>
                  <a:schemeClr val="tx1"/>
                </a:solidFill>
                <a:effectLst/>
                <a:latin typeface="+mn-lt"/>
                <a:ea typeface="+mn-ea"/>
                <a:cs typeface="+mn-cs"/>
              </a:rPr>
              <a:t>Thank you for spending an hour with </a:t>
            </a:r>
            <a:r>
              <a:rPr lang="en-IN" sz="1200" b="0" i="0" kern="1200" dirty="0" err="1">
                <a:solidFill>
                  <a:schemeClr val="tx1"/>
                </a:solidFill>
                <a:effectLst/>
                <a:latin typeface="+mn-lt"/>
                <a:ea typeface="+mn-ea"/>
                <a:cs typeface="+mn-cs"/>
              </a:rPr>
              <a:t>Dreamlit</a:t>
            </a:r>
            <a:r>
              <a:rPr lang="en-IN" sz="1200" b="0" i="0" kern="1200" dirty="0">
                <a:solidFill>
                  <a:schemeClr val="tx1"/>
                </a:solidFill>
                <a:effectLst/>
                <a:latin typeface="+mn-lt"/>
                <a:ea typeface="+mn-ea"/>
                <a:cs typeface="+mn-cs"/>
              </a:rPr>
              <a:t> Equity Research. </a:t>
            </a:r>
            <a:r>
              <a:rPr lang="en-IN" sz="1200" b="0" i="0" kern="1200">
                <a:solidFill>
                  <a:schemeClr val="tx1"/>
                </a:solidFill>
                <a:effectLst/>
                <a:latin typeface="+mn-lt"/>
                <a:ea typeface="+mn-ea"/>
                <a:cs typeface="+mn-cs"/>
              </a:rPr>
              <a:t>We will see you in the next one.</a:t>
            </a:r>
          </a:p>
        </p:txBody>
      </p:sp>
      <p:sp>
        <p:nvSpPr>
          <p:cNvPr id="4" name="Slide Number Placeholder 3"/>
          <p:cNvSpPr>
            <a:spLocks noGrp="1"/>
          </p:cNvSpPr>
          <p:nvPr>
            <p:ph type="sldNum" sz="quarter" idx="5"/>
          </p:nvPr>
        </p:nvSpPr>
        <p:spPr/>
        <p:txBody>
          <a:bodyPr/>
          <a:lstStyle/>
          <a:p>
            <a:fld id="{49F3E57C-F302-4DDA-9D05-13A296E43432}" type="slidenum">
              <a:rPr lang="en-IN" smtClean="0"/>
              <a:t>18</a:t>
            </a:fld>
            <a:endParaRPr lang="en-IN"/>
          </a:p>
        </p:txBody>
      </p:sp>
    </p:spTree>
    <p:extLst>
      <p:ext uri="{BB962C8B-B14F-4D97-AF65-F5344CB8AC3E}">
        <p14:creationId xmlns:p14="http://schemas.microsoft.com/office/powerpoint/2010/main" val="879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5983-A03A-E0ED-34EE-A443E53A5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B8837B-0727-E855-BFDD-B99EAE6AC1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26AC85-404D-9408-28CB-801E4A5933A0}"/>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E179E98B-1AF9-4875-D5B3-88859CF85A7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334707E-798E-7C97-CD41-D775F7DE003F}"/>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59819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60D9-2122-3ABA-5538-F0E27B8953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BAA8A7-B1F4-5506-F776-AFB80FE75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B9D3E-D1AE-A90E-6D89-C8FD10F7B33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9BFA61B0-DE9D-6995-9E7A-69DC171A15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BD05BF3-9CF1-FA8A-BB5A-ECD88C70FE30}"/>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91153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A982-AB85-98CC-C877-EA4E79FF1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BF187-D2E5-0B54-BD73-DA6895CBC0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256B0-21BF-EA24-CBAB-9C7610C98BE4}"/>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E5CEC522-0EF6-592F-545D-AEE789C84A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00FB6D0-D2F5-AE6E-DD18-51A6DEDDEAF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4125936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517B-C6E4-54A7-7DCA-3E1379C0CB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5F1E7-A809-88B3-92F7-00C015CBD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1ADBF0-2118-931D-5DB1-3C63A2AD4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5254DA-B0D9-5A8E-1082-5B0B723969FD}"/>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0900ABA4-B34D-DCA3-091C-C13AB7A448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6306393-A259-9803-9EF7-0496F50DC205}"/>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96249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897B-282E-F6A8-8744-CD4A496E4E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9EB027-C5B8-9853-4985-41EE27B04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8E21C-2E43-FD01-1A03-C5804DE46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0475D7-194A-DD15-6D87-3F9FB1106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291681-FED0-66A8-E134-9325C89A6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DA14E-B6D0-D657-0112-4DEAD5E3D031}"/>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8" name="Footer Placeholder 7">
            <a:extLst>
              <a:ext uri="{FF2B5EF4-FFF2-40B4-BE49-F238E27FC236}">
                <a16:creationId xmlns:a16="http://schemas.microsoft.com/office/drawing/2014/main" id="{7AD2F618-DEC5-021D-936B-2FF3C5E635B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45CFC53-2D51-EF01-8C48-624A5490CE1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713036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C518E-EE2E-8AC8-37C3-AF264CD142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145FDC-5C6C-97EE-0FF0-55226E2D16F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4" name="Footer Placeholder 3">
            <a:extLst>
              <a:ext uri="{FF2B5EF4-FFF2-40B4-BE49-F238E27FC236}">
                <a16:creationId xmlns:a16="http://schemas.microsoft.com/office/drawing/2014/main" id="{DC1BC3E9-7E22-3E0E-B63A-CBC3D79FC53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3C8FB05-E8DF-761A-1B31-C54E391639D7}"/>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2807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FDF00-402F-50D5-D0D2-0C3684BF34CE}"/>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3" name="Footer Placeholder 2">
            <a:extLst>
              <a:ext uri="{FF2B5EF4-FFF2-40B4-BE49-F238E27FC236}">
                <a16:creationId xmlns:a16="http://schemas.microsoft.com/office/drawing/2014/main" id="{2B6CDD23-4172-F46A-6F91-D81957C869A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1972F11-3449-B30B-8F44-E9581B44778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88416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E689-DD00-0642-53CC-961331092B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A43E27-D3A3-C032-1B22-D4F0F4B50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B389BD-C591-026B-4B42-F7CCBDB8F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15E48-BF5E-3690-4515-E22FC82541FB}"/>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447670F7-110C-F630-D868-1422C3DB18D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1C1A669-A1D1-A9BA-89F6-B41C82B57C6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107148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74BE-6B3D-5962-8251-90E88EE53E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D01EBC-25BA-ED73-8D45-470E76080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8358B04-6189-AACC-2093-A6FC28011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46FCE-ADFD-B0A8-6308-0087D4BB9FF4}"/>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6" name="Footer Placeholder 5">
            <a:extLst>
              <a:ext uri="{FF2B5EF4-FFF2-40B4-BE49-F238E27FC236}">
                <a16:creationId xmlns:a16="http://schemas.microsoft.com/office/drawing/2014/main" id="{C55E3D00-5327-171C-E8C0-2ADE1133909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02B3EAE-9589-AF24-CEFA-E4A3C5D88F0E}"/>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88811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D716-0853-1E81-06FC-21F49A95E4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3F3CA1-4B67-CADA-F4B0-9642DFFEE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EA883-1B78-49FC-F4AF-9C948F985B0B}"/>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52494C0C-745E-A49F-D6CC-F3E946B17C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D4B3DA9-7B87-47CC-F674-ADE6B9DAE751}"/>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658789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DC632-C9C7-2DA9-D70F-0D06E9A2B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DD888-DA2D-FD9D-2EE5-AB3305D58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1074A-B1D6-0A71-39E2-12157B251998}"/>
              </a:ext>
            </a:extLst>
          </p:cNvPr>
          <p:cNvSpPr>
            <a:spLocks noGrp="1"/>
          </p:cNvSpPr>
          <p:nvPr>
            <p:ph type="dt" sz="half" idx="10"/>
          </p:nvPr>
        </p:nvSpPr>
        <p:spPr/>
        <p:txBody>
          <a:body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2B2CAAF8-36C0-5205-12B3-8314DBBB701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24CBA80-C5C7-6372-FE23-7E5AEA28C922}"/>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66865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838200" y="142623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6045938"/>
            <a:ext cx="12192000" cy="812062"/>
          </a:xfrm>
          <a:solidFill>
            <a:srgbClr val="7900FF"/>
          </a:solidFill>
          <a:ln>
            <a:noFill/>
          </a:ln>
          <a:effectLst>
            <a:outerShdw blurRad="190500" dist="228600" dir="2700000" algn="ctr">
              <a:srgbClr val="000000">
                <a:alpha val="30000"/>
              </a:srgbClr>
            </a:outerShdw>
          </a:effectLst>
        </p:spPr>
        <p:txBody>
          <a:bodyPr>
            <a:normAutofit/>
          </a:bodyPr>
          <a:lstStyle>
            <a:lvl1pPr>
              <a:defRPr sz="36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8242739" y="6356350"/>
            <a:ext cx="2743200" cy="365125"/>
          </a:xfrm>
        </p:spPr>
        <p:txBody>
          <a:bodyPr/>
          <a:lstStyle>
            <a:lvl1pPr>
              <a:defRPr sz="180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195630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2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32478-7BE6-FD94-B1B3-1533CF2A0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D9CED8-6854-0C73-DD84-5B9D8C95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77F259-EFEC-5AD7-5C68-771A3AA6B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43806E-8D21-43E4-9F2D-63F27C8E0326}" type="datetimeFigureOut">
              <a:rPr lang="en-IN" smtClean="0"/>
              <a:t>07-06-2026</a:t>
            </a:fld>
            <a:endParaRPr lang="en-IN" dirty="0"/>
          </a:p>
        </p:txBody>
      </p:sp>
      <p:sp>
        <p:nvSpPr>
          <p:cNvPr id="5" name="Footer Placeholder 4">
            <a:extLst>
              <a:ext uri="{FF2B5EF4-FFF2-40B4-BE49-F238E27FC236}">
                <a16:creationId xmlns:a16="http://schemas.microsoft.com/office/drawing/2014/main" id="{D3C4C6CB-8B77-4048-9007-4FC8E9028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92FFA66-CADE-8389-6472-9E7A47E21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731DD7-10D8-42F8-B738-27059AAF31FC}" type="slidenum">
              <a:rPr lang="en-IN" smtClean="0"/>
              <a:t>‹#›</a:t>
            </a:fld>
            <a:endParaRPr lang="en-IN" dirty="0"/>
          </a:p>
        </p:txBody>
      </p:sp>
    </p:spTree>
    <p:extLst>
      <p:ext uri="{BB962C8B-B14F-4D97-AF65-F5344CB8AC3E}">
        <p14:creationId xmlns:p14="http://schemas.microsoft.com/office/powerpoint/2010/main" val="232176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microsoft.com/office/2007/relationships/media" Target="../media/media2.m4a"/><Relationship Id="rId7" Type="http://schemas.openxmlformats.org/officeDocument/2006/relationships/image" Target="../media/image1.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audio" Target="../media/media2.m4a"/><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microsoft.com/office/2007/relationships/media" Target="../media/media3.m4a"/><Relationship Id="rId7" Type="http://schemas.openxmlformats.org/officeDocument/2006/relationships/image" Target="../media/image3.png"/><Relationship Id="rId2" Type="http://schemas.microsoft.com/office/2007/relationships/media" Target="../media/media1.mp3"/><Relationship Id="rId1" Type="http://schemas.openxmlformats.org/officeDocument/2006/relationships/audio" Target="NULL" TargetMode="External"/><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audio" Target="../media/media3.m4a"/></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audio" Target="NULL" TargetMode="External"/><Relationship Id="rId7" Type="http://schemas.openxmlformats.org/officeDocument/2006/relationships/image" Target="../media/image5.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microsoft.com/office/2007/relationships/media" Target="../media/media1.mp3"/><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 y="-10177"/>
            <a:ext cx="12191998"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2172129" y="3117559"/>
            <a:ext cx="10039565" cy="1636159"/>
          </a:xfrm>
          <a:prstGeom prst="rect">
            <a:avLst/>
          </a:prstGeom>
          <a:solidFill>
            <a:srgbClr val="FFFFFF">
              <a:alpha val="14902"/>
            </a:srgb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nSpc>
                <a:spcPct val="120000"/>
              </a:lnSpc>
            </a:pPr>
            <a:r>
              <a:rPr lang="en-US" b="1" dirty="0" err="1">
                <a:solidFill>
                  <a:srgbClr val="FFFF00"/>
                </a:solidFill>
                <a:latin typeface="FN Shyamol Bangla" panose="02000600000000000000" pitchFamily="2" charset="0"/>
                <a:cs typeface="FN Shyamol Bangla" panose="02000600000000000000" pitchFamily="2" charset="0"/>
              </a:rPr>
              <a:t>Dreamlit</a:t>
            </a:r>
            <a:r>
              <a:rPr lang="en-US" b="1" dirty="0">
                <a:solidFill>
                  <a:srgbClr val="FFFF00"/>
                </a:solidFill>
                <a:latin typeface="FN Shyamol Bangla" panose="02000600000000000000" pitchFamily="2" charset="0"/>
                <a:cs typeface="FN Shyamol Bangla" panose="02000600000000000000" pitchFamily="2" charset="0"/>
              </a:rPr>
              <a:t> Equity Research: 3</a:t>
            </a:r>
          </a:p>
          <a:p>
            <a:pPr>
              <a:lnSpc>
                <a:spcPct val="120000"/>
              </a:lnSpc>
            </a:pPr>
            <a:r>
              <a:rPr lang="en-US" sz="4000" b="1" dirty="0">
                <a:latin typeface="FN Shyamol Bangla" panose="02000600000000000000" pitchFamily="2" charset="0"/>
                <a:cs typeface="FN Shyamol Bangla" panose="02000600000000000000" pitchFamily="2" charset="0"/>
              </a:rPr>
              <a:t>Digital Banking &amp; Fintech Super-App Leader</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9"/>
          <a:stretch>
            <a:fillRect/>
          </a:stretch>
        </p:blipFill>
        <p:spPr>
          <a:xfrm>
            <a:off x="-1709827" y="3420645"/>
            <a:ext cx="406400" cy="406400"/>
          </a:xfrm>
          <a:prstGeom prst="rect">
            <a:avLst/>
          </a:prstGeom>
        </p:spPr>
      </p:pic>
      <p:pic>
        <p:nvPicPr>
          <p:cNvPr id="3" name="Audio 2">
            <a:hlinkClick r:id="" action="ppaction://media"/>
            <a:extLst>
              <a:ext uri="{FF2B5EF4-FFF2-40B4-BE49-F238E27FC236}">
                <a16:creationId xmlns:a16="http://schemas.microsoft.com/office/drawing/2014/main" id="{DAD46E24-693D-B530-42BB-5910DB684EC4}"/>
              </a:ext>
            </a:extLst>
          </p:cNvPr>
          <p:cNvPicPr>
            <a:picLocks noChangeAspect="1"/>
          </p:cNvPicPr>
          <p:nvPr>
            <a:audioFile r:link="rId4"/>
            <p:extLst>
              <p:ext uri="{DAA4B4D4-6D71-4841-9C94-3DE7FCFB9230}">
                <p14:media xmlns:p14="http://schemas.microsoft.com/office/powerpoint/2010/main" r:embed="rId3"/>
              </p:ext>
            </p:extLst>
          </p:nvPr>
        </p:nvPicPr>
        <p:blipFill>
          <a:blip r:embed="rId9"/>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516154058"/>
      </p:ext>
    </p:extLst>
  </p:cSld>
  <p:clrMapOvr>
    <a:masterClrMapping/>
  </p:clrMapOvr>
  <mc:AlternateContent xmlns:mc="http://schemas.openxmlformats.org/markup-compatibility/2006" xmlns:p14="http://schemas.microsoft.com/office/powerpoint/2010/main">
    <mc:Choice Requires="p14">
      <p:transition spd="slow" p14:dur="2000" advTm="21535"/>
    </mc:Choice>
    <mc:Fallback xmlns="">
      <p:transition spd="slow" advTm="215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5"/>
                </p:tgtEl>
              </p:cMediaNode>
            </p:audio>
            <p:audio isNarration="1">
              <p:cMediaNode vol="80000" showWhenStopped="0">
                <p:cTn id="11" fill="hold" display="0">
                  <p:stCondLst>
                    <p:cond delay="indefinite"/>
                  </p:stCondLst>
                  <p:endCondLst>
                    <p:cond evt="onStopAudio" delay="0">
                      <p:tgtEl>
                        <p:sldTgt/>
                      </p:tgtEl>
                    </p:cond>
                  </p:endCondLst>
                </p:cTn>
                <p:tgtEl>
                  <p:spTgt spid="3"/>
                </p:tgtEl>
              </p:cMediaNode>
            </p:audio>
          </p:childTnLst>
        </p:cTn>
      </p:par>
    </p:tnLst>
  </p:timing>
  <p:extLst>
    <p:ext uri="{E180D4A7-C9FB-4DFB-919C-405C955672EB}">
      <p14:showEvtLst xmlns:p14="http://schemas.microsoft.com/office/powerpoint/2010/main">
        <p14:playEvt time="165" objId="5"/>
        <p14:stopEvt time="10193" objId="5"/>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85949" y="237274"/>
            <a:ext cx="11906051" cy="812062"/>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3600" b="1" dirty="0">
                <a:solidFill>
                  <a:srgbClr val="A80C2A"/>
                </a:solidFill>
              </a:rPr>
              <a:t>DISCLAIMER</a:t>
            </a:r>
            <a:endParaRPr lang="en-IN" sz="3600" b="1" dirty="0">
              <a:solidFill>
                <a:srgbClr val="A80C2A"/>
              </a:solidFill>
            </a:endParaRPr>
          </a:p>
        </p:txBody>
      </p:sp>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1"/>
            <p:extLst>
              <p:ext uri="{DAA4B4D4-6D71-4841-9C94-3DE7FCFB9230}">
                <p14:media xmlns:p14="http://schemas.microsoft.com/office/powerpoint/2010/main" r:embed="rId2">
                  <p14:trim end="213320"/>
                </p14:media>
              </p:ext>
            </p:extLst>
          </p:nvPr>
        </p:nvPicPr>
        <p:blipFill>
          <a:blip r:embed="rId7"/>
          <a:stretch>
            <a:fillRect/>
          </a:stretch>
        </p:blipFill>
        <p:spPr>
          <a:xfrm>
            <a:off x="-1709827" y="3420645"/>
            <a:ext cx="406400" cy="4064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373345" y="1049336"/>
            <a:ext cx="2504610" cy="5368484"/>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Advisory Status</a:t>
              </a:r>
              <a:endParaRPr lang="en-US" sz="2000" b="1" dirty="0"/>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Risk Warning</a:t>
              </a:r>
              <a:endParaRPr lang="en-US" sz="2000" b="1" dirty="0"/>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Liability</a:t>
              </a:r>
              <a:endParaRPr lang="en-US" sz="2000" b="1" dirty="0"/>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Recommendation</a:t>
              </a:r>
              <a:endParaRPr lang="en-US" sz="2000" b="1" dirty="0"/>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t>Legal Basis</a:t>
              </a:r>
              <a:endParaRPr lang="en-IN" sz="2000" dirty="0">
                <a:solidFill>
                  <a:schemeClr val="bg1"/>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21328" y="156542"/>
            <a:ext cx="612172" cy="600511"/>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955390" y="1032718"/>
            <a:ext cx="8787431" cy="5368484"/>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solidFill>
                    <a:schemeClr val="bg1"/>
                  </a:solidFill>
                </a:rPr>
                <a:t>Third-party content is used under Fair Use for commentary, criticism, and analysis.</a:t>
              </a:r>
              <a:endParaRPr lang="en-IN" sz="2000" dirty="0">
                <a:solidFill>
                  <a:schemeClr val="bg1"/>
                </a:solidFill>
              </a:endParaRPr>
            </a:p>
          </p:txBody>
        </p:sp>
      </p:grpSp>
      <p:pic>
        <p:nvPicPr>
          <p:cNvPr id="3" name="Audio 2">
            <a:hlinkClick r:id="" action="ppaction://media"/>
            <a:extLst>
              <a:ext uri="{FF2B5EF4-FFF2-40B4-BE49-F238E27FC236}">
                <a16:creationId xmlns:a16="http://schemas.microsoft.com/office/drawing/2014/main" id="{4274AC6D-CBE0-DF60-2E0B-8B48F1D0CFB9}"/>
              </a:ext>
            </a:extLst>
          </p:cNvPr>
          <p:cNvPicPr>
            <a:picLocks noChangeAspect="1"/>
          </p:cNvPicPr>
          <p:nvPr>
            <a:audioFile r:link="rId4"/>
            <p:extLst>
              <p:ext uri="{DAA4B4D4-6D71-4841-9C94-3DE7FCFB9230}">
                <p14:media xmlns:p14="http://schemas.microsoft.com/office/powerpoint/2010/main" r:embed="rId3"/>
              </p:ext>
            </p:extLst>
          </p:nvPr>
        </p:nvPicPr>
        <p:blipFill>
          <a:blip r:embed="rId7"/>
          <a:srcRect l="-325000" t="-160938" r="-325000" b="-160938"/>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77673"/>
    </mc:Choice>
    <mc:Fallback xmlns="">
      <p:transition spd="slow" advTm="776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5">
                                            <p:txEl>
                                              <p:pRg st="0" end="0"/>
                                            </p:txEl>
                                          </p:spTgt>
                                        </p:tgtEl>
                                      </p:cBhvr>
                                    </p:animEffect>
                                    <p:animScale>
                                      <p:cBhvr>
                                        <p:cTn id="10" dur="250" autoRev="1" fill="hold"/>
                                        <p:tgtEl>
                                          <p:spTgt spid="5">
                                            <p:txEl>
                                              <p:pRg st="0" end="0"/>
                                            </p:txEl>
                                          </p:spTgt>
                                        </p:tgtEl>
                                      </p:cBhvr>
                                      <p:by x="105000" y="105000"/>
                                    </p:animScale>
                                  </p:childTnLst>
                                </p:cTn>
                              </p:par>
                            </p:childTnLst>
                          </p:cTn>
                        </p:par>
                        <p:par>
                          <p:cTn id="11" fill="hold">
                            <p:stCondLst>
                              <p:cond delay="500"/>
                            </p:stCondLst>
                            <p:childTnLst>
                              <p:par>
                                <p:cTn id="12" presetID="1" presetClass="mediacall" presetSubtype="0" fill="hold" nodeType="afterEffect">
                                  <p:stCondLst>
                                    <p:cond delay="0"/>
                                  </p:stCondLst>
                                  <p:childTnLst>
                                    <p:cmd type="call" cmd="playFrom(0.0)">
                                      <p:cBhvr>
                                        <p:cTn id="13"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4" fill="hold" display="0">
                  <p:stCondLst>
                    <p:cond delay="indefinite"/>
                  </p:stCondLst>
                  <p:endCondLst>
                    <p:cond evt="onStopAudio" delay="0">
                      <p:tgtEl>
                        <p:sldTgt/>
                      </p:tgtEl>
                    </p:cond>
                  </p:endCondLst>
                </p:cTn>
                <p:tgtEl>
                  <p:spTgt spid="8"/>
                </p:tgtEl>
              </p:cMediaNode>
            </p:audio>
            <p:audio isNarration="1">
              <p:cMediaNode vol="80000" showWhenStopped="0">
                <p:cTn id="15" fill="hold" display="0">
                  <p:stCondLst>
                    <p:cond delay="indefinite"/>
                  </p:stCondLst>
                  <p:endCondLst>
                    <p:cond evt="onStopAudio" delay="0">
                      <p:tgtEl>
                        <p:sldTgt/>
                      </p:tgtEl>
                    </p:cond>
                  </p:endCondLst>
                </p:cTn>
                <p:tgtEl>
                  <p:spTgt spid="3"/>
                </p:tgtEl>
              </p:cMediaNode>
            </p:audio>
          </p:childTnLst>
        </p:cTn>
      </p:par>
    </p:tnLst>
  </p:timing>
  <p:extLst>
    <p:ext uri="{E180D4A7-C9FB-4DFB-919C-405C955672EB}">
      <p14:showEvtLst xmlns:p14="http://schemas.microsoft.com/office/powerpoint/2010/main">
        <p14:playEvt time="551" objId="8"/>
        <p14:stopEvt time="10577" objId="8"/>
      </p14:showEvt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40C1C"/>
          </a:solidFill>
          <a:ln w="12700">
            <a:solidFill>
              <a:srgbClr val="040C1C"/>
            </a:solidFill>
            <a:prstDash val="solid"/>
          </a:ln>
        </p:spPr>
      </p:sp>
      <p:sp>
        <p:nvSpPr>
          <p:cNvPr id="3" name="Shape 1"/>
          <p:cNvSpPr/>
          <p:nvPr/>
        </p:nvSpPr>
        <p:spPr>
          <a:xfrm>
            <a:off x="6858000" y="0"/>
            <a:ext cx="5303520" cy="6858000"/>
          </a:xfrm>
          <a:prstGeom prst="rect">
            <a:avLst/>
          </a:prstGeom>
          <a:solidFill>
            <a:srgbClr val="08142A"/>
          </a:solidFill>
          <a:ln w="12700">
            <a:solidFill>
              <a:srgbClr val="08142A"/>
            </a:solidFill>
            <a:prstDash val="solid"/>
          </a:ln>
        </p:spPr>
      </p:sp>
      <p:sp>
        <p:nvSpPr>
          <p:cNvPr id="4" name="Shape 2"/>
          <p:cNvSpPr/>
          <p:nvPr/>
        </p:nvSpPr>
        <p:spPr>
          <a:xfrm>
            <a:off x="6839712" y="0"/>
            <a:ext cx="54864" cy="6858000"/>
          </a:xfrm>
          <a:prstGeom prst="rect">
            <a:avLst/>
          </a:prstGeom>
          <a:solidFill>
            <a:srgbClr val="00C8C8"/>
          </a:solidFill>
          <a:ln w="12700">
            <a:solidFill>
              <a:srgbClr val="00C8C8"/>
            </a:solidFill>
            <a:prstDash val="solid"/>
          </a:ln>
        </p:spPr>
      </p:sp>
      <p:sp>
        <p:nvSpPr>
          <p:cNvPr id="6" name="Shape 4"/>
          <p:cNvSpPr/>
          <p:nvPr/>
        </p:nvSpPr>
        <p:spPr>
          <a:xfrm>
            <a:off x="7772400" y="731520"/>
            <a:ext cx="256032" cy="256032"/>
          </a:xfrm>
          <a:prstGeom prst="ellipse">
            <a:avLst/>
          </a:prstGeom>
          <a:solidFill>
            <a:srgbClr val="0066FF">
              <a:alpha val="35000"/>
            </a:srgbClr>
          </a:solidFill>
          <a:ln w="12700">
            <a:solidFill>
              <a:srgbClr val="0066FF">
                <a:alpha val="20000"/>
              </a:srgbClr>
            </a:solidFill>
            <a:prstDash val="solid"/>
          </a:ln>
        </p:spPr>
      </p:sp>
      <p:sp>
        <p:nvSpPr>
          <p:cNvPr id="7" name="Shape 5"/>
          <p:cNvSpPr/>
          <p:nvPr/>
        </p:nvSpPr>
        <p:spPr>
          <a:xfrm>
            <a:off x="8302752" y="896112"/>
            <a:ext cx="256032" cy="256032"/>
          </a:xfrm>
          <a:prstGeom prst="ellipse">
            <a:avLst/>
          </a:prstGeom>
          <a:solidFill>
            <a:srgbClr val="0066FF">
              <a:alpha val="32000"/>
            </a:srgbClr>
          </a:solidFill>
          <a:ln w="12700">
            <a:solidFill>
              <a:srgbClr val="0066FF">
                <a:alpha val="20000"/>
              </a:srgbClr>
            </a:solidFill>
            <a:prstDash val="solid"/>
          </a:ln>
        </p:spPr>
      </p:sp>
      <p:sp>
        <p:nvSpPr>
          <p:cNvPr id="8" name="Shape 6"/>
          <p:cNvSpPr/>
          <p:nvPr/>
        </p:nvSpPr>
        <p:spPr>
          <a:xfrm>
            <a:off x="8833104" y="1060704"/>
            <a:ext cx="256032" cy="256032"/>
          </a:xfrm>
          <a:prstGeom prst="ellipse">
            <a:avLst/>
          </a:prstGeom>
          <a:solidFill>
            <a:srgbClr val="0066FF">
              <a:alpha val="29000"/>
            </a:srgbClr>
          </a:solidFill>
          <a:ln w="12700">
            <a:solidFill>
              <a:srgbClr val="0066FF">
                <a:alpha val="20000"/>
              </a:srgbClr>
            </a:solidFill>
            <a:prstDash val="solid"/>
          </a:ln>
        </p:spPr>
      </p:sp>
      <p:sp>
        <p:nvSpPr>
          <p:cNvPr id="10" name="Shape 8"/>
          <p:cNvSpPr/>
          <p:nvPr/>
        </p:nvSpPr>
        <p:spPr>
          <a:xfrm>
            <a:off x="9893808" y="1389888"/>
            <a:ext cx="256032" cy="256032"/>
          </a:xfrm>
          <a:prstGeom prst="ellipse">
            <a:avLst/>
          </a:prstGeom>
          <a:solidFill>
            <a:srgbClr val="0066FF">
              <a:alpha val="23000"/>
            </a:srgbClr>
          </a:solidFill>
          <a:ln w="12700">
            <a:solidFill>
              <a:srgbClr val="0066FF">
                <a:alpha val="20000"/>
              </a:srgbClr>
            </a:solidFill>
            <a:prstDash val="solid"/>
          </a:ln>
        </p:spPr>
      </p:sp>
      <p:sp>
        <p:nvSpPr>
          <p:cNvPr id="11" name="Shape 9"/>
          <p:cNvSpPr/>
          <p:nvPr/>
        </p:nvSpPr>
        <p:spPr>
          <a:xfrm>
            <a:off x="10424160" y="1554480"/>
            <a:ext cx="256032" cy="256032"/>
          </a:xfrm>
          <a:prstGeom prst="ellipse">
            <a:avLst/>
          </a:prstGeom>
          <a:solidFill>
            <a:srgbClr val="0066FF">
              <a:alpha val="20000"/>
            </a:srgbClr>
          </a:solidFill>
          <a:ln w="12700">
            <a:solidFill>
              <a:srgbClr val="0066FF">
                <a:alpha val="20000"/>
              </a:srgbClr>
            </a:solidFill>
            <a:prstDash val="solid"/>
          </a:ln>
        </p:spPr>
      </p:sp>
      <p:sp>
        <p:nvSpPr>
          <p:cNvPr id="12" name="Shape 10"/>
          <p:cNvSpPr/>
          <p:nvPr/>
        </p:nvSpPr>
        <p:spPr>
          <a:xfrm>
            <a:off x="10954512" y="1719072"/>
            <a:ext cx="256032" cy="256032"/>
          </a:xfrm>
          <a:prstGeom prst="ellipse">
            <a:avLst/>
          </a:prstGeom>
          <a:solidFill>
            <a:srgbClr val="0066FF">
              <a:alpha val="17000"/>
            </a:srgbClr>
          </a:solidFill>
          <a:ln w="12700">
            <a:solidFill>
              <a:srgbClr val="0066FF">
                <a:alpha val="20000"/>
              </a:srgbClr>
            </a:solidFill>
            <a:prstDash val="solid"/>
          </a:ln>
        </p:spPr>
      </p:sp>
      <p:sp>
        <p:nvSpPr>
          <p:cNvPr id="13" name="Shape 11"/>
          <p:cNvSpPr/>
          <p:nvPr/>
        </p:nvSpPr>
        <p:spPr>
          <a:xfrm>
            <a:off x="11484864" y="1883664"/>
            <a:ext cx="256032" cy="256032"/>
          </a:xfrm>
          <a:prstGeom prst="ellipse">
            <a:avLst/>
          </a:prstGeom>
          <a:solidFill>
            <a:srgbClr val="0066FF">
              <a:alpha val="14000"/>
            </a:srgbClr>
          </a:solidFill>
          <a:ln w="12700">
            <a:solidFill>
              <a:srgbClr val="0066FF">
                <a:alpha val="20000"/>
              </a:srgbClr>
            </a:solidFill>
            <a:prstDash val="solid"/>
          </a:ln>
        </p:spPr>
      </p:sp>
      <p:sp>
        <p:nvSpPr>
          <p:cNvPr id="14" name="Text 12"/>
          <p:cNvSpPr/>
          <p:nvPr/>
        </p:nvSpPr>
        <p:spPr>
          <a:xfrm>
            <a:off x="475488" y="164592"/>
            <a:ext cx="6583680" cy="457200"/>
          </a:xfrm>
          <a:prstGeom prst="rect">
            <a:avLst/>
          </a:prstGeom>
          <a:noFill/>
          <a:ln/>
        </p:spPr>
        <p:txBody>
          <a:bodyPr wrap="square" rtlCol="0" anchor="ctr"/>
          <a:lstStyle/>
          <a:p>
            <a:pPr marL="0" indent="0">
              <a:buNone/>
            </a:pPr>
            <a:r>
              <a:rPr lang="en-US" sz="1500" kern="0" spc="500" dirty="0">
                <a:solidFill>
                  <a:srgbClr val="00C8C8"/>
                </a:solidFill>
                <a:latin typeface="Calibri" pitchFamily="34" charset="0"/>
                <a:ea typeface="Calibri" pitchFamily="34" charset="-122"/>
                <a:cs typeface="Calibri" pitchFamily="34" charset="-120"/>
              </a:rPr>
              <a:t>DREAMLIT EQUITY RESEARCH</a:t>
            </a:r>
            <a:endParaRPr lang="en-US" sz="1500" dirty="0"/>
          </a:p>
        </p:txBody>
      </p:sp>
      <p:sp>
        <p:nvSpPr>
          <p:cNvPr id="15" name="Text 13"/>
          <p:cNvSpPr/>
          <p:nvPr/>
        </p:nvSpPr>
        <p:spPr>
          <a:xfrm>
            <a:off x="475488" y="758471"/>
            <a:ext cx="6583680" cy="1371600"/>
          </a:xfrm>
          <a:prstGeom prst="rect">
            <a:avLst/>
          </a:prstGeom>
          <a:noFill/>
          <a:ln/>
        </p:spPr>
        <p:txBody>
          <a:bodyPr wrap="square" rtlCol="0" anchor="ctr"/>
          <a:lstStyle/>
          <a:p>
            <a:pPr marL="0" indent="0">
              <a:buNone/>
            </a:pPr>
            <a:r>
              <a:rPr lang="en-US" sz="11500" b="1" dirty="0">
                <a:solidFill>
                  <a:srgbClr val="FFFFFF"/>
                </a:solidFill>
                <a:latin typeface="Calibri" pitchFamily="34" charset="0"/>
                <a:ea typeface="Calibri" pitchFamily="34" charset="-122"/>
                <a:cs typeface="Calibri" pitchFamily="34" charset="-120"/>
              </a:rPr>
              <a:t>SoFi</a:t>
            </a:r>
            <a:endParaRPr lang="en-US" sz="11500" dirty="0"/>
          </a:p>
        </p:txBody>
      </p:sp>
      <p:sp>
        <p:nvSpPr>
          <p:cNvPr id="16" name="Text 14"/>
          <p:cNvSpPr/>
          <p:nvPr/>
        </p:nvSpPr>
        <p:spPr>
          <a:xfrm>
            <a:off x="521208" y="2159909"/>
            <a:ext cx="6583680" cy="777240"/>
          </a:xfrm>
          <a:prstGeom prst="rect">
            <a:avLst/>
          </a:prstGeom>
          <a:noFill/>
          <a:ln/>
        </p:spPr>
        <p:txBody>
          <a:bodyPr wrap="square" rtlCol="0" anchor="ctr"/>
          <a:lstStyle/>
          <a:p>
            <a:pPr marL="0" indent="0">
              <a:buNone/>
            </a:pPr>
            <a:r>
              <a:rPr lang="en-US" sz="4400" b="1" dirty="0">
                <a:solidFill>
                  <a:srgbClr val="0066FF"/>
                </a:solidFill>
                <a:latin typeface="Calibri" pitchFamily="34" charset="0"/>
                <a:ea typeface="Calibri" pitchFamily="34" charset="-122"/>
                <a:cs typeface="Calibri" pitchFamily="34" charset="-120"/>
              </a:rPr>
              <a:t>Technologies</a:t>
            </a:r>
            <a:endParaRPr lang="en-US" sz="4400" dirty="0"/>
          </a:p>
        </p:txBody>
      </p:sp>
      <p:sp>
        <p:nvSpPr>
          <p:cNvPr id="17" name="Text 15"/>
          <p:cNvSpPr/>
          <p:nvPr/>
        </p:nvSpPr>
        <p:spPr>
          <a:xfrm>
            <a:off x="457200" y="3364992"/>
            <a:ext cx="3200400" cy="457200"/>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NASDAQ: SOFI</a:t>
            </a:r>
            <a:endParaRPr lang="en-US" sz="2200" dirty="0"/>
          </a:p>
        </p:txBody>
      </p:sp>
      <p:sp>
        <p:nvSpPr>
          <p:cNvPr id="18" name="Text 16"/>
          <p:cNvSpPr/>
          <p:nvPr/>
        </p:nvSpPr>
        <p:spPr>
          <a:xfrm>
            <a:off x="457200" y="3840480"/>
            <a:ext cx="6400800" cy="347472"/>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Digital Banking  |  Fintech  |  Financial Services Infrastructure</a:t>
            </a:r>
            <a:endParaRPr lang="en-US" sz="1300" dirty="0"/>
          </a:p>
        </p:txBody>
      </p:sp>
      <p:sp>
        <p:nvSpPr>
          <p:cNvPr id="19" name="Shape 17"/>
          <p:cNvSpPr/>
          <p:nvPr/>
        </p:nvSpPr>
        <p:spPr>
          <a:xfrm>
            <a:off x="521208" y="4279392"/>
            <a:ext cx="3200400" cy="36576"/>
          </a:xfrm>
          <a:prstGeom prst="rect">
            <a:avLst/>
          </a:prstGeom>
          <a:solidFill>
            <a:srgbClr val="00C8C8"/>
          </a:solidFill>
          <a:ln w="12700">
            <a:solidFill>
              <a:srgbClr val="00C8C8"/>
            </a:solidFill>
            <a:prstDash val="solid"/>
          </a:ln>
        </p:spPr>
      </p:sp>
      <p:sp>
        <p:nvSpPr>
          <p:cNvPr id="20" name="Text 18"/>
          <p:cNvSpPr/>
          <p:nvPr/>
        </p:nvSpPr>
        <p:spPr>
          <a:xfrm>
            <a:off x="429768" y="4759452"/>
            <a:ext cx="6400800" cy="777240"/>
          </a:xfrm>
          <a:prstGeom prst="rect">
            <a:avLst/>
          </a:prstGeom>
          <a:noFill/>
          <a:ln/>
        </p:spPr>
        <p:txBody>
          <a:bodyPr wrap="square" rtlCol="0" anchor="ctr"/>
          <a:lstStyle/>
          <a:p>
            <a:pPr marL="0" indent="0">
              <a:buNone/>
            </a:pPr>
            <a:r>
              <a:rPr lang="en-US" sz="1700" b="1" dirty="0">
                <a:solidFill>
                  <a:srgbClr val="FFB800"/>
                </a:solidFill>
                <a:latin typeface="Calibri" pitchFamily="34" charset="0"/>
                <a:ea typeface="Calibri" pitchFamily="34" charset="-122"/>
                <a:cs typeface="Calibri" pitchFamily="34" charset="-120"/>
              </a:rPr>
              <a:t>The Everything App for Finance —</a:t>
            </a:r>
            <a:endParaRPr lang="en-US" sz="1700" dirty="0"/>
          </a:p>
          <a:p>
            <a:pPr marL="0" indent="0">
              <a:buNone/>
            </a:pPr>
            <a:r>
              <a:rPr lang="en-US" sz="1700" b="1" dirty="0">
                <a:solidFill>
                  <a:srgbClr val="FFB800"/>
                </a:solidFill>
                <a:latin typeface="Calibri" pitchFamily="34" charset="0"/>
                <a:ea typeface="Calibri" pitchFamily="34" charset="-122"/>
                <a:cs typeface="Calibri" pitchFamily="34" charset="-120"/>
              </a:rPr>
              <a:t>From Challenger Bank to AWS of Fintech</a:t>
            </a:r>
            <a:endParaRPr lang="en-US" sz="1700" dirty="0"/>
          </a:p>
        </p:txBody>
      </p:sp>
      <p:sp>
        <p:nvSpPr>
          <p:cNvPr id="21" name="Text 19"/>
          <p:cNvSpPr/>
          <p:nvPr/>
        </p:nvSpPr>
        <p:spPr>
          <a:xfrm>
            <a:off x="393192" y="5724144"/>
            <a:ext cx="6400800" cy="5669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14.7M members · $1.1B Q1 2026 revenue (+41% YoY) · 10 consecutive profitable quarters</a:t>
            </a:r>
            <a:endParaRPr lang="en-US" sz="1200" dirty="0"/>
          </a:p>
          <a:p>
            <a:pPr marL="0" indent="0">
              <a:buNone/>
            </a:pPr>
            <a:r>
              <a:rPr lang="en-US" sz="1200" dirty="0">
                <a:solidFill>
                  <a:srgbClr val="D8E8F4"/>
                </a:solidFill>
                <a:latin typeface="Calibri" pitchFamily="34" charset="0"/>
                <a:ea typeface="Calibri" pitchFamily="34" charset="-122"/>
                <a:cs typeface="Calibri" pitchFamily="34" charset="-120"/>
              </a:rPr>
              <a:t>$4.655B FY2026 guidance · Rule of 40 for 18 straight quarters · National Bank Charter</a:t>
            </a:r>
            <a:endParaRPr lang="en-US" sz="1200" dirty="0"/>
          </a:p>
        </p:txBody>
      </p:sp>
      <p:sp>
        <p:nvSpPr>
          <p:cNvPr id="22" name="Text 20"/>
          <p:cNvSpPr/>
          <p:nvPr/>
        </p:nvSpPr>
        <p:spPr>
          <a:xfrm>
            <a:off x="429768" y="6419088"/>
            <a:ext cx="6400800" cy="274320"/>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Date: May 2026  |  Analyst: Dreamlit Quant Research</a:t>
            </a:r>
            <a:endParaRPr lang="en-US" sz="1000" dirty="0"/>
          </a:p>
        </p:txBody>
      </p:sp>
      <p:sp>
        <p:nvSpPr>
          <p:cNvPr id="23" name="Text 21"/>
          <p:cNvSpPr/>
          <p:nvPr/>
        </p:nvSpPr>
        <p:spPr>
          <a:xfrm>
            <a:off x="7150608" y="164592"/>
            <a:ext cx="4846320" cy="347472"/>
          </a:xfrm>
          <a:prstGeom prst="rect">
            <a:avLst/>
          </a:prstGeom>
          <a:noFill/>
          <a:ln/>
        </p:spPr>
        <p:txBody>
          <a:bodyPr wrap="square" rtlCol="0" anchor="ctr"/>
          <a:lstStyle/>
          <a:p>
            <a:pPr marL="0" indent="0">
              <a:buNone/>
            </a:pPr>
            <a:r>
              <a:rPr lang="en-US" sz="1300" kern="0" spc="200" dirty="0">
                <a:solidFill>
                  <a:srgbClr val="00C8C8"/>
                </a:solidFill>
                <a:latin typeface="Calibri" pitchFamily="34" charset="0"/>
                <a:ea typeface="Calibri" pitchFamily="34" charset="-122"/>
                <a:cs typeface="Calibri" pitchFamily="34" charset="-120"/>
              </a:rPr>
              <a:t>KEY METRICS  (May 2026)</a:t>
            </a:r>
            <a:endParaRPr lang="en-US" sz="1300" dirty="0"/>
          </a:p>
        </p:txBody>
      </p:sp>
      <p:sp>
        <p:nvSpPr>
          <p:cNvPr id="24" name="Shape 22"/>
          <p:cNvSpPr/>
          <p:nvPr/>
        </p:nvSpPr>
        <p:spPr>
          <a:xfrm>
            <a:off x="7150608" y="566928"/>
            <a:ext cx="2331720" cy="1874520"/>
          </a:xfrm>
          <a:prstGeom prst="rect">
            <a:avLst/>
          </a:prstGeom>
          <a:solidFill>
            <a:srgbClr val="0D1E38"/>
          </a:solidFill>
          <a:ln w="12700">
            <a:solidFill>
              <a:srgbClr val="0D1E38"/>
            </a:solidFill>
            <a:prstDash val="solid"/>
          </a:ln>
        </p:spPr>
      </p:sp>
      <p:sp>
        <p:nvSpPr>
          <p:cNvPr id="25" name="Shape 23"/>
          <p:cNvSpPr/>
          <p:nvPr/>
        </p:nvSpPr>
        <p:spPr>
          <a:xfrm>
            <a:off x="7150608" y="566928"/>
            <a:ext cx="2331720" cy="54864"/>
          </a:xfrm>
          <a:prstGeom prst="rect">
            <a:avLst/>
          </a:prstGeom>
          <a:solidFill>
            <a:srgbClr val="00C8C8"/>
          </a:solidFill>
          <a:ln w="12700">
            <a:solidFill>
              <a:srgbClr val="00C8C8"/>
            </a:solidFill>
            <a:prstDash val="solid"/>
          </a:ln>
        </p:spPr>
      </p:sp>
      <p:sp>
        <p:nvSpPr>
          <p:cNvPr id="26" name="Text 24"/>
          <p:cNvSpPr/>
          <p:nvPr/>
        </p:nvSpPr>
        <p:spPr>
          <a:xfrm>
            <a:off x="7278624" y="658368"/>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Q1 2026 Revenue</a:t>
            </a:r>
            <a:endParaRPr lang="en-US" sz="1050" dirty="0"/>
          </a:p>
        </p:txBody>
      </p:sp>
      <p:sp>
        <p:nvSpPr>
          <p:cNvPr id="27" name="Text 25"/>
          <p:cNvSpPr/>
          <p:nvPr/>
        </p:nvSpPr>
        <p:spPr>
          <a:xfrm>
            <a:off x="7278624" y="914400"/>
            <a:ext cx="2130552" cy="594360"/>
          </a:xfrm>
          <a:prstGeom prst="rect">
            <a:avLst/>
          </a:prstGeom>
          <a:noFill/>
          <a:ln/>
        </p:spPr>
        <p:txBody>
          <a:bodyPr wrap="square" rtlCol="0" anchor="ctr"/>
          <a:lstStyle/>
          <a:p>
            <a:pPr marL="0" indent="0">
              <a:buNone/>
            </a:pPr>
            <a:r>
              <a:rPr lang="en-US" sz="2600" b="1" dirty="0">
                <a:solidFill>
                  <a:srgbClr val="00C8C8"/>
                </a:solidFill>
                <a:latin typeface="Calibri" pitchFamily="34" charset="0"/>
                <a:ea typeface="Calibri" pitchFamily="34" charset="-122"/>
                <a:cs typeface="Calibri" pitchFamily="34" charset="-120"/>
              </a:rPr>
              <a:t>$1.1B</a:t>
            </a:r>
            <a:endParaRPr lang="en-US" sz="2600" dirty="0"/>
          </a:p>
        </p:txBody>
      </p:sp>
      <p:sp>
        <p:nvSpPr>
          <p:cNvPr id="28" name="Text 26"/>
          <p:cNvSpPr/>
          <p:nvPr/>
        </p:nvSpPr>
        <p:spPr>
          <a:xfrm>
            <a:off x="7278624" y="1481328"/>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41% YoY growth</a:t>
            </a:r>
            <a:endParaRPr lang="en-US" sz="950" dirty="0"/>
          </a:p>
        </p:txBody>
      </p:sp>
      <p:sp>
        <p:nvSpPr>
          <p:cNvPr id="29" name="Shape 27"/>
          <p:cNvSpPr/>
          <p:nvPr/>
        </p:nvSpPr>
        <p:spPr>
          <a:xfrm>
            <a:off x="9665208" y="566928"/>
            <a:ext cx="2331720" cy="1874520"/>
          </a:xfrm>
          <a:prstGeom prst="rect">
            <a:avLst/>
          </a:prstGeom>
          <a:solidFill>
            <a:srgbClr val="0D1E38"/>
          </a:solidFill>
          <a:ln w="12700">
            <a:solidFill>
              <a:srgbClr val="0D1E38"/>
            </a:solidFill>
            <a:prstDash val="solid"/>
          </a:ln>
        </p:spPr>
      </p:sp>
      <p:sp>
        <p:nvSpPr>
          <p:cNvPr id="30" name="Shape 28"/>
          <p:cNvSpPr/>
          <p:nvPr/>
        </p:nvSpPr>
        <p:spPr>
          <a:xfrm>
            <a:off x="9665208" y="566928"/>
            <a:ext cx="2331720" cy="54864"/>
          </a:xfrm>
          <a:prstGeom prst="rect">
            <a:avLst/>
          </a:prstGeom>
          <a:solidFill>
            <a:srgbClr val="FFB800"/>
          </a:solidFill>
          <a:ln w="12700">
            <a:solidFill>
              <a:srgbClr val="FFB800"/>
            </a:solidFill>
            <a:prstDash val="solid"/>
          </a:ln>
        </p:spPr>
      </p:sp>
      <p:sp>
        <p:nvSpPr>
          <p:cNvPr id="31" name="Text 29"/>
          <p:cNvSpPr/>
          <p:nvPr/>
        </p:nvSpPr>
        <p:spPr>
          <a:xfrm>
            <a:off x="9793224" y="658368"/>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FY2026 Guidance</a:t>
            </a:r>
            <a:endParaRPr lang="en-US" sz="1050" dirty="0"/>
          </a:p>
        </p:txBody>
      </p:sp>
      <p:sp>
        <p:nvSpPr>
          <p:cNvPr id="32" name="Text 30"/>
          <p:cNvSpPr/>
          <p:nvPr/>
        </p:nvSpPr>
        <p:spPr>
          <a:xfrm>
            <a:off x="9793224" y="914400"/>
            <a:ext cx="2130552" cy="594360"/>
          </a:xfrm>
          <a:prstGeom prst="rect">
            <a:avLst/>
          </a:prstGeom>
          <a:noFill/>
          <a:ln/>
        </p:spPr>
        <p:txBody>
          <a:bodyPr wrap="square" rtlCol="0" anchor="ctr"/>
          <a:lstStyle/>
          <a:p>
            <a:pPr marL="0" indent="0">
              <a:buNone/>
            </a:pPr>
            <a:r>
              <a:rPr lang="en-US" sz="2600" b="1" dirty="0">
                <a:solidFill>
                  <a:srgbClr val="FFB800"/>
                </a:solidFill>
                <a:latin typeface="Calibri" pitchFamily="34" charset="0"/>
                <a:ea typeface="Calibri" pitchFamily="34" charset="-122"/>
                <a:cs typeface="Calibri" pitchFamily="34" charset="-120"/>
              </a:rPr>
              <a:t>$4.655B</a:t>
            </a:r>
            <a:endParaRPr lang="en-US" sz="2600" dirty="0"/>
          </a:p>
        </p:txBody>
      </p:sp>
      <p:sp>
        <p:nvSpPr>
          <p:cNvPr id="33" name="Text 31"/>
          <p:cNvSpPr/>
          <p:nvPr/>
        </p:nvSpPr>
        <p:spPr>
          <a:xfrm>
            <a:off x="9793224" y="1481328"/>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~30% growth expected</a:t>
            </a:r>
            <a:endParaRPr lang="en-US" sz="950" dirty="0"/>
          </a:p>
        </p:txBody>
      </p:sp>
      <p:sp>
        <p:nvSpPr>
          <p:cNvPr id="34" name="Shape 32"/>
          <p:cNvSpPr/>
          <p:nvPr/>
        </p:nvSpPr>
        <p:spPr>
          <a:xfrm>
            <a:off x="7150608" y="2560320"/>
            <a:ext cx="2331720" cy="1874520"/>
          </a:xfrm>
          <a:prstGeom prst="rect">
            <a:avLst/>
          </a:prstGeom>
          <a:solidFill>
            <a:srgbClr val="0D1E38"/>
          </a:solidFill>
          <a:ln w="12700">
            <a:solidFill>
              <a:srgbClr val="0D1E38"/>
            </a:solidFill>
            <a:prstDash val="solid"/>
          </a:ln>
        </p:spPr>
      </p:sp>
      <p:sp>
        <p:nvSpPr>
          <p:cNvPr id="35" name="Shape 33"/>
          <p:cNvSpPr/>
          <p:nvPr/>
        </p:nvSpPr>
        <p:spPr>
          <a:xfrm>
            <a:off x="7150608" y="2560320"/>
            <a:ext cx="2331720" cy="54864"/>
          </a:xfrm>
          <a:prstGeom prst="rect">
            <a:avLst/>
          </a:prstGeom>
          <a:solidFill>
            <a:srgbClr val="00D68F"/>
          </a:solidFill>
          <a:ln w="12700">
            <a:solidFill>
              <a:srgbClr val="00D68F"/>
            </a:solidFill>
            <a:prstDash val="solid"/>
          </a:ln>
        </p:spPr>
      </p:sp>
      <p:sp>
        <p:nvSpPr>
          <p:cNvPr id="36" name="Text 34"/>
          <p:cNvSpPr/>
          <p:nvPr/>
        </p:nvSpPr>
        <p:spPr>
          <a:xfrm>
            <a:off x="7278624" y="2651760"/>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Total Members</a:t>
            </a:r>
            <a:endParaRPr lang="en-US" sz="1050" dirty="0"/>
          </a:p>
        </p:txBody>
      </p:sp>
      <p:sp>
        <p:nvSpPr>
          <p:cNvPr id="37" name="Text 35"/>
          <p:cNvSpPr/>
          <p:nvPr/>
        </p:nvSpPr>
        <p:spPr>
          <a:xfrm>
            <a:off x="7278624" y="2907792"/>
            <a:ext cx="2130552" cy="594360"/>
          </a:xfrm>
          <a:prstGeom prst="rect">
            <a:avLst/>
          </a:prstGeom>
          <a:noFill/>
          <a:ln/>
        </p:spPr>
        <p:txBody>
          <a:bodyPr wrap="square" rtlCol="0" anchor="ctr"/>
          <a:lstStyle/>
          <a:p>
            <a:pPr marL="0" indent="0">
              <a:buNone/>
            </a:pPr>
            <a:r>
              <a:rPr lang="en-US" sz="2600" b="1" dirty="0">
                <a:solidFill>
                  <a:srgbClr val="00D68F"/>
                </a:solidFill>
                <a:latin typeface="Calibri" pitchFamily="34" charset="0"/>
                <a:ea typeface="Calibri" pitchFamily="34" charset="-122"/>
                <a:cs typeface="Calibri" pitchFamily="34" charset="-120"/>
              </a:rPr>
              <a:t>14.7M</a:t>
            </a:r>
            <a:endParaRPr lang="en-US" sz="2600" dirty="0"/>
          </a:p>
        </p:txBody>
      </p:sp>
      <p:sp>
        <p:nvSpPr>
          <p:cNvPr id="38" name="Text 36"/>
          <p:cNvSpPr/>
          <p:nvPr/>
        </p:nvSpPr>
        <p:spPr>
          <a:xfrm>
            <a:off x="7278624" y="3474720"/>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+35% YoY; record Q1 2026</a:t>
            </a:r>
            <a:endParaRPr lang="en-US" sz="950" dirty="0"/>
          </a:p>
        </p:txBody>
      </p:sp>
      <p:sp>
        <p:nvSpPr>
          <p:cNvPr id="39" name="Shape 37"/>
          <p:cNvSpPr/>
          <p:nvPr/>
        </p:nvSpPr>
        <p:spPr>
          <a:xfrm>
            <a:off x="9665208" y="2560320"/>
            <a:ext cx="2331720" cy="1874520"/>
          </a:xfrm>
          <a:prstGeom prst="rect">
            <a:avLst/>
          </a:prstGeom>
          <a:solidFill>
            <a:srgbClr val="0D1E38"/>
          </a:solidFill>
          <a:ln w="12700">
            <a:solidFill>
              <a:srgbClr val="0D1E38"/>
            </a:solidFill>
            <a:prstDash val="solid"/>
          </a:ln>
        </p:spPr>
      </p:sp>
      <p:sp>
        <p:nvSpPr>
          <p:cNvPr id="40" name="Shape 38"/>
          <p:cNvSpPr/>
          <p:nvPr/>
        </p:nvSpPr>
        <p:spPr>
          <a:xfrm>
            <a:off x="9665208" y="2560320"/>
            <a:ext cx="2331720" cy="54864"/>
          </a:xfrm>
          <a:prstGeom prst="rect">
            <a:avLst/>
          </a:prstGeom>
          <a:solidFill>
            <a:srgbClr val="FFB800"/>
          </a:solidFill>
          <a:ln w="12700">
            <a:solidFill>
              <a:srgbClr val="FFB800"/>
            </a:solidFill>
            <a:prstDash val="solid"/>
          </a:ln>
        </p:spPr>
      </p:sp>
      <p:sp>
        <p:nvSpPr>
          <p:cNvPr id="41" name="Text 39"/>
          <p:cNvSpPr/>
          <p:nvPr/>
        </p:nvSpPr>
        <p:spPr>
          <a:xfrm>
            <a:off x="9793224" y="2651760"/>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Q1 Net Income</a:t>
            </a:r>
            <a:endParaRPr lang="en-US" sz="1050" dirty="0"/>
          </a:p>
        </p:txBody>
      </p:sp>
      <p:sp>
        <p:nvSpPr>
          <p:cNvPr id="42" name="Text 40"/>
          <p:cNvSpPr/>
          <p:nvPr/>
        </p:nvSpPr>
        <p:spPr>
          <a:xfrm>
            <a:off x="9793224" y="2907792"/>
            <a:ext cx="2130552" cy="594360"/>
          </a:xfrm>
          <a:prstGeom prst="rect">
            <a:avLst/>
          </a:prstGeom>
          <a:noFill/>
          <a:ln/>
        </p:spPr>
        <p:txBody>
          <a:bodyPr wrap="square" rtlCol="0" anchor="ctr"/>
          <a:lstStyle/>
          <a:p>
            <a:pPr marL="0" indent="0">
              <a:buNone/>
            </a:pPr>
            <a:r>
              <a:rPr lang="en-US" sz="2600" b="1" dirty="0">
                <a:solidFill>
                  <a:srgbClr val="FFB800"/>
                </a:solidFill>
                <a:latin typeface="Calibri" pitchFamily="34" charset="0"/>
                <a:ea typeface="Calibri" pitchFamily="34" charset="-122"/>
                <a:cs typeface="Calibri" pitchFamily="34" charset="-120"/>
              </a:rPr>
              <a:t>$167M</a:t>
            </a:r>
            <a:endParaRPr lang="en-US" sz="2600" dirty="0"/>
          </a:p>
        </p:txBody>
      </p:sp>
      <p:sp>
        <p:nvSpPr>
          <p:cNvPr id="43" name="Text 41"/>
          <p:cNvSpPr/>
          <p:nvPr/>
        </p:nvSpPr>
        <p:spPr>
          <a:xfrm>
            <a:off x="9793224" y="3474720"/>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10th consec. profit qtr</a:t>
            </a:r>
            <a:endParaRPr lang="en-US" sz="950" dirty="0"/>
          </a:p>
        </p:txBody>
      </p:sp>
      <p:sp>
        <p:nvSpPr>
          <p:cNvPr id="44" name="Shape 42"/>
          <p:cNvSpPr/>
          <p:nvPr/>
        </p:nvSpPr>
        <p:spPr>
          <a:xfrm>
            <a:off x="7150608" y="4553712"/>
            <a:ext cx="2331720" cy="1874520"/>
          </a:xfrm>
          <a:prstGeom prst="rect">
            <a:avLst/>
          </a:prstGeom>
          <a:solidFill>
            <a:srgbClr val="0D1E38"/>
          </a:solidFill>
          <a:ln w="12700">
            <a:solidFill>
              <a:srgbClr val="0D1E38"/>
            </a:solidFill>
            <a:prstDash val="solid"/>
          </a:ln>
        </p:spPr>
      </p:sp>
      <p:sp>
        <p:nvSpPr>
          <p:cNvPr id="45" name="Shape 43"/>
          <p:cNvSpPr/>
          <p:nvPr/>
        </p:nvSpPr>
        <p:spPr>
          <a:xfrm>
            <a:off x="7150608" y="4553712"/>
            <a:ext cx="2331720" cy="54864"/>
          </a:xfrm>
          <a:prstGeom prst="rect">
            <a:avLst/>
          </a:prstGeom>
          <a:solidFill>
            <a:srgbClr val="0066FF"/>
          </a:solidFill>
          <a:ln w="12700">
            <a:solidFill>
              <a:srgbClr val="0066FF"/>
            </a:solidFill>
            <a:prstDash val="solid"/>
          </a:ln>
        </p:spPr>
      </p:sp>
      <p:sp>
        <p:nvSpPr>
          <p:cNvPr id="46" name="Text 44"/>
          <p:cNvSpPr/>
          <p:nvPr/>
        </p:nvSpPr>
        <p:spPr>
          <a:xfrm>
            <a:off x="7278624" y="4645152"/>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Market Cap</a:t>
            </a:r>
            <a:endParaRPr lang="en-US" sz="1050" dirty="0"/>
          </a:p>
        </p:txBody>
      </p:sp>
      <p:sp>
        <p:nvSpPr>
          <p:cNvPr id="47" name="Text 45"/>
          <p:cNvSpPr/>
          <p:nvPr/>
        </p:nvSpPr>
        <p:spPr>
          <a:xfrm>
            <a:off x="7278624" y="4901184"/>
            <a:ext cx="2130552" cy="594360"/>
          </a:xfrm>
          <a:prstGeom prst="rect">
            <a:avLst/>
          </a:prstGeom>
          <a:noFill/>
          <a:ln/>
        </p:spPr>
        <p:txBody>
          <a:bodyPr wrap="square" rtlCol="0" anchor="ctr"/>
          <a:lstStyle/>
          <a:p>
            <a:pPr marL="0" indent="0">
              <a:buNone/>
            </a:pPr>
            <a:r>
              <a:rPr lang="en-US" sz="2600" b="1" dirty="0">
                <a:solidFill>
                  <a:srgbClr val="0066FF"/>
                </a:solidFill>
                <a:latin typeface="Calibri" pitchFamily="34" charset="0"/>
                <a:ea typeface="Calibri" pitchFamily="34" charset="-122"/>
                <a:cs typeface="Calibri" pitchFamily="34" charset="-120"/>
              </a:rPr>
              <a:t>~$21B</a:t>
            </a:r>
            <a:endParaRPr lang="en-US" sz="2600" dirty="0"/>
          </a:p>
        </p:txBody>
      </p:sp>
      <p:sp>
        <p:nvSpPr>
          <p:cNvPr id="48" name="Text 46"/>
          <p:cNvSpPr/>
          <p:nvPr/>
        </p:nvSpPr>
        <p:spPr>
          <a:xfrm>
            <a:off x="7278624" y="5468112"/>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CMP ~$15.65 (May 2026)</a:t>
            </a:r>
            <a:endParaRPr lang="en-US" sz="950" dirty="0"/>
          </a:p>
        </p:txBody>
      </p:sp>
      <p:sp>
        <p:nvSpPr>
          <p:cNvPr id="49" name="Shape 47"/>
          <p:cNvSpPr/>
          <p:nvPr/>
        </p:nvSpPr>
        <p:spPr>
          <a:xfrm>
            <a:off x="9665208" y="4553712"/>
            <a:ext cx="2331720" cy="1874520"/>
          </a:xfrm>
          <a:prstGeom prst="rect">
            <a:avLst/>
          </a:prstGeom>
          <a:solidFill>
            <a:srgbClr val="0D1E38"/>
          </a:solidFill>
          <a:ln w="12700">
            <a:solidFill>
              <a:srgbClr val="0D1E38"/>
            </a:solidFill>
            <a:prstDash val="solid"/>
          </a:ln>
        </p:spPr>
      </p:sp>
      <p:sp>
        <p:nvSpPr>
          <p:cNvPr id="50" name="Shape 48"/>
          <p:cNvSpPr/>
          <p:nvPr/>
        </p:nvSpPr>
        <p:spPr>
          <a:xfrm>
            <a:off x="9665208" y="4553712"/>
            <a:ext cx="2331720" cy="54864"/>
          </a:xfrm>
          <a:prstGeom prst="rect">
            <a:avLst/>
          </a:prstGeom>
          <a:solidFill>
            <a:srgbClr val="8899BB"/>
          </a:solidFill>
          <a:ln w="12700">
            <a:solidFill>
              <a:srgbClr val="8899BB"/>
            </a:solidFill>
            <a:prstDash val="solid"/>
          </a:ln>
        </p:spPr>
      </p:sp>
      <p:sp>
        <p:nvSpPr>
          <p:cNvPr id="51" name="Text 49"/>
          <p:cNvSpPr/>
          <p:nvPr/>
        </p:nvSpPr>
        <p:spPr>
          <a:xfrm>
            <a:off x="9793224" y="4645152"/>
            <a:ext cx="2130552" cy="274320"/>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52-Wk High/Low</a:t>
            </a:r>
            <a:endParaRPr lang="en-US" sz="1050" dirty="0"/>
          </a:p>
        </p:txBody>
      </p:sp>
      <p:sp>
        <p:nvSpPr>
          <p:cNvPr id="52" name="Text 50"/>
          <p:cNvSpPr/>
          <p:nvPr/>
        </p:nvSpPr>
        <p:spPr>
          <a:xfrm>
            <a:off x="9793224" y="4901184"/>
            <a:ext cx="2130552" cy="594360"/>
          </a:xfrm>
          <a:prstGeom prst="rect">
            <a:avLst/>
          </a:prstGeom>
          <a:noFill/>
          <a:ln/>
        </p:spPr>
        <p:txBody>
          <a:bodyPr wrap="square" rtlCol="0" anchor="ctr"/>
          <a:lstStyle/>
          <a:p>
            <a:pPr marL="0" indent="0">
              <a:buNone/>
            </a:pPr>
            <a:r>
              <a:rPr lang="en-US" sz="2000" b="1" dirty="0">
                <a:solidFill>
                  <a:srgbClr val="8899BB"/>
                </a:solidFill>
                <a:latin typeface="Calibri" pitchFamily="34" charset="0"/>
                <a:ea typeface="Calibri" pitchFamily="34" charset="-122"/>
                <a:cs typeface="Calibri" pitchFamily="34" charset="-120"/>
              </a:rPr>
              <a:t>$32.73/$12.86</a:t>
            </a:r>
            <a:endParaRPr lang="en-US" sz="2000" dirty="0"/>
          </a:p>
        </p:txBody>
      </p:sp>
      <p:sp>
        <p:nvSpPr>
          <p:cNvPr id="53" name="Text 51"/>
          <p:cNvSpPr/>
          <p:nvPr/>
        </p:nvSpPr>
        <p:spPr>
          <a:xfrm>
            <a:off x="9793224" y="5468112"/>
            <a:ext cx="2130552" cy="237744"/>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~40% off highs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1: COMPANY HISTORY — FROM STUDENT LOANS TO EVERYTHING APP</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600" dirty="0">
                <a:solidFill>
                  <a:srgbClr val="002060"/>
                </a:solidFill>
                <a:latin typeface="Calibri" pitchFamily="34" charset="0"/>
                <a:ea typeface="Calibri" pitchFamily="34" charset="-122"/>
                <a:cs typeface="Calibri" pitchFamily="34" charset="-120"/>
              </a:rPr>
              <a:t>15 years of pivots, setbacks, and transformation — from niche lender to full-stack national bank</a:t>
            </a:r>
            <a:endParaRPr lang="en-US" sz="16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874520"/>
            <a:ext cx="11704320" cy="45720"/>
          </a:xfrm>
          <a:prstGeom prst="rect">
            <a:avLst/>
          </a:prstGeom>
          <a:solidFill>
            <a:srgbClr val="00C8C8"/>
          </a:solidFill>
          <a:ln w="12700">
            <a:solidFill>
              <a:srgbClr val="00C8C8"/>
            </a:solidFill>
            <a:prstDash val="solid"/>
          </a:ln>
        </p:spPr>
      </p:sp>
      <p:sp>
        <p:nvSpPr>
          <p:cNvPr id="8" name="Shape 6"/>
          <p:cNvSpPr/>
          <p:nvPr/>
        </p:nvSpPr>
        <p:spPr>
          <a:xfrm>
            <a:off x="804672" y="1719072"/>
            <a:ext cx="384048" cy="384048"/>
          </a:xfrm>
          <a:prstGeom prst="ellipse">
            <a:avLst/>
          </a:prstGeom>
          <a:solidFill>
            <a:srgbClr val="00C8C8"/>
          </a:solidFill>
          <a:ln w="12700">
            <a:solidFill>
              <a:srgbClr val="FFFFFF"/>
            </a:solidFill>
            <a:prstDash val="solid"/>
          </a:ln>
        </p:spPr>
      </p:sp>
      <p:sp>
        <p:nvSpPr>
          <p:cNvPr id="11" name="Shape 9"/>
          <p:cNvSpPr/>
          <p:nvPr/>
        </p:nvSpPr>
        <p:spPr>
          <a:xfrm>
            <a:off x="2304288" y="1719072"/>
            <a:ext cx="384048" cy="384048"/>
          </a:xfrm>
          <a:prstGeom prst="ellipse">
            <a:avLst/>
          </a:prstGeom>
          <a:solidFill>
            <a:srgbClr val="00C8C8"/>
          </a:solidFill>
          <a:ln w="12700">
            <a:solidFill>
              <a:srgbClr val="FFFFFF"/>
            </a:solidFill>
            <a:prstDash val="solid"/>
          </a:ln>
        </p:spPr>
      </p:sp>
      <p:sp>
        <p:nvSpPr>
          <p:cNvPr id="14" name="Shape 12"/>
          <p:cNvSpPr/>
          <p:nvPr/>
        </p:nvSpPr>
        <p:spPr>
          <a:xfrm>
            <a:off x="3803904" y="1719072"/>
            <a:ext cx="384048" cy="384048"/>
          </a:xfrm>
          <a:prstGeom prst="ellipse">
            <a:avLst/>
          </a:prstGeom>
          <a:solidFill>
            <a:srgbClr val="00C8C8"/>
          </a:solidFill>
          <a:ln w="12700">
            <a:solidFill>
              <a:srgbClr val="FFFFFF"/>
            </a:solidFill>
            <a:prstDash val="solid"/>
          </a:ln>
        </p:spPr>
      </p:sp>
      <p:sp>
        <p:nvSpPr>
          <p:cNvPr id="17" name="Shape 15"/>
          <p:cNvSpPr/>
          <p:nvPr/>
        </p:nvSpPr>
        <p:spPr>
          <a:xfrm>
            <a:off x="5303520" y="1719072"/>
            <a:ext cx="384048" cy="384048"/>
          </a:xfrm>
          <a:prstGeom prst="ellipse">
            <a:avLst/>
          </a:prstGeom>
          <a:solidFill>
            <a:srgbClr val="00C8C8"/>
          </a:solidFill>
          <a:ln w="12700">
            <a:solidFill>
              <a:srgbClr val="FFFFFF"/>
            </a:solidFill>
            <a:prstDash val="solid"/>
          </a:ln>
        </p:spPr>
      </p:sp>
      <p:sp>
        <p:nvSpPr>
          <p:cNvPr id="20" name="Shape 18"/>
          <p:cNvSpPr/>
          <p:nvPr/>
        </p:nvSpPr>
        <p:spPr>
          <a:xfrm>
            <a:off x="6803136" y="1719072"/>
            <a:ext cx="384048" cy="384048"/>
          </a:xfrm>
          <a:prstGeom prst="ellipse">
            <a:avLst/>
          </a:prstGeom>
          <a:solidFill>
            <a:srgbClr val="00C8C8"/>
          </a:solidFill>
          <a:ln w="12700">
            <a:solidFill>
              <a:srgbClr val="FFFFFF"/>
            </a:solidFill>
            <a:prstDash val="solid"/>
          </a:ln>
        </p:spPr>
      </p:sp>
      <p:sp>
        <p:nvSpPr>
          <p:cNvPr id="23" name="Shape 21"/>
          <p:cNvSpPr/>
          <p:nvPr/>
        </p:nvSpPr>
        <p:spPr>
          <a:xfrm>
            <a:off x="8302752" y="1719072"/>
            <a:ext cx="384048" cy="384048"/>
          </a:xfrm>
          <a:prstGeom prst="ellipse">
            <a:avLst/>
          </a:prstGeom>
          <a:solidFill>
            <a:srgbClr val="FFB800"/>
          </a:solidFill>
          <a:ln w="12700">
            <a:solidFill>
              <a:srgbClr val="FFFFFF"/>
            </a:solidFill>
            <a:prstDash val="solid"/>
          </a:ln>
        </p:spPr>
      </p:sp>
      <p:sp>
        <p:nvSpPr>
          <p:cNvPr id="26" name="Shape 24"/>
          <p:cNvSpPr/>
          <p:nvPr/>
        </p:nvSpPr>
        <p:spPr>
          <a:xfrm>
            <a:off x="9802368" y="1719072"/>
            <a:ext cx="384048" cy="384048"/>
          </a:xfrm>
          <a:prstGeom prst="ellipse">
            <a:avLst/>
          </a:prstGeom>
          <a:solidFill>
            <a:srgbClr val="FFB800"/>
          </a:solidFill>
          <a:ln w="12700">
            <a:solidFill>
              <a:srgbClr val="FFFFFF"/>
            </a:solidFill>
            <a:prstDash val="solid"/>
          </a:ln>
        </p:spPr>
      </p:sp>
      <p:sp>
        <p:nvSpPr>
          <p:cNvPr id="29" name="Shape 27"/>
          <p:cNvSpPr/>
          <p:nvPr/>
        </p:nvSpPr>
        <p:spPr>
          <a:xfrm>
            <a:off x="11301984" y="1719072"/>
            <a:ext cx="384048" cy="384048"/>
          </a:xfrm>
          <a:prstGeom prst="ellipse">
            <a:avLst/>
          </a:prstGeom>
          <a:solidFill>
            <a:srgbClr val="FFB800"/>
          </a:solidFill>
          <a:ln w="12700">
            <a:solidFill>
              <a:srgbClr val="FFFFFF"/>
            </a:solidFill>
            <a:prstDash val="solid"/>
          </a:ln>
        </p:spPr>
      </p:sp>
      <p:grpSp>
        <p:nvGrpSpPr>
          <p:cNvPr id="60" name="Group 59">
            <a:extLst>
              <a:ext uri="{FF2B5EF4-FFF2-40B4-BE49-F238E27FC236}">
                <a16:creationId xmlns:a16="http://schemas.microsoft.com/office/drawing/2014/main" id="{C120140E-879B-722C-4D68-7364A429F443}"/>
              </a:ext>
            </a:extLst>
          </p:cNvPr>
          <p:cNvGrpSpPr/>
          <p:nvPr/>
        </p:nvGrpSpPr>
        <p:grpSpPr>
          <a:xfrm>
            <a:off x="72551" y="1011375"/>
            <a:ext cx="12117001" cy="1868985"/>
            <a:chOff x="134273" y="997659"/>
            <a:chExt cx="12117001" cy="1868985"/>
          </a:xfrm>
        </p:grpSpPr>
        <p:sp>
          <p:nvSpPr>
            <p:cNvPr id="9" name="Text 7"/>
            <p:cNvSpPr/>
            <p:nvPr/>
          </p:nvSpPr>
          <p:spPr>
            <a:xfrm>
              <a:off x="343141" y="1060704"/>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2011</a:t>
              </a:r>
              <a:endParaRPr lang="en-US" sz="1200" dirty="0"/>
            </a:p>
          </p:txBody>
        </p:sp>
        <p:sp>
          <p:nvSpPr>
            <p:cNvPr id="10" name="Text 8"/>
            <p:cNvSpPr/>
            <p:nvPr/>
          </p:nvSpPr>
          <p:spPr>
            <a:xfrm>
              <a:off x="134273" y="1232274"/>
              <a:ext cx="2005423"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Mike Cagney founds SoFi at Stanford GSB — peer-to-peer student loan refinancing platform</a:t>
              </a:r>
              <a:endParaRPr lang="en-US" sz="880" dirty="0"/>
            </a:p>
          </p:txBody>
        </p:sp>
        <p:sp>
          <p:nvSpPr>
            <p:cNvPr id="12" name="Text 10"/>
            <p:cNvSpPr/>
            <p:nvPr/>
          </p:nvSpPr>
          <p:spPr>
            <a:xfrm>
              <a:off x="1787652" y="2116836"/>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2018</a:t>
              </a:r>
              <a:endParaRPr lang="en-US" sz="1200" dirty="0"/>
            </a:p>
          </p:txBody>
        </p:sp>
        <p:sp>
          <p:nvSpPr>
            <p:cNvPr id="13" name="Text 11"/>
            <p:cNvSpPr/>
            <p:nvPr/>
          </p:nvSpPr>
          <p:spPr>
            <a:xfrm>
              <a:off x="1471702" y="2354099"/>
              <a:ext cx="2049219"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Anthony Noto (Goldman CFO / Twitter COO) becomes CEO — 'one-stop shop' pivot begins</a:t>
              </a:r>
              <a:endParaRPr lang="en-US" sz="880" dirty="0"/>
            </a:p>
          </p:txBody>
        </p:sp>
        <p:sp>
          <p:nvSpPr>
            <p:cNvPr id="15" name="Text 13"/>
            <p:cNvSpPr/>
            <p:nvPr/>
          </p:nvSpPr>
          <p:spPr>
            <a:xfrm>
              <a:off x="3250692" y="1092708"/>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2020</a:t>
              </a:r>
              <a:endParaRPr lang="en-US" sz="1200" dirty="0"/>
            </a:p>
          </p:txBody>
        </p:sp>
        <p:sp>
          <p:nvSpPr>
            <p:cNvPr id="16" name="Text 14"/>
            <p:cNvSpPr/>
            <p:nvPr/>
          </p:nvSpPr>
          <p:spPr>
            <a:xfrm>
              <a:off x="2882646" y="1271016"/>
              <a:ext cx="2336292"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Student loan moratorium hits revenue hard — forces diversification into personal loans, banking, investing</a:t>
              </a:r>
              <a:endParaRPr lang="en-US" sz="880" dirty="0"/>
            </a:p>
          </p:txBody>
        </p:sp>
        <p:sp>
          <p:nvSpPr>
            <p:cNvPr id="18" name="Text 16"/>
            <p:cNvSpPr/>
            <p:nvPr/>
          </p:nvSpPr>
          <p:spPr>
            <a:xfrm>
              <a:off x="4786884" y="2116836"/>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2021</a:t>
              </a:r>
              <a:endParaRPr lang="en-US" sz="1200" dirty="0"/>
            </a:p>
          </p:txBody>
        </p:sp>
        <p:sp>
          <p:nvSpPr>
            <p:cNvPr id="19" name="Text 17"/>
            <p:cNvSpPr/>
            <p:nvPr/>
          </p:nvSpPr>
          <p:spPr>
            <a:xfrm>
              <a:off x="4399226" y="2363724"/>
              <a:ext cx="2192635"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SPAC merger with Chamath Palihapitiya; $1.2B Galileo acquisition — B2B fintech infrastructure arm</a:t>
              </a:r>
              <a:endParaRPr lang="en-US" sz="880" dirty="0"/>
            </a:p>
          </p:txBody>
        </p:sp>
        <p:sp>
          <p:nvSpPr>
            <p:cNvPr id="21" name="Text 19"/>
            <p:cNvSpPr/>
            <p:nvPr/>
          </p:nvSpPr>
          <p:spPr>
            <a:xfrm>
              <a:off x="6249924" y="1051560"/>
              <a:ext cx="1417320" cy="274320"/>
            </a:xfrm>
            <a:prstGeom prst="rect">
              <a:avLst/>
            </a:prstGeom>
            <a:noFill/>
            <a:ln/>
          </p:spPr>
          <p:txBody>
            <a:bodyPr wrap="square" rtlCol="0" anchor="ctr"/>
            <a:lstStyle/>
            <a:p>
              <a:pPr marL="0" indent="0" algn="ctr">
                <a:buNone/>
              </a:pPr>
              <a:r>
                <a:rPr lang="en-US" sz="1200" b="1" dirty="0">
                  <a:solidFill>
                    <a:srgbClr val="00C8C8"/>
                  </a:solidFill>
                  <a:latin typeface="Calibri" pitchFamily="34" charset="0"/>
                  <a:ea typeface="Calibri" pitchFamily="34" charset="-122"/>
                  <a:cs typeface="Calibri" pitchFamily="34" charset="-120"/>
                </a:rPr>
                <a:t>2022</a:t>
              </a:r>
              <a:endParaRPr lang="en-US" sz="1200" dirty="0"/>
            </a:p>
          </p:txBody>
        </p:sp>
        <p:sp>
          <p:nvSpPr>
            <p:cNvPr id="22" name="Text 20"/>
            <p:cNvSpPr/>
            <p:nvPr/>
          </p:nvSpPr>
          <p:spPr>
            <a:xfrm>
              <a:off x="5677943" y="1213626"/>
              <a:ext cx="2706624"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National Bank Charter acquired (Golden Pacific Bancorp) — game-changer: direct deposit funding replaces expensive warehouse lines</a:t>
              </a:r>
              <a:endParaRPr lang="en-US" sz="880" dirty="0"/>
            </a:p>
          </p:txBody>
        </p:sp>
        <p:sp>
          <p:nvSpPr>
            <p:cNvPr id="24" name="Text 22"/>
            <p:cNvSpPr/>
            <p:nvPr/>
          </p:nvSpPr>
          <p:spPr>
            <a:xfrm>
              <a:off x="7810419" y="2116836"/>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2023</a:t>
              </a:r>
              <a:endParaRPr lang="en-US" sz="1200" dirty="0"/>
            </a:p>
          </p:txBody>
        </p:sp>
        <p:sp>
          <p:nvSpPr>
            <p:cNvPr id="25" name="Text 23"/>
            <p:cNvSpPr/>
            <p:nvPr/>
          </p:nvSpPr>
          <p:spPr>
            <a:xfrm>
              <a:off x="7470166" y="2312469"/>
              <a:ext cx="2192635"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Technisys acquisition; SoFi Bank deposits surge; first steps to GAAP profitability</a:t>
              </a:r>
              <a:endParaRPr lang="en-US" sz="880" dirty="0"/>
            </a:p>
          </p:txBody>
        </p:sp>
        <p:sp>
          <p:nvSpPr>
            <p:cNvPr id="27" name="Text 25"/>
            <p:cNvSpPr/>
            <p:nvPr/>
          </p:nvSpPr>
          <p:spPr>
            <a:xfrm>
              <a:off x="9329166" y="997659"/>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2025</a:t>
              </a:r>
              <a:endParaRPr lang="en-US" sz="1200" dirty="0"/>
            </a:p>
          </p:txBody>
        </p:sp>
        <p:sp>
          <p:nvSpPr>
            <p:cNvPr id="28" name="Text 26"/>
            <p:cNvSpPr/>
            <p:nvPr/>
          </p:nvSpPr>
          <p:spPr>
            <a:xfrm>
              <a:off x="9058274" y="1156716"/>
              <a:ext cx="1816409"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GAAP profitable for full year; $3.7B+ revenue; 'Rule of 40' for 18 quarters; Q4 first $1B quarter</a:t>
              </a:r>
              <a:endParaRPr lang="en-US" sz="880" dirty="0"/>
            </a:p>
          </p:txBody>
        </p:sp>
        <p:sp>
          <p:nvSpPr>
            <p:cNvPr id="30" name="Text 28"/>
            <p:cNvSpPr/>
            <p:nvPr/>
          </p:nvSpPr>
          <p:spPr>
            <a:xfrm>
              <a:off x="10833954" y="2116836"/>
              <a:ext cx="1417320" cy="274320"/>
            </a:xfrm>
            <a:prstGeom prst="rect">
              <a:avLst/>
            </a:prstGeom>
            <a:noFill/>
            <a:ln/>
          </p:spPr>
          <p:txBody>
            <a:bodyPr wrap="square" rtlCol="0" anchor="ctr"/>
            <a:lstStyle/>
            <a:p>
              <a:pPr marL="0" indent="0" algn="ctr">
                <a:buNone/>
              </a:pPr>
              <a:r>
                <a:rPr lang="en-US" sz="1200" b="1" dirty="0">
                  <a:solidFill>
                    <a:srgbClr val="FFB800"/>
                  </a:solidFill>
                  <a:latin typeface="Calibri" pitchFamily="34" charset="0"/>
                  <a:ea typeface="Calibri" pitchFamily="34" charset="-122"/>
                  <a:cs typeface="Calibri" pitchFamily="34" charset="-120"/>
                </a:rPr>
                <a:t>2026</a:t>
              </a:r>
              <a:endParaRPr lang="en-US" sz="1200" dirty="0"/>
            </a:p>
          </p:txBody>
        </p:sp>
        <p:sp>
          <p:nvSpPr>
            <p:cNvPr id="31" name="Text 29"/>
            <p:cNvSpPr/>
            <p:nvPr/>
          </p:nvSpPr>
          <p:spPr>
            <a:xfrm>
              <a:off x="10398892" y="2363724"/>
              <a:ext cx="1796797" cy="502920"/>
            </a:xfrm>
            <a:prstGeom prst="rect">
              <a:avLst/>
            </a:prstGeom>
            <a:noFill/>
            <a:ln/>
          </p:spPr>
          <p:txBody>
            <a:bodyPr wrap="square" rtlCol="0" anchor="ctr"/>
            <a:lstStyle/>
            <a:p>
              <a:pPr marL="0" indent="0" algn="ctr">
                <a:buNone/>
              </a:pPr>
              <a:r>
                <a:rPr lang="en-US" sz="880" dirty="0">
                  <a:latin typeface="Calibri" pitchFamily="34" charset="0"/>
                  <a:ea typeface="Calibri" pitchFamily="34" charset="-122"/>
                  <a:cs typeface="Calibri" pitchFamily="34" charset="-120"/>
                </a:rPr>
                <a:t>$1.1B Q1; 14.7M members; Muddy Waters short attack; FY guide $4.655B; digital assets + Big Business Banking launch</a:t>
              </a:r>
              <a:endParaRPr lang="en-US" sz="880" dirty="0"/>
            </a:p>
          </p:txBody>
        </p:sp>
      </p:grpSp>
      <p:sp>
        <p:nvSpPr>
          <p:cNvPr id="32" name="Text 30"/>
          <p:cNvSpPr/>
          <p:nvPr/>
        </p:nvSpPr>
        <p:spPr>
          <a:xfrm>
            <a:off x="256032" y="2935224"/>
            <a:ext cx="11612880" cy="292608"/>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What SoFi Has Built — Three Structural Advantages That Define the Moat</a:t>
            </a:r>
            <a:endParaRPr lang="en-US" sz="1300" dirty="0"/>
          </a:p>
        </p:txBody>
      </p:sp>
      <p:sp>
        <p:nvSpPr>
          <p:cNvPr id="33" name="Shape 31"/>
          <p:cNvSpPr/>
          <p:nvPr/>
        </p:nvSpPr>
        <p:spPr>
          <a:xfrm>
            <a:off x="256032" y="3493008"/>
            <a:ext cx="3794760" cy="3017520"/>
          </a:xfrm>
          <a:prstGeom prst="rect">
            <a:avLst/>
          </a:prstGeom>
          <a:solidFill>
            <a:srgbClr val="0F2040"/>
          </a:solidFill>
          <a:ln w="12700">
            <a:solidFill>
              <a:srgbClr val="0F2040"/>
            </a:solidFill>
            <a:prstDash val="solid"/>
          </a:ln>
        </p:spPr>
      </p:sp>
      <p:sp>
        <p:nvSpPr>
          <p:cNvPr id="34" name="Shape 32"/>
          <p:cNvSpPr/>
          <p:nvPr/>
        </p:nvSpPr>
        <p:spPr>
          <a:xfrm>
            <a:off x="256032" y="3493008"/>
            <a:ext cx="64008" cy="3017520"/>
          </a:xfrm>
          <a:prstGeom prst="rect">
            <a:avLst/>
          </a:prstGeom>
          <a:solidFill>
            <a:srgbClr val="00C8C8"/>
          </a:solidFill>
          <a:ln w="12700">
            <a:solidFill>
              <a:srgbClr val="00C8C8"/>
            </a:solidFill>
            <a:prstDash val="solid"/>
          </a:ln>
        </p:spPr>
      </p:sp>
      <p:sp>
        <p:nvSpPr>
          <p:cNvPr id="35" name="Text 33"/>
          <p:cNvSpPr/>
          <p:nvPr/>
        </p:nvSpPr>
        <p:spPr>
          <a:xfrm>
            <a:off x="438912" y="3602736"/>
            <a:ext cx="3520440" cy="347472"/>
          </a:xfrm>
          <a:prstGeom prst="rect">
            <a:avLst/>
          </a:prstGeom>
          <a:noFill/>
          <a:ln/>
        </p:spPr>
        <p:txBody>
          <a:bodyPr wrap="square" rtlCol="0" anchor="ctr"/>
          <a:lstStyle/>
          <a:p>
            <a:pPr marL="0" indent="0">
              <a:buNone/>
            </a:pPr>
            <a:r>
              <a:rPr lang="en-US" sz="1600" b="1" dirty="0">
                <a:solidFill>
                  <a:srgbClr val="00C8C8"/>
                </a:solidFill>
                <a:latin typeface="Calibri" pitchFamily="34" charset="0"/>
                <a:ea typeface="Calibri" pitchFamily="34" charset="-122"/>
                <a:cs typeface="Calibri" pitchFamily="34" charset="-120"/>
              </a:rPr>
              <a:t>National Bank Charter (2022)</a:t>
            </a:r>
            <a:endParaRPr lang="en-US" sz="1600" dirty="0"/>
          </a:p>
        </p:txBody>
      </p:sp>
      <p:grpSp>
        <p:nvGrpSpPr>
          <p:cNvPr id="57" name="Group 56">
            <a:extLst>
              <a:ext uri="{FF2B5EF4-FFF2-40B4-BE49-F238E27FC236}">
                <a16:creationId xmlns:a16="http://schemas.microsoft.com/office/drawing/2014/main" id="{6962629A-47A2-9D55-C5E4-8F27C68DF1D5}"/>
              </a:ext>
            </a:extLst>
          </p:cNvPr>
          <p:cNvGrpSpPr/>
          <p:nvPr/>
        </p:nvGrpSpPr>
        <p:grpSpPr>
          <a:xfrm>
            <a:off x="438912" y="4023360"/>
            <a:ext cx="3520440" cy="2267712"/>
            <a:chOff x="438912" y="4023360"/>
            <a:chExt cx="3520440" cy="2267712"/>
          </a:xfrm>
        </p:grpSpPr>
        <p:sp>
          <p:nvSpPr>
            <p:cNvPr id="36" name="Text 34"/>
            <p:cNvSpPr/>
            <p:nvPr/>
          </p:nvSpPr>
          <p:spPr>
            <a:xfrm>
              <a:off x="438912" y="40233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Direct deposit funding: 5.94% NIM vs 2-3% pre-charter</a:t>
              </a:r>
              <a:endParaRPr lang="en-US" sz="1200" dirty="0"/>
            </a:p>
          </p:txBody>
        </p:sp>
        <p:sp>
          <p:nvSpPr>
            <p:cNvPr id="37" name="Text 35"/>
            <p:cNvSpPr/>
            <p:nvPr/>
          </p:nvSpPr>
          <p:spPr>
            <a:xfrm>
              <a:off x="438912" y="44805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$40.2B in deposits at Q1 2026 — no more warehouse borrowing</a:t>
              </a:r>
              <a:endParaRPr lang="en-US" sz="1200" dirty="0"/>
            </a:p>
          </p:txBody>
        </p:sp>
        <p:sp>
          <p:nvSpPr>
            <p:cNvPr id="38" name="Text 36"/>
            <p:cNvSpPr/>
            <p:nvPr/>
          </p:nvSpPr>
          <p:spPr>
            <a:xfrm>
              <a:off x="438912" y="49377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Deposit cost ~1.2%; savings accounts at 3.8% APY attract members</a:t>
              </a:r>
              <a:endParaRPr lang="en-US" sz="1200" dirty="0"/>
            </a:p>
          </p:txBody>
        </p:sp>
        <p:sp>
          <p:nvSpPr>
            <p:cNvPr id="39" name="Text 37"/>
            <p:cNvSpPr/>
            <p:nvPr/>
          </p:nvSpPr>
          <p:spPr>
            <a:xfrm>
              <a:off x="438912" y="53949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FDIC insured: institutional trust level</a:t>
              </a:r>
              <a:endParaRPr lang="en-US" sz="1200" dirty="0"/>
            </a:p>
          </p:txBody>
        </p:sp>
        <p:sp>
          <p:nvSpPr>
            <p:cNvPr id="40" name="Text 38"/>
            <p:cNvSpPr/>
            <p:nvPr/>
          </p:nvSpPr>
          <p:spPr>
            <a:xfrm>
              <a:off x="438912" y="58521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Regulatory moat: replicate requires 12–24 months minimum</a:t>
              </a:r>
              <a:endParaRPr lang="en-US" sz="1200" dirty="0"/>
            </a:p>
          </p:txBody>
        </p:sp>
      </p:grpSp>
      <p:sp>
        <p:nvSpPr>
          <p:cNvPr id="41" name="Shape 39"/>
          <p:cNvSpPr/>
          <p:nvPr/>
        </p:nvSpPr>
        <p:spPr>
          <a:xfrm>
            <a:off x="4233672" y="3493008"/>
            <a:ext cx="3794760" cy="3017520"/>
          </a:xfrm>
          <a:prstGeom prst="rect">
            <a:avLst/>
          </a:prstGeom>
          <a:solidFill>
            <a:srgbClr val="0F2040"/>
          </a:solidFill>
          <a:ln w="12700">
            <a:solidFill>
              <a:srgbClr val="0F2040"/>
            </a:solidFill>
            <a:prstDash val="solid"/>
          </a:ln>
        </p:spPr>
      </p:sp>
      <p:sp>
        <p:nvSpPr>
          <p:cNvPr id="42" name="Shape 40"/>
          <p:cNvSpPr/>
          <p:nvPr/>
        </p:nvSpPr>
        <p:spPr>
          <a:xfrm>
            <a:off x="4233672" y="3493008"/>
            <a:ext cx="64008" cy="3017520"/>
          </a:xfrm>
          <a:prstGeom prst="rect">
            <a:avLst/>
          </a:prstGeom>
          <a:solidFill>
            <a:srgbClr val="FFB800"/>
          </a:solidFill>
          <a:ln w="12700">
            <a:solidFill>
              <a:srgbClr val="FFB800"/>
            </a:solidFill>
            <a:prstDash val="solid"/>
          </a:ln>
        </p:spPr>
      </p:sp>
      <p:sp>
        <p:nvSpPr>
          <p:cNvPr id="43" name="Text 41"/>
          <p:cNvSpPr/>
          <p:nvPr/>
        </p:nvSpPr>
        <p:spPr>
          <a:xfrm>
            <a:off x="4416552" y="3596961"/>
            <a:ext cx="3520440" cy="347472"/>
          </a:xfrm>
          <a:prstGeom prst="rect">
            <a:avLst/>
          </a:prstGeom>
          <a:noFill/>
          <a:ln/>
        </p:spPr>
        <p:txBody>
          <a:bodyPr wrap="square" rtlCol="0" anchor="ctr"/>
          <a:lstStyle/>
          <a:p>
            <a:pPr marL="0" indent="0">
              <a:buNone/>
            </a:pPr>
            <a:r>
              <a:rPr lang="en-US" sz="1600" b="1" dirty="0">
                <a:solidFill>
                  <a:srgbClr val="FFB800"/>
                </a:solidFill>
                <a:latin typeface="Calibri" pitchFamily="34" charset="0"/>
                <a:ea typeface="Calibri" pitchFamily="34" charset="-122"/>
                <a:cs typeface="Calibri" pitchFamily="34" charset="-120"/>
              </a:rPr>
              <a:t>Financial Services Productivity Loop</a:t>
            </a:r>
            <a:endParaRPr lang="en-US" sz="1600" dirty="0"/>
          </a:p>
        </p:txBody>
      </p:sp>
      <p:grpSp>
        <p:nvGrpSpPr>
          <p:cNvPr id="58" name="Group 57">
            <a:extLst>
              <a:ext uri="{FF2B5EF4-FFF2-40B4-BE49-F238E27FC236}">
                <a16:creationId xmlns:a16="http://schemas.microsoft.com/office/drawing/2014/main" id="{FF34A6A7-B0AD-2EDE-EB40-708196B2A447}"/>
              </a:ext>
            </a:extLst>
          </p:cNvPr>
          <p:cNvGrpSpPr/>
          <p:nvPr/>
        </p:nvGrpSpPr>
        <p:grpSpPr>
          <a:xfrm>
            <a:off x="4416552" y="4023360"/>
            <a:ext cx="3520440" cy="2267712"/>
            <a:chOff x="4416552" y="4023360"/>
            <a:chExt cx="3520440" cy="2267712"/>
          </a:xfrm>
        </p:grpSpPr>
        <p:sp>
          <p:nvSpPr>
            <p:cNvPr id="44" name="Text 42"/>
            <p:cNvSpPr/>
            <p:nvPr/>
          </p:nvSpPr>
          <p:spPr>
            <a:xfrm>
              <a:off x="4416552" y="40233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Members acquire via one product; cross-buy drives economics</a:t>
              </a:r>
              <a:endParaRPr lang="en-US" sz="1200" dirty="0"/>
            </a:p>
          </p:txBody>
        </p:sp>
        <p:sp>
          <p:nvSpPr>
            <p:cNvPr id="45" name="Text 43"/>
            <p:cNvSpPr/>
            <p:nvPr/>
          </p:nvSpPr>
          <p:spPr>
            <a:xfrm>
              <a:off x="4416552" y="44805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43% of new products in Q1 opened by existing members</a:t>
              </a:r>
              <a:endParaRPr lang="en-US" sz="1200" dirty="0"/>
            </a:p>
          </p:txBody>
        </p:sp>
        <p:sp>
          <p:nvSpPr>
            <p:cNvPr id="46" name="Text 44"/>
            <p:cNvSpPr/>
            <p:nvPr/>
          </p:nvSpPr>
          <p:spPr>
            <a:xfrm>
              <a:off x="4416552" y="49377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Products per member growing: avg 1.5 → targeting 2.5+</a:t>
              </a:r>
              <a:endParaRPr lang="en-US" sz="1200" dirty="0"/>
            </a:p>
          </p:txBody>
        </p:sp>
        <p:sp>
          <p:nvSpPr>
            <p:cNvPr id="47" name="Text 45"/>
            <p:cNvSpPr/>
            <p:nvPr/>
          </p:nvSpPr>
          <p:spPr>
            <a:xfrm>
              <a:off x="4416552" y="53949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Lifetime value compounds with each added product</a:t>
              </a:r>
              <a:endParaRPr lang="en-US" sz="1200" dirty="0"/>
            </a:p>
          </p:txBody>
        </p:sp>
        <p:sp>
          <p:nvSpPr>
            <p:cNvPr id="48" name="Text 46"/>
            <p:cNvSpPr/>
            <p:nvPr/>
          </p:nvSpPr>
          <p:spPr>
            <a:xfrm>
              <a:off x="4416552" y="58521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Fee revenue &gt;40% of total — reduces lending cycle dependence</a:t>
              </a:r>
              <a:endParaRPr lang="en-US" sz="1200" dirty="0"/>
            </a:p>
          </p:txBody>
        </p:sp>
      </p:grpSp>
      <p:sp>
        <p:nvSpPr>
          <p:cNvPr id="49" name="Shape 47"/>
          <p:cNvSpPr/>
          <p:nvPr/>
        </p:nvSpPr>
        <p:spPr>
          <a:xfrm>
            <a:off x="8211312" y="3493008"/>
            <a:ext cx="3794760" cy="3017520"/>
          </a:xfrm>
          <a:prstGeom prst="rect">
            <a:avLst/>
          </a:prstGeom>
          <a:solidFill>
            <a:srgbClr val="0F2040"/>
          </a:solidFill>
          <a:ln w="12700">
            <a:solidFill>
              <a:srgbClr val="0F2040"/>
            </a:solidFill>
            <a:prstDash val="solid"/>
          </a:ln>
        </p:spPr>
      </p:sp>
      <p:sp>
        <p:nvSpPr>
          <p:cNvPr id="50" name="Shape 48"/>
          <p:cNvSpPr/>
          <p:nvPr/>
        </p:nvSpPr>
        <p:spPr>
          <a:xfrm>
            <a:off x="8211312" y="3493008"/>
            <a:ext cx="64008" cy="3017520"/>
          </a:xfrm>
          <a:prstGeom prst="rect">
            <a:avLst/>
          </a:prstGeom>
          <a:solidFill>
            <a:srgbClr val="0066FF"/>
          </a:solidFill>
          <a:ln w="12700">
            <a:solidFill>
              <a:srgbClr val="0066FF"/>
            </a:solidFill>
            <a:prstDash val="solid"/>
          </a:ln>
        </p:spPr>
      </p:sp>
      <p:sp>
        <p:nvSpPr>
          <p:cNvPr id="51" name="Text 49"/>
          <p:cNvSpPr/>
          <p:nvPr/>
        </p:nvSpPr>
        <p:spPr>
          <a:xfrm>
            <a:off x="8426196" y="3584448"/>
            <a:ext cx="3520440" cy="347472"/>
          </a:xfrm>
          <a:prstGeom prst="rect">
            <a:avLst/>
          </a:prstGeom>
          <a:noFill/>
          <a:ln/>
        </p:spPr>
        <p:txBody>
          <a:bodyPr wrap="square" rtlCol="0" anchor="ctr"/>
          <a:lstStyle/>
          <a:p>
            <a:pPr marL="0" indent="0">
              <a:buNone/>
            </a:pPr>
            <a:r>
              <a:rPr lang="en-US" sz="1600" b="1" dirty="0">
                <a:solidFill>
                  <a:srgbClr val="0066FF"/>
                </a:solidFill>
                <a:latin typeface="Calibri" pitchFamily="34" charset="0"/>
                <a:ea typeface="Calibri" pitchFamily="34" charset="-122"/>
                <a:cs typeface="Calibri" pitchFamily="34" charset="-120"/>
              </a:rPr>
              <a:t>Galileo + Technisys: B2B Infrastructure</a:t>
            </a:r>
            <a:endParaRPr lang="en-US" sz="1600" dirty="0"/>
          </a:p>
        </p:txBody>
      </p:sp>
      <p:grpSp>
        <p:nvGrpSpPr>
          <p:cNvPr id="59" name="Group 58">
            <a:extLst>
              <a:ext uri="{FF2B5EF4-FFF2-40B4-BE49-F238E27FC236}">
                <a16:creationId xmlns:a16="http://schemas.microsoft.com/office/drawing/2014/main" id="{7FDAD6F8-C05B-B06A-1C5A-D9804304AFB0}"/>
              </a:ext>
            </a:extLst>
          </p:cNvPr>
          <p:cNvGrpSpPr/>
          <p:nvPr/>
        </p:nvGrpSpPr>
        <p:grpSpPr>
          <a:xfrm>
            <a:off x="8394192" y="4023360"/>
            <a:ext cx="3520440" cy="2267712"/>
            <a:chOff x="8394192" y="4023360"/>
            <a:chExt cx="3520440" cy="2267712"/>
          </a:xfrm>
        </p:grpSpPr>
        <p:sp>
          <p:nvSpPr>
            <p:cNvPr id="52" name="Text 50"/>
            <p:cNvSpPr/>
            <p:nvPr/>
          </p:nvSpPr>
          <p:spPr>
            <a:xfrm>
              <a:off x="8394192" y="40233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Galileo: 128.5M enabled accounts for 3rd-party fintechs/banks</a:t>
              </a:r>
              <a:endParaRPr lang="en-US" sz="1200" dirty="0"/>
            </a:p>
          </p:txBody>
        </p:sp>
        <p:sp>
          <p:nvSpPr>
            <p:cNvPr id="53" name="Text 51"/>
            <p:cNvSpPr/>
            <p:nvPr/>
          </p:nvSpPr>
          <p:spPr>
            <a:xfrm>
              <a:off x="8394192" y="44805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Technisys Cyberbank Core: cloud-native banking for legacy banks</a:t>
              </a:r>
              <a:endParaRPr lang="en-US" sz="1200" dirty="0"/>
            </a:p>
          </p:txBody>
        </p:sp>
        <p:sp>
          <p:nvSpPr>
            <p:cNvPr id="54" name="Text 52"/>
            <p:cNvSpPr/>
            <p:nvPr/>
          </p:nvSpPr>
          <p:spPr>
            <a:xfrm>
              <a:off x="8394192" y="49377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Cyberbank Konecta AI: 65% faster response; chat abandonment halved</a:t>
              </a:r>
              <a:endParaRPr lang="en-US" sz="1200" dirty="0"/>
            </a:p>
          </p:txBody>
        </p:sp>
        <p:sp>
          <p:nvSpPr>
            <p:cNvPr id="55" name="Text 53"/>
            <p:cNvSpPr/>
            <p:nvPr/>
          </p:nvSpPr>
          <p:spPr>
            <a:xfrm>
              <a:off x="8394192" y="53949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Banco Nación (Argentina): 25% organic client growth post-implementation</a:t>
              </a:r>
              <a:endParaRPr lang="en-US" sz="1200" dirty="0"/>
            </a:p>
          </p:txBody>
        </p:sp>
        <p:sp>
          <p:nvSpPr>
            <p:cNvPr id="56" name="Text 54"/>
            <p:cNvSpPr/>
            <p:nvPr/>
          </p:nvSpPr>
          <p:spPr>
            <a:xfrm>
              <a:off x="8394192" y="5852160"/>
              <a:ext cx="3520440" cy="438912"/>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High-margin recurring B2B revenue; 'AWS of Fintech' ambition</a:t>
              </a:r>
              <a:endParaRPr lang="en-US" sz="12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2: BUSINESS MODEL — THREE-SEGMENT FINANCIAL PLATFORM</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600" dirty="0">
                <a:solidFill>
                  <a:srgbClr val="002060"/>
                </a:solidFill>
                <a:latin typeface="Calibri" pitchFamily="34" charset="0"/>
                <a:ea typeface="Calibri" pitchFamily="34" charset="-122"/>
                <a:cs typeface="Calibri" pitchFamily="34" charset="-120"/>
              </a:rPr>
              <a:t>Lending + Financial Services + Technology Platform — the 'Financial Services Productivity Loop'</a:t>
            </a:r>
            <a:endParaRPr lang="en-US" sz="16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53" name="Group 52">
            <a:extLst>
              <a:ext uri="{FF2B5EF4-FFF2-40B4-BE49-F238E27FC236}">
                <a16:creationId xmlns:a16="http://schemas.microsoft.com/office/drawing/2014/main" id="{5C0E7199-C520-5D9F-E3BE-7B27F5C262DF}"/>
              </a:ext>
            </a:extLst>
          </p:cNvPr>
          <p:cNvGrpSpPr/>
          <p:nvPr/>
        </p:nvGrpSpPr>
        <p:grpSpPr>
          <a:xfrm>
            <a:off x="219456" y="1180539"/>
            <a:ext cx="11740896" cy="594360"/>
            <a:chOff x="219456" y="1180539"/>
            <a:chExt cx="11740896" cy="594360"/>
          </a:xfrm>
        </p:grpSpPr>
        <p:sp>
          <p:nvSpPr>
            <p:cNvPr id="7" name="Shape 5"/>
            <p:cNvSpPr/>
            <p:nvPr/>
          </p:nvSpPr>
          <p:spPr>
            <a:xfrm>
              <a:off x="219456" y="1180539"/>
              <a:ext cx="3785616" cy="594360"/>
            </a:xfrm>
            <a:prstGeom prst="rect">
              <a:avLst/>
            </a:prstGeom>
            <a:solidFill>
              <a:srgbClr val="222240"/>
            </a:solidFill>
            <a:ln w="12700">
              <a:solidFill>
                <a:srgbClr val="222240"/>
              </a:solidFill>
              <a:prstDash val="solid"/>
            </a:ln>
          </p:spPr>
        </p:sp>
        <p:sp>
          <p:nvSpPr>
            <p:cNvPr id="8" name="Text 6"/>
            <p:cNvSpPr/>
            <p:nvPr/>
          </p:nvSpPr>
          <p:spPr>
            <a:xfrm>
              <a:off x="310896" y="1198827"/>
              <a:ext cx="36118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Traditional Banks (JPM, BAC, WFC)</a:t>
              </a:r>
              <a:endParaRPr lang="en-US" sz="1100" dirty="0"/>
            </a:p>
          </p:txBody>
        </p:sp>
        <p:sp>
          <p:nvSpPr>
            <p:cNvPr id="9" name="Text 7"/>
            <p:cNvSpPr/>
            <p:nvPr/>
          </p:nvSpPr>
          <p:spPr>
            <a:xfrm>
              <a:off x="310896" y="1445715"/>
              <a:ext cx="361188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Branch-based, high cost-to-serve, slow innovation, capital-heavy</a:t>
              </a:r>
              <a:endParaRPr lang="en-US" sz="950" dirty="0"/>
            </a:p>
          </p:txBody>
        </p:sp>
        <p:sp>
          <p:nvSpPr>
            <p:cNvPr id="10" name="Shape 8"/>
            <p:cNvSpPr/>
            <p:nvPr/>
          </p:nvSpPr>
          <p:spPr>
            <a:xfrm>
              <a:off x="4197096" y="1180539"/>
              <a:ext cx="3785616" cy="594360"/>
            </a:xfrm>
            <a:prstGeom prst="rect">
              <a:avLst/>
            </a:prstGeom>
            <a:solidFill>
              <a:srgbClr val="00C8C8"/>
            </a:solidFill>
            <a:ln w="12700">
              <a:solidFill>
                <a:srgbClr val="00C8C8"/>
              </a:solidFill>
              <a:prstDash val="solid"/>
            </a:ln>
          </p:spPr>
        </p:sp>
        <p:sp>
          <p:nvSpPr>
            <p:cNvPr id="11" name="Text 9"/>
            <p:cNvSpPr/>
            <p:nvPr/>
          </p:nvSpPr>
          <p:spPr>
            <a:xfrm>
              <a:off x="4288536" y="1198827"/>
              <a:ext cx="3611880" cy="274320"/>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SoFi Technologies (Digital Full-Stack)</a:t>
              </a:r>
              <a:endParaRPr lang="en-US" sz="1100" dirty="0"/>
            </a:p>
          </p:txBody>
        </p:sp>
        <p:sp>
          <p:nvSpPr>
            <p:cNvPr id="12" name="Text 10"/>
            <p:cNvSpPr/>
            <p:nvPr/>
          </p:nvSpPr>
          <p:spPr>
            <a:xfrm>
              <a:off x="4288536" y="1445715"/>
              <a:ext cx="3611880" cy="274320"/>
            </a:xfrm>
            <a:prstGeom prst="rect">
              <a:avLst/>
            </a:prstGeom>
            <a:noFill/>
            <a:ln/>
          </p:spPr>
          <p:txBody>
            <a:bodyPr wrap="square" rtlCol="0" anchor="ctr"/>
            <a:lstStyle/>
            <a:p>
              <a:pPr marL="0" indent="0">
                <a:buNone/>
              </a:pPr>
              <a:r>
                <a:rPr lang="en-US" sz="950" dirty="0">
                  <a:solidFill>
                    <a:srgbClr val="0A1628"/>
                  </a:solidFill>
                  <a:latin typeface="Calibri" pitchFamily="34" charset="0"/>
                  <a:ea typeface="Calibri" pitchFamily="34" charset="-122"/>
                  <a:cs typeface="Calibri" pitchFamily="34" charset="-120"/>
                </a:rPr>
                <a:t>Mobile-first, bank charter, high NIM, fee-based diversification, B2B tech — best of both worlds</a:t>
              </a:r>
              <a:endParaRPr lang="en-US" sz="950" dirty="0"/>
            </a:p>
          </p:txBody>
        </p:sp>
        <p:sp>
          <p:nvSpPr>
            <p:cNvPr id="13" name="Shape 11"/>
            <p:cNvSpPr/>
            <p:nvPr/>
          </p:nvSpPr>
          <p:spPr>
            <a:xfrm>
              <a:off x="8174736" y="1180539"/>
              <a:ext cx="3785616" cy="594360"/>
            </a:xfrm>
            <a:prstGeom prst="rect">
              <a:avLst/>
            </a:prstGeom>
            <a:solidFill>
              <a:srgbClr val="222240"/>
            </a:solidFill>
            <a:ln w="12700">
              <a:solidFill>
                <a:srgbClr val="222240"/>
              </a:solidFill>
              <a:prstDash val="solid"/>
            </a:ln>
          </p:spPr>
        </p:sp>
        <p:sp>
          <p:nvSpPr>
            <p:cNvPr id="14" name="Text 12"/>
            <p:cNvSpPr/>
            <p:nvPr/>
          </p:nvSpPr>
          <p:spPr>
            <a:xfrm>
              <a:off x="8266176" y="1198827"/>
              <a:ext cx="36118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Market Gap SoFi Fills</a:t>
              </a:r>
              <a:endParaRPr lang="en-US" sz="1100" dirty="0"/>
            </a:p>
          </p:txBody>
        </p:sp>
        <p:sp>
          <p:nvSpPr>
            <p:cNvPr id="15" name="Text 13"/>
            <p:cNvSpPr/>
            <p:nvPr/>
          </p:nvSpPr>
          <p:spPr>
            <a:xfrm>
              <a:off x="8266176" y="1445715"/>
              <a:ext cx="361188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Only profitable digital bank with national charter + B2B infra + 14.7M engaged members</a:t>
              </a:r>
              <a:endParaRPr lang="en-US" sz="950" dirty="0"/>
            </a:p>
          </p:txBody>
        </p:sp>
      </p:grpSp>
      <p:grpSp>
        <p:nvGrpSpPr>
          <p:cNvPr id="52" name="Group 51">
            <a:extLst>
              <a:ext uri="{FF2B5EF4-FFF2-40B4-BE49-F238E27FC236}">
                <a16:creationId xmlns:a16="http://schemas.microsoft.com/office/drawing/2014/main" id="{4BB537F1-A76E-A160-8990-F035B2D143CD}"/>
              </a:ext>
            </a:extLst>
          </p:cNvPr>
          <p:cNvGrpSpPr/>
          <p:nvPr/>
        </p:nvGrpSpPr>
        <p:grpSpPr>
          <a:xfrm>
            <a:off x="219456" y="2021787"/>
            <a:ext cx="11722608" cy="4782312"/>
            <a:chOff x="192024" y="1939491"/>
            <a:chExt cx="11722608" cy="4782312"/>
          </a:xfrm>
        </p:grpSpPr>
        <p:sp>
          <p:nvSpPr>
            <p:cNvPr id="16" name="Shape 14"/>
            <p:cNvSpPr/>
            <p:nvPr/>
          </p:nvSpPr>
          <p:spPr>
            <a:xfrm>
              <a:off x="192024" y="1939491"/>
              <a:ext cx="5760720" cy="2331720"/>
            </a:xfrm>
            <a:prstGeom prst="rect">
              <a:avLst/>
            </a:prstGeom>
            <a:solidFill>
              <a:srgbClr val="0F2040"/>
            </a:solidFill>
            <a:ln w="12700">
              <a:solidFill>
                <a:srgbClr val="0F2040"/>
              </a:solidFill>
              <a:prstDash val="solid"/>
            </a:ln>
          </p:spPr>
          <p:txBody>
            <a:bodyPr/>
            <a:lstStyle/>
            <a:p>
              <a:endParaRPr lang="en-IN" dirty="0"/>
            </a:p>
          </p:txBody>
        </p:sp>
        <p:sp>
          <p:nvSpPr>
            <p:cNvPr id="17" name="Shape 15"/>
            <p:cNvSpPr/>
            <p:nvPr/>
          </p:nvSpPr>
          <p:spPr>
            <a:xfrm>
              <a:off x="192024" y="1939491"/>
              <a:ext cx="64008" cy="2331720"/>
            </a:xfrm>
            <a:prstGeom prst="rect">
              <a:avLst/>
            </a:prstGeom>
            <a:solidFill>
              <a:srgbClr val="00C8C8"/>
            </a:solidFill>
            <a:ln w="12700">
              <a:solidFill>
                <a:srgbClr val="00C8C8"/>
              </a:solidFill>
              <a:prstDash val="solid"/>
            </a:ln>
          </p:spPr>
        </p:sp>
        <p:sp>
          <p:nvSpPr>
            <p:cNvPr id="18" name="Text 16"/>
            <p:cNvSpPr/>
            <p:nvPr/>
          </p:nvSpPr>
          <p:spPr>
            <a:xfrm>
              <a:off x="374904" y="2012643"/>
              <a:ext cx="4114800" cy="347472"/>
            </a:xfrm>
            <a:prstGeom prst="rect">
              <a:avLst/>
            </a:prstGeom>
            <a:noFill/>
            <a:ln/>
          </p:spPr>
          <p:txBody>
            <a:bodyPr wrap="square" rtlCol="0" anchor="ctr"/>
            <a:lstStyle/>
            <a:p>
              <a:pPr marL="0" indent="0">
                <a:buNone/>
              </a:pPr>
              <a:r>
                <a:rPr lang="en-US" sz="1600" b="1" dirty="0">
                  <a:solidFill>
                    <a:srgbClr val="00C8C8"/>
                  </a:solidFill>
                  <a:latin typeface="Calibri" pitchFamily="34" charset="0"/>
                  <a:ea typeface="Calibri" pitchFamily="34" charset="-122"/>
                  <a:cs typeface="Calibri" pitchFamily="34" charset="-120"/>
                </a:rPr>
                <a:t>Lending Segment — Primary Revenue Engine</a:t>
              </a:r>
              <a:endParaRPr lang="en-US" sz="1600" dirty="0"/>
            </a:p>
          </p:txBody>
        </p:sp>
        <p:sp>
          <p:nvSpPr>
            <p:cNvPr id="19" name="Text 17"/>
            <p:cNvSpPr/>
            <p:nvPr/>
          </p:nvSpPr>
          <p:spPr>
            <a:xfrm>
              <a:off x="4398264" y="2030931"/>
              <a:ext cx="141732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~58% rev Q1 2026 of FY rev</a:t>
              </a:r>
              <a:endParaRPr lang="en-US" sz="1100" dirty="0"/>
            </a:p>
          </p:txBody>
        </p:sp>
        <p:sp>
          <p:nvSpPr>
            <p:cNvPr id="20" name="Text 18"/>
            <p:cNvSpPr/>
            <p:nvPr/>
          </p:nvSpPr>
          <p:spPr>
            <a:xfrm>
              <a:off x="374904" y="2414979"/>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Personal Loans: $8.3B Q1 originations (+51% YoY); avg FICO 748; #1 product</a:t>
              </a:r>
              <a:endParaRPr lang="en-US" sz="1200" dirty="0"/>
            </a:p>
          </p:txBody>
        </p:sp>
        <p:sp>
          <p:nvSpPr>
            <p:cNvPr id="21" name="Text 19"/>
            <p:cNvSpPr/>
            <p:nvPr/>
          </p:nvSpPr>
          <p:spPr>
            <a:xfrm>
              <a:off x="374904" y="2771595"/>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Student Loan Refinancing: $2.6B Q1 (+68% YoY); moratorium headwind now resolved</a:t>
              </a:r>
              <a:endParaRPr lang="en-US" sz="1200" dirty="0"/>
            </a:p>
          </p:txBody>
        </p:sp>
        <p:sp>
          <p:nvSpPr>
            <p:cNvPr id="22" name="Text 20"/>
            <p:cNvSpPr/>
            <p:nvPr/>
          </p:nvSpPr>
          <p:spPr>
            <a:xfrm>
              <a:off x="374904" y="3128211"/>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Home Loans: $1.3B Q1; mortgage refinancing growing; high NIM product</a:t>
              </a:r>
              <a:endParaRPr lang="en-US" sz="1200" dirty="0"/>
            </a:p>
          </p:txBody>
        </p:sp>
        <p:sp>
          <p:nvSpPr>
            <p:cNvPr id="23" name="Text 21"/>
            <p:cNvSpPr/>
            <p:nvPr/>
          </p:nvSpPr>
          <p:spPr>
            <a:xfrm>
              <a:off x="374904" y="3484827"/>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Loan Platform Business (LPB): capital-light fee revenue — sell loans to 3rd parties</a:t>
              </a:r>
              <a:endParaRPr lang="en-US" sz="1200" dirty="0"/>
            </a:p>
          </p:txBody>
        </p:sp>
        <p:sp>
          <p:nvSpPr>
            <p:cNvPr id="24" name="Text 22"/>
            <p:cNvSpPr/>
            <p:nvPr/>
          </p:nvSpPr>
          <p:spPr>
            <a:xfrm>
              <a:off x="374904" y="3841443"/>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Net Interest Margin: 5.94% in Q1 2026; significantly above traditional banks ~3%</a:t>
              </a:r>
              <a:endParaRPr lang="en-US" sz="1200" dirty="0"/>
            </a:p>
          </p:txBody>
        </p:sp>
        <p:sp>
          <p:nvSpPr>
            <p:cNvPr id="25" name="Shape 23"/>
            <p:cNvSpPr/>
            <p:nvPr/>
          </p:nvSpPr>
          <p:spPr>
            <a:xfrm>
              <a:off x="6153912" y="1939491"/>
              <a:ext cx="5760720" cy="2331720"/>
            </a:xfrm>
            <a:prstGeom prst="rect">
              <a:avLst/>
            </a:prstGeom>
            <a:solidFill>
              <a:srgbClr val="0F2040"/>
            </a:solidFill>
            <a:ln w="12700">
              <a:solidFill>
                <a:srgbClr val="0F2040"/>
              </a:solidFill>
              <a:prstDash val="solid"/>
            </a:ln>
          </p:spPr>
        </p:sp>
        <p:sp>
          <p:nvSpPr>
            <p:cNvPr id="26" name="Shape 24"/>
            <p:cNvSpPr/>
            <p:nvPr/>
          </p:nvSpPr>
          <p:spPr>
            <a:xfrm>
              <a:off x="6153912" y="1939491"/>
              <a:ext cx="64008" cy="2331720"/>
            </a:xfrm>
            <a:prstGeom prst="rect">
              <a:avLst/>
            </a:prstGeom>
            <a:solidFill>
              <a:srgbClr val="FFB800"/>
            </a:solidFill>
            <a:ln w="12700">
              <a:solidFill>
                <a:srgbClr val="FFB800"/>
              </a:solidFill>
              <a:prstDash val="solid"/>
            </a:ln>
          </p:spPr>
        </p:sp>
        <p:sp>
          <p:nvSpPr>
            <p:cNvPr id="27" name="Text 25"/>
            <p:cNvSpPr/>
            <p:nvPr/>
          </p:nvSpPr>
          <p:spPr>
            <a:xfrm>
              <a:off x="6336792" y="2012643"/>
              <a:ext cx="4114800" cy="347472"/>
            </a:xfrm>
            <a:prstGeom prst="rect">
              <a:avLst/>
            </a:prstGeom>
            <a:noFill/>
            <a:ln/>
          </p:spPr>
          <p:txBody>
            <a:bodyPr wrap="square" rtlCol="0" anchor="ctr"/>
            <a:lstStyle/>
            <a:p>
              <a:pPr marL="0" indent="0">
                <a:buNone/>
              </a:pPr>
              <a:r>
                <a:rPr lang="en-US" sz="1600" b="1" dirty="0">
                  <a:solidFill>
                    <a:srgbClr val="FFB800"/>
                  </a:solidFill>
                  <a:latin typeface="Calibri" pitchFamily="34" charset="0"/>
                  <a:ea typeface="Calibri" pitchFamily="34" charset="-122"/>
                  <a:cs typeface="Calibri" pitchFamily="34" charset="-120"/>
                </a:rPr>
                <a:t>Financial Services Segment — Fast Growth</a:t>
              </a:r>
              <a:endParaRPr lang="en-US" sz="1600" dirty="0"/>
            </a:p>
          </p:txBody>
        </p:sp>
        <p:sp>
          <p:nvSpPr>
            <p:cNvPr id="28" name="Text 26"/>
            <p:cNvSpPr/>
            <p:nvPr/>
          </p:nvSpPr>
          <p:spPr>
            <a:xfrm>
              <a:off x="10360152" y="2030931"/>
              <a:ext cx="141732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~39% rev Q1 2026 of FY rev</a:t>
              </a:r>
              <a:endParaRPr lang="en-US" sz="1100" dirty="0"/>
            </a:p>
          </p:txBody>
        </p:sp>
        <p:sp>
          <p:nvSpPr>
            <p:cNvPr id="29" name="Text 27"/>
            <p:cNvSpPr/>
            <p:nvPr/>
          </p:nvSpPr>
          <p:spPr>
            <a:xfrm>
              <a:off x="6336792" y="2414979"/>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 Money: checking + savings at 3.8% APY; 43% of members' primary bank</a:t>
              </a:r>
              <a:endParaRPr lang="en-US" sz="1200" dirty="0"/>
            </a:p>
          </p:txBody>
        </p:sp>
        <p:sp>
          <p:nvSpPr>
            <p:cNvPr id="30" name="Text 28"/>
            <p:cNvSpPr/>
            <p:nvPr/>
          </p:nvSpPr>
          <p:spPr>
            <a:xfrm>
              <a:off x="6336792" y="2771595"/>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 Invest: stocks, crypto, robo-advisory, IPO access, alternatives</a:t>
              </a:r>
              <a:endParaRPr lang="en-US" sz="1200" dirty="0"/>
            </a:p>
          </p:txBody>
        </p:sp>
        <p:sp>
          <p:nvSpPr>
            <p:cNvPr id="31" name="Text 29"/>
            <p:cNvSpPr/>
            <p:nvPr/>
          </p:nvSpPr>
          <p:spPr>
            <a:xfrm>
              <a:off x="6336792" y="3128211"/>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 Credit Card: unlimited 2% cash back; growing revolving credit portfolio</a:t>
              </a:r>
              <a:endParaRPr lang="en-US" sz="1200" dirty="0"/>
            </a:p>
          </p:txBody>
        </p:sp>
        <p:sp>
          <p:nvSpPr>
            <p:cNvPr id="32" name="Text 30"/>
            <p:cNvSpPr/>
            <p:nvPr/>
          </p:nvSpPr>
          <p:spPr>
            <a:xfrm>
              <a:off x="6336792" y="3484827"/>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SoFiUSD: first stablecoin issued by a US national bank (launched 2025)</a:t>
              </a:r>
              <a:endParaRPr lang="en-US" sz="1200" dirty="0"/>
            </a:p>
          </p:txBody>
        </p:sp>
        <p:sp>
          <p:nvSpPr>
            <p:cNvPr id="33" name="Text 31"/>
            <p:cNvSpPr/>
            <p:nvPr/>
          </p:nvSpPr>
          <p:spPr>
            <a:xfrm>
              <a:off x="6336792" y="3841443"/>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 Relay: financial insights aggregation; drives cross-sell; sticky engagement</a:t>
              </a:r>
              <a:endParaRPr lang="en-US" sz="1200" dirty="0"/>
            </a:p>
          </p:txBody>
        </p:sp>
        <p:sp>
          <p:nvSpPr>
            <p:cNvPr id="34" name="Shape 32"/>
            <p:cNvSpPr/>
            <p:nvPr/>
          </p:nvSpPr>
          <p:spPr>
            <a:xfrm>
              <a:off x="192024" y="4390083"/>
              <a:ext cx="5760720" cy="2331720"/>
            </a:xfrm>
            <a:prstGeom prst="rect">
              <a:avLst/>
            </a:prstGeom>
            <a:solidFill>
              <a:srgbClr val="0F2040"/>
            </a:solidFill>
            <a:ln w="12700">
              <a:solidFill>
                <a:srgbClr val="0F2040"/>
              </a:solidFill>
              <a:prstDash val="solid"/>
            </a:ln>
          </p:spPr>
        </p:sp>
        <p:sp>
          <p:nvSpPr>
            <p:cNvPr id="35" name="Shape 33"/>
            <p:cNvSpPr/>
            <p:nvPr/>
          </p:nvSpPr>
          <p:spPr>
            <a:xfrm>
              <a:off x="192024" y="4390083"/>
              <a:ext cx="64008" cy="2331720"/>
            </a:xfrm>
            <a:prstGeom prst="rect">
              <a:avLst/>
            </a:prstGeom>
            <a:solidFill>
              <a:srgbClr val="0066FF"/>
            </a:solidFill>
            <a:ln w="12700">
              <a:solidFill>
                <a:srgbClr val="0066FF"/>
              </a:solidFill>
              <a:prstDash val="solid"/>
            </a:ln>
          </p:spPr>
        </p:sp>
        <p:sp>
          <p:nvSpPr>
            <p:cNvPr id="36" name="Text 34"/>
            <p:cNvSpPr/>
            <p:nvPr/>
          </p:nvSpPr>
          <p:spPr>
            <a:xfrm>
              <a:off x="374904" y="4463235"/>
              <a:ext cx="4114800" cy="347472"/>
            </a:xfrm>
            <a:prstGeom prst="rect">
              <a:avLst/>
            </a:prstGeom>
            <a:noFill/>
            <a:ln/>
          </p:spPr>
          <p:txBody>
            <a:bodyPr wrap="square" rtlCol="0" anchor="ctr"/>
            <a:lstStyle/>
            <a:p>
              <a:pPr marL="0" indent="0">
                <a:buNone/>
              </a:pPr>
              <a:r>
                <a:rPr lang="en-US" sz="1600" b="1" dirty="0">
                  <a:solidFill>
                    <a:srgbClr val="0066FF"/>
                  </a:solidFill>
                  <a:latin typeface="Calibri" pitchFamily="34" charset="0"/>
                  <a:ea typeface="Calibri" pitchFamily="34" charset="-122"/>
                  <a:cs typeface="Calibri" pitchFamily="34" charset="-120"/>
                </a:rPr>
                <a:t>Technology Platform — B2B Infrastructure</a:t>
              </a:r>
              <a:endParaRPr lang="en-US" sz="1600" dirty="0"/>
            </a:p>
          </p:txBody>
        </p:sp>
        <p:sp>
          <p:nvSpPr>
            <p:cNvPr id="37" name="Text 35"/>
            <p:cNvSpPr/>
            <p:nvPr/>
          </p:nvSpPr>
          <p:spPr>
            <a:xfrm>
              <a:off x="4398264" y="4481523"/>
              <a:ext cx="141732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~7% rev Q1 2026 of FY rev</a:t>
              </a:r>
              <a:endParaRPr lang="en-US" sz="1100" dirty="0"/>
            </a:p>
          </p:txBody>
        </p:sp>
        <p:sp>
          <p:nvSpPr>
            <p:cNvPr id="38" name="Text 36"/>
            <p:cNvSpPr/>
            <p:nvPr/>
          </p:nvSpPr>
          <p:spPr>
            <a:xfrm>
              <a:off x="374904" y="4865571"/>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Galileo: payment processing, card issuing, ACH for 128.5M accounts globally</a:t>
              </a:r>
              <a:endParaRPr lang="en-US" sz="1200" dirty="0"/>
            </a:p>
          </p:txBody>
        </p:sp>
        <p:sp>
          <p:nvSpPr>
            <p:cNvPr id="39" name="Text 37"/>
            <p:cNvSpPr/>
            <p:nvPr/>
          </p:nvSpPr>
          <p:spPr>
            <a:xfrm>
              <a:off x="374904" y="5222187"/>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Technisys Cyberbank Core: cloud-native core banking for legacy institutions</a:t>
              </a:r>
              <a:endParaRPr lang="en-US" sz="1200" dirty="0"/>
            </a:p>
          </p:txBody>
        </p:sp>
        <p:sp>
          <p:nvSpPr>
            <p:cNvPr id="40" name="Text 38"/>
            <p:cNvSpPr/>
            <p:nvPr/>
          </p:nvSpPr>
          <p:spPr>
            <a:xfrm>
              <a:off x="374904" y="5578803"/>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Q1 rev -27% YoY due to large client transition off platform in 2025</a:t>
              </a:r>
              <a:endParaRPr lang="en-US" sz="1200" dirty="0"/>
            </a:p>
          </p:txBody>
        </p:sp>
        <p:sp>
          <p:nvSpPr>
            <p:cNvPr id="41" name="Text 39"/>
            <p:cNvSpPr/>
            <p:nvPr/>
          </p:nvSpPr>
          <p:spPr>
            <a:xfrm>
              <a:off x="374904" y="5935419"/>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New B2B verticals: insurance, auto, healthcare verticals in development</a:t>
              </a:r>
              <a:endParaRPr lang="en-US" sz="1200" dirty="0"/>
            </a:p>
          </p:txBody>
        </p:sp>
        <p:sp>
          <p:nvSpPr>
            <p:cNvPr id="42" name="Text 40"/>
            <p:cNvSpPr/>
            <p:nvPr/>
          </p:nvSpPr>
          <p:spPr>
            <a:xfrm>
              <a:off x="374904" y="6292035"/>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Long-term moat: as Galileo re-scales, high-margin recurring fee revenue returns</a:t>
              </a:r>
              <a:endParaRPr lang="en-US" sz="1200" dirty="0"/>
            </a:p>
          </p:txBody>
        </p:sp>
        <p:sp>
          <p:nvSpPr>
            <p:cNvPr id="43" name="Shape 41"/>
            <p:cNvSpPr/>
            <p:nvPr/>
          </p:nvSpPr>
          <p:spPr>
            <a:xfrm>
              <a:off x="6153912" y="4390083"/>
              <a:ext cx="5760720" cy="2331720"/>
            </a:xfrm>
            <a:prstGeom prst="rect">
              <a:avLst/>
            </a:prstGeom>
            <a:solidFill>
              <a:srgbClr val="0F2040"/>
            </a:solidFill>
            <a:ln w="12700">
              <a:solidFill>
                <a:srgbClr val="0F2040"/>
              </a:solidFill>
              <a:prstDash val="solid"/>
            </a:ln>
          </p:spPr>
        </p:sp>
        <p:sp>
          <p:nvSpPr>
            <p:cNvPr id="44" name="Shape 42"/>
            <p:cNvSpPr/>
            <p:nvPr/>
          </p:nvSpPr>
          <p:spPr>
            <a:xfrm>
              <a:off x="6153912" y="4390083"/>
              <a:ext cx="64008" cy="2331720"/>
            </a:xfrm>
            <a:prstGeom prst="rect">
              <a:avLst/>
            </a:prstGeom>
            <a:solidFill>
              <a:srgbClr val="8B5CF6"/>
            </a:solidFill>
            <a:ln w="12700">
              <a:solidFill>
                <a:srgbClr val="8B5CF6"/>
              </a:solidFill>
              <a:prstDash val="solid"/>
            </a:ln>
          </p:spPr>
        </p:sp>
        <p:sp>
          <p:nvSpPr>
            <p:cNvPr id="45" name="Text 43"/>
            <p:cNvSpPr/>
            <p:nvPr/>
          </p:nvSpPr>
          <p:spPr>
            <a:xfrm>
              <a:off x="6336792" y="4463235"/>
              <a:ext cx="4114800" cy="347472"/>
            </a:xfrm>
            <a:prstGeom prst="rect">
              <a:avLst/>
            </a:prstGeom>
            <a:noFill/>
            <a:ln/>
          </p:spPr>
          <p:txBody>
            <a:bodyPr wrap="square" rtlCol="0" anchor="ctr"/>
            <a:lstStyle/>
            <a:p>
              <a:pPr marL="0" indent="0">
                <a:buNone/>
              </a:pPr>
              <a:r>
                <a:rPr lang="en-US" sz="1600" b="1" dirty="0">
                  <a:solidFill>
                    <a:srgbClr val="8B5CF6"/>
                  </a:solidFill>
                  <a:latin typeface="Calibri" pitchFamily="34" charset="0"/>
                  <a:ea typeface="Calibri" pitchFamily="34" charset="-122"/>
                  <a:cs typeface="Calibri" pitchFamily="34" charset="-120"/>
                </a:rPr>
                <a:t>Digital Assets &amp; Big Business Banking — New Frontiers</a:t>
              </a:r>
              <a:endParaRPr lang="en-US" sz="1600" dirty="0"/>
            </a:p>
          </p:txBody>
        </p:sp>
        <p:sp>
          <p:nvSpPr>
            <p:cNvPr id="46" name="Text 44"/>
            <p:cNvSpPr/>
            <p:nvPr/>
          </p:nvSpPr>
          <p:spPr>
            <a:xfrm>
              <a:off x="10360152" y="4481523"/>
              <a:ext cx="141732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Emerging of FY rev</a:t>
              </a:r>
              <a:endParaRPr lang="en-US" sz="1100" dirty="0"/>
            </a:p>
          </p:txBody>
        </p:sp>
        <p:sp>
          <p:nvSpPr>
            <p:cNvPr id="47" name="Text 45"/>
            <p:cNvSpPr/>
            <p:nvPr/>
          </p:nvSpPr>
          <p:spPr>
            <a:xfrm>
              <a:off x="6336792" y="4865571"/>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SoFiUSD stablecoin + crypto trading integration announced 2025</a:t>
              </a:r>
              <a:endParaRPr lang="en-US" sz="1200" dirty="0"/>
            </a:p>
          </p:txBody>
        </p:sp>
        <p:sp>
          <p:nvSpPr>
            <p:cNvPr id="48" name="Text 46"/>
            <p:cNvSpPr/>
            <p:nvPr/>
          </p:nvSpPr>
          <p:spPr>
            <a:xfrm>
              <a:off x="6336792" y="5222187"/>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Big Business Banking: SMB banking launch targeting $3T+ commercial deposit market</a:t>
              </a:r>
              <a:endParaRPr lang="en-US" sz="1200" dirty="0"/>
            </a:p>
          </p:txBody>
        </p:sp>
        <p:sp>
          <p:nvSpPr>
            <p:cNvPr id="49" name="Text 47"/>
            <p:cNvSpPr/>
            <p:nvPr/>
          </p:nvSpPr>
          <p:spPr>
            <a:xfrm>
              <a:off x="6336792" y="5578803"/>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Digital assets custody and trading partnerships expanding</a:t>
              </a:r>
              <a:endParaRPr lang="en-US" sz="1200" dirty="0"/>
            </a:p>
          </p:txBody>
        </p:sp>
        <p:sp>
          <p:nvSpPr>
            <p:cNvPr id="50" name="Text 48"/>
            <p:cNvSpPr/>
            <p:nvPr/>
          </p:nvSpPr>
          <p:spPr>
            <a:xfrm>
              <a:off x="6336792" y="5935419"/>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SoFi at Work: employer benefits integration — student loan repayment programs</a:t>
              </a:r>
              <a:endParaRPr lang="en-US" sz="1200" dirty="0"/>
            </a:p>
          </p:txBody>
        </p:sp>
        <p:sp>
          <p:nvSpPr>
            <p:cNvPr id="51" name="Text 49"/>
            <p:cNvSpPr/>
            <p:nvPr/>
          </p:nvSpPr>
          <p:spPr>
            <a:xfrm>
              <a:off x="6336792" y="6292035"/>
              <a:ext cx="5486400" cy="33832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 International: Galileo expanding into LATAM; Banco Nación Argentina live</a:t>
              </a:r>
              <a:endParaRPr lang="en-US" sz="12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3: FINANCIAL ANALYSIS</a:t>
            </a:r>
            <a:endParaRPr lang="en-US" sz="2200" dirty="0"/>
          </a:p>
        </p:txBody>
      </p:sp>
      <p:sp>
        <p:nvSpPr>
          <p:cNvPr id="5" name="Text 3"/>
          <p:cNvSpPr/>
          <p:nvPr/>
        </p:nvSpPr>
        <p:spPr>
          <a:xfrm>
            <a:off x="155448" y="896112"/>
            <a:ext cx="11612880" cy="256032"/>
          </a:xfrm>
          <a:prstGeom prst="rect">
            <a:avLst/>
          </a:prstGeom>
          <a:noFill/>
          <a:ln/>
        </p:spPr>
        <p:txBody>
          <a:bodyPr wrap="square" rtlCol="0" anchor="ctr"/>
          <a:lstStyle/>
          <a:p>
            <a:pPr marL="0" indent="0">
              <a:buNone/>
            </a:pPr>
            <a:r>
              <a:rPr lang="en-US" sz="1600" dirty="0">
                <a:solidFill>
                  <a:srgbClr val="002060"/>
                </a:solidFill>
                <a:latin typeface="Calibri" pitchFamily="34" charset="0"/>
                <a:ea typeface="Calibri" pitchFamily="34" charset="-122"/>
                <a:cs typeface="Calibri" pitchFamily="34" charset="-120"/>
              </a:rPr>
              <a:t>From $1.5B (FY2022) to $3.7B (FY2025) — revenue 2.5× in 3 years; first $1B+ quarter in Q4 2025</a:t>
            </a:r>
            <a:endParaRPr lang="en-US" sz="16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37744" y="1376172"/>
            <a:ext cx="1828800" cy="1325880"/>
          </a:xfrm>
          <a:prstGeom prst="rect">
            <a:avLst/>
          </a:prstGeom>
          <a:solidFill>
            <a:srgbClr val="0F2040"/>
          </a:solidFill>
          <a:ln w="12700">
            <a:solidFill>
              <a:srgbClr val="0F2040"/>
            </a:solidFill>
            <a:prstDash val="solid"/>
          </a:ln>
        </p:spPr>
      </p:sp>
      <p:sp>
        <p:nvSpPr>
          <p:cNvPr id="8" name="Shape 6"/>
          <p:cNvSpPr/>
          <p:nvPr/>
        </p:nvSpPr>
        <p:spPr>
          <a:xfrm>
            <a:off x="237744" y="1376172"/>
            <a:ext cx="1828800" cy="54864"/>
          </a:xfrm>
          <a:prstGeom prst="rect">
            <a:avLst/>
          </a:prstGeom>
          <a:solidFill>
            <a:srgbClr val="00C8C8"/>
          </a:solidFill>
          <a:ln w="12700">
            <a:solidFill>
              <a:srgbClr val="00C8C8"/>
            </a:solidFill>
            <a:prstDash val="solid"/>
          </a:ln>
        </p:spPr>
      </p:sp>
      <p:sp>
        <p:nvSpPr>
          <p:cNvPr id="9" name="Text 7"/>
          <p:cNvSpPr/>
          <p:nvPr/>
        </p:nvSpPr>
        <p:spPr>
          <a:xfrm>
            <a:off x="329184"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Q1 2026 Revenue</a:t>
            </a:r>
            <a:endParaRPr lang="en-US" sz="950" dirty="0"/>
          </a:p>
        </p:txBody>
      </p:sp>
      <p:sp>
        <p:nvSpPr>
          <p:cNvPr id="10" name="Text 8"/>
          <p:cNvSpPr/>
          <p:nvPr/>
        </p:nvSpPr>
        <p:spPr>
          <a:xfrm>
            <a:off x="329184" y="1723644"/>
            <a:ext cx="1645920" cy="566928"/>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$1.1B</a:t>
            </a:r>
            <a:endParaRPr lang="en-US" sz="2200" dirty="0"/>
          </a:p>
        </p:txBody>
      </p:sp>
      <p:sp>
        <p:nvSpPr>
          <p:cNvPr id="11" name="Text 9"/>
          <p:cNvSpPr/>
          <p:nvPr/>
        </p:nvSpPr>
        <p:spPr>
          <a:xfrm>
            <a:off x="329184"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+41% YoY</a:t>
            </a:r>
            <a:endParaRPr lang="en-US" sz="900" dirty="0"/>
          </a:p>
        </p:txBody>
      </p:sp>
      <p:sp>
        <p:nvSpPr>
          <p:cNvPr id="12" name="Shape 10"/>
          <p:cNvSpPr/>
          <p:nvPr/>
        </p:nvSpPr>
        <p:spPr>
          <a:xfrm>
            <a:off x="2231136" y="1376172"/>
            <a:ext cx="1828800" cy="1325880"/>
          </a:xfrm>
          <a:prstGeom prst="rect">
            <a:avLst/>
          </a:prstGeom>
          <a:solidFill>
            <a:srgbClr val="0F2040"/>
          </a:solidFill>
          <a:ln w="12700">
            <a:solidFill>
              <a:srgbClr val="0F2040"/>
            </a:solidFill>
            <a:prstDash val="solid"/>
          </a:ln>
        </p:spPr>
      </p:sp>
      <p:sp>
        <p:nvSpPr>
          <p:cNvPr id="13" name="Shape 11"/>
          <p:cNvSpPr/>
          <p:nvPr/>
        </p:nvSpPr>
        <p:spPr>
          <a:xfrm>
            <a:off x="2231136" y="1376172"/>
            <a:ext cx="1828800" cy="54864"/>
          </a:xfrm>
          <a:prstGeom prst="rect">
            <a:avLst/>
          </a:prstGeom>
          <a:solidFill>
            <a:srgbClr val="00D68F"/>
          </a:solidFill>
          <a:ln w="12700">
            <a:solidFill>
              <a:srgbClr val="00D68F"/>
            </a:solidFill>
            <a:prstDash val="solid"/>
          </a:ln>
        </p:spPr>
      </p:sp>
      <p:sp>
        <p:nvSpPr>
          <p:cNvPr id="14" name="Text 12"/>
          <p:cNvSpPr/>
          <p:nvPr/>
        </p:nvSpPr>
        <p:spPr>
          <a:xfrm>
            <a:off x="2322576"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Q1 Net Income</a:t>
            </a:r>
            <a:endParaRPr lang="en-US" sz="950" dirty="0"/>
          </a:p>
        </p:txBody>
      </p:sp>
      <p:sp>
        <p:nvSpPr>
          <p:cNvPr id="15" name="Text 13"/>
          <p:cNvSpPr/>
          <p:nvPr/>
        </p:nvSpPr>
        <p:spPr>
          <a:xfrm>
            <a:off x="2322576" y="1723644"/>
            <a:ext cx="1645920" cy="566928"/>
          </a:xfrm>
          <a:prstGeom prst="rect">
            <a:avLst/>
          </a:prstGeom>
          <a:noFill/>
          <a:ln/>
        </p:spPr>
        <p:txBody>
          <a:bodyPr wrap="square" rtlCol="0" anchor="ctr"/>
          <a:lstStyle/>
          <a:p>
            <a:pPr marL="0" indent="0">
              <a:buNone/>
            </a:pPr>
            <a:r>
              <a:rPr lang="en-US" sz="2200" b="1" dirty="0">
                <a:solidFill>
                  <a:srgbClr val="00D68F"/>
                </a:solidFill>
                <a:latin typeface="Calibri" pitchFamily="34" charset="0"/>
                <a:ea typeface="Calibri" pitchFamily="34" charset="-122"/>
                <a:cs typeface="Calibri" pitchFamily="34" charset="-120"/>
              </a:rPr>
              <a:t>$167M</a:t>
            </a:r>
            <a:endParaRPr lang="en-US" sz="2200" dirty="0"/>
          </a:p>
        </p:txBody>
      </p:sp>
      <p:sp>
        <p:nvSpPr>
          <p:cNvPr id="16" name="Text 14"/>
          <p:cNvSpPr/>
          <p:nvPr/>
        </p:nvSpPr>
        <p:spPr>
          <a:xfrm>
            <a:off x="2322576"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2× vs Q1 2025</a:t>
            </a:r>
            <a:endParaRPr lang="en-US" sz="900" dirty="0"/>
          </a:p>
        </p:txBody>
      </p:sp>
      <p:sp>
        <p:nvSpPr>
          <p:cNvPr id="17" name="Shape 15"/>
          <p:cNvSpPr/>
          <p:nvPr/>
        </p:nvSpPr>
        <p:spPr>
          <a:xfrm>
            <a:off x="4224528" y="1376172"/>
            <a:ext cx="1828800" cy="1325880"/>
          </a:xfrm>
          <a:prstGeom prst="rect">
            <a:avLst/>
          </a:prstGeom>
          <a:solidFill>
            <a:srgbClr val="0F2040"/>
          </a:solidFill>
          <a:ln w="12700">
            <a:solidFill>
              <a:srgbClr val="0F2040"/>
            </a:solidFill>
            <a:prstDash val="solid"/>
          </a:ln>
        </p:spPr>
      </p:sp>
      <p:sp>
        <p:nvSpPr>
          <p:cNvPr id="18" name="Shape 16"/>
          <p:cNvSpPr/>
          <p:nvPr/>
        </p:nvSpPr>
        <p:spPr>
          <a:xfrm>
            <a:off x="4224528" y="1376172"/>
            <a:ext cx="1828800" cy="54864"/>
          </a:xfrm>
          <a:prstGeom prst="rect">
            <a:avLst/>
          </a:prstGeom>
          <a:solidFill>
            <a:srgbClr val="FFB800"/>
          </a:solidFill>
          <a:ln w="12700">
            <a:solidFill>
              <a:srgbClr val="FFB800"/>
            </a:solidFill>
            <a:prstDash val="solid"/>
          </a:ln>
        </p:spPr>
      </p:sp>
      <p:sp>
        <p:nvSpPr>
          <p:cNvPr id="19" name="Text 17"/>
          <p:cNvSpPr/>
          <p:nvPr/>
        </p:nvSpPr>
        <p:spPr>
          <a:xfrm>
            <a:off x="4315968"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Q1 Adj EBITDA</a:t>
            </a:r>
            <a:endParaRPr lang="en-US" sz="950" dirty="0"/>
          </a:p>
        </p:txBody>
      </p:sp>
      <p:sp>
        <p:nvSpPr>
          <p:cNvPr id="20" name="Text 18"/>
          <p:cNvSpPr/>
          <p:nvPr/>
        </p:nvSpPr>
        <p:spPr>
          <a:xfrm>
            <a:off x="4315968" y="1723644"/>
            <a:ext cx="1645920" cy="566928"/>
          </a:xfrm>
          <a:prstGeom prst="rect">
            <a:avLst/>
          </a:prstGeom>
          <a:noFill/>
          <a:ln/>
        </p:spPr>
        <p:txBody>
          <a:bodyPr wrap="square" rtlCol="0" anchor="ctr"/>
          <a:lstStyle/>
          <a:p>
            <a:pPr marL="0" indent="0">
              <a:buNone/>
            </a:pPr>
            <a:r>
              <a:rPr lang="en-US" sz="2200" b="1" dirty="0">
                <a:solidFill>
                  <a:srgbClr val="FFB800"/>
                </a:solidFill>
                <a:latin typeface="Calibri" pitchFamily="34" charset="0"/>
                <a:ea typeface="Calibri" pitchFamily="34" charset="-122"/>
                <a:cs typeface="Calibri" pitchFamily="34" charset="-120"/>
              </a:rPr>
              <a:t>$340M</a:t>
            </a:r>
            <a:endParaRPr lang="en-US" sz="2200" dirty="0"/>
          </a:p>
        </p:txBody>
      </p:sp>
      <p:sp>
        <p:nvSpPr>
          <p:cNvPr id="21" name="Text 19"/>
          <p:cNvSpPr/>
          <p:nvPr/>
        </p:nvSpPr>
        <p:spPr>
          <a:xfrm>
            <a:off x="4315968"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+62% YoY; 31% margin</a:t>
            </a:r>
            <a:endParaRPr lang="en-US" sz="900" dirty="0"/>
          </a:p>
        </p:txBody>
      </p:sp>
      <p:sp>
        <p:nvSpPr>
          <p:cNvPr id="22" name="Shape 20"/>
          <p:cNvSpPr/>
          <p:nvPr/>
        </p:nvSpPr>
        <p:spPr>
          <a:xfrm>
            <a:off x="6217920" y="1376172"/>
            <a:ext cx="1828800" cy="1325880"/>
          </a:xfrm>
          <a:prstGeom prst="rect">
            <a:avLst/>
          </a:prstGeom>
          <a:solidFill>
            <a:srgbClr val="0F2040"/>
          </a:solidFill>
          <a:ln w="12700">
            <a:solidFill>
              <a:srgbClr val="0F2040"/>
            </a:solidFill>
            <a:prstDash val="solid"/>
          </a:ln>
        </p:spPr>
      </p:sp>
      <p:sp>
        <p:nvSpPr>
          <p:cNvPr id="23" name="Shape 21"/>
          <p:cNvSpPr/>
          <p:nvPr/>
        </p:nvSpPr>
        <p:spPr>
          <a:xfrm>
            <a:off x="6217920" y="1376172"/>
            <a:ext cx="1828800" cy="54864"/>
          </a:xfrm>
          <a:prstGeom prst="rect">
            <a:avLst/>
          </a:prstGeom>
          <a:solidFill>
            <a:srgbClr val="0066FF"/>
          </a:solidFill>
          <a:ln w="12700">
            <a:solidFill>
              <a:srgbClr val="0066FF"/>
            </a:solidFill>
            <a:prstDash val="solid"/>
          </a:ln>
        </p:spPr>
      </p:sp>
      <p:sp>
        <p:nvSpPr>
          <p:cNvPr id="24" name="Text 22"/>
          <p:cNvSpPr/>
          <p:nvPr/>
        </p:nvSpPr>
        <p:spPr>
          <a:xfrm>
            <a:off x="6309360"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Q1 Loan Orig.</a:t>
            </a:r>
            <a:endParaRPr lang="en-US" sz="950" dirty="0"/>
          </a:p>
        </p:txBody>
      </p:sp>
      <p:sp>
        <p:nvSpPr>
          <p:cNvPr id="25" name="Text 23"/>
          <p:cNvSpPr/>
          <p:nvPr/>
        </p:nvSpPr>
        <p:spPr>
          <a:xfrm>
            <a:off x="6309360" y="1723644"/>
            <a:ext cx="1645920" cy="566928"/>
          </a:xfrm>
          <a:prstGeom prst="rect">
            <a:avLst/>
          </a:prstGeom>
          <a:noFill/>
          <a:ln/>
        </p:spPr>
        <p:txBody>
          <a:bodyPr wrap="square" rtlCol="0" anchor="ctr"/>
          <a:lstStyle/>
          <a:p>
            <a:pPr marL="0" indent="0">
              <a:buNone/>
            </a:pPr>
            <a:r>
              <a:rPr lang="en-US" sz="2200" b="1" dirty="0">
                <a:solidFill>
                  <a:srgbClr val="0066FF"/>
                </a:solidFill>
                <a:latin typeface="Calibri" pitchFamily="34" charset="0"/>
                <a:ea typeface="Calibri" pitchFamily="34" charset="-122"/>
                <a:cs typeface="Calibri" pitchFamily="34" charset="-120"/>
              </a:rPr>
              <a:t>$12.2B</a:t>
            </a:r>
            <a:endParaRPr lang="en-US" sz="2200" dirty="0"/>
          </a:p>
        </p:txBody>
      </p:sp>
      <p:sp>
        <p:nvSpPr>
          <p:cNvPr id="26" name="Text 24"/>
          <p:cNvSpPr/>
          <p:nvPr/>
        </p:nvSpPr>
        <p:spPr>
          <a:xfrm>
            <a:off x="6309360"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+68% YoY record</a:t>
            </a:r>
            <a:endParaRPr lang="en-US" sz="900" dirty="0"/>
          </a:p>
        </p:txBody>
      </p:sp>
      <p:sp>
        <p:nvSpPr>
          <p:cNvPr id="27" name="Shape 25"/>
          <p:cNvSpPr/>
          <p:nvPr/>
        </p:nvSpPr>
        <p:spPr>
          <a:xfrm>
            <a:off x="8211312" y="1376172"/>
            <a:ext cx="1828800" cy="1325880"/>
          </a:xfrm>
          <a:prstGeom prst="rect">
            <a:avLst/>
          </a:prstGeom>
          <a:solidFill>
            <a:srgbClr val="0F2040"/>
          </a:solidFill>
          <a:ln w="12700">
            <a:solidFill>
              <a:srgbClr val="0F2040"/>
            </a:solidFill>
            <a:prstDash val="solid"/>
          </a:ln>
        </p:spPr>
      </p:sp>
      <p:sp>
        <p:nvSpPr>
          <p:cNvPr id="28" name="Shape 26"/>
          <p:cNvSpPr/>
          <p:nvPr/>
        </p:nvSpPr>
        <p:spPr>
          <a:xfrm>
            <a:off x="8211312" y="1376172"/>
            <a:ext cx="1828800" cy="54864"/>
          </a:xfrm>
          <a:prstGeom prst="rect">
            <a:avLst/>
          </a:prstGeom>
          <a:solidFill>
            <a:srgbClr val="00C8C8"/>
          </a:solidFill>
          <a:ln w="12700">
            <a:solidFill>
              <a:srgbClr val="00C8C8"/>
            </a:solidFill>
            <a:prstDash val="solid"/>
          </a:ln>
        </p:spPr>
      </p:sp>
      <p:sp>
        <p:nvSpPr>
          <p:cNvPr id="29" name="Text 27"/>
          <p:cNvSpPr/>
          <p:nvPr/>
        </p:nvSpPr>
        <p:spPr>
          <a:xfrm>
            <a:off x="8302752"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Total Deposits</a:t>
            </a:r>
            <a:endParaRPr lang="en-US" sz="950" dirty="0"/>
          </a:p>
        </p:txBody>
      </p:sp>
      <p:sp>
        <p:nvSpPr>
          <p:cNvPr id="30" name="Text 28"/>
          <p:cNvSpPr/>
          <p:nvPr/>
        </p:nvSpPr>
        <p:spPr>
          <a:xfrm>
            <a:off x="8302752" y="1723644"/>
            <a:ext cx="1645920" cy="566928"/>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$40.2B</a:t>
            </a:r>
            <a:endParaRPr lang="en-US" sz="2200" dirty="0"/>
          </a:p>
        </p:txBody>
      </p:sp>
      <p:sp>
        <p:nvSpPr>
          <p:cNvPr id="31" name="Text 29"/>
          <p:cNvSpPr/>
          <p:nvPr/>
        </p:nvSpPr>
        <p:spPr>
          <a:xfrm>
            <a:off x="8302752"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Q1 2026; NIM 5.94%</a:t>
            </a:r>
            <a:endParaRPr lang="en-US" sz="900" dirty="0"/>
          </a:p>
        </p:txBody>
      </p:sp>
      <p:sp>
        <p:nvSpPr>
          <p:cNvPr id="32" name="Shape 30"/>
          <p:cNvSpPr/>
          <p:nvPr/>
        </p:nvSpPr>
        <p:spPr>
          <a:xfrm>
            <a:off x="10204704" y="1376172"/>
            <a:ext cx="1828800" cy="1325880"/>
          </a:xfrm>
          <a:prstGeom prst="rect">
            <a:avLst/>
          </a:prstGeom>
          <a:solidFill>
            <a:srgbClr val="0F2040"/>
          </a:solidFill>
          <a:ln w="12700">
            <a:solidFill>
              <a:srgbClr val="0F2040"/>
            </a:solidFill>
            <a:prstDash val="solid"/>
          </a:ln>
        </p:spPr>
      </p:sp>
      <p:sp>
        <p:nvSpPr>
          <p:cNvPr id="33" name="Shape 31"/>
          <p:cNvSpPr/>
          <p:nvPr/>
        </p:nvSpPr>
        <p:spPr>
          <a:xfrm>
            <a:off x="10204704" y="1376172"/>
            <a:ext cx="1828800" cy="54864"/>
          </a:xfrm>
          <a:prstGeom prst="rect">
            <a:avLst/>
          </a:prstGeom>
          <a:solidFill>
            <a:srgbClr val="8B5CF6"/>
          </a:solidFill>
          <a:ln w="12700">
            <a:solidFill>
              <a:srgbClr val="8B5CF6"/>
            </a:solidFill>
            <a:prstDash val="solid"/>
          </a:ln>
        </p:spPr>
      </p:sp>
      <p:sp>
        <p:nvSpPr>
          <p:cNvPr id="34" name="Text 32"/>
          <p:cNvSpPr/>
          <p:nvPr/>
        </p:nvSpPr>
        <p:spPr>
          <a:xfrm>
            <a:off x="10296144" y="1467612"/>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FY2026 EBITDA Guide</a:t>
            </a:r>
            <a:endParaRPr lang="en-US" sz="950" dirty="0"/>
          </a:p>
        </p:txBody>
      </p:sp>
      <p:sp>
        <p:nvSpPr>
          <p:cNvPr id="35" name="Text 33"/>
          <p:cNvSpPr/>
          <p:nvPr/>
        </p:nvSpPr>
        <p:spPr>
          <a:xfrm>
            <a:off x="10296144" y="1723644"/>
            <a:ext cx="1645920" cy="566928"/>
          </a:xfrm>
          <a:prstGeom prst="rect">
            <a:avLst/>
          </a:prstGeom>
          <a:noFill/>
          <a:ln/>
        </p:spPr>
        <p:txBody>
          <a:bodyPr wrap="square" rtlCol="0" anchor="ctr"/>
          <a:lstStyle/>
          <a:p>
            <a:pPr marL="0" indent="0">
              <a:buNone/>
            </a:pPr>
            <a:r>
              <a:rPr lang="en-US" sz="2200" b="1" dirty="0">
                <a:solidFill>
                  <a:srgbClr val="8B5CF6"/>
                </a:solidFill>
                <a:latin typeface="Calibri" pitchFamily="34" charset="0"/>
                <a:ea typeface="Calibri" pitchFamily="34" charset="-122"/>
                <a:cs typeface="Calibri" pitchFamily="34" charset="-120"/>
              </a:rPr>
              <a:t>$1.6B</a:t>
            </a:r>
            <a:endParaRPr lang="en-US" sz="2200" dirty="0"/>
          </a:p>
        </p:txBody>
      </p:sp>
      <p:sp>
        <p:nvSpPr>
          <p:cNvPr id="36" name="Text 34"/>
          <p:cNvSpPr/>
          <p:nvPr/>
        </p:nvSpPr>
        <p:spPr>
          <a:xfrm>
            <a:off x="10296144" y="2290572"/>
            <a:ext cx="1645920" cy="274320"/>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~34% margin target</a:t>
            </a:r>
            <a:endParaRPr lang="en-US" sz="900" dirty="0"/>
          </a:p>
        </p:txBody>
      </p:sp>
      <p:graphicFrame>
        <p:nvGraphicFramePr>
          <p:cNvPr id="37" name="Chart 0"/>
          <p:cNvGraphicFramePr/>
          <p:nvPr>
            <p:extLst>
              <p:ext uri="{D42A27DB-BD31-4B8C-83A1-F6EECF244321}">
                <p14:modId xmlns:p14="http://schemas.microsoft.com/office/powerpoint/2010/main" val="3188879792"/>
              </p:ext>
            </p:extLst>
          </p:nvPr>
        </p:nvGraphicFramePr>
        <p:xfrm>
          <a:off x="237744" y="3052411"/>
          <a:ext cx="4238966" cy="3234089"/>
        </p:xfrm>
        <a:graphic>
          <a:graphicData uri="http://schemas.openxmlformats.org/drawingml/2006/chart">
            <c:chart xmlns:c="http://schemas.openxmlformats.org/drawingml/2006/chart" xmlns:r="http://schemas.openxmlformats.org/officeDocument/2006/relationships" r:id="rId3"/>
          </a:graphicData>
        </a:graphic>
      </p:graphicFrame>
      <p:grpSp>
        <p:nvGrpSpPr>
          <p:cNvPr id="111" name="Group 110">
            <a:extLst>
              <a:ext uri="{FF2B5EF4-FFF2-40B4-BE49-F238E27FC236}">
                <a16:creationId xmlns:a16="http://schemas.microsoft.com/office/drawing/2014/main" id="{A00AECD0-DC40-E5AD-18FF-2B71DC2814DF}"/>
              </a:ext>
            </a:extLst>
          </p:cNvPr>
          <p:cNvGrpSpPr/>
          <p:nvPr/>
        </p:nvGrpSpPr>
        <p:grpSpPr>
          <a:xfrm>
            <a:off x="4633441" y="3052411"/>
            <a:ext cx="7217182" cy="3234089"/>
            <a:chOff x="5806440" y="2304288"/>
            <a:chExt cx="8366760" cy="3438144"/>
          </a:xfrm>
        </p:grpSpPr>
        <p:sp>
          <p:nvSpPr>
            <p:cNvPr id="38" name="Shape 35"/>
            <p:cNvSpPr/>
            <p:nvPr/>
          </p:nvSpPr>
          <p:spPr>
            <a:xfrm>
              <a:off x="5806440" y="2304288"/>
              <a:ext cx="8366760" cy="365760"/>
            </a:xfrm>
            <a:prstGeom prst="rect">
              <a:avLst/>
            </a:prstGeom>
            <a:solidFill>
              <a:srgbClr val="0A1628"/>
            </a:solidFill>
            <a:ln w="12700">
              <a:solidFill>
                <a:srgbClr val="0A1628"/>
              </a:solidFill>
              <a:prstDash val="solid"/>
            </a:ln>
          </p:spPr>
        </p:sp>
        <p:sp>
          <p:nvSpPr>
            <p:cNvPr id="39" name="Text 36"/>
            <p:cNvSpPr/>
            <p:nvPr/>
          </p:nvSpPr>
          <p:spPr>
            <a:xfrm>
              <a:off x="5861304" y="2359152"/>
              <a:ext cx="173736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p>
          </p:txBody>
        </p:sp>
        <p:sp>
          <p:nvSpPr>
            <p:cNvPr id="40" name="Text 37"/>
            <p:cNvSpPr/>
            <p:nvPr/>
          </p:nvSpPr>
          <p:spPr>
            <a:xfrm>
              <a:off x="769010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FY2022</a:t>
              </a:r>
              <a:endParaRPr lang="en-US" sz="1200" dirty="0"/>
            </a:p>
          </p:txBody>
        </p:sp>
        <p:sp>
          <p:nvSpPr>
            <p:cNvPr id="41" name="Text 38"/>
            <p:cNvSpPr/>
            <p:nvPr/>
          </p:nvSpPr>
          <p:spPr>
            <a:xfrm>
              <a:off x="865022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FY2023</a:t>
              </a:r>
              <a:endParaRPr lang="en-US" sz="1200" dirty="0"/>
            </a:p>
          </p:txBody>
        </p:sp>
        <p:sp>
          <p:nvSpPr>
            <p:cNvPr id="42" name="Text 39"/>
            <p:cNvSpPr/>
            <p:nvPr/>
          </p:nvSpPr>
          <p:spPr>
            <a:xfrm>
              <a:off x="9610344" y="2359152"/>
              <a:ext cx="86868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FY2024</a:t>
              </a:r>
              <a:endParaRPr lang="en-US" sz="1200" dirty="0"/>
            </a:p>
          </p:txBody>
        </p:sp>
        <p:sp>
          <p:nvSpPr>
            <p:cNvPr id="43" name="Text 40"/>
            <p:cNvSpPr/>
            <p:nvPr/>
          </p:nvSpPr>
          <p:spPr>
            <a:xfrm>
              <a:off x="10570464" y="2359152"/>
              <a:ext cx="91440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FY2025</a:t>
              </a:r>
              <a:endParaRPr lang="en-US" sz="1200" dirty="0"/>
            </a:p>
          </p:txBody>
        </p:sp>
        <p:sp>
          <p:nvSpPr>
            <p:cNvPr id="44" name="Text 41"/>
            <p:cNvSpPr/>
            <p:nvPr/>
          </p:nvSpPr>
          <p:spPr>
            <a:xfrm>
              <a:off x="11576304" y="2359152"/>
              <a:ext cx="10058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FY2026E</a:t>
              </a:r>
              <a:endParaRPr lang="en-US" sz="1200" dirty="0"/>
            </a:p>
          </p:txBody>
        </p:sp>
        <p:sp>
          <p:nvSpPr>
            <p:cNvPr id="45" name="Text 42"/>
            <p:cNvSpPr/>
            <p:nvPr/>
          </p:nvSpPr>
          <p:spPr>
            <a:xfrm>
              <a:off x="12673584" y="2359152"/>
              <a:ext cx="14630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Trend</a:t>
              </a:r>
              <a:endParaRPr lang="en-US" sz="1200" dirty="0"/>
            </a:p>
          </p:txBody>
        </p:sp>
        <p:sp>
          <p:nvSpPr>
            <p:cNvPr id="46" name="Shape 43"/>
            <p:cNvSpPr/>
            <p:nvPr/>
          </p:nvSpPr>
          <p:spPr>
            <a:xfrm>
              <a:off x="5806440" y="2688336"/>
              <a:ext cx="8366760" cy="365760"/>
            </a:xfrm>
            <a:prstGeom prst="rect">
              <a:avLst/>
            </a:prstGeom>
            <a:solidFill>
              <a:srgbClr val="0F1A30"/>
            </a:solidFill>
            <a:ln w="12700">
              <a:solidFill>
                <a:srgbClr val="0F1A30"/>
              </a:solidFill>
              <a:prstDash val="solid"/>
            </a:ln>
          </p:spPr>
        </p:sp>
        <p:sp>
          <p:nvSpPr>
            <p:cNvPr id="47" name="Text 44"/>
            <p:cNvSpPr/>
            <p:nvPr/>
          </p:nvSpPr>
          <p:spPr>
            <a:xfrm>
              <a:off x="5861304" y="2743200"/>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Adj. Net Rev ($B)</a:t>
              </a:r>
              <a:endParaRPr lang="en-US" sz="1100" dirty="0"/>
            </a:p>
          </p:txBody>
        </p:sp>
        <p:sp>
          <p:nvSpPr>
            <p:cNvPr id="48" name="Text 45"/>
            <p:cNvSpPr/>
            <p:nvPr/>
          </p:nvSpPr>
          <p:spPr>
            <a:xfrm>
              <a:off x="7690104" y="274320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$1.5</a:t>
              </a:r>
              <a:endParaRPr lang="en-US" sz="1100" dirty="0"/>
            </a:p>
          </p:txBody>
        </p:sp>
        <p:sp>
          <p:nvSpPr>
            <p:cNvPr id="49" name="Text 46"/>
            <p:cNvSpPr/>
            <p:nvPr/>
          </p:nvSpPr>
          <p:spPr>
            <a:xfrm>
              <a:off x="8650224" y="274320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$2.1</a:t>
              </a:r>
              <a:endParaRPr lang="en-US" sz="1100" dirty="0"/>
            </a:p>
          </p:txBody>
        </p:sp>
        <p:sp>
          <p:nvSpPr>
            <p:cNvPr id="50" name="Text 47"/>
            <p:cNvSpPr/>
            <p:nvPr/>
          </p:nvSpPr>
          <p:spPr>
            <a:xfrm>
              <a:off x="9610344" y="274320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$2.6</a:t>
              </a:r>
              <a:endParaRPr lang="en-US" sz="1100" dirty="0"/>
            </a:p>
          </p:txBody>
        </p:sp>
        <p:sp>
          <p:nvSpPr>
            <p:cNvPr id="51" name="Text 48"/>
            <p:cNvSpPr/>
            <p:nvPr/>
          </p:nvSpPr>
          <p:spPr>
            <a:xfrm>
              <a:off x="10570464" y="2743200"/>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$3.7</a:t>
              </a:r>
              <a:endParaRPr lang="en-US" sz="1100" dirty="0"/>
            </a:p>
          </p:txBody>
        </p:sp>
        <p:sp>
          <p:nvSpPr>
            <p:cNvPr id="52" name="Text 49"/>
            <p:cNvSpPr/>
            <p:nvPr/>
          </p:nvSpPr>
          <p:spPr>
            <a:xfrm>
              <a:off x="11576304" y="2743200"/>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$4.655E</a:t>
              </a:r>
              <a:endParaRPr lang="en-US" sz="1100" dirty="0"/>
            </a:p>
          </p:txBody>
        </p:sp>
        <p:sp>
          <p:nvSpPr>
            <p:cNvPr id="53" name="Text 50"/>
            <p:cNvSpPr/>
            <p:nvPr/>
          </p:nvSpPr>
          <p:spPr>
            <a:xfrm>
              <a:off x="12673584" y="2743200"/>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+27% YoY FY25</a:t>
              </a:r>
              <a:endParaRPr lang="en-US" sz="1100" dirty="0"/>
            </a:p>
          </p:txBody>
        </p:sp>
        <p:sp>
          <p:nvSpPr>
            <p:cNvPr id="54" name="Shape 51"/>
            <p:cNvSpPr/>
            <p:nvPr/>
          </p:nvSpPr>
          <p:spPr>
            <a:xfrm>
              <a:off x="5806440" y="3072384"/>
              <a:ext cx="8366760" cy="365760"/>
            </a:xfrm>
            <a:prstGeom prst="rect">
              <a:avLst/>
            </a:prstGeom>
            <a:solidFill>
              <a:srgbClr val="0F2040"/>
            </a:solidFill>
            <a:ln w="12700">
              <a:solidFill>
                <a:srgbClr val="0F2040"/>
              </a:solidFill>
              <a:prstDash val="solid"/>
            </a:ln>
          </p:spPr>
        </p:sp>
        <p:sp>
          <p:nvSpPr>
            <p:cNvPr id="55" name="Text 52"/>
            <p:cNvSpPr/>
            <p:nvPr/>
          </p:nvSpPr>
          <p:spPr>
            <a:xfrm>
              <a:off x="5861304" y="3127248"/>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GAAP Revenue ($B)</a:t>
              </a:r>
              <a:endParaRPr lang="en-US" sz="1100" dirty="0"/>
            </a:p>
          </p:txBody>
        </p:sp>
        <p:sp>
          <p:nvSpPr>
            <p:cNvPr id="56" name="Text 53"/>
            <p:cNvSpPr/>
            <p:nvPr/>
          </p:nvSpPr>
          <p:spPr>
            <a:xfrm>
              <a:off x="7690104" y="312724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$1.5</a:t>
              </a:r>
              <a:endParaRPr lang="en-US" sz="1100" dirty="0"/>
            </a:p>
          </p:txBody>
        </p:sp>
        <p:sp>
          <p:nvSpPr>
            <p:cNvPr id="57" name="Text 54"/>
            <p:cNvSpPr/>
            <p:nvPr/>
          </p:nvSpPr>
          <p:spPr>
            <a:xfrm>
              <a:off x="8650224" y="312724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$2.0</a:t>
              </a:r>
              <a:endParaRPr lang="en-US" sz="1100" dirty="0"/>
            </a:p>
          </p:txBody>
        </p:sp>
        <p:sp>
          <p:nvSpPr>
            <p:cNvPr id="58" name="Text 55"/>
            <p:cNvSpPr/>
            <p:nvPr/>
          </p:nvSpPr>
          <p:spPr>
            <a:xfrm>
              <a:off x="9610344" y="312724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$2.7</a:t>
              </a:r>
              <a:endParaRPr lang="en-US" sz="1100" dirty="0"/>
            </a:p>
          </p:txBody>
        </p:sp>
        <p:sp>
          <p:nvSpPr>
            <p:cNvPr id="59" name="Text 56"/>
            <p:cNvSpPr/>
            <p:nvPr/>
          </p:nvSpPr>
          <p:spPr>
            <a:xfrm>
              <a:off x="10570464" y="3127248"/>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$3.7</a:t>
              </a:r>
              <a:endParaRPr lang="en-US" sz="1100" dirty="0"/>
            </a:p>
          </p:txBody>
        </p:sp>
        <p:sp>
          <p:nvSpPr>
            <p:cNvPr id="60" name="Text 57"/>
            <p:cNvSpPr/>
            <p:nvPr/>
          </p:nvSpPr>
          <p:spPr>
            <a:xfrm>
              <a:off x="11576304" y="3127248"/>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~$4.5E</a:t>
              </a:r>
              <a:endParaRPr lang="en-US" sz="1100" dirty="0"/>
            </a:p>
          </p:txBody>
        </p:sp>
        <p:sp>
          <p:nvSpPr>
            <p:cNvPr id="61" name="Text 58"/>
            <p:cNvSpPr/>
            <p:nvPr/>
          </p:nvSpPr>
          <p:spPr>
            <a:xfrm>
              <a:off x="12673584" y="3127248"/>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Consistent growth</a:t>
              </a:r>
              <a:endParaRPr lang="en-US" sz="1100" dirty="0"/>
            </a:p>
          </p:txBody>
        </p:sp>
        <p:sp>
          <p:nvSpPr>
            <p:cNvPr id="62" name="Shape 59"/>
            <p:cNvSpPr/>
            <p:nvPr/>
          </p:nvSpPr>
          <p:spPr>
            <a:xfrm>
              <a:off x="5806440" y="3456432"/>
              <a:ext cx="8366760" cy="365760"/>
            </a:xfrm>
            <a:prstGeom prst="rect">
              <a:avLst/>
            </a:prstGeom>
            <a:solidFill>
              <a:srgbClr val="0F1A30"/>
            </a:solidFill>
            <a:ln w="12700">
              <a:solidFill>
                <a:srgbClr val="0F1A30"/>
              </a:solidFill>
              <a:prstDash val="solid"/>
            </a:ln>
          </p:spPr>
        </p:sp>
        <p:sp>
          <p:nvSpPr>
            <p:cNvPr id="63" name="Text 60"/>
            <p:cNvSpPr/>
            <p:nvPr/>
          </p:nvSpPr>
          <p:spPr>
            <a:xfrm>
              <a:off x="5861304" y="3511296"/>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Adj. EBITDA ($M)</a:t>
              </a:r>
              <a:endParaRPr lang="en-US" sz="1100" dirty="0"/>
            </a:p>
          </p:txBody>
        </p:sp>
        <p:sp>
          <p:nvSpPr>
            <p:cNvPr id="64" name="Text 61"/>
            <p:cNvSpPr/>
            <p:nvPr/>
          </p:nvSpPr>
          <p:spPr>
            <a:xfrm>
              <a:off x="7690104" y="351129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$143</a:t>
              </a:r>
              <a:endParaRPr lang="en-US" sz="1100" dirty="0"/>
            </a:p>
          </p:txBody>
        </p:sp>
        <p:sp>
          <p:nvSpPr>
            <p:cNvPr id="65" name="Text 62"/>
            <p:cNvSpPr/>
            <p:nvPr/>
          </p:nvSpPr>
          <p:spPr>
            <a:xfrm>
              <a:off x="8650224" y="351129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$432</a:t>
              </a:r>
              <a:endParaRPr lang="en-US" sz="1100" dirty="0"/>
            </a:p>
          </p:txBody>
        </p:sp>
        <p:sp>
          <p:nvSpPr>
            <p:cNvPr id="66" name="Text 63"/>
            <p:cNvSpPr/>
            <p:nvPr/>
          </p:nvSpPr>
          <p:spPr>
            <a:xfrm>
              <a:off x="9610344" y="351129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$666</a:t>
              </a:r>
              <a:endParaRPr lang="en-US" sz="1100" dirty="0"/>
            </a:p>
          </p:txBody>
        </p:sp>
        <p:sp>
          <p:nvSpPr>
            <p:cNvPr id="67" name="Text 64"/>
            <p:cNvSpPr/>
            <p:nvPr/>
          </p:nvSpPr>
          <p:spPr>
            <a:xfrm>
              <a:off x="10570464" y="3511296"/>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$1,035</a:t>
              </a:r>
              <a:endParaRPr lang="en-US" sz="1100" dirty="0"/>
            </a:p>
          </p:txBody>
        </p:sp>
        <p:sp>
          <p:nvSpPr>
            <p:cNvPr id="68" name="Text 65"/>
            <p:cNvSpPr/>
            <p:nvPr/>
          </p:nvSpPr>
          <p:spPr>
            <a:xfrm>
              <a:off x="11576304" y="3511296"/>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~$1,600E</a:t>
              </a:r>
              <a:endParaRPr lang="en-US" sz="1100" dirty="0"/>
            </a:p>
          </p:txBody>
        </p:sp>
        <p:sp>
          <p:nvSpPr>
            <p:cNvPr id="69" name="Text 66"/>
            <p:cNvSpPr/>
            <p:nvPr/>
          </p:nvSpPr>
          <p:spPr>
            <a:xfrm>
              <a:off x="12673584" y="3511296"/>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+55% FY25</a:t>
              </a:r>
              <a:endParaRPr lang="en-US" sz="1100" dirty="0"/>
            </a:p>
          </p:txBody>
        </p:sp>
        <p:sp>
          <p:nvSpPr>
            <p:cNvPr id="70" name="Shape 67"/>
            <p:cNvSpPr/>
            <p:nvPr/>
          </p:nvSpPr>
          <p:spPr>
            <a:xfrm>
              <a:off x="5806440" y="3840480"/>
              <a:ext cx="8366760" cy="365760"/>
            </a:xfrm>
            <a:prstGeom prst="rect">
              <a:avLst/>
            </a:prstGeom>
            <a:solidFill>
              <a:srgbClr val="0F2040"/>
            </a:solidFill>
            <a:ln w="12700">
              <a:solidFill>
                <a:srgbClr val="0F2040"/>
              </a:solidFill>
              <a:prstDash val="solid"/>
            </a:ln>
          </p:spPr>
        </p:sp>
        <p:sp>
          <p:nvSpPr>
            <p:cNvPr id="71" name="Text 68"/>
            <p:cNvSpPr/>
            <p:nvPr/>
          </p:nvSpPr>
          <p:spPr>
            <a:xfrm>
              <a:off x="5861304" y="3895344"/>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EBITDA Margin</a:t>
              </a:r>
              <a:endParaRPr lang="en-US" sz="1100" dirty="0"/>
            </a:p>
          </p:txBody>
        </p:sp>
        <p:sp>
          <p:nvSpPr>
            <p:cNvPr id="72" name="Text 69"/>
            <p:cNvSpPr/>
            <p:nvPr/>
          </p:nvSpPr>
          <p:spPr>
            <a:xfrm>
              <a:off x="7690104" y="3895344"/>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10%</a:t>
              </a:r>
              <a:endParaRPr lang="en-US" sz="1100" dirty="0"/>
            </a:p>
          </p:txBody>
        </p:sp>
        <p:sp>
          <p:nvSpPr>
            <p:cNvPr id="73" name="Text 70"/>
            <p:cNvSpPr/>
            <p:nvPr/>
          </p:nvSpPr>
          <p:spPr>
            <a:xfrm>
              <a:off x="8650224" y="3895344"/>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21%</a:t>
              </a:r>
              <a:endParaRPr lang="en-US" sz="1100" dirty="0"/>
            </a:p>
          </p:txBody>
        </p:sp>
        <p:sp>
          <p:nvSpPr>
            <p:cNvPr id="74" name="Text 71"/>
            <p:cNvSpPr/>
            <p:nvPr/>
          </p:nvSpPr>
          <p:spPr>
            <a:xfrm>
              <a:off x="9610344" y="3895344"/>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26%</a:t>
              </a:r>
              <a:endParaRPr lang="en-US" sz="1100" dirty="0"/>
            </a:p>
          </p:txBody>
        </p:sp>
        <p:sp>
          <p:nvSpPr>
            <p:cNvPr id="75" name="Text 72"/>
            <p:cNvSpPr/>
            <p:nvPr/>
          </p:nvSpPr>
          <p:spPr>
            <a:xfrm>
              <a:off x="10570464" y="3895344"/>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28%</a:t>
              </a:r>
              <a:endParaRPr lang="en-US" sz="1100" dirty="0"/>
            </a:p>
          </p:txBody>
        </p:sp>
        <p:sp>
          <p:nvSpPr>
            <p:cNvPr id="76" name="Text 73"/>
            <p:cNvSpPr/>
            <p:nvPr/>
          </p:nvSpPr>
          <p:spPr>
            <a:xfrm>
              <a:off x="11576304" y="3895344"/>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~34%E</a:t>
              </a:r>
              <a:endParaRPr lang="en-US" sz="1100" dirty="0"/>
            </a:p>
          </p:txBody>
        </p:sp>
        <p:sp>
          <p:nvSpPr>
            <p:cNvPr id="77" name="Text 74"/>
            <p:cNvSpPr/>
            <p:nvPr/>
          </p:nvSpPr>
          <p:spPr>
            <a:xfrm>
              <a:off x="12673584" y="3895344"/>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Rapid expansion</a:t>
              </a:r>
              <a:endParaRPr lang="en-US" sz="1100" dirty="0"/>
            </a:p>
          </p:txBody>
        </p:sp>
        <p:sp>
          <p:nvSpPr>
            <p:cNvPr id="78" name="Shape 75"/>
            <p:cNvSpPr/>
            <p:nvPr/>
          </p:nvSpPr>
          <p:spPr>
            <a:xfrm>
              <a:off x="5806440" y="4224528"/>
              <a:ext cx="8366760" cy="365760"/>
            </a:xfrm>
            <a:prstGeom prst="rect">
              <a:avLst/>
            </a:prstGeom>
            <a:solidFill>
              <a:srgbClr val="0F1A30"/>
            </a:solidFill>
            <a:ln w="12700">
              <a:solidFill>
                <a:srgbClr val="0F1A30"/>
              </a:solidFill>
              <a:prstDash val="solid"/>
            </a:ln>
          </p:spPr>
        </p:sp>
        <p:sp>
          <p:nvSpPr>
            <p:cNvPr id="79" name="Text 76"/>
            <p:cNvSpPr/>
            <p:nvPr/>
          </p:nvSpPr>
          <p:spPr>
            <a:xfrm>
              <a:off x="5861304" y="4279392"/>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Net Income (GAAP)</a:t>
              </a:r>
              <a:endParaRPr lang="en-US" sz="1100" dirty="0"/>
            </a:p>
          </p:txBody>
        </p:sp>
        <p:sp>
          <p:nvSpPr>
            <p:cNvPr id="80" name="Text 77"/>
            <p:cNvSpPr/>
            <p:nvPr/>
          </p:nvSpPr>
          <p:spPr>
            <a:xfrm>
              <a:off x="7690104" y="4279392"/>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$(320)M</a:t>
              </a:r>
              <a:endParaRPr lang="en-US" sz="1100" dirty="0"/>
            </a:p>
          </p:txBody>
        </p:sp>
        <p:sp>
          <p:nvSpPr>
            <p:cNvPr id="81" name="Text 78"/>
            <p:cNvSpPr/>
            <p:nvPr/>
          </p:nvSpPr>
          <p:spPr>
            <a:xfrm>
              <a:off x="8650224" y="4279392"/>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$(301)M</a:t>
              </a:r>
              <a:endParaRPr lang="en-US" sz="1100" dirty="0"/>
            </a:p>
          </p:txBody>
        </p:sp>
        <p:sp>
          <p:nvSpPr>
            <p:cNvPr id="82" name="Text 79"/>
            <p:cNvSpPr/>
            <p:nvPr/>
          </p:nvSpPr>
          <p:spPr>
            <a:xfrm>
              <a:off x="9610344" y="4279392"/>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$499M</a:t>
              </a:r>
              <a:endParaRPr lang="en-US" sz="1100" dirty="0"/>
            </a:p>
          </p:txBody>
        </p:sp>
        <p:sp>
          <p:nvSpPr>
            <p:cNvPr id="83" name="Text 80"/>
            <p:cNvSpPr/>
            <p:nvPr/>
          </p:nvSpPr>
          <p:spPr>
            <a:xfrm>
              <a:off x="10570464" y="4279392"/>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$559M*</a:t>
              </a:r>
              <a:endParaRPr lang="en-US" sz="1100" dirty="0"/>
            </a:p>
          </p:txBody>
        </p:sp>
        <p:sp>
          <p:nvSpPr>
            <p:cNvPr id="84" name="Text 81"/>
            <p:cNvSpPr/>
            <p:nvPr/>
          </p:nvSpPr>
          <p:spPr>
            <a:xfrm>
              <a:off x="11576304" y="4279392"/>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~$825ME</a:t>
              </a:r>
              <a:endParaRPr lang="en-US" sz="1100" dirty="0"/>
            </a:p>
          </p:txBody>
        </p:sp>
        <p:sp>
          <p:nvSpPr>
            <p:cNvPr id="85" name="Text 82"/>
            <p:cNvSpPr/>
            <p:nvPr/>
          </p:nvSpPr>
          <p:spPr>
            <a:xfrm>
              <a:off x="12673584" y="4279392"/>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First full-yr profit 2024</a:t>
              </a:r>
              <a:endParaRPr lang="en-US" sz="1100" dirty="0"/>
            </a:p>
          </p:txBody>
        </p:sp>
        <p:sp>
          <p:nvSpPr>
            <p:cNvPr id="86" name="Shape 83"/>
            <p:cNvSpPr/>
            <p:nvPr/>
          </p:nvSpPr>
          <p:spPr>
            <a:xfrm>
              <a:off x="5806440" y="4608576"/>
              <a:ext cx="8366760" cy="365760"/>
            </a:xfrm>
            <a:prstGeom prst="rect">
              <a:avLst/>
            </a:prstGeom>
            <a:solidFill>
              <a:srgbClr val="0F2040"/>
            </a:solidFill>
            <a:ln w="12700">
              <a:solidFill>
                <a:srgbClr val="0F2040"/>
              </a:solidFill>
              <a:prstDash val="solid"/>
            </a:ln>
          </p:spPr>
        </p:sp>
        <p:sp>
          <p:nvSpPr>
            <p:cNvPr id="87" name="Text 84"/>
            <p:cNvSpPr/>
            <p:nvPr/>
          </p:nvSpPr>
          <p:spPr>
            <a:xfrm>
              <a:off x="5861304" y="4663440"/>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EPS (diluted GAAP)</a:t>
              </a:r>
              <a:endParaRPr lang="en-US" sz="1100" dirty="0"/>
            </a:p>
          </p:txBody>
        </p:sp>
        <p:sp>
          <p:nvSpPr>
            <p:cNvPr id="88" name="Text 85"/>
            <p:cNvSpPr/>
            <p:nvPr/>
          </p:nvSpPr>
          <p:spPr>
            <a:xfrm>
              <a:off x="7690104" y="466344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$(0.35)</a:t>
              </a:r>
              <a:endParaRPr lang="en-US" sz="1100" dirty="0"/>
            </a:p>
          </p:txBody>
        </p:sp>
        <p:sp>
          <p:nvSpPr>
            <p:cNvPr id="89" name="Text 86"/>
            <p:cNvSpPr/>
            <p:nvPr/>
          </p:nvSpPr>
          <p:spPr>
            <a:xfrm>
              <a:off x="8650224" y="466344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$(0.27)</a:t>
              </a:r>
              <a:endParaRPr lang="en-US" sz="1100" dirty="0"/>
            </a:p>
          </p:txBody>
        </p:sp>
        <p:sp>
          <p:nvSpPr>
            <p:cNvPr id="90" name="Text 87"/>
            <p:cNvSpPr/>
            <p:nvPr/>
          </p:nvSpPr>
          <p:spPr>
            <a:xfrm>
              <a:off x="9610344" y="4663440"/>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$0.39</a:t>
              </a:r>
              <a:endParaRPr lang="en-US" sz="1100" dirty="0"/>
            </a:p>
          </p:txBody>
        </p:sp>
        <p:sp>
          <p:nvSpPr>
            <p:cNvPr id="91" name="Text 88"/>
            <p:cNvSpPr/>
            <p:nvPr/>
          </p:nvSpPr>
          <p:spPr>
            <a:xfrm>
              <a:off x="10570464" y="4663440"/>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$0.44*</a:t>
              </a:r>
              <a:endParaRPr lang="en-US" sz="1100" dirty="0"/>
            </a:p>
          </p:txBody>
        </p:sp>
        <p:sp>
          <p:nvSpPr>
            <p:cNvPr id="92" name="Text 89"/>
            <p:cNvSpPr/>
            <p:nvPr/>
          </p:nvSpPr>
          <p:spPr>
            <a:xfrm>
              <a:off x="11576304" y="4663440"/>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~$0.55E</a:t>
              </a:r>
              <a:endParaRPr lang="en-US" sz="1100" dirty="0"/>
            </a:p>
          </p:txBody>
        </p:sp>
        <p:sp>
          <p:nvSpPr>
            <p:cNvPr id="93" name="Text 90"/>
            <p:cNvSpPr/>
            <p:nvPr/>
          </p:nvSpPr>
          <p:spPr>
            <a:xfrm>
              <a:off x="12673584" y="4663440"/>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Strong leverage</a:t>
              </a:r>
              <a:endParaRPr lang="en-US" sz="1100" dirty="0"/>
            </a:p>
          </p:txBody>
        </p:sp>
        <p:sp>
          <p:nvSpPr>
            <p:cNvPr id="94" name="Shape 91"/>
            <p:cNvSpPr/>
            <p:nvPr/>
          </p:nvSpPr>
          <p:spPr>
            <a:xfrm>
              <a:off x="5806440" y="4992624"/>
              <a:ext cx="8366760" cy="365760"/>
            </a:xfrm>
            <a:prstGeom prst="rect">
              <a:avLst/>
            </a:prstGeom>
            <a:solidFill>
              <a:srgbClr val="0F1A30"/>
            </a:solidFill>
            <a:ln w="12700">
              <a:solidFill>
                <a:srgbClr val="0F1A30"/>
              </a:solidFill>
              <a:prstDash val="solid"/>
            </a:ln>
          </p:spPr>
        </p:sp>
        <p:sp>
          <p:nvSpPr>
            <p:cNvPr id="95" name="Text 92"/>
            <p:cNvSpPr/>
            <p:nvPr/>
          </p:nvSpPr>
          <p:spPr>
            <a:xfrm>
              <a:off x="5861304" y="5047488"/>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Members (M)</a:t>
              </a:r>
              <a:endParaRPr lang="en-US" sz="1100" dirty="0"/>
            </a:p>
          </p:txBody>
        </p:sp>
        <p:sp>
          <p:nvSpPr>
            <p:cNvPr id="96" name="Text 93"/>
            <p:cNvSpPr/>
            <p:nvPr/>
          </p:nvSpPr>
          <p:spPr>
            <a:xfrm>
              <a:off x="7690104" y="504748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4.3M</a:t>
              </a:r>
              <a:endParaRPr lang="en-US" sz="1100" dirty="0"/>
            </a:p>
          </p:txBody>
        </p:sp>
        <p:sp>
          <p:nvSpPr>
            <p:cNvPr id="97" name="Text 94"/>
            <p:cNvSpPr/>
            <p:nvPr/>
          </p:nvSpPr>
          <p:spPr>
            <a:xfrm>
              <a:off x="8650224" y="504748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7.5M</a:t>
              </a:r>
              <a:endParaRPr lang="en-US" sz="1100" dirty="0"/>
            </a:p>
          </p:txBody>
        </p:sp>
        <p:sp>
          <p:nvSpPr>
            <p:cNvPr id="98" name="Text 95"/>
            <p:cNvSpPr/>
            <p:nvPr/>
          </p:nvSpPr>
          <p:spPr>
            <a:xfrm>
              <a:off x="9610344" y="5047488"/>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10.6M</a:t>
              </a:r>
              <a:endParaRPr lang="en-US" sz="1100" dirty="0"/>
            </a:p>
          </p:txBody>
        </p:sp>
        <p:sp>
          <p:nvSpPr>
            <p:cNvPr id="99" name="Text 96"/>
            <p:cNvSpPr/>
            <p:nvPr/>
          </p:nvSpPr>
          <p:spPr>
            <a:xfrm>
              <a:off x="10570464" y="5047488"/>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14.0M</a:t>
              </a:r>
              <a:endParaRPr lang="en-US" sz="1100" dirty="0"/>
            </a:p>
          </p:txBody>
        </p:sp>
        <p:sp>
          <p:nvSpPr>
            <p:cNvPr id="100" name="Text 97"/>
            <p:cNvSpPr/>
            <p:nvPr/>
          </p:nvSpPr>
          <p:spPr>
            <a:xfrm>
              <a:off x="11576304" y="5047488"/>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~17.5ME</a:t>
              </a:r>
              <a:endParaRPr lang="en-US" sz="1100" dirty="0"/>
            </a:p>
          </p:txBody>
        </p:sp>
        <p:sp>
          <p:nvSpPr>
            <p:cNvPr id="101" name="Text 98"/>
            <p:cNvSpPr/>
            <p:nvPr/>
          </p:nvSpPr>
          <p:spPr>
            <a:xfrm>
              <a:off x="12673584" y="5047488"/>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+32% CAGR</a:t>
              </a:r>
              <a:endParaRPr lang="en-US" sz="1100" dirty="0"/>
            </a:p>
          </p:txBody>
        </p:sp>
        <p:sp>
          <p:nvSpPr>
            <p:cNvPr id="102" name="Shape 99"/>
            <p:cNvSpPr/>
            <p:nvPr/>
          </p:nvSpPr>
          <p:spPr>
            <a:xfrm>
              <a:off x="5806440" y="5376672"/>
              <a:ext cx="8366760" cy="365760"/>
            </a:xfrm>
            <a:prstGeom prst="rect">
              <a:avLst/>
            </a:prstGeom>
            <a:solidFill>
              <a:srgbClr val="0F2040"/>
            </a:solidFill>
            <a:ln w="12700">
              <a:solidFill>
                <a:srgbClr val="0F2040"/>
              </a:solidFill>
              <a:prstDash val="solid"/>
            </a:ln>
          </p:spPr>
        </p:sp>
        <p:sp>
          <p:nvSpPr>
            <p:cNvPr id="103" name="Text 100"/>
            <p:cNvSpPr/>
            <p:nvPr/>
          </p:nvSpPr>
          <p:spPr>
            <a:xfrm>
              <a:off x="5861304" y="5431536"/>
              <a:ext cx="173736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Deposits ($B)</a:t>
              </a:r>
              <a:endParaRPr lang="en-US" sz="1100" dirty="0"/>
            </a:p>
          </p:txBody>
        </p:sp>
        <p:sp>
          <p:nvSpPr>
            <p:cNvPr id="104" name="Text 101"/>
            <p:cNvSpPr/>
            <p:nvPr/>
          </p:nvSpPr>
          <p:spPr>
            <a:xfrm>
              <a:off x="7690104" y="543153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a:t>
              </a:r>
              <a:endParaRPr lang="en-US" sz="1100" dirty="0"/>
            </a:p>
          </p:txBody>
        </p:sp>
        <p:sp>
          <p:nvSpPr>
            <p:cNvPr id="105" name="Text 102"/>
            <p:cNvSpPr/>
            <p:nvPr/>
          </p:nvSpPr>
          <p:spPr>
            <a:xfrm>
              <a:off x="8650224" y="543153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$14B</a:t>
              </a:r>
              <a:endParaRPr lang="en-US" sz="1100" dirty="0"/>
            </a:p>
          </p:txBody>
        </p:sp>
        <p:sp>
          <p:nvSpPr>
            <p:cNvPr id="106" name="Text 103"/>
            <p:cNvSpPr/>
            <p:nvPr/>
          </p:nvSpPr>
          <p:spPr>
            <a:xfrm>
              <a:off x="9610344" y="5431536"/>
              <a:ext cx="86868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$26B</a:t>
              </a:r>
              <a:endParaRPr lang="en-US" sz="1100" dirty="0"/>
            </a:p>
          </p:txBody>
        </p:sp>
        <p:sp>
          <p:nvSpPr>
            <p:cNvPr id="107" name="Text 104"/>
            <p:cNvSpPr/>
            <p:nvPr/>
          </p:nvSpPr>
          <p:spPr>
            <a:xfrm>
              <a:off x="10570464" y="5431536"/>
              <a:ext cx="914400" cy="274320"/>
            </a:xfrm>
            <a:prstGeom prst="rect">
              <a:avLst/>
            </a:prstGeom>
            <a:noFill/>
            <a:ln/>
          </p:spPr>
          <p:txBody>
            <a:bodyPr wrap="square" rtlCol="0" anchor="ctr"/>
            <a:lstStyle/>
            <a:p>
              <a:pPr marL="0" indent="0">
                <a:buNone/>
              </a:pPr>
              <a:r>
                <a:rPr lang="en-US" sz="1100" dirty="0">
                  <a:solidFill>
                    <a:srgbClr val="FFB800"/>
                  </a:solidFill>
                  <a:latin typeface="Calibri" pitchFamily="34" charset="0"/>
                  <a:ea typeface="Calibri" pitchFamily="34" charset="-122"/>
                  <a:cs typeface="Calibri" pitchFamily="34" charset="-120"/>
                </a:rPr>
                <a:t>$35B+</a:t>
              </a:r>
              <a:endParaRPr lang="en-US" sz="1100" dirty="0"/>
            </a:p>
          </p:txBody>
        </p:sp>
        <p:sp>
          <p:nvSpPr>
            <p:cNvPr id="108" name="Text 105"/>
            <p:cNvSpPr/>
            <p:nvPr/>
          </p:nvSpPr>
          <p:spPr>
            <a:xfrm>
              <a:off x="11576304" y="5431536"/>
              <a:ext cx="1005840" cy="274320"/>
            </a:xfrm>
            <a:prstGeom prst="rect">
              <a:avLst/>
            </a:prstGeom>
            <a:noFill/>
            <a:ln/>
          </p:spPr>
          <p:txBody>
            <a:bodyPr wrap="square" rtlCol="0" anchor="ctr"/>
            <a:lstStyle/>
            <a:p>
              <a:pPr marL="0" indent="0">
                <a:buNone/>
              </a:pPr>
              <a:r>
                <a:rPr lang="en-US" sz="1100" dirty="0">
                  <a:solidFill>
                    <a:srgbClr val="D8E8F4"/>
                  </a:solidFill>
                  <a:latin typeface="Calibri" pitchFamily="34" charset="0"/>
                  <a:ea typeface="Calibri" pitchFamily="34" charset="-122"/>
                  <a:cs typeface="Calibri" pitchFamily="34" charset="-120"/>
                </a:rPr>
                <a:t>~$48BE</a:t>
              </a:r>
              <a:endParaRPr lang="en-US" sz="1100" dirty="0"/>
            </a:p>
          </p:txBody>
        </p:sp>
        <p:sp>
          <p:nvSpPr>
            <p:cNvPr id="109" name="Text 106"/>
            <p:cNvSpPr/>
            <p:nvPr/>
          </p:nvSpPr>
          <p:spPr>
            <a:xfrm>
              <a:off x="12673584" y="5431536"/>
              <a:ext cx="1463040" cy="274320"/>
            </a:xfrm>
            <a:prstGeom prst="rect">
              <a:avLst/>
            </a:prstGeom>
            <a:noFill/>
            <a:ln/>
          </p:spPr>
          <p:txBody>
            <a:bodyPr wrap="square" rtlCol="0" anchor="ctr"/>
            <a:lstStyle/>
            <a:p>
              <a:pPr marL="0" indent="0">
                <a:buNone/>
              </a:pPr>
              <a:r>
                <a:rPr lang="en-US" sz="1100" dirty="0">
                  <a:solidFill>
                    <a:srgbClr val="00D68F"/>
                  </a:solidFill>
                  <a:latin typeface="Calibri" pitchFamily="34" charset="0"/>
                  <a:ea typeface="Calibri" pitchFamily="34" charset="-122"/>
                  <a:cs typeface="Calibri" pitchFamily="34" charset="-120"/>
                </a:rPr>
                <a:t>↑↑ National bank moat</a:t>
              </a:r>
              <a:endParaRPr lang="en-US" sz="1100" dirty="0"/>
            </a:p>
          </p:txBody>
        </p:sp>
      </p:grpSp>
      <p:sp>
        <p:nvSpPr>
          <p:cNvPr id="110" name="Text 107"/>
          <p:cNvSpPr/>
          <p:nvPr/>
        </p:nvSpPr>
        <p:spPr>
          <a:xfrm>
            <a:off x="256032" y="6565392"/>
            <a:ext cx="11612880" cy="219456"/>
          </a:xfrm>
          <a:prstGeom prst="rect">
            <a:avLst/>
          </a:prstGeom>
          <a:noFill/>
          <a:ln/>
        </p:spPr>
        <p:txBody>
          <a:bodyPr wrap="square" rtlCol="0" anchor="ctr"/>
          <a:lstStyle/>
          <a:p>
            <a:pPr marL="0" indent="0">
              <a:buNone/>
            </a:pPr>
            <a:r>
              <a:rPr lang="en-US" sz="850" i="1" dirty="0">
                <a:solidFill>
                  <a:srgbClr val="8899BB"/>
                </a:solidFill>
                <a:latin typeface="Calibri" pitchFamily="34" charset="0"/>
                <a:ea typeface="Calibri" pitchFamily="34" charset="-122"/>
                <a:cs typeface="Calibri" pitchFamily="34" charset="-120"/>
              </a:rPr>
              <a:t>*FY2025 GAAP net income includes $239M DTA benefit; adjusted net income ~$395M. Sources: SEC 10-K/10-Q FY2022–2026, Q1 2026 Earnings Release (Apr 29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4: GROWTH ENGINES &amp; KEY PRODUCT INNOVATIONS</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400" dirty="0">
                <a:solidFill>
                  <a:srgbClr val="002060"/>
                </a:solidFill>
                <a:latin typeface="Calibri" pitchFamily="34" charset="0"/>
                <a:ea typeface="Calibri" pitchFamily="34" charset="-122"/>
                <a:cs typeface="Calibri" pitchFamily="34" charset="-120"/>
              </a:rPr>
              <a:t>From student loans to stablecoins — product velocity defines SoFi's competitive moat</a:t>
            </a:r>
            <a:endParaRPr lang="en-US" sz="14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115568"/>
            <a:ext cx="5760720" cy="1719072"/>
          </a:xfrm>
          <a:prstGeom prst="rect">
            <a:avLst/>
          </a:prstGeom>
          <a:solidFill>
            <a:srgbClr val="0F2040"/>
          </a:solidFill>
          <a:ln w="12700">
            <a:solidFill>
              <a:srgbClr val="0F2040"/>
            </a:solidFill>
            <a:prstDash val="solid"/>
          </a:ln>
        </p:spPr>
      </p:sp>
      <p:sp>
        <p:nvSpPr>
          <p:cNvPr id="8" name="Shape 6"/>
          <p:cNvSpPr/>
          <p:nvPr/>
        </p:nvSpPr>
        <p:spPr>
          <a:xfrm>
            <a:off x="256032" y="1115568"/>
            <a:ext cx="64008" cy="1719072"/>
          </a:xfrm>
          <a:prstGeom prst="rect">
            <a:avLst/>
          </a:prstGeom>
          <a:solidFill>
            <a:srgbClr val="00C8C8"/>
          </a:solidFill>
          <a:ln w="12700">
            <a:solidFill>
              <a:srgbClr val="00C8C8"/>
            </a:solidFill>
            <a:prstDash val="solid"/>
          </a:ln>
        </p:spPr>
      </p:sp>
      <p:sp>
        <p:nvSpPr>
          <p:cNvPr id="9" name="Text 7"/>
          <p:cNvSpPr/>
          <p:nvPr/>
        </p:nvSpPr>
        <p:spPr>
          <a:xfrm>
            <a:off x="438912" y="1188720"/>
            <a:ext cx="347472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2022 · Bank Charter</a:t>
            </a:r>
            <a:endParaRPr lang="en-US" sz="1100" dirty="0"/>
          </a:p>
        </p:txBody>
      </p:sp>
      <p:sp>
        <p:nvSpPr>
          <p:cNvPr id="10" name="Text 8"/>
          <p:cNvSpPr/>
          <p:nvPr/>
        </p:nvSpPr>
        <p:spPr>
          <a:xfrm>
            <a:off x="4096512" y="11887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Game-Changing</a:t>
            </a:r>
            <a:endParaRPr lang="en-US" sz="1100" dirty="0"/>
          </a:p>
        </p:txBody>
      </p:sp>
      <p:sp>
        <p:nvSpPr>
          <p:cNvPr id="11" name="Text 9"/>
          <p:cNvSpPr/>
          <p:nvPr/>
        </p:nvSpPr>
        <p:spPr>
          <a:xfrm>
            <a:off x="438912" y="15179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Golden Pacific Bancorp acquisition gives SoFi FDIC-insured national bank charter. NIM expands from ~3% to ~5.94%. Deposit funding replaces expensive warehouse lines. This single event transforms SoFi's unit economics permanently.</a:t>
            </a:r>
            <a:endParaRPr lang="en-US" sz="1000" dirty="0"/>
          </a:p>
        </p:txBody>
      </p:sp>
      <p:sp>
        <p:nvSpPr>
          <p:cNvPr id="12" name="Shape 10"/>
          <p:cNvSpPr/>
          <p:nvPr/>
        </p:nvSpPr>
        <p:spPr>
          <a:xfrm>
            <a:off x="6217920" y="1115568"/>
            <a:ext cx="5760720" cy="1719072"/>
          </a:xfrm>
          <a:prstGeom prst="rect">
            <a:avLst/>
          </a:prstGeom>
          <a:solidFill>
            <a:srgbClr val="0F2040"/>
          </a:solidFill>
          <a:ln w="12700">
            <a:solidFill>
              <a:srgbClr val="0F2040"/>
            </a:solidFill>
            <a:prstDash val="solid"/>
          </a:ln>
        </p:spPr>
      </p:sp>
      <p:sp>
        <p:nvSpPr>
          <p:cNvPr id="13" name="Shape 11"/>
          <p:cNvSpPr/>
          <p:nvPr/>
        </p:nvSpPr>
        <p:spPr>
          <a:xfrm>
            <a:off x="6217920" y="1115568"/>
            <a:ext cx="64008" cy="1719072"/>
          </a:xfrm>
          <a:prstGeom prst="rect">
            <a:avLst/>
          </a:prstGeom>
          <a:solidFill>
            <a:srgbClr val="FFB800"/>
          </a:solidFill>
          <a:ln w="12700">
            <a:solidFill>
              <a:srgbClr val="FFB800"/>
            </a:solidFill>
            <a:prstDash val="solid"/>
          </a:ln>
        </p:spPr>
      </p:sp>
      <p:sp>
        <p:nvSpPr>
          <p:cNvPr id="14" name="Text 12"/>
          <p:cNvSpPr/>
          <p:nvPr/>
        </p:nvSpPr>
        <p:spPr>
          <a:xfrm>
            <a:off x="6400800" y="1188720"/>
            <a:ext cx="3474720" cy="274320"/>
          </a:xfrm>
          <a:prstGeom prst="rect">
            <a:avLst/>
          </a:prstGeom>
          <a:noFill/>
          <a:ln/>
        </p:spPr>
        <p:txBody>
          <a:bodyPr wrap="square"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2023 · Technisys Integration</a:t>
            </a:r>
            <a:endParaRPr lang="en-US" sz="1100" dirty="0"/>
          </a:p>
        </p:txBody>
      </p:sp>
      <p:sp>
        <p:nvSpPr>
          <p:cNvPr id="15" name="Text 13"/>
          <p:cNvSpPr/>
          <p:nvPr/>
        </p:nvSpPr>
        <p:spPr>
          <a:xfrm>
            <a:off x="10058400" y="11887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B2B Scale</a:t>
            </a:r>
            <a:endParaRPr lang="en-US" sz="1100" dirty="0"/>
          </a:p>
        </p:txBody>
      </p:sp>
      <p:sp>
        <p:nvSpPr>
          <p:cNvPr id="16" name="Text 14"/>
          <p:cNvSpPr/>
          <p:nvPr/>
        </p:nvSpPr>
        <p:spPr>
          <a:xfrm>
            <a:off x="6400800" y="15179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Technisys Cyberbank Core integrated with Galileo to create full-stack banking-as-a-service. Cyberbank Konecta AI reduces support costs 40%, cuts chat abandonment in half. Banco Nación Argentina goes live — 25% organic client growth in 4-day implementation.</a:t>
            </a:r>
            <a:endParaRPr lang="en-US" sz="1000" dirty="0"/>
          </a:p>
        </p:txBody>
      </p:sp>
      <p:sp>
        <p:nvSpPr>
          <p:cNvPr id="17" name="Shape 15"/>
          <p:cNvSpPr/>
          <p:nvPr/>
        </p:nvSpPr>
        <p:spPr>
          <a:xfrm>
            <a:off x="256032" y="2944368"/>
            <a:ext cx="5760720" cy="1719072"/>
          </a:xfrm>
          <a:prstGeom prst="rect">
            <a:avLst/>
          </a:prstGeom>
          <a:solidFill>
            <a:srgbClr val="0F2040"/>
          </a:solidFill>
          <a:ln w="12700">
            <a:solidFill>
              <a:srgbClr val="0F2040"/>
            </a:solidFill>
            <a:prstDash val="solid"/>
          </a:ln>
        </p:spPr>
      </p:sp>
      <p:sp>
        <p:nvSpPr>
          <p:cNvPr id="18" name="Shape 16"/>
          <p:cNvSpPr/>
          <p:nvPr/>
        </p:nvSpPr>
        <p:spPr>
          <a:xfrm>
            <a:off x="256032" y="2944368"/>
            <a:ext cx="64008" cy="1719072"/>
          </a:xfrm>
          <a:prstGeom prst="rect">
            <a:avLst/>
          </a:prstGeom>
          <a:solidFill>
            <a:srgbClr val="00D68F"/>
          </a:solidFill>
          <a:ln w="12700">
            <a:solidFill>
              <a:srgbClr val="00D68F"/>
            </a:solidFill>
            <a:prstDash val="solid"/>
          </a:ln>
        </p:spPr>
      </p:sp>
      <p:sp>
        <p:nvSpPr>
          <p:cNvPr id="19" name="Text 17"/>
          <p:cNvSpPr/>
          <p:nvPr/>
        </p:nvSpPr>
        <p:spPr>
          <a:xfrm>
            <a:off x="438912" y="3017520"/>
            <a:ext cx="3474720" cy="274320"/>
          </a:xfrm>
          <a:prstGeom prst="rect">
            <a:avLst/>
          </a:prstGeom>
          <a:noFill/>
          <a:ln/>
        </p:spPr>
        <p:txBody>
          <a:bodyPr wrap="square" rtlCol="0" anchor="ctr"/>
          <a:lstStyle/>
          <a:p>
            <a:pPr marL="0" indent="0">
              <a:buNone/>
            </a:pPr>
            <a:r>
              <a:rPr lang="en-US" sz="1100" b="1" dirty="0">
                <a:solidFill>
                  <a:srgbClr val="00D68F"/>
                </a:solidFill>
                <a:latin typeface="Calibri" pitchFamily="34" charset="0"/>
                <a:ea typeface="Calibri" pitchFamily="34" charset="-122"/>
                <a:cs typeface="Calibri" pitchFamily="34" charset="-120"/>
              </a:rPr>
              <a:t>2025 · Loan Platform Business</a:t>
            </a:r>
            <a:endParaRPr lang="en-US" sz="1100" dirty="0"/>
          </a:p>
        </p:txBody>
      </p:sp>
      <p:sp>
        <p:nvSpPr>
          <p:cNvPr id="20" name="Text 18"/>
          <p:cNvSpPr/>
          <p:nvPr/>
        </p:nvSpPr>
        <p:spPr>
          <a:xfrm>
            <a:off x="4096512" y="30175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Capital-Light</a:t>
            </a:r>
            <a:endParaRPr lang="en-US" sz="1100" dirty="0"/>
          </a:p>
        </p:txBody>
      </p:sp>
      <p:sp>
        <p:nvSpPr>
          <p:cNvPr id="21" name="Text 19"/>
          <p:cNvSpPr/>
          <p:nvPr/>
        </p:nvSpPr>
        <p:spPr>
          <a:xfrm>
            <a:off x="438912" y="33467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Loan Platform Business scales rapidly: SoFi originates loans and sells to institutional buyers, generating fee income without balance sheet risk. Fee-based revenue reaches 40%+ of total revenue. Reduces dependence on net interest margins and interest rate cycles.</a:t>
            </a:r>
            <a:endParaRPr lang="en-US" sz="1000" dirty="0"/>
          </a:p>
        </p:txBody>
      </p:sp>
      <p:sp>
        <p:nvSpPr>
          <p:cNvPr id="22" name="Shape 20"/>
          <p:cNvSpPr/>
          <p:nvPr/>
        </p:nvSpPr>
        <p:spPr>
          <a:xfrm>
            <a:off x="6217920" y="2944368"/>
            <a:ext cx="5760720" cy="1719072"/>
          </a:xfrm>
          <a:prstGeom prst="rect">
            <a:avLst/>
          </a:prstGeom>
          <a:solidFill>
            <a:srgbClr val="0F2040"/>
          </a:solidFill>
          <a:ln w="12700">
            <a:solidFill>
              <a:srgbClr val="0F2040"/>
            </a:solidFill>
            <a:prstDash val="solid"/>
          </a:ln>
        </p:spPr>
      </p:sp>
      <p:sp>
        <p:nvSpPr>
          <p:cNvPr id="23" name="Shape 21"/>
          <p:cNvSpPr/>
          <p:nvPr/>
        </p:nvSpPr>
        <p:spPr>
          <a:xfrm>
            <a:off x="6217920" y="2944368"/>
            <a:ext cx="64008" cy="1719072"/>
          </a:xfrm>
          <a:prstGeom prst="rect">
            <a:avLst/>
          </a:prstGeom>
          <a:solidFill>
            <a:srgbClr val="8B5CF6"/>
          </a:solidFill>
          <a:ln w="12700">
            <a:solidFill>
              <a:srgbClr val="8B5CF6"/>
            </a:solidFill>
            <a:prstDash val="solid"/>
          </a:ln>
        </p:spPr>
      </p:sp>
      <p:sp>
        <p:nvSpPr>
          <p:cNvPr id="24" name="Text 22"/>
          <p:cNvSpPr/>
          <p:nvPr/>
        </p:nvSpPr>
        <p:spPr>
          <a:xfrm>
            <a:off x="6400800" y="3017520"/>
            <a:ext cx="3474720" cy="274320"/>
          </a:xfrm>
          <a:prstGeom prst="rect">
            <a:avLst/>
          </a:prstGeom>
          <a:noFill/>
          <a:ln/>
        </p:spPr>
        <p:txBody>
          <a:bodyPr wrap="square"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2025 · SoFiUSD Stablecoin</a:t>
            </a:r>
            <a:endParaRPr lang="en-US" sz="1100" dirty="0"/>
          </a:p>
        </p:txBody>
      </p:sp>
      <p:sp>
        <p:nvSpPr>
          <p:cNvPr id="25" name="Text 23"/>
          <p:cNvSpPr/>
          <p:nvPr/>
        </p:nvSpPr>
        <p:spPr>
          <a:xfrm>
            <a:off x="10058400" y="30175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First-of-Kind</a:t>
            </a:r>
            <a:endParaRPr lang="en-US" sz="1100" dirty="0"/>
          </a:p>
        </p:txBody>
      </p:sp>
      <p:sp>
        <p:nvSpPr>
          <p:cNvPr id="26" name="Text 24"/>
          <p:cNvSpPr/>
          <p:nvPr/>
        </p:nvSpPr>
        <p:spPr>
          <a:xfrm>
            <a:off x="6400800" y="33467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SoFi launches the first stablecoin issued by a US national bank. Positions SoFi at the intersection of traditional banking and digital assets. CEO Noto calls digital assets a 'significant new growth area.' Crypto trading integration adds new member acquisition channel.</a:t>
            </a:r>
            <a:endParaRPr lang="en-US" sz="1000" dirty="0"/>
          </a:p>
        </p:txBody>
      </p:sp>
      <p:sp>
        <p:nvSpPr>
          <p:cNvPr id="27" name="Shape 25"/>
          <p:cNvSpPr/>
          <p:nvPr/>
        </p:nvSpPr>
        <p:spPr>
          <a:xfrm>
            <a:off x="256032" y="4773168"/>
            <a:ext cx="5760720" cy="1719072"/>
          </a:xfrm>
          <a:prstGeom prst="rect">
            <a:avLst/>
          </a:prstGeom>
          <a:solidFill>
            <a:srgbClr val="0F2040"/>
          </a:solidFill>
          <a:ln w="12700">
            <a:solidFill>
              <a:srgbClr val="0F2040"/>
            </a:solidFill>
            <a:prstDash val="solid"/>
          </a:ln>
        </p:spPr>
      </p:sp>
      <p:sp>
        <p:nvSpPr>
          <p:cNvPr id="28" name="Shape 26"/>
          <p:cNvSpPr/>
          <p:nvPr/>
        </p:nvSpPr>
        <p:spPr>
          <a:xfrm>
            <a:off x="256032" y="4773168"/>
            <a:ext cx="64008" cy="1719072"/>
          </a:xfrm>
          <a:prstGeom prst="rect">
            <a:avLst/>
          </a:prstGeom>
          <a:solidFill>
            <a:srgbClr val="0066FF"/>
          </a:solidFill>
          <a:ln w="12700">
            <a:solidFill>
              <a:srgbClr val="0066FF"/>
            </a:solidFill>
            <a:prstDash val="solid"/>
          </a:ln>
        </p:spPr>
      </p:sp>
      <p:sp>
        <p:nvSpPr>
          <p:cNvPr id="29" name="Text 27"/>
          <p:cNvSpPr/>
          <p:nvPr/>
        </p:nvSpPr>
        <p:spPr>
          <a:xfrm>
            <a:off x="438912" y="4846320"/>
            <a:ext cx="3474720" cy="274320"/>
          </a:xfrm>
          <a:prstGeom prst="rect">
            <a:avLst/>
          </a:prstGeom>
          <a:noFill/>
          <a:ln/>
        </p:spPr>
        <p:txBody>
          <a:bodyPr wrap="square" rtlCol="0" anchor="ctr"/>
          <a:lstStyle/>
          <a:p>
            <a:pPr marL="0" indent="0">
              <a:buNone/>
            </a:pPr>
            <a:r>
              <a:rPr lang="en-US" sz="1100" b="1" dirty="0">
                <a:solidFill>
                  <a:srgbClr val="0066FF"/>
                </a:solidFill>
                <a:latin typeface="Calibri" pitchFamily="34" charset="0"/>
                <a:ea typeface="Calibri" pitchFamily="34" charset="-122"/>
                <a:cs typeface="Calibri" pitchFamily="34" charset="-120"/>
              </a:rPr>
              <a:t>Q1 2026 · Big Business Banking</a:t>
            </a:r>
            <a:endParaRPr lang="en-US" sz="1100" dirty="0"/>
          </a:p>
        </p:txBody>
      </p:sp>
      <p:sp>
        <p:nvSpPr>
          <p:cNvPr id="30" name="Text 28"/>
          <p:cNvSpPr/>
          <p:nvPr/>
        </p:nvSpPr>
        <p:spPr>
          <a:xfrm>
            <a:off x="4096512" y="48463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New TAM</a:t>
            </a:r>
            <a:endParaRPr lang="en-US" sz="1100" dirty="0"/>
          </a:p>
        </p:txBody>
      </p:sp>
      <p:sp>
        <p:nvSpPr>
          <p:cNvPr id="31" name="Text 29"/>
          <p:cNvSpPr/>
          <p:nvPr/>
        </p:nvSpPr>
        <p:spPr>
          <a:xfrm>
            <a:off x="438912" y="51755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SMB and commercial banking launch targeting the $3 trillion+ business deposit market. SoFi at Work employer benefit integration drives corporate relationships. Commercial lending adds diversification beyond consumer credit. CEO describes this as 'third leg of growth.'</a:t>
            </a:r>
            <a:endParaRPr lang="en-US" sz="1000" dirty="0"/>
          </a:p>
        </p:txBody>
      </p:sp>
      <p:sp>
        <p:nvSpPr>
          <p:cNvPr id="32" name="Shape 30"/>
          <p:cNvSpPr/>
          <p:nvPr/>
        </p:nvSpPr>
        <p:spPr>
          <a:xfrm>
            <a:off x="6217920" y="4773168"/>
            <a:ext cx="5760720" cy="1719072"/>
          </a:xfrm>
          <a:prstGeom prst="rect">
            <a:avLst/>
          </a:prstGeom>
          <a:solidFill>
            <a:srgbClr val="0F2040"/>
          </a:solidFill>
          <a:ln w="12700">
            <a:solidFill>
              <a:srgbClr val="0F2040"/>
            </a:solidFill>
            <a:prstDash val="solid"/>
          </a:ln>
        </p:spPr>
      </p:sp>
      <p:sp>
        <p:nvSpPr>
          <p:cNvPr id="33" name="Shape 31"/>
          <p:cNvSpPr/>
          <p:nvPr/>
        </p:nvSpPr>
        <p:spPr>
          <a:xfrm>
            <a:off x="6217920" y="4773168"/>
            <a:ext cx="64008" cy="1719072"/>
          </a:xfrm>
          <a:prstGeom prst="rect">
            <a:avLst/>
          </a:prstGeom>
          <a:solidFill>
            <a:srgbClr val="FF6B00"/>
          </a:solidFill>
          <a:ln w="12700">
            <a:solidFill>
              <a:srgbClr val="FF6B00"/>
            </a:solidFill>
            <a:prstDash val="solid"/>
          </a:ln>
        </p:spPr>
      </p:sp>
      <p:sp>
        <p:nvSpPr>
          <p:cNvPr id="34" name="Text 32"/>
          <p:cNvSpPr/>
          <p:nvPr/>
        </p:nvSpPr>
        <p:spPr>
          <a:xfrm>
            <a:off x="6400800" y="4846320"/>
            <a:ext cx="3474720" cy="274320"/>
          </a:xfrm>
          <a:prstGeom prst="rect">
            <a:avLst/>
          </a:prstGeom>
          <a:noFill/>
          <a:ln/>
        </p:spPr>
        <p:txBody>
          <a:bodyPr wrap="square" rtlCol="0" anchor="ctr"/>
          <a:lstStyle/>
          <a:p>
            <a:pPr marL="0" indent="0">
              <a:buNone/>
            </a:pPr>
            <a:r>
              <a:rPr lang="en-US" sz="1100" b="1" dirty="0">
                <a:solidFill>
                  <a:srgbClr val="FF6B00"/>
                </a:solidFill>
                <a:latin typeface="Calibri" pitchFamily="34" charset="0"/>
                <a:ea typeface="Calibri" pitchFamily="34" charset="-122"/>
                <a:cs typeface="Calibri" pitchFamily="34" charset="-120"/>
              </a:rPr>
              <a:t>2026 · Rule of 40 — 18 Qtrs</a:t>
            </a:r>
            <a:endParaRPr lang="en-US" sz="1100" dirty="0"/>
          </a:p>
        </p:txBody>
      </p:sp>
      <p:sp>
        <p:nvSpPr>
          <p:cNvPr id="35" name="Text 33"/>
          <p:cNvSpPr/>
          <p:nvPr/>
        </p:nvSpPr>
        <p:spPr>
          <a:xfrm>
            <a:off x="10058400" y="4846320"/>
            <a:ext cx="1783080" cy="274320"/>
          </a:xfrm>
          <a:prstGeom prst="rect">
            <a:avLst/>
          </a:prstGeom>
          <a:noFill/>
          <a:ln/>
        </p:spPr>
        <p:txBody>
          <a:bodyPr wrap="square" rtlCol="0" anchor="ctr"/>
          <a:lstStyle/>
          <a:p>
            <a:pPr marL="0" indent="0" algn="r">
              <a:buNone/>
            </a:pPr>
            <a:r>
              <a:rPr lang="en-US" sz="1100" b="1" dirty="0">
                <a:solidFill>
                  <a:srgbClr val="FFB800"/>
                </a:solidFill>
                <a:latin typeface="Calibri" pitchFamily="34" charset="0"/>
                <a:ea typeface="Calibri" pitchFamily="34" charset="-122"/>
                <a:cs typeface="Calibri" pitchFamily="34" charset="-120"/>
              </a:rPr>
              <a:t>Benchmark</a:t>
            </a:r>
            <a:endParaRPr lang="en-US" sz="1100" dirty="0"/>
          </a:p>
        </p:txBody>
      </p:sp>
      <p:sp>
        <p:nvSpPr>
          <p:cNvPr id="36" name="Text 34"/>
          <p:cNvSpPr/>
          <p:nvPr/>
        </p:nvSpPr>
        <p:spPr>
          <a:xfrm>
            <a:off x="6400800" y="5175504"/>
            <a:ext cx="5486400" cy="1261872"/>
          </a:xfrm>
          <a:prstGeom prst="rect">
            <a:avLst/>
          </a:prstGeom>
          <a:noFill/>
          <a:ln/>
        </p:spPr>
        <p:txBody>
          <a:bodyPr wrap="square" rtlCol="0" anchor="ctr"/>
          <a:lstStyle/>
          <a:p>
            <a:pPr marL="0" indent="0">
              <a:buNone/>
            </a:pPr>
            <a:r>
              <a:rPr lang="en-US" sz="1000" dirty="0">
                <a:solidFill>
                  <a:srgbClr val="D8E8F4"/>
                </a:solidFill>
                <a:latin typeface="Calibri" pitchFamily="34" charset="0"/>
                <a:ea typeface="Calibri" pitchFamily="34" charset="-122"/>
                <a:cs typeface="Calibri" pitchFamily="34" charset="-120"/>
              </a:rPr>
              <a:t>18 consecutive quarters of Rule of 40 performance (revenue growth + EBITDA margin ≥40). CEO Noto argues SOFI should be valued as a software/fintech platform, not a bank. At $21B market cap vs $4.655B revenue guidance, SOFI trades at ~4.5x forward revenue — below high-quality SaaS peers.</a:t>
            </a:r>
            <a:endParaRPr lang="en-US" sz="1000" dirty="0"/>
          </a:p>
        </p:txBody>
      </p:sp>
      <p:sp>
        <p:nvSpPr>
          <p:cNvPr id="37" name="Shape 35"/>
          <p:cNvSpPr/>
          <p:nvPr/>
        </p:nvSpPr>
        <p:spPr>
          <a:xfrm>
            <a:off x="256032" y="6455664"/>
            <a:ext cx="11704320" cy="329184"/>
          </a:xfrm>
          <a:prstGeom prst="rect">
            <a:avLst/>
          </a:prstGeom>
          <a:solidFill>
            <a:srgbClr val="0A1628"/>
          </a:solidFill>
          <a:ln w="12700">
            <a:solidFill>
              <a:srgbClr val="0A1628"/>
            </a:solidFill>
            <a:prstDash val="solid"/>
          </a:ln>
        </p:spPr>
      </p:sp>
      <p:sp>
        <p:nvSpPr>
          <p:cNvPr id="38" name="Shape 36"/>
          <p:cNvSpPr/>
          <p:nvPr/>
        </p:nvSpPr>
        <p:spPr>
          <a:xfrm>
            <a:off x="256032" y="6455664"/>
            <a:ext cx="64008" cy="329184"/>
          </a:xfrm>
          <a:prstGeom prst="rect">
            <a:avLst/>
          </a:prstGeom>
          <a:solidFill>
            <a:srgbClr val="00C8C8"/>
          </a:solidFill>
          <a:ln w="12700">
            <a:solidFill>
              <a:srgbClr val="00C8C8"/>
            </a:solidFill>
            <a:prstDash val="solid"/>
          </a:ln>
        </p:spPr>
      </p:sp>
      <p:sp>
        <p:nvSpPr>
          <p:cNvPr id="39" name="Text 37"/>
          <p:cNvSpPr/>
          <p:nvPr/>
        </p:nvSpPr>
        <p:spPr>
          <a:xfrm>
            <a:off x="384048" y="6510528"/>
            <a:ext cx="11430000" cy="237744"/>
          </a:xfrm>
          <a:prstGeom prst="rect">
            <a:avLst/>
          </a:prstGeom>
          <a:noFill/>
          <a:ln/>
        </p:spPr>
        <p:txBody>
          <a:bodyPr wrap="square" rtlCol="0" anchor="ctr"/>
          <a:lstStyle/>
          <a:p>
            <a:pPr marL="0" indent="0">
              <a:buNone/>
            </a:pPr>
            <a:r>
              <a:rPr lang="en-US" sz="1000" b="1" dirty="0">
                <a:solidFill>
                  <a:srgbClr val="00C8C8"/>
                </a:solidFill>
                <a:latin typeface="Calibri" pitchFamily="34" charset="0"/>
                <a:ea typeface="Calibri" pitchFamily="34" charset="-122"/>
                <a:cs typeface="Calibri" pitchFamily="34" charset="-120"/>
              </a:rPr>
              <a:t>PRODUCT VELOCITY: SoFi launches new products 4× faster than traditional banks using internal Technisys/Galileo stack. Target: every member's primary financial app across borrowing, saving, investing, spending and protection.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5: MEMBER METRICS, UNIT ECONOMICS &amp; GEOGRAPHIC PROFILE</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200" dirty="0">
                <a:solidFill>
                  <a:srgbClr val="00C8C8"/>
                </a:solidFill>
                <a:latin typeface="Calibri" pitchFamily="34" charset="0"/>
                <a:ea typeface="Calibri" pitchFamily="34" charset="-122"/>
                <a:cs typeface="Calibri" pitchFamily="34" charset="-120"/>
              </a:rPr>
              <a:t>14.7M members — high-income, high-FICO, high-LTV — the quality flywheel</a:t>
            </a:r>
            <a:endParaRPr lang="en-US" sz="1200" dirty="0"/>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841248"/>
            <a:ext cx="1828800" cy="1298448"/>
          </a:xfrm>
          <a:prstGeom prst="rect">
            <a:avLst/>
          </a:prstGeom>
          <a:solidFill>
            <a:srgbClr val="0F2040"/>
          </a:solidFill>
          <a:ln w="12700">
            <a:solidFill>
              <a:srgbClr val="0F2040"/>
            </a:solidFill>
            <a:prstDash val="solid"/>
          </a:ln>
        </p:spPr>
      </p:sp>
      <p:sp>
        <p:nvSpPr>
          <p:cNvPr id="8" name="Shape 6"/>
          <p:cNvSpPr/>
          <p:nvPr/>
        </p:nvSpPr>
        <p:spPr>
          <a:xfrm>
            <a:off x="256032" y="841248"/>
            <a:ext cx="1828800" cy="54864"/>
          </a:xfrm>
          <a:prstGeom prst="rect">
            <a:avLst/>
          </a:prstGeom>
          <a:solidFill>
            <a:srgbClr val="00C8C8"/>
          </a:solidFill>
          <a:ln w="12700">
            <a:solidFill>
              <a:srgbClr val="00C8C8"/>
            </a:solidFill>
            <a:prstDash val="solid"/>
          </a:ln>
        </p:spPr>
      </p:sp>
      <p:sp>
        <p:nvSpPr>
          <p:cNvPr id="9" name="Text 7"/>
          <p:cNvSpPr/>
          <p:nvPr/>
        </p:nvSpPr>
        <p:spPr>
          <a:xfrm>
            <a:off x="347472"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Total Members</a:t>
            </a:r>
            <a:endParaRPr lang="en-US" sz="950" dirty="0"/>
          </a:p>
        </p:txBody>
      </p:sp>
      <p:sp>
        <p:nvSpPr>
          <p:cNvPr id="10" name="Text 8"/>
          <p:cNvSpPr/>
          <p:nvPr/>
        </p:nvSpPr>
        <p:spPr>
          <a:xfrm>
            <a:off x="347472" y="1188720"/>
            <a:ext cx="1645920" cy="566928"/>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14.7M</a:t>
            </a:r>
            <a:endParaRPr lang="en-US" sz="2200" dirty="0"/>
          </a:p>
        </p:txBody>
      </p:sp>
      <p:sp>
        <p:nvSpPr>
          <p:cNvPr id="11" name="Text 9"/>
          <p:cNvSpPr/>
          <p:nvPr/>
        </p:nvSpPr>
        <p:spPr>
          <a:xfrm>
            <a:off x="347472"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Q1 2026; +35% YoY</a:t>
            </a:r>
            <a:endParaRPr lang="en-US" sz="900" dirty="0"/>
          </a:p>
        </p:txBody>
      </p:sp>
      <p:sp>
        <p:nvSpPr>
          <p:cNvPr id="12" name="Shape 10"/>
          <p:cNvSpPr/>
          <p:nvPr/>
        </p:nvSpPr>
        <p:spPr>
          <a:xfrm>
            <a:off x="2249424" y="841248"/>
            <a:ext cx="1828800" cy="1298448"/>
          </a:xfrm>
          <a:prstGeom prst="rect">
            <a:avLst/>
          </a:prstGeom>
          <a:solidFill>
            <a:srgbClr val="0F2040"/>
          </a:solidFill>
          <a:ln w="12700">
            <a:solidFill>
              <a:srgbClr val="0F2040"/>
            </a:solidFill>
            <a:prstDash val="solid"/>
          </a:ln>
        </p:spPr>
      </p:sp>
      <p:sp>
        <p:nvSpPr>
          <p:cNvPr id="13" name="Shape 11"/>
          <p:cNvSpPr/>
          <p:nvPr/>
        </p:nvSpPr>
        <p:spPr>
          <a:xfrm>
            <a:off x="2249424" y="841248"/>
            <a:ext cx="1828800" cy="54864"/>
          </a:xfrm>
          <a:prstGeom prst="rect">
            <a:avLst/>
          </a:prstGeom>
          <a:solidFill>
            <a:srgbClr val="FFB800"/>
          </a:solidFill>
          <a:ln w="12700">
            <a:solidFill>
              <a:srgbClr val="FFB800"/>
            </a:solidFill>
            <a:prstDash val="solid"/>
          </a:ln>
        </p:spPr>
      </p:sp>
      <p:sp>
        <p:nvSpPr>
          <p:cNvPr id="14" name="Text 12"/>
          <p:cNvSpPr/>
          <p:nvPr/>
        </p:nvSpPr>
        <p:spPr>
          <a:xfrm>
            <a:off x="2340864"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Total Products</a:t>
            </a:r>
            <a:endParaRPr lang="en-US" sz="950" dirty="0"/>
          </a:p>
        </p:txBody>
      </p:sp>
      <p:sp>
        <p:nvSpPr>
          <p:cNvPr id="15" name="Text 13"/>
          <p:cNvSpPr/>
          <p:nvPr/>
        </p:nvSpPr>
        <p:spPr>
          <a:xfrm>
            <a:off x="2340864" y="1188720"/>
            <a:ext cx="1645920" cy="566928"/>
          </a:xfrm>
          <a:prstGeom prst="rect">
            <a:avLst/>
          </a:prstGeom>
          <a:noFill/>
          <a:ln/>
        </p:spPr>
        <p:txBody>
          <a:bodyPr wrap="square" rtlCol="0" anchor="ctr"/>
          <a:lstStyle/>
          <a:p>
            <a:pPr marL="0" indent="0">
              <a:buNone/>
            </a:pPr>
            <a:r>
              <a:rPr lang="en-US" sz="2200" b="1" dirty="0">
                <a:solidFill>
                  <a:srgbClr val="FFB800"/>
                </a:solidFill>
                <a:latin typeface="Calibri" pitchFamily="34" charset="0"/>
                <a:ea typeface="Calibri" pitchFamily="34" charset="-122"/>
                <a:cs typeface="Calibri" pitchFamily="34" charset="-120"/>
              </a:rPr>
              <a:t>22.2M</a:t>
            </a:r>
            <a:endParaRPr lang="en-US" sz="2200" dirty="0"/>
          </a:p>
        </p:txBody>
      </p:sp>
      <p:sp>
        <p:nvSpPr>
          <p:cNvPr id="16" name="Text 14"/>
          <p:cNvSpPr/>
          <p:nvPr/>
        </p:nvSpPr>
        <p:spPr>
          <a:xfrm>
            <a:off x="2340864"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+39% YoY; 1.51 per mbr</a:t>
            </a:r>
            <a:endParaRPr lang="en-US" sz="900" dirty="0"/>
          </a:p>
        </p:txBody>
      </p:sp>
      <p:sp>
        <p:nvSpPr>
          <p:cNvPr id="17" name="Shape 15"/>
          <p:cNvSpPr/>
          <p:nvPr/>
        </p:nvSpPr>
        <p:spPr>
          <a:xfrm>
            <a:off x="4242816" y="841248"/>
            <a:ext cx="1828800" cy="1298448"/>
          </a:xfrm>
          <a:prstGeom prst="rect">
            <a:avLst/>
          </a:prstGeom>
          <a:solidFill>
            <a:srgbClr val="0F2040"/>
          </a:solidFill>
          <a:ln w="12700">
            <a:solidFill>
              <a:srgbClr val="0F2040"/>
            </a:solidFill>
            <a:prstDash val="solid"/>
          </a:ln>
        </p:spPr>
      </p:sp>
      <p:sp>
        <p:nvSpPr>
          <p:cNvPr id="18" name="Shape 16"/>
          <p:cNvSpPr/>
          <p:nvPr/>
        </p:nvSpPr>
        <p:spPr>
          <a:xfrm>
            <a:off x="4242816" y="841248"/>
            <a:ext cx="1828800" cy="54864"/>
          </a:xfrm>
          <a:prstGeom prst="rect">
            <a:avLst/>
          </a:prstGeom>
          <a:solidFill>
            <a:srgbClr val="00D68F"/>
          </a:solidFill>
          <a:ln w="12700">
            <a:solidFill>
              <a:srgbClr val="00D68F"/>
            </a:solidFill>
            <a:prstDash val="solid"/>
          </a:ln>
        </p:spPr>
      </p:sp>
      <p:sp>
        <p:nvSpPr>
          <p:cNvPr id="19" name="Text 17"/>
          <p:cNvSpPr/>
          <p:nvPr/>
        </p:nvSpPr>
        <p:spPr>
          <a:xfrm>
            <a:off x="4334256"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New Members Q1</a:t>
            </a:r>
            <a:endParaRPr lang="en-US" sz="950" dirty="0"/>
          </a:p>
        </p:txBody>
      </p:sp>
      <p:sp>
        <p:nvSpPr>
          <p:cNvPr id="20" name="Text 18"/>
          <p:cNvSpPr/>
          <p:nvPr/>
        </p:nvSpPr>
        <p:spPr>
          <a:xfrm>
            <a:off x="4334256" y="1188720"/>
            <a:ext cx="1645920" cy="566928"/>
          </a:xfrm>
          <a:prstGeom prst="rect">
            <a:avLst/>
          </a:prstGeom>
          <a:noFill/>
          <a:ln/>
        </p:spPr>
        <p:txBody>
          <a:bodyPr wrap="square" rtlCol="0" anchor="ctr"/>
          <a:lstStyle/>
          <a:p>
            <a:pPr marL="0" indent="0">
              <a:buNone/>
            </a:pPr>
            <a:r>
              <a:rPr lang="en-US" sz="1800" b="1" dirty="0">
                <a:solidFill>
                  <a:srgbClr val="00D68F"/>
                </a:solidFill>
                <a:latin typeface="Calibri" pitchFamily="34" charset="0"/>
                <a:ea typeface="Calibri" pitchFamily="34" charset="-122"/>
                <a:cs typeface="Calibri" pitchFamily="34" charset="-120"/>
              </a:rPr>
              <a:t>1.055M</a:t>
            </a:r>
            <a:endParaRPr lang="en-US" sz="1800" dirty="0"/>
          </a:p>
        </p:txBody>
      </p:sp>
      <p:sp>
        <p:nvSpPr>
          <p:cNvPr id="21" name="Text 19"/>
          <p:cNvSpPr/>
          <p:nvPr/>
        </p:nvSpPr>
        <p:spPr>
          <a:xfrm>
            <a:off x="4334256"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Record Q1; +35%</a:t>
            </a:r>
            <a:endParaRPr lang="en-US" sz="900" dirty="0"/>
          </a:p>
        </p:txBody>
      </p:sp>
      <p:sp>
        <p:nvSpPr>
          <p:cNvPr id="22" name="Shape 20"/>
          <p:cNvSpPr/>
          <p:nvPr/>
        </p:nvSpPr>
        <p:spPr>
          <a:xfrm>
            <a:off x="6236208" y="841248"/>
            <a:ext cx="1828800" cy="1298448"/>
          </a:xfrm>
          <a:prstGeom prst="rect">
            <a:avLst/>
          </a:prstGeom>
          <a:solidFill>
            <a:srgbClr val="0F2040"/>
          </a:solidFill>
          <a:ln w="12700">
            <a:solidFill>
              <a:srgbClr val="0F2040"/>
            </a:solidFill>
            <a:prstDash val="solid"/>
          </a:ln>
        </p:spPr>
      </p:sp>
      <p:sp>
        <p:nvSpPr>
          <p:cNvPr id="23" name="Shape 21"/>
          <p:cNvSpPr/>
          <p:nvPr/>
        </p:nvSpPr>
        <p:spPr>
          <a:xfrm>
            <a:off x="6236208" y="841248"/>
            <a:ext cx="1828800" cy="54864"/>
          </a:xfrm>
          <a:prstGeom prst="rect">
            <a:avLst/>
          </a:prstGeom>
          <a:solidFill>
            <a:srgbClr val="0066FF"/>
          </a:solidFill>
          <a:ln w="12700">
            <a:solidFill>
              <a:srgbClr val="0066FF"/>
            </a:solidFill>
            <a:prstDash val="solid"/>
          </a:ln>
        </p:spPr>
      </p:sp>
      <p:sp>
        <p:nvSpPr>
          <p:cNvPr id="24" name="Text 22"/>
          <p:cNvSpPr/>
          <p:nvPr/>
        </p:nvSpPr>
        <p:spPr>
          <a:xfrm>
            <a:off x="6327648"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Products from Existing</a:t>
            </a:r>
            <a:endParaRPr lang="en-US" sz="950" dirty="0"/>
          </a:p>
        </p:txBody>
      </p:sp>
      <p:sp>
        <p:nvSpPr>
          <p:cNvPr id="25" name="Text 23"/>
          <p:cNvSpPr/>
          <p:nvPr/>
        </p:nvSpPr>
        <p:spPr>
          <a:xfrm>
            <a:off x="6327648" y="1188720"/>
            <a:ext cx="1645920" cy="566928"/>
          </a:xfrm>
          <a:prstGeom prst="rect">
            <a:avLst/>
          </a:prstGeom>
          <a:noFill/>
          <a:ln/>
        </p:spPr>
        <p:txBody>
          <a:bodyPr wrap="square" rtlCol="0" anchor="ctr"/>
          <a:lstStyle/>
          <a:p>
            <a:pPr marL="0" indent="0">
              <a:buNone/>
            </a:pPr>
            <a:r>
              <a:rPr lang="en-US" sz="2200" b="1" dirty="0">
                <a:solidFill>
                  <a:srgbClr val="0066FF"/>
                </a:solidFill>
                <a:latin typeface="Calibri" pitchFamily="34" charset="0"/>
                <a:ea typeface="Calibri" pitchFamily="34" charset="-122"/>
                <a:cs typeface="Calibri" pitchFamily="34" charset="-120"/>
              </a:rPr>
              <a:t>43%</a:t>
            </a:r>
            <a:endParaRPr lang="en-US" sz="2200" dirty="0"/>
          </a:p>
        </p:txBody>
      </p:sp>
      <p:sp>
        <p:nvSpPr>
          <p:cNvPr id="26" name="Text 24"/>
          <p:cNvSpPr/>
          <p:nvPr/>
        </p:nvSpPr>
        <p:spPr>
          <a:xfrm>
            <a:off x="6327648"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Cross-buy retention</a:t>
            </a:r>
            <a:endParaRPr lang="en-US" sz="900" dirty="0"/>
          </a:p>
        </p:txBody>
      </p:sp>
      <p:sp>
        <p:nvSpPr>
          <p:cNvPr id="27" name="Shape 25"/>
          <p:cNvSpPr/>
          <p:nvPr/>
        </p:nvSpPr>
        <p:spPr>
          <a:xfrm>
            <a:off x="8229600" y="841248"/>
            <a:ext cx="1828800" cy="1298448"/>
          </a:xfrm>
          <a:prstGeom prst="rect">
            <a:avLst/>
          </a:prstGeom>
          <a:solidFill>
            <a:srgbClr val="0F2040"/>
          </a:solidFill>
          <a:ln w="12700">
            <a:solidFill>
              <a:srgbClr val="0F2040"/>
            </a:solidFill>
            <a:prstDash val="solid"/>
          </a:ln>
        </p:spPr>
      </p:sp>
      <p:sp>
        <p:nvSpPr>
          <p:cNvPr id="28" name="Shape 26"/>
          <p:cNvSpPr/>
          <p:nvPr/>
        </p:nvSpPr>
        <p:spPr>
          <a:xfrm>
            <a:off x="8229600" y="841248"/>
            <a:ext cx="1828800" cy="54864"/>
          </a:xfrm>
          <a:prstGeom prst="rect">
            <a:avLst/>
          </a:prstGeom>
          <a:solidFill>
            <a:srgbClr val="8B5CF6"/>
          </a:solidFill>
          <a:ln w="12700">
            <a:solidFill>
              <a:srgbClr val="8B5CF6"/>
            </a:solidFill>
            <a:prstDash val="solid"/>
          </a:ln>
        </p:spPr>
      </p:sp>
      <p:sp>
        <p:nvSpPr>
          <p:cNvPr id="29" name="Text 27"/>
          <p:cNvSpPr/>
          <p:nvPr/>
        </p:nvSpPr>
        <p:spPr>
          <a:xfrm>
            <a:off x="8321040"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Avg FICO Score</a:t>
            </a:r>
            <a:endParaRPr lang="en-US" sz="950" dirty="0"/>
          </a:p>
        </p:txBody>
      </p:sp>
      <p:sp>
        <p:nvSpPr>
          <p:cNvPr id="30" name="Text 28"/>
          <p:cNvSpPr/>
          <p:nvPr/>
        </p:nvSpPr>
        <p:spPr>
          <a:xfrm>
            <a:off x="8321040" y="1188720"/>
            <a:ext cx="1645920" cy="566928"/>
          </a:xfrm>
          <a:prstGeom prst="rect">
            <a:avLst/>
          </a:prstGeom>
          <a:noFill/>
          <a:ln/>
        </p:spPr>
        <p:txBody>
          <a:bodyPr wrap="square" rtlCol="0" anchor="ctr"/>
          <a:lstStyle/>
          <a:p>
            <a:pPr marL="0" indent="0">
              <a:buNone/>
            </a:pPr>
            <a:r>
              <a:rPr lang="en-US" sz="2200" b="1" dirty="0">
                <a:solidFill>
                  <a:srgbClr val="8B5CF6"/>
                </a:solidFill>
                <a:latin typeface="Calibri" pitchFamily="34" charset="0"/>
                <a:ea typeface="Calibri" pitchFamily="34" charset="-122"/>
                <a:cs typeface="Calibri" pitchFamily="34" charset="-120"/>
              </a:rPr>
              <a:t>748</a:t>
            </a:r>
            <a:endParaRPr lang="en-US" sz="2200" dirty="0"/>
          </a:p>
        </p:txBody>
      </p:sp>
      <p:sp>
        <p:nvSpPr>
          <p:cNvPr id="31" name="Text 29"/>
          <p:cNvSpPr/>
          <p:nvPr/>
        </p:nvSpPr>
        <p:spPr>
          <a:xfrm>
            <a:off x="8321040"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Personal loan borrowers</a:t>
            </a:r>
            <a:endParaRPr lang="en-US" sz="900" dirty="0"/>
          </a:p>
        </p:txBody>
      </p:sp>
      <p:sp>
        <p:nvSpPr>
          <p:cNvPr id="32" name="Shape 30"/>
          <p:cNvSpPr/>
          <p:nvPr/>
        </p:nvSpPr>
        <p:spPr>
          <a:xfrm>
            <a:off x="10222992" y="841248"/>
            <a:ext cx="1828800" cy="1298448"/>
          </a:xfrm>
          <a:prstGeom prst="rect">
            <a:avLst/>
          </a:prstGeom>
          <a:solidFill>
            <a:srgbClr val="0F2040"/>
          </a:solidFill>
          <a:ln w="12700">
            <a:solidFill>
              <a:srgbClr val="0F2040"/>
            </a:solidFill>
            <a:prstDash val="solid"/>
          </a:ln>
        </p:spPr>
      </p:sp>
      <p:sp>
        <p:nvSpPr>
          <p:cNvPr id="33" name="Shape 31"/>
          <p:cNvSpPr/>
          <p:nvPr/>
        </p:nvSpPr>
        <p:spPr>
          <a:xfrm>
            <a:off x="10222992" y="841248"/>
            <a:ext cx="1828800" cy="54864"/>
          </a:xfrm>
          <a:prstGeom prst="rect">
            <a:avLst/>
          </a:prstGeom>
          <a:solidFill>
            <a:srgbClr val="FF6B00"/>
          </a:solidFill>
          <a:ln w="12700">
            <a:solidFill>
              <a:srgbClr val="FF6B00"/>
            </a:solidFill>
            <a:prstDash val="solid"/>
          </a:ln>
        </p:spPr>
      </p:sp>
      <p:sp>
        <p:nvSpPr>
          <p:cNvPr id="34" name="Text 32"/>
          <p:cNvSpPr/>
          <p:nvPr/>
        </p:nvSpPr>
        <p:spPr>
          <a:xfrm>
            <a:off x="10314432" y="932688"/>
            <a:ext cx="1645920"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SoFi Bank NIM</a:t>
            </a:r>
            <a:endParaRPr lang="en-US" sz="950" dirty="0"/>
          </a:p>
        </p:txBody>
      </p:sp>
      <p:sp>
        <p:nvSpPr>
          <p:cNvPr id="35" name="Text 33"/>
          <p:cNvSpPr/>
          <p:nvPr/>
        </p:nvSpPr>
        <p:spPr>
          <a:xfrm>
            <a:off x="10314432" y="1188720"/>
            <a:ext cx="1645920" cy="566928"/>
          </a:xfrm>
          <a:prstGeom prst="rect">
            <a:avLst/>
          </a:prstGeom>
          <a:noFill/>
          <a:ln/>
        </p:spPr>
        <p:txBody>
          <a:bodyPr wrap="square" rtlCol="0" anchor="ctr"/>
          <a:lstStyle/>
          <a:p>
            <a:pPr marL="0" indent="0">
              <a:buNone/>
            </a:pPr>
            <a:r>
              <a:rPr lang="en-US" sz="2200" b="1" dirty="0">
                <a:solidFill>
                  <a:srgbClr val="FF6B00"/>
                </a:solidFill>
                <a:latin typeface="Calibri" pitchFamily="34" charset="0"/>
                <a:ea typeface="Calibri" pitchFamily="34" charset="-122"/>
                <a:cs typeface="Calibri" pitchFamily="34" charset="-120"/>
              </a:rPr>
              <a:t>5.94%</a:t>
            </a:r>
            <a:endParaRPr lang="en-US" sz="2200" dirty="0"/>
          </a:p>
        </p:txBody>
      </p:sp>
      <p:sp>
        <p:nvSpPr>
          <p:cNvPr id="36" name="Text 34"/>
          <p:cNvSpPr/>
          <p:nvPr/>
        </p:nvSpPr>
        <p:spPr>
          <a:xfrm>
            <a:off x="10314432" y="1737360"/>
            <a:ext cx="1645920"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Q1 2026; vs ~3% trad. banks</a:t>
            </a:r>
            <a:endParaRPr lang="en-US" sz="900" dirty="0"/>
          </a:p>
        </p:txBody>
      </p:sp>
      <p:sp>
        <p:nvSpPr>
          <p:cNvPr id="37" name="Text 35"/>
          <p:cNvSpPr/>
          <p:nvPr/>
        </p:nvSpPr>
        <p:spPr>
          <a:xfrm>
            <a:off x="256032" y="2286000"/>
            <a:ext cx="5943600" cy="320040"/>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Revenue Segment Mix (Q1 2026) &amp; Unit Economics</a:t>
            </a:r>
            <a:endParaRPr lang="en-US" sz="1300" dirty="0"/>
          </a:p>
        </p:txBody>
      </p:sp>
      <p:sp>
        <p:nvSpPr>
          <p:cNvPr id="38" name="Shape 36"/>
          <p:cNvSpPr/>
          <p:nvPr/>
        </p:nvSpPr>
        <p:spPr>
          <a:xfrm>
            <a:off x="256032" y="2670048"/>
            <a:ext cx="5760720" cy="1005840"/>
          </a:xfrm>
          <a:prstGeom prst="rect">
            <a:avLst/>
          </a:prstGeom>
          <a:solidFill>
            <a:srgbClr val="0F2040"/>
          </a:solidFill>
          <a:ln w="12700">
            <a:solidFill>
              <a:srgbClr val="0F2040"/>
            </a:solidFill>
            <a:prstDash val="solid"/>
          </a:ln>
        </p:spPr>
      </p:sp>
      <p:sp>
        <p:nvSpPr>
          <p:cNvPr id="39" name="Shape 37"/>
          <p:cNvSpPr/>
          <p:nvPr/>
        </p:nvSpPr>
        <p:spPr>
          <a:xfrm>
            <a:off x="256032" y="2670048"/>
            <a:ext cx="64008" cy="1005840"/>
          </a:xfrm>
          <a:prstGeom prst="rect">
            <a:avLst/>
          </a:prstGeom>
          <a:solidFill>
            <a:srgbClr val="00C8C8"/>
          </a:solidFill>
          <a:ln w="12700">
            <a:solidFill>
              <a:srgbClr val="00C8C8"/>
            </a:solidFill>
            <a:prstDash val="solid"/>
          </a:ln>
        </p:spPr>
      </p:sp>
      <p:sp>
        <p:nvSpPr>
          <p:cNvPr id="40" name="Text 38"/>
          <p:cNvSpPr/>
          <p:nvPr/>
        </p:nvSpPr>
        <p:spPr>
          <a:xfrm>
            <a:off x="438912" y="2724912"/>
            <a:ext cx="164592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Lending</a:t>
            </a:r>
            <a:endParaRPr lang="en-US" sz="1250" dirty="0"/>
          </a:p>
        </p:txBody>
      </p:sp>
      <p:sp>
        <p:nvSpPr>
          <p:cNvPr id="41" name="Text 39"/>
          <p:cNvSpPr/>
          <p:nvPr/>
        </p:nvSpPr>
        <p:spPr>
          <a:xfrm>
            <a:off x="438912" y="3054096"/>
            <a:ext cx="1645920" cy="256032"/>
          </a:xfrm>
          <a:prstGeom prst="rect">
            <a:avLst/>
          </a:prstGeom>
          <a:noFill/>
          <a:ln/>
        </p:spPr>
        <p:txBody>
          <a:bodyPr wrap="square" rtlCol="0" anchor="ctr"/>
          <a:lstStyle/>
          <a:p>
            <a:pPr marL="0" indent="0">
              <a:buNone/>
            </a:pPr>
            <a:r>
              <a:rPr lang="en-US" sz="1050" b="1" dirty="0">
                <a:solidFill>
                  <a:srgbClr val="00C8C8"/>
                </a:solidFill>
                <a:latin typeface="Calibri" pitchFamily="34" charset="0"/>
                <a:ea typeface="Calibri" pitchFamily="34" charset="-122"/>
                <a:cs typeface="Calibri" pitchFamily="34" charset="-120"/>
              </a:rPr>
              <a:t>$642M (58%)</a:t>
            </a:r>
            <a:endParaRPr lang="en-US" sz="1050" dirty="0"/>
          </a:p>
        </p:txBody>
      </p:sp>
      <p:sp>
        <p:nvSpPr>
          <p:cNvPr id="42" name="Shape 40"/>
          <p:cNvSpPr/>
          <p:nvPr/>
        </p:nvSpPr>
        <p:spPr>
          <a:xfrm>
            <a:off x="2240280" y="3017520"/>
            <a:ext cx="2121408" cy="292608"/>
          </a:xfrm>
          <a:prstGeom prst="rect">
            <a:avLst/>
          </a:prstGeom>
          <a:solidFill>
            <a:srgbClr val="00C8C8"/>
          </a:solidFill>
          <a:ln w="12700">
            <a:solidFill>
              <a:srgbClr val="00C8C8"/>
            </a:solidFill>
            <a:prstDash val="solid"/>
          </a:ln>
        </p:spPr>
      </p:sp>
      <p:sp>
        <p:nvSpPr>
          <p:cNvPr id="43" name="Text 41"/>
          <p:cNvSpPr/>
          <p:nvPr/>
        </p:nvSpPr>
        <p:spPr>
          <a:xfrm>
            <a:off x="4434840" y="3035808"/>
            <a:ext cx="457200" cy="256032"/>
          </a:xfrm>
          <a:prstGeom prst="rect">
            <a:avLst/>
          </a:prstGeom>
          <a:noFill/>
          <a:ln/>
        </p:spPr>
        <p:txBody>
          <a:bodyPr wrap="square" rtlCol="0" anchor="ctr"/>
          <a:lstStyle/>
          <a:p>
            <a:pPr marL="0" indent="0">
              <a:buNone/>
            </a:pPr>
            <a:r>
              <a:rPr lang="en-US" sz="1050" b="1" dirty="0">
                <a:solidFill>
                  <a:srgbClr val="00C8C8"/>
                </a:solidFill>
                <a:latin typeface="Calibri" pitchFamily="34" charset="0"/>
                <a:ea typeface="Calibri" pitchFamily="34" charset="-122"/>
                <a:cs typeface="Calibri" pitchFamily="34" charset="-120"/>
              </a:rPr>
              <a:t>58%</a:t>
            </a:r>
            <a:endParaRPr lang="en-US" sz="1050" dirty="0"/>
          </a:p>
        </p:txBody>
      </p:sp>
      <p:sp>
        <p:nvSpPr>
          <p:cNvPr id="44" name="Text 42"/>
          <p:cNvSpPr/>
          <p:nvPr/>
        </p:nvSpPr>
        <p:spPr>
          <a:xfrm>
            <a:off x="438912" y="3355848"/>
            <a:ext cx="5303520" cy="256032"/>
          </a:xfrm>
          <a:prstGeom prst="rect">
            <a:avLst/>
          </a:prstGeom>
          <a:noFill/>
          <a:ln/>
        </p:spPr>
        <p:txBody>
          <a:bodyPr wrap="square" rtlCol="0" anchor="ctr"/>
          <a:lstStyle/>
          <a:p>
            <a:pPr marL="0" indent="0">
              <a:buNone/>
            </a:pPr>
            <a:r>
              <a:rPr lang="en-US" sz="950" i="1" dirty="0">
                <a:solidFill>
                  <a:srgbClr val="8899BB"/>
                </a:solidFill>
                <a:latin typeface="Calibri" pitchFamily="34" charset="0"/>
                <a:ea typeface="Calibri" pitchFamily="34" charset="-122"/>
                <a:cs typeface="Calibri" pitchFamily="34" charset="-120"/>
              </a:rPr>
              <a:t>NIM 5.94%; personal loans $8.3B org. (+51%)</a:t>
            </a:r>
            <a:endParaRPr lang="en-US" sz="950" dirty="0"/>
          </a:p>
        </p:txBody>
      </p:sp>
      <p:sp>
        <p:nvSpPr>
          <p:cNvPr id="45" name="Shape 43"/>
          <p:cNvSpPr/>
          <p:nvPr/>
        </p:nvSpPr>
        <p:spPr>
          <a:xfrm>
            <a:off x="256032" y="3785616"/>
            <a:ext cx="5760720" cy="1005840"/>
          </a:xfrm>
          <a:prstGeom prst="rect">
            <a:avLst/>
          </a:prstGeom>
          <a:solidFill>
            <a:srgbClr val="0A1428"/>
          </a:solidFill>
          <a:ln w="12700">
            <a:solidFill>
              <a:srgbClr val="0A1428"/>
            </a:solidFill>
            <a:prstDash val="solid"/>
          </a:ln>
        </p:spPr>
      </p:sp>
      <p:sp>
        <p:nvSpPr>
          <p:cNvPr id="46" name="Shape 44"/>
          <p:cNvSpPr/>
          <p:nvPr/>
        </p:nvSpPr>
        <p:spPr>
          <a:xfrm>
            <a:off x="256032" y="3785616"/>
            <a:ext cx="64008" cy="1005840"/>
          </a:xfrm>
          <a:prstGeom prst="rect">
            <a:avLst/>
          </a:prstGeom>
          <a:solidFill>
            <a:srgbClr val="FFB800"/>
          </a:solidFill>
          <a:ln w="12700">
            <a:solidFill>
              <a:srgbClr val="FFB800"/>
            </a:solidFill>
            <a:prstDash val="solid"/>
          </a:ln>
        </p:spPr>
      </p:sp>
      <p:sp>
        <p:nvSpPr>
          <p:cNvPr id="47" name="Text 45"/>
          <p:cNvSpPr/>
          <p:nvPr/>
        </p:nvSpPr>
        <p:spPr>
          <a:xfrm>
            <a:off x="438912" y="3840480"/>
            <a:ext cx="164592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Financial Services</a:t>
            </a:r>
            <a:endParaRPr lang="en-US" sz="1250" dirty="0"/>
          </a:p>
        </p:txBody>
      </p:sp>
      <p:sp>
        <p:nvSpPr>
          <p:cNvPr id="48" name="Text 46"/>
          <p:cNvSpPr/>
          <p:nvPr/>
        </p:nvSpPr>
        <p:spPr>
          <a:xfrm>
            <a:off x="438912" y="4169664"/>
            <a:ext cx="1645920" cy="256032"/>
          </a:xfrm>
          <a:prstGeom prst="rect">
            <a:avLst/>
          </a:prstGeom>
          <a:noFill/>
          <a:ln/>
        </p:spPr>
        <p:txBody>
          <a:bodyPr wrap="square" rtlCol="0" anchor="ctr"/>
          <a:lstStyle/>
          <a:p>
            <a:pPr marL="0" indent="0">
              <a:buNone/>
            </a:pPr>
            <a:r>
              <a:rPr lang="en-US" sz="1050" b="1" dirty="0">
                <a:solidFill>
                  <a:srgbClr val="FFB800"/>
                </a:solidFill>
                <a:latin typeface="Calibri" pitchFamily="34" charset="0"/>
                <a:ea typeface="Calibri" pitchFamily="34" charset="-122"/>
                <a:cs typeface="Calibri" pitchFamily="34" charset="-120"/>
              </a:rPr>
              <a:t>$428M (39%)</a:t>
            </a:r>
            <a:endParaRPr lang="en-US" sz="1050" dirty="0"/>
          </a:p>
        </p:txBody>
      </p:sp>
      <p:sp>
        <p:nvSpPr>
          <p:cNvPr id="49" name="Shape 47"/>
          <p:cNvSpPr/>
          <p:nvPr/>
        </p:nvSpPr>
        <p:spPr>
          <a:xfrm>
            <a:off x="2240280" y="4133088"/>
            <a:ext cx="1426464" cy="292608"/>
          </a:xfrm>
          <a:prstGeom prst="rect">
            <a:avLst/>
          </a:prstGeom>
          <a:solidFill>
            <a:srgbClr val="FFB800"/>
          </a:solidFill>
          <a:ln w="12700">
            <a:solidFill>
              <a:srgbClr val="FFB800"/>
            </a:solidFill>
            <a:prstDash val="solid"/>
          </a:ln>
        </p:spPr>
      </p:sp>
      <p:sp>
        <p:nvSpPr>
          <p:cNvPr id="50" name="Text 48"/>
          <p:cNvSpPr/>
          <p:nvPr/>
        </p:nvSpPr>
        <p:spPr>
          <a:xfrm>
            <a:off x="3739896" y="4151376"/>
            <a:ext cx="457200" cy="256032"/>
          </a:xfrm>
          <a:prstGeom prst="rect">
            <a:avLst/>
          </a:prstGeom>
          <a:noFill/>
          <a:ln/>
        </p:spPr>
        <p:txBody>
          <a:bodyPr wrap="square" rtlCol="0" anchor="ctr"/>
          <a:lstStyle/>
          <a:p>
            <a:pPr marL="0" indent="0">
              <a:buNone/>
            </a:pPr>
            <a:r>
              <a:rPr lang="en-US" sz="1050" b="1" dirty="0">
                <a:solidFill>
                  <a:srgbClr val="FFB800"/>
                </a:solidFill>
                <a:latin typeface="Calibri" pitchFamily="34" charset="0"/>
                <a:ea typeface="Calibri" pitchFamily="34" charset="-122"/>
                <a:cs typeface="Calibri" pitchFamily="34" charset="-120"/>
              </a:rPr>
              <a:t>39%</a:t>
            </a:r>
            <a:endParaRPr lang="en-US" sz="1050" dirty="0"/>
          </a:p>
        </p:txBody>
      </p:sp>
      <p:sp>
        <p:nvSpPr>
          <p:cNvPr id="51" name="Text 49"/>
          <p:cNvSpPr/>
          <p:nvPr/>
        </p:nvSpPr>
        <p:spPr>
          <a:xfrm>
            <a:off x="438912" y="4471416"/>
            <a:ext cx="5303520" cy="256032"/>
          </a:xfrm>
          <a:prstGeom prst="rect">
            <a:avLst/>
          </a:prstGeom>
          <a:noFill/>
          <a:ln/>
        </p:spPr>
        <p:txBody>
          <a:bodyPr wrap="square" rtlCol="0" anchor="ctr"/>
          <a:lstStyle/>
          <a:p>
            <a:pPr marL="0" indent="0">
              <a:buNone/>
            </a:pPr>
            <a:r>
              <a:rPr lang="en-US" sz="950" i="1" dirty="0">
                <a:solidFill>
                  <a:srgbClr val="8899BB"/>
                </a:solidFill>
                <a:latin typeface="Calibri" pitchFamily="34" charset="0"/>
                <a:ea typeface="Calibri" pitchFamily="34" charset="-122"/>
                <a:cs typeface="Calibri" pitchFamily="34" charset="-120"/>
              </a:rPr>
              <a:t>+41% YoY; fee-based growing fast</a:t>
            </a:r>
            <a:endParaRPr lang="en-US" sz="950" dirty="0"/>
          </a:p>
        </p:txBody>
      </p:sp>
      <p:sp>
        <p:nvSpPr>
          <p:cNvPr id="52" name="Shape 50"/>
          <p:cNvSpPr/>
          <p:nvPr/>
        </p:nvSpPr>
        <p:spPr>
          <a:xfrm>
            <a:off x="256032" y="4901184"/>
            <a:ext cx="5760720" cy="1005840"/>
          </a:xfrm>
          <a:prstGeom prst="rect">
            <a:avLst/>
          </a:prstGeom>
          <a:solidFill>
            <a:srgbClr val="0F2040"/>
          </a:solidFill>
          <a:ln w="12700">
            <a:solidFill>
              <a:srgbClr val="0F2040"/>
            </a:solidFill>
            <a:prstDash val="solid"/>
          </a:ln>
        </p:spPr>
      </p:sp>
      <p:sp>
        <p:nvSpPr>
          <p:cNvPr id="53" name="Shape 51"/>
          <p:cNvSpPr/>
          <p:nvPr/>
        </p:nvSpPr>
        <p:spPr>
          <a:xfrm>
            <a:off x="256032" y="4901184"/>
            <a:ext cx="64008" cy="1005840"/>
          </a:xfrm>
          <a:prstGeom prst="rect">
            <a:avLst/>
          </a:prstGeom>
          <a:solidFill>
            <a:srgbClr val="0066FF"/>
          </a:solidFill>
          <a:ln w="12700">
            <a:solidFill>
              <a:srgbClr val="0066FF"/>
            </a:solidFill>
            <a:prstDash val="solid"/>
          </a:ln>
        </p:spPr>
      </p:sp>
      <p:sp>
        <p:nvSpPr>
          <p:cNvPr id="54" name="Text 52"/>
          <p:cNvSpPr/>
          <p:nvPr/>
        </p:nvSpPr>
        <p:spPr>
          <a:xfrm>
            <a:off x="438912" y="4956048"/>
            <a:ext cx="1645920" cy="29260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Technology Platform</a:t>
            </a:r>
            <a:endParaRPr lang="en-US" sz="1250" dirty="0"/>
          </a:p>
        </p:txBody>
      </p:sp>
      <p:sp>
        <p:nvSpPr>
          <p:cNvPr id="55" name="Text 53"/>
          <p:cNvSpPr/>
          <p:nvPr/>
        </p:nvSpPr>
        <p:spPr>
          <a:xfrm>
            <a:off x="438912" y="5285232"/>
            <a:ext cx="1645920" cy="256032"/>
          </a:xfrm>
          <a:prstGeom prst="rect">
            <a:avLst/>
          </a:prstGeom>
          <a:noFill/>
          <a:ln/>
        </p:spPr>
        <p:txBody>
          <a:bodyPr wrap="square" rtlCol="0" anchor="ctr"/>
          <a:lstStyle/>
          <a:p>
            <a:pPr marL="0" indent="0">
              <a:buNone/>
            </a:pPr>
            <a:r>
              <a:rPr lang="en-US" sz="1050" b="1" dirty="0">
                <a:solidFill>
                  <a:srgbClr val="0066FF"/>
                </a:solidFill>
                <a:latin typeface="Calibri" pitchFamily="34" charset="0"/>
                <a:ea typeface="Calibri" pitchFamily="34" charset="-122"/>
                <a:cs typeface="Calibri" pitchFamily="34" charset="-120"/>
              </a:rPr>
              <a:t>$75M (7%)</a:t>
            </a:r>
            <a:endParaRPr lang="en-US" sz="1050" dirty="0"/>
          </a:p>
        </p:txBody>
      </p:sp>
      <p:sp>
        <p:nvSpPr>
          <p:cNvPr id="56" name="Shape 54"/>
          <p:cNvSpPr/>
          <p:nvPr/>
        </p:nvSpPr>
        <p:spPr>
          <a:xfrm>
            <a:off x="2240280" y="5248656"/>
            <a:ext cx="256032" cy="292608"/>
          </a:xfrm>
          <a:prstGeom prst="rect">
            <a:avLst/>
          </a:prstGeom>
          <a:solidFill>
            <a:srgbClr val="0066FF"/>
          </a:solidFill>
          <a:ln w="12700">
            <a:solidFill>
              <a:srgbClr val="0066FF"/>
            </a:solidFill>
            <a:prstDash val="solid"/>
          </a:ln>
        </p:spPr>
      </p:sp>
      <p:sp>
        <p:nvSpPr>
          <p:cNvPr id="57" name="Text 55"/>
          <p:cNvSpPr/>
          <p:nvPr/>
        </p:nvSpPr>
        <p:spPr>
          <a:xfrm>
            <a:off x="2569464" y="5266944"/>
            <a:ext cx="457200" cy="256032"/>
          </a:xfrm>
          <a:prstGeom prst="rect">
            <a:avLst/>
          </a:prstGeom>
          <a:noFill/>
          <a:ln/>
        </p:spPr>
        <p:txBody>
          <a:bodyPr wrap="square" rtlCol="0" anchor="ctr"/>
          <a:lstStyle/>
          <a:p>
            <a:pPr marL="0" indent="0">
              <a:buNone/>
            </a:pPr>
            <a:r>
              <a:rPr lang="en-US" sz="1050" b="1" dirty="0">
                <a:solidFill>
                  <a:srgbClr val="0066FF"/>
                </a:solidFill>
                <a:latin typeface="Calibri" pitchFamily="34" charset="0"/>
                <a:ea typeface="Calibri" pitchFamily="34" charset="-122"/>
                <a:cs typeface="Calibri" pitchFamily="34" charset="-120"/>
              </a:rPr>
              <a:t>7%</a:t>
            </a:r>
            <a:endParaRPr lang="en-US" sz="1050" dirty="0"/>
          </a:p>
        </p:txBody>
      </p:sp>
      <p:sp>
        <p:nvSpPr>
          <p:cNvPr id="58" name="Text 56"/>
          <p:cNvSpPr/>
          <p:nvPr/>
        </p:nvSpPr>
        <p:spPr>
          <a:xfrm>
            <a:off x="438912" y="5586984"/>
            <a:ext cx="5303520" cy="256032"/>
          </a:xfrm>
          <a:prstGeom prst="rect">
            <a:avLst/>
          </a:prstGeom>
          <a:noFill/>
          <a:ln/>
        </p:spPr>
        <p:txBody>
          <a:bodyPr wrap="square" rtlCol="0" anchor="ctr"/>
          <a:lstStyle/>
          <a:p>
            <a:pPr marL="0" indent="0">
              <a:buNone/>
            </a:pPr>
            <a:r>
              <a:rPr lang="en-US" sz="950" i="1" dirty="0">
                <a:solidFill>
                  <a:srgbClr val="8899BB"/>
                </a:solidFill>
                <a:latin typeface="Calibri" pitchFamily="34" charset="0"/>
                <a:ea typeface="Calibri" pitchFamily="34" charset="-122"/>
                <a:cs typeface="Calibri" pitchFamily="34" charset="-120"/>
              </a:rPr>
              <a:t>-27% YoY; large client loss; rebounding</a:t>
            </a:r>
            <a:endParaRPr lang="en-US" sz="950" dirty="0"/>
          </a:p>
        </p:txBody>
      </p:sp>
      <p:sp>
        <p:nvSpPr>
          <p:cNvPr id="59" name="Text 57"/>
          <p:cNvSpPr/>
          <p:nvPr/>
        </p:nvSpPr>
        <p:spPr>
          <a:xfrm>
            <a:off x="6355080" y="2286000"/>
            <a:ext cx="5577840" cy="320040"/>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Unit Economics &amp; Risk Watch</a:t>
            </a:r>
            <a:endParaRPr lang="en-US" sz="1300" dirty="0"/>
          </a:p>
        </p:txBody>
      </p:sp>
      <p:sp>
        <p:nvSpPr>
          <p:cNvPr id="60" name="Shape 58"/>
          <p:cNvSpPr/>
          <p:nvPr/>
        </p:nvSpPr>
        <p:spPr>
          <a:xfrm>
            <a:off x="6355080" y="2670048"/>
            <a:ext cx="5577840" cy="914400"/>
          </a:xfrm>
          <a:prstGeom prst="rect">
            <a:avLst/>
          </a:prstGeom>
          <a:solidFill>
            <a:srgbClr val="0F2040"/>
          </a:solidFill>
          <a:ln w="12700">
            <a:solidFill>
              <a:srgbClr val="0F2040"/>
            </a:solidFill>
            <a:prstDash val="solid"/>
          </a:ln>
        </p:spPr>
      </p:sp>
      <p:sp>
        <p:nvSpPr>
          <p:cNvPr id="61" name="Shape 59"/>
          <p:cNvSpPr/>
          <p:nvPr/>
        </p:nvSpPr>
        <p:spPr>
          <a:xfrm>
            <a:off x="6355080" y="2670048"/>
            <a:ext cx="64008" cy="914400"/>
          </a:xfrm>
          <a:prstGeom prst="rect">
            <a:avLst/>
          </a:prstGeom>
          <a:solidFill>
            <a:srgbClr val="00D68F"/>
          </a:solidFill>
          <a:ln w="12700">
            <a:solidFill>
              <a:srgbClr val="00D68F"/>
            </a:solidFill>
            <a:prstDash val="solid"/>
          </a:ln>
        </p:spPr>
      </p:sp>
      <p:sp>
        <p:nvSpPr>
          <p:cNvPr id="62" name="Text 60"/>
          <p:cNvSpPr/>
          <p:nvPr/>
        </p:nvSpPr>
        <p:spPr>
          <a:xfrm>
            <a:off x="6492240" y="2715768"/>
            <a:ext cx="1005840" cy="228600"/>
          </a:xfrm>
          <a:prstGeom prst="rect">
            <a:avLst/>
          </a:prstGeom>
          <a:noFill/>
          <a:ln/>
        </p:spPr>
        <p:txBody>
          <a:bodyPr wrap="square" rtlCol="0" anchor="ctr"/>
          <a:lstStyle/>
          <a:p>
            <a:pPr marL="0" indent="0">
              <a:buNone/>
            </a:pPr>
            <a:r>
              <a:rPr lang="en-US" sz="900" b="1" dirty="0">
                <a:solidFill>
                  <a:srgbClr val="00D68F"/>
                </a:solidFill>
                <a:latin typeface="Calibri" pitchFamily="34" charset="0"/>
                <a:ea typeface="Calibri" pitchFamily="34" charset="-122"/>
                <a:cs typeface="Calibri" pitchFamily="34" charset="-120"/>
              </a:rPr>
              <a:t>STRENGTH</a:t>
            </a:r>
            <a:endParaRPr lang="en-US" sz="900" dirty="0"/>
          </a:p>
        </p:txBody>
      </p:sp>
      <p:sp>
        <p:nvSpPr>
          <p:cNvPr id="63" name="Text 61"/>
          <p:cNvSpPr/>
          <p:nvPr/>
        </p:nvSpPr>
        <p:spPr>
          <a:xfrm>
            <a:off x="6492240" y="2926080"/>
            <a:ext cx="530352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Net Interest Margin 5.94% — 2× Traditional Banks</a:t>
            </a:r>
            <a:endParaRPr lang="en-US" sz="1050" dirty="0"/>
          </a:p>
        </p:txBody>
      </p:sp>
      <p:sp>
        <p:nvSpPr>
          <p:cNvPr id="64" name="Text 62"/>
          <p:cNvSpPr/>
          <p:nvPr/>
        </p:nvSpPr>
        <p:spPr>
          <a:xfrm>
            <a:off x="6492240" y="3200400"/>
            <a:ext cx="5349240" cy="329184"/>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Bank charter + $40B deposits at ~1.2% cost = 5.94% NIM. SoFi's spread advantage vs JPMorgan Chase (~2.8% NIM) is structural. Every new deposit dollar is high-return capital for lending at competitive rates.</a:t>
            </a:r>
            <a:endParaRPr lang="en-US" sz="900" dirty="0"/>
          </a:p>
        </p:txBody>
      </p:sp>
      <p:sp>
        <p:nvSpPr>
          <p:cNvPr id="65" name="Shape 63"/>
          <p:cNvSpPr/>
          <p:nvPr/>
        </p:nvSpPr>
        <p:spPr>
          <a:xfrm>
            <a:off x="6355080" y="3648456"/>
            <a:ext cx="5577840" cy="914400"/>
          </a:xfrm>
          <a:prstGeom prst="rect">
            <a:avLst/>
          </a:prstGeom>
          <a:solidFill>
            <a:srgbClr val="0A1428"/>
          </a:solidFill>
          <a:ln w="12700">
            <a:solidFill>
              <a:srgbClr val="0A1428"/>
            </a:solidFill>
            <a:prstDash val="solid"/>
          </a:ln>
        </p:spPr>
      </p:sp>
      <p:sp>
        <p:nvSpPr>
          <p:cNvPr id="66" name="Shape 64"/>
          <p:cNvSpPr/>
          <p:nvPr/>
        </p:nvSpPr>
        <p:spPr>
          <a:xfrm>
            <a:off x="6355080" y="3648456"/>
            <a:ext cx="64008" cy="914400"/>
          </a:xfrm>
          <a:prstGeom prst="rect">
            <a:avLst/>
          </a:prstGeom>
          <a:solidFill>
            <a:srgbClr val="00C8C8"/>
          </a:solidFill>
          <a:ln w="12700">
            <a:solidFill>
              <a:srgbClr val="00C8C8"/>
            </a:solidFill>
            <a:prstDash val="solid"/>
          </a:ln>
        </p:spPr>
      </p:sp>
      <p:sp>
        <p:nvSpPr>
          <p:cNvPr id="67" name="Text 65"/>
          <p:cNvSpPr/>
          <p:nvPr/>
        </p:nvSpPr>
        <p:spPr>
          <a:xfrm>
            <a:off x="6492240" y="3694176"/>
            <a:ext cx="1005840" cy="228600"/>
          </a:xfrm>
          <a:prstGeom prst="rect">
            <a:avLst/>
          </a:prstGeom>
          <a:noFill/>
          <a:ln/>
        </p:spPr>
        <p:txBody>
          <a:bodyPr wrap="square" rtlCol="0" anchor="ctr"/>
          <a:lstStyle/>
          <a:p>
            <a:pPr marL="0" indent="0">
              <a:buNone/>
            </a:pPr>
            <a:r>
              <a:rPr lang="en-US" sz="900" b="1" dirty="0">
                <a:solidFill>
                  <a:srgbClr val="00C8C8"/>
                </a:solidFill>
                <a:latin typeface="Calibri" pitchFamily="34" charset="0"/>
                <a:ea typeface="Calibri" pitchFamily="34" charset="-122"/>
                <a:cs typeface="Calibri" pitchFamily="34" charset="-120"/>
              </a:rPr>
              <a:t>STRENGTH</a:t>
            </a:r>
            <a:endParaRPr lang="en-US" sz="900" dirty="0"/>
          </a:p>
        </p:txBody>
      </p:sp>
      <p:sp>
        <p:nvSpPr>
          <p:cNvPr id="68" name="Text 66"/>
          <p:cNvSpPr/>
          <p:nvPr/>
        </p:nvSpPr>
        <p:spPr>
          <a:xfrm>
            <a:off x="6492240" y="3904488"/>
            <a:ext cx="530352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High FICO Borrowers — Avg 748 — Credit Quality Moat</a:t>
            </a:r>
            <a:endParaRPr lang="en-US" sz="1050" dirty="0"/>
          </a:p>
        </p:txBody>
      </p:sp>
      <p:sp>
        <p:nvSpPr>
          <p:cNvPr id="69" name="Text 67"/>
          <p:cNvSpPr/>
          <p:nvPr/>
        </p:nvSpPr>
        <p:spPr>
          <a:xfrm>
            <a:off x="6492240" y="4178808"/>
            <a:ext cx="5349240" cy="329184"/>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SoFi targets high-income, high-credit consumers. Q1 personal loan charge-off rate: 3.37% (declining). 90-day delinquency: 0.55%. Lifelong loss rate for 2020-2025 cohort held below 8% tolerance. Premium demographics drive premium pricing.</a:t>
            </a:r>
            <a:endParaRPr lang="en-US" sz="900" dirty="0"/>
          </a:p>
        </p:txBody>
      </p:sp>
      <p:sp>
        <p:nvSpPr>
          <p:cNvPr id="70" name="Shape 68"/>
          <p:cNvSpPr/>
          <p:nvPr/>
        </p:nvSpPr>
        <p:spPr>
          <a:xfrm>
            <a:off x="6355080" y="4626864"/>
            <a:ext cx="5577840" cy="914400"/>
          </a:xfrm>
          <a:prstGeom prst="rect">
            <a:avLst/>
          </a:prstGeom>
          <a:solidFill>
            <a:srgbClr val="0F2040"/>
          </a:solidFill>
          <a:ln w="12700">
            <a:solidFill>
              <a:srgbClr val="0F2040"/>
            </a:solidFill>
            <a:prstDash val="solid"/>
          </a:ln>
        </p:spPr>
      </p:sp>
      <p:sp>
        <p:nvSpPr>
          <p:cNvPr id="71" name="Shape 69"/>
          <p:cNvSpPr/>
          <p:nvPr/>
        </p:nvSpPr>
        <p:spPr>
          <a:xfrm>
            <a:off x="6355080" y="4626864"/>
            <a:ext cx="64008" cy="914400"/>
          </a:xfrm>
          <a:prstGeom prst="rect">
            <a:avLst/>
          </a:prstGeom>
          <a:solidFill>
            <a:srgbClr val="FFB800"/>
          </a:solidFill>
          <a:ln w="12700">
            <a:solidFill>
              <a:srgbClr val="FFB800"/>
            </a:solidFill>
            <a:prstDash val="solid"/>
          </a:ln>
        </p:spPr>
      </p:sp>
      <p:sp>
        <p:nvSpPr>
          <p:cNvPr id="72" name="Text 70"/>
          <p:cNvSpPr/>
          <p:nvPr/>
        </p:nvSpPr>
        <p:spPr>
          <a:xfrm>
            <a:off x="6492240" y="4672584"/>
            <a:ext cx="1005840" cy="228600"/>
          </a:xfrm>
          <a:prstGeom prst="rect">
            <a:avLst/>
          </a:prstGeom>
          <a:noFill/>
          <a:ln/>
        </p:spPr>
        <p:txBody>
          <a:bodyPr wrap="square" rtlCol="0" anchor="ctr"/>
          <a:lstStyle/>
          <a:p>
            <a:pPr marL="0" indent="0">
              <a:buNone/>
            </a:pPr>
            <a:r>
              <a:rPr lang="en-US" sz="900" b="1" dirty="0">
                <a:solidFill>
                  <a:srgbClr val="FFB800"/>
                </a:solidFill>
                <a:latin typeface="Calibri" pitchFamily="34" charset="0"/>
                <a:ea typeface="Calibri" pitchFamily="34" charset="-122"/>
                <a:cs typeface="Calibri" pitchFamily="34" charset="-120"/>
              </a:rPr>
              <a:t>WATCH</a:t>
            </a:r>
            <a:endParaRPr lang="en-US" sz="900" dirty="0"/>
          </a:p>
        </p:txBody>
      </p:sp>
      <p:sp>
        <p:nvSpPr>
          <p:cNvPr id="73" name="Text 71"/>
          <p:cNvSpPr/>
          <p:nvPr/>
        </p:nvSpPr>
        <p:spPr>
          <a:xfrm>
            <a:off x="6492240" y="4882896"/>
            <a:ext cx="530352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Q1 Net Charge-Offs: $201.6M — Elevated vs Prior Year</a:t>
            </a:r>
            <a:endParaRPr lang="en-US" sz="1050" dirty="0"/>
          </a:p>
        </p:txBody>
      </p:sp>
      <p:sp>
        <p:nvSpPr>
          <p:cNvPr id="74" name="Text 72"/>
          <p:cNvSpPr/>
          <p:nvPr/>
        </p:nvSpPr>
        <p:spPr>
          <a:xfrm>
            <a:off x="6492240" y="5157216"/>
            <a:ext cx="5349240" cy="329184"/>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Net charge-offs rose YoY in Q1 2026 even as delinquencies improved. Credit quality trend must be monitored carefully, especially under tariff-driven macro uncertainty. Keefe Bruyette flagged 'early credit cracks in securitizations' pre-Q1 2026.</a:t>
            </a:r>
            <a:endParaRPr lang="en-US" sz="900" dirty="0"/>
          </a:p>
        </p:txBody>
      </p:sp>
      <p:sp>
        <p:nvSpPr>
          <p:cNvPr id="75" name="Shape 73"/>
          <p:cNvSpPr/>
          <p:nvPr/>
        </p:nvSpPr>
        <p:spPr>
          <a:xfrm>
            <a:off x="6355080" y="5605272"/>
            <a:ext cx="5577840" cy="914400"/>
          </a:xfrm>
          <a:prstGeom prst="rect">
            <a:avLst/>
          </a:prstGeom>
          <a:solidFill>
            <a:srgbClr val="0A1428"/>
          </a:solidFill>
          <a:ln w="12700">
            <a:solidFill>
              <a:srgbClr val="0A1428"/>
            </a:solidFill>
            <a:prstDash val="solid"/>
          </a:ln>
        </p:spPr>
      </p:sp>
      <p:sp>
        <p:nvSpPr>
          <p:cNvPr id="76" name="Shape 74"/>
          <p:cNvSpPr/>
          <p:nvPr/>
        </p:nvSpPr>
        <p:spPr>
          <a:xfrm>
            <a:off x="6355080" y="5605272"/>
            <a:ext cx="64008" cy="914400"/>
          </a:xfrm>
          <a:prstGeom prst="rect">
            <a:avLst/>
          </a:prstGeom>
          <a:solidFill>
            <a:srgbClr val="FF4444"/>
          </a:solidFill>
          <a:ln w="12700">
            <a:solidFill>
              <a:srgbClr val="FF4444"/>
            </a:solidFill>
            <a:prstDash val="solid"/>
          </a:ln>
        </p:spPr>
      </p:sp>
      <p:sp>
        <p:nvSpPr>
          <p:cNvPr id="77" name="Text 75"/>
          <p:cNvSpPr/>
          <p:nvPr/>
        </p:nvSpPr>
        <p:spPr>
          <a:xfrm>
            <a:off x="6492240" y="5650992"/>
            <a:ext cx="1005840" cy="228600"/>
          </a:xfrm>
          <a:prstGeom prst="rect">
            <a:avLst/>
          </a:prstGeom>
          <a:noFill/>
          <a:ln/>
        </p:spPr>
        <p:txBody>
          <a:bodyPr wrap="square" rtlCol="0" anchor="ctr"/>
          <a:lstStyle/>
          <a:p>
            <a:pPr marL="0" indent="0">
              <a:buNone/>
            </a:pPr>
            <a:r>
              <a:rPr lang="en-US" sz="900" b="1" dirty="0">
                <a:solidFill>
                  <a:srgbClr val="FF4444"/>
                </a:solidFill>
                <a:latin typeface="Calibri" pitchFamily="34" charset="0"/>
                <a:ea typeface="Calibri" pitchFamily="34" charset="-122"/>
                <a:cs typeface="Calibri" pitchFamily="34" charset="-120"/>
              </a:rPr>
              <a:t>RISK</a:t>
            </a:r>
            <a:endParaRPr lang="en-US" sz="900" dirty="0"/>
          </a:p>
        </p:txBody>
      </p:sp>
      <p:sp>
        <p:nvSpPr>
          <p:cNvPr id="78" name="Text 76"/>
          <p:cNvSpPr/>
          <p:nvPr/>
        </p:nvSpPr>
        <p:spPr>
          <a:xfrm>
            <a:off x="6492240" y="5861304"/>
            <a:ext cx="5303520" cy="256032"/>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Macro Sensitivity: No Fed Cuts Now Assumed in 2026</a:t>
            </a:r>
            <a:endParaRPr lang="en-US" sz="1050" dirty="0"/>
          </a:p>
        </p:txBody>
      </p:sp>
      <p:sp>
        <p:nvSpPr>
          <p:cNvPr id="79" name="Text 77"/>
          <p:cNvSpPr/>
          <p:nvPr/>
        </p:nvSpPr>
        <p:spPr>
          <a:xfrm>
            <a:off x="6492240" y="6135624"/>
            <a:ext cx="5349240" cy="329184"/>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CEO Noto held FY guidance flat despite beat because original guidance assumed 2+ Fed rate cuts — now assuming zero. Higher rates for longer pressures borrower demand. Consumer finance stocks across the board face headwinds in a stagflationary environment.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6: MANAGEMENT, GOVERNANCE &amp; CAPITAL ALLOCATION</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200" dirty="0">
                <a:solidFill>
                  <a:srgbClr val="002060"/>
                </a:solidFill>
                <a:latin typeface="Calibri" pitchFamily="34" charset="0"/>
                <a:ea typeface="Calibri" pitchFamily="34" charset="-122"/>
                <a:cs typeface="Calibri" pitchFamily="34" charset="-120"/>
              </a:rPr>
              <a:t>CEO Anthony Noto — the 'Noto Premium' — architect of SoFi's transformation</a:t>
            </a:r>
            <a:endParaRPr lang="en-US" sz="12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62" name="Group 61">
            <a:extLst>
              <a:ext uri="{FF2B5EF4-FFF2-40B4-BE49-F238E27FC236}">
                <a16:creationId xmlns:a16="http://schemas.microsoft.com/office/drawing/2014/main" id="{7EB0F132-0F6C-5969-EFA6-64F4294DEB15}"/>
              </a:ext>
            </a:extLst>
          </p:cNvPr>
          <p:cNvGrpSpPr/>
          <p:nvPr/>
        </p:nvGrpSpPr>
        <p:grpSpPr>
          <a:xfrm>
            <a:off x="256032" y="1115568"/>
            <a:ext cx="3822192" cy="2660904"/>
            <a:chOff x="256032" y="1115568"/>
            <a:chExt cx="3822192" cy="2660904"/>
          </a:xfrm>
        </p:grpSpPr>
        <p:sp>
          <p:nvSpPr>
            <p:cNvPr id="7" name="Shape 5"/>
            <p:cNvSpPr/>
            <p:nvPr/>
          </p:nvSpPr>
          <p:spPr>
            <a:xfrm>
              <a:off x="256032" y="1115568"/>
              <a:ext cx="3822192" cy="2660904"/>
            </a:xfrm>
            <a:prstGeom prst="rect">
              <a:avLst/>
            </a:prstGeom>
            <a:solidFill>
              <a:srgbClr val="0F2040"/>
            </a:solidFill>
            <a:ln w="12700">
              <a:solidFill>
                <a:srgbClr val="0F2040"/>
              </a:solidFill>
              <a:prstDash val="solid"/>
            </a:ln>
          </p:spPr>
        </p:sp>
        <p:sp>
          <p:nvSpPr>
            <p:cNvPr id="8" name="Shape 6"/>
            <p:cNvSpPr/>
            <p:nvPr/>
          </p:nvSpPr>
          <p:spPr>
            <a:xfrm>
              <a:off x="256032" y="1115568"/>
              <a:ext cx="64008" cy="2660904"/>
            </a:xfrm>
            <a:prstGeom prst="rect">
              <a:avLst/>
            </a:prstGeom>
            <a:solidFill>
              <a:srgbClr val="00C8C8"/>
            </a:solidFill>
            <a:ln w="12700">
              <a:solidFill>
                <a:srgbClr val="00C8C8"/>
              </a:solidFill>
              <a:prstDash val="solid"/>
            </a:ln>
          </p:spPr>
        </p:sp>
        <p:sp>
          <p:nvSpPr>
            <p:cNvPr id="9" name="Text 7"/>
            <p:cNvSpPr/>
            <p:nvPr/>
          </p:nvSpPr>
          <p:spPr>
            <a:xfrm>
              <a:off x="438912" y="1207008"/>
              <a:ext cx="3520440" cy="320040"/>
            </a:xfrm>
            <a:prstGeom prst="rect">
              <a:avLst/>
            </a:prstGeom>
            <a:noFill/>
            <a:ln/>
          </p:spPr>
          <p:txBody>
            <a:bodyPr wrap="square" rtlCol="0" anchor="ctr"/>
            <a:lstStyle/>
            <a:p>
              <a:pPr marL="0" indent="0">
                <a:buNone/>
              </a:pPr>
              <a:r>
                <a:rPr lang="en-US" sz="1300" b="1" dirty="0">
                  <a:solidFill>
                    <a:srgbClr val="00C8C8"/>
                  </a:solidFill>
                  <a:latin typeface="Calibri" pitchFamily="34" charset="0"/>
                  <a:ea typeface="Calibri" pitchFamily="34" charset="-122"/>
                  <a:cs typeface="Calibri" pitchFamily="34" charset="-120"/>
                </a:rPr>
                <a:t>Anthony Noto</a:t>
              </a:r>
              <a:endParaRPr lang="en-US" sz="1300" dirty="0"/>
            </a:p>
          </p:txBody>
        </p:sp>
        <p:sp>
          <p:nvSpPr>
            <p:cNvPr id="10" name="Text 8"/>
            <p:cNvSpPr/>
            <p:nvPr/>
          </p:nvSpPr>
          <p:spPr>
            <a:xfrm>
              <a:off x="438912" y="151790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CEO (since 2018)</a:t>
              </a:r>
              <a:endParaRPr lang="en-US" sz="1000" dirty="0"/>
            </a:p>
          </p:txBody>
        </p:sp>
        <p:sp>
          <p:nvSpPr>
            <p:cNvPr id="11" name="Text 9"/>
            <p:cNvSpPr/>
            <p:nvPr/>
          </p:nvSpPr>
          <p:spPr>
            <a:xfrm>
              <a:off x="438912" y="181051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Former Goldman Sachs CFO; Twitter COO; NFL CFO</a:t>
              </a:r>
              <a:endParaRPr lang="en-US" sz="950" dirty="0"/>
            </a:p>
          </p:txBody>
        </p:sp>
        <p:sp>
          <p:nvSpPr>
            <p:cNvPr id="12" name="Text 10"/>
            <p:cNvSpPr/>
            <p:nvPr/>
          </p:nvSpPr>
          <p:spPr>
            <a:xfrm>
              <a:off x="438912" y="220370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$215M personal SOFI stake; bought 28,900 shares during Muddy Waters attack</a:t>
              </a:r>
              <a:endParaRPr lang="en-US" sz="950" dirty="0"/>
            </a:p>
          </p:txBody>
        </p:sp>
        <p:sp>
          <p:nvSpPr>
            <p:cNvPr id="13" name="Text 11"/>
            <p:cNvSpPr/>
            <p:nvPr/>
          </p:nvSpPr>
          <p:spPr>
            <a:xfrm>
              <a:off x="438912" y="259689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Architect of bank charter strategy, FSPL model, and B2B pivot</a:t>
              </a:r>
              <a:endParaRPr lang="en-US" sz="950" dirty="0"/>
            </a:p>
          </p:txBody>
        </p:sp>
        <p:sp>
          <p:nvSpPr>
            <p:cNvPr id="14" name="Text 12"/>
            <p:cNvSpPr/>
            <p:nvPr/>
          </p:nvSpPr>
          <p:spPr>
            <a:xfrm>
              <a:off x="438912" y="299008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18 consecutive Rule of 40 quarters under his leadership</a:t>
              </a:r>
              <a:endParaRPr lang="en-US" sz="950" dirty="0"/>
            </a:p>
          </p:txBody>
        </p:sp>
        <p:sp>
          <p:nvSpPr>
            <p:cNvPr id="15" name="Text 13"/>
            <p:cNvSpPr/>
            <p:nvPr/>
          </p:nvSpPr>
          <p:spPr>
            <a:xfrm>
              <a:off x="438912" y="338328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Target: primary financial app for 1-in-8 American households</a:t>
              </a:r>
              <a:endParaRPr lang="en-US" sz="950" dirty="0"/>
            </a:p>
          </p:txBody>
        </p:sp>
      </p:grpSp>
      <p:grpSp>
        <p:nvGrpSpPr>
          <p:cNvPr id="63" name="Group 62">
            <a:extLst>
              <a:ext uri="{FF2B5EF4-FFF2-40B4-BE49-F238E27FC236}">
                <a16:creationId xmlns:a16="http://schemas.microsoft.com/office/drawing/2014/main" id="{D262B406-743E-9726-33A0-030BCBAC32E7}"/>
              </a:ext>
            </a:extLst>
          </p:cNvPr>
          <p:cNvGrpSpPr/>
          <p:nvPr/>
        </p:nvGrpSpPr>
        <p:grpSpPr>
          <a:xfrm>
            <a:off x="4224528" y="1106422"/>
            <a:ext cx="3822192" cy="2660904"/>
            <a:chOff x="4233672" y="1115568"/>
            <a:chExt cx="3822192" cy="2660904"/>
          </a:xfrm>
        </p:grpSpPr>
        <p:sp>
          <p:nvSpPr>
            <p:cNvPr id="16" name="Shape 14"/>
            <p:cNvSpPr/>
            <p:nvPr/>
          </p:nvSpPr>
          <p:spPr>
            <a:xfrm>
              <a:off x="4233672" y="1115568"/>
              <a:ext cx="3822192" cy="2651760"/>
            </a:xfrm>
            <a:prstGeom prst="rect">
              <a:avLst/>
            </a:prstGeom>
            <a:solidFill>
              <a:srgbClr val="0F2040"/>
            </a:solidFill>
            <a:ln w="12700">
              <a:solidFill>
                <a:srgbClr val="0F2040"/>
              </a:solidFill>
              <a:prstDash val="solid"/>
            </a:ln>
          </p:spPr>
        </p:sp>
        <p:sp>
          <p:nvSpPr>
            <p:cNvPr id="17" name="Shape 15"/>
            <p:cNvSpPr/>
            <p:nvPr/>
          </p:nvSpPr>
          <p:spPr>
            <a:xfrm>
              <a:off x="4233672" y="1115568"/>
              <a:ext cx="64008" cy="2660904"/>
            </a:xfrm>
            <a:prstGeom prst="rect">
              <a:avLst/>
            </a:prstGeom>
            <a:solidFill>
              <a:srgbClr val="FFB800"/>
            </a:solidFill>
            <a:ln w="12700">
              <a:solidFill>
                <a:srgbClr val="FFB800"/>
              </a:solidFill>
              <a:prstDash val="solid"/>
            </a:ln>
          </p:spPr>
        </p:sp>
        <p:sp>
          <p:nvSpPr>
            <p:cNvPr id="18" name="Text 16"/>
            <p:cNvSpPr/>
            <p:nvPr/>
          </p:nvSpPr>
          <p:spPr>
            <a:xfrm>
              <a:off x="4416552" y="1207008"/>
              <a:ext cx="3520440" cy="320040"/>
            </a:xfrm>
            <a:prstGeom prst="rect">
              <a:avLst/>
            </a:prstGeom>
            <a:noFill/>
            <a:ln/>
          </p:spPr>
          <p:txBody>
            <a:bodyPr wrap="square" rtlCol="0" anchor="ctr"/>
            <a:lstStyle/>
            <a:p>
              <a:pPr marL="0" indent="0">
                <a:buNone/>
              </a:pPr>
              <a:r>
                <a:rPr lang="en-US" sz="1300" b="1" dirty="0">
                  <a:solidFill>
                    <a:srgbClr val="FFB800"/>
                  </a:solidFill>
                  <a:latin typeface="Calibri" pitchFamily="34" charset="0"/>
                  <a:ea typeface="Calibri" pitchFamily="34" charset="-122"/>
                  <a:cs typeface="Calibri" pitchFamily="34" charset="-120"/>
                </a:rPr>
                <a:t>Chris Lapointe</a:t>
              </a:r>
              <a:endParaRPr lang="en-US" sz="1300" dirty="0"/>
            </a:p>
          </p:txBody>
        </p:sp>
        <p:sp>
          <p:nvSpPr>
            <p:cNvPr id="19" name="Text 17"/>
            <p:cNvSpPr/>
            <p:nvPr/>
          </p:nvSpPr>
          <p:spPr>
            <a:xfrm>
              <a:off x="4416552" y="151790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CFO</a:t>
              </a:r>
              <a:endParaRPr lang="en-US" sz="1000" dirty="0"/>
            </a:p>
          </p:txBody>
        </p:sp>
        <p:sp>
          <p:nvSpPr>
            <p:cNvPr id="20" name="Text 18"/>
            <p:cNvSpPr/>
            <p:nvPr/>
          </p:nvSpPr>
          <p:spPr>
            <a:xfrm>
              <a:off x="4416552" y="181051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Strong capital markets background; former Goldman/Google finance</a:t>
              </a:r>
              <a:endParaRPr lang="en-US" sz="950" dirty="0"/>
            </a:p>
          </p:txBody>
        </p:sp>
        <p:sp>
          <p:nvSpPr>
            <p:cNvPr id="21" name="Text 19"/>
            <p:cNvSpPr/>
            <p:nvPr/>
          </p:nvSpPr>
          <p:spPr>
            <a:xfrm>
              <a:off x="4416552" y="220370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Consistent guidance delivery: 2025 guidance raised every single quarter</a:t>
              </a:r>
              <a:endParaRPr lang="en-US" sz="950" dirty="0"/>
            </a:p>
          </p:txBody>
        </p:sp>
        <p:sp>
          <p:nvSpPr>
            <p:cNvPr id="22" name="Text 20"/>
            <p:cNvSpPr/>
            <p:nvPr/>
          </p:nvSpPr>
          <p:spPr>
            <a:xfrm>
              <a:off x="4416552" y="259689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Managing shift to fee-based, capital-light model</a:t>
              </a:r>
              <a:endParaRPr lang="en-US" sz="950" dirty="0"/>
            </a:p>
          </p:txBody>
        </p:sp>
        <p:sp>
          <p:nvSpPr>
            <p:cNvPr id="23" name="Text 21"/>
            <p:cNvSpPr/>
            <p:nvPr/>
          </p:nvSpPr>
          <p:spPr>
            <a:xfrm>
              <a:off x="4416552" y="299008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Overseeing LPB scaling: fee revenue &gt;40% of total</a:t>
              </a:r>
              <a:endParaRPr lang="en-US" sz="950" dirty="0"/>
            </a:p>
          </p:txBody>
        </p:sp>
        <p:sp>
          <p:nvSpPr>
            <p:cNvPr id="24" name="Text 22"/>
            <p:cNvSpPr/>
            <p:nvPr/>
          </p:nvSpPr>
          <p:spPr>
            <a:xfrm>
              <a:off x="4416552" y="338328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Conservative disclosure; investor credibility intact post-Muddy Waters</a:t>
              </a:r>
              <a:endParaRPr lang="en-US" sz="950" dirty="0"/>
            </a:p>
          </p:txBody>
        </p:sp>
      </p:grpSp>
      <p:grpSp>
        <p:nvGrpSpPr>
          <p:cNvPr id="64" name="Group 63">
            <a:extLst>
              <a:ext uri="{FF2B5EF4-FFF2-40B4-BE49-F238E27FC236}">
                <a16:creationId xmlns:a16="http://schemas.microsoft.com/office/drawing/2014/main" id="{A33F78F4-56DE-5F3B-A9F3-EB018B974B4D}"/>
              </a:ext>
            </a:extLst>
          </p:cNvPr>
          <p:cNvGrpSpPr/>
          <p:nvPr/>
        </p:nvGrpSpPr>
        <p:grpSpPr>
          <a:xfrm>
            <a:off x="8211312" y="1115567"/>
            <a:ext cx="3822192" cy="2660905"/>
            <a:chOff x="8211312" y="1115567"/>
            <a:chExt cx="3822192" cy="2660905"/>
          </a:xfrm>
        </p:grpSpPr>
        <p:sp>
          <p:nvSpPr>
            <p:cNvPr id="25" name="Shape 23"/>
            <p:cNvSpPr/>
            <p:nvPr/>
          </p:nvSpPr>
          <p:spPr>
            <a:xfrm>
              <a:off x="8211312" y="1115567"/>
              <a:ext cx="3822192" cy="2651759"/>
            </a:xfrm>
            <a:prstGeom prst="rect">
              <a:avLst/>
            </a:prstGeom>
            <a:solidFill>
              <a:srgbClr val="0F2040"/>
            </a:solidFill>
            <a:ln w="12700">
              <a:solidFill>
                <a:srgbClr val="0F2040"/>
              </a:solidFill>
              <a:prstDash val="solid"/>
            </a:ln>
          </p:spPr>
        </p:sp>
        <p:sp>
          <p:nvSpPr>
            <p:cNvPr id="26" name="Shape 24"/>
            <p:cNvSpPr/>
            <p:nvPr/>
          </p:nvSpPr>
          <p:spPr>
            <a:xfrm>
              <a:off x="8211312" y="1115568"/>
              <a:ext cx="64008" cy="2660904"/>
            </a:xfrm>
            <a:prstGeom prst="rect">
              <a:avLst/>
            </a:prstGeom>
            <a:solidFill>
              <a:srgbClr val="FF4444"/>
            </a:solidFill>
            <a:ln w="12700">
              <a:solidFill>
                <a:srgbClr val="FF4444"/>
              </a:solidFill>
              <a:prstDash val="solid"/>
            </a:ln>
          </p:spPr>
        </p:sp>
        <p:sp>
          <p:nvSpPr>
            <p:cNvPr id="27" name="Text 25"/>
            <p:cNvSpPr/>
            <p:nvPr/>
          </p:nvSpPr>
          <p:spPr>
            <a:xfrm>
              <a:off x="8394192" y="1207008"/>
              <a:ext cx="3520440" cy="320040"/>
            </a:xfrm>
            <a:prstGeom prst="rect">
              <a:avLst/>
            </a:prstGeom>
            <a:noFill/>
            <a:ln/>
          </p:spPr>
          <p:txBody>
            <a:bodyPr wrap="square" rtlCol="0" anchor="ctr"/>
            <a:lstStyle/>
            <a:p>
              <a:pPr marL="0" indent="0">
                <a:buNone/>
              </a:pPr>
              <a:r>
                <a:rPr lang="en-US" sz="1300" b="1" dirty="0">
                  <a:solidFill>
                    <a:srgbClr val="FF4444"/>
                  </a:solidFill>
                  <a:latin typeface="Calibri" pitchFamily="34" charset="0"/>
                  <a:ea typeface="Calibri" pitchFamily="34" charset="-122"/>
                  <a:cs typeface="Calibri" pitchFamily="34" charset="-120"/>
                </a:rPr>
                <a:t>Micah Heavener</a:t>
              </a:r>
              <a:endParaRPr lang="en-US" sz="1300" dirty="0"/>
            </a:p>
          </p:txBody>
        </p:sp>
        <p:sp>
          <p:nvSpPr>
            <p:cNvPr id="28" name="Text 26"/>
            <p:cNvSpPr/>
            <p:nvPr/>
          </p:nvSpPr>
          <p:spPr>
            <a:xfrm>
              <a:off x="8394192" y="151790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Chief Risk Officer</a:t>
              </a:r>
              <a:endParaRPr lang="en-US" sz="1000" dirty="0"/>
            </a:p>
          </p:txBody>
        </p:sp>
        <p:sp>
          <p:nvSpPr>
            <p:cNvPr id="29" name="Text 27"/>
            <p:cNvSpPr/>
            <p:nvPr/>
          </p:nvSpPr>
          <p:spPr>
            <a:xfrm>
              <a:off x="8394192" y="181051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Critical role: manages $42B loan book credit quality</a:t>
              </a:r>
              <a:endParaRPr lang="en-US" sz="950" dirty="0"/>
            </a:p>
          </p:txBody>
        </p:sp>
        <p:sp>
          <p:nvSpPr>
            <p:cNvPr id="30" name="Text 28"/>
            <p:cNvSpPr/>
            <p:nvPr/>
          </p:nvSpPr>
          <p:spPr>
            <a:xfrm>
              <a:off x="8394192" y="220370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Maintained personal loan charge-off rate below 3.5% across rate cycles</a:t>
              </a:r>
              <a:endParaRPr lang="en-US" sz="950" dirty="0"/>
            </a:p>
          </p:txBody>
        </p:sp>
        <p:sp>
          <p:nvSpPr>
            <p:cNvPr id="31" name="Text 29"/>
            <p:cNvSpPr/>
            <p:nvPr/>
          </p:nvSpPr>
          <p:spPr>
            <a:xfrm>
              <a:off x="8394192" y="259689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FICO 748 average target maintained under lending growth pressure</a:t>
              </a:r>
              <a:endParaRPr lang="en-US" sz="950" dirty="0"/>
            </a:p>
          </p:txBody>
        </p:sp>
        <p:sp>
          <p:nvSpPr>
            <p:cNvPr id="32" name="Text 30"/>
            <p:cNvSpPr/>
            <p:nvPr/>
          </p:nvSpPr>
          <p:spPr>
            <a:xfrm>
              <a:off x="8394192" y="299008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Muddy Waters accounting allegations fall under his domain</a:t>
              </a:r>
              <a:endParaRPr lang="en-US" sz="950" dirty="0"/>
            </a:p>
          </p:txBody>
        </p:sp>
        <p:sp>
          <p:nvSpPr>
            <p:cNvPr id="33" name="Text 31"/>
            <p:cNvSpPr/>
            <p:nvPr/>
          </p:nvSpPr>
          <p:spPr>
            <a:xfrm>
              <a:off x="8394192" y="338328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Key man risk: any audit/regulatory escalation scrutinizes risk function</a:t>
              </a:r>
              <a:endParaRPr lang="en-US" sz="950" dirty="0"/>
            </a:p>
          </p:txBody>
        </p:sp>
      </p:grpSp>
      <p:grpSp>
        <p:nvGrpSpPr>
          <p:cNvPr id="61" name="Group 60">
            <a:extLst>
              <a:ext uri="{FF2B5EF4-FFF2-40B4-BE49-F238E27FC236}">
                <a16:creationId xmlns:a16="http://schemas.microsoft.com/office/drawing/2014/main" id="{339E4ACF-2A8B-9C4C-3693-6AA9863BD91C}"/>
              </a:ext>
            </a:extLst>
          </p:cNvPr>
          <p:cNvGrpSpPr/>
          <p:nvPr/>
        </p:nvGrpSpPr>
        <p:grpSpPr>
          <a:xfrm>
            <a:off x="256032" y="3915076"/>
            <a:ext cx="11777472" cy="2753789"/>
            <a:chOff x="256032" y="3675887"/>
            <a:chExt cx="11777472" cy="2753789"/>
          </a:xfrm>
        </p:grpSpPr>
        <p:sp>
          <p:nvSpPr>
            <p:cNvPr id="34" name="Shape 32"/>
            <p:cNvSpPr/>
            <p:nvPr/>
          </p:nvSpPr>
          <p:spPr>
            <a:xfrm>
              <a:off x="256032" y="3675888"/>
              <a:ext cx="3822192" cy="2753788"/>
            </a:xfrm>
            <a:prstGeom prst="rect">
              <a:avLst/>
            </a:prstGeom>
            <a:solidFill>
              <a:srgbClr val="0F2040"/>
            </a:solidFill>
            <a:ln w="12700">
              <a:solidFill>
                <a:srgbClr val="0F2040"/>
              </a:solidFill>
              <a:prstDash val="solid"/>
            </a:ln>
          </p:spPr>
        </p:sp>
        <p:sp>
          <p:nvSpPr>
            <p:cNvPr id="35" name="Shape 33"/>
            <p:cNvSpPr/>
            <p:nvPr/>
          </p:nvSpPr>
          <p:spPr>
            <a:xfrm>
              <a:off x="256032" y="3675888"/>
              <a:ext cx="64008" cy="2753788"/>
            </a:xfrm>
            <a:prstGeom prst="rect">
              <a:avLst/>
            </a:prstGeom>
            <a:solidFill>
              <a:srgbClr val="0066FF"/>
            </a:solidFill>
            <a:ln w="12700">
              <a:solidFill>
                <a:srgbClr val="0066FF"/>
              </a:solidFill>
              <a:prstDash val="solid"/>
            </a:ln>
          </p:spPr>
        </p:sp>
        <p:sp>
          <p:nvSpPr>
            <p:cNvPr id="36" name="Text 34"/>
            <p:cNvSpPr/>
            <p:nvPr/>
          </p:nvSpPr>
          <p:spPr>
            <a:xfrm>
              <a:off x="438912" y="3767328"/>
              <a:ext cx="3520440" cy="320040"/>
            </a:xfrm>
            <a:prstGeom prst="rect">
              <a:avLst/>
            </a:prstGeom>
            <a:noFill/>
            <a:ln/>
          </p:spPr>
          <p:txBody>
            <a:bodyPr wrap="square" rtlCol="0" anchor="ctr"/>
            <a:lstStyle/>
            <a:p>
              <a:pPr marL="0" indent="0">
                <a:buNone/>
              </a:pPr>
              <a:r>
                <a:rPr lang="en-US" sz="1300" b="1" dirty="0">
                  <a:solidFill>
                    <a:srgbClr val="0066FF"/>
                  </a:solidFill>
                  <a:latin typeface="Calibri" pitchFamily="34" charset="0"/>
                  <a:ea typeface="Calibri" pitchFamily="34" charset="-122"/>
                  <a:cs typeface="Calibri" pitchFamily="34" charset="-120"/>
                </a:rPr>
                <a:t>Board Composition</a:t>
              </a:r>
              <a:endParaRPr lang="en-US" sz="1300" dirty="0"/>
            </a:p>
          </p:txBody>
        </p:sp>
        <p:sp>
          <p:nvSpPr>
            <p:cNvPr id="37" name="Text 35"/>
            <p:cNvSpPr/>
            <p:nvPr/>
          </p:nvSpPr>
          <p:spPr>
            <a:xfrm>
              <a:off x="438912" y="407822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Governance Profile</a:t>
              </a:r>
              <a:endParaRPr lang="en-US" sz="1000" dirty="0"/>
            </a:p>
          </p:txBody>
        </p:sp>
        <p:sp>
          <p:nvSpPr>
            <p:cNvPr id="38" name="Text 36"/>
            <p:cNvSpPr/>
            <p:nvPr/>
          </p:nvSpPr>
          <p:spPr>
            <a:xfrm>
              <a:off x="438912" y="437083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Post-SPAC era: meaningful governance improvement since 2022</a:t>
              </a:r>
              <a:endParaRPr lang="en-US" sz="950" dirty="0"/>
            </a:p>
          </p:txBody>
        </p:sp>
        <p:sp>
          <p:nvSpPr>
            <p:cNvPr id="39" name="Text 37"/>
            <p:cNvSpPr/>
            <p:nvPr/>
          </p:nvSpPr>
          <p:spPr>
            <a:xfrm>
              <a:off x="438912" y="476402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Board includes veterans from JPMorgan, Goldman, eBay, tech sector</a:t>
              </a:r>
              <a:endParaRPr lang="en-US" sz="950" dirty="0"/>
            </a:p>
          </p:txBody>
        </p:sp>
        <p:sp>
          <p:nvSpPr>
            <p:cNvPr id="40" name="Text 38"/>
            <p:cNvSpPr/>
            <p:nvPr/>
          </p:nvSpPr>
          <p:spPr>
            <a:xfrm>
              <a:off x="438912" y="515721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Audit committee upgraded post-Muddy Waters to address accounting scrutiny</a:t>
              </a:r>
              <a:endParaRPr lang="en-US" sz="950" dirty="0"/>
            </a:p>
          </p:txBody>
        </p:sp>
        <p:sp>
          <p:nvSpPr>
            <p:cNvPr id="41" name="Text 39"/>
            <p:cNvSpPr/>
            <p:nvPr/>
          </p:nvSpPr>
          <p:spPr>
            <a:xfrm>
              <a:off x="438912" y="555040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CEO share ownership ~2% — among highest for any major US fintech CEO</a:t>
              </a:r>
              <a:endParaRPr lang="en-US" sz="950" dirty="0"/>
            </a:p>
          </p:txBody>
        </p:sp>
        <p:sp>
          <p:nvSpPr>
            <p:cNvPr id="42" name="Text 40"/>
            <p:cNvSpPr/>
            <p:nvPr/>
          </p:nvSpPr>
          <p:spPr>
            <a:xfrm>
              <a:off x="438912" y="594360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 controlling shareholder; institutional dominant: Vanguard 8.5%, BlackRock 7.1%</a:t>
              </a:r>
              <a:endParaRPr lang="en-US" sz="950" dirty="0"/>
            </a:p>
          </p:txBody>
        </p:sp>
        <p:sp>
          <p:nvSpPr>
            <p:cNvPr id="43" name="Shape 41"/>
            <p:cNvSpPr/>
            <p:nvPr/>
          </p:nvSpPr>
          <p:spPr>
            <a:xfrm>
              <a:off x="4233672" y="3675887"/>
              <a:ext cx="3822192" cy="2753789"/>
            </a:xfrm>
            <a:prstGeom prst="rect">
              <a:avLst/>
            </a:prstGeom>
            <a:solidFill>
              <a:srgbClr val="0F2040"/>
            </a:solidFill>
            <a:ln w="12700">
              <a:solidFill>
                <a:srgbClr val="0F2040"/>
              </a:solidFill>
              <a:prstDash val="solid"/>
            </a:ln>
          </p:spPr>
        </p:sp>
        <p:sp>
          <p:nvSpPr>
            <p:cNvPr id="44" name="Shape 42"/>
            <p:cNvSpPr/>
            <p:nvPr/>
          </p:nvSpPr>
          <p:spPr>
            <a:xfrm>
              <a:off x="4233672" y="3675888"/>
              <a:ext cx="64008" cy="2753788"/>
            </a:xfrm>
            <a:prstGeom prst="rect">
              <a:avLst/>
            </a:prstGeom>
            <a:solidFill>
              <a:srgbClr val="8B5CF6"/>
            </a:solidFill>
            <a:ln w="12700">
              <a:solidFill>
                <a:srgbClr val="8B5CF6"/>
              </a:solidFill>
              <a:prstDash val="solid"/>
            </a:ln>
          </p:spPr>
        </p:sp>
        <p:sp>
          <p:nvSpPr>
            <p:cNvPr id="45" name="Text 43"/>
            <p:cNvSpPr/>
            <p:nvPr/>
          </p:nvSpPr>
          <p:spPr>
            <a:xfrm>
              <a:off x="4416552" y="3767328"/>
              <a:ext cx="3520440" cy="320040"/>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Capital Allocation</a:t>
              </a:r>
              <a:endParaRPr lang="en-US" sz="1300" dirty="0"/>
            </a:p>
          </p:txBody>
        </p:sp>
        <p:sp>
          <p:nvSpPr>
            <p:cNvPr id="46" name="Text 44"/>
            <p:cNvSpPr/>
            <p:nvPr/>
          </p:nvSpPr>
          <p:spPr>
            <a:xfrm>
              <a:off x="4416552" y="407822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Strategic Framework</a:t>
              </a:r>
              <a:endParaRPr lang="en-US" sz="1000" dirty="0"/>
            </a:p>
          </p:txBody>
        </p:sp>
        <p:sp>
          <p:nvSpPr>
            <p:cNvPr id="47" name="Text 45"/>
            <p:cNvSpPr/>
            <p:nvPr/>
          </p:nvSpPr>
          <p:spPr>
            <a:xfrm>
              <a:off x="4416552" y="437083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 dividend; all capital retained for growth investment</a:t>
              </a:r>
              <a:endParaRPr lang="en-US" sz="950" dirty="0"/>
            </a:p>
          </p:txBody>
        </p:sp>
        <p:sp>
          <p:nvSpPr>
            <p:cNvPr id="48" name="Text 46"/>
            <p:cNvSpPr/>
            <p:nvPr/>
          </p:nvSpPr>
          <p:spPr>
            <a:xfrm>
              <a:off x="4416552" y="476402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2025-2028 targets: 30%+ CAGR rev; 38-42% CAGR EPS</a:t>
              </a:r>
              <a:endParaRPr lang="en-US" sz="950" dirty="0"/>
            </a:p>
          </p:txBody>
        </p:sp>
        <p:sp>
          <p:nvSpPr>
            <p:cNvPr id="49" name="Text 47"/>
            <p:cNvSpPr/>
            <p:nvPr/>
          </p:nvSpPr>
          <p:spPr>
            <a:xfrm>
              <a:off x="4416552" y="515721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Share count rising: dilution from equity comp ~2% annually — monitor</a:t>
              </a:r>
              <a:endParaRPr lang="en-US" sz="950" dirty="0"/>
            </a:p>
          </p:txBody>
        </p:sp>
        <p:sp>
          <p:nvSpPr>
            <p:cNvPr id="50" name="Text 48"/>
            <p:cNvSpPr/>
            <p:nvPr/>
          </p:nvSpPr>
          <p:spPr>
            <a:xfrm>
              <a:off x="4416552" y="555040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$27B+ committed capex for tech, product, and team through 2028</a:t>
              </a:r>
              <a:endParaRPr lang="en-US" sz="950" dirty="0"/>
            </a:p>
          </p:txBody>
        </p:sp>
        <p:sp>
          <p:nvSpPr>
            <p:cNvPr id="51" name="Text 49"/>
            <p:cNvSpPr/>
            <p:nvPr/>
          </p:nvSpPr>
          <p:spPr>
            <a:xfrm>
              <a:off x="4416552" y="594360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 large acquisitions currently planned — organic + bolt-on only</a:t>
              </a:r>
              <a:endParaRPr lang="en-US" sz="950" dirty="0"/>
            </a:p>
          </p:txBody>
        </p:sp>
        <p:sp>
          <p:nvSpPr>
            <p:cNvPr id="52" name="Shape 50"/>
            <p:cNvSpPr/>
            <p:nvPr/>
          </p:nvSpPr>
          <p:spPr>
            <a:xfrm>
              <a:off x="8211312" y="3675888"/>
              <a:ext cx="3822192" cy="2753788"/>
            </a:xfrm>
            <a:prstGeom prst="rect">
              <a:avLst/>
            </a:prstGeom>
            <a:solidFill>
              <a:srgbClr val="0F2040"/>
            </a:solidFill>
            <a:ln w="12700">
              <a:solidFill>
                <a:srgbClr val="0F2040"/>
              </a:solidFill>
              <a:prstDash val="solid"/>
            </a:ln>
          </p:spPr>
        </p:sp>
        <p:sp>
          <p:nvSpPr>
            <p:cNvPr id="53" name="Shape 51"/>
            <p:cNvSpPr/>
            <p:nvPr/>
          </p:nvSpPr>
          <p:spPr>
            <a:xfrm>
              <a:off x="8211312" y="3675888"/>
              <a:ext cx="64008" cy="2753788"/>
            </a:xfrm>
            <a:prstGeom prst="rect">
              <a:avLst/>
            </a:prstGeom>
            <a:solidFill>
              <a:srgbClr val="8899BB"/>
            </a:solidFill>
            <a:ln w="12700">
              <a:solidFill>
                <a:srgbClr val="8899BB"/>
              </a:solidFill>
              <a:prstDash val="solid"/>
            </a:ln>
          </p:spPr>
        </p:sp>
        <p:sp>
          <p:nvSpPr>
            <p:cNvPr id="54" name="Text 52"/>
            <p:cNvSpPr/>
            <p:nvPr/>
          </p:nvSpPr>
          <p:spPr>
            <a:xfrm>
              <a:off x="8394192" y="3767328"/>
              <a:ext cx="3520440" cy="320040"/>
            </a:xfrm>
            <a:prstGeom prst="rect">
              <a:avLst/>
            </a:prstGeom>
            <a:noFill/>
            <a:ln/>
          </p:spPr>
          <p:txBody>
            <a:bodyPr wrap="square" rtlCol="0" anchor="ctr"/>
            <a:lstStyle/>
            <a:p>
              <a:pPr marL="0" indent="0">
                <a:buNone/>
              </a:pPr>
              <a:r>
                <a:rPr lang="en-US" sz="1300" b="1" dirty="0">
                  <a:solidFill>
                    <a:srgbClr val="8899BB"/>
                  </a:solidFill>
                  <a:latin typeface="Calibri" pitchFamily="34" charset="0"/>
                  <a:ea typeface="Calibri" pitchFamily="34" charset="-122"/>
                  <a:cs typeface="Calibri" pitchFamily="34" charset="-120"/>
                </a:rPr>
                <a:t>Ownership Structure</a:t>
              </a:r>
              <a:endParaRPr lang="en-US" sz="1300" dirty="0"/>
            </a:p>
          </p:txBody>
        </p:sp>
        <p:sp>
          <p:nvSpPr>
            <p:cNvPr id="55" name="Text 53"/>
            <p:cNvSpPr/>
            <p:nvPr/>
          </p:nvSpPr>
          <p:spPr>
            <a:xfrm>
              <a:off x="8394192" y="4078224"/>
              <a:ext cx="3520440" cy="256032"/>
            </a:xfrm>
            <a:prstGeom prst="rect">
              <a:avLst/>
            </a:prstGeom>
            <a:noFill/>
            <a:ln/>
          </p:spPr>
          <p:txBody>
            <a:bodyPr wrap="square" rtlCol="0" anchor="ctr"/>
            <a:lstStyle/>
            <a:p>
              <a:pPr marL="0" indent="0">
                <a:buNone/>
              </a:pPr>
              <a:r>
                <a:rPr lang="en-US" sz="1000" i="1" dirty="0">
                  <a:solidFill>
                    <a:srgbClr val="8899BB"/>
                  </a:solidFill>
                  <a:latin typeface="Calibri" pitchFamily="34" charset="0"/>
                  <a:ea typeface="Calibri" pitchFamily="34" charset="-122"/>
                  <a:cs typeface="Calibri" pitchFamily="34" charset="-120"/>
                </a:rPr>
                <a:t>Institutional &amp; Insider</a:t>
              </a:r>
              <a:endParaRPr lang="en-US" sz="1000" dirty="0"/>
            </a:p>
          </p:txBody>
        </p:sp>
        <p:sp>
          <p:nvSpPr>
            <p:cNvPr id="56" name="Text 54"/>
            <p:cNvSpPr/>
            <p:nvPr/>
          </p:nvSpPr>
          <p:spPr>
            <a:xfrm>
              <a:off x="8394192" y="4370832"/>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Institutional: ~72% | CEO Noto: ~2% (~$215M at $15 stock)</a:t>
              </a:r>
              <a:endParaRPr lang="en-US" sz="950" dirty="0"/>
            </a:p>
          </p:txBody>
        </p:sp>
        <p:sp>
          <p:nvSpPr>
            <p:cNvPr id="57" name="Text 55"/>
            <p:cNvSpPr/>
            <p:nvPr/>
          </p:nvSpPr>
          <p:spPr>
            <a:xfrm>
              <a:off x="8394192" y="4764024"/>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Noto's open-market buying during pullbacks: signal vs noise debate</a:t>
              </a:r>
              <a:endParaRPr lang="en-US" sz="950" dirty="0"/>
            </a:p>
          </p:txBody>
        </p:sp>
        <p:sp>
          <p:nvSpPr>
            <p:cNvPr id="58" name="Text 56"/>
            <p:cNvSpPr/>
            <p:nvPr/>
          </p:nvSpPr>
          <p:spPr>
            <a:xfrm>
              <a:off x="8394192" y="5157216"/>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SoftBank: legacy SPAC-era stake reducing over time</a:t>
              </a:r>
              <a:endParaRPr lang="en-US" sz="950" dirty="0"/>
            </a:p>
          </p:txBody>
        </p:sp>
        <p:sp>
          <p:nvSpPr>
            <p:cNvPr id="59" name="Text 57"/>
            <p:cNvSpPr/>
            <p:nvPr/>
          </p:nvSpPr>
          <p:spPr>
            <a:xfrm>
              <a:off x="8394192" y="5550408"/>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 single dominant blockholder creating corporate governance risk</a:t>
              </a:r>
              <a:endParaRPr lang="en-US" sz="950" dirty="0"/>
            </a:p>
          </p:txBody>
        </p:sp>
        <p:sp>
          <p:nvSpPr>
            <p:cNvPr id="60" name="Text 58"/>
            <p:cNvSpPr/>
            <p:nvPr/>
          </p:nvSpPr>
          <p:spPr>
            <a:xfrm>
              <a:off x="8394192" y="5943600"/>
              <a:ext cx="3520440" cy="384048"/>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Insider selling negligible; most exec comp in restricted stock units</a:t>
              </a:r>
              <a:endParaRPr lang="en-US" sz="95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7: COMPETITIVE LANDSCAPE — SOFI VS PEERS</a:t>
            </a:r>
            <a:endParaRPr lang="en-US" sz="2200" dirty="0"/>
          </a:p>
        </p:txBody>
      </p:sp>
      <p:sp>
        <p:nvSpPr>
          <p:cNvPr id="5" name="Text 3"/>
          <p:cNvSpPr/>
          <p:nvPr/>
        </p:nvSpPr>
        <p:spPr>
          <a:xfrm>
            <a:off x="201168" y="795528"/>
            <a:ext cx="11612880" cy="256032"/>
          </a:xfrm>
          <a:prstGeom prst="rect">
            <a:avLst/>
          </a:prstGeom>
          <a:noFill/>
          <a:ln/>
        </p:spPr>
        <p:txBody>
          <a:bodyPr wrap="square" rtlCol="0" anchor="ctr"/>
          <a:lstStyle/>
          <a:p>
            <a:pPr marL="0" indent="0">
              <a:buNone/>
            </a:pPr>
            <a:r>
              <a:rPr lang="en-US" sz="1200" dirty="0">
                <a:solidFill>
                  <a:srgbClr val="002060"/>
                </a:solidFill>
                <a:latin typeface="Calibri" pitchFamily="34" charset="0"/>
                <a:ea typeface="Calibri" pitchFamily="34" charset="-122"/>
                <a:cs typeface="Calibri" pitchFamily="34" charset="-120"/>
              </a:rPr>
              <a:t>Dominating digital banking while building B2B infrastructure — who competes and who wins?</a:t>
            </a:r>
            <a:endParaRPr lang="en-US" sz="12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93" name="Group 92">
            <a:extLst>
              <a:ext uri="{FF2B5EF4-FFF2-40B4-BE49-F238E27FC236}">
                <a16:creationId xmlns:a16="http://schemas.microsoft.com/office/drawing/2014/main" id="{0B3EB667-4C83-E815-BE96-44E5A615C36F}"/>
              </a:ext>
            </a:extLst>
          </p:cNvPr>
          <p:cNvGrpSpPr/>
          <p:nvPr/>
        </p:nvGrpSpPr>
        <p:grpSpPr>
          <a:xfrm>
            <a:off x="288036" y="1108108"/>
            <a:ext cx="11672316" cy="5120640"/>
            <a:chOff x="256032" y="1170432"/>
            <a:chExt cx="10241280" cy="5120640"/>
          </a:xfrm>
        </p:grpSpPr>
        <p:sp>
          <p:nvSpPr>
            <p:cNvPr id="7" name="Shape 5"/>
            <p:cNvSpPr/>
            <p:nvPr/>
          </p:nvSpPr>
          <p:spPr>
            <a:xfrm>
              <a:off x="256032" y="1170432"/>
              <a:ext cx="1828800" cy="384048"/>
            </a:xfrm>
            <a:prstGeom prst="rect">
              <a:avLst/>
            </a:prstGeom>
            <a:solidFill>
              <a:srgbClr val="0A1628"/>
            </a:solidFill>
            <a:ln w="12700">
              <a:solidFill>
                <a:srgbClr val="0A1628"/>
              </a:solidFill>
              <a:prstDash val="solid"/>
            </a:ln>
          </p:spPr>
        </p:sp>
        <p:sp>
          <p:nvSpPr>
            <p:cNvPr id="8" name="Text 6"/>
            <p:cNvSpPr/>
            <p:nvPr/>
          </p:nvSpPr>
          <p:spPr>
            <a:xfrm>
              <a:off x="329184" y="1225296"/>
              <a:ext cx="171907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p>
          </p:txBody>
        </p:sp>
        <p:sp>
          <p:nvSpPr>
            <p:cNvPr id="9" name="Shape 7"/>
            <p:cNvSpPr/>
            <p:nvPr/>
          </p:nvSpPr>
          <p:spPr>
            <a:xfrm>
              <a:off x="2084832" y="1170432"/>
              <a:ext cx="1828800" cy="384048"/>
            </a:xfrm>
            <a:prstGeom prst="rect">
              <a:avLst/>
            </a:prstGeom>
            <a:solidFill>
              <a:srgbClr val="0A1628"/>
            </a:solidFill>
            <a:ln w="12700">
              <a:solidFill>
                <a:srgbClr val="0A1628"/>
              </a:solidFill>
              <a:prstDash val="solid"/>
            </a:ln>
          </p:spPr>
        </p:sp>
        <p:sp>
          <p:nvSpPr>
            <p:cNvPr id="10" name="Text 8"/>
            <p:cNvSpPr/>
            <p:nvPr/>
          </p:nvSpPr>
          <p:spPr>
            <a:xfrm>
              <a:off x="2157984" y="1225296"/>
              <a:ext cx="171907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SoFi (SOFI)</a:t>
              </a:r>
              <a:endParaRPr lang="en-US" sz="1000" dirty="0"/>
            </a:p>
          </p:txBody>
        </p:sp>
        <p:sp>
          <p:nvSpPr>
            <p:cNvPr id="11" name="Shape 9"/>
            <p:cNvSpPr/>
            <p:nvPr/>
          </p:nvSpPr>
          <p:spPr>
            <a:xfrm>
              <a:off x="3913632" y="1170432"/>
              <a:ext cx="1737360" cy="384048"/>
            </a:xfrm>
            <a:prstGeom prst="rect">
              <a:avLst/>
            </a:prstGeom>
            <a:solidFill>
              <a:srgbClr val="0A1628"/>
            </a:solidFill>
            <a:ln w="12700">
              <a:solidFill>
                <a:srgbClr val="0A1628"/>
              </a:solidFill>
              <a:prstDash val="solid"/>
            </a:ln>
          </p:spPr>
        </p:sp>
        <p:sp>
          <p:nvSpPr>
            <p:cNvPr id="12" name="Text 10"/>
            <p:cNvSpPr/>
            <p:nvPr/>
          </p:nvSpPr>
          <p:spPr>
            <a:xfrm>
              <a:off x="3986784" y="1225296"/>
              <a:ext cx="162763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Chime / Revolut</a:t>
              </a:r>
              <a:endParaRPr lang="en-US" sz="1000" dirty="0"/>
            </a:p>
          </p:txBody>
        </p:sp>
        <p:sp>
          <p:nvSpPr>
            <p:cNvPr id="13" name="Shape 11"/>
            <p:cNvSpPr/>
            <p:nvPr/>
          </p:nvSpPr>
          <p:spPr>
            <a:xfrm>
              <a:off x="5650992" y="1170432"/>
              <a:ext cx="1463040" cy="384048"/>
            </a:xfrm>
            <a:prstGeom prst="rect">
              <a:avLst/>
            </a:prstGeom>
            <a:solidFill>
              <a:srgbClr val="0A1628"/>
            </a:solidFill>
            <a:ln w="12700">
              <a:solidFill>
                <a:srgbClr val="0A1628"/>
              </a:solidFill>
              <a:prstDash val="solid"/>
            </a:ln>
          </p:spPr>
        </p:sp>
        <p:sp>
          <p:nvSpPr>
            <p:cNvPr id="14" name="Text 12"/>
            <p:cNvSpPr/>
            <p:nvPr/>
          </p:nvSpPr>
          <p:spPr>
            <a:xfrm>
              <a:off x="5724144" y="1225296"/>
              <a:ext cx="135331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LendingClub (LC)</a:t>
              </a:r>
              <a:endParaRPr lang="en-US" sz="1000" dirty="0"/>
            </a:p>
          </p:txBody>
        </p:sp>
        <p:sp>
          <p:nvSpPr>
            <p:cNvPr id="15" name="Shape 13"/>
            <p:cNvSpPr/>
            <p:nvPr/>
          </p:nvSpPr>
          <p:spPr>
            <a:xfrm>
              <a:off x="7114032" y="1170432"/>
              <a:ext cx="1417320" cy="384048"/>
            </a:xfrm>
            <a:prstGeom prst="rect">
              <a:avLst/>
            </a:prstGeom>
            <a:solidFill>
              <a:srgbClr val="0A1628"/>
            </a:solidFill>
            <a:ln w="12700">
              <a:solidFill>
                <a:srgbClr val="0A1628"/>
              </a:solidFill>
              <a:prstDash val="solid"/>
            </a:ln>
          </p:spPr>
        </p:sp>
        <p:sp>
          <p:nvSpPr>
            <p:cNvPr id="16" name="Text 14"/>
            <p:cNvSpPr/>
            <p:nvPr/>
          </p:nvSpPr>
          <p:spPr>
            <a:xfrm>
              <a:off x="7187184" y="1225296"/>
              <a:ext cx="130759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Upstart (UPST)</a:t>
              </a:r>
              <a:endParaRPr lang="en-US" sz="1000" dirty="0"/>
            </a:p>
          </p:txBody>
        </p:sp>
        <p:sp>
          <p:nvSpPr>
            <p:cNvPr id="17" name="Shape 15"/>
            <p:cNvSpPr/>
            <p:nvPr/>
          </p:nvSpPr>
          <p:spPr>
            <a:xfrm>
              <a:off x="8531352" y="1170432"/>
              <a:ext cx="1965960" cy="384048"/>
            </a:xfrm>
            <a:prstGeom prst="rect">
              <a:avLst/>
            </a:prstGeom>
            <a:solidFill>
              <a:srgbClr val="0A1628"/>
            </a:solidFill>
            <a:ln w="12700">
              <a:solidFill>
                <a:srgbClr val="0A1628"/>
              </a:solidFill>
              <a:prstDash val="solid"/>
            </a:ln>
          </p:spPr>
        </p:sp>
        <p:sp>
          <p:nvSpPr>
            <p:cNvPr id="18" name="Text 16"/>
            <p:cNvSpPr/>
            <p:nvPr/>
          </p:nvSpPr>
          <p:spPr>
            <a:xfrm>
              <a:off x="8604504" y="1225296"/>
              <a:ext cx="1856232"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JPMorgan Chase</a:t>
              </a:r>
              <a:endParaRPr lang="en-US" sz="1000" dirty="0"/>
            </a:p>
          </p:txBody>
        </p:sp>
        <p:sp>
          <p:nvSpPr>
            <p:cNvPr id="19" name="Shape 17"/>
            <p:cNvSpPr/>
            <p:nvPr/>
          </p:nvSpPr>
          <p:spPr>
            <a:xfrm>
              <a:off x="256032" y="1554480"/>
              <a:ext cx="10241280" cy="457200"/>
            </a:xfrm>
            <a:prstGeom prst="rect">
              <a:avLst/>
            </a:prstGeom>
            <a:solidFill>
              <a:srgbClr val="0F2040"/>
            </a:solidFill>
            <a:ln w="12700">
              <a:solidFill>
                <a:srgbClr val="0F2040"/>
              </a:solidFill>
              <a:prstDash val="solid"/>
            </a:ln>
          </p:spPr>
        </p:sp>
        <p:sp>
          <p:nvSpPr>
            <p:cNvPr id="20" name="Shape 18"/>
            <p:cNvSpPr/>
            <p:nvPr/>
          </p:nvSpPr>
          <p:spPr>
            <a:xfrm>
              <a:off x="256032" y="1554480"/>
              <a:ext cx="45720" cy="457200"/>
            </a:xfrm>
            <a:prstGeom prst="rect">
              <a:avLst/>
            </a:prstGeom>
            <a:solidFill>
              <a:srgbClr val="00C8C8"/>
            </a:solidFill>
            <a:ln w="12700">
              <a:solidFill>
                <a:srgbClr val="00C8C8"/>
              </a:solidFill>
              <a:prstDash val="solid"/>
            </a:ln>
          </p:spPr>
        </p:sp>
        <p:sp>
          <p:nvSpPr>
            <p:cNvPr id="21" name="Text 19"/>
            <p:cNvSpPr/>
            <p:nvPr/>
          </p:nvSpPr>
          <p:spPr>
            <a:xfrm>
              <a:off x="320040" y="1618488"/>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Business Model</a:t>
              </a:r>
              <a:endParaRPr lang="en-US" sz="950" dirty="0"/>
            </a:p>
          </p:txBody>
        </p:sp>
        <p:sp>
          <p:nvSpPr>
            <p:cNvPr id="22" name="Text 20"/>
            <p:cNvSpPr/>
            <p:nvPr/>
          </p:nvSpPr>
          <p:spPr>
            <a:xfrm>
              <a:off x="2148840" y="1618488"/>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Full-stack: bank+lending+B2B</a:t>
              </a:r>
              <a:endParaRPr lang="en-US" sz="950" dirty="0"/>
            </a:p>
          </p:txBody>
        </p:sp>
        <p:sp>
          <p:nvSpPr>
            <p:cNvPr id="23" name="Text 21"/>
            <p:cNvSpPr/>
            <p:nvPr/>
          </p:nvSpPr>
          <p:spPr>
            <a:xfrm>
              <a:off x="3977640" y="1618488"/>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Digital bank only</a:t>
              </a:r>
              <a:endParaRPr lang="en-US" sz="950" dirty="0"/>
            </a:p>
          </p:txBody>
        </p:sp>
        <p:sp>
          <p:nvSpPr>
            <p:cNvPr id="24" name="Text 22"/>
            <p:cNvSpPr/>
            <p:nvPr/>
          </p:nvSpPr>
          <p:spPr>
            <a:xfrm>
              <a:off x="5715000" y="1618488"/>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Marketplace lender</a:t>
              </a:r>
              <a:endParaRPr lang="en-US" sz="950" dirty="0"/>
            </a:p>
          </p:txBody>
        </p:sp>
        <p:sp>
          <p:nvSpPr>
            <p:cNvPr id="25" name="Text 23"/>
            <p:cNvSpPr/>
            <p:nvPr/>
          </p:nvSpPr>
          <p:spPr>
            <a:xfrm>
              <a:off x="7178040" y="1618488"/>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AI credit marketplace</a:t>
              </a:r>
              <a:endParaRPr lang="en-US" sz="950" dirty="0"/>
            </a:p>
          </p:txBody>
        </p:sp>
        <p:sp>
          <p:nvSpPr>
            <p:cNvPr id="26" name="Text 24"/>
            <p:cNvSpPr/>
            <p:nvPr/>
          </p:nvSpPr>
          <p:spPr>
            <a:xfrm>
              <a:off x="8595360" y="1618488"/>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Traditional full-service bank</a:t>
              </a:r>
              <a:endParaRPr lang="en-US" sz="950" dirty="0"/>
            </a:p>
          </p:txBody>
        </p:sp>
        <p:sp>
          <p:nvSpPr>
            <p:cNvPr id="27" name="Shape 25"/>
            <p:cNvSpPr/>
            <p:nvPr/>
          </p:nvSpPr>
          <p:spPr>
            <a:xfrm>
              <a:off x="256032" y="2029968"/>
              <a:ext cx="10241280" cy="457200"/>
            </a:xfrm>
            <a:prstGeom prst="rect">
              <a:avLst/>
            </a:prstGeom>
            <a:solidFill>
              <a:srgbClr val="0A1428"/>
            </a:solidFill>
            <a:ln w="12700">
              <a:solidFill>
                <a:srgbClr val="0A1428"/>
              </a:solidFill>
              <a:prstDash val="solid"/>
            </a:ln>
          </p:spPr>
        </p:sp>
        <p:sp>
          <p:nvSpPr>
            <p:cNvPr id="28" name="Text 26"/>
            <p:cNvSpPr/>
            <p:nvPr/>
          </p:nvSpPr>
          <p:spPr>
            <a:xfrm>
              <a:off x="320040" y="2093976"/>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Bank Charter</a:t>
              </a:r>
              <a:endParaRPr lang="en-US" sz="950" dirty="0"/>
            </a:p>
          </p:txBody>
        </p:sp>
        <p:sp>
          <p:nvSpPr>
            <p:cNvPr id="29" name="Text 27"/>
            <p:cNvSpPr/>
            <p:nvPr/>
          </p:nvSpPr>
          <p:spPr>
            <a:xfrm>
              <a:off x="2148840" y="2093976"/>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 National bank charter</a:t>
              </a:r>
              <a:endParaRPr lang="en-US" sz="950" dirty="0"/>
            </a:p>
          </p:txBody>
        </p:sp>
        <p:sp>
          <p:nvSpPr>
            <p:cNvPr id="30" name="Text 28"/>
            <p:cNvSpPr/>
            <p:nvPr/>
          </p:nvSpPr>
          <p:spPr>
            <a:xfrm>
              <a:off x="3977640" y="2093976"/>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Banking partner</a:t>
              </a:r>
              <a:endParaRPr lang="en-US" sz="950" dirty="0"/>
            </a:p>
          </p:txBody>
        </p:sp>
        <p:sp>
          <p:nvSpPr>
            <p:cNvPr id="31" name="Text 29"/>
            <p:cNvSpPr/>
            <p:nvPr/>
          </p:nvSpPr>
          <p:spPr>
            <a:xfrm>
              <a:off x="5715000" y="2093976"/>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Bank charter</a:t>
              </a:r>
              <a:endParaRPr lang="en-US" sz="950" dirty="0"/>
            </a:p>
          </p:txBody>
        </p:sp>
        <p:sp>
          <p:nvSpPr>
            <p:cNvPr id="32" name="Text 30"/>
            <p:cNvSpPr/>
            <p:nvPr/>
          </p:nvSpPr>
          <p:spPr>
            <a:xfrm>
              <a:off x="7178040" y="2093976"/>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 charter</a:t>
              </a:r>
              <a:endParaRPr lang="en-US" sz="950" dirty="0"/>
            </a:p>
          </p:txBody>
        </p:sp>
        <p:sp>
          <p:nvSpPr>
            <p:cNvPr id="33" name="Text 31"/>
            <p:cNvSpPr/>
            <p:nvPr/>
          </p:nvSpPr>
          <p:spPr>
            <a:xfrm>
              <a:off x="8595360" y="2093976"/>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Full banking license</a:t>
              </a:r>
              <a:endParaRPr lang="en-US" sz="950" dirty="0"/>
            </a:p>
          </p:txBody>
        </p:sp>
        <p:sp>
          <p:nvSpPr>
            <p:cNvPr id="34" name="Shape 32"/>
            <p:cNvSpPr/>
            <p:nvPr/>
          </p:nvSpPr>
          <p:spPr>
            <a:xfrm>
              <a:off x="256032" y="2505456"/>
              <a:ext cx="10241280" cy="457200"/>
            </a:xfrm>
            <a:prstGeom prst="rect">
              <a:avLst/>
            </a:prstGeom>
            <a:solidFill>
              <a:srgbClr val="0F2040"/>
            </a:solidFill>
            <a:ln w="12700">
              <a:solidFill>
                <a:srgbClr val="0F2040"/>
              </a:solidFill>
              <a:prstDash val="solid"/>
            </a:ln>
          </p:spPr>
        </p:sp>
        <p:sp>
          <p:nvSpPr>
            <p:cNvPr id="35" name="Text 33"/>
            <p:cNvSpPr/>
            <p:nvPr/>
          </p:nvSpPr>
          <p:spPr>
            <a:xfrm>
              <a:off x="320040" y="2569464"/>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B2B Infrastructure</a:t>
              </a:r>
              <a:endParaRPr lang="en-US" sz="950" dirty="0"/>
            </a:p>
          </p:txBody>
        </p:sp>
        <p:sp>
          <p:nvSpPr>
            <p:cNvPr id="36" name="Text 34"/>
            <p:cNvSpPr/>
            <p:nvPr/>
          </p:nvSpPr>
          <p:spPr>
            <a:xfrm>
              <a:off x="2148840" y="2569464"/>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 Galileo/Technisys 128M accts</a:t>
              </a:r>
              <a:endParaRPr lang="en-US" sz="950" dirty="0"/>
            </a:p>
          </p:txBody>
        </p:sp>
        <p:sp>
          <p:nvSpPr>
            <p:cNvPr id="37" name="Text 35"/>
            <p:cNvSpPr/>
            <p:nvPr/>
          </p:nvSpPr>
          <p:spPr>
            <a:xfrm>
              <a:off x="3977640" y="2569464"/>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None</a:t>
              </a:r>
              <a:endParaRPr lang="en-US" sz="950" dirty="0"/>
            </a:p>
          </p:txBody>
        </p:sp>
        <p:sp>
          <p:nvSpPr>
            <p:cNvPr id="38" name="Text 36"/>
            <p:cNvSpPr/>
            <p:nvPr/>
          </p:nvSpPr>
          <p:spPr>
            <a:xfrm>
              <a:off x="5715000" y="2569464"/>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None</a:t>
              </a:r>
              <a:endParaRPr lang="en-US" sz="950" dirty="0"/>
            </a:p>
          </p:txBody>
        </p:sp>
        <p:sp>
          <p:nvSpPr>
            <p:cNvPr id="39" name="Text 37"/>
            <p:cNvSpPr/>
            <p:nvPr/>
          </p:nvSpPr>
          <p:spPr>
            <a:xfrm>
              <a:off x="7178040" y="2569464"/>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None</a:t>
              </a:r>
              <a:endParaRPr lang="en-US" sz="950" dirty="0"/>
            </a:p>
          </p:txBody>
        </p:sp>
        <p:sp>
          <p:nvSpPr>
            <p:cNvPr id="40" name="Text 38"/>
            <p:cNvSpPr/>
            <p:nvPr/>
          </p:nvSpPr>
          <p:spPr>
            <a:xfrm>
              <a:off x="8595360" y="2569464"/>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Internal only</a:t>
              </a:r>
              <a:endParaRPr lang="en-US" sz="950" dirty="0"/>
            </a:p>
          </p:txBody>
        </p:sp>
        <p:sp>
          <p:nvSpPr>
            <p:cNvPr id="41" name="Shape 39"/>
            <p:cNvSpPr/>
            <p:nvPr/>
          </p:nvSpPr>
          <p:spPr>
            <a:xfrm>
              <a:off x="256032" y="2980944"/>
              <a:ext cx="10241280" cy="457200"/>
            </a:xfrm>
            <a:prstGeom prst="rect">
              <a:avLst/>
            </a:prstGeom>
            <a:solidFill>
              <a:srgbClr val="0A1428"/>
            </a:solidFill>
            <a:ln w="12700">
              <a:solidFill>
                <a:srgbClr val="0A1428"/>
              </a:solidFill>
              <a:prstDash val="solid"/>
            </a:ln>
          </p:spPr>
        </p:sp>
        <p:sp>
          <p:nvSpPr>
            <p:cNvPr id="42" name="Text 40"/>
            <p:cNvSpPr/>
            <p:nvPr/>
          </p:nvSpPr>
          <p:spPr>
            <a:xfrm>
              <a:off x="320040" y="3044952"/>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Profitability</a:t>
              </a:r>
              <a:endParaRPr lang="en-US" sz="950" dirty="0"/>
            </a:p>
          </p:txBody>
        </p:sp>
        <p:sp>
          <p:nvSpPr>
            <p:cNvPr id="43" name="Text 41"/>
            <p:cNvSpPr/>
            <p:nvPr/>
          </p:nvSpPr>
          <p:spPr>
            <a:xfrm>
              <a:off x="2148840" y="3044952"/>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GAAP profitable 10 qtrs</a:t>
              </a:r>
              <a:endParaRPr lang="en-US" sz="950" dirty="0"/>
            </a:p>
          </p:txBody>
        </p:sp>
        <p:sp>
          <p:nvSpPr>
            <p:cNvPr id="44" name="Text 42"/>
            <p:cNvSpPr/>
            <p:nvPr/>
          </p:nvSpPr>
          <p:spPr>
            <a:xfrm>
              <a:off x="3977640" y="3044952"/>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Not public / loss</a:t>
              </a:r>
              <a:endParaRPr lang="en-US" sz="950" dirty="0"/>
            </a:p>
          </p:txBody>
        </p:sp>
        <p:sp>
          <p:nvSpPr>
            <p:cNvPr id="45" name="Text 43"/>
            <p:cNvSpPr/>
            <p:nvPr/>
          </p:nvSpPr>
          <p:spPr>
            <a:xfrm>
              <a:off x="5715000" y="3044952"/>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Marginally profitable</a:t>
              </a:r>
              <a:endParaRPr lang="en-US" sz="950" dirty="0"/>
            </a:p>
          </p:txBody>
        </p:sp>
        <p:sp>
          <p:nvSpPr>
            <p:cNvPr id="46" name="Text 44"/>
            <p:cNvSpPr/>
            <p:nvPr/>
          </p:nvSpPr>
          <p:spPr>
            <a:xfrm>
              <a:off x="7178040" y="3044952"/>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Near breakeven</a:t>
              </a:r>
              <a:endParaRPr lang="en-US" sz="950" dirty="0"/>
            </a:p>
          </p:txBody>
        </p:sp>
        <p:sp>
          <p:nvSpPr>
            <p:cNvPr id="47" name="Text 45"/>
            <p:cNvSpPr/>
            <p:nvPr/>
          </p:nvSpPr>
          <p:spPr>
            <a:xfrm>
              <a:off x="8595360" y="3044952"/>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Highly profitable</a:t>
              </a:r>
              <a:endParaRPr lang="en-US" sz="950" dirty="0"/>
            </a:p>
          </p:txBody>
        </p:sp>
        <p:sp>
          <p:nvSpPr>
            <p:cNvPr id="48" name="Shape 46"/>
            <p:cNvSpPr/>
            <p:nvPr/>
          </p:nvSpPr>
          <p:spPr>
            <a:xfrm>
              <a:off x="256032" y="3456432"/>
              <a:ext cx="10241280" cy="457200"/>
            </a:xfrm>
            <a:prstGeom prst="rect">
              <a:avLst/>
            </a:prstGeom>
            <a:solidFill>
              <a:srgbClr val="0F2040"/>
            </a:solidFill>
            <a:ln w="12700">
              <a:solidFill>
                <a:srgbClr val="0F2040"/>
              </a:solidFill>
              <a:prstDash val="solid"/>
            </a:ln>
          </p:spPr>
        </p:sp>
        <p:sp>
          <p:nvSpPr>
            <p:cNvPr id="49" name="Text 47"/>
            <p:cNvSpPr/>
            <p:nvPr/>
          </p:nvSpPr>
          <p:spPr>
            <a:xfrm>
              <a:off x="320040" y="3520440"/>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Members/Customers</a:t>
              </a:r>
              <a:endParaRPr lang="en-US" sz="950" dirty="0"/>
            </a:p>
          </p:txBody>
        </p:sp>
        <p:sp>
          <p:nvSpPr>
            <p:cNvPr id="50" name="Text 48"/>
            <p:cNvSpPr/>
            <p:nvPr/>
          </p:nvSpPr>
          <p:spPr>
            <a:xfrm>
              <a:off x="2148840" y="3520440"/>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14.7M members; FICO 748 avg</a:t>
              </a:r>
              <a:endParaRPr lang="en-US" sz="950" dirty="0"/>
            </a:p>
          </p:txBody>
        </p:sp>
        <p:sp>
          <p:nvSpPr>
            <p:cNvPr id="51" name="Text 49"/>
            <p:cNvSpPr/>
            <p:nvPr/>
          </p:nvSpPr>
          <p:spPr>
            <a:xfrm>
              <a:off x="3977640" y="3520440"/>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20M+ (US) est.</a:t>
              </a:r>
              <a:endParaRPr lang="en-US" sz="950" dirty="0"/>
            </a:p>
          </p:txBody>
        </p:sp>
        <p:sp>
          <p:nvSpPr>
            <p:cNvPr id="52" name="Text 50"/>
            <p:cNvSpPr/>
            <p:nvPr/>
          </p:nvSpPr>
          <p:spPr>
            <a:xfrm>
              <a:off x="5715000" y="3520440"/>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4.5M members</a:t>
              </a:r>
              <a:endParaRPr lang="en-US" sz="950" dirty="0"/>
            </a:p>
          </p:txBody>
        </p:sp>
        <p:sp>
          <p:nvSpPr>
            <p:cNvPr id="53" name="Text 51"/>
            <p:cNvSpPr/>
            <p:nvPr/>
          </p:nvSpPr>
          <p:spPr>
            <a:xfrm>
              <a:off x="7178040" y="3520440"/>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8M+ borrowers</a:t>
              </a:r>
              <a:endParaRPr lang="en-US" sz="950" dirty="0"/>
            </a:p>
          </p:txBody>
        </p:sp>
        <p:sp>
          <p:nvSpPr>
            <p:cNvPr id="54" name="Text 52"/>
            <p:cNvSpPr/>
            <p:nvPr/>
          </p:nvSpPr>
          <p:spPr>
            <a:xfrm>
              <a:off x="8595360" y="3520440"/>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86M US customers</a:t>
              </a:r>
              <a:endParaRPr lang="en-US" sz="950" dirty="0"/>
            </a:p>
          </p:txBody>
        </p:sp>
        <p:sp>
          <p:nvSpPr>
            <p:cNvPr id="55" name="Shape 53"/>
            <p:cNvSpPr/>
            <p:nvPr/>
          </p:nvSpPr>
          <p:spPr>
            <a:xfrm>
              <a:off x="256032" y="3931920"/>
              <a:ext cx="10241280" cy="457200"/>
            </a:xfrm>
            <a:prstGeom prst="rect">
              <a:avLst/>
            </a:prstGeom>
            <a:solidFill>
              <a:srgbClr val="0A1428"/>
            </a:solidFill>
            <a:ln w="12700">
              <a:solidFill>
                <a:srgbClr val="0A1428"/>
              </a:solidFill>
              <a:prstDash val="solid"/>
            </a:ln>
          </p:spPr>
        </p:sp>
        <p:sp>
          <p:nvSpPr>
            <p:cNvPr id="56" name="Text 54"/>
            <p:cNvSpPr/>
            <p:nvPr/>
          </p:nvSpPr>
          <p:spPr>
            <a:xfrm>
              <a:off x="320040" y="3995928"/>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NIM Advantage</a:t>
              </a:r>
              <a:endParaRPr lang="en-US" sz="950" dirty="0"/>
            </a:p>
          </p:txBody>
        </p:sp>
        <p:sp>
          <p:nvSpPr>
            <p:cNvPr id="57" name="Text 55"/>
            <p:cNvSpPr/>
            <p:nvPr/>
          </p:nvSpPr>
          <p:spPr>
            <a:xfrm>
              <a:off x="2148840" y="3995928"/>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5.94% — well above peers</a:t>
              </a:r>
              <a:endParaRPr lang="en-US" sz="950" dirty="0"/>
            </a:p>
          </p:txBody>
        </p:sp>
        <p:sp>
          <p:nvSpPr>
            <p:cNvPr id="58" name="Text 56"/>
            <p:cNvSpPr/>
            <p:nvPr/>
          </p:nvSpPr>
          <p:spPr>
            <a:xfrm>
              <a:off x="3977640" y="3995928"/>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N/A — no charter</a:t>
              </a:r>
              <a:endParaRPr lang="en-US" sz="950" dirty="0"/>
            </a:p>
          </p:txBody>
        </p:sp>
        <p:sp>
          <p:nvSpPr>
            <p:cNvPr id="59" name="Text 57"/>
            <p:cNvSpPr/>
            <p:nvPr/>
          </p:nvSpPr>
          <p:spPr>
            <a:xfrm>
              <a:off x="5715000" y="3995928"/>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~4.5%</a:t>
              </a:r>
              <a:endParaRPr lang="en-US" sz="950" dirty="0"/>
            </a:p>
          </p:txBody>
        </p:sp>
        <p:sp>
          <p:nvSpPr>
            <p:cNvPr id="60" name="Text 58"/>
            <p:cNvSpPr/>
            <p:nvPr/>
          </p:nvSpPr>
          <p:spPr>
            <a:xfrm>
              <a:off x="7178040" y="3995928"/>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~5% (AI-driven)</a:t>
              </a:r>
              <a:endParaRPr lang="en-US" sz="950" dirty="0"/>
            </a:p>
          </p:txBody>
        </p:sp>
        <p:sp>
          <p:nvSpPr>
            <p:cNvPr id="61" name="Text 59"/>
            <p:cNvSpPr/>
            <p:nvPr/>
          </p:nvSpPr>
          <p:spPr>
            <a:xfrm>
              <a:off x="8595360" y="3995928"/>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~2.8% — scale model</a:t>
              </a:r>
              <a:endParaRPr lang="en-US" sz="950" dirty="0"/>
            </a:p>
          </p:txBody>
        </p:sp>
        <p:sp>
          <p:nvSpPr>
            <p:cNvPr id="62" name="Shape 60"/>
            <p:cNvSpPr/>
            <p:nvPr/>
          </p:nvSpPr>
          <p:spPr>
            <a:xfrm>
              <a:off x="256032" y="4407408"/>
              <a:ext cx="10241280" cy="457200"/>
            </a:xfrm>
            <a:prstGeom prst="rect">
              <a:avLst/>
            </a:prstGeom>
            <a:solidFill>
              <a:srgbClr val="0F2040"/>
            </a:solidFill>
            <a:ln w="12700">
              <a:solidFill>
                <a:srgbClr val="0F2040"/>
              </a:solidFill>
              <a:prstDash val="solid"/>
            </a:ln>
          </p:spPr>
        </p:sp>
        <p:sp>
          <p:nvSpPr>
            <p:cNvPr id="63" name="Text 61"/>
            <p:cNvSpPr/>
            <p:nvPr/>
          </p:nvSpPr>
          <p:spPr>
            <a:xfrm>
              <a:off x="320040" y="4471416"/>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Revenue Growth</a:t>
              </a:r>
              <a:endParaRPr lang="en-US" sz="950" dirty="0"/>
            </a:p>
          </p:txBody>
        </p:sp>
        <p:sp>
          <p:nvSpPr>
            <p:cNvPr id="64" name="Text 62"/>
            <p:cNvSpPr/>
            <p:nvPr/>
          </p:nvSpPr>
          <p:spPr>
            <a:xfrm>
              <a:off x="2148840" y="4471416"/>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Q1: +41% YoY</a:t>
              </a:r>
              <a:endParaRPr lang="en-US" sz="950" dirty="0"/>
            </a:p>
          </p:txBody>
        </p:sp>
        <p:sp>
          <p:nvSpPr>
            <p:cNvPr id="65" name="Text 63"/>
            <p:cNvSpPr/>
            <p:nvPr/>
          </p:nvSpPr>
          <p:spPr>
            <a:xfrm>
              <a:off x="3977640" y="4471416"/>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High but private</a:t>
              </a:r>
              <a:endParaRPr lang="en-US" sz="950" dirty="0"/>
            </a:p>
          </p:txBody>
        </p:sp>
        <p:sp>
          <p:nvSpPr>
            <p:cNvPr id="66" name="Text 64"/>
            <p:cNvSpPr/>
            <p:nvPr/>
          </p:nvSpPr>
          <p:spPr>
            <a:xfrm>
              <a:off x="5715000" y="4471416"/>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~15–20%</a:t>
              </a:r>
              <a:endParaRPr lang="en-US" sz="950" dirty="0"/>
            </a:p>
          </p:txBody>
        </p:sp>
        <p:sp>
          <p:nvSpPr>
            <p:cNvPr id="67" name="Text 65"/>
            <p:cNvSpPr/>
            <p:nvPr/>
          </p:nvSpPr>
          <p:spPr>
            <a:xfrm>
              <a:off x="7178040" y="4471416"/>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~35% (rebounding)</a:t>
              </a:r>
              <a:endParaRPr lang="en-US" sz="950" dirty="0"/>
            </a:p>
          </p:txBody>
        </p:sp>
        <p:sp>
          <p:nvSpPr>
            <p:cNvPr id="68" name="Text 66"/>
            <p:cNvSpPr/>
            <p:nvPr/>
          </p:nvSpPr>
          <p:spPr>
            <a:xfrm>
              <a:off x="8595360" y="4471416"/>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 mature growth</a:t>
              </a:r>
              <a:endParaRPr lang="en-US" sz="950" dirty="0"/>
            </a:p>
          </p:txBody>
        </p:sp>
        <p:sp>
          <p:nvSpPr>
            <p:cNvPr id="69" name="Shape 67"/>
            <p:cNvSpPr/>
            <p:nvPr/>
          </p:nvSpPr>
          <p:spPr>
            <a:xfrm>
              <a:off x="256032" y="4882896"/>
              <a:ext cx="10241280" cy="457200"/>
            </a:xfrm>
            <a:prstGeom prst="rect">
              <a:avLst/>
            </a:prstGeom>
            <a:solidFill>
              <a:srgbClr val="0A1428"/>
            </a:solidFill>
            <a:ln w="12700">
              <a:solidFill>
                <a:srgbClr val="0A1428"/>
              </a:solidFill>
              <a:prstDash val="solid"/>
            </a:ln>
          </p:spPr>
        </p:sp>
        <p:sp>
          <p:nvSpPr>
            <p:cNvPr id="70" name="Text 68"/>
            <p:cNvSpPr/>
            <p:nvPr/>
          </p:nvSpPr>
          <p:spPr>
            <a:xfrm>
              <a:off x="320040" y="4946904"/>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Key Moat</a:t>
              </a:r>
              <a:endParaRPr lang="en-US" sz="950" dirty="0"/>
            </a:p>
          </p:txBody>
        </p:sp>
        <p:sp>
          <p:nvSpPr>
            <p:cNvPr id="71" name="Text 69"/>
            <p:cNvSpPr/>
            <p:nvPr/>
          </p:nvSpPr>
          <p:spPr>
            <a:xfrm>
              <a:off x="2148840" y="4946904"/>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Charter + FSPL + Galileo</a:t>
              </a:r>
              <a:endParaRPr lang="en-US" sz="950" dirty="0"/>
            </a:p>
          </p:txBody>
        </p:sp>
        <p:sp>
          <p:nvSpPr>
            <p:cNvPr id="72" name="Text 70"/>
            <p:cNvSpPr/>
            <p:nvPr/>
          </p:nvSpPr>
          <p:spPr>
            <a:xfrm>
              <a:off x="3977640" y="4946904"/>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User experience</a:t>
              </a:r>
              <a:endParaRPr lang="en-US" sz="950" dirty="0"/>
            </a:p>
          </p:txBody>
        </p:sp>
        <p:sp>
          <p:nvSpPr>
            <p:cNvPr id="73" name="Text 71"/>
            <p:cNvSpPr/>
            <p:nvPr/>
          </p:nvSpPr>
          <p:spPr>
            <a:xfrm>
              <a:off x="5715000" y="4946904"/>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Credit quality AI</a:t>
              </a:r>
              <a:endParaRPr lang="en-US" sz="950" dirty="0"/>
            </a:p>
          </p:txBody>
        </p:sp>
        <p:sp>
          <p:nvSpPr>
            <p:cNvPr id="74" name="Text 72"/>
            <p:cNvSpPr/>
            <p:nvPr/>
          </p:nvSpPr>
          <p:spPr>
            <a:xfrm>
              <a:off x="7178040" y="4946904"/>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Upstart AI model</a:t>
              </a:r>
              <a:endParaRPr lang="en-US" sz="950" dirty="0"/>
            </a:p>
          </p:txBody>
        </p:sp>
        <p:sp>
          <p:nvSpPr>
            <p:cNvPr id="75" name="Text 73"/>
            <p:cNvSpPr/>
            <p:nvPr/>
          </p:nvSpPr>
          <p:spPr>
            <a:xfrm>
              <a:off x="8595360" y="4946904"/>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Scale + JPM brand</a:t>
              </a:r>
              <a:endParaRPr lang="en-US" sz="950" dirty="0"/>
            </a:p>
          </p:txBody>
        </p:sp>
        <p:sp>
          <p:nvSpPr>
            <p:cNvPr id="76" name="Shape 74"/>
            <p:cNvSpPr/>
            <p:nvPr/>
          </p:nvSpPr>
          <p:spPr>
            <a:xfrm>
              <a:off x="256032" y="5358384"/>
              <a:ext cx="10241280" cy="457200"/>
            </a:xfrm>
            <a:prstGeom prst="rect">
              <a:avLst/>
            </a:prstGeom>
            <a:solidFill>
              <a:srgbClr val="0F2040"/>
            </a:solidFill>
            <a:ln w="12700">
              <a:solidFill>
                <a:srgbClr val="0F2040"/>
              </a:solidFill>
              <a:prstDash val="solid"/>
            </a:ln>
          </p:spPr>
        </p:sp>
        <p:sp>
          <p:nvSpPr>
            <p:cNvPr id="77" name="Text 75"/>
            <p:cNvSpPr/>
            <p:nvPr/>
          </p:nvSpPr>
          <p:spPr>
            <a:xfrm>
              <a:off x="320040" y="5422392"/>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Key Risk</a:t>
              </a:r>
              <a:endParaRPr lang="en-US" sz="950" dirty="0"/>
            </a:p>
          </p:txBody>
        </p:sp>
        <p:sp>
          <p:nvSpPr>
            <p:cNvPr id="78" name="Text 76"/>
            <p:cNvSpPr/>
            <p:nvPr/>
          </p:nvSpPr>
          <p:spPr>
            <a:xfrm>
              <a:off x="2148840" y="5422392"/>
              <a:ext cx="1719072"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Muddy Waters + credit quality</a:t>
              </a:r>
              <a:endParaRPr lang="en-US" sz="950" dirty="0"/>
            </a:p>
          </p:txBody>
        </p:sp>
        <p:sp>
          <p:nvSpPr>
            <p:cNvPr id="79" name="Text 77"/>
            <p:cNvSpPr/>
            <p:nvPr/>
          </p:nvSpPr>
          <p:spPr>
            <a:xfrm>
              <a:off x="3977640" y="5422392"/>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Regulatory + no charter</a:t>
              </a:r>
              <a:endParaRPr lang="en-US" sz="950" dirty="0"/>
            </a:p>
          </p:txBody>
        </p:sp>
        <p:sp>
          <p:nvSpPr>
            <p:cNvPr id="80" name="Text 78"/>
            <p:cNvSpPr/>
            <p:nvPr/>
          </p:nvSpPr>
          <p:spPr>
            <a:xfrm>
              <a:off x="5715000" y="5422392"/>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Macro / consumer credit</a:t>
              </a:r>
              <a:endParaRPr lang="en-US" sz="950" dirty="0"/>
            </a:p>
          </p:txBody>
        </p:sp>
        <p:sp>
          <p:nvSpPr>
            <p:cNvPr id="81" name="Text 79"/>
            <p:cNvSpPr/>
            <p:nvPr/>
          </p:nvSpPr>
          <p:spPr>
            <a:xfrm>
              <a:off x="7178040" y="5422392"/>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Model risk / AI bias</a:t>
              </a:r>
              <a:endParaRPr lang="en-US" sz="950" dirty="0"/>
            </a:p>
          </p:txBody>
        </p:sp>
        <p:sp>
          <p:nvSpPr>
            <p:cNvPr id="82" name="Text 80"/>
            <p:cNvSpPr/>
            <p:nvPr/>
          </p:nvSpPr>
          <p:spPr>
            <a:xfrm>
              <a:off x="8595360" y="5422392"/>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Regulatory / antitrust</a:t>
              </a:r>
              <a:endParaRPr lang="en-US" sz="950" dirty="0"/>
            </a:p>
          </p:txBody>
        </p:sp>
        <p:sp>
          <p:nvSpPr>
            <p:cNvPr id="83" name="Shape 81"/>
            <p:cNvSpPr/>
            <p:nvPr/>
          </p:nvSpPr>
          <p:spPr>
            <a:xfrm>
              <a:off x="256032" y="5833872"/>
              <a:ext cx="10241280" cy="457200"/>
            </a:xfrm>
            <a:prstGeom prst="rect">
              <a:avLst/>
            </a:prstGeom>
            <a:solidFill>
              <a:srgbClr val="0E2A0A"/>
            </a:solidFill>
            <a:ln w="12700">
              <a:solidFill>
                <a:srgbClr val="0E2A0A"/>
              </a:solidFill>
              <a:prstDash val="solid"/>
            </a:ln>
          </p:spPr>
        </p:sp>
        <p:sp>
          <p:nvSpPr>
            <p:cNvPr id="84" name="Text 82"/>
            <p:cNvSpPr/>
            <p:nvPr/>
          </p:nvSpPr>
          <p:spPr>
            <a:xfrm>
              <a:off x="320040" y="5897880"/>
              <a:ext cx="1719072"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Our Rating</a:t>
              </a:r>
              <a:endParaRPr lang="en-US" sz="950" dirty="0"/>
            </a:p>
          </p:txBody>
        </p:sp>
        <p:sp>
          <p:nvSpPr>
            <p:cNvPr id="85" name="Text 83"/>
            <p:cNvSpPr/>
            <p:nvPr/>
          </p:nvSpPr>
          <p:spPr>
            <a:xfrm>
              <a:off x="2148840" y="5897880"/>
              <a:ext cx="1719072" cy="347472"/>
            </a:xfrm>
            <a:prstGeom prst="rect">
              <a:avLst/>
            </a:prstGeom>
            <a:noFill/>
            <a:ln/>
          </p:spPr>
          <p:txBody>
            <a:bodyPr wrap="square" rtlCol="0" anchor="ctr"/>
            <a:lstStyle/>
            <a:p>
              <a:pPr marL="0" indent="0">
                <a:buNone/>
              </a:pPr>
              <a:r>
                <a:rPr lang="en-US" sz="950" dirty="0">
                  <a:solidFill>
                    <a:srgbClr val="00D68F"/>
                  </a:solidFill>
                  <a:latin typeface="Calibri" pitchFamily="34" charset="0"/>
                  <a:ea typeface="Calibri" pitchFamily="34" charset="-122"/>
                  <a:cs typeface="Calibri" pitchFamily="34" charset="-120"/>
                </a:rPr>
                <a:t>BUY (long horizon) ★</a:t>
              </a:r>
              <a:endParaRPr lang="en-US" sz="950" dirty="0"/>
            </a:p>
          </p:txBody>
        </p:sp>
        <p:sp>
          <p:nvSpPr>
            <p:cNvPr id="86" name="Text 84"/>
            <p:cNvSpPr/>
            <p:nvPr/>
          </p:nvSpPr>
          <p:spPr>
            <a:xfrm>
              <a:off x="3977640" y="5897880"/>
              <a:ext cx="16276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N/A (private)</a:t>
              </a:r>
              <a:endParaRPr lang="en-US" sz="950" dirty="0"/>
            </a:p>
          </p:txBody>
        </p:sp>
        <p:sp>
          <p:nvSpPr>
            <p:cNvPr id="87" name="Text 85"/>
            <p:cNvSpPr/>
            <p:nvPr/>
          </p:nvSpPr>
          <p:spPr>
            <a:xfrm>
              <a:off x="5715000" y="5897880"/>
              <a:ext cx="135331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HOLD</a:t>
              </a:r>
              <a:endParaRPr lang="en-US" sz="950" dirty="0"/>
            </a:p>
          </p:txBody>
        </p:sp>
        <p:sp>
          <p:nvSpPr>
            <p:cNvPr id="88" name="Text 86"/>
            <p:cNvSpPr/>
            <p:nvPr/>
          </p:nvSpPr>
          <p:spPr>
            <a:xfrm>
              <a:off x="7178040" y="5897880"/>
              <a:ext cx="130759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SPECULATIVE</a:t>
              </a:r>
              <a:endParaRPr lang="en-US" sz="950" dirty="0"/>
            </a:p>
          </p:txBody>
        </p:sp>
        <p:sp>
          <p:nvSpPr>
            <p:cNvPr id="89" name="Text 87"/>
            <p:cNvSpPr/>
            <p:nvPr/>
          </p:nvSpPr>
          <p:spPr>
            <a:xfrm>
              <a:off x="8595360" y="5897880"/>
              <a:ext cx="1856232"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N/A (banks ETF)</a:t>
              </a:r>
              <a:endParaRPr lang="en-US" sz="950" dirty="0"/>
            </a:p>
          </p:txBody>
        </p:sp>
      </p:grpSp>
      <p:sp>
        <p:nvSpPr>
          <p:cNvPr id="90" name="Shape 88"/>
          <p:cNvSpPr/>
          <p:nvPr/>
        </p:nvSpPr>
        <p:spPr>
          <a:xfrm>
            <a:off x="256032" y="6437376"/>
            <a:ext cx="11704320" cy="347472"/>
          </a:xfrm>
          <a:prstGeom prst="rect">
            <a:avLst/>
          </a:prstGeom>
          <a:solidFill>
            <a:srgbClr val="0A1628"/>
          </a:solidFill>
          <a:ln w="12700">
            <a:solidFill>
              <a:srgbClr val="0A1628"/>
            </a:solidFill>
            <a:prstDash val="solid"/>
          </a:ln>
        </p:spPr>
      </p:sp>
      <p:sp>
        <p:nvSpPr>
          <p:cNvPr id="91" name="Shape 89"/>
          <p:cNvSpPr/>
          <p:nvPr/>
        </p:nvSpPr>
        <p:spPr>
          <a:xfrm>
            <a:off x="256032" y="6437376"/>
            <a:ext cx="64008" cy="347472"/>
          </a:xfrm>
          <a:prstGeom prst="rect">
            <a:avLst/>
          </a:prstGeom>
          <a:solidFill>
            <a:srgbClr val="00C8C8"/>
          </a:solidFill>
          <a:ln w="12700">
            <a:solidFill>
              <a:srgbClr val="00C8C8"/>
            </a:solidFill>
            <a:prstDash val="solid"/>
          </a:ln>
        </p:spPr>
      </p:sp>
      <p:sp>
        <p:nvSpPr>
          <p:cNvPr id="92" name="Text 90"/>
          <p:cNvSpPr/>
          <p:nvPr/>
        </p:nvSpPr>
        <p:spPr>
          <a:xfrm>
            <a:off x="384048" y="6483096"/>
            <a:ext cx="11430000" cy="256032"/>
          </a:xfrm>
          <a:prstGeom prst="rect">
            <a:avLst/>
          </a:prstGeom>
          <a:noFill/>
          <a:ln/>
        </p:spPr>
        <p:txBody>
          <a:bodyPr wrap="square" rtlCol="0" anchor="ctr"/>
          <a:lstStyle/>
          <a:p>
            <a:pPr marL="0" indent="0">
              <a:buNone/>
            </a:pPr>
            <a:r>
              <a:rPr lang="en-US" sz="950" dirty="0">
                <a:solidFill>
                  <a:srgbClr val="00C8C8"/>
                </a:solidFill>
                <a:latin typeface="Calibri" pitchFamily="34" charset="0"/>
                <a:ea typeface="Calibri" pitchFamily="34" charset="-122"/>
                <a:cs typeface="Calibri" pitchFamily="34" charset="-120"/>
              </a:rPr>
              <a:t>SOFI vs CHIME KEY DIFFERENCE: Chime has more users (~20M+) but no bank charter — SoFi Bank's 5.94% NIM vs Chime's ~0% earned on members' deposits. Charter + FSPL = SoFi earns 6× more per deposit dollar than Chime. B2B platform (Galileo) gives SoFi revenue from Chime's infrastructure competitors.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4A0A0A"/>
          </a:solidFill>
          <a:ln w="12700">
            <a:solidFill>
              <a:srgbClr val="4A0A0A"/>
            </a:solidFill>
            <a:prstDash val="solid"/>
          </a:ln>
        </p:spPr>
      </p:sp>
      <p:sp>
        <p:nvSpPr>
          <p:cNvPr id="3" name="Shape 1"/>
          <p:cNvSpPr/>
          <p:nvPr/>
        </p:nvSpPr>
        <p:spPr>
          <a:xfrm>
            <a:off x="0" y="0"/>
            <a:ext cx="109728" cy="749808"/>
          </a:xfrm>
          <a:prstGeom prst="rect">
            <a:avLst/>
          </a:prstGeom>
          <a:solidFill>
            <a:srgbClr val="FF4444"/>
          </a:solidFill>
          <a:ln w="12700">
            <a:solidFill>
              <a:srgbClr val="FF4444"/>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8: RED FLAGS &amp; INVESTMENT RISKS</a:t>
            </a:r>
            <a:endParaRPr lang="en-US" sz="2200" dirty="0"/>
          </a:p>
        </p:txBody>
      </p:sp>
      <p:sp>
        <p:nvSpPr>
          <p:cNvPr id="5" name="Shape 3"/>
          <p:cNvSpPr/>
          <p:nvPr/>
        </p:nvSpPr>
        <p:spPr>
          <a:xfrm>
            <a:off x="256032" y="841248"/>
            <a:ext cx="5760720" cy="1828800"/>
          </a:xfrm>
          <a:prstGeom prst="rect">
            <a:avLst/>
          </a:prstGeom>
          <a:solidFill>
            <a:srgbClr val="2A0808"/>
          </a:solidFill>
          <a:ln w="12700">
            <a:solidFill>
              <a:srgbClr val="2A0808"/>
            </a:solidFill>
            <a:prstDash val="solid"/>
          </a:ln>
        </p:spPr>
      </p:sp>
      <p:sp>
        <p:nvSpPr>
          <p:cNvPr id="6" name="Shape 4"/>
          <p:cNvSpPr/>
          <p:nvPr/>
        </p:nvSpPr>
        <p:spPr>
          <a:xfrm>
            <a:off x="256032" y="841248"/>
            <a:ext cx="5760720" cy="54864"/>
          </a:xfrm>
          <a:prstGeom prst="rect">
            <a:avLst/>
          </a:prstGeom>
          <a:solidFill>
            <a:srgbClr val="FF4444"/>
          </a:solidFill>
          <a:ln w="12700">
            <a:solidFill>
              <a:srgbClr val="FF4444"/>
            </a:solidFill>
            <a:prstDash val="solid"/>
          </a:ln>
        </p:spPr>
      </p:sp>
      <p:sp>
        <p:nvSpPr>
          <p:cNvPr id="7" name="Shape 5"/>
          <p:cNvSpPr/>
          <p:nvPr/>
        </p:nvSpPr>
        <p:spPr>
          <a:xfrm>
            <a:off x="347472" y="950976"/>
            <a:ext cx="914400" cy="256032"/>
          </a:xfrm>
          <a:prstGeom prst="rect">
            <a:avLst/>
          </a:prstGeom>
          <a:solidFill>
            <a:srgbClr val="FF4444"/>
          </a:solidFill>
          <a:ln w="12700">
            <a:solidFill>
              <a:srgbClr val="FF4444"/>
            </a:solidFill>
            <a:prstDash val="solid"/>
          </a:ln>
        </p:spPr>
      </p:sp>
      <p:sp>
        <p:nvSpPr>
          <p:cNvPr id="8" name="Text 6"/>
          <p:cNvSpPr/>
          <p:nvPr/>
        </p:nvSpPr>
        <p:spPr>
          <a:xfrm>
            <a:off x="347472" y="950976"/>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CRITICAL</a:t>
            </a:r>
            <a:endParaRPr lang="en-US" sz="950" dirty="0"/>
          </a:p>
        </p:txBody>
      </p:sp>
      <p:sp>
        <p:nvSpPr>
          <p:cNvPr id="9" name="Text 7"/>
          <p:cNvSpPr/>
          <p:nvPr/>
        </p:nvSpPr>
        <p:spPr>
          <a:xfrm>
            <a:off x="1371600" y="932688"/>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Muddy Waters Short Report — Accounting Allegations &amp; Potential $1B EBITDA Reversal</a:t>
            </a:r>
            <a:endParaRPr lang="en-US" sz="1050" dirty="0"/>
          </a:p>
        </p:txBody>
      </p:sp>
      <p:sp>
        <p:nvSpPr>
          <p:cNvPr id="10" name="Text 8"/>
          <p:cNvSpPr/>
          <p:nvPr/>
        </p:nvSpPr>
        <p:spPr>
          <a:xfrm>
            <a:off x="393192" y="1316736"/>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March 2026: Carson Block's Muddy Waters released a 28-page report alleging SoFi mis-accounted a $312M JPMorgan loan as a 'sale' rather than financing in Q3 2024. If true, this inflated profits and management bonuses while hiding debt. Second report escalated claims to potential $1B EBITDA reversal. CEO Noto personally bought 28,900 shares at $17.32 on the day of the report — the strongest possible insider signal. Mizuho analyst found the report 'mischaracterises key facts.' But the cloud of doubt persists, and any regulatory inquiry would be a severe negative catalyst.</a:t>
            </a:r>
            <a:endParaRPr lang="en-US" sz="1200" dirty="0"/>
          </a:p>
        </p:txBody>
      </p:sp>
      <p:sp>
        <p:nvSpPr>
          <p:cNvPr id="11" name="Shape 9"/>
          <p:cNvSpPr/>
          <p:nvPr/>
        </p:nvSpPr>
        <p:spPr>
          <a:xfrm>
            <a:off x="6217920" y="841248"/>
            <a:ext cx="5760720" cy="1828800"/>
          </a:xfrm>
          <a:prstGeom prst="rect">
            <a:avLst/>
          </a:prstGeom>
          <a:solidFill>
            <a:srgbClr val="2A0808"/>
          </a:solidFill>
          <a:ln w="12700">
            <a:solidFill>
              <a:srgbClr val="2A0808"/>
            </a:solidFill>
            <a:prstDash val="solid"/>
          </a:ln>
        </p:spPr>
      </p:sp>
      <p:sp>
        <p:nvSpPr>
          <p:cNvPr id="12" name="Shape 10"/>
          <p:cNvSpPr/>
          <p:nvPr/>
        </p:nvSpPr>
        <p:spPr>
          <a:xfrm>
            <a:off x="6217920" y="841248"/>
            <a:ext cx="5760720" cy="54864"/>
          </a:xfrm>
          <a:prstGeom prst="rect">
            <a:avLst/>
          </a:prstGeom>
          <a:solidFill>
            <a:srgbClr val="FF4444"/>
          </a:solidFill>
          <a:ln w="12700">
            <a:solidFill>
              <a:srgbClr val="FF4444"/>
            </a:solidFill>
            <a:prstDash val="solid"/>
          </a:ln>
        </p:spPr>
      </p:sp>
      <p:sp>
        <p:nvSpPr>
          <p:cNvPr id="13" name="Shape 11"/>
          <p:cNvSpPr/>
          <p:nvPr/>
        </p:nvSpPr>
        <p:spPr>
          <a:xfrm>
            <a:off x="6309360" y="950976"/>
            <a:ext cx="914400" cy="256032"/>
          </a:xfrm>
          <a:prstGeom prst="rect">
            <a:avLst/>
          </a:prstGeom>
          <a:solidFill>
            <a:srgbClr val="FF4444"/>
          </a:solidFill>
          <a:ln w="12700">
            <a:solidFill>
              <a:srgbClr val="FF4444"/>
            </a:solidFill>
            <a:prstDash val="solid"/>
          </a:ln>
        </p:spPr>
      </p:sp>
      <p:sp>
        <p:nvSpPr>
          <p:cNvPr id="14" name="Text 12"/>
          <p:cNvSpPr/>
          <p:nvPr/>
        </p:nvSpPr>
        <p:spPr>
          <a:xfrm>
            <a:off x="6309360" y="950976"/>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CRITICAL</a:t>
            </a:r>
            <a:endParaRPr lang="en-US" sz="950" dirty="0"/>
          </a:p>
        </p:txBody>
      </p:sp>
      <p:sp>
        <p:nvSpPr>
          <p:cNvPr id="15" name="Text 13"/>
          <p:cNvSpPr/>
          <p:nvPr/>
        </p:nvSpPr>
        <p:spPr>
          <a:xfrm>
            <a:off x="7333488" y="932688"/>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Valuation Multiple Confusion — Bank vs Software — $21B for a Lender With Credit Risk</a:t>
            </a:r>
            <a:endParaRPr lang="en-US" sz="1050" dirty="0"/>
          </a:p>
        </p:txBody>
      </p:sp>
      <p:sp>
        <p:nvSpPr>
          <p:cNvPr id="16" name="Text 14"/>
          <p:cNvSpPr/>
          <p:nvPr/>
        </p:nvSpPr>
        <p:spPr>
          <a:xfrm>
            <a:off x="6355080" y="1316736"/>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CEO Noto explicitly argues SOFI should be valued as a software company at 5–10x revenue. At $21B cap on $4.655B 2026E revenue, SOFI trades at ~4.5x fwd revenue. Traditional bank P/B approach implies fair value much lower. If the market re-rates SOFI to bank multiples (1–2x book vs current ~2x), the stock faces 40–60% downside. The Rule of 40 framing is legitimate but contested: 70% of revenue is lending — inherently cyclical and credit-exposed. A recession would collapse this multiple structure.</a:t>
            </a:r>
            <a:endParaRPr lang="en-US" sz="1200" dirty="0"/>
          </a:p>
        </p:txBody>
      </p:sp>
      <p:sp>
        <p:nvSpPr>
          <p:cNvPr id="17" name="Shape 15"/>
          <p:cNvSpPr/>
          <p:nvPr/>
        </p:nvSpPr>
        <p:spPr>
          <a:xfrm>
            <a:off x="256032" y="2779776"/>
            <a:ext cx="5760720" cy="1828800"/>
          </a:xfrm>
          <a:prstGeom prst="rect">
            <a:avLst/>
          </a:prstGeom>
          <a:solidFill>
            <a:srgbClr val="1A1000"/>
          </a:solidFill>
          <a:ln w="12700">
            <a:solidFill>
              <a:srgbClr val="1A1000"/>
            </a:solidFill>
            <a:prstDash val="solid"/>
          </a:ln>
        </p:spPr>
      </p:sp>
      <p:sp>
        <p:nvSpPr>
          <p:cNvPr id="18" name="Shape 16"/>
          <p:cNvSpPr/>
          <p:nvPr/>
        </p:nvSpPr>
        <p:spPr>
          <a:xfrm>
            <a:off x="256032" y="2779776"/>
            <a:ext cx="5760720" cy="54864"/>
          </a:xfrm>
          <a:prstGeom prst="rect">
            <a:avLst/>
          </a:prstGeom>
          <a:solidFill>
            <a:srgbClr val="FFB800"/>
          </a:solidFill>
          <a:ln w="12700">
            <a:solidFill>
              <a:srgbClr val="FFB800"/>
            </a:solidFill>
            <a:prstDash val="solid"/>
          </a:ln>
        </p:spPr>
      </p:sp>
      <p:sp>
        <p:nvSpPr>
          <p:cNvPr id="19" name="Shape 17"/>
          <p:cNvSpPr/>
          <p:nvPr/>
        </p:nvSpPr>
        <p:spPr>
          <a:xfrm>
            <a:off x="347472" y="2889504"/>
            <a:ext cx="914400" cy="256032"/>
          </a:xfrm>
          <a:prstGeom prst="rect">
            <a:avLst/>
          </a:prstGeom>
          <a:solidFill>
            <a:srgbClr val="FFB800"/>
          </a:solidFill>
          <a:ln w="12700">
            <a:solidFill>
              <a:srgbClr val="FFB800"/>
            </a:solidFill>
            <a:prstDash val="solid"/>
          </a:ln>
        </p:spPr>
      </p:sp>
      <p:sp>
        <p:nvSpPr>
          <p:cNvPr id="20" name="Text 18"/>
          <p:cNvSpPr/>
          <p:nvPr/>
        </p:nvSpPr>
        <p:spPr>
          <a:xfrm>
            <a:off x="347472" y="2889504"/>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HIGH</a:t>
            </a:r>
            <a:endParaRPr lang="en-US" sz="950" dirty="0"/>
          </a:p>
        </p:txBody>
      </p:sp>
      <p:sp>
        <p:nvSpPr>
          <p:cNvPr id="21" name="Text 19"/>
          <p:cNvSpPr/>
          <p:nvPr/>
        </p:nvSpPr>
        <p:spPr>
          <a:xfrm>
            <a:off x="1371600" y="2871216"/>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Technology Platform Revenue -27% YoY — Large Client Departures</a:t>
            </a:r>
            <a:endParaRPr lang="en-US" sz="1050" dirty="0"/>
          </a:p>
        </p:txBody>
      </p:sp>
      <p:sp>
        <p:nvSpPr>
          <p:cNvPr id="22" name="Text 20"/>
          <p:cNvSpPr/>
          <p:nvPr/>
        </p:nvSpPr>
        <p:spPr>
          <a:xfrm>
            <a:off x="393192" y="3255264"/>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The Technology Platform (Galileo + Technisys) saw revenue fall 27% YoY in Q1 2026 because a major client fully transitioned off the platform before end of 2025. This is the 'AWS of Fintech' thesis under stress. Galileo's total enabled accounts growth has stalled at ~128M. If management cannot re-accelerate B2B client acquisition, the high-margin infrastructure moat narrative becomes a liability rather than an asset.</a:t>
            </a:r>
            <a:endParaRPr lang="en-US" sz="1200" dirty="0"/>
          </a:p>
        </p:txBody>
      </p:sp>
      <p:sp>
        <p:nvSpPr>
          <p:cNvPr id="23" name="Shape 21"/>
          <p:cNvSpPr/>
          <p:nvPr/>
        </p:nvSpPr>
        <p:spPr>
          <a:xfrm>
            <a:off x="6217920" y="2779776"/>
            <a:ext cx="5760720" cy="1828800"/>
          </a:xfrm>
          <a:prstGeom prst="rect">
            <a:avLst/>
          </a:prstGeom>
          <a:solidFill>
            <a:srgbClr val="1A1000"/>
          </a:solidFill>
          <a:ln w="12700">
            <a:solidFill>
              <a:srgbClr val="1A1000"/>
            </a:solidFill>
            <a:prstDash val="solid"/>
          </a:ln>
        </p:spPr>
      </p:sp>
      <p:sp>
        <p:nvSpPr>
          <p:cNvPr id="24" name="Shape 22"/>
          <p:cNvSpPr/>
          <p:nvPr/>
        </p:nvSpPr>
        <p:spPr>
          <a:xfrm>
            <a:off x="6217920" y="2779776"/>
            <a:ext cx="5760720" cy="54864"/>
          </a:xfrm>
          <a:prstGeom prst="rect">
            <a:avLst/>
          </a:prstGeom>
          <a:solidFill>
            <a:srgbClr val="FFB800"/>
          </a:solidFill>
          <a:ln w="12700">
            <a:solidFill>
              <a:srgbClr val="FFB800"/>
            </a:solidFill>
            <a:prstDash val="solid"/>
          </a:ln>
        </p:spPr>
      </p:sp>
      <p:sp>
        <p:nvSpPr>
          <p:cNvPr id="25" name="Shape 23"/>
          <p:cNvSpPr/>
          <p:nvPr/>
        </p:nvSpPr>
        <p:spPr>
          <a:xfrm>
            <a:off x="6309360" y="2889504"/>
            <a:ext cx="914400" cy="256032"/>
          </a:xfrm>
          <a:prstGeom prst="rect">
            <a:avLst/>
          </a:prstGeom>
          <a:solidFill>
            <a:srgbClr val="FFB800"/>
          </a:solidFill>
          <a:ln w="12700">
            <a:solidFill>
              <a:srgbClr val="FFB800"/>
            </a:solidFill>
            <a:prstDash val="solid"/>
          </a:ln>
        </p:spPr>
      </p:sp>
      <p:sp>
        <p:nvSpPr>
          <p:cNvPr id="26" name="Text 24"/>
          <p:cNvSpPr/>
          <p:nvPr/>
        </p:nvSpPr>
        <p:spPr>
          <a:xfrm>
            <a:off x="6309360" y="2889504"/>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HIGH</a:t>
            </a:r>
            <a:endParaRPr lang="en-US" sz="950" dirty="0"/>
          </a:p>
        </p:txBody>
      </p:sp>
      <p:sp>
        <p:nvSpPr>
          <p:cNvPr id="27" name="Text 25"/>
          <p:cNvSpPr/>
          <p:nvPr/>
        </p:nvSpPr>
        <p:spPr>
          <a:xfrm>
            <a:off x="7333488" y="2871216"/>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Macro &amp; Credit Quality Risk — No Fed Cuts Assumed; Net Charge-Offs Rising</a:t>
            </a:r>
            <a:endParaRPr lang="en-US" sz="1050" dirty="0"/>
          </a:p>
        </p:txBody>
      </p:sp>
      <p:sp>
        <p:nvSpPr>
          <p:cNvPr id="28" name="Text 26"/>
          <p:cNvSpPr/>
          <p:nvPr/>
        </p:nvSpPr>
        <p:spPr>
          <a:xfrm>
            <a:off x="6355080" y="3255264"/>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Q1 2026 net charge-offs: $201.6M — rising YoY. CEO held FY guidance flat because original guidance assumed 2+ Fed rate cuts — now assuming zero. Tariff uncertainty could push the US economy toward recession. Personal loan charge-offs above 3.5% would stress the business model. SoFi targets high-income borrowers (FICO 748) as a buffer, but no lender is immune to a hard landing.</a:t>
            </a:r>
            <a:endParaRPr lang="en-US" sz="1200" dirty="0"/>
          </a:p>
        </p:txBody>
      </p:sp>
      <p:sp>
        <p:nvSpPr>
          <p:cNvPr id="29" name="Shape 27"/>
          <p:cNvSpPr/>
          <p:nvPr/>
        </p:nvSpPr>
        <p:spPr>
          <a:xfrm>
            <a:off x="256032" y="4718304"/>
            <a:ext cx="5760720" cy="1828800"/>
          </a:xfrm>
          <a:prstGeom prst="rect">
            <a:avLst/>
          </a:prstGeom>
          <a:solidFill>
            <a:srgbClr val="080A1A"/>
          </a:solidFill>
          <a:ln w="12700">
            <a:solidFill>
              <a:srgbClr val="080A1A"/>
            </a:solidFill>
            <a:prstDash val="solid"/>
          </a:ln>
        </p:spPr>
      </p:sp>
      <p:sp>
        <p:nvSpPr>
          <p:cNvPr id="30" name="Shape 28"/>
          <p:cNvSpPr/>
          <p:nvPr/>
        </p:nvSpPr>
        <p:spPr>
          <a:xfrm>
            <a:off x="256032" y="4718304"/>
            <a:ext cx="5760720" cy="54864"/>
          </a:xfrm>
          <a:prstGeom prst="rect">
            <a:avLst/>
          </a:prstGeom>
          <a:solidFill>
            <a:srgbClr val="0066FF"/>
          </a:solidFill>
          <a:ln w="12700">
            <a:solidFill>
              <a:srgbClr val="0066FF"/>
            </a:solidFill>
            <a:prstDash val="solid"/>
          </a:ln>
        </p:spPr>
      </p:sp>
      <p:sp>
        <p:nvSpPr>
          <p:cNvPr id="31" name="Shape 29"/>
          <p:cNvSpPr/>
          <p:nvPr/>
        </p:nvSpPr>
        <p:spPr>
          <a:xfrm>
            <a:off x="347472" y="4828032"/>
            <a:ext cx="914400" cy="256032"/>
          </a:xfrm>
          <a:prstGeom prst="rect">
            <a:avLst/>
          </a:prstGeom>
          <a:solidFill>
            <a:srgbClr val="0066FF"/>
          </a:solidFill>
          <a:ln w="12700">
            <a:solidFill>
              <a:srgbClr val="0066FF"/>
            </a:solidFill>
            <a:prstDash val="solid"/>
          </a:ln>
        </p:spPr>
      </p:sp>
      <p:sp>
        <p:nvSpPr>
          <p:cNvPr id="32" name="Text 30"/>
          <p:cNvSpPr/>
          <p:nvPr/>
        </p:nvSpPr>
        <p:spPr>
          <a:xfrm>
            <a:off x="347472" y="4828032"/>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MEDIUM</a:t>
            </a:r>
            <a:endParaRPr lang="en-US" sz="950" dirty="0"/>
          </a:p>
        </p:txBody>
      </p:sp>
      <p:sp>
        <p:nvSpPr>
          <p:cNvPr id="33" name="Text 31"/>
          <p:cNvSpPr/>
          <p:nvPr/>
        </p:nvSpPr>
        <p:spPr>
          <a:xfrm>
            <a:off x="1371600" y="4809744"/>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Stock Down ~40% YTD Despite Record Fundamentals — Sentiment Disconnect</a:t>
            </a:r>
            <a:endParaRPr lang="en-US" sz="1050" dirty="0"/>
          </a:p>
        </p:txBody>
      </p:sp>
      <p:sp>
        <p:nvSpPr>
          <p:cNvPr id="34" name="Text 32"/>
          <p:cNvSpPr/>
          <p:nvPr/>
        </p:nvSpPr>
        <p:spPr>
          <a:xfrm>
            <a:off x="393192" y="5193792"/>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SOFI stock down ~40% year-to-date as of May 2026, even as Q1 delivered record revenue, record members, record originations, and $167M net income. Stock hit $32.73 high in late 2025, now ~$15.65. The Muddy Waters report, macro fears, and analyst target reductions (BofA, TD Cowen, KBW all &lt;$18) have created a valuation-momentum disconnect. This is either the best buying opportunity in recent SOFI history, or a signal that fundamentals are not as strong as reported.</a:t>
            </a:r>
            <a:endParaRPr lang="en-US" sz="1200" dirty="0"/>
          </a:p>
        </p:txBody>
      </p:sp>
      <p:sp>
        <p:nvSpPr>
          <p:cNvPr id="35" name="Shape 33"/>
          <p:cNvSpPr/>
          <p:nvPr/>
        </p:nvSpPr>
        <p:spPr>
          <a:xfrm>
            <a:off x="6217920" y="4718304"/>
            <a:ext cx="5760720" cy="1828800"/>
          </a:xfrm>
          <a:prstGeom prst="rect">
            <a:avLst/>
          </a:prstGeom>
          <a:solidFill>
            <a:srgbClr val="080A1A"/>
          </a:solidFill>
          <a:ln w="12700">
            <a:solidFill>
              <a:srgbClr val="080A1A"/>
            </a:solidFill>
            <a:prstDash val="solid"/>
          </a:ln>
        </p:spPr>
      </p:sp>
      <p:sp>
        <p:nvSpPr>
          <p:cNvPr id="36" name="Shape 34"/>
          <p:cNvSpPr/>
          <p:nvPr/>
        </p:nvSpPr>
        <p:spPr>
          <a:xfrm>
            <a:off x="6217920" y="4718304"/>
            <a:ext cx="5760720" cy="54864"/>
          </a:xfrm>
          <a:prstGeom prst="rect">
            <a:avLst/>
          </a:prstGeom>
          <a:solidFill>
            <a:srgbClr val="8899BB"/>
          </a:solidFill>
          <a:ln w="12700">
            <a:solidFill>
              <a:srgbClr val="8899BB"/>
            </a:solidFill>
            <a:prstDash val="solid"/>
          </a:ln>
        </p:spPr>
      </p:sp>
      <p:sp>
        <p:nvSpPr>
          <p:cNvPr id="37" name="Shape 35"/>
          <p:cNvSpPr/>
          <p:nvPr/>
        </p:nvSpPr>
        <p:spPr>
          <a:xfrm>
            <a:off x="6309360" y="4828032"/>
            <a:ext cx="914400" cy="256032"/>
          </a:xfrm>
          <a:prstGeom prst="rect">
            <a:avLst/>
          </a:prstGeom>
          <a:solidFill>
            <a:srgbClr val="8899BB"/>
          </a:solidFill>
          <a:ln w="12700">
            <a:solidFill>
              <a:srgbClr val="8899BB"/>
            </a:solidFill>
            <a:prstDash val="solid"/>
          </a:ln>
        </p:spPr>
      </p:sp>
      <p:sp>
        <p:nvSpPr>
          <p:cNvPr id="38" name="Text 36"/>
          <p:cNvSpPr/>
          <p:nvPr/>
        </p:nvSpPr>
        <p:spPr>
          <a:xfrm>
            <a:off x="6309360" y="4828032"/>
            <a:ext cx="914400" cy="256032"/>
          </a:xfrm>
          <a:prstGeom prst="rect">
            <a:avLst/>
          </a:prstGeom>
          <a:noFill/>
          <a:ln/>
        </p:spPr>
        <p:txBody>
          <a:bodyPr wrap="square" rtlCol="0" anchor="ctr"/>
          <a:lstStyle/>
          <a:p>
            <a:pPr marL="0" indent="0" algn="ctr">
              <a:buNone/>
            </a:pPr>
            <a:r>
              <a:rPr lang="en-US" sz="950" b="1" dirty="0">
                <a:solidFill>
                  <a:srgbClr val="000000"/>
                </a:solidFill>
                <a:latin typeface="Calibri" pitchFamily="34" charset="0"/>
                <a:ea typeface="Calibri" pitchFamily="34" charset="-122"/>
                <a:cs typeface="Calibri" pitchFamily="34" charset="-120"/>
              </a:rPr>
              <a:t>WATCH</a:t>
            </a:r>
            <a:endParaRPr lang="en-US" sz="950" dirty="0"/>
          </a:p>
        </p:txBody>
      </p:sp>
      <p:sp>
        <p:nvSpPr>
          <p:cNvPr id="39" name="Text 37"/>
          <p:cNvSpPr/>
          <p:nvPr/>
        </p:nvSpPr>
        <p:spPr>
          <a:xfrm>
            <a:off x="7333488" y="4809744"/>
            <a:ext cx="4526280" cy="32004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Founder Era Governance Risk — Mike Cagney History &amp; SPAC Legacy Dilution</a:t>
            </a:r>
            <a:endParaRPr lang="en-US" sz="1050" dirty="0"/>
          </a:p>
        </p:txBody>
      </p:sp>
      <p:sp>
        <p:nvSpPr>
          <p:cNvPr id="40" name="Text 38"/>
          <p:cNvSpPr/>
          <p:nvPr/>
        </p:nvSpPr>
        <p:spPr>
          <a:xfrm>
            <a:off x="6355080" y="5193792"/>
            <a:ext cx="5532120" cy="1298448"/>
          </a:xfrm>
          <a:prstGeom prst="rect">
            <a:avLst/>
          </a:prstGeom>
          <a:noFill/>
          <a:ln/>
        </p:spPr>
        <p:txBody>
          <a:bodyPr wrap="square" rtlCol="0" anchor="ctr"/>
          <a:lstStyle/>
          <a:p>
            <a:pPr marL="0" indent="0">
              <a:buNone/>
            </a:pPr>
            <a:r>
              <a:rPr lang="en-US" sz="1200" dirty="0">
                <a:solidFill>
                  <a:srgbClr val="BBCCDD"/>
                </a:solidFill>
                <a:latin typeface="Calibri" pitchFamily="34" charset="0"/>
                <a:ea typeface="Calibri" pitchFamily="34" charset="-122"/>
                <a:cs typeface="Calibri" pitchFamily="34" charset="-120"/>
              </a:rPr>
              <a:t>SoFi was embroiled in a serious workplace culture scandal under founder Mike Cagney, who resigned in 2017. SPAC merger created complex warrant structures and legacy dilution overhangs. Share count continues growing ~2% annually from equity compensation. While Noto has rebuilt credibility significantly, the company's governance history creates elevated scrutiny compared to traditional banks. Any repeat of Muddy Waters-type allegations could be disproportionately damaging.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9: INVESTMENT THESIS — THREE CORE BELIEFS</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200" dirty="0">
                <a:solidFill>
                  <a:srgbClr val="002060"/>
                </a:solidFill>
                <a:latin typeface="Calibri" pitchFamily="34" charset="0"/>
                <a:ea typeface="Calibri" pitchFamily="34" charset="-122"/>
                <a:cs typeface="Calibri" pitchFamily="34" charset="-120"/>
              </a:rPr>
              <a:t>All three must hold simultaneously for the long-term bull case to work</a:t>
            </a:r>
            <a:endParaRPr lang="en-US" sz="12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sp>
        <p:nvSpPr>
          <p:cNvPr id="7" name="Shape 5"/>
          <p:cNvSpPr/>
          <p:nvPr/>
        </p:nvSpPr>
        <p:spPr>
          <a:xfrm>
            <a:off x="256032" y="1261872"/>
            <a:ext cx="11704320" cy="1719072"/>
          </a:xfrm>
          <a:prstGeom prst="rect">
            <a:avLst/>
          </a:prstGeom>
          <a:solidFill>
            <a:srgbClr val="0F2040"/>
          </a:solidFill>
          <a:ln w="12700">
            <a:solidFill>
              <a:srgbClr val="0F2040"/>
            </a:solidFill>
            <a:prstDash val="solid"/>
          </a:ln>
        </p:spPr>
      </p:sp>
      <p:sp>
        <p:nvSpPr>
          <p:cNvPr id="8" name="Shape 6"/>
          <p:cNvSpPr/>
          <p:nvPr/>
        </p:nvSpPr>
        <p:spPr>
          <a:xfrm>
            <a:off x="256032" y="1261872"/>
            <a:ext cx="64008" cy="1719072"/>
          </a:xfrm>
          <a:prstGeom prst="rect">
            <a:avLst/>
          </a:prstGeom>
          <a:solidFill>
            <a:srgbClr val="00C8C8"/>
          </a:solidFill>
          <a:ln w="12700">
            <a:solidFill>
              <a:srgbClr val="00C8C8"/>
            </a:solidFill>
            <a:prstDash val="solid"/>
          </a:ln>
        </p:spPr>
      </p:sp>
      <p:sp>
        <p:nvSpPr>
          <p:cNvPr id="9" name="Text 7"/>
          <p:cNvSpPr/>
          <p:nvPr/>
        </p:nvSpPr>
        <p:spPr>
          <a:xfrm>
            <a:off x="384048" y="1399032"/>
            <a:ext cx="713232" cy="731520"/>
          </a:xfrm>
          <a:prstGeom prst="rect">
            <a:avLst/>
          </a:prstGeom>
          <a:noFill/>
          <a:ln/>
        </p:spPr>
        <p:txBody>
          <a:bodyPr wrap="square" rtlCol="0" anchor="ctr"/>
          <a:lstStyle/>
          <a:p>
            <a:pPr marL="0" indent="0">
              <a:buNone/>
            </a:pPr>
            <a:r>
              <a:rPr lang="en-US" sz="3200" b="1" dirty="0">
                <a:solidFill>
                  <a:srgbClr val="00C8C8"/>
                </a:solidFill>
                <a:latin typeface="Calibri" pitchFamily="34" charset="0"/>
                <a:ea typeface="Calibri" pitchFamily="34" charset="-122"/>
                <a:cs typeface="Calibri" pitchFamily="34" charset="-120"/>
              </a:rPr>
              <a:t>01</a:t>
            </a:r>
            <a:endParaRPr lang="en-US" sz="3200" dirty="0"/>
          </a:p>
        </p:txBody>
      </p:sp>
      <p:sp>
        <p:nvSpPr>
          <p:cNvPr id="10" name="Text 8"/>
          <p:cNvSpPr/>
          <p:nvPr/>
        </p:nvSpPr>
        <p:spPr>
          <a:xfrm>
            <a:off x="1207008" y="1353312"/>
            <a:ext cx="1051560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Financial Services Productivity Loop Creates Durable Compounding</a:t>
            </a:r>
            <a:endParaRPr lang="en-US" sz="1400" dirty="0"/>
          </a:p>
        </p:txBody>
      </p:sp>
      <p:sp>
        <p:nvSpPr>
          <p:cNvPr id="17" name="Shape 15"/>
          <p:cNvSpPr/>
          <p:nvPr/>
        </p:nvSpPr>
        <p:spPr>
          <a:xfrm>
            <a:off x="256032" y="3044952"/>
            <a:ext cx="11704320" cy="1719072"/>
          </a:xfrm>
          <a:prstGeom prst="rect">
            <a:avLst/>
          </a:prstGeom>
          <a:solidFill>
            <a:srgbClr val="0F2040"/>
          </a:solidFill>
          <a:ln w="12700">
            <a:solidFill>
              <a:srgbClr val="0F2040"/>
            </a:solidFill>
            <a:prstDash val="solid"/>
          </a:ln>
        </p:spPr>
      </p:sp>
      <p:sp>
        <p:nvSpPr>
          <p:cNvPr id="18" name="Shape 16"/>
          <p:cNvSpPr/>
          <p:nvPr/>
        </p:nvSpPr>
        <p:spPr>
          <a:xfrm>
            <a:off x="256032" y="3044952"/>
            <a:ext cx="64008" cy="1719072"/>
          </a:xfrm>
          <a:prstGeom prst="rect">
            <a:avLst/>
          </a:prstGeom>
          <a:solidFill>
            <a:srgbClr val="FFB800"/>
          </a:solidFill>
          <a:ln w="12700">
            <a:solidFill>
              <a:srgbClr val="FFB800"/>
            </a:solidFill>
            <a:prstDash val="solid"/>
          </a:ln>
        </p:spPr>
      </p:sp>
      <p:sp>
        <p:nvSpPr>
          <p:cNvPr id="19" name="Text 17"/>
          <p:cNvSpPr/>
          <p:nvPr/>
        </p:nvSpPr>
        <p:spPr>
          <a:xfrm>
            <a:off x="384048" y="3182112"/>
            <a:ext cx="713232" cy="731520"/>
          </a:xfrm>
          <a:prstGeom prst="rect">
            <a:avLst/>
          </a:prstGeom>
          <a:noFill/>
          <a:ln/>
        </p:spPr>
        <p:txBody>
          <a:bodyPr wrap="square" rtlCol="0" anchor="ctr"/>
          <a:lstStyle/>
          <a:p>
            <a:pPr marL="0" indent="0">
              <a:buNone/>
            </a:pPr>
            <a:r>
              <a:rPr lang="en-US" sz="3200" b="1" dirty="0">
                <a:solidFill>
                  <a:srgbClr val="FFB800"/>
                </a:solidFill>
                <a:latin typeface="Calibri" pitchFamily="34" charset="0"/>
                <a:ea typeface="Calibri" pitchFamily="34" charset="-122"/>
                <a:cs typeface="Calibri" pitchFamily="34" charset="-120"/>
              </a:rPr>
              <a:t>02</a:t>
            </a:r>
            <a:endParaRPr lang="en-US" sz="3200" dirty="0"/>
          </a:p>
        </p:txBody>
      </p:sp>
      <p:sp>
        <p:nvSpPr>
          <p:cNvPr id="20" name="Text 18"/>
          <p:cNvSpPr/>
          <p:nvPr/>
        </p:nvSpPr>
        <p:spPr>
          <a:xfrm>
            <a:off x="1207008" y="3136392"/>
            <a:ext cx="1051560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National Bank Charter Creates a Structural NIM Advantage That Compounds</a:t>
            </a:r>
            <a:endParaRPr lang="en-US" sz="1400" dirty="0"/>
          </a:p>
        </p:txBody>
      </p:sp>
      <p:sp>
        <p:nvSpPr>
          <p:cNvPr id="27" name="Shape 25"/>
          <p:cNvSpPr/>
          <p:nvPr/>
        </p:nvSpPr>
        <p:spPr>
          <a:xfrm>
            <a:off x="256032" y="4828032"/>
            <a:ext cx="11704320" cy="1719072"/>
          </a:xfrm>
          <a:prstGeom prst="rect">
            <a:avLst/>
          </a:prstGeom>
          <a:solidFill>
            <a:srgbClr val="0F2040"/>
          </a:solidFill>
          <a:ln w="12700">
            <a:solidFill>
              <a:srgbClr val="0F2040"/>
            </a:solidFill>
            <a:prstDash val="solid"/>
          </a:ln>
        </p:spPr>
      </p:sp>
      <p:sp>
        <p:nvSpPr>
          <p:cNvPr id="28" name="Shape 26"/>
          <p:cNvSpPr/>
          <p:nvPr/>
        </p:nvSpPr>
        <p:spPr>
          <a:xfrm>
            <a:off x="256032" y="4828032"/>
            <a:ext cx="64008" cy="1719072"/>
          </a:xfrm>
          <a:prstGeom prst="rect">
            <a:avLst/>
          </a:prstGeom>
          <a:solidFill>
            <a:srgbClr val="0066FF"/>
          </a:solidFill>
          <a:ln w="12700">
            <a:solidFill>
              <a:srgbClr val="0066FF"/>
            </a:solidFill>
            <a:prstDash val="solid"/>
          </a:ln>
        </p:spPr>
      </p:sp>
      <p:sp>
        <p:nvSpPr>
          <p:cNvPr id="29" name="Text 27"/>
          <p:cNvSpPr/>
          <p:nvPr/>
        </p:nvSpPr>
        <p:spPr>
          <a:xfrm>
            <a:off x="384048" y="4965192"/>
            <a:ext cx="713232" cy="731520"/>
          </a:xfrm>
          <a:prstGeom prst="rect">
            <a:avLst/>
          </a:prstGeom>
          <a:noFill/>
          <a:ln/>
        </p:spPr>
        <p:txBody>
          <a:bodyPr wrap="square" rtlCol="0" anchor="ctr"/>
          <a:lstStyle/>
          <a:p>
            <a:pPr marL="0" indent="0">
              <a:buNone/>
            </a:pPr>
            <a:r>
              <a:rPr lang="en-US" sz="3200" b="1" dirty="0">
                <a:solidFill>
                  <a:srgbClr val="0066FF"/>
                </a:solidFill>
                <a:latin typeface="Calibri" pitchFamily="34" charset="0"/>
                <a:ea typeface="Calibri" pitchFamily="34" charset="-122"/>
                <a:cs typeface="Calibri" pitchFamily="34" charset="-120"/>
              </a:rPr>
              <a:t>03</a:t>
            </a:r>
            <a:endParaRPr lang="en-US" sz="3200" dirty="0"/>
          </a:p>
        </p:txBody>
      </p:sp>
      <p:sp>
        <p:nvSpPr>
          <p:cNvPr id="30" name="Text 28"/>
          <p:cNvSpPr/>
          <p:nvPr/>
        </p:nvSpPr>
        <p:spPr>
          <a:xfrm>
            <a:off x="1207008" y="4919472"/>
            <a:ext cx="10515600" cy="38404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Galileo/Technisys Becomes the AWS of Fintech — Restoring B2B Revenue Growth</a:t>
            </a:r>
            <a:endParaRPr lang="en-US" sz="1400" dirty="0"/>
          </a:p>
        </p:txBody>
      </p:sp>
      <p:grpSp>
        <p:nvGrpSpPr>
          <p:cNvPr id="40" name="Group 39">
            <a:extLst>
              <a:ext uri="{FF2B5EF4-FFF2-40B4-BE49-F238E27FC236}">
                <a16:creationId xmlns:a16="http://schemas.microsoft.com/office/drawing/2014/main" id="{3CC18045-EE49-75B4-4442-A316D8498E21}"/>
              </a:ext>
            </a:extLst>
          </p:cNvPr>
          <p:cNvGrpSpPr/>
          <p:nvPr/>
        </p:nvGrpSpPr>
        <p:grpSpPr>
          <a:xfrm>
            <a:off x="1207008" y="1700784"/>
            <a:ext cx="10515600" cy="4622050"/>
            <a:chOff x="1207008" y="1700784"/>
            <a:chExt cx="10515600" cy="4622050"/>
          </a:xfrm>
        </p:grpSpPr>
        <p:grpSp>
          <p:nvGrpSpPr>
            <p:cNvPr id="39" name="Group 38">
              <a:extLst>
                <a:ext uri="{FF2B5EF4-FFF2-40B4-BE49-F238E27FC236}">
                  <a16:creationId xmlns:a16="http://schemas.microsoft.com/office/drawing/2014/main" id="{9E03A19B-91D6-CCEE-A299-9E5A8BB3EC20}"/>
                </a:ext>
              </a:extLst>
            </p:cNvPr>
            <p:cNvGrpSpPr/>
            <p:nvPr/>
          </p:nvGrpSpPr>
          <p:grpSpPr>
            <a:xfrm>
              <a:off x="1207008" y="1700784"/>
              <a:ext cx="10515600" cy="4023360"/>
              <a:chOff x="1207008" y="1700784"/>
              <a:chExt cx="10515600" cy="4023360"/>
            </a:xfrm>
          </p:grpSpPr>
          <p:sp>
            <p:nvSpPr>
              <p:cNvPr id="11" name="Shape 9"/>
              <p:cNvSpPr/>
              <p:nvPr/>
            </p:nvSpPr>
            <p:spPr>
              <a:xfrm>
                <a:off x="1207008" y="1737360"/>
                <a:ext cx="201168" cy="201168"/>
              </a:xfrm>
              <a:prstGeom prst="rect">
                <a:avLst/>
              </a:prstGeom>
              <a:solidFill>
                <a:srgbClr val="00D68F"/>
              </a:solidFill>
              <a:ln w="12700">
                <a:solidFill>
                  <a:srgbClr val="00D68F"/>
                </a:solidFill>
                <a:prstDash val="solid"/>
              </a:ln>
            </p:spPr>
          </p:sp>
          <p:sp>
            <p:nvSpPr>
              <p:cNvPr id="12" name="Text 10"/>
              <p:cNvSpPr/>
              <p:nvPr/>
            </p:nvSpPr>
            <p:spPr>
              <a:xfrm>
                <a:off x="1444752" y="1737360"/>
                <a:ext cx="1005840" cy="201168"/>
              </a:xfrm>
              <a:prstGeom prst="rect">
                <a:avLst/>
              </a:prstGeom>
              <a:noFill/>
              <a:ln/>
            </p:spPr>
            <p:txBody>
              <a:bodyPr wrap="square" rtlCol="0" anchor="ctr"/>
              <a:lstStyle/>
              <a:p>
                <a:pPr marL="0" indent="0">
                  <a:buNone/>
                </a:pPr>
                <a:r>
                  <a:rPr lang="en-US" sz="950" b="1" dirty="0">
                    <a:solidFill>
                      <a:srgbClr val="00D68F"/>
                    </a:solidFill>
                    <a:latin typeface="Calibri" pitchFamily="34" charset="0"/>
                    <a:ea typeface="Calibri" pitchFamily="34" charset="-122"/>
                    <a:cs typeface="Calibri" pitchFamily="34" charset="-120"/>
                  </a:rPr>
                  <a:t>IF TRUE:</a:t>
                </a:r>
                <a:endParaRPr lang="en-US" sz="950" dirty="0"/>
              </a:p>
            </p:txBody>
          </p:sp>
          <p:sp>
            <p:nvSpPr>
              <p:cNvPr id="13" name="Text 11"/>
              <p:cNvSpPr/>
              <p:nvPr/>
            </p:nvSpPr>
            <p:spPr>
              <a:xfrm>
                <a:off x="2487168" y="1700784"/>
                <a:ext cx="9235440" cy="457200"/>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14.7M high-FICO members + bank charter NIM (5.94%) + cross-sell (43% of new products from existing members) = compounding LTV per member. As members deepen engagement, fee revenue per member grows. The more products owned, the less price-sensitive the member. SoFi's own data: members with 3+ products have 2–3× lower churn. Financial services is a sticky category — once you trust a platform with direct deposit, you rarely leave.</a:t>
                </a:r>
                <a:endParaRPr lang="en-US" sz="1050" dirty="0">
                  <a:solidFill>
                    <a:schemeClr val="bg1"/>
                  </a:solidFill>
                </a:endParaRPr>
              </a:p>
            </p:txBody>
          </p:sp>
          <p:sp>
            <p:nvSpPr>
              <p:cNvPr id="21" name="Shape 19"/>
              <p:cNvSpPr/>
              <p:nvPr/>
            </p:nvSpPr>
            <p:spPr>
              <a:xfrm>
                <a:off x="1207008" y="3520440"/>
                <a:ext cx="201168" cy="201168"/>
              </a:xfrm>
              <a:prstGeom prst="rect">
                <a:avLst/>
              </a:prstGeom>
              <a:solidFill>
                <a:srgbClr val="00D68F"/>
              </a:solidFill>
              <a:ln w="12700">
                <a:solidFill>
                  <a:srgbClr val="00D68F"/>
                </a:solidFill>
                <a:prstDash val="solid"/>
              </a:ln>
            </p:spPr>
          </p:sp>
          <p:sp>
            <p:nvSpPr>
              <p:cNvPr id="22" name="Text 20"/>
              <p:cNvSpPr/>
              <p:nvPr/>
            </p:nvSpPr>
            <p:spPr>
              <a:xfrm>
                <a:off x="1444752" y="3520440"/>
                <a:ext cx="1005840" cy="201168"/>
              </a:xfrm>
              <a:prstGeom prst="rect">
                <a:avLst/>
              </a:prstGeom>
              <a:noFill/>
              <a:ln/>
            </p:spPr>
            <p:txBody>
              <a:bodyPr wrap="square" rtlCol="0" anchor="ctr"/>
              <a:lstStyle/>
              <a:p>
                <a:pPr marL="0" indent="0">
                  <a:buNone/>
                </a:pPr>
                <a:r>
                  <a:rPr lang="en-US" sz="950" b="1" dirty="0">
                    <a:solidFill>
                      <a:srgbClr val="00D68F"/>
                    </a:solidFill>
                    <a:latin typeface="Calibri" pitchFamily="34" charset="0"/>
                    <a:ea typeface="Calibri" pitchFamily="34" charset="-122"/>
                    <a:cs typeface="Calibri" pitchFamily="34" charset="-120"/>
                  </a:rPr>
                  <a:t>IF TRUE:</a:t>
                </a:r>
                <a:endParaRPr lang="en-US" sz="950" dirty="0"/>
              </a:p>
            </p:txBody>
          </p:sp>
          <p:sp>
            <p:nvSpPr>
              <p:cNvPr id="23" name="Text 21"/>
              <p:cNvSpPr/>
              <p:nvPr/>
            </p:nvSpPr>
            <p:spPr>
              <a:xfrm>
                <a:off x="2487168" y="3483864"/>
                <a:ext cx="9235440" cy="457200"/>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Before the bank charter, SoFi paid 5–7% for warehouse credit. After the charter, SoFi pays ~1.2% for FDIC-insured deposits. A 5.94% NIM on a $40B+ deposit base equals &gt;$2.3B in annual net interest income — structurally earned by simply having the charter. Traditional digital-only competitors (Chime, Robinhood) cannot replicate this advantage without a 12–24 month regulatory process. The charter is the most defensible moat SoFi has built.</a:t>
                </a:r>
                <a:endParaRPr lang="en-US" sz="1050" dirty="0">
                  <a:solidFill>
                    <a:schemeClr val="bg1"/>
                  </a:solidFill>
                </a:endParaRPr>
              </a:p>
            </p:txBody>
          </p:sp>
          <p:sp>
            <p:nvSpPr>
              <p:cNvPr id="31" name="Shape 29"/>
              <p:cNvSpPr/>
              <p:nvPr/>
            </p:nvSpPr>
            <p:spPr>
              <a:xfrm>
                <a:off x="1207008" y="5303520"/>
                <a:ext cx="201168" cy="201168"/>
              </a:xfrm>
              <a:prstGeom prst="rect">
                <a:avLst/>
              </a:prstGeom>
              <a:solidFill>
                <a:srgbClr val="00D68F"/>
              </a:solidFill>
              <a:ln w="12700">
                <a:solidFill>
                  <a:srgbClr val="00D68F"/>
                </a:solidFill>
                <a:prstDash val="solid"/>
              </a:ln>
            </p:spPr>
          </p:sp>
          <p:sp>
            <p:nvSpPr>
              <p:cNvPr id="32" name="Text 30"/>
              <p:cNvSpPr/>
              <p:nvPr/>
            </p:nvSpPr>
            <p:spPr>
              <a:xfrm>
                <a:off x="1444752" y="5303520"/>
                <a:ext cx="1005840" cy="201168"/>
              </a:xfrm>
              <a:prstGeom prst="rect">
                <a:avLst/>
              </a:prstGeom>
              <a:noFill/>
              <a:ln/>
            </p:spPr>
            <p:txBody>
              <a:bodyPr wrap="square" rtlCol="0" anchor="ctr"/>
              <a:lstStyle/>
              <a:p>
                <a:pPr marL="0" indent="0">
                  <a:buNone/>
                </a:pPr>
                <a:r>
                  <a:rPr lang="en-US" sz="950" b="1" dirty="0">
                    <a:solidFill>
                      <a:srgbClr val="00D68F"/>
                    </a:solidFill>
                    <a:latin typeface="Calibri" pitchFamily="34" charset="0"/>
                    <a:ea typeface="Calibri" pitchFamily="34" charset="-122"/>
                    <a:cs typeface="Calibri" pitchFamily="34" charset="-120"/>
                  </a:rPr>
                  <a:t>IF TRUE:</a:t>
                </a:r>
                <a:endParaRPr lang="en-US" sz="950" dirty="0"/>
              </a:p>
            </p:txBody>
          </p:sp>
          <p:sp>
            <p:nvSpPr>
              <p:cNvPr id="33" name="Text 31"/>
              <p:cNvSpPr/>
              <p:nvPr/>
            </p:nvSpPr>
            <p:spPr>
              <a:xfrm>
                <a:off x="2487168" y="5266944"/>
                <a:ext cx="9235440" cy="457200"/>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128.5M enabled accounts globally. Cyberbank Core adopted by major Latin American banks (Banco Nación). AI assistant reducing support costs 40%. If Galileo adds 3–5 new major banking clients per year and the technology platform returns to 20%+ growth, the mix shift toward high-margin B2B recurring fee revenue fundamentally re-rates the entire company. CEO Noto: 'The tech platform allows us to build products 4× faster than competitors — that's the sustainable differentiation.'</a:t>
                </a:r>
                <a:endParaRPr lang="en-US" sz="1050" dirty="0">
                  <a:solidFill>
                    <a:schemeClr val="bg1"/>
                  </a:solidFill>
                </a:endParaRPr>
              </a:p>
            </p:txBody>
          </p:sp>
        </p:grpSp>
        <p:grpSp>
          <p:nvGrpSpPr>
            <p:cNvPr id="38" name="Group 37">
              <a:extLst>
                <a:ext uri="{FF2B5EF4-FFF2-40B4-BE49-F238E27FC236}">
                  <a16:creationId xmlns:a16="http://schemas.microsoft.com/office/drawing/2014/main" id="{28EE883A-0351-4884-3492-4B3F07789F98}"/>
                </a:ext>
              </a:extLst>
            </p:cNvPr>
            <p:cNvGrpSpPr/>
            <p:nvPr/>
          </p:nvGrpSpPr>
          <p:grpSpPr>
            <a:xfrm>
              <a:off x="1207008" y="2281186"/>
              <a:ext cx="10515600" cy="4041648"/>
              <a:chOff x="1207008" y="2281186"/>
              <a:chExt cx="10515600" cy="4041648"/>
            </a:xfrm>
          </p:grpSpPr>
          <p:sp>
            <p:nvSpPr>
              <p:cNvPr id="14" name="Shape 12"/>
              <p:cNvSpPr/>
              <p:nvPr/>
            </p:nvSpPr>
            <p:spPr>
              <a:xfrm>
                <a:off x="1207008" y="2317762"/>
                <a:ext cx="201168" cy="201168"/>
              </a:xfrm>
              <a:prstGeom prst="rect">
                <a:avLst/>
              </a:prstGeom>
              <a:solidFill>
                <a:srgbClr val="FF4444"/>
              </a:solidFill>
              <a:ln w="12700">
                <a:solidFill>
                  <a:srgbClr val="FF4444"/>
                </a:solidFill>
                <a:prstDash val="solid"/>
              </a:ln>
            </p:spPr>
          </p:sp>
          <p:sp>
            <p:nvSpPr>
              <p:cNvPr id="15" name="Text 13"/>
              <p:cNvSpPr/>
              <p:nvPr/>
            </p:nvSpPr>
            <p:spPr>
              <a:xfrm>
                <a:off x="1444752" y="2317762"/>
                <a:ext cx="1005840" cy="201168"/>
              </a:xfrm>
              <a:prstGeom prst="rect">
                <a:avLst/>
              </a:prstGeom>
              <a:noFill/>
              <a:ln/>
            </p:spPr>
            <p:txBody>
              <a:bodyPr wrap="square" rtlCol="0" anchor="ctr"/>
              <a:lstStyle/>
              <a:p>
                <a:pPr marL="0" indent="0">
                  <a:buNone/>
                </a:pPr>
                <a:r>
                  <a:rPr lang="en-US" sz="950" b="1" dirty="0">
                    <a:solidFill>
                      <a:srgbClr val="FF4444"/>
                    </a:solidFill>
                    <a:latin typeface="Calibri" pitchFamily="34" charset="0"/>
                    <a:ea typeface="Calibri" pitchFamily="34" charset="-122"/>
                    <a:cs typeface="Calibri" pitchFamily="34" charset="-120"/>
                  </a:rPr>
                  <a:t>IF FALSE:</a:t>
                </a:r>
                <a:endParaRPr lang="en-US" sz="950" dirty="0"/>
              </a:p>
            </p:txBody>
          </p:sp>
          <p:sp>
            <p:nvSpPr>
              <p:cNvPr id="16" name="Text 14"/>
              <p:cNvSpPr/>
              <p:nvPr/>
            </p:nvSpPr>
            <p:spPr>
              <a:xfrm>
                <a:off x="2487168" y="2281186"/>
                <a:ext cx="9235440" cy="475488"/>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If cross-buy stalls — i.e., members use SoFi as a single-product lender not a primary bank — the FSPL becomes a story, not a business model. 57% of SoFi members still only use one product. If the 'one-stop shop' vision plateaus at 1.5 products per member vs the 2.5+ target, the LTV model breaks down, the premium valuation erodes, and growth decelerates faster than guidance implies.</a:t>
                </a:r>
                <a:endParaRPr lang="en-US" sz="1050" dirty="0">
                  <a:solidFill>
                    <a:schemeClr val="bg1"/>
                  </a:solidFill>
                </a:endParaRPr>
              </a:p>
            </p:txBody>
          </p:sp>
          <p:sp>
            <p:nvSpPr>
              <p:cNvPr id="24" name="Shape 22"/>
              <p:cNvSpPr/>
              <p:nvPr/>
            </p:nvSpPr>
            <p:spPr>
              <a:xfrm>
                <a:off x="1207008" y="4100842"/>
                <a:ext cx="201168" cy="201168"/>
              </a:xfrm>
              <a:prstGeom prst="rect">
                <a:avLst/>
              </a:prstGeom>
              <a:solidFill>
                <a:srgbClr val="FF4444"/>
              </a:solidFill>
              <a:ln w="12700">
                <a:solidFill>
                  <a:srgbClr val="FF4444"/>
                </a:solidFill>
                <a:prstDash val="solid"/>
              </a:ln>
            </p:spPr>
          </p:sp>
          <p:sp>
            <p:nvSpPr>
              <p:cNvPr id="25" name="Text 23"/>
              <p:cNvSpPr/>
              <p:nvPr/>
            </p:nvSpPr>
            <p:spPr>
              <a:xfrm>
                <a:off x="1444752" y="4100842"/>
                <a:ext cx="1005840" cy="201168"/>
              </a:xfrm>
              <a:prstGeom prst="rect">
                <a:avLst/>
              </a:prstGeom>
              <a:noFill/>
              <a:ln/>
            </p:spPr>
            <p:txBody>
              <a:bodyPr wrap="square" rtlCol="0" anchor="ctr"/>
              <a:lstStyle/>
              <a:p>
                <a:pPr marL="0" indent="0">
                  <a:buNone/>
                </a:pPr>
                <a:r>
                  <a:rPr lang="en-US" sz="950" b="1" dirty="0">
                    <a:solidFill>
                      <a:srgbClr val="FF4444"/>
                    </a:solidFill>
                    <a:latin typeface="Calibri" pitchFamily="34" charset="0"/>
                    <a:ea typeface="Calibri" pitchFamily="34" charset="-122"/>
                    <a:cs typeface="Calibri" pitchFamily="34" charset="-120"/>
                  </a:rPr>
                  <a:t>IF FALSE:</a:t>
                </a:r>
                <a:endParaRPr lang="en-US" sz="950" dirty="0"/>
              </a:p>
            </p:txBody>
          </p:sp>
          <p:sp>
            <p:nvSpPr>
              <p:cNvPr id="26" name="Text 24"/>
              <p:cNvSpPr/>
              <p:nvPr/>
            </p:nvSpPr>
            <p:spPr>
              <a:xfrm>
                <a:off x="2487168" y="4064266"/>
                <a:ext cx="9235440" cy="475488"/>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Net charge-offs rising ($201.6M Q1 2026) and macro headwinds (no Fed cuts now assumed) could compress the effective NIM even as the spread appears attractive. More critically: if credit quality deteriorates meaningfully — charge-off rates above 4–5% — loan loss provisions eat through the NIM advantage. SoFi's 2020–2025 cohort has 6.7% cumulative net losses on 60% of paid-down principal. If the remaining 40% performs worse, the 8% tolerance is at risk.</a:t>
                </a:r>
                <a:endParaRPr lang="en-US" sz="1050" dirty="0">
                  <a:solidFill>
                    <a:schemeClr val="bg1"/>
                  </a:solidFill>
                </a:endParaRPr>
              </a:p>
            </p:txBody>
          </p:sp>
          <p:sp>
            <p:nvSpPr>
              <p:cNvPr id="34" name="Shape 32"/>
              <p:cNvSpPr/>
              <p:nvPr/>
            </p:nvSpPr>
            <p:spPr>
              <a:xfrm>
                <a:off x="1207008" y="5883922"/>
                <a:ext cx="201168" cy="201168"/>
              </a:xfrm>
              <a:prstGeom prst="rect">
                <a:avLst/>
              </a:prstGeom>
              <a:solidFill>
                <a:srgbClr val="FF4444"/>
              </a:solidFill>
              <a:ln w="12700">
                <a:solidFill>
                  <a:srgbClr val="FF4444"/>
                </a:solidFill>
                <a:prstDash val="solid"/>
              </a:ln>
            </p:spPr>
          </p:sp>
          <p:sp>
            <p:nvSpPr>
              <p:cNvPr id="35" name="Text 33"/>
              <p:cNvSpPr/>
              <p:nvPr/>
            </p:nvSpPr>
            <p:spPr>
              <a:xfrm>
                <a:off x="1444752" y="5883922"/>
                <a:ext cx="1005840" cy="201168"/>
              </a:xfrm>
              <a:prstGeom prst="rect">
                <a:avLst/>
              </a:prstGeom>
              <a:noFill/>
              <a:ln/>
            </p:spPr>
            <p:txBody>
              <a:bodyPr wrap="square" rtlCol="0" anchor="ctr"/>
              <a:lstStyle/>
              <a:p>
                <a:pPr marL="0" indent="0">
                  <a:buNone/>
                </a:pPr>
                <a:r>
                  <a:rPr lang="en-US" sz="950" b="1" dirty="0">
                    <a:solidFill>
                      <a:srgbClr val="FF4444"/>
                    </a:solidFill>
                    <a:latin typeface="Calibri" pitchFamily="34" charset="0"/>
                    <a:ea typeface="Calibri" pitchFamily="34" charset="-122"/>
                    <a:cs typeface="Calibri" pitchFamily="34" charset="-120"/>
                  </a:rPr>
                  <a:t>IF FALSE:</a:t>
                </a:r>
                <a:endParaRPr lang="en-US" sz="950" dirty="0"/>
              </a:p>
            </p:txBody>
          </p:sp>
          <p:sp>
            <p:nvSpPr>
              <p:cNvPr id="36" name="Text 34"/>
              <p:cNvSpPr/>
              <p:nvPr/>
            </p:nvSpPr>
            <p:spPr>
              <a:xfrm>
                <a:off x="2487168" y="5847346"/>
                <a:ext cx="9235440" cy="475488"/>
              </a:xfrm>
              <a:prstGeom prst="rect">
                <a:avLst/>
              </a:prstGeom>
              <a:noFill/>
              <a:ln/>
            </p:spPr>
            <p:txBody>
              <a:bodyPr wrap="square" rtlCol="0" anchor="ctr"/>
              <a:lstStyle/>
              <a:p>
                <a:pPr marL="0" indent="0">
                  <a:buNone/>
                </a:pPr>
                <a:r>
                  <a:rPr lang="en-US" sz="1050" dirty="0">
                    <a:solidFill>
                      <a:schemeClr val="bg1"/>
                    </a:solidFill>
                    <a:latin typeface="Calibri" pitchFamily="34" charset="0"/>
                    <a:ea typeface="Calibri" pitchFamily="34" charset="-122"/>
                    <a:cs typeface="Calibri" pitchFamily="34" charset="-120"/>
                  </a:rPr>
                  <a:t>Technology Platform revenue fell 27% in Q1 2026 from a single large client leaving. If client concentration persists — one or two large clients representing 40%+ of B2B revenue — the platform is vulnerable to episodic revenue collapse. The 'AWS of Fintech' is a compelling vision but Salesforce, FIS, Jack Henry all compete in adjacent spaces. If Galileo cannot re-accelerate to 20%+ accounts growth, the B2B thesis becomes a drag, not an accelerant.</a:t>
                </a:r>
                <a:endParaRPr lang="en-US" sz="1050" dirty="0">
                  <a:solidFill>
                    <a:schemeClr val="bg1"/>
                  </a:solidFill>
                </a:endParaRPr>
              </a:p>
            </p:txBody>
          </p:sp>
        </p:grpSp>
      </p:grpSp>
      <p:sp>
        <p:nvSpPr>
          <p:cNvPr id="37" name="Text 35"/>
          <p:cNvSpPr/>
          <p:nvPr/>
        </p:nvSpPr>
        <p:spPr>
          <a:xfrm>
            <a:off x="256032" y="6565392"/>
            <a:ext cx="11612880" cy="219456"/>
          </a:xfrm>
          <a:prstGeom prst="rect">
            <a:avLst/>
          </a:prstGeom>
          <a:noFill/>
          <a:ln/>
        </p:spPr>
        <p:txBody>
          <a:bodyPr wrap="square" rtlCol="0" anchor="ctr"/>
          <a:lstStyle/>
          <a:p>
            <a:pPr marL="0" indent="0">
              <a:buNone/>
            </a:pPr>
            <a:r>
              <a:rPr lang="en-US" sz="850" i="1" dirty="0">
                <a:solidFill>
                  <a:srgbClr val="8899BB"/>
                </a:solidFill>
                <a:latin typeface="Calibri" pitchFamily="34" charset="0"/>
                <a:ea typeface="Calibri" pitchFamily="34" charset="-122"/>
                <a:cs typeface="Calibri" pitchFamily="34" charset="-120"/>
              </a:rPr>
              <a:t>Thesis: independent fundamental analysis. Not investment advice. May 2026.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1A1A2E"/>
          </a:solidFill>
          <a:ln w="12700">
            <a:solidFill>
              <a:srgbClr val="1A1A2E"/>
            </a:solidFill>
            <a:prstDash val="solid"/>
          </a:ln>
        </p:spPr>
      </p:sp>
      <p:sp>
        <p:nvSpPr>
          <p:cNvPr id="3" name="Text 1"/>
          <p:cNvSpPr/>
          <p:nvPr/>
        </p:nvSpPr>
        <p:spPr>
          <a:xfrm>
            <a:off x="256032" y="73152"/>
            <a:ext cx="11704320" cy="603504"/>
          </a:xfrm>
          <a:prstGeom prst="rect">
            <a:avLst/>
          </a:prstGeom>
          <a:noFill/>
          <a:ln/>
        </p:spPr>
        <p:txBody>
          <a:bodyPr wrap="square" rtlCol="0" anchor="ctr"/>
          <a:lstStyle/>
          <a:p>
            <a:pPr marL="0" indent="0">
              <a:buNone/>
            </a:pPr>
            <a:r>
              <a:rPr lang="en-US" sz="2200" b="1" dirty="0">
                <a:solidFill>
                  <a:srgbClr val="00C8C8"/>
                </a:solidFill>
                <a:latin typeface="Calibri" pitchFamily="34" charset="0"/>
                <a:ea typeface="Calibri" pitchFamily="34" charset="-122"/>
                <a:cs typeface="Calibri" pitchFamily="34" charset="-120"/>
              </a:rPr>
              <a:t>SECTION 10: PRICE PROJECTION — BULL / BASE / BEAR</a:t>
            </a:r>
            <a:endParaRPr lang="en-US" sz="2200" dirty="0"/>
          </a:p>
        </p:txBody>
      </p:sp>
      <p:sp>
        <p:nvSpPr>
          <p:cNvPr id="4" name="Text 2"/>
          <p:cNvSpPr/>
          <p:nvPr/>
        </p:nvSpPr>
        <p:spPr>
          <a:xfrm>
            <a:off x="256032" y="822960"/>
            <a:ext cx="11704320" cy="274320"/>
          </a:xfrm>
          <a:prstGeom prst="rect">
            <a:avLst/>
          </a:prstGeom>
          <a:noFill/>
          <a:ln/>
        </p:spPr>
        <p:txBody>
          <a:bodyPr wrap="square" rtlCol="0" anchor="ctr"/>
          <a:lstStyle/>
          <a:p>
            <a:pPr marL="0" indent="0">
              <a:buNone/>
            </a:pPr>
            <a:r>
              <a:rPr lang="en-US" sz="1150" dirty="0">
                <a:solidFill>
                  <a:srgbClr val="444466"/>
                </a:solidFill>
                <a:latin typeface="Calibri" pitchFamily="34" charset="0"/>
                <a:ea typeface="Calibri" pitchFamily="34" charset="-122"/>
                <a:cs typeface="Calibri" pitchFamily="34" charset="-120"/>
              </a:rPr>
              <a:t>CMP: ~$15.65  ·  52-Wk High: $32.73  ·  52-Wk Low: $12.86  ·  Mkt Cap: ~$21B  ·  Shares: ~1.34B  ·  Next Earnings: Jul 28 2026</a:t>
            </a:r>
            <a:endParaRPr lang="en-US" sz="1150" dirty="0"/>
          </a:p>
        </p:txBody>
      </p:sp>
      <p:sp>
        <p:nvSpPr>
          <p:cNvPr id="5" name="Shape 3"/>
          <p:cNvSpPr/>
          <p:nvPr/>
        </p:nvSpPr>
        <p:spPr>
          <a:xfrm>
            <a:off x="256032" y="1170432"/>
            <a:ext cx="3840480" cy="475488"/>
          </a:xfrm>
          <a:prstGeom prst="rect">
            <a:avLst/>
          </a:prstGeom>
          <a:solidFill>
            <a:srgbClr val="B91C1C"/>
          </a:solidFill>
          <a:ln w="12700">
            <a:solidFill>
              <a:srgbClr val="B91C1C"/>
            </a:solidFill>
            <a:prstDash val="solid"/>
          </a:ln>
        </p:spPr>
      </p:sp>
      <p:sp>
        <p:nvSpPr>
          <p:cNvPr id="6" name="Text 4"/>
          <p:cNvSpPr/>
          <p:nvPr/>
        </p:nvSpPr>
        <p:spPr>
          <a:xfrm>
            <a:off x="393192"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BEAR CASE</a:t>
            </a:r>
            <a:endParaRPr lang="en-US" sz="1800" dirty="0"/>
          </a:p>
        </p:txBody>
      </p:sp>
      <p:sp>
        <p:nvSpPr>
          <p:cNvPr id="7" name="Shape 5"/>
          <p:cNvSpPr/>
          <p:nvPr/>
        </p:nvSpPr>
        <p:spPr>
          <a:xfrm>
            <a:off x="256032" y="1645920"/>
            <a:ext cx="3840480" cy="4572000"/>
          </a:xfrm>
          <a:prstGeom prst="rect">
            <a:avLst/>
          </a:prstGeom>
          <a:solidFill>
            <a:srgbClr val="1A0404"/>
          </a:solidFill>
          <a:ln w="12700">
            <a:solidFill>
              <a:srgbClr val="1A0404"/>
            </a:solidFill>
            <a:prstDash val="solid"/>
          </a:ln>
        </p:spPr>
      </p:sp>
      <p:sp>
        <p:nvSpPr>
          <p:cNvPr id="8" name="Text 6"/>
          <p:cNvSpPr/>
          <p:nvPr/>
        </p:nvSpPr>
        <p:spPr>
          <a:xfrm>
            <a:off x="393192" y="1719072"/>
            <a:ext cx="3566160" cy="256032"/>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12-Month Target</a:t>
            </a:r>
            <a:endParaRPr lang="en-US" sz="1100" dirty="0"/>
          </a:p>
        </p:txBody>
      </p:sp>
      <p:sp>
        <p:nvSpPr>
          <p:cNvPr id="9" name="Text 7"/>
          <p:cNvSpPr/>
          <p:nvPr/>
        </p:nvSpPr>
        <p:spPr>
          <a:xfrm>
            <a:off x="393192" y="1938528"/>
            <a:ext cx="3566160" cy="804672"/>
          </a:xfrm>
          <a:prstGeom prst="rect">
            <a:avLst/>
          </a:prstGeom>
          <a:noFill/>
          <a:ln/>
        </p:spPr>
        <p:txBody>
          <a:bodyPr wrap="square" rtlCol="0" anchor="ctr"/>
          <a:lstStyle/>
          <a:p>
            <a:pPr marL="0" indent="0">
              <a:buNone/>
            </a:pPr>
            <a:r>
              <a:rPr lang="en-US" sz="3800" b="1" dirty="0">
                <a:solidFill>
                  <a:srgbClr val="B91C1C"/>
                </a:solidFill>
                <a:latin typeface="Calibri" pitchFamily="34" charset="0"/>
                <a:ea typeface="Calibri" pitchFamily="34" charset="-122"/>
                <a:cs typeface="Calibri" pitchFamily="34" charset="-120"/>
              </a:rPr>
              <a:t>$8–10</a:t>
            </a:r>
            <a:endParaRPr lang="en-US" sz="3800" dirty="0"/>
          </a:p>
        </p:txBody>
      </p:sp>
      <p:sp>
        <p:nvSpPr>
          <p:cNvPr id="10" name="Text 8"/>
          <p:cNvSpPr/>
          <p:nvPr/>
        </p:nvSpPr>
        <p:spPr>
          <a:xfrm>
            <a:off x="393192" y="2743200"/>
            <a:ext cx="3566160" cy="274320"/>
          </a:xfrm>
          <a:prstGeom prst="rect">
            <a:avLst/>
          </a:prstGeom>
          <a:noFill/>
          <a:ln/>
        </p:spPr>
        <p:txBody>
          <a:bodyPr wrap="square" rtlCol="0" anchor="ctr"/>
          <a:lstStyle/>
          <a:p>
            <a:pPr marL="0" indent="0">
              <a:buNone/>
            </a:pPr>
            <a:r>
              <a:rPr lang="en-US" sz="1300" dirty="0">
                <a:solidFill>
                  <a:srgbClr val="FF4444"/>
                </a:solidFill>
                <a:latin typeface="Calibri" pitchFamily="34" charset="0"/>
                <a:ea typeface="Calibri" pitchFamily="34" charset="-122"/>
                <a:cs typeface="Calibri" pitchFamily="34" charset="-120"/>
              </a:rPr>
              <a:t>−49% to −36% vs CMP</a:t>
            </a:r>
            <a:endParaRPr lang="en-US" sz="1300" dirty="0"/>
          </a:p>
        </p:txBody>
      </p:sp>
      <p:sp>
        <p:nvSpPr>
          <p:cNvPr id="11" name="Shape 9"/>
          <p:cNvSpPr/>
          <p:nvPr/>
        </p:nvSpPr>
        <p:spPr>
          <a:xfrm>
            <a:off x="393192" y="3063240"/>
            <a:ext cx="3383280" cy="36576"/>
          </a:xfrm>
          <a:prstGeom prst="rect">
            <a:avLst/>
          </a:prstGeom>
          <a:solidFill>
            <a:srgbClr val="333355"/>
          </a:solidFill>
          <a:ln w="12700">
            <a:solidFill>
              <a:srgbClr val="333355"/>
            </a:solidFill>
            <a:prstDash val="solid"/>
          </a:ln>
        </p:spPr>
      </p:sp>
      <p:sp>
        <p:nvSpPr>
          <p:cNvPr id="12" name="Text 10"/>
          <p:cNvSpPr/>
          <p:nvPr/>
        </p:nvSpPr>
        <p:spPr>
          <a:xfrm>
            <a:off x="393192" y="3127248"/>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2026E Rev</a:t>
            </a:r>
            <a:endParaRPr lang="en-US" sz="1050" dirty="0"/>
          </a:p>
        </p:txBody>
      </p:sp>
      <p:sp>
        <p:nvSpPr>
          <p:cNvPr id="13" name="Text 11"/>
          <p:cNvSpPr/>
          <p:nvPr/>
        </p:nvSpPr>
        <p:spPr>
          <a:xfrm>
            <a:off x="2176272" y="3127248"/>
            <a:ext cx="1828800" cy="256032"/>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$3.8–4.0B</a:t>
            </a:r>
            <a:endParaRPr lang="en-US" sz="1050" dirty="0"/>
          </a:p>
        </p:txBody>
      </p:sp>
      <p:sp>
        <p:nvSpPr>
          <p:cNvPr id="14" name="Text 12"/>
          <p:cNvSpPr/>
          <p:nvPr/>
        </p:nvSpPr>
        <p:spPr>
          <a:xfrm>
            <a:off x="393192" y="3383280"/>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Implied Multiple</a:t>
            </a:r>
            <a:endParaRPr lang="en-US" sz="1050" dirty="0"/>
          </a:p>
        </p:txBody>
      </p:sp>
      <p:sp>
        <p:nvSpPr>
          <p:cNvPr id="15" name="Text 13"/>
          <p:cNvSpPr/>
          <p:nvPr/>
        </p:nvSpPr>
        <p:spPr>
          <a:xfrm>
            <a:off x="2176272" y="3383280"/>
            <a:ext cx="1828800" cy="256032"/>
          </a:xfrm>
          <a:prstGeom prst="rect">
            <a:avLst/>
          </a:prstGeom>
          <a:noFill/>
          <a:ln/>
        </p:spPr>
        <p:txBody>
          <a:bodyPr wrap="square" rtlCol="0" anchor="ctr"/>
          <a:lstStyle/>
          <a:p>
            <a:pPr marL="0" indent="0" algn="r">
              <a:buNone/>
            </a:pPr>
            <a:r>
              <a:rPr lang="en-US" sz="1000" b="1" dirty="0">
                <a:solidFill>
                  <a:srgbClr val="FF4444"/>
                </a:solidFill>
                <a:latin typeface="Calibri" pitchFamily="34" charset="0"/>
                <a:ea typeface="Calibri" pitchFamily="34" charset="-122"/>
                <a:cs typeface="Calibri" pitchFamily="34" charset="-120"/>
              </a:rPr>
              <a:t>1.8–2.2x Fwd Rev</a:t>
            </a:r>
            <a:endParaRPr lang="en-US" sz="1000" dirty="0"/>
          </a:p>
        </p:txBody>
      </p:sp>
      <p:sp>
        <p:nvSpPr>
          <p:cNvPr id="16" name="Text 14"/>
          <p:cNvSpPr/>
          <p:nvPr/>
        </p:nvSpPr>
        <p:spPr>
          <a:xfrm>
            <a:off x="393192" y="3703320"/>
            <a:ext cx="3566160" cy="256032"/>
          </a:xfrm>
          <a:prstGeom prst="rect">
            <a:avLst/>
          </a:prstGeom>
          <a:noFill/>
          <a:ln/>
        </p:spPr>
        <p:txBody>
          <a:bodyPr wrap="square" rtlCol="0" anchor="ctr"/>
          <a:lstStyle/>
          <a:p>
            <a:pPr marL="0" indent="0">
              <a:buNone/>
            </a:pPr>
            <a:r>
              <a:rPr lang="en-US" sz="1050" b="1" dirty="0">
                <a:solidFill>
                  <a:srgbClr val="FF4444"/>
                </a:solidFill>
                <a:latin typeface="Calibri" pitchFamily="34" charset="0"/>
                <a:ea typeface="Calibri" pitchFamily="34" charset="-122"/>
                <a:cs typeface="Calibri" pitchFamily="34" charset="-120"/>
              </a:rPr>
              <a:t>Key triggers</a:t>
            </a:r>
            <a:endParaRPr lang="en-US" sz="1050" dirty="0"/>
          </a:p>
        </p:txBody>
      </p:sp>
      <p:sp>
        <p:nvSpPr>
          <p:cNvPr id="17" name="Text 15"/>
          <p:cNvSpPr/>
          <p:nvPr/>
        </p:nvSpPr>
        <p:spPr>
          <a:xfrm>
            <a:off x="393192" y="395020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Muddy Waters allegations validated by SEC/auditor review</a:t>
            </a:r>
            <a:endParaRPr lang="en-US" sz="950" dirty="0"/>
          </a:p>
        </p:txBody>
      </p:sp>
      <p:sp>
        <p:nvSpPr>
          <p:cNvPr id="18" name="Text 16"/>
          <p:cNvSpPr/>
          <p:nvPr/>
        </p:nvSpPr>
        <p:spPr>
          <a:xfrm>
            <a:off x="393192" y="4297680"/>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EBITDA restatement of ~$1B triggers capital ratio breach</a:t>
            </a:r>
            <a:endParaRPr lang="en-US" sz="950" dirty="0"/>
          </a:p>
        </p:txBody>
      </p:sp>
      <p:sp>
        <p:nvSpPr>
          <p:cNvPr id="19" name="Text 17"/>
          <p:cNvSpPr/>
          <p:nvPr/>
        </p:nvSpPr>
        <p:spPr>
          <a:xfrm>
            <a:off x="393192" y="4645152"/>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Macro recession; charge-offs rise above 5% personal loans</a:t>
            </a:r>
            <a:endParaRPr lang="en-US" sz="950" dirty="0"/>
          </a:p>
        </p:txBody>
      </p:sp>
      <p:sp>
        <p:nvSpPr>
          <p:cNvPr id="20" name="Text 18"/>
          <p:cNvSpPr/>
          <p:nvPr/>
        </p:nvSpPr>
        <p:spPr>
          <a:xfrm>
            <a:off x="393192" y="4992624"/>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Technology Platform continues declining; no new Galileo clients</a:t>
            </a:r>
            <a:endParaRPr lang="en-US" sz="950" dirty="0"/>
          </a:p>
        </p:txBody>
      </p:sp>
      <p:sp>
        <p:nvSpPr>
          <p:cNvPr id="21" name="Text 19"/>
          <p:cNvSpPr/>
          <p:nvPr/>
        </p:nvSpPr>
        <p:spPr>
          <a:xfrm>
            <a:off x="393192" y="5340096"/>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Fed raises rates again; NIM benefit reverses on deposit repricing</a:t>
            </a:r>
            <a:endParaRPr lang="en-US" sz="950" dirty="0"/>
          </a:p>
        </p:txBody>
      </p:sp>
      <p:sp>
        <p:nvSpPr>
          <p:cNvPr id="22" name="Text 20"/>
          <p:cNvSpPr/>
          <p:nvPr/>
        </p:nvSpPr>
        <p:spPr>
          <a:xfrm>
            <a:off x="393192" y="568756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Bank charter regulators impose growth restrictions</a:t>
            </a:r>
            <a:endParaRPr lang="en-US" sz="950" dirty="0"/>
          </a:p>
        </p:txBody>
      </p:sp>
      <p:sp>
        <p:nvSpPr>
          <p:cNvPr id="23" name="Shape 21"/>
          <p:cNvSpPr/>
          <p:nvPr/>
        </p:nvSpPr>
        <p:spPr>
          <a:xfrm>
            <a:off x="4261104" y="1170432"/>
            <a:ext cx="3840480" cy="475488"/>
          </a:xfrm>
          <a:prstGeom prst="rect">
            <a:avLst/>
          </a:prstGeom>
          <a:solidFill>
            <a:srgbClr val="007A7A"/>
          </a:solidFill>
          <a:ln w="12700">
            <a:solidFill>
              <a:srgbClr val="007A7A"/>
            </a:solidFill>
            <a:prstDash val="solid"/>
          </a:ln>
        </p:spPr>
      </p:sp>
      <p:sp>
        <p:nvSpPr>
          <p:cNvPr id="24" name="Text 22"/>
          <p:cNvSpPr/>
          <p:nvPr/>
        </p:nvSpPr>
        <p:spPr>
          <a:xfrm>
            <a:off x="4398264"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BASE CASE</a:t>
            </a:r>
            <a:endParaRPr lang="en-US" sz="1800" dirty="0"/>
          </a:p>
        </p:txBody>
      </p:sp>
      <p:sp>
        <p:nvSpPr>
          <p:cNvPr id="25" name="Shape 23"/>
          <p:cNvSpPr/>
          <p:nvPr/>
        </p:nvSpPr>
        <p:spPr>
          <a:xfrm>
            <a:off x="4261104" y="1645920"/>
            <a:ext cx="3840480" cy="4572000"/>
          </a:xfrm>
          <a:prstGeom prst="rect">
            <a:avLst/>
          </a:prstGeom>
          <a:solidFill>
            <a:srgbClr val="031818"/>
          </a:solidFill>
          <a:ln w="12700">
            <a:solidFill>
              <a:srgbClr val="031818"/>
            </a:solidFill>
            <a:prstDash val="solid"/>
          </a:ln>
        </p:spPr>
      </p:sp>
      <p:sp>
        <p:nvSpPr>
          <p:cNvPr id="26" name="Text 24"/>
          <p:cNvSpPr/>
          <p:nvPr/>
        </p:nvSpPr>
        <p:spPr>
          <a:xfrm>
            <a:off x="4398264" y="1719072"/>
            <a:ext cx="3566160" cy="256032"/>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12-Month Target</a:t>
            </a:r>
            <a:endParaRPr lang="en-US" sz="1100" dirty="0"/>
          </a:p>
        </p:txBody>
      </p:sp>
      <p:sp>
        <p:nvSpPr>
          <p:cNvPr id="27" name="Text 25"/>
          <p:cNvSpPr/>
          <p:nvPr/>
        </p:nvSpPr>
        <p:spPr>
          <a:xfrm>
            <a:off x="4398264" y="1938528"/>
            <a:ext cx="3566160" cy="804672"/>
          </a:xfrm>
          <a:prstGeom prst="rect">
            <a:avLst/>
          </a:prstGeom>
          <a:noFill/>
          <a:ln/>
        </p:spPr>
        <p:txBody>
          <a:bodyPr wrap="square" rtlCol="0" anchor="ctr"/>
          <a:lstStyle/>
          <a:p>
            <a:pPr marL="0" indent="0">
              <a:buNone/>
            </a:pPr>
            <a:r>
              <a:rPr lang="en-US" sz="3800" b="1" dirty="0">
                <a:solidFill>
                  <a:srgbClr val="007A7A"/>
                </a:solidFill>
                <a:latin typeface="Calibri" pitchFamily="34" charset="0"/>
                <a:ea typeface="Calibri" pitchFamily="34" charset="-122"/>
                <a:cs typeface="Calibri" pitchFamily="34" charset="-120"/>
              </a:rPr>
              <a:t>$20–25</a:t>
            </a:r>
            <a:endParaRPr lang="en-US" sz="3800" dirty="0"/>
          </a:p>
        </p:txBody>
      </p:sp>
      <p:sp>
        <p:nvSpPr>
          <p:cNvPr id="28" name="Text 26"/>
          <p:cNvSpPr/>
          <p:nvPr/>
        </p:nvSpPr>
        <p:spPr>
          <a:xfrm>
            <a:off x="4398264" y="2743200"/>
            <a:ext cx="3566160" cy="274320"/>
          </a:xfrm>
          <a:prstGeom prst="rect">
            <a:avLst/>
          </a:prstGeom>
          <a:noFill/>
          <a:ln/>
        </p:spPr>
        <p:txBody>
          <a:bodyPr wrap="square" rtlCol="0" anchor="ctr"/>
          <a:lstStyle/>
          <a:p>
            <a:pPr marL="0" indent="0">
              <a:buNone/>
            </a:pPr>
            <a:r>
              <a:rPr lang="en-US" sz="1300" dirty="0">
                <a:solidFill>
                  <a:srgbClr val="00C8C8"/>
                </a:solidFill>
                <a:latin typeface="Calibri" pitchFamily="34" charset="0"/>
                <a:ea typeface="Calibri" pitchFamily="34" charset="-122"/>
                <a:cs typeface="Calibri" pitchFamily="34" charset="-120"/>
              </a:rPr>
              <a:t>+28% to +60% vs CMP</a:t>
            </a:r>
            <a:endParaRPr lang="en-US" sz="1300" dirty="0"/>
          </a:p>
        </p:txBody>
      </p:sp>
      <p:sp>
        <p:nvSpPr>
          <p:cNvPr id="29" name="Shape 27"/>
          <p:cNvSpPr/>
          <p:nvPr/>
        </p:nvSpPr>
        <p:spPr>
          <a:xfrm>
            <a:off x="4398264" y="3063240"/>
            <a:ext cx="3383280" cy="36576"/>
          </a:xfrm>
          <a:prstGeom prst="rect">
            <a:avLst/>
          </a:prstGeom>
          <a:solidFill>
            <a:srgbClr val="333355"/>
          </a:solidFill>
          <a:ln w="12700">
            <a:solidFill>
              <a:srgbClr val="333355"/>
            </a:solidFill>
            <a:prstDash val="solid"/>
          </a:ln>
        </p:spPr>
      </p:sp>
      <p:sp>
        <p:nvSpPr>
          <p:cNvPr id="30" name="Text 28"/>
          <p:cNvSpPr/>
          <p:nvPr/>
        </p:nvSpPr>
        <p:spPr>
          <a:xfrm>
            <a:off x="4398264" y="3127248"/>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2026E Rev</a:t>
            </a:r>
            <a:endParaRPr lang="en-US" sz="1050" dirty="0"/>
          </a:p>
        </p:txBody>
      </p:sp>
      <p:sp>
        <p:nvSpPr>
          <p:cNvPr id="31" name="Text 29"/>
          <p:cNvSpPr/>
          <p:nvPr/>
        </p:nvSpPr>
        <p:spPr>
          <a:xfrm>
            <a:off x="6181344" y="3127248"/>
            <a:ext cx="1828800" cy="256032"/>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$4.655B</a:t>
            </a:r>
            <a:endParaRPr lang="en-US" sz="1050" dirty="0"/>
          </a:p>
        </p:txBody>
      </p:sp>
      <p:sp>
        <p:nvSpPr>
          <p:cNvPr id="32" name="Text 30"/>
          <p:cNvSpPr/>
          <p:nvPr/>
        </p:nvSpPr>
        <p:spPr>
          <a:xfrm>
            <a:off x="4398264" y="3383280"/>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Implied Multiple</a:t>
            </a:r>
            <a:endParaRPr lang="en-US" sz="1050" dirty="0"/>
          </a:p>
        </p:txBody>
      </p:sp>
      <p:sp>
        <p:nvSpPr>
          <p:cNvPr id="33" name="Text 31"/>
          <p:cNvSpPr/>
          <p:nvPr/>
        </p:nvSpPr>
        <p:spPr>
          <a:xfrm>
            <a:off x="6181344" y="3383280"/>
            <a:ext cx="1828800" cy="256032"/>
          </a:xfrm>
          <a:prstGeom prst="rect">
            <a:avLst/>
          </a:prstGeom>
          <a:noFill/>
          <a:ln/>
        </p:spPr>
        <p:txBody>
          <a:bodyPr wrap="square" rtlCol="0" anchor="ctr"/>
          <a:lstStyle/>
          <a:p>
            <a:pPr marL="0" indent="0" algn="r">
              <a:buNone/>
            </a:pPr>
            <a:r>
              <a:rPr lang="en-US" sz="1000" b="1" dirty="0">
                <a:solidFill>
                  <a:srgbClr val="00C8C8"/>
                </a:solidFill>
                <a:latin typeface="Calibri" pitchFamily="34" charset="0"/>
                <a:ea typeface="Calibri" pitchFamily="34" charset="-122"/>
                <a:cs typeface="Calibri" pitchFamily="34" charset="-120"/>
              </a:rPr>
              <a:t>4–5x Fwd Rev</a:t>
            </a:r>
            <a:endParaRPr lang="en-US" sz="1000" dirty="0"/>
          </a:p>
        </p:txBody>
      </p:sp>
      <p:sp>
        <p:nvSpPr>
          <p:cNvPr id="34" name="Text 32"/>
          <p:cNvSpPr/>
          <p:nvPr/>
        </p:nvSpPr>
        <p:spPr>
          <a:xfrm>
            <a:off x="4398264" y="3703320"/>
            <a:ext cx="3566160" cy="256032"/>
          </a:xfrm>
          <a:prstGeom prst="rect">
            <a:avLst/>
          </a:prstGeom>
          <a:noFill/>
          <a:ln/>
        </p:spPr>
        <p:txBody>
          <a:bodyPr wrap="square" rtlCol="0" anchor="ctr"/>
          <a:lstStyle/>
          <a:p>
            <a:pPr marL="0" indent="0">
              <a:buNone/>
            </a:pPr>
            <a:r>
              <a:rPr lang="en-US" sz="1050" b="1" dirty="0">
                <a:solidFill>
                  <a:srgbClr val="00C8C8"/>
                </a:solidFill>
                <a:latin typeface="Calibri" pitchFamily="34" charset="0"/>
                <a:ea typeface="Calibri" pitchFamily="34" charset="-122"/>
                <a:cs typeface="Calibri" pitchFamily="34" charset="-120"/>
              </a:rPr>
              <a:t>Key triggers</a:t>
            </a:r>
            <a:endParaRPr lang="en-US" sz="1050" dirty="0"/>
          </a:p>
        </p:txBody>
      </p:sp>
      <p:sp>
        <p:nvSpPr>
          <p:cNvPr id="35" name="Text 33"/>
          <p:cNvSpPr/>
          <p:nvPr/>
        </p:nvSpPr>
        <p:spPr>
          <a:xfrm>
            <a:off x="4398264" y="395020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FY2026 revenue guidance $4.655B achieved</a:t>
            </a:r>
            <a:endParaRPr lang="en-US" sz="950" dirty="0"/>
          </a:p>
        </p:txBody>
      </p:sp>
      <p:sp>
        <p:nvSpPr>
          <p:cNvPr id="36" name="Text 34"/>
          <p:cNvSpPr/>
          <p:nvPr/>
        </p:nvSpPr>
        <p:spPr>
          <a:xfrm>
            <a:off x="4398264" y="4297680"/>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GAAP net income ~$825M; EPS ~$0.55</a:t>
            </a:r>
            <a:endParaRPr lang="en-US" sz="950" dirty="0"/>
          </a:p>
        </p:txBody>
      </p:sp>
      <p:sp>
        <p:nvSpPr>
          <p:cNvPr id="37" name="Text 35"/>
          <p:cNvSpPr/>
          <p:nvPr/>
        </p:nvSpPr>
        <p:spPr>
          <a:xfrm>
            <a:off x="4398264" y="4645152"/>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Muddy Waters allegations dismissed after review</a:t>
            </a:r>
            <a:endParaRPr lang="en-US" sz="950" dirty="0"/>
          </a:p>
        </p:txBody>
      </p:sp>
      <p:sp>
        <p:nvSpPr>
          <p:cNvPr id="38" name="Text 36"/>
          <p:cNvSpPr/>
          <p:nvPr/>
        </p:nvSpPr>
        <p:spPr>
          <a:xfrm>
            <a:off x="4398264" y="4992624"/>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Galileo re-accelerates to 15%+ B2B account growth</a:t>
            </a:r>
            <a:endParaRPr lang="en-US" sz="950" dirty="0"/>
          </a:p>
        </p:txBody>
      </p:sp>
      <p:sp>
        <p:nvSpPr>
          <p:cNvPr id="39" name="Text 37"/>
          <p:cNvSpPr/>
          <p:nvPr/>
        </p:nvSpPr>
        <p:spPr>
          <a:xfrm>
            <a:off x="4398264" y="5340096"/>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Cross-buy: products/member reaches 1.75+ by end 2026</a:t>
            </a:r>
            <a:endParaRPr lang="en-US" sz="950" dirty="0"/>
          </a:p>
        </p:txBody>
      </p:sp>
      <p:sp>
        <p:nvSpPr>
          <p:cNvPr id="40" name="Text 38"/>
          <p:cNvSpPr/>
          <p:nvPr/>
        </p:nvSpPr>
        <p:spPr>
          <a:xfrm>
            <a:off x="4398264" y="568756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Macro holds; personal loan charge-offs stay below 4%</a:t>
            </a:r>
            <a:endParaRPr lang="en-US" sz="950" dirty="0"/>
          </a:p>
        </p:txBody>
      </p:sp>
      <p:sp>
        <p:nvSpPr>
          <p:cNvPr id="41" name="Shape 39"/>
          <p:cNvSpPr/>
          <p:nvPr/>
        </p:nvSpPr>
        <p:spPr>
          <a:xfrm>
            <a:off x="8266176" y="1170432"/>
            <a:ext cx="3840480" cy="475488"/>
          </a:xfrm>
          <a:prstGeom prst="rect">
            <a:avLst/>
          </a:prstGeom>
          <a:solidFill>
            <a:srgbClr val="15803D"/>
          </a:solidFill>
          <a:ln w="12700">
            <a:solidFill>
              <a:srgbClr val="15803D"/>
            </a:solidFill>
            <a:prstDash val="solid"/>
          </a:ln>
        </p:spPr>
      </p:sp>
      <p:sp>
        <p:nvSpPr>
          <p:cNvPr id="42" name="Text 40"/>
          <p:cNvSpPr/>
          <p:nvPr/>
        </p:nvSpPr>
        <p:spPr>
          <a:xfrm>
            <a:off x="8403336" y="1170432"/>
            <a:ext cx="3657600" cy="475488"/>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  BULL CASE</a:t>
            </a:r>
            <a:endParaRPr lang="en-US" sz="1800" dirty="0"/>
          </a:p>
        </p:txBody>
      </p:sp>
      <p:sp>
        <p:nvSpPr>
          <p:cNvPr id="43" name="Shape 41"/>
          <p:cNvSpPr/>
          <p:nvPr/>
        </p:nvSpPr>
        <p:spPr>
          <a:xfrm>
            <a:off x="8266176" y="1645920"/>
            <a:ext cx="3840480" cy="4572000"/>
          </a:xfrm>
          <a:prstGeom prst="rect">
            <a:avLst/>
          </a:prstGeom>
          <a:solidFill>
            <a:srgbClr val="021A08"/>
          </a:solidFill>
          <a:ln w="12700">
            <a:solidFill>
              <a:srgbClr val="021A08"/>
            </a:solidFill>
            <a:prstDash val="solid"/>
          </a:ln>
        </p:spPr>
      </p:sp>
      <p:sp>
        <p:nvSpPr>
          <p:cNvPr id="44" name="Text 42"/>
          <p:cNvSpPr/>
          <p:nvPr/>
        </p:nvSpPr>
        <p:spPr>
          <a:xfrm>
            <a:off x="8403336" y="1719072"/>
            <a:ext cx="3566160" cy="256032"/>
          </a:xfrm>
          <a:prstGeom prst="rect">
            <a:avLst/>
          </a:prstGeom>
          <a:noFill/>
          <a:ln/>
        </p:spPr>
        <p:txBody>
          <a:bodyPr wrap="square" rtlCol="0" anchor="ctr"/>
          <a:lstStyle/>
          <a:p>
            <a:pPr marL="0" indent="0">
              <a:buNone/>
            </a:pPr>
            <a:r>
              <a:rPr lang="en-US" sz="1100" dirty="0">
                <a:solidFill>
                  <a:srgbClr val="8899BB"/>
                </a:solidFill>
                <a:latin typeface="Calibri" pitchFamily="34" charset="0"/>
                <a:ea typeface="Calibri" pitchFamily="34" charset="-122"/>
                <a:cs typeface="Calibri" pitchFamily="34" charset="-120"/>
              </a:rPr>
              <a:t>12-Month Target</a:t>
            </a:r>
            <a:endParaRPr lang="en-US" sz="1100" dirty="0"/>
          </a:p>
        </p:txBody>
      </p:sp>
      <p:sp>
        <p:nvSpPr>
          <p:cNvPr id="45" name="Text 43"/>
          <p:cNvSpPr/>
          <p:nvPr/>
        </p:nvSpPr>
        <p:spPr>
          <a:xfrm>
            <a:off x="8403336" y="1938528"/>
            <a:ext cx="3566160" cy="804672"/>
          </a:xfrm>
          <a:prstGeom prst="rect">
            <a:avLst/>
          </a:prstGeom>
          <a:noFill/>
          <a:ln/>
        </p:spPr>
        <p:txBody>
          <a:bodyPr wrap="square" rtlCol="0" anchor="ctr"/>
          <a:lstStyle/>
          <a:p>
            <a:pPr marL="0" indent="0">
              <a:buNone/>
            </a:pPr>
            <a:r>
              <a:rPr lang="en-US" sz="3800" b="1" dirty="0">
                <a:solidFill>
                  <a:srgbClr val="15803D"/>
                </a:solidFill>
                <a:latin typeface="Calibri" pitchFamily="34" charset="0"/>
                <a:ea typeface="Calibri" pitchFamily="34" charset="-122"/>
                <a:cs typeface="Calibri" pitchFamily="34" charset="-120"/>
              </a:rPr>
              <a:t>$32–40</a:t>
            </a:r>
            <a:endParaRPr lang="en-US" sz="3800" dirty="0"/>
          </a:p>
        </p:txBody>
      </p:sp>
      <p:sp>
        <p:nvSpPr>
          <p:cNvPr id="46" name="Text 44"/>
          <p:cNvSpPr/>
          <p:nvPr/>
        </p:nvSpPr>
        <p:spPr>
          <a:xfrm>
            <a:off x="8403336" y="2743200"/>
            <a:ext cx="3566160" cy="274320"/>
          </a:xfrm>
          <a:prstGeom prst="rect">
            <a:avLst/>
          </a:prstGeom>
          <a:noFill/>
          <a:ln/>
        </p:spPr>
        <p:txBody>
          <a:bodyPr wrap="square" rtlCol="0" anchor="ctr"/>
          <a:lstStyle/>
          <a:p>
            <a:pPr marL="0" indent="0">
              <a:buNone/>
            </a:pPr>
            <a:r>
              <a:rPr lang="en-US" sz="1300" dirty="0">
                <a:solidFill>
                  <a:srgbClr val="00D68F"/>
                </a:solidFill>
                <a:latin typeface="Calibri" pitchFamily="34" charset="0"/>
                <a:ea typeface="Calibri" pitchFamily="34" charset="-122"/>
                <a:cs typeface="Calibri" pitchFamily="34" charset="-120"/>
              </a:rPr>
              <a:t>+104% to +155% vs CMP</a:t>
            </a:r>
            <a:endParaRPr lang="en-US" sz="1300" dirty="0"/>
          </a:p>
        </p:txBody>
      </p:sp>
      <p:sp>
        <p:nvSpPr>
          <p:cNvPr id="47" name="Shape 45"/>
          <p:cNvSpPr/>
          <p:nvPr/>
        </p:nvSpPr>
        <p:spPr>
          <a:xfrm>
            <a:off x="8403336" y="3063240"/>
            <a:ext cx="3383280" cy="36576"/>
          </a:xfrm>
          <a:prstGeom prst="rect">
            <a:avLst/>
          </a:prstGeom>
          <a:solidFill>
            <a:srgbClr val="333355"/>
          </a:solidFill>
          <a:ln w="12700">
            <a:solidFill>
              <a:srgbClr val="333355"/>
            </a:solidFill>
            <a:prstDash val="solid"/>
          </a:ln>
        </p:spPr>
      </p:sp>
      <p:sp>
        <p:nvSpPr>
          <p:cNvPr id="48" name="Text 46"/>
          <p:cNvSpPr/>
          <p:nvPr/>
        </p:nvSpPr>
        <p:spPr>
          <a:xfrm>
            <a:off x="8403336" y="3127248"/>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2026E Rev</a:t>
            </a:r>
            <a:endParaRPr lang="en-US" sz="1050" dirty="0"/>
          </a:p>
        </p:txBody>
      </p:sp>
      <p:sp>
        <p:nvSpPr>
          <p:cNvPr id="49" name="Text 47"/>
          <p:cNvSpPr/>
          <p:nvPr/>
        </p:nvSpPr>
        <p:spPr>
          <a:xfrm>
            <a:off x="10186416" y="3127248"/>
            <a:ext cx="1828800" cy="256032"/>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$5.0–5.5B</a:t>
            </a:r>
            <a:endParaRPr lang="en-US" sz="1050" dirty="0"/>
          </a:p>
        </p:txBody>
      </p:sp>
      <p:sp>
        <p:nvSpPr>
          <p:cNvPr id="50" name="Text 48"/>
          <p:cNvSpPr/>
          <p:nvPr/>
        </p:nvSpPr>
        <p:spPr>
          <a:xfrm>
            <a:off x="8403336" y="3383280"/>
            <a:ext cx="1645920" cy="256032"/>
          </a:xfrm>
          <a:prstGeom prst="rect">
            <a:avLst/>
          </a:prstGeom>
          <a:noFill/>
          <a:ln/>
        </p:spPr>
        <p:txBody>
          <a:bodyPr wrap="square" rtlCol="0" anchor="ctr"/>
          <a:lstStyle/>
          <a:p>
            <a:pPr marL="0" indent="0">
              <a:buNone/>
            </a:pPr>
            <a:r>
              <a:rPr lang="en-US" sz="1050" dirty="0">
                <a:solidFill>
                  <a:srgbClr val="8899BB"/>
                </a:solidFill>
                <a:latin typeface="Calibri" pitchFamily="34" charset="0"/>
                <a:ea typeface="Calibri" pitchFamily="34" charset="-122"/>
                <a:cs typeface="Calibri" pitchFamily="34" charset="-120"/>
              </a:rPr>
              <a:t>Implied Multiple</a:t>
            </a:r>
            <a:endParaRPr lang="en-US" sz="1050" dirty="0"/>
          </a:p>
        </p:txBody>
      </p:sp>
      <p:sp>
        <p:nvSpPr>
          <p:cNvPr id="51" name="Text 49"/>
          <p:cNvSpPr/>
          <p:nvPr/>
        </p:nvSpPr>
        <p:spPr>
          <a:xfrm>
            <a:off x="10186416" y="3383280"/>
            <a:ext cx="1828800" cy="256032"/>
          </a:xfrm>
          <a:prstGeom prst="rect">
            <a:avLst/>
          </a:prstGeom>
          <a:noFill/>
          <a:ln/>
        </p:spPr>
        <p:txBody>
          <a:bodyPr wrap="square" rtlCol="0" anchor="ctr"/>
          <a:lstStyle/>
          <a:p>
            <a:pPr marL="0" indent="0" algn="r">
              <a:buNone/>
            </a:pPr>
            <a:r>
              <a:rPr lang="en-US" sz="1000" b="1" dirty="0">
                <a:solidFill>
                  <a:srgbClr val="00D68F"/>
                </a:solidFill>
                <a:latin typeface="Calibri" pitchFamily="34" charset="0"/>
                <a:ea typeface="Calibri" pitchFamily="34" charset="-122"/>
                <a:cs typeface="Calibri" pitchFamily="34" charset="-120"/>
              </a:rPr>
              <a:t>7–9x Fwd Rev</a:t>
            </a:r>
            <a:endParaRPr lang="en-US" sz="1000" dirty="0"/>
          </a:p>
        </p:txBody>
      </p:sp>
      <p:sp>
        <p:nvSpPr>
          <p:cNvPr id="52" name="Text 50"/>
          <p:cNvSpPr/>
          <p:nvPr/>
        </p:nvSpPr>
        <p:spPr>
          <a:xfrm>
            <a:off x="8403336" y="3703320"/>
            <a:ext cx="3566160" cy="256032"/>
          </a:xfrm>
          <a:prstGeom prst="rect">
            <a:avLst/>
          </a:prstGeom>
          <a:noFill/>
          <a:ln/>
        </p:spPr>
        <p:txBody>
          <a:bodyPr wrap="square" rtlCol="0" anchor="ctr"/>
          <a:lstStyle/>
          <a:p>
            <a:pPr marL="0" indent="0">
              <a:buNone/>
            </a:pPr>
            <a:r>
              <a:rPr lang="en-US" sz="1050" b="1" dirty="0">
                <a:solidFill>
                  <a:srgbClr val="00D68F"/>
                </a:solidFill>
                <a:latin typeface="Calibri" pitchFamily="34" charset="0"/>
                <a:ea typeface="Calibri" pitchFamily="34" charset="-122"/>
                <a:cs typeface="Calibri" pitchFamily="34" charset="-120"/>
              </a:rPr>
              <a:t>Key triggers</a:t>
            </a:r>
            <a:endParaRPr lang="en-US" sz="1050" dirty="0"/>
          </a:p>
        </p:txBody>
      </p:sp>
      <p:sp>
        <p:nvSpPr>
          <p:cNvPr id="53" name="Text 51"/>
          <p:cNvSpPr/>
          <p:nvPr/>
        </p:nvSpPr>
        <p:spPr>
          <a:xfrm>
            <a:off x="8403336" y="395020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S&amp;P 500 inclusion — forces passive fund buying of ~800M+ shares</a:t>
            </a:r>
            <a:endParaRPr lang="en-US" sz="950" dirty="0"/>
          </a:p>
        </p:txBody>
      </p:sp>
      <p:sp>
        <p:nvSpPr>
          <p:cNvPr id="54" name="Text 52"/>
          <p:cNvSpPr/>
          <p:nvPr/>
        </p:nvSpPr>
        <p:spPr>
          <a:xfrm>
            <a:off x="8403336" y="4297680"/>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Big Business Banking adds $500M+ revenue by end 2027</a:t>
            </a:r>
            <a:endParaRPr lang="en-US" sz="950" dirty="0"/>
          </a:p>
        </p:txBody>
      </p:sp>
      <p:sp>
        <p:nvSpPr>
          <p:cNvPr id="55" name="Text 53"/>
          <p:cNvSpPr/>
          <p:nvPr/>
        </p:nvSpPr>
        <p:spPr>
          <a:xfrm>
            <a:off x="8403336" y="4645152"/>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Galileo becomes dominant B2B banking OS in 5+ major banks</a:t>
            </a:r>
            <a:endParaRPr lang="en-US" sz="950" dirty="0"/>
          </a:p>
        </p:txBody>
      </p:sp>
      <p:sp>
        <p:nvSpPr>
          <p:cNvPr id="56" name="Text 54"/>
          <p:cNvSpPr/>
          <p:nvPr/>
        </p:nvSpPr>
        <p:spPr>
          <a:xfrm>
            <a:off x="8403336" y="4992624"/>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CEO Noto's software valuation thesis re-rated by Wall Street</a:t>
            </a:r>
            <a:endParaRPr lang="en-US" sz="950" dirty="0"/>
          </a:p>
        </p:txBody>
      </p:sp>
      <p:sp>
        <p:nvSpPr>
          <p:cNvPr id="57" name="Text 55"/>
          <p:cNvSpPr/>
          <p:nvPr/>
        </p:nvSpPr>
        <p:spPr>
          <a:xfrm>
            <a:off x="8403336" y="5340096"/>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Revenue 2028 target of 30%+ CAGR confirmed; EPS 38-42% CAGR</a:t>
            </a:r>
            <a:endParaRPr lang="en-US" sz="950" dirty="0"/>
          </a:p>
        </p:txBody>
      </p:sp>
      <p:sp>
        <p:nvSpPr>
          <p:cNvPr id="58" name="Text 56"/>
          <p:cNvSpPr/>
          <p:nvPr/>
        </p:nvSpPr>
        <p:spPr>
          <a:xfrm>
            <a:off x="8403336" y="5687568"/>
            <a:ext cx="356616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Digital assets / stablecoin partnership creates new TAM</a:t>
            </a:r>
            <a:endParaRPr lang="en-US" sz="950" dirty="0"/>
          </a:p>
        </p:txBody>
      </p:sp>
      <p:sp>
        <p:nvSpPr>
          <p:cNvPr id="59" name="Text 57"/>
          <p:cNvSpPr/>
          <p:nvPr/>
        </p:nvSpPr>
        <p:spPr>
          <a:xfrm>
            <a:off x="256032" y="6565392"/>
            <a:ext cx="11704320" cy="237744"/>
          </a:xfrm>
          <a:prstGeom prst="rect">
            <a:avLst/>
          </a:prstGeom>
          <a:noFill/>
          <a:ln/>
        </p:spPr>
        <p:txBody>
          <a:bodyPr wrap="square" rtlCol="0" anchor="ctr"/>
          <a:lstStyle/>
          <a:p>
            <a:pPr marL="0" indent="0">
              <a:buNone/>
            </a:pPr>
            <a:r>
              <a:rPr lang="en-US" sz="850" i="1" dirty="0">
                <a:solidFill>
                  <a:srgbClr val="8899BB"/>
                </a:solidFill>
                <a:latin typeface="Calibri" pitchFamily="34" charset="0"/>
                <a:ea typeface="Calibri" pitchFamily="34" charset="-122"/>
                <a:cs typeface="Calibri" pitchFamily="34" charset="-120"/>
              </a:rPr>
              <a:t>Analyst consensus (mixed): Avg 12m target ~$21  ·  High: $31  ·  Low: $12  ·  TD Cowen HOLD $17  ·  BofA Underperform $18  ·  KBW Underperform $17  ·  Mizuho Buy $31. Not investment advice.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10B: VALUATION FRAMEWORK &amp; PEER COMPARISON</a:t>
            </a:r>
            <a:endParaRPr lang="en-US" sz="2200" dirty="0"/>
          </a:p>
        </p:txBody>
      </p:sp>
      <p:sp>
        <p:nvSpPr>
          <p:cNvPr id="5" name="Text 3"/>
          <p:cNvSpPr/>
          <p:nvPr/>
        </p:nvSpPr>
        <p:spPr>
          <a:xfrm>
            <a:off x="201168" y="731520"/>
            <a:ext cx="11612880" cy="256032"/>
          </a:xfrm>
          <a:prstGeom prst="rect">
            <a:avLst/>
          </a:prstGeom>
          <a:noFill/>
          <a:ln/>
        </p:spPr>
        <p:txBody>
          <a:bodyPr wrap="square" rtlCol="0" anchor="ctr"/>
          <a:lstStyle/>
          <a:p>
            <a:pPr marL="0" indent="0">
              <a:buNone/>
            </a:pPr>
            <a:r>
              <a:rPr lang="en-US" sz="1200" dirty="0">
                <a:solidFill>
                  <a:srgbClr val="002060"/>
                </a:solidFill>
                <a:latin typeface="Calibri" pitchFamily="34" charset="0"/>
                <a:ea typeface="Calibri" pitchFamily="34" charset="-122"/>
                <a:cs typeface="Calibri" pitchFamily="34" charset="-120"/>
              </a:rPr>
              <a:t>Bank valuation vs software valuation — the central debate that determines the stock's future</a:t>
            </a:r>
            <a:endParaRPr lang="en-US" sz="1200" dirty="0">
              <a:solidFill>
                <a:srgbClr val="002060"/>
              </a:solidFill>
            </a:endParaRPr>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166" name="Group 165">
            <a:extLst>
              <a:ext uri="{FF2B5EF4-FFF2-40B4-BE49-F238E27FC236}">
                <a16:creationId xmlns:a16="http://schemas.microsoft.com/office/drawing/2014/main" id="{8F185B37-2C28-CAE4-7A04-8004C1EBBE9A}"/>
              </a:ext>
            </a:extLst>
          </p:cNvPr>
          <p:cNvGrpSpPr/>
          <p:nvPr/>
        </p:nvGrpSpPr>
        <p:grpSpPr>
          <a:xfrm>
            <a:off x="256032" y="969264"/>
            <a:ext cx="11795760" cy="1280160"/>
            <a:chOff x="282778" y="969264"/>
            <a:chExt cx="11795760" cy="1280160"/>
          </a:xfrm>
        </p:grpSpPr>
        <p:sp>
          <p:nvSpPr>
            <p:cNvPr id="7" name="Shape 5"/>
            <p:cNvSpPr/>
            <p:nvPr/>
          </p:nvSpPr>
          <p:spPr>
            <a:xfrm>
              <a:off x="282778" y="969264"/>
              <a:ext cx="1828800" cy="1280160"/>
            </a:xfrm>
            <a:prstGeom prst="rect">
              <a:avLst/>
            </a:prstGeom>
            <a:solidFill>
              <a:srgbClr val="0F2040"/>
            </a:solidFill>
            <a:ln w="12700">
              <a:solidFill>
                <a:srgbClr val="0F2040"/>
              </a:solidFill>
              <a:prstDash val="solid"/>
            </a:ln>
          </p:spPr>
        </p:sp>
        <p:sp>
          <p:nvSpPr>
            <p:cNvPr id="8" name="Shape 6"/>
            <p:cNvSpPr/>
            <p:nvPr/>
          </p:nvSpPr>
          <p:spPr>
            <a:xfrm>
              <a:off x="282778" y="969264"/>
              <a:ext cx="1828800" cy="54864"/>
            </a:xfrm>
            <a:prstGeom prst="rect">
              <a:avLst/>
            </a:prstGeom>
            <a:solidFill>
              <a:srgbClr val="00C8C8"/>
            </a:solidFill>
            <a:ln w="12700">
              <a:solidFill>
                <a:srgbClr val="00C8C8"/>
              </a:solidFill>
              <a:prstDash val="solid"/>
            </a:ln>
          </p:spPr>
        </p:sp>
        <p:sp>
          <p:nvSpPr>
            <p:cNvPr id="9" name="Text 7"/>
            <p:cNvSpPr/>
            <p:nvPr/>
          </p:nvSpPr>
          <p:spPr>
            <a:xfrm>
              <a:off x="392506"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CMP (May 2026)</a:t>
              </a:r>
              <a:endParaRPr lang="en-US" sz="950" dirty="0"/>
            </a:p>
          </p:txBody>
        </p:sp>
        <p:sp>
          <p:nvSpPr>
            <p:cNvPr id="10" name="Text 8"/>
            <p:cNvSpPr/>
            <p:nvPr/>
          </p:nvSpPr>
          <p:spPr>
            <a:xfrm>
              <a:off x="392506" y="1298448"/>
              <a:ext cx="1627632" cy="566928"/>
            </a:xfrm>
            <a:prstGeom prst="rect">
              <a:avLst/>
            </a:prstGeom>
            <a:noFill/>
            <a:ln/>
          </p:spPr>
          <p:txBody>
            <a:bodyPr wrap="square" rtlCol="0" anchor="ctr"/>
            <a:lstStyle/>
            <a:p>
              <a:pPr marL="0" indent="0">
                <a:buNone/>
              </a:pPr>
              <a:r>
                <a:rPr lang="en-US" sz="1700" b="1" dirty="0">
                  <a:solidFill>
                    <a:srgbClr val="00C8C8"/>
                  </a:solidFill>
                  <a:latin typeface="Calibri" pitchFamily="34" charset="0"/>
                  <a:ea typeface="Calibri" pitchFamily="34" charset="-122"/>
                  <a:cs typeface="Calibri" pitchFamily="34" charset="-120"/>
                </a:rPr>
                <a:t>~$15.65</a:t>
              </a:r>
              <a:endParaRPr lang="en-US" sz="1700" dirty="0"/>
            </a:p>
          </p:txBody>
        </p:sp>
        <p:sp>
          <p:nvSpPr>
            <p:cNvPr id="11" name="Text 9"/>
            <p:cNvSpPr/>
            <p:nvPr/>
          </p:nvSpPr>
          <p:spPr>
            <a:xfrm>
              <a:off x="392506"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Range: $12.86–32.73</a:t>
              </a:r>
              <a:endParaRPr lang="en-US" sz="900" dirty="0"/>
            </a:p>
          </p:txBody>
        </p:sp>
        <p:sp>
          <p:nvSpPr>
            <p:cNvPr id="12" name="Shape 10"/>
            <p:cNvSpPr/>
            <p:nvPr/>
          </p:nvSpPr>
          <p:spPr>
            <a:xfrm>
              <a:off x="2276170" y="969264"/>
              <a:ext cx="1828800" cy="1280160"/>
            </a:xfrm>
            <a:prstGeom prst="rect">
              <a:avLst/>
            </a:prstGeom>
            <a:solidFill>
              <a:srgbClr val="0F2040"/>
            </a:solidFill>
            <a:ln w="12700">
              <a:solidFill>
                <a:srgbClr val="0F2040"/>
              </a:solidFill>
              <a:prstDash val="solid"/>
            </a:ln>
          </p:spPr>
        </p:sp>
        <p:sp>
          <p:nvSpPr>
            <p:cNvPr id="13" name="Shape 11"/>
            <p:cNvSpPr/>
            <p:nvPr/>
          </p:nvSpPr>
          <p:spPr>
            <a:xfrm>
              <a:off x="2276170" y="969264"/>
              <a:ext cx="1828800" cy="54864"/>
            </a:xfrm>
            <a:prstGeom prst="rect">
              <a:avLst/>
            </a:prstGeom>
            <a:solidFill>
              <a:srgbClr val="00C8C8"/>
            </a:solidFill>
            <a:ln w="12700">
              <a:solidFill>
                <a:srgbClr val="00C8C8"/>
              </a:solidFill>
              <a:prstDash val="solid"/>
            </a:ln>
          </p:spPr>
        </p:sp>
        <p:sp>
          <p:nvSpPr>
            <p:cNvPr id="14" name="Text 12"/>
            <p:cNvSpPr/>
            <p:nvPr/>
          </p:nvSpPr>
          <p:spPr>
            <a:xfrm>
              <a:off x="2385898"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Market Cap</a:t>
              </a:r>
              <a:endParaRPr lang="en-US" sz="950" dirty="0"/>
            </a:p>
          </p:txBody>
        </p:sp>
        <p:sp>
          <p:nvSpPr>
            <p:cNvPr id="15" name="Text 13"/>
            <p:cNvSpPr/>
            <p:nvPr/>
          </p:nvSpPr>
          <p:spPr>
            <a:xfrm>
              <a:off x="2385898" y="1298448"/>
              <a:ext cx="1627632" cy="566928"/>
            </a:xfrm>
            <a:prstGeom prst="rect">
              <a:avLst/>
            </a:prstGeom>
            <a:noFill/>
            <a:ln/>
          </p:spPr>
          <p:txBody>
            <a:bodyPr wrap="square" rtlCol="0" anchor="ctr"/>
            <a:lstStyle/>
            <a:p>
              <a:pPr marL="0" indent="0">
                <a:buNone/>
              </a:pPr>
              <a:r>
                <a:rPr lang="en-US" sz="2000" b="1" dirty="0">
                  <a:solidFill>
                    <a:srgbClr val="00C8C8"/>
                  </a:solidFill>
                  <a:latin typeface="Calibri" pitchFamily="34" charset="0"/>
                  <a:ea typeface="Calibri" pitchFamily="34" charset="-122"/>
                  <a:cs typeface="Calibri" pitchFamily="34" charset="-120"/>
                </a:rPr>
                <a:t>~$21B</a:t>
              </a:r>
              <a:endParaRPr lang="en-US" sz="2000" dirty="0"/>
            </a:p>
          </p:txBody>
        </p:sp>
        <p:sp>
          <p:nvSpPr>
            <p:cNvPr id="16" name="Text 14"/>
            <p:cNvSpPr/>
            <p:nvPr/>
          </p:nvSpPr>
          <p:spPr>
            <a:xfrm>
              <a:off x="2385898"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~1.34B diluted shares</a:t>
              </a:r>
              <a:endParaRPr lang="en-US" sz="900" dirty="0"/>
            </a:p>
          </p:txBody>
        </p:sp>
        <p:sp>
          <p:nvSpPr>
            <p:cNvPr id="17" name="Shape 15"/>
            <p:cNvSpPr/>
            <p:nvPr/>
          </p:nvSpPr>
          <p:spPr>
            <a:xfrm>
              <a:off x="4269562" y="969264"/>
              <a:ext cx="1828800" cy="1280160"/>
            </a:xfrm>
            <a:prstGeom prst="rect">
              <a:avLst/>
            </a:prstGeom>
            <a:solidFill>
              <a:srgbClr val="0F2040"/>
            </a:solidFill>
            <a:ln w="12700">
              <a:solidFill>
                <a:srgbClr val="0F2040"/>
              </a:solidFill>
              <a:prstDash val="solid"/>
            </a:ln>
          </p:spPr>
        </p:sp>
        <p:sp>
          <p:nvSpPr>
            <p:cNvPr id="18" name="Shape 16"/>
            <p:cNvSpPr/>
            <p:nvPr/>
          </p:nvSpPr>
          <p:spPr>
            <a:xfrm>
              <a:off x="4269562" y="969264"/>
              <a:ext cx="1828800" cy="54864"/>
            </a:xfrm>
            <a:prstGeom prst="rect">
              <a:avLst/>
            </a:prstGeom>
            <a:solidFill>
              <a:srgbClr val="FFB800"/>
            </a:solidFill>
            <a:ln w="12700">
              <a:solidFill>
                <a:srgbClr val="FFB800"/>
              </a:solidFill>
              <a:prstDash val="solid"/>
            </a:ln>
          </p:spPr>
        </p:sp>
        <p:sp>
          <p:nvSpPr>
            <p:cNvPr id="19" name="Text 17"/>
            <p:cNvSpPr/>
            <p:nvPr/>
          </p:nvSpPr>
          <p:spPr>
            <a:xfrm>
              <a:off x="4379290"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Fwd P/Rev (2026E)</a:t>
              </a:r>
              <a:endParaRPr lang="en-US" sz="950" dirty="0"/>
            </a:p>
          </p:txBody>
        </p:sp>
        <p:sp>
          <p:nvSpPr>
            <p:cNvPr id="20" name="Text 18"/>
            <p:cNvSpPr/>
            <p:nvPr/>
          </p:nvSpPr>
          <p:spPr>
            <a:xfrm>
              <a:off x="4379290" y="1298448"/>
              <a:ext cx="1627632" cy="566928"/>
            </a:xfrm>
            <a:prstGeom prst="rect">
              <a:avLst/>
            </a:prstGeom>
            <a:noFill/>
            <a:ln/>
          </p:spPr>
          <p:txBody>
            <a:bodyPr wrap="square" rtlCol="0" anchor="ctr"/>
            <a:lstStyle/>
            <a:p>
              <a:pPr marL="0" indent="0">
                <a:buNone/>
              </a:pPr>
              <a:r>
                <a:rPr lang="en-US" sz="2000" b="1" dirty="0">
                  <a:solidFill>
                    <a:srgbClr val="FFB800"/>
                  </a:solidFill>
                  <a:latin typeface="Calibri" pitchFamily="34" charset="0"/>
                  <a:ea typeface="Calibri" pitchFamily="34" charset="-122"/>
                  <a:cs typeface="Calibri" pitchFamily="34" charset="-120"/>
                </a:rPr>
                <a:t>~4.5x</a:t>
              </a:r>
              <a:endParaRPr lang="en-US" sz="2000" dirty="0"/>
            </a:p>
          </p:txBody>
        </p:sp>
        <p:sp>
          <p:nvSpPr>
            <p:cNvPr id="21" name="Text 19"/>
            <p:cNvSpPr/>
            <p:nvPr/>
          </p:nvSpPr>
          <p:spPr>
            <a:xfrm>
              <a:off x="4379290"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$4.655B guidance</a:t>
              </a:r>
              <a:endParaRPr lang="en-US" sz="900" dirty="0"/>
            </a:p>
          </p:txBody>
        </p:sp>
        <p:sp>
          <p:nvSpPr>
            <p:cNvPr id="22" name="Shape 20"/>
            <p:cNvSpPr/>
            <p:nvPr/>
          </p:nvSpPr>
          <p:spPr>
            <a:xfrm>
              <a:off x="6262954" y="969264"/>
              <a:ext cx="1828800" cy="1280160"/>
            </a:xfrm>
            <a:prstGeom prst="rect">
              <a:avLst/>
            </a:prstGeom>
            <a:solidFill>
              <a:srgbClr val="0F2040"/>
            </a:solidFill>
            <a:ln w="12700">
              <a:solidFill>
                <a:srgbClr val="0F2040"/>
              </a:solidFill>
              <a:prstDash val="solid"/>
            </a:ln>
          </p:spPr>
        </p:sp>
        <p:sp>
          <p:nvSpPr>
            <p:cNvPr id="23" name="Shape 21"/>
            <p:cNvSpPr/>
            <p:nvPr/>
          </p:nvSpPr>
          <p:spPr>
            <a:xfrm>
              <a:off x="6262954" y="969264"/>
              <a:ext cx="1828800" cy="54864"/>
            </a:xfrm>
            <a:prstGeom prst="rect">
              <a:avLst/>
            </a:prstGeom>
            <a:solidFill>
              <a:srgbClr val="00D68F"/>
            </a:solidFill>
            <a:ln w="12700">
              <a:solidFill>
                <a:srgbClr val="00D68F"/>
              </a:solidFill>
              <a:prstDash val="solid"/>
            </a:ln>
          </p:spPr>
        </p:sp>
        <p:sp>
          <p:nvSpPr>
            <p:cNvPr id="24" name="Text 22"/>
            <p:cNvSpPr/>
            <p:nvPr/>
          </p:nvSpPr>
          <p:spPr>
            <a:xfrm>
              <a:off x="6372682"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Fwd P/E (2026E)</a:t>
              </a:r>
              <a:endParaRPr lang="en-US" sz="950" dirty="0"/>
            </a:p>
          </p:txBody>
        </p:sp>
        <p:sp>
          <p:nvSpPr>
            <p:cNvPr id="25" name="Text 23"/>
            <p:cNvSpPr/>
            <p:nvPr/>
          </p:nvSpPr>
          <p:spPr>
            <a:xfrm>
              <a:off x="6372682" y="1298448"/>
              <a:ext cx="1627632" cy="566928"/>
            </a:xfrm>
            <a:prstGeom prst="rect">
              <a:avLst/>
            </a:prstGeom>
            <a:noFill/>
            <a:ln/>
          </p:spPr>
          <p:txBody>
            <a:bodyPr wrap="square" rtlCol="0" anchor="ctr"/>
            <a:lstStyle/>
            <a:p>
              <a:pPr marL="0" indent="0">
                <a:buNone/>
              </a:pPr>
              <a:r>
                <a:rPr lang="en-US" sz="2000" b="1" dirty="0">
                  <a:solidFill>
                    <a:srgbClr val="00D68F"/>
                  </a:solidFill>
                  <a:latin typeface="Calibri" pitchFamily="34" charset="0"/>
                  <a:ea typeface="Calibri" pitchFamily="34" charset="-122"/>
                  <a:cs typeface="Calibri" pitchFamily="34" charset="-120"/>
                </a:rPr>
                <a:t>~25x</a:t>
              </a:r>
              <a:endParaRPr lang="en-US" sz="2000" dirty="0"/>
            </a:p>
          </p:txBody>
        </p:sp>
        <p:sp>
          <p:nvSpPr>
            <p:cNvPr id="26" name="Text 24"/>
            <p:cNvSpPr/>
            <p:nvPr/>
          </p:nvSpPr>
          <p:spPr>
            <a:xfrm>
              <a:off x="6372682"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$0.55E diluted EPS</a:t>
              </a:r>
              <a:endParaRPr lang="en-US" sz="900" dirty="0"/>
            </a:p>
          </p:txBody>
        </p:sp>
        <p:sp>
          <p:nvSpPr>
            <p:cNvPr id="27" name="Shape 25"/>
            <p:cNvSpPr/>
            <p:nvPr/>
          </p:nvSpPr>
          <p:spPr>
            <a:xfrm>
              <a:off x="8256346" y="969264"/>
              <a:ext cx="1828800" cy="1280160"/>
            </a:xfrm>
            <a:prstGeom prst="rect">
              <a:avLst/>
            </a:prstGeom>
            <a:solidFill>
              <a:srgbClr val="0F2040"/>
            </a:solidFill>
            <a:ln w="12700">
              <a:solidFill>
                <a:srgbClr val="0F2040"/>
              </a:solidFill>
              <a:prstDash val="solid"/>
            </a:ln>
          </p:spPr>
        </p:sp>
        <p:sp>
          <p:nvSpPr>
            <p:cNvPr id="28" name="Shape 26"/>
            <p:cNvSpPr/>
            <p:nvPr/>
          </p:nvSpPr>
          <p:spPr>
            <a:xfrm>
              <a:off x="8256346" y="969264"/>
              <a:ext cx="1828800" cy="54864"/>
            </a:xfrm>
            <a:prstGeom prst="rect">
              <a:avLst/>
            </a:prstGeom>
            <a:solidFill>
              <a:srgbClr val="FFB800"/>
            </a:solidFill>
            <a:ln w="12700">
              <a:solidFill>
                <a:srgbClr val="FFB800"/>
              </a:solidFill>
              <a:prstDash val="solid"/>
            </a:ln>
          </p:spPr>
        </p:sp>
        <p:sp>
          <p:nvSpPr>
            <p:cNvPr id="29" name="Text 27"/>
            <p:cNvSpPr/>
            <p:nvPr/>
          </p:nvSpPr>
          <p:spPr>
            <a:xfrm>
              <a:off x="8366074"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Consensus PT</a:t>
              </a:r>
              <a:endParaRPr lang="en-US" sz="950" dirty="0"/>
            </a:p>
          </p:txBody>
        </p:sp>
        <p:sp>
          <p:nvSpPr>
            <p:cNvPr id="30" name="Text 28"/>
            <p:cNvSpPr/>
            <p:nvPr/>
          </p:nvSpPr>
          <p:spPr>
            <a:xfrm>
              <a:off x="8366074" y="1298448"/>
              <a:ext cx="1627632" cy="566928"/>
            </a:xfrm>
            <a:prstGeom prst="rect">
              <a:avLst/>
            </a:prstGeom>
            <a:noFill/>
            <a:ln/>
          </p:spPr>
          <p:txBody>
            <a:bodyPr wrap="square" rtlCol="0" anchor="ctr"/>
            <a:lstStyle/>
            <a:p>
              <a:pPr marL="0" indent="0">
                <a:buNone/>
              </a:pPr>
              <a:r>
                <a:rPr lang="en-US" sz="2000" b="1" dirty="0">
                  <a:solidFill>
                    <a:srgbClr val="FFB800"/>
                  </a:solidFill>
                  <a:latin typeface="Calibri" pitchFamily="34" charset="0"/>
                  <a:ea typeface="Calibri" pitchFamily="34" charset="-122"/>
                  <a:cs typeface="Calibri" pitchFamily="34" charset="-120"/>
                </a:rPr>
                <a:t>~$21</a:t>
              </a:r>
              <a:endParaRPr lang="en-US" sz="2000" dirty="0"/>
            </a:p>
          </p:txBody>
        </p:sp>
        <p:sp>
          <p:nvSpPr>
            <p:cNvPr id="31" name="Text 29"/>
            <p:cNvSpPr/>
            <p:nvPr/>
          </p:nvSpPr>
          <p:spPr>
            <a:xfrm>
              <a:off x="8366074"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~12 analysts; mixed consensus</a:t>
              </a:r>
              <a:endParaRPr lang="en-US" sz="900" dirty="0"/>
            </a:p>
          </p:txBody>
        </p:sp>
        <p:sp>
          <p:nvSpPr>
            <p:cNvPr id="32" name="Shape 30"/>
            <p:cNvSpPr/>
            <p:nvPr/>
          </p:nvSpPr>
          <p:spPr>
            <a:xfrm>
              <a:off x="10249738" y="969264"/>
              <a:ext cx="1828800" cy="1280160"/>
            </a:xfrm>
            <a:prstGeom prst="rect">
              <a:avLst/>
            </a:prstGeom>
            <a:solidFill>
              <a:srgbClr val="0F2040"/>
            </a:solidFill>
            <a:ln w="12700">
              <a:solidFill>
                <a:srgbClr val="0F2040"/>
              </a:solidFill>
              <a:prstDash val="solid"/>
            </a:ln>
          </p:spPr>
        </p:sp>
        <p:sp>
          <p:nvSpPr>
            <p:cNvPr id="33" name="Shape 31"/>
            <p:cNvSpPr/>
            <p:nvPr/>
          </p:nvSpPr>
          <p:spPr>
            <a:xfrm>
              <a:off x="10249738" y="969264"/>
              <a:ext cx="1828800" cy="54864"/>
            </a:xfrm>
            <a:prstGeom prst="rect">
              <a:avLst/>
            </a:prstGeom>
            <a:solidFill>
              <a:srgbClr val="00C8C8"/>
            </a:solidFill>
            <a:ln w="12700">
              <a:solidFill>
                <a:srgbClr val="00C8C8"/>
              </a:solidFill>
              <a:prstDash val="solid"/>
            </a:ln>
          </p:spPr>
        </p:sp>
        <p:sp>
          <p:nvSpPr>
            <p:cNvPr id="34" name="Text 32"/>
            <p:cNvSpPr/>
            <p:nvPr/>
          </p:nvSpPr>
          <p:spPr>
            <a:xfrm>
              <a:off x="10359466" y="1060704"/>
              <a:ext cx="1627632" cy="274320"/>
            </a:xfrm>
            <a:prstGeom prst="rect">
              <a:avLst/>
            </a:prstGeom>
            <a:noFill/>
            <a:ln/>
          </p:spPr>
          <p:txBody>
            <a:bodyPr wrap="square" rtlCol="0" anchor="ctr"/>
            <a:lstStyle/>
            <a:p>
              <a:pPr marL="0" indent="0">
                <a:buNone/>
              </a:pPr>
              <a:r>
                <a:rPr lang="en-US" sz="950" dirty="0">
                  <a:solidFill>
                    <a:srgbClr val="8899BB"/>
                  </a:solidFill>
                  <a:latin typeface="Calibri" pitchFamily="34" charset="0"/>
                  <a:ea typeface="Calibri" pitchFamily="34" charset="-122"/>
                  <a:cs typeface="Calibri" pitchFamily="34" charset="-120"/>
                </a:rPr>
                <a:t>Highest PT</a:t>
              </a:r>
              <a:endParaRPr lang="en-US" sz="950" dirty="0"/>
            </a:p>
          </p:txBody>
        </p:sp>
        <p:sp>
          <p:nvSpPr>
            <p:cNvPr id="35" name="Text 33"/>
            <p:cNvSpPr/>
            <p:nvPr/>
          </p:nvSpPr>
          <p:spPr>
            <a:xfrm>
              <a:off x="10359466" y="1298448"/>
              <a:ext cx="1627632" cy="566928"/>
            </a:xfrm>
            <a:prstGeom prst="rect">
              <a:avLst/>
            </a:prstGeom>
            <a:noFill/>
            <a:ln/>
          </p:spPr>
          <p:txBody>
            <a:bodyPr wrap="square" rtlCol="0" anchor="ctr"/>
            <a:lstStyle/>
            <a:p>
              <a:pPr marL="0" indent="0">
                <a:buNone/>
              </a:pPr>
              <a:r>
                <a:rPr lang="en-US" sz="2000" b="1" dirty="0">
                  <a:solidFill>
                    <a:srgbClr val="00C8C8"/>
                  </a:solidFill>
                  <a:latin typeface="Calibri" pitchFamily="34" charset="0"/>
                  <a:ea typeface="Calibri" pitchFamily="34" charset="-122"/>
                  <a:cs typeface="Calibri" pitchFamily="34" charset="-120"/>
                </a:rPr>
                <a:t>$31</a:t>
              </a:r>
              <a:endParaRPr lang="en-US" sz="2000" dirty="0"/>
            </a:p>
          </p:txBody>
        </p:sp>
        <p:sp>
          <p:nvSpPr>
            <p:cNvPr id="36" name="Text 34"/>
            <p:cNvSpPr/>
            <p:nvPr/>
          </p:nvSpPr>
          <p:spPr>
            <a:xfrm>
              <a:off x="10359466" y="1865376"/>
              <a:ext cx="1627632" cy="256032"/>
            </a:xfrm>
            <a:prstGeom prst="rect">
              <a:avLst/>
            </a:prstGeom>
            <a:noFill/>
            <a:ln/>
          </p:spPr>
          <p:txBody>
            <a:bodyPr wrap="square" rtlCol="0" anchor="ctr"/>
            <a:lstStyle/>
            <a:p>
              <a:pPr marL="0" indent="0">
                <a:buNone/>
              </a:pPr>
              <a:r>
                <a:rPr lang="en-US" sz="900" dirty="0">
                  <a:solidFill>
                    <a:srgbClr val="8899BB"/>
                  </a:solidFill>
                  <a:latin typeface="Calibri" pitchFamily="34" charset="0"/>
                  <a:ea typeface="Calibri" pitchFamily="34" charset="-122"/>
                  <a:cs typeface="Calibri" pitchFamily="34" charset="-120"/>
                </a:rPr>
                <a:t>Mizuho Buy; $31 target</a:t>
              </a:r>
              <a:endParaRPr lang="en-US" sz="900" dirty="0"/>
            </a:p>
          </p:txBody>
        </p:sp>
      </p:grpSp>
      <p:sp>
        <p:nvSpPr>
          <p:cNvPr id="37" name="Text 35"/>
          <p:cNvSpPr/>
          <p:nvPr/>
        </p:nvSpPr>
        <p:spPr>
          <a:xfrm>
            <a:off x="201168" y="2249424"/>
            <a:ext cx="5943600" cy="274320"/>
          </a:xfrm>
          <a:prstGeom prst="rect">
            <a:avLst/>
          </a:prstGeom>
          <a:noFill/>
          <a:ln/>
        </p:spPr>
        <p:txBody>
          <a:bodyPr wrap="square" rtlCol="0" anchor="ctr"/>
          <a:lstStyle/>
          <a:p>
            <a:pPr marL="0" indent="0">
              <a:buNone/>
            </a:pPr>
            <a:r>
              <a:rPr lang="en-US" sz="1300" b="1" dirty="0">
                <a:solidFill>
                  <a:srgbClr val="222244"/>
                </a:solidFill>
                <a:latin typeface="Calibri" pitchFamily="34" charset="0"/>
                <a:ea typeface="Calibri" pitchFamily="34" charset="-122"/>
                <a:cs typeface="Calibri" pitchFamily="34" charset="-120"/>
              </a:rPr>
              <a:t>Peer Valuation Comparison</a:t>
            </a:r>
            <a:endParaRPr lang="en-US" sz="1300" dirty="0"/>
          </a:p>
        </p:txBody>
      </p:sp>
      <p:grpSp>
        <p:nvGrpSpPr>
          <p:cNvPr id="165" name="Group 164">
            <a:extLst>
              <a:ext uri="{FF2B5EF4-FFF2-40B4-BE49-F238E27FC236}">
                <a16:creationId xmlns:a16="http://schemas.microsoft.com/office/drawing/2014/main" id="{6E096D1C-E05C-2F2B-B57C-A1D1157088A0}"/>
              </a:ext>
            </a:extLst>
          </p:cNvPr>
          <p:cNvGrpSpPr/>
          <p:nvPr/>
        </p:nvGrpSpPr>
        <p:grpSpPr>
          <a:xfrm>
            <a:off x="275844" y="2505456"/>
            <a:ext cx="11640312" cy="3401568"/>
            <a:chOff x="320040" y="2487168"/>
            <a:chExt cx="9418320" cy="3401568"/>
          </a:xfrm>
        </p:grpSpPr>
        <p:sp>
          <p:nvSpPr>
            <p:cNvPr id="61" name="Shape 59"/>
            <p:cNvSpPr/>
            <p:nvPr/>
          </p:nvSpPr>
          <p:spPr>
            <a:xfrm>
              <a:off x="320040" y="3364992"/>
              <a:ext cx="9418320" cy="475488"/>
            </a:xfrm>
            <a:prstGeom prst="rect">
              <a:avLst/>
            </a:prstGeom>
            <a:solidFill>
              <a:srgbClr val="0A1428"/>
            </a:solidFill>
            <a:ln w="12700">
              <a:solidFill>
                <a:srgbClr val="0A1428"/>
              </a:solidFill>
              <a:prstDash val="solid"/>
            </a:ln>
          </p:spPr>
        </p:sp>
        <p:sp>
          <p:nvSpPr>
            <p:cNvPr id="38" name="Shape 36"/>
            <p:cNvSpPr/>
            <p:nvPr/>
          </p:nvSpPr>
          <p:spPr>
            <a:xfrm>
              <a:off x="320040" y="2487168"/>
              <a:ext cx="1645920" cy="365760"/>
            </a:xfrm>
            <a:prstGeom prst="rect">
              <a:avLst/>
            </a:prstGeom>
            <a:solidFill>
              <a:srgbClr val="0A1628"/>
            </a:solidFill>
            <a:ln w="12700">
              <a:solidFill>
                <a:srgbClr val="0A1628"/>
              </a:solidFill>
              <a:prstDash val="solid"/>
            </a:ln>
          </p:spPr>
        </p:sp>
        <p:sp>
          <p:nvSpPr>
            <p:cNvPr id="39" name="Text 37"/>
            <p:cNvSpPr/>
            <p:nvPr/>
          </p:nvSpPr>
          <p:spPr>
            <a:xfrm>
              <a:off x="384048" y="2542032"/>
              <a:ext cx="155448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Company</a:t>
              </a:r>
              <a:endParaRPr lang="en-US" sz="950" dirty="0"/>
            </a:p>
          </p:txBody>
        </p:sp>
        <p:sp>
          <p:nvSpPr>
            <p:cNvPr id="40" name="Shape 38"/>
            <p:cNvSpPr/>
            <p:nvPr/>
          </p:nvSpPr>
          <p:spPr>
            <a:xfrm>
              <a:off x="1965960" y="2487168"/>
              <a:ext cx="777240" cy="365760"/>
            </a:xfrm>
            <a:prstGeom prst="rect">
              <a:avLst/>
            </a:prstGeom>
            <a:solidFill>
              <a:srgbClr val="0A1628"/>
            </a:solidFill>
            <a:ln w="12700">
              <a:solidFill>
                <a:srgbClr val="0A1628"/>
              </a:solidFill>
              <a:prstDash val="solid"/>
            </a:ln>
          </p:spPr>
        </p:sp>
        <p:sp>
          <p:nvSpPr>
            <p:cNvPr id="41" name="Text 39"/>
            <p:cNvSpPr/>
            <p:nvPr/>
          </p:nvSpPr>
          <p:spPr>
            <a:xfrm>
              <a:off x="2029968" y="2542032"/>
              <a:ext cx="68580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Ticker</a:t>
              </a:r>
              <a:endParaRPr lang="en-US" sz="950" dirty="0"/>
            </a:p>
          </p:txBody>
        </p:sp>
        <p:sp>
          <p:nvSpPr>
            <p:cNvPr id="42" name="Shape 40"/>
            <p:cNvSpPr/>
            <p:nvPr/>
          </p:nvSpPr>
          <p:spPr>
            <a:xfrm>
              <a:off x="2743200" y="2487168"/>
              <a:ext cx="1005840" cy="365760"/>
            </a:xfrm>
            <a:prstGeom prst="rect">
              <a:avLst/>
            </a:prstGeom>
            <a:solidFill>
              <a:srgbClr val="0A1628"/>
            </a:solidFill>
            <a:ln w="12700">
              <a:solidFill>
                <a:srgbClr val="0A1628"/>
              </a:solidFill>
              <a:prstDash val="solid"/>
            </a:ln>
          </p:spPr>
        </p:sp>
        <p:sp>
          <p:nvSpPr>
            <p:cNvPr id="43" name="Text 41"/>
            <p:cNvSpPr/>
            <p:nvPr/>
          </p:nvSpPr>
          <p:spPr>
            <a:xfrm>
              <a:off x="2807208" y="2542032"/>
              <a:ext cx="91440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Fwd Rev</a:t>
              </a:r>
              <a:endParaRPr lang="en-US" sz="950" dirty="0"/>
            </a:p>
          </p:txBody>
        </p:sp>
        <p:sp>
          <p:nvSpPr>
            <p:cNvPr id="44" name="Shape 42"/>
            <p:cNvSpPr/>
            <p:nvPr/>
          </p:nvSpPr>
          <p:spPr>
            <a:xfrm>
              <a:off x="3749040" y="2487168"/>
              <a:ext cx="1005840" cy="365760"/>
            </a:xfrm>
            <a:prstGeom prst="rect">
              <a:avLst/>
            </a:prstGeom>
            <a:solidFill>
              <a:srgbClr val="0A1628"/>
            </a:solidFill>
            <a:ln w="12700">
              <a:solidFill>
                <a:srgbClr val="0A1628"/>
              </a:solidFill>
              <a:prstDash val="solid"/>
            </a:ln>
          </p:spPr>
        </p:sp>
        <p:sp>
          <p:nvSpPr>
            <p:cNvPr id="45" name="Text 43"/>
            <p:cNvSpPr/>
            <p:nvPr/>
          </p:nvSpPr>
          <p:spPr>
            <a:xfrm>
              <a:off x="3813048" y="2542032"/>
              <a:ext cx="91440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NTM P/Rev</a:t>
              </a:r>
              <a:endParaRPr lang="en-US" sz="950" dirty="0"/>
            </a:p>
          </p:txBody>
        </p:sp>
        <p:sp>
          <p:nvSpPr>
            <p:cNvPr id="46" name="Shape 44"/>
            <p:cNvSpPr/>
            <p:nvPr/>
          </p:nvSpPr>
          <p:spPr>
            <a:xfrm>
              <a:off x="4754880" y="2487168"/>
              <a:ext cx="914400" cy="365760"/>
            </a:xfrm>
            <a:prstGeom prst="rect">
              <a:avLst/>
            </a:prstGeom>
            <a:solidFill>
              <a:srgbClr val="0A1628"/>
            </a:solidFill>
            <a:ln w="12700">
              <a:solidFill>
                <a:srgbClr val="0A1628"/>
              </a:solidFill>
              <a:prstDash val="solid"/>
            </a:ln>
          </p:spPr>
        </p:sp>
        <p:sp>
          <p:nvSpPr>
            <p:cNvPr id="47" name="Text 45"/>
            <p:cNvSpPr/>
            <p:nvPr/>
          </p:nvSpPr>
          <p:spPr>
            <a:xfrm>
              <a:off x="4818888" y="2542032"/>
              <a:ext cx="82296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NTM P/E</a:t>
              </a:r>
              <a:endParaRPr lang="en-US" sz="950" dirty="0"/>
            </a:p>
          </p:txBody>
        </p:sp>
        <p:sp>
          <p:nvSpPr>
            <p:cNvPr id="48" name="Shape 46"/>
            <p:cNvSpPr/>
            <p:nvPr/>
          </p:nvSpPr>
          <p:spPr>
            <a:xfrm>
              <a:off x="5669280" y="2487168"/>
              <a:ext cx="1051560" cy="365760"/>
            </a:xfrm>
            <a:prstGeom prst="rect">
              <a:avLst/>
            </a:prstGeom>
            <a:solidFill>
              <a:srgbClr val="0A1628"/>
            </a:solidFill>
            <a:ln w="12700">
              <a:solidFill>
                <a:srgbClr val="0A1628"/>
              </a:solidFill>
              <a:prstDash val="solid"/>
            </a:ln>
          </p:spPr>
        </p:sp>
        <p:sp>
          <p:nvSpPr>
            <p:cNvPr id="49" name="Text 47"/>
            <p:cNvSpPr/>
            <p:nvPr/>
          </p:nvSpPr>
          <p:spPr>
            <a:xfrm>
              <a:off x="5733288" y="2542032"/>
              <a:ext cx="96012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Rating</a:t>
              </a:r>
              <a:endParaRPr lang="en-US" sz="950" dirty="0"/>
            </a:p>
          </p:txBody>
        </p:sp>
        <p:sp>
          <p:nvSpPr>
            <p:cNvPr id="50" name="Shape 48"/>
            <p:cNvSpPr/>
            <p:nvPr/>
          </p:nvSpPr>
          <p:spPr>
            <a:xfrm>
              <a:off x="6720840" y="2487168"/>
              <a:ext cx="3017520" cy="365760"/>
            </a:xfrm>
            <a:prstGeom prst="rect">
              <a:avLst/>
            </a:prstGeom>
            <a:solidFill>
              <a:srgbClr val="0A1628"/>
            </a:solidFill>
            <a:ln w="12700">
              <a:solidFill>
                <a:srgbClr val="0A1628"/>
              </a:solidFill>
              <a:prstDash val="solid"/>
            </a:ln>
          </p:spPr>
        </p:sp>
        <p:sp>
          <p:nvSpPr>
            <p:cNvPr id="51" name="Text 49"/>
            <p:cNvSpPr/>
            <p:nvPr/>
          </p:nvSpPr>
          <p:spPr>
            <a:xfrm>
              <a:off x="6784848" y="2542032"/>
              <a:ext cx="2926080" cy="274320"/>
            </a:xfrm>
            <a:prstGeom prst="rect">
              <a:avLst/>
            </a:prstGeom>
            <a:noFill/>
            <a:ln/>
          </p:spPr>
          <p:txBody>
            <a:bodyPr wrap="square"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Key Differentiator</a:t>
              </a:r>
              <a:endParaRPr lang="en-US" sz="950" dirty="0"/>
            </a:p>
          </p:txBody>
        </p:sp>
        <p:sp>
          <p:nvSpPr>
            <p:cNvPr id="52" name="Shape 50"/>
            <p:cNvSpPr/>
            <p:nvPr/>
          </p:nvSpPr>
          <p:spPr>
            <a:xfrm>
              <a:off x="320040" y="2852928"/>
              <a:ext cx="9418320" cy="475488"/>
            </a:xfrm>
            <a:prstGeom prst="rect">
              <a:avLst/>
            </a:prstGeom>
            <a:solidFill>
              <a:srgbClr val="0E2A0A"/>
            </a:solidFill>
            <a:ln w="12700">
              <a:solidFill>
                <a:srgbClr val="0E2A0A"/>
              </a:solidFill>
              <a:prstDash val="solid"/>
            </a:ln>
          </p:spPr>
        </p:sp>
        <p:sp>
          <p:nvSpPr>
            <p:cNvPr id="53" name="Shape 51"/>
            <p:cNvSpPr/>
            <p:nvPr/>
          </p:nvSpPr>
          <p:spPr>
            <a:xfrm>
              <a:off x="320040" y="2852928"/>
              <a:ext cx="64008" cy="475488"/>
            </a:xfrm>
            <a:prstGeom prst="rect">
              <a:avLst/>
            </a:prstGeom>
            <a:solidFill>
              <a:srgbClr val="00D68F"/>
            </a:solidFill>
            <a:ln w="12700">
              <a:solidFill>
                <a:srgbClr val="00D68F"/>
              </a:solidFill>
              <a:prstDash val="solid"/>
            </a:ln>
          </p:spPr>
        </p:sp>
        <p:sp>
          <p:nvSpPr>
            <p:cNvPr id="54" name="Text 52"/>
            <p:cNvSpPr/>
            <p:nvPr/>
          </p:nvSpPr>
          <p:spPr>
            <a:xfrm>
              <a:off x="384048" y="2926080"/>
              <a:ext cx="1554480" cy="347472"/>
            </a:xfrm>
            <a:prstGeom prst="rect">
              <a:avLst/>
            </a:prstGeom>
            <a:noFill/>
            <a:ln/>
          </p:spPr>
          <p:txBody>
            <a:bodyPr wrap="square" rtlCol="0" anchor="ctr"/>
            <a:lstStyle/>
            <a:p>
              <a:pPr marL="0" indent="0">
                <a:buNone/>
              </a:pPr>
              <a:r>
                <a:rPr lang="en-US" sz="950" b="1" dirty="0">
                  <a:solidFill>
                    <a:srgbClr val="00D68F"/>
                  </a:solidFill>
                  <a:latin typeface="Calibri" pitchFamily="34" charset="0"/>
                  <a:ea typeface="Calibri" pitchFamily="34" charset="-122"/>
                  <a:cs typeface="Calibri" pitchFamily="34" charset="-120"/>
                </a:rPr>
                <a:t>SoFi Technologies</a:t>
              </a:r>
              <a:endParaRPr lang="en-US" sz="950" dirty="0"/>
            </a:p>
          </p:txBody>
        </p:sp>
        <p:sp>
          <p:nvSpPr>
            <p:cNvPr id="55" name="Text 53"/>
            <p:cNvSpPr/>
            <p:nvPr/>
          </p:nvSpPr>
          <p:spPr>
            <a:xfrm>
              <a:off x="2029968" y="2926080"/>
              <a:ext cx="685800"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SOFI</a:t>
              </a:r>
              <a:endParaRPr lang="en-US" sz="950" dirty="0"/>
            </a:p>
          </p:txBody>
        </p:sp>
        <p:sp>
          <p:nvSpPr>
            <p:cNvPr id="56" name="Text 54"/>
            <p:cNvSpPr/>
            <p:nvPr/>
          </p:nvSpPr>
          <p:spPr>
            <a:xfrm>
              <a:off x="2807208" y="2926080"/>
              <a:ext cx="914400" cy="347472"/>
            </a:xfrm>
            <a:prstGeom prst="rect">
              <a:avLst/>
            </a:prstGeom>
            <a:noFill/>
            <a:ln/>
          </p:spPr>
          <p:txBody>
            <a:bodyPr wrap="square" rtlCol="0" anchor="ctr"/>
            <a:lstStyle/>
            <a:p>
              <a:pPr marL="0" indent="0">
                <a:buNone/>
              </a:pPr>
              <a:r>
                <a:rPr lang="en-US" sz="950" b="1" dirty="0">
                  <a:solidFill>
                    <a:srgbClr val="00C8C8"/>
                  </a:solidFill>
                  <a:latin typeface="Calibri" pitchFamily="34" charset="0"/>
                  <a:ea typeface="Calibri" pitchFamily="34" charset="-122"/>
                  <a:cs typeface="Calibri" pitchFamily="34" charset="-120"/>
                </a:rPr>
                <a:t>$4.7B E</a:t>
              </a:r>
              <a:endParaRPr lang="en-US" sz="950" dirty="0"/>
            </a:p>
          </p:txBody>
        </p:sp>
        <p:sp>
          <p:nvSpPr>
            <p:cNvPr id="57" name="Text 55"/>
            <p:cNvSpPr/>
            <p:nvPr/>
          </p:nvSpPr>
          <p:spPr>
            <a:xfrm>
              <a:off x="3813048" y="2926080"/>
              <a:ext cx="914400" cy="347472"/>
            </a:xfrm>
            <a:prstGeom prst="rect">
              <a:avLst/>
            </a:prstGeom>
            <a:noFill/>
            <a:ln/>
          </p:spPr>
          <p:txBody>
            <a:bodyPr wrap="square" rtlCol="0" anchor="ctr"/>
            <a:lstStyle/>
            <a:p>
              <a:pPr marL="0" indent="0">
                <a:buNone/>
              </a:pPr>
              <a:r>
                <a:rPr lang="en-US" sz="950" dirty="0">
                  <a:solidFill>
                    <a:srgbClr val="00C8C8"/>
                  </a:solidFill>
                  <a:latin typeface="Calibri" pitchFamily="34" charset="0"/>
                  <a:ea typeface="Calibri" pitchFamily="34" charset="-122"/>
                  <a:cs typeface="Calibri" pitchFamily="34" charset="-120"/>
                </a:rPr>
                <a:t>~4.5x</a:t>
              </a:r>
              <a:endParaRPr lang="en-US" sz="950" dirty="0"/>
            </a:p>
          </p:txBody>
        </p:sp>
        <p:sp>
          <p:nvSpPr>
            <p:cNvPr id="58" name="Text 56"/>
            <p:cNvSpPr/>
            <p:nvPr/>
          </p:nvSpPr>
          <p:spPr>
            <a:xfrm>
              <a:off x="4818888" y="2926080"/>
              <a:ext cx="822960" cy="347472"/>
            </a:xfrm>
            <a:prstGeom prst="rect">
              <a:avLst/>
            </a:prstGeom>
            <a:noFill/>
            <a:ln/>
          </p:spPr>
          <p:txBody>
            <a:bodyPr wrap="square" rtlCol="0" anchor="ctr"/>
            <a:lstStyle/>
            <a:p>
              <a:pPr marL="0" indent="0">
                <a:buNone/>
              </a:pPr>
              <a:r>
                <a:rPr lang="en-US" sz="950" dirty="0">
                  <a:solidFill>
                    <a:srgbClr val="00C8C8"/>
                  </a:solidFill>
                  <a:latin typeface="Calibri" pitchFamily="34" charset="0"/>
                  <a:ea typeface="Calibri" pitchFamily="34" charset="-122"/>
                  <a:cs typeface="Calibri" pitchFamily="34" charset="-120"/>
                </a:rPr>
                <a:t>~25x</a:t>
              </a:r>
              <a:endParaRPr lang="en-US" sz="950" dirty="0"/>
            </a:p>
          </p:txBody>
        </p:sp>
        <p:sp>
          <p:nvSpPr>
            <p:cNvPr id="59" name="Text 57"/>
            <p:cNvSpPr/>
            <p:nvPr/>
          </p:nvSpPr>
          <p:spPr>
            <a:xfrm>
              <a:off x="5733288" y="2926080"/>
              <a:ext cx="960120" cy="347472"/>
            </a:xfrm>
            <a:prstGeom prst="rect">
              <a:avLst/>
            </a:prstGeom>
            <a:noFill/>
            <a:ln/>
          </p:spPr>
          <p:txBody>
            <a:bodyPr wrap="square" rtlCol="0" anchor="ctr"/>
            <a:lstStyle/>
            <a:p>
              <a:pPr marL="0" indent="0">
                <a:buNone/>
              </a:pPr>
              <a:r>
                <a:rPr lang="en-US" sz="950" dirty="0">
                  <a:solidFill>
                    <a:srgbClr val="00C8C8"/>
                  </a:solidFill>
                  <a:latin typeface="Calibri" pitchFamily="34" charset="0"/>
                  <a:ea typeface="Calibri" pitchFamily="34" charset="-122"/>
                  <a:cs typeface="Calibri" pitchFamily="34" charset="-120"/>
                </a:rPr>
                <a:t>Mixed / Buy</a:t>
              </a:r>
              <a:endParaRPr lang="en-US" sz="950" dirty="0"/>
            </a:p>
          </p:txBody>
        </p:sp>
        <p:sp>
          <p:nvSpPr>
            <p:cNvPr id="60" name="Text 58"/>
            <p:cNvSpPr/>
            <p:nvPr/>
          </p:nvSpPr>
          <p:spPr>
            <a:xfrm>
              <a:off x="6784848" y="2926080"/>
              <a:ext cx="2926080" cy="347472"/>
            </a:xfrm>
            <a:prstGeom prst="rect">
              <a:avLst/>
            </a:prstGeom>
            <a:noFill/>
            <a:ln/>
          </p:spPr>
          <p:txBody>
            <a:bodyPr wrap="square" rtlCol="0" anchor="ctr"/>
            <a:lstStyle/>
            <a:p>
              <a:pPr marL="0" indent="0">
                <a:buNone/>
              </a:pPr>
              <a:r>
                <a:rPr lang="en-US" sz="950" dirty="0">
                  <a:solidFill>
                    <a:srgbClr val="00C8C8"/>
                  </a:solidFill>
                  <a:latin typeface="Calibri" pitchFamily="34" charset="0"/>
                  <a:ea typeface="Calibri" pitchFamily="34" charset="-122"/>
                  <a:cs typeface="Calibri" pitchFamily="34" charset="-120"/>
                </a:rPr>
                <a:t>Bank charter+Galileo+FSPL</a:t>
              </a:r>
              <a:endParaRPr lang="en-US" sz="950" dirty="0"/>
            </a:p>
          </p:txBody>
        </p:sp>
        <p:sp>
          <p:nvSpPr>
            <p:cNvPr id="62" name="Text 60"/>
            <p:cNvSpPr/>
            <p:nvPr/>
          </p:nvSpPr>
          <p:spPr>
            <a:xfrm>
              <a:off x="384048" y="3438144"/>
              <a:ext cx="1554480"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LendingClub</a:t>
              </a:r>
              <a:endParaRPr lang="en-US" sz="950" dirty="0"/>
            </a:p>
          </p:txBody>
        </p:sp>
        <p:sp>
          <p:nvSpPr>
            <p:cNvPr id="63" name="Text 61"/>
            <p:cNvSpPr/>
            <p:nvPr/>
          </p:nvSpPr>
          <p:spPr>
            <a:xfrm>
              <a:off x="2029968" y="3438144"/>
              <a:ext cx="6858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LC</a:t>
              </a:r>
              <a:endParaRPr lang="en-US" sz="950" dirty="0"/>
            </a:p>
          </p:txBody>
        </p:sp>
        <p:sp>
          <p:nvSpPr>
            <p:cNvPr id="64" name="Text 62"/>
            <p:cNvSpPr/>
            <p:nvPr/>
          </p:nvSpPr>
          <p:spPr>
            <a:xfrm>
              <a:off x="2807208" y="3438144"/>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~$1.2B</a:t>
              </a:r>
              <a:endParaRPr lang="en-US" sz="950" dirty="0"/>
            </a:p>
          </p:txBody>
        </p:sp>
        <p:sp>
          <p:nvSpPr>
            <p:cNvPr id="65" name="Text 63"/>
            <p:cNvSpPr/>
            <p:nvPr/>
          </p:nvSpPr>
          <p:spPr>
            <a:xfrm>
              <a:off x="3813048" y="3438144"/>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~2.0x</a:t>
              </a:r>
              <a:endParaRPr lang="en-US" sz="950" dirty="0"/>
            </a:p>
          </p:txBody>
        </p:sp>
        <p:sp>
          <p:nvSpPr>
            <p:cNvPr id="66" name="Text 64"/>
            <p:cNvSpPr/>
            <p:nvPr/>
          </p:nvSpPr>
          <p:spPr>
            <a:xfrm>
              <a:off x="4818888" y="3438144"/>
              <a:ext cx="82296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~12x</a:t>
              </a:r>
              <a:endParaRPr lang="en-US" sz="950" dirty="0"/>
            </a:p>
          </p:txBody>
        </p:sp>
        <p:sp>
          <p:nvSpPr>
            <p:cNvPr id="67" name="Text 65"/>
            <p:cNvSpPr/>
            <p:nvPr/>
          </p:nvSpPr>
          <p:spPr>
            <a:xfrm>
              <a:off x="5733288" y="3438144"/>
              <a:ext cx="96012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Hold</a:t>
              </a:r>
              <a:endParaRPr lang="en-US" sz="950" dirty="0"/>
            </a:p>
          </p:txBody>
        </p:sp>
        <p:sp>
          <p:nvSpPr>
            <p:cNvPr id="68" name="Text 66"/>
            <p:cNvSpPr/>
            <p:nvPr/>
          </p:nvSpPr>
          <p:spPr>
            <a:xfrm>
              <a:off x="6784848" y="3438144"/>
              <a:ext cx="292608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Bank charter but smaller scale</a:t>
              </a:r>
              <a:endParaRPr lang="en-US" sz="950" dirty="0"/>
            </a:p>
          </p:txBody>
        </p:sp>
        <p:sp>
          <p:nvSpPr>
            <p:cNvPr id="69" name="Shape 67"/>
            <p:cNvSpPr/>
            <p:nvPr/>
          </p:nvSpPr>
          <p:spPr>
            <a:xfrm>
              <a:off x="320040" y="3877056"/>
              <a:ext cx="9418320" cy="475488"/>
            </a:xfrm>
            <a:prstGeom prst="rect">
              <a:avLst/>
            </a:prstGeom>
            <a:solidFill>
              <a:srgbClr val="0F2040"/>
            </a:solidFill>
            <a:ln w="12700">
              <a:solidFill>
                <a:srgbClr val="0F2040"/>
              </a:solidFill>
              <a:prstDash val="solid"/>
            </a:ln>
          </p:spPr>
        </p:sp>
        <p:sp>
          <p:nvSpPr>
            <p:cNvPr id="70" name="Text 68"/>
            <p:cNvSpPr/>
            <p:nvPr/>
          </p:nvSpPr>
          <p:spPr>
            <a:xfrm>
              <a:off x="384048" y="3950208"/>
              <a:ext cx="1554480"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Upstart Holdings</a:t>
              </a:r>
              <a:endParaRPr lang="en-US" sz="950" dirty="0"/>
            </a:p>
          </p:txBody>
        </p:sp>
        <p:sp>
          <p:nvSpPr>
            <p:cNvPr id="71" name="Text 69"/>
            <p:cNvSpPr/>
            <p:nvPr/>
          </p:nvSpPr>
          <p:spPr>
            <a:xfrm>
              <a:off x="2029968" y="3950208"/>
              <a:ext cx="6858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UPST</a:t>
              </a:r>
              <a:endParaRPr lang="en-US" sz="950" dirty="0"/>
            </a:p>
          </p:txBody>
        </p:sp>
        <p:sp>
          <p:nvSpPr>
            <p:cNvPr id="72" name="Text 70"/>
            <p:cNvSpPr/>
            <p:nvPr/>
          </p:nvSpPr>
          <p:spPr>
            <a:xfrm>
              <a:off x="2807208" y="3950208"/>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~$800M</a:t>
              </a:r>
              <a:endParaRPr lang="en-US" sz="950" dirty="0"/>
            </a:p>
          </p:txBody>
        </p:sp>
        <p:sp>
          <p:nvSpPr>
            <p:cNvPr id="73" name="Text 71"/>
            <p:cNvSpPr/>
            <p:nvPr/>
          </p:nvSpPr>
          <p:spPr>
            <a:xfrm>
              <a:off x="3813048" y="3950208"/>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~5x</a:t>
              </a:r>
              <a:endParaRPr lang="en-US" sz="950" dirty="0"/>
            </a:p>
          </p:txBody>
        </p:sp>
        <p:sp>
          <p:nvSpPr>
            <p:cNvPr id="74" name="Text 72"/>
            <p:cNvSpPr/>
            <p:nvPr/>
          </p:nvSpPr>
          <p:spPr>
            <a:xfrm>
              <a:off x="4818888" y="3950208"/>
              <a:ext cx="82296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~40x</a:t>
              </a:r>
              <a:endParaRPr lang="en-US" sz="950" dirty="0"/>
            </a:p>
          </p:txBody>
        </p:sp>
        <p:sp>
          <p:nvSpPr>
            <p:cNvPr id="75" name="Text 73"/>
            <p:cNvSpPr/>
            <p:nvPr/>
          </p:nvSpPr>
          <p:spPr>
            <a:xfrm>
              <a:off x="5733288" y="3950208"/>
              <a:ext cx="96012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Buy (spec.)</a:t>
              </a:r>
              <a:endParaRPr lang="en-US" sz="950" dirty="0"/>
            </a:p>
          </p:txBody>
        </p:sp>
        <p:sp>
          <p:nvSpPr>
            <p:cNvPr id="76" name="Text 74"/>
            <p:cNvSpPr/>
            <p:nvPr/>
          </p:nvSpPr>
          <p:spPr>
            <a:xfrm>
              <a:off x="6784848" y="3950208"/>
              <a:ext cx="292608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AI credit model; no charter</a:t>
              </a:r>
              <a:endParaRPr lang="en-US" sz="950" dirty="0"/>
            </a:p>
          </p:txBody>
        </p:sp>
        <p:sp>
          <p:nvSpPr>
            <p:cNvPr id="77" name="Shape 75"/>
            <p:cNvSpPr/>
            <p:nvPr/>
          </p:nvSpPr>
          <p:spPr>
            <a:xfrm>
              <a:off x="320040" y="4389120"/>
              <a:ext cx="9418320" cy="475488"/>
            </a:xfrm>
            <a:prstGeom prst="rect">
              <a:avLst/>
            </a:prstGeom>
            <a:solidFill>
              <a:srgbClr val="0A1428"/>
            </a:solidFill>
            <a:ln w="12700">
              <a:solidFill>
                <a:srgbClr val="0A1428"/>
              </a:solidFill>
              <a:prstDash val="solid"/>
            </a:ln>
          </p:spPr>
        </p:sp>
        <p:sp>
          <p:nvSpPr>
            <p:cNvPr id="78" name="Text 76"/>
            <p:cNvSpPr/>
            <p:nvPr/>
          </p:nvSpPr>
          <p:spPr>
            <a:xfrm>
              <a:off x="384048" y="4462272"/>
              <a:ext cx="1554480"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Nu Holdings</a:t>
              </a:r>
              <a:endParaRPr lang="en-US" sz="950" dirty="0"/>
            </a:p>
          </p:txBody>
        </p:sp>
        <p:sp>
          <p:nvSpPr>
            <p:cNvPr id="79" name="Text 77"/>
            <p:cNvSpPr/>
            <p:nvPr/>
          </p:nvSpPr>
          <p:spPr>
            <a:xfrm>
              <a:off x="2029968" y="4462272"/>
              <a:ext cx="6858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NU</a:t>
              </a:r>
              <a:endParaRPr lang="en-US" sz="950" dirty="0"/>
            </a:p>
          </p:txBody>
        </p:sp>
        <p:sp>
          <p:nvSpPr>
            <p:cNvPr id="80" name="Text 78"/>
            <p:cNvSpPr/>
            <p:nvPr/>
          </p:nvSpPr>
          <p:spPr>
            <a:xfrm>
              <a:off x="2807208" y="4462272"/>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~$3.5B</a:t>
              </a:r>
              <a:endParaRPr lang="en-US" sz="950" dirty="0"/>
            </a:p>
          </p:txBody>
        </p:sp>
        <p:sp>
          <p:nvSpPr>
            <p:cNvPr id="81" name="Text 79"/>
            <p:cNvSpPr/>
            <p:nvPr/>
          </p:nvSpPr>
          <p:spPr>
            <a:xfrm>
              <a:off x="3813048" y="4462272"/>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~8x</a:t>
              </a:r>
              <a:endParaRPr lang="en-US" sz="950" dirty="0"/>
            </a:p>
          </p:txBody>
        </p:sp>
        <p:sp>
          <p:nvSpPr>
            <p:cNvPr id="82" name="Text 80"/>
            <p:cNvSpPr/>
            <p:nvPr/>
          </p:nvSpPr>
          <p:spPr>
            <a:xfrm>
              <a:off x="4818888" y="4462272"/>
              <a:ext cx="82296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~25x</a:t>
              </a:r>
              <a:endParaRPr lang="en-US" sz="950" dirty="0"/>
            </a:p>
          </p:txBody>
        </p:sp>
        <p:sp>
          <p:nvSpPr>
            <p:cNvPr id="83" name="Text 81"/>
            <p:cNvSpPr/>
            <p:nvPr/>
          </p:nvSpPr>
          <p:spPr>
            <a:xfrm>
              <a:off x="5733288" y="4462272"/>
              <a:ext cx="96012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Strong Buy</a:t>
              </a:r>
              <a:endParaRPr lang="en-US" sz="950" dirty="0"/>
            </a:p>
          </p:txBody>
        </p:sp>
        <p:sp>
          <p:nvSpPr>
            <p:cNvPr id="84" name="Text 82"/>
            <p:cNvSpPr/>
            <p:nvPr/>
          </p:nvSpPr>
          <p:spPr>
            <a:xfrm>
              <a:off x="6784848" y="4462272"/>
              <a:ext cx="292608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LatAm digital bank; massive growth</a:t>
              </a:r>
              <a:endParaRPr lang="en-US" sz="950" dirty="0"/>
            </a:p>
          </p:txBody>
        </p:sp>
        <p:sp>
          <p:nvSpPr>
            <p:cNvPr id="85" name="Shape 83"/>
            <p:cNvSpPr/>
            <p:nvPr/>
          </p:nvSpPr>
          <p:spPr>
            <a:xfrm>
              <a:off x="320040" y="4901184"/>
              <a:ext cx="9418320" cy="475488"/>
            </a:xfrm>
            <a:prstGeom prst="rect">
              <a:avLst/>
            </a:prstGeom>
            <a:solidFill>
              <a:srgbClr val="0F2040"/>
            </a:solidFill>
            <a:ln w="12700">
              <a:solidFill>
                <a:srgbClr val="0F2040"/>
              </a:solidFill>
              <a:prstDash val="solid"/>
            </a:ln>
          </p:spPr>
        </p:sp>
        <p:sp>
          <p:nvSpPr>
            <p:cNvPr id="86" name="Text 84"/>
            <p:cNvSpPr/>
            <p:nvPr/>
          </p:nvSpPr>
          <p:spPr>
            <a:xfrm>
              <a:off x="384048" y="4974336"/>
              <a:ext cx="1554480"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Block (SQ)</a:t>
              </a:r>
              <a:endParaRPr lang="en-US" sz="950" dirty="0"/>
            </a:p>
          </p:txBody>
        </p:sp>
        <p:sp>
          <p:nvSpPr>
            <p:cNvPr id="87" name="Text 85"/>
            <p:cNvSpPr/>
            <p:nvPr/>
          </p:nvSpPr>
          <p:spPr>
            <a:xfrm>
              <a:off x="2029968" y="4974336"/>
              <a:ext cx="6858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SQ</a:t>
              </a:r>
              <a:endParaRPr lang="en-US" sz="950" dirty="0"/>
            </a:p>
          </p:txBody>
        </p:sp>
        <p:sp>
          <p:nvSpPr>
            <p:cNvPr id="88" name="Text 86"/>
            <p:cNvSpPr/>
            <p:nvPr/>
          </p:nvSpPr>
          <p:spPr>
            <a:xfrm>
              <a:off x="2807208" y="4974336"/>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~$8.5B</a:t>
              </a:r>
              <a:endParaRPr lang="en-US" sz="950" dirty="0"/>
            </a:p>
          </p:txBody>
        </p:sp>
        <p:sp>
          <p:nvSpPr>
            <p:cNvPr id="89" name="Text 87"/>
            <p:cNvSpPr/>
            <p:nvPr/>
          </p:nvSpPr>
          <p:spPr>
            <a:xfrm>
              <a:off x="3813048" y="4974336"/>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~2.5x</a:t>
              </a:r>
              <a:endParaRPr lang="en-US" sz="950" dirty="0"/>
            </a:p>
          </p:txBody>
        </p:sp>
        <p:sp>
          <p:nvSpPr>
            <p:cNvPr id="90" name="Text 88"/>
            <p:cNvSpPr/>
            <p:nvPr/>
          </p:nvSpPr>
          <p:spPr>
            <a:xfrm>
              <a:off x="4818888" y="4974336"/>
              <a:ext cx="82296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~20x</a:t>
              </a:r>
              <a:endParaRPr lang="en-US" sz="950" dirty="0"/>
            </a:p>
          </p:txBody>
        </p:sp>
        <p:sp>
          <p:nvSpPr>
            <p:cNvPr id="91" name="Text 89"/>
            <p:cNvSpPr/>
            <p:nvPr/>
          </p:nvSpPr>
          <p:spPr>
            <a:xfrm>
              <a:off x="5733288" y="4974336"/>
              <a:ext cx="96012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Buy</a:t>
              </a:r>
              <a:endParaRPr lang="en-US" sz="950" dirty="0"/>
            </a:p>
          </p:txBody>
        </p:sp>
        <p:sp>
          <p:nvSpPr>
            <p:cNvPr id="92" name="Text 90"/>
            <p:cNvSpPr/>
            <p:nvPr/>
          </p:nvSpPr>
          <p:spPr>
            <a:xfrm>
              <a:off x="6784848" y="4974336"/>
              <a:ext cx="292608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CashApp + Square; diversified</a:t>
              </a:r>
              <a:endParaRPr lang="en-US" sz="950" dirty="0"/>
            </a:p>
          </p:txBody>
        </p:sp>
        <p:sp>
          <p:nvSpPr>
            <p:cNvPr id="93" name="Shape 91"/>
            <p:cNvSpPr/>
            <p:nvPr/>
          </p:nvSpPr>
          <p:spPr>
            <a:xfrm>
              <a:off x="320040" y="5413248"/>
              <a:ext cx="9418320" cy="475488"/>
            </a:xfrm>
            <a:prstGeom prst="rect">
              <a:avLst/>
            </a:prstGeom>
            <a:solidFill>
              <a:srgbClr val="0A1428"/>
            </a:solidFill>
            <a:ln w="12700">
              <a:solidFill>
                <a:srgbClr val="0A1428"/>
              </a:solidFill>
              <a:prstDash val="solid"/>
            </a:ln>
          </p:spPr>
        </p:sp>
        <p:sp>
          <p:nvSpPr>
            <p:cNvPr id="94" name="Text 92"/>
            <p:cNvSpPr/>
            <p:nvPr/>
          </p:nvSpPr>
          <p:spPr>
            <a:xfrm>
              <a:off x="384048" y="5486400"/>
              <a:ext cx="1554480" cy="347472"/>
            </a:xfrm>
            <a:prstGeom prst="rect">
              <a:avLst/>
            </a:prstGeom>
            <a:noFill/>
            <a:ln/>
          </p:spPr>
          <p:txBody>
            <a:bodyPr wrap="square" rtlCol="0" anchor="ctr"/>
            <a:lstStyle/>
            <a:p>
              <a:pPr marL="0" indent="0">
                <a:buNone/>
              </a:pPr>
              <a:r>
                <a:rPr lang="en-US" sz="950" dirty="0">
                  <a:solidFill>
                    <a:srgbClr val="FFFFFF"/>
                  </a:solidFill>
                  <a:latin typeface="Calibri" pitchFamily="34" charset="0"/>
                  <a:ea typeface="Calibri" pitchFamily="34" charset="-122"/>
                  <a:cs typeface="Calibri" pitchFamily="34" charset="-120"/>
                </a:rPr>
                <a:t>Ally Financial</a:t>
              </a:r>
              <a:endParaRPr lang="en-US" sz="950" dirty="0"/>
            </a:p>
          </p:txBody>
        </p:sp>
        <p:sp>
          <p:nvSpPr>
            <p:cNvPr id="95" name="Text 93"/>
            <p:cNvSpPr/>
            <p:nvPr/>
          </p:nvSpPr>
          <p:spPr>
            <a:xfrm>
              <a:off x="2029968" y="5486400"/>
              <a:ext cx="6858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ALLY</a:t>
              </a:r>
              <a:endParaRPr lang="en-US" sz="950" dirty="0"/>
            </a:p>
          </p:txBody>
        </p:sp>
        <p:sp>
          <p:nvSpPr>
            <p:cNvPr id="96" name="Text 94"/>
            <p:cNvSpPr/>
            <p:nvPr/>
          </p:nvSpPr>
          <p:spPr>
            <a:xfrm>
              <a:off x="2807208" y="5486400"/>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~$8B</a:t>
              </a:r>
              <a:endParaRPr lang="en-US" sz="950" dirty="0"/>
            </a:p>
          </p:txBody>
        </p:sp>
        <p:sp>
          <p:nvSpPr>
            <p:cNvPr id="97" name="Text 95"/>
            <p:cNvSpPr/>
            <p:nvPr/>
          </p:nvSpPr>
          <p:spPr>
            <a:xfrm>
              <a:off x="3813048" y="5486400"/>
              <a:ext cx="91440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~1.5x</a:t>
              </a:r>
              <a:endParaRPr lang="en-US" sz="950" dirty="0"/>
            </a:p>
          </p:txBody>
        </p:sp>
        <p:sp>
          <p:nvSpPr>
            <p:cNvPr id="98" name="Text 96"/>
            <p:cNvSpPr/>
            <p:nvPr/>
          </p:nvSpPr>
          <p:spPr>
            <a:xfrm>
              <a:off x="4818888" y="5486400"/>
              <a:ext cx="82296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~9x</a:t>
              </a:r>
              <a:endParaRPr lang="en-US" sz="950" dirty="0"/>
            </a:p>
          </p:txBody>
        </p:sp>
        <p:sp>
          <p:nvSpPr>
            <p:cNvPr id="99" name="Text 97"/>
            <p:cNvSpPr/>
            <p:nvPr/>
          </p:nvSpPr>
          <p:spPr>
            <a:xfrm>
              <a:off x="5733288" y="5486400"/>
              <a:ext cx="96012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Hold</a:t>
              </a:r>
              <a:endParaRPr lang="en-US" sz="950" dirty="0"/>
            </a:p>
          </p:txBody>
        </p:sp>
        <p:sp>
          <p:nvSpPr>
            <p:cNvPr id="100" name="Text 98"/>
            <p:cNvSpPr/>
            <p:nvPr/>
          </p:nvSpPr>
          <p:spPr>
            <a:xfrm>
              <a:off x="6784848" y="5486400"/>
              <a:ext cx="2926080" cy="34747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Digital bank; auto lending focus</a:t>
              </a:r>
              <a:endParaRPr lang="en-US" sz="950" dirty="0"/>
            </a:p>
          </p:txBody>
        </p:sp>
      </p:grpSp>
      <p:sp>
        <p:nvSpPr>
          <p:cNvPr id="101" name="Shape 99"/>
          <p:cNvSpPr/>
          <p:nvPr/>
        </p:nvSpPr>
        <p:spPr>
          <a:xfrm>
            <a:off x="256032" y="5961888"/>
            <a:ext cx="11704320" cy="402336"/>
          </a:xfrm>
          <a:prstGeom prst="rect">
            <a:avLst/>
          </a:prstGeom>
          <a:solidFill>
            <a:srgbClr val="0A1628"/>
          </a:solidFill>
          <a:ln w="12700">
            <a:solidFill>
              <a:srgbClr val="0A1628"/>
            </a:solidFill>
            <a:prstDash val="solid"/>
          </a:ln>
        </p:spPr>
      </p:sp>
      <p:sp>
        <p:nvSpPr>
          <p:cNvPr id="102" name="Shape 100"/>
          <p:cNvSpPr/>
          <p:nvPr/>
        </p:nvSpPr>
        <p:spPr>
          <a:xfrm>
            <a:off x="256032" y="5961888"/>
            <a:ext cx="64008" cy="402336"/>
          </a:xfrm>
          <a:prstGeom prst="rect">
            <a:avLst/>
          </a:prstGeom>
          <a:solidFill>
            <a:srgbClr val="00C8C8"/>
          </a:solidFill>
          <a:ln w="12700">
            <a:solidFill>
              <a:srgbClr val="00C8C8"/>
            </a:solidFill>
            <a:prstDash val="solid"/>
          </a:ln>
        </p:spPr>
      </p:sp>
      <p:sp>
        <p:nvSpPr>
          <p:cNvPr id="103" name="Text 101"/>
          <p:cNvSpPr/>
          <p:nvPr/>
        </p:nvSpPr>
        <p:spPr>
          <a:xfrm>
            <a:off x="411480" y="6035040"/>
            <a:ext cx="2286000" cy="256032"/>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DCF KEY ASSUMPTIONS:</a:t>
            </a:r>
            <a:endParaRPr lang="en-US" sz="1100" dirty="0"/>
          </a:p>
        </p:txBody>
      </p:sp>
      <p:sp>
        <p:nvSpPr>
          <p:cNvPr id="104" name="Text 102"/>
          <p:cNvSpPr/>
          <p:nvPr/>
        </p:nvSpPr>
        <p:spPr>
          <a:xfrm>
            <a:off x="2633472" y="6035040"/>
            <a:ext cx="9235440" cy="256032"/>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Rev: $4.7B (2026E) → $8–10B by 2030 (30% CAGR mgmt target)  ·  WACC: 10%  ·  Terminal EBITDA margin: 38%  ·  Terminal growth: 4%  ·  DCF range: $18–25/share  ·  Bull: $32–38 (software re-rate + S&amp;P 500 inclusion)</a:t>
            </a:r>
            <a:endParaRPr lang="en-US" sz="950" dirty="0"/>
          </a:p>
        </p:txBody>
      </p:sp>
      <p:sp>
        <p:nvSpPr>
          <p:cNvPr id="105" name="Text 103"/>
          <p:cNvSpPr/>
          <p:nvPr/>
        </p:nvSpPr>
        <p:spPr>
          <a:xfrm>
            <a:off x="256032" y="6437376"/>
            <a:ext cx="11704320" cy="329184"/>
          </a:xfrm>
          <a:prstGeom prst="rect">
            <a:avLst/>
          </a:prstGeom>
          <a:noFill/>
          <a:ln/>
        </p:spPr>
        <p:txBody>
          <a:bodyPr wrap="square" rtlCol="0" anchor="ctr"/>
          <a:lstStyle/>
          <a:p>
            <a:pPr marL="0" indent="0">
              <a:buNone/>
            </a:pPr>
            <a:r>
              <a:rPr lang="en-US" sz="950" i="1" dirty="0">
                <a:solidFill>
                  <a:srgbClr val="FF4444"/>
                </a:solidFill>
                <a:latin typeface="Calibri" pitchFamily="34" charset="0"/>
                <a:ea typeface="Calibri" pitchFamily="34" charset="-122"/>
                <a:cs typeface="Calibri" pitchFamily="34" charset="-120"/>
              </a:rPr>
              <a:t>⚠ FLAG: The bank/software valuation debate is unresolved. At 1–2x book value (bank framing), SOFI is worth ~$10–12. At 7–9x fwd revenue (software framing), SOFI is worth $32–40. The multiple is entirely determined by which framework investors apply. Macro regime shift or Muddy Waters resolution will determine the winner.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749808"/>
          </a:xfrm>
          <a:prstGeom prst="rect">
            <a:avLst/>
          </a:prstGeom>
          <a:solidFill>
            <a:srgbClr val="0A1628"/>
          </a:solidFill>
          <a:ln w="12700">
            <a:solidFill>
              <a:srgbClr val="0A1628"/>
            </a:solidFill>
            <a:prstDash val="solid"/>
          </a:ln>
        </p:spPr>
      </p:sp>
      <p:sp>
        <p:nvSpPr>
          <p:cNvPr id="3" name="Shape 1"/>
          <p:cNvSpPr/>
          <p:nvPr/>
        </p:nvSpPr>
        <p:spPr>
          <a:xfrm>
            <a:off x="0" y="0"/>
            <a:ext cx="109728" cy="749808"/>
          </a:xfrm>
          <a:prstGeom prst="rect">
            <a:avLst/>
          </a:prstGeom>
          <a:solidFill>
            <a:srgbClr val="00C8C8"/>
          </a:solidFill>
          <a:ln w="12700">
            <a:solidFill>
              <a:srgbClr val="00C8C8"/>
            </a:solidFill>
            <a:prstDash val="solid"/>
          </a:ln>
        </p:spPr>
      </p:sp>
      <p:sp>
        <p:nvSpPr>
          <p:cNvPr id="4" name="Text 2"/>
          <p:cNvSpPr/>
          <p:nvPr/>
        </p:nvSpPr>
        <p:spPr>
          <a:xfrm>
            <a:off x="256032" y="91440"/>
            <a:ext cx="11704320" cy="56692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SECTION 11: INVESTOR RESEARCH CHECKLIST &amp; KEY MONITORING ITEMS</a:t>
            </a:r>
            <a:endParaRPr lang="en-US" sz="2200" dirty="0"/>
          </a:p>
        </p:txBody>
      </p:sp>
      <p:sp>
        <p:nvSpPr>
          <p:cNvPr id="5" name="Text 3"/>
          <p:cNvSpPr/>
          <p:nvPr/>
        </p:nvSpPr>
        <p:spPr>
          <a:xfrm>
            <a:off x="256032" y="786384"/>
            <a:ext cx="11612880" cy="256032"/>
          </a:xfrm>
          <a:prstGeom prst="rect">
            <a:avLst/>
          </a:prstGeom>
          <a:noFill/>
          <a:ln/>
        </p:spPr>
        <p:txBody>
          <a:bodyPr wrap="square" rtlCol="0" anchor="ctr"/>
          <a:lstStyle/>
          <a:p>
            <a:pPr marL="0" indent="0">
              <a:buNone/>
            </a:pPr>
            <a:r>
              <a:rPr lang="en-US" sz="1200" dirty="0">
                <a:latin typeface="Calibri" pitchFamily="34" charset="0"/>
                <a:ea typeface="Calibri" pitchFamily="34" charset="-122"/>
                <a:cs typeface="Calibri" pitchFamily="34" charset="-120"/>
              </a:rPr>
              <a:t>What to track every quarter before adding to or reducing SoFi position</a:t>
            </a:r>
            <a:endParaRPr lang="en-US" sz="1200" dirty="0"/>
          </a:p>
        </p:txBody>
      </p:sp>
      <p:sp>
        <p:nvSpPr>
          <p:cNvPr id="6" name="Shape 4"/>
          <p:cNvSpPr/>
          <p:nvPr/>
        </p:nvSpPr>
        <p:spPr>
          <a:xfrm>
            <a:off x="0" y="0"/>
            <a:ext cx="109728" cy="6858000"/>
          </a:xfrm>
          <a:prstGeom prst="rect">
            <a:avLst/>
          </a:prstGeom>
          <a:solidFill>
            <a:srgbClr val="00C8C8"/>
          </a:solidFill>
          <a:ln w="12700">
            <a:solidFill>
              <a:srgbClr val="00C8C8"/>
            </a:solidFill>
            <a:prstDash val="solid"/>
          </a:ln>
        </p:spPr>
      </p:sp>
      <p:grpSp>
        <p:nvGrpSpPr>
          <p:cNvPr id="49" name="Group 48">
            <a:extLst>
              <a:ext uri="{FF2B5EF4-FFF2-40B4-BE49-F238E27FC236}">
                <a16:creationId xmlns:a16="http://schemas.microsoft.com/office/drawing/2014/main" id="{92BE0121-D496-9AC1-0A08-B3353D18B997}"/>
              </a:ext>
            </a:extLst>
          </p:cNvPr>
          <p:cNvGrpSpPr/>
          <p:nvPr/>
        </p:nvGrpSpPr>
        <p:grpSpPr>
          <a:xfrm>
            <a:off x="256032" y="1042416"/>
            <a:ext cx="11722608" cy="5330952"/>
            <a:chOff x="256032" y="1207008"/>
            <a:chExt cx="11722608" cy="5330952"/>
          </a:xfrm>
        </p:grpSpPr>
        <p:grpSp>
          <p:nvGrpSpPr>
            <p:cNvPr id="48" name="Group 47">
              <a:extLst>
                <a:ext uri="{FF2B5EF4-FFF2-40B4-BE49-F238E27FC236}">
                  <a16:creationId xmlns:a16="http://schemas.microsoft.com/office/drawing/2014/main" id="{9E3A778A-74EC-3642-73B3-BE49E8FE8B15}"/>
                </a:ext>
              </a:extLst>
            </p:cNvPr>
            <p:cNvGrpSpPr/>
            <p:nvPr/>
          </p:nvGrpSpPr>
          <p:grpSpPr>
            <a:xfrm>
              <a:off x="256032" y="1207008"/>
              <a:ext cx="11722608" cy="5330952"/>
              <a:chOff x="256032" y="1207008"/>
              <a:chExt cx="11722608" cy="5330952"/>
            </a:xfrm>
          </p:grpSpPr>
          <p:grpSp>
            <p:nvGrpSpPr>
              <p:cNvPr id="47" name="Group 46">
                <a:extLst>
                  <a:ext uri="{FF2B5EF4-FFF2-40B4-BE49-F238E27FC236}">
                    <a16:creationId xmlns:a16="http://schemas.microsoft.com/office/drawing/2014/main" id="{23EA3943-DF30-7CA3-97E7-B6D2EEF5DAE8}"/>
                  </a:ext>
                </a:extLst>
              </p:cNvPr>
              <p:cNvGrpSpPr/>
              <p:nvPr/>
            </p:nvGrpSpPr>
            <p:grpSpPr>
              <a:xfrm>
                <a:off x="256032" y="1207008"/>
                <a:ext cx="11722608" cy="5330952"/>
                <a:chOff x="256032" y="1207008"/>
                <a:chExt cx="11722608" cy="5330952"/>
              </a:xfrm>
            </p:grpSpPr>
            <p:grpSp>
              <p:nvGrpSpPr>
                <p:cNvPr id="46" name="Group 45">
                  <a:extLst>
                    <a:ext uri="{FF2B5EF4-FFF2-40B4-BE49-F238E27FC236}">
                      <a16:creationId xmlns:a16="http://schemas.microsoft.com/office/drawing/2014/main" id="{0CFF2844-02CD-A68E-9EEB-560D3F5E5AD3}"/>
                    </a:ext>
                  </a:extLst>
                </p:cNvPr>
                <p:cNvGrpSpPr/>
                <p:nvPr/>
              </p:nvGrpSpPr>
              <p:grpSpPr>
                <a:xfrm>
                  <a:off x="256032" y="1207008"/>
                  <a:ext cx="11722608" cy="5330952"/>
                  <a:chOff x="256032" y="1207008"/>
                  <a:chExt cx="11722608" cy="5330952"/>
                </a:xfrm>
              </p:grpSpPr>
              <p:sp>
                <p:nvSpPr>
                  <p:cNvPr id="7" name="Shape 5"/>
                  <p:cNvSpPr/>
                  <p:nvPr/>
                </p:nvSpPr>
                <p:spPr>
                  <a:xfrm>
                    <a:off x="256032" y="1207008"/>
                    <a:ext cx="5760720" cy="2606040"/>
                  </a:xfrm>
                  <a:prstGeom prst="rect">
                    <a:avLst/>
                  </a:prstGeom>
                  <a:solidFill>
                    <a:srgbClr val="0F2040"/>
                  </a:solidFill>
                  <a:ln w="12700">
                    <a:solidFill>
                      <a:srgbClr val="0F2040"/>
                    </a:solidFill>
                    <a:prstDash val="solid"/>
                  </a:ln>
                </p:spPr>
              </p:sp>
              <p:sp>
                <p:nvSpPr>
                  <p:cNvPr id="8" name="Shape 6"/>
                  <p:cNvSpPr/>
                  <p:nvPr/>
                </p:nvSpPr>
                <p:spPr>
                  <a:xfrm>
                    <a:off x="256032" y="1207008"/>
                    <a:ext cx="64008" cy="2606040"/>
                  </a:xfrm>
                  <a:prstGeom prst="rect">
                    <a:avLst/>
                  </a:prstGeom>
                  <a:solidFill>
                    <a:srgbClr val="00C8C8"/>
                  </a:solidFill>
                  <a:ln w="12700">
                    <a:solidFill>
                      <a:srgbClr val="00C8C8"/>
                    </a:solidFill>
                    <a:prstDash val="solid"/>
                  </a:ln>
                </p:spPr>
              </p:sp>
              <p:sp>
                <p:nvSpPr>
                  <p:cNvPr id="9" name="Text 7"/>
                  <p:cNvSpPr/>
                  <p:nvPr/>
                </p:nvSpPr>
                <p:spPr>
                  <a:xfrm>
                    <a:off x="438912" y="1298448"/>
                    <a:ext cx="5394960" cy="347472"/>
                  </a:xfrm>
                  <a:prstGeom prst="rect">
                    <a:avLst/>
                  </a:prstGeom>
                  <a:noFill/>
                  <a:ln/>
                </p:spPr>
                <p:txBody>
                  <a:bodyPr wrap="square" rtlCol="0" anchor="ctr"/>
                  <a:lstStyle/>
                  <a:p>
                    <a:pPr marL="0" indent="0">
                      <a:buNone/>
                    </a:pPr>
                    <a:r>
                      <a:rPr lang="en-US" sz="1250" b="1" dirty="0">
                        <a:solidFill>
                          <a:srgbClr val="00C8C8"/>
                        </a:solidFill>
                        <a:latin typeface="Calibri" pitchFamily="34" charset="0"/>
                        <a:ea typeface="Calibri" pitchFamily="34" charset="-122"/>
                        <a:cs typeface="Calibri" pitchFamily="34" charset="-120"/>
                      </a:rPr>
                      <a:t>Q2/Q3 2026 Earnings (Jul 28 &amp; Oct 2026)</a:t>
                    </a:r>
                    <a:endParaRPr lang="en-US" sz="1250" dirty="0"/>
                  </a:p>
                </p:txBody>
              </p:sp>
              <p:sp>
                <p:nvSpPr>
                  <p:cNvPr id="10" name="Text 8"/>
                  <p:cNvSpPr/>
                  <p:nvPr/>
                </p:nvSpPr>
                <p:spPr>
                  <a:xfrm>
                    <a:off x="438912" y="171907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Revenue vs $1.1–1.15B Q2 consensus — is 30% FY growth on track?</a:t>
                    </a:r>
                    <a:endParaRPr lang="en-US" sz="950" dirty="0"/>
                  </a:p>
                </p:txBody>
              </p:sp>
              <p:sp>
                <p:nvSpPr>
                  <p:cNvPr id="11" name="Text 9"/>
                  <p:cNvSpPr/>
                  <p:nvPr/>
                </p:nvSpPr>
                <p:spPr>
                  <a:xfrm>
                    <a:off x="438912" y="20665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Personal loan originations: are volumes above $8B or slowing vs Q1's $8.3B?</a:t>
                    </a:r>
                    <a:endParaRPr lang="en-US" sz="950" dirty="0"/>
                  </a:p>
                </p:txBody>
              </p:sp>
              <p:sp>
                <p:nvSpPr>
                  <p:cNvPr id="12" name="Text 10"/>
                  <p:cNvSpPr/>
                  <p:nvPr/>
                </p:nvSpPr>
                <p:spPr>
                  <a:xfrm>
                    <a:off x="438912" y="2414016"/>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Net charge-off rate: holding below 3.5%, or rising toward 4%+ danger zone?</a:t>
                    </a:r>
                    <a:endParaRPr lang="en-US" sz="950" dirty="0"/>
                  </a:p>
                </p:txBody>
              </p:sp>
              <p:sp>
                <p:nvSpPr>
                  <p:cNvPr id="13" name="Text 11"/>
                  <p:cNvSpPr/>
                  <p:nvPr/>
                </p:nvSpPr>
                <p:spPr>
                  <a:xfrm>
                    <a:off x="438912" y="2761488"/>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Adj EBITDA margin: targeting 34%+ for FY — any margin compression signals?</a:t>
                    </a:r>
                    <a:endParaRPr lang="en-US" sz="950" dirty="0"/>
                  </a:p>
                </p:txBody>
              </p:sp>
              <p:sp>
                <p:nvSpPr>
                  <p:cNvPr id="14" name="Text 12"/>
                  <p:cNvSpPr/>
                  <p:nvPr/>
                </p:nvSpPr>
                <p:spPr>
                  <a:xfrm>
                    <a:off x="438912" y="3108960"/>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Technology platform: is B2B revenue stabilising or falling further?</a:t>
                    </a:r>
                    <a:endParaRPr lang="en-US" sz="950" dirty="0"/>
                  </a:p>
                </p:txBody>
              </p:sp>
              <p:sp>
                <p:nvSpPr>
                  <p:cNvPr id="15" name="Text 13"/>
                  <p:cNvSpPr/>
                  <p:nvPr/>
                </p:nvSpPr>
                <p:spPr>
                  <a:xfrm>
                    <a:off x="438912" y="345643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FY guidance: any raise = strong buy signal; any cut = Novo-style de-rating risk</a:t>
                    </a:r>
                    <a:endParaRPr lang="en-US" sz="950" dirty="0"/>
                  </a:p>
                </p:txBody>
              </p:sp>
              <p:sp>
                <p:nvSpPr>
                  <p:cNvPr id="16" name="Shape 14"/>
                  <p:cNvSpPr/>
                  <p:nvPr/>
                </p:nvSpPr>
                <p:spPr>
                  <a:xfrm>
                    <a:off x="6217920" y="1207008"/>
                    <a:ext cx="5760720" cy="2606040"/>
                  </a:xfrm>
                  <a:prstGeom prst="rect">
                    <a:avLst/>
                  </a:prstGeom>
                  <a:solidFill>
                    <a:srgbClr val="0F2040"/>
                  </a:solidFill>
                  <a:ln w="12700">
                    <a:solidFill>
                      <a:srgbClr val="0F2040"/>
                    </a:solidFill>
                    <a:prstDash val="solid"/>
                  </a:ln>
                </p:spPr>
              </p:sp>
              <p:sp>
                <p:nvSpPr>
                  <p:cNvPr id="17" name="Shape 15"/>
                  <p:cNvSpPr/>
                  <p:nvPr/>
                </p:nvSpPr>
                <p:spPr>
                  <a:xfrm>
                    <a:off x="6217920" y="1207008"/>
                    <a:ext cx="64008" cy="2606040"/>
                  </a:xfrm>
                  <a:prstGeom prst="rect">
                    <a:avLst/>
                  </a:prstGeom>
                  <a:solidFill>
                    <a:srgbClr val="FF4444"/>
                  </a:solidFill>
                  <a:ln w="12700">
                    <a:solidFill>
                      <a:srgbClr val="FF4444"/>
                    </a:solidFill>
                    <a:prstDash val="solid"/>
                  </a:ln>
                </p:spPr>
              </p:sp>
              <p:sp>
                <p:nvSpPr>
                  <p:cNvPr id="18" name="Text 16"/>
                  <p:cNvSpPr/>
                  <p:nvPr/>
                </p:nvSpPr>
                <p:spPr>
                  <a:xfrm>
                    <a:off x="6400800" y="1298448"/>
                    <a:ext cx="5394960" cy="347472"/>
                  </a:xfrm>
                  <a:prstGeom prst="rect">
                    <a:avLst/>
                  </a:prstGeom>
                  <a:noFill/>
                  <a:ln/>
                </p:spPr>
                <p:txBody>
                  <a:bodyPr wrap="square" rtlCol="0" anchor="ctr"/>
                  <a:lstStyle/>
                  <a:p>
                    <a:pPr marL="0" indent="0">
                      <a:buNone/>
                    </a:pPr>
                    <a:r>
                      <a:rPr lang="en-US" sz="1250" b="1" dirty="0">
                        <a:solidFill>
                          <a:srgbClr val="FF4444"/>
                        </a:solidFill>
                        <a:latin typeface="Calibri" pitchFamily="34" charset="0"/>
                        <a:ea typeface="Calibri" pitchFamily="34" charset="-122"/>
                        <a:cs typeface="Calibri" pitchFamily="34" charset="-120"/>
                      </a:rPr>
                      <a:t>Muddy Waters &amp; Regulatory Watchlist</a:t>
                    </a:r>
                    <a:endParaRPr lang="en-US" sz="1250" dirty="0"/>
                  </a:p>
                </p:txBody>
              </p:sp>
              <p:sp>
                <p:nvSpPr>
                  <p:cNvPr id="19" name="Text 17"/>
                  <p:cNvSpPr/>
                  <p:nvPr/>
                </p:nvSpPr>
                <p:spPr>
                  <a:xfrm>
                    <a:off x="6400800" y="171907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SEC comment letter or inquiry into JPMorgan loan accounting — disclosure required</a:t>
                    </a:r>
                    <a:endParaRPr lang="en-US" sz="950" dirty="0"/>
                  </a:p>
                </p:txBody>
              </p:sp>
              <p:sp>
                <p:nvSpPr>
                  <p:cNvPr id="20" name="Text 18"/>
                  <p:cNvSpPr/>
                  <p:nvPr/>
                </p:nvSpPr>
                <p:spPr>
                  <a:xfrm>
                    <a:off x="6400800" y="20665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External auditor (Deloitte) stance on challenged Q3 2024 loan sale treatment</a:t>
                    </a:r>
                    <a:endParaRPr lang="en-US" sz="950" dirty="0"/>
                  </a:p>
                </p:txBody>
              </p:sp>
              <p:sp>
                <p:nvSpPr>
                  <p:cNvPr id="21" name="Text 19"/>
                  <p:cNvSpPr/>
                  <p:nvPr/>
                </p:nvSpPr>
                <p:spPr>
                  <a:xfrm>
                    <a:off x="6400800" y="2414016"/>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Any regulatory communication from OCC, FDIC, or Federal Reserve to SoFi Bank</a:t>
                    </a:r>
                    <a:endParaRPr lang="en-US" sz="950" dirty="0"/>
                  </a:p>
                </p:txBody>
              </p:sp>
              <p:sp>
                <p:nvSpPr>
                  <p:cNvPr id="22" name="Text 20"/>
                  <p:cNvSpPr/>
                  <p:nvPr/>
                </p:nvSpPr>
                <p:spPr>
                  <a:xfrm>
                    <a:off x="6400800" y="2761488"/>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Muddy Waters follow-up reports — tone down = positive; escalation = severe risk</a:t>
                    </a:r>
                    <a:endParaRPr lang="en-US" sz="950" dirty="0"/>
                  </a:p>
                </p:txBody>
              </p:sp>
              <p:sp>
                <p:nvSpPr>
                  <p:cNvPr id="23" name="Text 21"/>
                  <p:cNvSpPr/>
                  <p:nvPr/>
                </p:nvSpPr>
                <p:spPr>
                  <a:xfrm>
                    <a:off x="6400800" y="3108960"/>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Legal action by SoFi against Muddy Waters: progress indicates mgmt confidence</a:t>
                    </a:r>
                    <a:endParaRPr lang="en-US" sz="950" dirty="0"/>
                  </a:p>
                </p:txBody>
              </p:sp>
              <p:sp>
                <p:nvSpPr>
                  <p:cNvPr id="24" name="Text 22"/>
                  <p:cNvSpPr/>
                  <p:nvPr/>
                </p:nvSpPr>
                <p:spPr>
                  <a:xfrm>
                    <a:off x="6400800" y="345643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Capital ratios: CET1, Tier 1 — any deterioration flags potential restatement impact</a:t>
                    </a:r>
                    <a:endParaRPr lang="en-US" sz="950" dirty="0"/>
                  </a:p>
                </p:txBody>
              </p:sp>
              <p:sp>
                <p:nvSpPr>
                  <p:cNvPr id="25" name="Shape 23"/>
                  <p:cNvSpPr/>
                  <p:nvPr/>
                </p:nvSpPr>
                <p:spPr>
                  <a:xfrm>
                    <a:off x="256032" y="3931920"/>
                    <a:ext cx="5760720" cy="2606040"/>
                  </a:xfrm>
                  <a:prstGeom prst="rect">
                    <a:avLst/>
                  </a:prstGeom>
                  <a:solidFill>
                    <a:srgbClr val="0F2040"/>
                  </a:solidFill>
                  <a:ln w="12700">
                    <a:solidFill>
                      <a:srgbClr val="0F2040"/>
                    </a:solidFill>
                    <a:prstDash val="solid"/>
                  </a:ln>
                </p:spPr>
              </p:sp>
              <p:sp>
                <p:nvSpPr>
                  <p:cNvPr id="27" name="Text 25"/>
                  <p:cNvSpPr/>
                  <p:nvPr/>
                </p:nvSpPr>
                <p:spPr>
                  <a:xfrm>
                    <a:off x="438912" y="4041648"/>
                    <a:ext cx="5394960" cy="347472"/>
                  </a:xfrm>
                  <a:prstGeom prst="rect">
                    <a:avLst/>
                  </a:prstGeom>
                  <a:noFill/>
                  <a:ln/>
                </p:spPr>
                <p:txBody>
                  <a:bodyPr wrap="square" rtlCol="0" anchor="ctr"/>
                  <a:lstStyle/>
                  <a:p>
                    <a:pPr marL="0" indent="0">
                      <a:buNone/>
                    </a:pPr>
                    <a:r>
                      <a:rPr lang="en-US" sz="1250" b="1" dirty="0">
                        <a:solidFill>
                          <a:srgbClr val="FFB800"/>
                        </a:solidFill>
                        <a:latin typeface="Calibri" pitchFamily="34" charset="0"/>
                        <a:ea typeface="Calibri" pitchFamily="34" charset="-122"/>
                        <a:cs typeface="Calibri" pitchFamily="34" charset="-120"/>
                      </a:rPr>
                      <a:t>Member Economics &amp; Cross-Buy Acceleration</a:t>
                    </a:r>
                    <a:endParaRPr lang="en-US" sz="1250" dirty="0"/>
                  </a:p>
                </p:txBody>
              </p:sp>
              <p:sp>
                <p:nvSpPr>
                  <p:cNvPr id="28" name="Text 26"/>
                  <p:cNvSpPr/>
                  <p:nvPr/>
                </p:nvSpPr>
                <p:spPr>
                  <a:xfrm>
                    <a:off x="438912" y="446227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Products per member: from 1.51 now — targeting 2.0+ by end 2026</a:t>
                    </a:r>
                    <a:endParaRPr lang="en-US" sz="950" dirty="0"/>
                  </a:p>
                </p:txBody>
              </p:sp>
              <p:sp>
                <p:nvSpPr>
                  <p:cNvPr id="29" name="Text 27"/>
                  <p:cNvSpPr/>
                  <p:nvPr/>
                </p:nvSpPr>
                <p:spPr>
                  <a:xfrm>
                    <a:off x="438912" y="48097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 of products from existing members: should hold &gt;40%; decline = FSPL faltering</a:t>
                    </a:r>
                    <a:endParaRPr lang="en-US" sz="950" dirty="0"/>
                  </a:p>
                </p:txBody>
              </p:sp>
              <p:sp>
                <p:nvSpPr>
                  <p:cNvPr id="30" name="Text 28"/>
                  <p:cNvSpPr/>
                  <p:nvPr/>
                </p:nvSpPr>
                <p:spPr>
                  <a:xfrm>
                    <a:off x="438912" y="5157216"/>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Direct deposit penetration: what % of members use SoFi as primary bank?</a:t>
                    </a:r>
                    <a:endParaRPr lang="en-US" sz="950" dirty="0"/>
                  </a:p>
                </p:txBody>
              </p:sp>
              <p:sp>
                <p:nvSpPr>
                  <p:cNvPr id="31" name="Text 29"/>
                  <p:cNvSpPr/>
                  <p:nvPr/>
                </p:nvSpPr>
                <p:spPr>
                  <a:xfrm>
                    <a:off x="438912" y="5504688"/>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SoFi Money deposits: is $40.2B growing at $2–3B/quarter pace?</a:t>
                    </a:r>
                    <a:endParaRPr lang="en-US" sz="950" dirty="0"/>
                  </a:p>
                </p:txBody>
              </p:sp>
              <p:sp>
                <p:nvSpPr>
                  <p:cNvPr id="32" name="Text 30"/>
                  <p:cNvSpPr/>
                  <p:nvPr/>
                </p:nvSpPr>
                <p:spPr>
                  <a:xfrm>
                    <a:off x="438912" y="5852160"/>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Brokerage/invest product adoption: fee revenue diversification away from loans</a:t>
                    </a:r>
                    <a:endParaRPr lang="en-US" sz="950" dirty="0"/>
                  </a:p>
                </p:txBody>
              </p:sp>
              <p:sp>
                <p:nvSpPr>
                  <p:cNvPr id="34" name="Shape 32"/>
                  <p:cNvSpPr/>
                  <p:nvPr/>
                </p:nvSpPr>
                <p:spPr>
                  <a:xfrm>
                    <a:off x="6217920" y="3931920"/>
                    <a:ext cx="5760720" cy="2606040"/>
                  </a:xfrm>
                  <a:prstGeom prst="rect">
                    <a:avLst/>
                  </a:prstGeom>
                  <a:solidFill>
                    <a:srgbClr val="0F2040"/>
                  </a:solidFill>
                  <a:ln w="12700">
                    <a:solidFill>
                      <a:srgbClr val="0F2040"/>
                    </a:solidFill>
                    <a:prstDash val="solid"/>
                  </a:ln>
                </p:spPr>
              </p:sp>
              <p:sp>
                <p:nvSpPr>
                  <p:cNvPr id="35" name="Shape 33"/>
                  <p:cNvSpPr/>
                  <p:nvPr/>
                </p:nvSpPr>
                <p:spPr>
                  <a:xfrm>
                    <a:off x="6217920" y="3931920"/>
                    <a:ext cx="64008" cy="2606040"/>
                  </a:xfrm>
                  <a:prstGeom prst="rect">
                    <a:avLst/>
                  </a:prstGeom>
                  <a:solidFill>
                    <a:srgbClr val="0066FF"/>
                  </a:solidFill>
                  <a:ln w="12700">
                    <a:solidFill>
                      <a:srgbClr val="0066FF"/>
                    </a:solidFill>
                    <a:prstDash val="solid"/>
                  </a:ln>
                </p:spPr>
              </p:sp>
              <p:sp>
                <p:nvSpPr>
                  <p:cNvPr id="36" name="Text 34"/>
                  <p:cNvSpPr/>
                  <p:nvPr/>
                </p:nvSpPr>
                <p:spPr>
                  <a:xfrm>
                    <a:off x="6400800" y="4041648"/>
                    <a:ext cx="5394960" cy="347472"/>
                  </a:xfrm>
                  <a:prstGeom prst="rect">
                    <a:avLst/>
                  </a:prstGeom>
                  <a:noFill/>
                  <a:ln/>
                </p:spPr>
                <p:txBody>
                  <a:bodyPr wrap="square" rtlCol="0" anchor="ctr"/>
                  <a:lstStyle/>
                  <a:p>
                    <a:pPr marL="0" indent="0">
                      <a:buNone/>
                    </a:pPr>
                    <a:r>
                      <a:rPr lang="en-US" sz="1250" b="1" dirty="0">
                        <a:solidFill>
                          <a:srgbClr val="0066FF"/>
                        </a:solidFill>
                        <a:latin typeface="Calibri" pitchFamily="34" charset="0"/>
                        <a:ea typeface="Calibri" pitchFamily="34" charset="-122"/>
                        <a:cs typeface="Calibri" pitchFamily="34" charset="-120"/>
                      </a:rPr>
                      <a:t>Technology Platform Re-Acceleration</a:t>
                    </a:r>
                    <a:endParaRPr lang="en-US" sz="1250" dirty="0"/>
                  </a:p>
                </p:txBody>
              </p:sp>
              <p:sp>
                <p:nvSpPr>
                  <p:cNvPr id="37" name="Text 35"/>
                  <p:cNvSpPr/>
                  <p:nvPr/>
                </p:nvSpPr>
                <p:spPr>
                  <a:xfrm>
                    <a:off x="6400800" y="4462272"/>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Galileo: total enabled accounts target — reversing the stall from ~128M</a:t>
                    </a:r>
                    <a:endParaRPr lang="en-US" sz="950" dirty="0"/>
                  </a:p>
                </p:txBody>
              </p:sp>
              <p:sp>
                <p:nvSpPr>
                  <p:cNvPr id="38" name="Text 36"/>
                  <p:cNvSpPr/>
                  <p:nvPr/>
                </p:nvSpPr>
                <p:spPr>
                  <a:xfrm>
                    <a:off x="6400800" y="48097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New B2B client announcements: any major bank signing Cyberbank Core</a:t>
                    </a:r>
                    <a:endParaRPr lang="en-US" sz="950" dirty="0"/>
                  </a:p>
                </p:txBody>
              </p:sp>
              <p:sp>
                <p:nvSpPr>
                  <p:cNvPr id="39" name="Text 37"/>
                  <p:cNvSpPr/>
                  <p:nvPr/>
                </p:nvSpPr>
                <p:spPr>
                  <a:xfrm>
                    <a:off x="6400800" y="5157216"/>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Technisys geographic expansion: any new LATAM/Asia client announcements</a:t>
                    </a:r>
                    <a:endParaRPr lang="en-US" sz="950" dirty="0"/>
                  </a:p>
                </p:txBody>
              </p:sp>
              <p:sp>
                <p:nvSpPr>
                  <p:cNvPr id="40" name="Text 38"/>
                  <p:cNvSpPr/>
                  <p:nvPr/>
                </p:nvSpPr>
                <p:spPr>
                  <a:xfrm>
                    <a:off x="6400800" y="5504688"/>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Cyberbank Konecta AI: enterprise adoption metrics beyond internal SoFi use</a:t>
                    </a:r>
                    <a:endParaRPr lang="en-US" sz="950" dirty="0"/>
                  </a:p>
                </p:txBody>
              </p:sp>
              <p:sp>
                <p:nvSpPr>
                  <p:cNvPr id="41" name="Text 39"/>
                  <p:cNvSpPr/>
                  <p:nvPr/>
                </p:nvSpPr>
                <p:spPr>
                  <a:xfrm>
                    <a:off x="6400800" y="5852160"/>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Big Business Banking: initial deposit and loan traction — any early data</a:t>
                    </a:r>
                    <a:endParaRPr lang="en-US" sz="950" dirty="0"/>
                  </a:p>
                </p:txBody>
              </p:sp>
            </p:grpSp>
            <p:sp>
              <p:nvSpPr>
                <p:cNvPr id="26" name="Shape 24"/>
                <p:cNvSpPr/>
                <p:nvPr/>
              </p:nvSpPr>
              <p:spPr>
                <a:xfrm>
                  <a:off x="256032" y="3931920"/>
                  <a:ext cx="64008" cy="2606040"/>
                </a:xfrm>
                <a:prstGeom prst="rect">
                  <a:avLst/>
                </a:prstGeom>
                <a:solidFill>
                  <a:srgbClr val="FFB800"/>
                </a:solidFill>
                <a:ln w="12700">
                  <a:solidFill>
                    <a:srgbClr val="FFB800"/>
                  </a:solidFill>
                  <a:prstDash val="solid"/>
                </a:ln>
              </p:spPr>
            </p:sp>
          </p:grpSp>
          <p:sp>
            <p:nvSpPr>
              <p:cNvPr id="33" name="Text 31"/>
              <p:cNvSpPr/>
              <p:nvPr/>
            </p:nvSpPr>
            <p:spPr>
              <a:xfrm>
                <a:off x="438912" y="61813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SoFiUSD stablecoin traction: any major enterprise adoption announcement</a:t>
                </a:r>
                <a:endParaRPr lang="en-US" sz="950" dirty="0"/>
              </a:p>
            </p:txBody>
          </p:sp>
        </p:grpSp>
        <p:sp>
          <p:nvSpPr>
            <p:cNvPr id="42" name="Text 40"/>
            <p:cNvSpPr/>
            <p:nvPr/>
          </p:nvSpPr>
          <p:spPr>
            <a:xfrm>
              <a:off x="6400800" y="6181344"/>
              <a:ext cx="5440680" cy="329184"/>
            </a:xfrm>
            <a:prstGeom prst="rect">
              <a:avLst/>
            </a:prstGeom>
            <a:noFill/>
            <a:ln/>
          </p:spPr>
          <p:txBody>
            <a:bodyPr wrap="square" rtlCol="0" anchor="ctr"/>
            <a:lstStyle/>
            <a:p>
              <a:pPr marL="0" indent="0">
                <a:buNone/>
              </a:pPr>
              <a:r>
                <a:rPr lang="en-US" sz="950" dirty="0">
                  <a:solidFill>
                    <a:srgbClr val="D8E8F4"/>
                  </a:solidFill>
                  <a:latin typeface="Calibri" pitchFamily="34" charset="0"/>
                  <a:ea typeface="Calibri" pitchFamily="34" charset="-122"/>
                  <a:cs typeface="Calibri" pitchFamily="34" charset="-120"/>
                </a:rPr>
                <a:t>• Q2/Q3 tech platform revenue: does it stabilise at $75M+ or continue declining?</a:t>
              </a:r>
              <a:endParaRPr lang="en-US" sz="950" dirty="0"/>
            </a:p>
          </p:txBody>
        </p:sp>
      </p:grpSp>
      <p:sp>
        <p:nvSpPr>
          <p:cNvPr id="43" name="Shape 41"/>
          <p:cNvSpPr/>
          <p:nvPr/>
        </p:nvSpPr>
        <p:spPr>
          <a:xfrm>
            <a:off x="256032" y="6455664"/>
            <a:ext cx="11704320" cy="347472"/>
          </a:xfrm>
          <a:prstGeom prst="rect">
            <a:avLst/>
          </a:prstGeom>
          <a:solidFill>
            <a:srgbClr val="0A1628"/>
          </a:solidFill>
          <a:ln w="12700">
            <a:solidFill>
              <a:srgbClr val="0A1628"/>
            </a:solidFill>
            <a:prstDash val="solid"/>
          </a:ln>
        </p:spPr>
      </p:sp>
      <p:sp>
        <p:nvSpPr>
          <p:cNvPr id="44" name="Shape 42"/>
          <p:cNvSpPr/>
          <p:nvPr/>
        </p:nvSpPr>
        <p:spPr>
          <a:xfrm>
            <a:off x="256032" y="6455664"/>
            <a:ext cx="64008" cy="347472"/>
          </a:xfrm>
          <a:prstGeom prst="rect">
            <a:avLst/>
          </a:prstGeom>
          <a:solidFill>
            <a:srgbClr val="FFB800"/>
          </a:solidFill>
          <a:ln w="12700">
            <a:solidFill>
              <a:srgbClr val="FFB800"/>
            </a:solidFill>
            <a:prstDash val="solid"/>
          </a:ln>
        </p:spPr>
      </p:sp>
      <p:sp>
        <p:nvSpPr>
          <p:cNvPr id="45" name="Text 43"/>
          <p:cNvSpPr/>
          <p:nvPr/>
        </p:nvSpPr>
        <p:spPr>
          <a:xfrm>
            <a:off x="384048" y="6510528"/>
            <a:ext cx="11430000" cy="256032"/>
          </a:xfrm>
          <a:prstGeom prst="rect">
            <a:avLst/>
          </a:prstGeom>
          <a:noFill/>
          <a:ln/>
        </p:spPr>
        <p:txBody>
          <a:bodyPr wrap="square" rtlCol="0" anchor="ctr"/>
          <a:lstStyle/>
          <a:p>
            <a:pPr marL="0" indent="0">
              <a:buNone/>
            </a:pPr>
            <a:r>
              <a:rPr lang="en-US" sz="980" b="1" dirty="0">
                <a:solidFill>
                  <a:srgbClr val="FFB800"/>
                </a:solidFill>
                <a:latin typeface="Calibri" pitchFamily="34" charset="0"/>
                <a:ea typeface="Calibri" pitchFamily="34" charset="-122"/>
                <a:cs typeface="Calibri" pitchFamily="34" charset="-120"/>
              </a:rPr>
              <a:t>CRITICAL BINARY EVENT: Q2 2026 earnings (Jul 28 2026). Any FY guidance raise = strong re-rating catalyst. Any guidance cut = stock retests $12–13 lows. Muddy Waters legal resolution or regulatory inquiry = most important non-earnings catalyst.</a:t>
            </a:r>
            <a:endParaRPr lang="en-US" sz="9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hape 0">
            <a:extLst>
              <a:ext uri="{FF2B5EF4-FFF2-40B4-BE49-F238E27FC236}">
                <a16:creationId xmlns:a16="http://schemas.microsoft.com/office/drawing/2014/main" id="{0FF1CC0F-842B-A62D-E651-147770A1A601}"/>
              </a:ext>
            </a:extLst>
          </p:cNvPr>
          <p:cNvSpPr/>
          <p:nvPr/>
        </p:nvSpPr>
        <p:spPr>
          <a:xfrm>
            <a:off x="0" y="0"/>
            <a:ext cx="12161520" cy="749808"/>
          </a:xfrm>
          <a:prstGeom prst="rect">
            <a:avLst/>
          </a:prstGeom>
          <a:solidFill>
            <a:srgbClr val="0A1628"/>
          </a:solidFill>
          <a:ln w="12700">
            <a:solidFill>
              <a:srgbClr val="0A1628"/>
            </a:solidFill>
            <a:prstDash val="solid"/>
          </a:ln>
        </p:spPr>
      </p:sp>
      <p:sp>
        <p:nvSpPr>
          <p:cNvPr id="2" name="Shape 0"/>
          <p:cNvSpPr/>
          <p:nvPr/>
        </p:nvSpPr>
        <p:spPr>
          <a:xfrm>
            <a:off x="0" y="0"/>
            <a:ext cx="109728" cy="6858000"/>
          </a:xfrm>
          <a:prstGeom prst="rect">
            <a:avLst/>
          </a:prstGeom>
          <a:solidFill>
            <a:srgbClr val="00C8C8"/>
          </a:solidFill>
          <a:ln w="12700">
            <a:solidFill>
              <a:srgbClr val="00C8C8"/>
            </a:solidFill>
            <a:prstDash val="solid"/>
          </a:ln>
        </p:spPr>
      </p:sp>
      <p:sp>
        <p:nvSpPr>
          <p:cNvPr id="3" name="Text 1"/>
          <p:cNvSpPr/>
          <p:nvPr/>
        </p:nvSpPr>
        <p:spPr>
          <a:xfrm>
            <a:off x="256032" y="164592"/>
            <a:ext cx="11704320" cy="475488"/>
          </a:xfrm>
          <a:prstGeom prst="rect">
            <a:avLst/>
          </a:prstGeom>
          <a:noFill/>
          <a:ln/>
        </p:spPr>
        <p:txBody>
          <a:bodyPr wrap="square" rtlCol="0" anchor="ctr"/>
          <a:lstStyle/>
          <a:p>
            <a:pPr marL="0" indent="0">
              <a:buNone/>
            </a:pPr>
            <a:r>
              <a:rPr lang="en-US" sz="2800" b="1" dirty="0">
                <a:solidFill>
                  <a:schemeClr val="bg1"/>
                </a:solidFill>
                <a:latin typeface="Calibri" pitchFamily="34" charset="0"/>
                <a:ea typeface="Calibri" pitchFamily="34" charset="-122"/>
                <a:cs typeface="Calibri" pitchFamily="34" charset="-120"/>
              </a:rPr>
              <a:t>SOFI TECHNOLOGIES — Summary View</a:t>
            </a:r>
            <a:endParaRPr lang="en-US" sz="2800" dirty="0">
              <a:solidFill>
                <a:schemeClr val="bg1"/>
              </a:solidFill>
            </a:endParaRPr>
          </a:p>
        </p:txBody>
      </p:sp>
      <p:grpSp>
        <p:nvGrpSpPr>
          <p:cNvPr id="26" name="Group 25">
            <a:extLst>
              <a:ext uri="{FF2B5EF4-FFF2-40B4-BE49-F238E27FC236}">
                <a16:creationId xmlns:a16="http://schemas.microsoft.com/office/drawing/2014/main" id="{33DB83DF-EC57-A2AF-1F72-1DEB65AE6953}"/>
              </a:ext>
            </a:extLst>
          </p:cNvPr>
          <p:cNvGrpSpPr/>
          <p:nvPr/>
        </p:nvGrpSpPr>
        <p:grpSpPr>
          <a:xfrm>
            <a:off x="243840" y="941832"/>
            <a:ext cx="11704320" cy="5468112"/>
            <a:chOff x="243840" y="941832"/>
            <a:chExt cx="11704320" cy="5468112"/>
          </a:xfrm>
        </p:grpSpPr>
        <p:sp>
          <p:nvSpPr>
            <p:cNvPr id="4" name="Shape 2"/>
            <p:cNvSpPr/>
            <p:nvPr/>
          </p:nvSpPr>
          <p:spPr>
            <a:xfrm>
              <a:off x="243840" y="941832"/>
              <a:ext cx="11704320" cy="1005840"/>
            </a:xfrm>
            <a:prstGeom prst="rect">
              <a:avLst/>
            </a:prstGeom>
            <a:solidFill>
              <a:srgbClr val="0A0A14"/>
            </a:solidFill>
            <a:ln w="12700">
              <a:solidFill>
                <a:srgbClr val="0A0A14"/>
              </a:solidFill>
              <a:prstDash val="solid"/>
            </a:ln>
          </p:spPr>
        </p:sp>
        <p:sp>
          <p:nvSpPr>
            <p:cNvPr id="5" name="Shape 3"/>
            <p:cNvSpPr/>
            <p:nvPr/>
          </p:nvSpPr>
          <p:spPr>
            <a:xfrm>
              <a:off x="243840" y="941832"/>
              <a:ext cx="64008" cy="1005840"/>
            </a:xfrm>
            <a:prstGeom prst="rect">
              <a:avLst/>
            </a:prstGeom>
            <a:solidFill>
              <a:srgbClr val="00C8C8"/>
            </a:solidFill>
            <a:ln w="12700">
              <a:solidFill>
                <a:srgbClr val="00C8C8"/>
              </a:solidFill>
              <a:prstDash val="solid"/>
            </a:ln>
          </p:spPr>
        </p:sp>
        <p:sp>
          <p:nvSpPr>
            <p:cNvPr id="6" name="Text 4"/>
            <p:cNvSpPr/>
            <p:nvPr/>
          </p:nvSpPr>
          <p:spPr>
            <a:xfrm>
              <a:off x="426720" y="1014984"/>
              <a:ext cx="2286000" cy="274320"/>
            </a:xfrm>
            <a:prstGeom prst="rect">
              <a:avLst/>
            </a:prstGeom>
            <a:noFill/>
            <a:ln/>
          </p:spPr>
          <p:txBody>
            <a:bodyPr wrap="square" rtlCol="0" anchor="ctr"/>
            <a:lstStyle/>
            <a:p>
              <a:pPr marL="0" indent="0">
                <a:buNone/>
              </a:pPr>
              <a:r>
                <a:rPr lang="en-US" sz="1100" b="1" dirty="0">
                  <a:solidFill>
                    <a:srgbClr val="00C8C8"/>
                  </a:solidFill>
                  <a:latin typeface="Calibri" pitchFamily="34" charset="0"/>
                  <a:ea typeface="Calibri" pitchFamily="34" charset="-122"/>
                  <a:cs typeface="Calibri" pitchFamily="34" charset="-120"/>
                </a:rPr>
                <a:t>ONE-LINE THESIS</a:t>
              </a:r>
              <a:endParaRPr lang="en-US" sz="1100" dirty="0"/>
            </a:p>
          </p:txBody>
        </p:sp>
        <p:sp>
          <p:nvSpPr>
            <p:cNvPr id="7" name="Text 5"/>
            <p:cNvSpPr/>
            <p:nvPr/>
          </p:nvSpPr>
          <p:spPr>
            <a:xfrm>
              <a:off x="426720" y="1344168"/>
              <a:ext cx="11338560" cy="548640"/>
            </a:xfrm>
            <a:prstGeom prst="rect">
              <a:avLst/>
            </a:prstGeom>
            <a:noFill/>
            <a:ln/>
          </p:spPr>
          <p:txBody>
            <a:bodyPr wrap="square" rtlCol="0" anchor="ctr"/>
            <a:lstStyle/>
            <a:p>
              <a:pPr marL="0" indent="0">
                <a:buNone/>
              </a:pPr>
              <a:r>
                <a:rPr lang="en-US" sz="1050" dirty="0">
                  <a:solidFill>
                    <a:srgbClr val="D8E8F4"/>
                  </a:solidFill>
                  <a:latin typeface="Calibri" pitchFamily="34" charset="0"/>
                  <a:ea typeface="Calibri" pitchFamily="34" charset="-122"/>
                  <a:cs typeface="Calibri" pitchFamily="34" charset="-120"/>
                </a:rPr>
                <a:t>SoFi is the only profitable digital bank with a national charter, B2B fintech infrastructure (Galileo/Technisys), and a 14.7M member base growing at 35% — a rare combination of banking economics, fintech growth velocity, and software-like scalability that no single-category competitor can replicate.</a:t>
              </a:r>
              <a:endParaRPr lang="en-US" sz="1050" dirty="0"/>
            </a:p>
          </p:txBody>
        </p:sp>
        <p:sp>
          <p:nvSpPr>
            <p:cNvPr id="8" name="Shape 6"/>
            <p:cNvSpPr/>
            <p:nvPr/>
          </p:nvSpPr>
          <p:spPr>
            <a:xfrm>
              <a:off x="243840" y="2057400"/>
              <a:ext cx="11704320" cy="1005840"/>
            </a:xfrm>
            <a:prstGeom prst="rect">
              <a:avLst/>
            </a:prstGeom>
            <a:solidFill>
              <a:srgbClr val="0A0A14"/>
            </a:solidFill>
            <a:ln w="12700">
              <a:solidFill>
                <a:srgbClr val="0A0A14"/>
              </a:solidFill>
              <a:prstDash val="solid"/>
            </a:ln>
          </p:spPr>
        </p:sp>
        <p:sp>
          <p:nvSpPr>
            <p:cNvPr id="9" name="Shape 7"/>
            <p:cNvSpPr/>
            <p:nvPr/>
          </p:nvSpPr>
          <p:spPr>
            <a:xfrm>
              <a:off x="243840" y="2057400"/>
              <a:ext cx="64008" cy="1005840"/>
            </a:xfrm>
            <a:prstGeom prst="rect">
              <a:avLst/>
            </a:prstGeom>
            <a:solidFill>
              <a:srgbClr val="FFB800"/>
            </a:solidFill>
            <a:ln w="12700">
              <a:solidFill>
                <a:srgbClr val="FFB800"/>
              </a:solidFill>
              <a:prstDash val="solid"/>
            </a:ln>
          </p:spPr>
        </p:sp>
        <p:sp>
          <p:nvSpPr>
            <p:cNvPr id="10" name="Text 8"/>
            <p:cNvSpPr/>
            <p:nvPr/>
          </p:nvSpPr>
          <p:spPr>
            <a:xfrm>
              <a:off x="426720" y="2130552"/>
              <a:ext cx="2286000" cy="274320"/>
            </a:xfrm>
            <a:prstGeom prst="rect">
              <a:avLst/>
            </a:prstGeom>
            <a:noFill/>
            <a:ln/>
          </p:spPr>
          <p:txBody>
            <a:bodyPr wrap="square" rtlCol="0" anchor="ctr"/>
            <a:lstStyle/>
            <a:p>
              <a:pPr marL="0" indent="0">
                <a:buNone/>
              </a:pPr>
              <a:r>
                <a:rPr lang="en-US" sz="1100" b="1" dirty="0">
                  <a:solidFill>
                    <a:srgbClr val="FFB800"/>
                  </a:solidFill>
                  <a:latin typeface="Calibri" pitchFamily="34" charset="0"/>
                  <a:ea typeface="Calibri" pitchFamily="34" charset="-122"/>
                  <a:cs typeface="Calibri" pitchFamily="34" charset="-120"/>
                </a:rPr>
                <a:t>WHY IT'S DIFFERENT</a:t>
              </a:r>
              <a:endParaRPr lang="en-US" sz="1100" dirty="0"/>
            </a:p>
          </p:txBody>
        </p:sp>
        <p:sp>
          <p:nvSpPr>
            <p:cNvPr id="11" name="Text 9"/>
            <p:cNvSpPr/>
            <p:nvPr/>
          </p:nvSpPr>
          <p:spPr>
            <a:xfrm>
              <a:off x="426720" y="2459736"/>
              <a:ext cx="11338560" cy="548640"/>
            </a:xfrm>
            <a:prstGeom prst="rect">
              <a:avLst/>
            </a:prstGeom>
            <a:noFill/>
            <a:ln/>
          </p:spPr>
          <p:txBody>
            <a:bodyPr wrap="square" rtlCol="0" anchor="ctr"/>
            <a:lstStyle/>
            <a:p>
              <a:pPr marL="0" indent="0">
                <a:buNone/>
              </a:pPr>
              <a:r>
                <a:rPr lang="en-US" sz="1050" dirty="0">
                  <a:solidFill>
                    <a:srgbClr val="D8E8F4"/>
                  </a:solidFill>
                  <a:latin typeface="Calibri" pitchFamily="34" charset="0"/>
                  <a:ea typeface="Calibri" pitchFamily="34" charset="-122"/>
                  <a:cs typeface="Calibri" pitchFamily="34" charset="-120"/>
                </a:rPr>
                <a:t>Unlike Chime (no charter, no NIM), SoFi earns 5.94% net interest margin. Unlike LendingClub (pure lender), SoFi has Galileo powering 128M B2B accounts. Unlike traditional banks, SoFi acquires members via app, not branches, with zero retail overhead. The FSPL model is unique: each product added by a member compounds LTV geometrically. CEO Noto's track record — 18 consecutive Rule of 40 quarters — is the strongest in US fintech.</a:t>
              </a:r>
              <a:endParaRPr lang="en-US" sz="1050" dirty="0"/>
            </a:p>
          </p:txBody>
        </p:sp>
        <p:sp>
          <p:nvSpPr>
            <p:cNvPr id="12" name="Shape 10"/>
            <p:cNvSpPr/>
            <p:nvPr/>
          </p:nvSpPr>
          <p:spPr>
            <a:xfrm>
              <a:off x="243840" y="3172968"/>
              <a:ext cx="11704320" cy="1005840"/>
            </a:xfrm>
            <a:prstGeom prst="rect">
              <a:avLst/>
            </a:prstGeom>
            <a:solidFill>
              <a:srgbClr val="0A0A14"/>
            </a:solidFill>
            <a:ln w="12700">
              <a:solidFill>
                <a:srgbClr val="0A0A14"/>
              </a:solidFill>
              <a:prstDash val="solid"/>
            </a:ln>
          </p:spPr>
        </p:sp>
        <p:sp>
          <p:nvSpPr>
            <p:cNvPr id="13" name="Shape 11"/>
            <p:cNvSpPr/>
            <p:nvPr/>
          </p:nvSpPr>
          <p:spPr>
            <a:xfrm>
              <a:off x="243840" y="3172968"/>
              <a:ext cx="64008" cy="1005840"/>
            </a:xfrm>
            <a:prstGeom prst="rect">
              <a:avLst/>
            </a:prstGeom>
            <a:solidFill>
              <a:srgbClr val="00D68F"/>
            </a:solidFill>
            <a:ln w="12700">
              <a:solidFill>
                <a:srgbClr val="00D68F"/>
              </a:solidFill>
              <a:prstDash val="solid"/>
            </a:ln>
          </p:spPr>
        </p:sp>
        <p:sp>
          <p:nvSpPr>
            <p:cNvPr id="14" name="Text 12"/>
            <p:cNvSpPr/>
            <p:nvPr/>
          </p:nvSpPr>
          <p:spPr>
            <a:xfrm>
              <a:off x="426720" y="3246120"/>
              <a:ext cx="2286000" cy="274320"/>
            </a:xfrm>
            <a:prstGeom prst="rect">
              <a:avLst/>
            </a:prstGeom>
            <a:noFill/>
            <a:ln/>
          </p:spPr>
          <p:txBody>
            <a:bodyPr wrap="square" rtlCol="0" anchor="ctr"/>
            <a:lstStyle/>
            <a:p>
              <a:pPr marL="0" indent="0">
                <a:buNone/>
              </a:pPr>
              <a:r>
                <a:rPr lang="en-US" sz="1100" b="1" dirty="0">
                  <a:solidFill>
                    <a:srgbClr val="00D68F"/>
                  </a:solidFill>
                  <a:latin typeface="Calibri" pitchFamily="34" charset="0"/>
                  <a:ea typeface="Calibri" pitchFamily="34" charset="-122"/>
                  <a:cs typeface="Calibri" pitchFamily="34" charset="-120"/>
                </a:rPr>
                <a:t>WHAT WE LIKE</a:t>
              </a:r>
              <a:endParaRPr lang="en-US" sz="1100" dirty="0"/>
            </a:p>
          </p:txBody>
        </p:sp>
        <p:sp>
          <p:nvSpPr>
            <p:cNvPr id="15" name="Text 13"/>
            <p:cNvSpPr/>
            <p:nvPr/>
          </p:nvSpPr>
          <p:spPr>
            <a:xfrm>
              <a:off x="426720" y="3575304"/>
              <a:ext cx="11338560" cy="548640"/>
            </a:xfrm>
            <a:prstGeom prst="rect">
              <a:avLst/>
            </a:prstGeom>
            <a:noFill/>
            <a:ln/>
          </p:spPr>
          <p:txBody>
            <a:bodyPr wrap="square" rtlCol="0" anchor="ctr"/>
            <a:lstStyle/>
            <a:p>
              <a:pPr marL="0" indent="0">
                <a:buNone/>
              </a:pPr>
              <a:r>
                <a:rPr lang="en-US" sz="1050" dirty="0">
                  <a:solidFill>
                    <a:srgbClr val="D8E8F4"/>
                  </a:solidFill>
                  <a:latin typeface="Calibri" pitchFamily="34" charset="0"/>
                  <a:ea typeface="Calibri" pitchFamily="34" charset="-122"/>
                  <a:cs typeface="Calibri" pitchFamily="34" charset="-120"/>
                </a:rPr>
                <a:t>$1.1B Q1 2026 revenue (+41% YoY), $167M net income (doubled YoY), 10 consecutive profitable quarters, $40.2B in deposits at 5.94% NIM, record $12.2B loan originations, 14.7M members growing 35%, FY2026 guidance $4.655B, management 2025–2028 targets of 30%+ rev CAGR and 38–42% EPS CAGR, CEO personal stake of ~$215M aligning incentives.</a:t>
              </a:r>
              <a:endParaRPr lang="en-US" sz="1050" dirty="0"/>
            </a:p>
          </p:txBody>
        </p:sp>
        <p:sp>
          <p:nvSpPr>
            <p:cNvPr id="16" name="Shape 14"/>
            <p:cNvSpPr/>
            <p:nvPr/>
          </p:nvSpPr>
          <p:spPr>
            <a:xfrm>
              <a:off x="243840" y="4288536"/>
              <a:ext cx="11704320" cy="1005840"/>
            </a:xfrm>
            <a:prstGeom prst="rect">
              <a:avLst/>
            </a:prstGeom>
            <a:solidFill>
              <a:srgbClr val="0A0A14"/>
            </a:solidFill>
            <a:ln w="12700">
              <a:solidFill>
                <a:srgbClr val="0A0A14"/>
              </a:solidFill>
              <a:prstDash val="solid"/>
            </a:ln>
          </p:spPr>
        </p:sp>
        <p:sp>
          <p:nvSpPr>
            <p:cNvPr id="17" name="Shape 15"/>
            <p:cNvSpPr/>
            <p:nvPr/>
          </p:nvSpPr>
          <p:spPr>
            <a:xfrm>
              <a:off x="243840" y="4288536"/>
              <a:ext cx="64008" cy="1005840"/>
            </a:xfrm>
            <a:prstGeom prst="rect">
              <a:avLst/>
            </a:prstGeom>
            <a:solidFill>
              <a:srgbClr val="FF4444"/>
            </a:solidFill>
            <a:ln w="12700">
              <a:solidFill>
                <a:srgbClr val="FF4444"/>
              </a:solidFill>
              <a:prstDash val="solid"/>
            </a:ln>
          </p:spPr>
        </p:sp>
        <p:sp>
          <p:nvSpPr>
            <p:cNvPr id="18" name="Text 16"/>
            <p:cNvSpPr/>
            <p:nvPr/>
          </p:nvSpPr>
          <p:spPr>
            <a:xfrm>
              <a:off x="426720" y="4361688"/>
              <a:ext cx="2286000" cy="274320"/>
            </a:xfrm>
            <a:prstGeom prst="rect">
              <a:avLst/>
            </a:prstGeom>
            <a:noFill/>
            <a:ln/>
          </p:spPr>
          <p:txBody>
            <a:bodyPr wrap="square" rtlCol="0" anchor="ctr"/>
            <a:lstStyle/>
            <a:p>
              <a:pPr marL="0" indent="0">
                <a:buNone/>
              </a:pPr>
              <a:r>
                <a:rPr lang="en-US" sz="1100" b="1" dirty="0">
                  <a:solidFill>
                    <a:srgbClr val="FF4444"/>
                  </a:solidFill>
                  <a:latin typeface="Calibri" pitchFamily="34" charset="0"/>
                  <a:ea typeface="Calibri" pitchFamily="34" charset="-122"/>
                  <a:cs typeface="Calibri" pitchFamily="34" charset="-120"/>
                </a:rPr>
                <a:t>WHAT WORRIES US</a:t>
              </a:r>
              <a:endParaRPr lang="en-US" sz="1100" dirty="0"/>
            </a:p>
          </p:txBody>
        </p:sp>
        <p:sp>
          <p:nvSpPr>
            <p:cNvPr id="19" name="Text 17"/>
            <p:cNvSpPr/>
            <p:nvPr/>
          </p:nvSpPr>
          <p:spPr>
            <a:xfrm>
              <a:off x="426720" y="4690872"/>
              <a:ext cx="11338560" cy="548640"/>
            </a:xfrm>
            <a:prstGeom prst="rect">
              <a:avLst/>
            </a:prstGeom>
            <a:noFill/>
            <a:ln/>
          </p:spPr>
          <p:txBody>
            <a:bodyPr wrap="square" rtlCol="0" anchor="ctr"/>
            <a:lstStyle/>
            <a:p>
              <a:pPr marL="0" indent="0">
                <a:buNone/>
              </a:pPr>
              <a:r>
                <a:rPr lang="en-US" sz="1050" dirty="0">
                  <a:solidFill>
                    <a:srgbClr val="D8E8F4"/>
                  </a:solidFill>
                  <a:latin typeface="Calibri" pitchFamily="34" charset="0"/>
                  <a:ea typeface="Calibri" pitchFamily="34" charset="-122"/>
                  <a:cs typeface="Calibri" pitchFamily="34" charset="-120"/>
                </a:rPr>
                <a:t>Muddy Waters short report alleging $1B EBITDA restatement remains unresolved. Technology platform -27% YoY. Macro uncertainty (no Fed cuts assumed) + net charge-offs rising. Stock down 40% YTD despite record fundamentals — signal or opportunity? Bank vs software valuation framework unresolved. Analyst consensus mixed (BofA, KBW, TD Cowen all Underperform/Hold at $17–18).</a:t>
              </a:r>
              <a:endParaRPr lang="en-US" sz="1050" dirty="0"/>
            </a:p>
          </p:txBody>
        </p:sp>
        <p:sp>
          <p:nvSpPr>
            <p:cNvPr id="20" name="Shape 18"/>
            <p:cNvSpPr/>
            <p:nvPr/>
          </p:nvSpPr>
          <p:spPr>
            <a:xfrm>
              <a:off x="243840" y="5404104"/>
              <a:ext cx="11704320" cy="1005840"/>
            </a:xfrm>
            <a:prstGeom prst="rect">
              <a:avLst/>
            </a:prstGeom>
            <a:solidFill>
              <a:srgbClr val="0A0A14"/>
            </a:solidFill>
            <a:ln w="12700">
              <a:solidFill>
                <a:srgbClr val="0A0A14"/>
              </a:solidFill>
              <a:prstDash val="solid"/>
            </a:ln>
          </p:spPr>
        </p:sp>
        <p:sp>
          <p:nvSpPr>
            <p:cNvPr id="21" name="Shape 19"/>
            <p:cNvSpPr/>
            <p:nvPr/>
          </p:nvSpPr>
          <p:spPr>
            <a:xfrm>
              <a:off x="243840" y="5404104"/>
              <a:ext cx="64008" cy="1005840"/>
            </a:xfrm>
            <a:prstGeom prst="rect">
              <a:avLst/>
            </a:prstGeom>
            <a:solidFill>
              <a:srgbClr val="8B5CF6"/>
            </a:solidFill>
            <a:ln w="12700">
              <a:solidFill>
                <a:srgbClr val="8B5CF6"/>
              </a:solidFill>
              <a:prstDash val="solid"/>
            </a:ln>
          </p:spPr>
        </p:sp>
        <p:sp>
          <p:nvSpPr>
            <p:cNvPr id="22" name="Text 20"/>
            <p:cNvSpPr/>
            <p:nvPr/>
          </p:nvSpPr>
          <p:spPr>
            <a:xfrm>
              <a:off x="426720" y="5477256"/>
              <a:ext cx="2286000" cy="274320"/>
            </a:xfrm>
            <a:prstGeom prst="rect">
              <a:avLst/>
            </a:prstGeom>
            <a:noFill/>
            <a:ln/>
          </p:spPr>
          <p:txBody>
            <a:bodyPr wrap="square"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PRICE TARGET RANGE</a:t>
              </a:r>
              <a:endParaRPr lang="en-US" sz="1100" dirty="0"/>
            </a:p>
          </p:txBody>
        </p:sp>
        <p:sp>
          <p:nvSpPr>
            <p:cNvPr id="23" name="Text 21"/>
            <p:cNvSpPr/>
            <p:nvPr/>
          </p:nvSpPr>
          <p:spPr>
            <a:xfrm>
              <a:off x="426720" y="5806440"/>
              <a:ext cx="11338560" cy="548640"/>
            </a:xfrm>
            <a:prstGeom prst="rect">
              <a:avLst/>
            </a:prstGeom>
            <a:noFill/>
            <a:ln/>
          </p:spPr>
          <p:txBody>
            <a:bodyPr wrap="square" rtlCol="0" anchor="ctr"/>
            <a:lstStyle/>
            <a:p>
              <a:pPr marL="0" indent="0">
                <a:buNone/>
              </a:pPr>
              <a:r>
                <a:rPr lang="en-US" sz="1050" dirty="0">
                  <a:solidFill>
                    <a:srgbClr val="D8E8F4"/>
                  </a:solidFill>
                  <a:latin typeface="Calibri" pitchFamily="34" charset="0"/>
                  <a:ea typeface="Calibri" pitchFamily="34" charset="-122"/>
                  <a:cs typeface="Calibri" pitchFamily="34" charset="-120"/>
                </a:rPr>
                <a:t>Bear: $8–10 (Muddy Waters validated + recession + bank re-rate) · Base: $20–25 (guidance achieved + Galileo stabilises + macro holds, 4–5x fwd rev) · Bull: $32–40 (S&amp;P 500 inclusion + Big Business Banking traction + software re-rate 7–9x rev). CMP: ~$15.65 — sitting exactly between bear and base scenarios.</a:t>
              </a:r>
              <a:endParaRPr lang="en-US" sz="1050" dirty="0"/>
            </a:p>
          </p:txBody>
        </p:sp>
      </p:grpSp>
      <p:sp>
        <p:nvSpPr>
          <p:cNvPr id="24" name="Text 22"/>
          <p:cNvSpPr/>
          <p:nvPr/>
        </p:nvSpPr>
        <p:spPr>
          <a:xfrm>
            <a:off x="256032" y="6601968"/>
            <a:ext cx="11704320" cy="219456"/>
          </a:xfrm>
          <a:prstGeom prst="rect">
            <a:avLst/>
          </a:prstGeom>
          <a:noFill/>
          <a:ln/>
        </p:spPr>
        <p:txBody>
          <a:bodyPr wrap="square" rtlCol="0" anchor="ctr"/>
          <a:lstStyle/>
          <a:p>
            <a:pPr marL="0" indent="0">
              <a:buNone/>
            </a:pPr>
            <a:r>
              <a:rPr lang="en-US" sz="900" i="1" dirty="0">
                <a:solidFill>
                  <a:srgbClr val="8899BB"/>
                </a:solidFill>
                <a:latin typeface="Calibri" pitchFamily="34" charset="0"/>
                <a:ea typeface="Calibri" pitchFamily="34" charset="-122"/>
                <a:cs typeface="Calibri" pitchFamily="34" charset="-120"/>
              </a:rPr>
              <a:t>For Research &amp; Educational Purposes Only. Not Investment Advice. May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40C1C"/>
          </a:solidFill>
          <a:ln w="12700">
            <a:solidFill>
              <a:srgbClr val="040C1C"/>
            </a:solidFill>
            <a:prstDash val="solid"/>
          </a:ln>
        </p:spPr>
      </p:sp>
      <p:sp>
        <p:nvSpPr>
          <p:cNvPr id="3" name="Shape 1"/>
          <p:cNvSpPr/>
          <p:nvPr/>
        </p:nvSpPr>
        <p:spPr>
          <a:xfrm>
            <a:off x="0" y="3401568"/>
            <a:ext cx="12161520" cy="54864"/>
          </a:xfrm>
          <a:prstGeom prst="rect">
            <a:avLst/>
          </a:prstGeom>
          <a:solidFill>
            <a:srgbClr val="00C8C8"/>
          </a:solidFill>
          <a:ln w="12700">
            <a:solidFill>
              <a:srgbClr val="00C8C8"/>
            </a:solidFill>
            <a:prstDash val="solid"/>
          </a:ln>
        </p:spPr>
      </p:sp>
      <p:sp>
        <p:nvSpPr>
          <p:cNvPr id="4" name="Shape 2"/>
          <p:cNvSpPr/>
          <p:nvPr/>
        </p:nvSpPr>
        <p:spPr>
          <a:xfrm>
            <a:off x="0" y="0"/>
            <a:ext cx="109728" cy="6858000"/>
          </a:xfrm>
          <a:prstGeom prst="rect">
            <a:avLst/>
          </a:prstGeom>
          <a:solidFill>
            <a:srgbClr val="00C8C8"/>
          </a:solidFill>
          <a:ln w="12700">
            <a:solidFill>
              <a:srgbClr val="00C8C8"/>
            </a:solidFill>
            <a:prstDash val="solid"/>
          </a:ln>
        </p:spPr>
      </p:sp>
      <p:sp>
        <p:nvSpPr>
          <p:cNvPr id="5" name="Text 3"/>
          <p:cNvSpPr/>
          <p:nvPr/>
        </p:nvSpPr>
        <p:spPr>
          <a:xfrm>
            <a:off x="457200" y="502920"/>
            <a:ext cx="11247120" cy="475488"/>
          </a:xfrm>
          <a:prstGeom prst="rect">
            <a:avLst/>
          </a:prstGeom>
          <a:noFill/>
          <a:ln/>
        </p:spPr>
        <p:txBody>
          <a:bodyPr wrap="square" rtlCol="0" anchor="ctr"/>
          <a:lstStyle/>
          <a:p>
            <a:pPr marL="0" indent="0" algn="ctr">
              <a:buNone/>
            </a:pPr>
            <a:r>
              <a:rPr lang="en-US" sz="1500" kern="0" spc="500" dirty="0">
                <a:solidFill>
                  <a:srgbClr val="00C8C8"/>
                </a:solidFill>
                <a:latin typeface="Calibri" pitchFamily="34" charset="0"/>
                <a:ea typeface="Calibri" pitchFamily="34" charset="-122"/>
                <a:cs typeface="Calibri" pitchFamily="34" charset="-120"/>
              </a:rPr>
              <a:t>DREAMLIT EQUITY RESEARCH</a:t>
            </a:r>
            <a:endParaRPr lang="en-US" sz="1500" dirty="0"/>
          </a:p>
        </p:txBody>
      </p:sp>
      <p:sp>
        <p:nvSpPr>
          <p:cNvPr id="6" name="Text 4"/>
          <p:cNvSpPr/>
          <p:nvPr/>
        </p:nvSpPr>
        <p:spPr>
          <a:xfrm>
            <a:off x="457200" y="1078992"/>
            <a:ext cx="11247120" cy="1234440"/>
          </a:xfrm>
          <a:prstGeom prst="rect">
            <a:avLst/>
          </a:prstGeom>
          <a:noFill/>
          <a:ln/>
        </p:spPr>
        <p:txBody>
          <a:bodyPr wrap="square" rtlCol="0" anchor="ctr"/>
          <a:lstStyle/>
          <a:p>
            <a:pPr marL="0" indent="0" algn="ctr">
              <a:buNone/>
            </a:pPr>
            <a:r>
              <a:rPr lang="en-US" sz="6200" b="1" dirty="0">
                <a:solidFill>
                  <a:srgbClr val="FFFFFF"/>
                </a:solidFill>
                <a:latin typeface="Calibri" pitchFamily="34" charset="0"/>
                <a:ea typeface="Calibri" pitchFamily="34" charset="-122"/>
                <a:cs typeface="Calibri" pitchFamily="34" charset="-120"/>
              </a:rPr>
              <a:t>SoFi Technologies</a:t>
            </a:r>
            <a:endParaRPr lang="en-US" sz="6200" dirty="0"/>
          </a:p>
        </p:txBody>
      </p:sp>
      <p:sp>
        <p:nvSpPr>
          <p:cNvPr id="7" name="Text 5"/>
          <p:cNvSpPr/>
          <p:nvPr/>
        </p:nvSpPr>
        <p:spPr>
          <a:xfrm>
            <a:off x="457200" y="2331720"/>
            <a:ext cx="11247120" cy="621792"/>
          </a:xfrm>
          <a:prstGeom prst="rect">
            <a:avLst/>
          </a:prstGeom>
          <a:noFill/>
          <a:ln/>
        </p:spPr>
        <p:txBody>
          <a:bodyPr wrap="square" rtlCol="0" anchor="ctr"/>
          <a:lstStyle/>
          <a:p>
            <a:pPr marL="0" indent="0" algn="ctr">
              <a:buNone/>
            </a:pPr>
            <a:r>
              <a:rPr lang="en-US" sz="2800" b="1" dirty="0">
                <a:solidFill>
                  <a:srgbClr val="FFB800"/>
                </a:solidFill>
                <a:latin typeface="Calibri" pitchFamily="34" charset="0"/>
                <a:ea typeface="Calibri" pitchFamily="34" charset="-122"/>
                <a:cs typeface="Calibri" pitchFamily="34" charset="-120"/>
              </a:rPr>
              <a:t>The Everything App for Finance</a:t>
            </a:r>
            <a:endParaRPr lang="en-US" sz="2800" dirty="0"/>
          </a:p>
        </p:txBody>
      </p:sp>
      <p:sp>
        <p:nvSpPr>
          <p:cNvPr id="8" name="Text 6"/>
          <p:cNvSpPr/>
          <p:nvPr/>
        </p:nvSpPr>
        <p:spPr>
          <a:xfrm>
            <a:off x="457200" y="2999232"/>
            <a:ext cx="11247120" cy="347472"/>
          </a:xfrm>
          <a:prstGeom prst="rect">
            <a:avLst/>
          </a:prstGeom>
          <a:noFill/>
          <a:ln/>
        </p:spPr>
        <p:txBody>
          <a:bodyPr wrap="square" rtlCol="0" anchor="ctr"/>
          <a:lstStyle/>
          <a:p>
            <a:pPr marL="0" indent="0" algn="ctr">
              <a:buNone/>
            </a:pPr>
            <a:r>
              <a:rPr lang="en-US" sz="1600" dirty="0">
                <a:solidFill>
                  <a:srgbClr val="00C8C8"/>
                </a:solidFill>
                <a:latin typeface="Calibri" pitchFamily="34" charset="0"/>
                <a:ea typeface="Calibri" pitchFamily="34" charset="-122"/>
                <a:cs typeface="Calibri" pitchFamily="34" charset="-120"/>
              </a:rPr>
              <a:t>NASDAQ: SOFI  |  BUY (Long Horizon)  |  Base Target $20–25  |  May 2026</a:t>
            </a:r>
            <a:endParaRPr lang="en-US" sz="1600" dirty="0"/>
          </a:p>
        </p:txBody>
      </p:sp>
      <p:sp>
        <p:nvSpPr>
          <p:cNvPr id="9" name="Shape 7"/>
          <p:cNvSpPr/>
          <p:nvPr/>
        </p:nvSpPr>
        <p:spPr>
          <a:xfrm>
            <a:off x="1371600" y="3703320"/>
            <a:ext cx="9418320" cy="457200"/>
          </a:xfrm>
          <a:prstGeom prst="rect">
            <a:avLst/>
          </a:prstGeom>
          <a:solidFill>
            <a:srgbClr val="0A0A1A"/>
          </a:solidFill>
          <a:ln w="12700">
            <a:solidFill>
              <a:srgbClr val="0A0A1A"/>
            </a:solidFill>
            <a:prstDash val="solid"/>
          </a:ln>
        </p:spPr>
      </p:sp>
      <p:sp>
        <p:nvSpPr>
          <p:cNvPr id="10" name="Shape 8"/>
          <p:cNvSpPr/>
          <p:nvPr/>
        </p:nvSpPr>
        <p:spPr>
          <a:xfrm>
            <a:off x="1371600" y="3703320"/>
            <a:ext cx="54864" cy="457200"/>
          </a:xfrm>
          <a:prstGeom prst="rect">
            <a:avLst/>
          </a:prstGeom>
          <a:solidFill>
            <a:srgbClr val="00C8C8"/>
          </a:solidFill>
          <a:ln w="12700">
            <a:solidFill>
              <a:srgbClr val="00C8C8"/>
            </a:solidFill>
            <a:prstDash val="solid"/>
          </a:ln>
        </p:spPr>
      </p:sp>
      <p:sp>
        <p:nvSpPr>
          <p:cNvPr id="11" name="Text 9"/>
          <p:cNvSpPr/>
          <p:nvPr/>
        </p:nvSpPr>
        <p:spPr>
          <a:xfrm>
            <a:off x="1572768" y="3749040"/>
            <a:ext cx="9144000" cy="38404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14.7M high-FICO members growing 35% YoY — primary bank for 43% of SoFi's members</a:t>
            </a:r>
            <a:endParaRPr lang="en-US" sz="1200" dirty="0"/>
          </a:p>
        </p:txBody>
      </p:sp>
      <p:sp>
        <p:nvSpPr>
          <p:cNvPr id="12" name="Shape 10"/>
          <p:cNvSpPr/>
          <p:nvPr/>
        </p:nvSpPr>
        <p:spPr>
          <a:xfrm>
            <a:off x="1371600" y="4206240"/>
            <a:ext cx="9418320" cy="457200"/>
          </a:xfrm>
          <a:prstGeom prst="rect">
            <a:avLst/>
          </a:prstGeom>
          <a:solidFill>
            <a:srgbClr val="0A0A1A"/>
          </a:solidFill>
          <a:ln w="12700">
            <a:solidFill>
              <a:srgbClr val="0A0A1A"/>
            </a:solidFill>
            <a:prstDash val="solid"/>
          </a:ln>
        </p:spPr>
      </p:sp>
      <p:sp>
        <p:nvSpPr>
          <p:cNvPr id="13" name="Shape 11"/>
          <p:cNvSpPr/>
          <p:nvPr/>
        </p:nvSpPr>
        <p:spPr>
          <a:xfrm>
            <a:off x="1371600" y="4206240"/>
            <a:ext cx="54864" cy="457200"/>
          </a:xfrm>
          <a:prstGeom prst="rect">
            <a:avLst/>
          </a:prstGeom>
          <a:solidFill>
            <a:srgbClr val="FFB800"/>
          </a:solidFill>
          <a:ln w="12700">
            <a:solidFill>
              <a:srgbClr val="FFB800"/>
            </a:solidFill>
            <a:prstDash val="solid"/>
          </a:ln>
        </p:spPr>
      </p:sp>
      <p:sp>
        <p:nvSpPr>
          <p:cNvPr id="14" name="Text 12"/>
          <p:cNvSpPr/>
          <p:nvPr/>
        </p:nvSpPr>
        <p:spPr>
          <a:xfrm>
            <a:off x="1572768" y="4251960"/>
            <a:ext cx="9144000" cy="38404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National bank charter: 5.94% NIM on $40.2B deposits — no fintech-only peer can match this</a:t>
            </a:r>
            <a:endParaRPr lang="en-US" sz="1200" dirty="0"/>
          </a:p>
        </p:txBody>
      </p:sp>
      <p:sp>
        <p:nvSpPr>
          <p:cNvPr id="15" name="Shape 13"/>
          <p:cNvSpPr/>
          <p:nvPr/>
        </p:nvSpPr>
        <p:spPr>
          <a:xfrm>
            <a:off x="1371600" y="4709160"/>
            <a:ext cx="9418320" cy="457200"/>
          </a:xfrm>
          <a:prstGeom prst="rect">
            <a:avLst/>
          </a:prstGeom>
          <a:solidFill>
            <a:srgbClr val="0A0A1A"/>
          </a:solidFill>
          <a:ln w="12700">
            <a:solidFill>
              <a:srgbClr val="0A0A1A"/>
            </a:solidFill>
            <a:prstDash val="solid"/>
          </a:ln>
        </p:spPr>
      </p:sp>
      <p:sp>
        <p:nvSpPr>
          <p:cNvPr id="16" name="Shape 14"/>
          <p:cNvSpPr/>
          <p:nvPr/>
        </p:nvSpPr>
        <p:spPr>
          <a:xfrm>
            <a:off x="1371600" y="4709160"/>
            <a:ext cx="54864" cy="457200"/>
          </a:xfrm>
          <a:prstGeom prst="rect">
            <a:avLst/>
          </a:prstGeom>
          <a:solidFill>
            <a:srgbClr val="00C8C8"/>
          </a:solidFill>
          <a:ln w="12700">
            <a:solidFill>
              <a:srgbClr val="00C8C8"/>
            </a:solidFill>
            <a:prstDash val="solid"/>
          </a:ln>
        </p:spPr>
      </p:sp>
      <p:sp>
        <p:nvSpPr>
          <p:cNvPr id="17" name="Text 15"/>
          <p:cNvSpPr/>
          <p:nvPr/>
        </p:nvSpPr>
        <p:spPr>
          <a:xfrm>
            <a:off x="1572768" y="4754880"/>
            <a:ext cx="9144000" cy="38404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Galileo powers 128.5M B2B accounts — the infrastructure play within the consumer play</a:t>
            </a:r>
            <a:endParaRPr lang="en-US" sz="1200" dirty="0"/>
          </a:p>
        </p:txBody>
      </p:sp>
      <p:sp>
        <p:nvSpPr>
          <p:cNvPr id="18" name="Shape 16"/>
          <p:cNvSpPr/>
          <p:nvPr/>
        </p:nvSpPr>
        <p:spPr>
          <a:xfrm>
            <a:off x="1371600" y="5212080"/>
            <a:ext cx="9418320" cy="457200"/>
          </a:xfrm>
          <a:prstGeom prst="rect">
            <a:avLst/>
          </a:prstGeom>
          <a:solidFill>
            <a:srgbClr val="0A0A1A"/>
          </a:solidFill>
          <a:ln w="12700">
            <a:solidFill>
              <a:srgbClr val="0A0A1A"/>
            </a:solidFill>
            <a:prstDash val="solid"/>
          </a:ln>
        </p:spPr>
      </p:sp>
      <p:sp>
        <p:nvSpPr>
          <p:cNvPr id="19" name="Shape 17"/>
          <p:cNvSpPr/>
          <p:nvPr/>
        </p:nvSpPr>
        <p:spPr>
          <a:xfrm>
            <a:off x="1371600" y="5212080"/>
            <a:ext cx="54864" cy="457200"/>
          </a:xfrm>
          <a:prstGeom prst="rect">
            <a:avLst/>
          </a:prstGeom>
          <a:solidFill>
            <a:srgbClr val="FFB800"/>
          </a:solidFill>
          <a:ln w="12700">
            <a:solidFill>
              <a:srgbClr val="FFB800"/>
            </a:solidFill>
            <a:prstDash val="solid"/>
          </a:ln>
        </p:spPr>
      </p:sp>
      <p:sp>
        <p:nvSpPr>
          <p:cNvPr id="20" name="Text 18"/>
          <p:cNvSpPr/>
          <p:nvPr/>
        </p:nvSpPr>
        <p:spPr>
          <a:xfrm>
            <a:off x="1572768" y="5257800"/>
            <a:ext cx="9144000" cy="38404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$4.655B FY2026 guidance with 30%+ CAGR through 2028; Rule of 40 for 18 straight quarters</a:t>
            </a:r>
            <a:endParaRPr lang="en-US" sz="1200" dirty="0"/>
          </a:p>
        </p:txBody>
      </p:sp>
      <p:sp>
        <p:nvSpPr>
          <p:cNvPr id="21" name="Shape 19"/>
          <p:cNvSpPr/>
          <p:nvPr/>
        </p:nvSpPr>
        <p:spPr>
          <a:xfrm>
            <a:off x="1371600" y="5715000"/>
            <a:ext cx="9418320" cy="457200"/>
          </a:xfrm>
          <a:prstGeom prst="rect">
            <a:avLst/>
          </a:prstGeom>
          <a:solidFill>
            <a:srgbClr val="0A0A1A"/>
          </a:solidFill>
          <a:ln w="12700">
            <a:solidFill>
              <a:srgbClr val="0A0A1A"/>
            </a:solidFill>
            <a:prstDash val="solid"/>
          </a:ln>
        </p:spPr>
      </p:sp>
      <p:sp>
        <p:nvSpPr>
          <p:cNvPr id="22" name="Shape 20"/>
          <p:cNvSpPr/>
          <p:nvPr/>
        </p:nvSpPr>
        <p:spPr>
          <a:xfrm>
            <a:off x="1371600" y="5715000"/>
            <a:ext cx="54864" cy="457200"/>
          </a:xfrm>
          <a:prstGeom prst="rect">
            <a:avLst/>
          </a:prstGeom>
          <a:solidFill>
            <a:srgbClr val="FF4444"/>
          </a:solidFill>
          <a:ln w="12700">
            <a:solidFill>
              <a:srgbClr val="FF4444"/>
            </a:solidFill>
            <a:prstDash val="solid"/>
          </a:ln>
        </p:spPr>
      </p:sp>
      <p:sp>
        <p:nvSpPr>
          <p:cNvPr id="23" name="Text 21"/>
          <p:cNvSpPr/>
          <p:nvPr/>
        </p:nvSpPr>
        <p:spPr>
          <a:xfrm>
            <a:off x="1572768" y="5760720"/>
            <a:ext cx="9144000" cy="384048"/>
          </a:xfrm>
          <a:prstGeom prst="rect">
            <a:avLst/>
          </a:prstGeom>
          <a:noFill/>
          <a:ln/>
        </p:spPr>
        <p:txBody>
          <a:bodyPr wrap="square" rtlCol="0" anchor="ctr"/>
          <a:lstStyle/>
          <a:p>
            <a:pPr marL="0" indent="0">
              <a:buNone/>
            </a:pPr>
            <a:r>
              <a:rPr lang="en-US" sz="1200" dirty="0">
                <a:solidFill>
                  <a:srgbClr val="D8E8F4"/>
                </a:solidFill>
                <a:latin typeface="Calibri" pitchFamily="34" charset="0"/>
                <a:ea typeface="Calibri" pitchFamily="34" charset="-122"/>
                <a:cs typeface="Calibri" pitchFamily="34" charset="-120"/>
              </a:rPr>
              <a:t>Muddy Waters cloud + 40% YTD decline = either the risk event OR the buying opportunity of the cycle</a:t>
            </a:r>
            <a:endParaRPr lang="en-US" sz="1200" dirty="0"/>
          </a:p>
        </p:txBody>
      </p:sp>
      <p:sp>
        <p:nvSpPr>
          <p:cNvPr id="24" name="Text 22"/>
          <p:cNvSpPr/>
          <p:nvPr/>
        </p:nvSpPr>
        <p:spPr>
          <a:xfrm>
            <a:off x="256032" y="6528816"/>
            <a:ext cx="11612880" cy="274320"/>
          </a:xfrm>
          <a:prstGeom prst="rect">
            <a:avLst/>
          </a:prstGeom>
          <a:noFill/>
          <a:ln/>
        </p:spPr>
        <p:txBody>
          <a:bodyPr wrap="square" rtlCol="0" anchor="ctr"/>
          <a:lstStyle/>
          <a:p>
            <a:pPr marL="0" indent="0" algn="ctr">
              <a:buNone/>
            </a:pPr>
            <a:r>
              <a:rPr lang="en-US" sz="850" i="1" dirty="0">
                <a:solidFill>
                  <a:srgbClr val="444466"/>
                </a:solidFill>
                <a:latin typeface="Calibri" pitchFamily="34" charset="0"/>
                <a:ea typeface="Calibri" pitchFamily="34" charset="-122"/>
                <a:cs typeface="Calibri" pitchFamily="34" charset="-120"/>
              </a:rPr>
              <a:t>DISCLAIMER: This presentation is for educational and research purposes only. Not financial, investment, or tax advice. All data from public sources. Dreamlit Quant Research is not a licensed investment advisor. Past performance does not guarantee future results.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177" y="-10177"/>
            <a:ext cx="12187646" cy="6861645"/>
          </a:xfrm>
          <a:prstGeom prst="rect">
            <a:avLst/>
          </a:prstGeom>
        </p:spPr>
      </p:pic>
      <p:sp>
        <p:nvSpPr>
          <p:cNvPr id="4" name="Title 7">
            <a:extLst>
              <a:ext uri="{FF2B5EF4-FFF2-40B4-BE49-F238E27FC236}">
                <a16:creationId xmlns:a16="http://schemas.microsoft.com/office/drawing/2014/main" id="{B00ECB92-5091-43A0-3A50-D1D1ABDD48F6}"/>
              </a:ext>
            </a:extLst>
          </p:cNvPr>
          <p:cNvSpPr txBox="1">
            <a:spLocks/>
          </p:cNvSpPr>
          <p:nvPr/>
        </p:nvSpPr>
        <p:spPr>
          <a:xfrm>
            <a:off x="2488558" y="3191987"/>
            <a:ext cx="9703442" cy="1636159"/>
          </a:xfrm>
          <a:prstGeom prst="rect">
            <a:avLst/>
          </a:prstGeom>
          <a:solidFill>
            <a:srgbClr val="FFFFFF">
              <a:alpha val="14902"/>
            </a:srgbClr>
          </a:solidFill>
        </p:spPr>
        <p:txBody>
          <a:bodyPr vert="horz" lIns="91440" tIns="45720" rIns="91440" bIns="45720" rtlCol="0" anchor="b">
            <a:noAutofit/>
          </a:bodyPr>
          <a:lstStyle>
            <a:defPPr>
              <a:defRPr lang="en-US"/>
            </a:defPPr>
            <a:lvl1pPr algn="ctr">
              <a:lnSpc>
                <a:spcPct val="120000"/>
              </a:lnSpc>
              <a:spcBef>
                <a:spcPct val="0"/>
              </a:spcBef>
              <a:buNone/>
              <a:defRPr sz="6000" b="1">
                <a:solidFill>
                  <a:srgbClr val="FFFF00"/>
                </a:solidFill>
                <a:latin typeface="FN Shyamol Bangla" panose="02000600000000000000" pitchFamily="2" charset="0"/>
                <a:ea typeface="+mj-ea"/>
                <a:cs typeface="FN Shyamol Bangla" panose="02000600000000000000" pitchFamily="2" charset="0"/>
              </a:defRPr>
            </a:lvl1pPr>
          </a:lstStyle>
          <a:p>
            <a:r>
              <a:rPr lang="en-US" sz="8000" dirty="0">
                <a:solidFill>
                  <a:schemeClr val="bg1"/>
                </a:solidFill>
              </a:rPr>
              <a:t>SoFi Technologies</a:t>
            </a:r>
          </a:p>
        </p:txBody>
      </p:sp>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Tree>
    <p:extLst>
      <p:ext uri="{BB962C8B-B14F-4D97-AF65-F5344CB8AC3E}">
        <p14:creationId xmlns:p14="http://schemas.microsoft.com/office/powerpoint/2010/main" val="984047693"/>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3078</TotalTime>
  <Words>16786</Words>
  <Application>Microsoft Office PowerPoint</Application>
  <PresentationFormat>Widescreen</PresentationFormat>
  <Paragraphs>993</Paragraphs>
  <Slides>18</Slides>
  <Notes>18</Notes>
  <HiddenSlides>0</HiddenSlides>
  <MMClips>6</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Calibri Light</vt:lpstr>
      <vt:lpstr>FN Shyamol Bangla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Swapan Masanta</dc:creator>
  <cp:lastModifiedBy>Swapan Masanta</cp:lastModifiedBy>
  <cp:revision>172</cp:revision>
  <dcterms:created xsi:type="dcterms:W3CDTF">2026-02-18T12:59:35Z</dcterms:created>
  <dcterms:modified xsi:type="dcterms:W3CDTF">2026-06-07T03:34:22Z</dcterms:modified>
</cp:coreProperties>
</file>