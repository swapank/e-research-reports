
<file path=[Content_Types].xml><?xml version="1.0" encoding="utf-8"?>
<Types xmlns="http://schemas.openxmlformats.org/package/2006/content-types">
  <Default Extension="jpeg" ContentType="image/jpeg"/>
  <Default Extension="m4a" ContentType="audio/mp4"/>
  <Default Extension="mp3" ContentType="audio/m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455" r:id="rId2"/>
    <p:sldId id="413" r:id="rId3"/>
    <p:sldId id="486" r:id="rId4"/>
    <p:sldId id="487" r:id="rId5"/>
    <p:sldId id="488" r:id="rId6"/>
    <p:sldId id="489" r:id="rId7"/>
    <p:sldId id="490" r:id="rId8"/>
    <p:sldId id="491" r:id="rId9"/>
    <p:sldId id="492" r:id="rId10"/>
    <p:sldId id="493" r:id="rId11"/>
    <p:sldId id="494" r:id="rId12"/>
    <p:sldId id="495" r:id="rId13"/>
    <p:sldId id="498" r:id="rId14"/>
    <p:sldId id="499" r:id="rId15"/>
    <p:sldId id="269" r:id="rId16"/>
    <p:sldId id="4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A80C2A"/>
    <a:srgbClr val="B1B0AE"/>
    <a:srgbClr val="F0EDE6"/>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049" autoAdjust="0"/>
  </p:normalViewPr>
  <p:slideViewPr>
    <p:cSldViewPr snapToGrid="0">
      <p:cViewPr varScale="1">
        <p:scale>
          <a:sx n="64" d="100"/>
          <a:sy n="64" d="100"/>
        </p:scale>
        <p:origin x="680" y="44"/>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lgn="ctr" rtl="0">
              <a:defRPr lang="en-US" sz="1000" b="0" i="0" u="none" strike="noStrike" kern="1200" baseline="0">
                <a:solidFill>
                  <a:srgbClr val="1E293B"/>
                </a:solidFill>
                <a:latin typeface="Arial"/>
                <a:ea typeface="+mn-ea"/>
                <a:cs typeface="+mn-cs"/>
              </a:defRPr>
            </a:pPr>
            <a:r>
              <a:rPr lang="en-US" sz="1000" b="0" i="0" u="none" strike="noStrike" kern="1200" baseline="0">
                <a:solidFill>
                  <a:srgbClr val="1E293B"/>
                </a:solidFill>
                <a:latin typeface="Arial"/>
                <a:ea typeface="+mn-ea"/>
                <a:cs typeface="+mn-cs"/>
              </a:rPr>
              <a:t>Revenue Growth ($B) — FY2021 to FY2026E</a:t>
            </a:r>
          </a:p>
        </c:rich>
      </c:tx>
      <c:overlay val="0"/>
    </c:title>
    <c:autoTitleDeleted val="0"/>
    <c:plotArea>
      <c:layout/>
      <c:barChart>
        <c:barDir val="col"/>
        <c:grouping val="clustered"/>
        <c:varyColors val="0"/>
        <c:ser>
          <c:idx val="0"/>
          <c:order val="0"/>
          <c:tx>
            <c:strRef>
              <c:f>Sheet1!$B$1</c:f>
              <c:strCache>
                <c:ptCount val="1"/>
                <c:pt idx="0">
                  <c:v>Revenue ($B)</c:v>
                </c:pt>
              </c:strCache>
            </c:strRef>
          </c:tx>
          <c:spPr>
            <a:solidFill>
              <a:srgbClr val="00C8C8"/>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FY2021</c:v>
                </c:pt>
                <c:pt idx="1">
                  <c:v>FY2022</c:v>
                </c:pt>
                <c:pt idx="2">
                  <c:v>FY2023</c:v>
                </c:pt>
                <c:pt idx="3">
                  <c:v>FY2024</c:v>
                </c:pt>
                <c:pt idx="4">
                  <c:v>FY2025</c:v>
                </c:pt>
                <c:pt idx="5">
                  <c:v>FY2026E</c:v>
                </c:pt>
              </c:strCache>
            </c:strRef>
          </c:cat>
          <c:val>
            <c:numRef>
              <c:f>Sheet1!$B$2:$B$7</c:f>
              <c:numCache>
                <c:formatCode>General</c:formatCode>
                <c:ptCount val="6"/>
                <c:pt idx="0">
                  <c:v>28.3</c:v>
                </c:pt>
                <c:pt idx="1">
                  <c:v>28.5</c:v>
                </c:pt>
                <c:pt idx="2">
                  <c:v>34.1</c:v>
                </c:pt>
                <c:pt idx="3">
                  <c:v>45</c:v>
                </c:pt>
                <c:pt idx="4">
                  <c:v>65.2</c:v>
                </c:pt>
                <c:pt idx="5">
                  <c:v>81.5</c:v>
                </c:pt>
              </c:numCache>
            </c:numRef>
          </c:val>
          <c:extLst>
            <c:ext xmlns:c16="http://schemas.microsoft.com/office/drawing/2014/chart" uri="{C3380CC4-5D6E-409C-BE32-E72D297353CC}">
              <c16:uniqueId val="{00000000-4707-4067-B7A2-ED298F8FEA9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06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majorUnit val="20"/>
        <c:minorUnit val="5"/>
      </c:valAx>
      <c:spPr>
        <a:solidFill>
          <a:schemeClr val="bg1"/>
        </a:solidFill>
        <a:ln>
          <a:noFill/>
        </a:ln>
        <a:effectLst/>
      </c:spPr>
    </c:plotArea>
    <c:plotVisOnly val="1"/>
    <c:dispBlanksAs val="span"/>
    <c:showDLblsOverMax val="1"/>
  </c:chart>
  <c:spPr>
    <a:solidFill>
      <a:schemeClr val="bg1"/>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46ADD3-E4C9-4B15-B72E-7CE80015322E}"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3E57C-F302-4DDA-9D05-13A296E43432}" type="slidenum">
              <a:rPr lang="en-IN" smtClean="0"/>
              <a:t>‹#›</a:t>
            </a:fld>
            <a:endParaRPr lang="en-IN"/>
          </a:p>
        </p:txBody>
      </p:sp>
    </p:spTree>
    <p:extLst>
      <p:ext uri="{BB962C8B-B14F-4D97-AF65-F5344CB8AC3E}">
        <p14:creationId xmlns:p14="http://schemas.microsoft.com/office/powerpoint/2010/main" val="16718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back to </a:t>
            </a:r>
            <a:r>
              <a:rPr lang="en-US" dirty="0" err="1"/>
              <a:t>Dreamlit</a:t>
            </a:r>
            <a:r>
              <a:rPr lang="en-US" dirty="0"/>
              <a:t> Equity Research.</a:t>
            </a:r>
          </a:p>
          <a:p>
            <a:r>
              <a:rPr lang="en-US" dirty="0"/>
              <a:t>Today we are doing something I have been building toward for months. We are going deep — truly deep — on what is arguably the single most important investment story in the entire global stock market right now.</a:t>
            </a:r>
          </a:p>
          <a:p>
            <a:endParaRPr lang="en-US" dirty="0"/>
          </a:p>
        </p:txBody>
      </p:sp>
      <p:sp>
        <p:nvSpPr>
          <p:cNvPr id="4" name="Slide Number Placeholder 3"/>
          <p:cNvSpPr>
            <a:spLocks noGrp="1"/>
          </p:cNvSpPr>
          <p:nvPr>
            <p:ph type="sldNum" sz="quarter" idx="5"/>
          </p:nvPr>
        </p:nvSpPr>
        <p:spPr/>
        <p:txBody>
          <a:bodyPr/>
          <a:lstStyle/>
          <a:p>
            <a:fld id="{49F3E57C-F302-4DDA-9D05-13A296E43432}" type="slidenum">
              <a:rPr lang="en-IN" smtClean="0"/>
              <a:t>1</a:t>
            </a:fld>
            <a:endParaRPr lang="en-IN"/>
          </a:p>
        </p:txBody>
      </p:sp>
    </p:spTree>
    <p:extLst>
      <p:ext uri="{BB962C8B-B14F-4D97-AF65-F5344CB8AC3E}">
        <p14:creationId xmlns:p14="http://schemas.microsoft.com/office/powerpoint/2010/main" val="219933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a single step further, we spend thirty seconds on this slide — because it matters.</a:t>
            </a:r>
          </a:p>
          <a:p>
            <a:r>
              <a:rPr lang="en-US" dirty="0"/>
              <a:t>This content is for </a:t>
            </a:r>
            <a:r>
              <a:rPr lang="en-US" b="1" dirty="0"/>
              <a:t>educational and entertainment purposes only</a:t>
            </a:r>
            <a:r>
              <a:rPr lang="en-US" dirty="0"/>
              <a:t>. I am not a licensed financial advisor, I am not registered with the SEC, and nothing in this video constitutes financial, investment, legal, or tax advice.</a:t>
            </a:r>
          </a:p>
          <a:p>
            <a:r>
              <a:rPr lang="en-US" dirty="0"/>
              <a:t>The opinions you hear are mine and mine alone. They can and will change as new data arrives. </a:t>
            </a:r>
            <a:r>
              <a:rPr lang="en-US" b="1" dirty="0"/>
              <a:t>Investing involves risk.</a:t>
            </a:r>
            <a:r>
              <a:rPr lang="en-US" dirty="0"/>
              <a:t> You can lose principal. The companies and instruments we discuss may go up, may go down, or may do nothing at all for years.</a:t>
            </a:r>
          </a:p>
          <a:p>
            <a:r>
              <a:rPr lang="en-US" b="1" dirty="0"/>
              <a:t>Perform your own research. Consult a qualified professional before making investment decisions.</a:t>
            </a:r>
            <a:endParaRPr lang="en-US" dirty="0"/>
          </a:p>
          <a:p>
            <a:r>
              <a:rPr lang="en-US" dirty="0"/>
              <a:t>Third-party data referenced in this report is used under fair use for commentary, criticism, and analysis. All data sourced from publicly available SEC filings, earnings releases, and industry research.</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This is a </a:t>
            </a:r>
            <a:r>
              <a:rPr lang="en-US" b="1" dirty="0"/>
              <a:t>research note</a:t>
            </a:r>
            <a:r>
              <a:rPr lang="en-US" dirty="0"/>
              <a:t>, not a financial recommendation. I am not your financial advisor. This is education. Do your own due diligence. Okay. You have been warned. Now we can get into the substance.</a:t>
            </a:r>
          </a:p>
          <a:p>
            <a:endParaRPr lang="en-US" dirty="0"/>
          </a:p>
        </p:txBody>
      </p:sp>
      <p:sp>
        <p:nvSpPr>
          <p:cNvPr id="4" name="Slide Number Placeholder 3"/>
          <p:cNvSpPr>
            <a:spLocks noGrp="1"/>
          </p:cNvSpPr>
          <p:nvPr>
            <p:ph type="sldNum" sz="quarter" idx="5"/>
          </p:nvPr>
        </p:nvSpPr>
        <p:spPr/>
        <p:txBody>
          <a:bodyPr/>
          <a:lstStyle/>
          <a:p>
            <a:fld id="{49F3E57C-F302-4DDA-9D05-13A296E43432}" type="slidenum">
              <a:rPr lang="en-IN" smtClean="0"/>
              <a:t>2</a:t>
            </a:fld>
            <a:endParaRPr lang="en-IN"/>
          </a:p>
        </p:txBody>
      </p:sp>
    </p:spTree>
    <p:extLst>
      <p:ext uri="{BB962C8B-B14F-4D97-AF65-F5344CB8AC3E}">
        <p14:creationId xmlns:p14="http://schemas.microsoft.com/office/powerpoint/2010/main" val="16864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talking about </a:t>
            </a:r>
            <a:r>
              <a:rPr lang="en-US" b="1" dirty="0"/>
              <a:t>Eli Lilly and Company</a:t>
            </a:r>
            <a:r>
              <a:rPr lang="en-US" dirty="0"/>
              <a:t>. NYSE: LLY.</a:t>
            </a:r>
          </a:p>
          <a:p>
            <a:r>
              <a:rPr lang="en-US" dirty="0"/>
              <a:t>And let me frame this for you right at the top, because I want you to understand the </a:t>
            </a:r>
            <a:r>
              <a:rPr lang="en-US" i="1" dirty="0"/>
              <a:t>magnitude</a:t>
            </a:r>
            <a:r>
              <a:rPr lang="en-US" dirty="0"/>
              <a:t> of what we are looking at.</a:t>
            </a:r>
          </a:p>
          <a:p>
            <a:r>
              <a:rPr lang="en-US" dirty="0"/>
              <a:t>As of May 2026, Eli Lilly has officially crossed the </a:t>
            </a:r>
            <a:r>
              <a:rPr lang="en-US" b="1" dirty="0"/>
              <a:t>one trillion dollar market </a:t>
            </a:r>
            <a:r>
              <a:rPr lang="en-US" b="1" dirty="0" err="1"/>
              <a:t>capitalisation</a:t>
            </a:r>
            <a:r>
              <a:rPr lang="en-US" dirty="0"/>
              <a:t> threshold. That makes it the most valuable healthcare company in the history of humanity. Not just in the United States. In the world. Ever.</a:t>
            </a:r>
          </a:p>
          <a:p>
            <a:r>
              <a:rPr lang="en-US" dirty="0"/>
              <a:t>Think about that for a second. One trillion dollars. That is more than the GDP of the Netherlands. More than Saudi Aramco at IPO. More than every other pharmaceutical company on the planet — and it has gotten here not by acquiring its way up, not by financial engineering, but by doing something genuinely rare in the drug industry: discovering a molecule that works better than anything before it, and then scaling that molecule to the entire planet.</a:t>
            </a:r>
          </a:p>
          <a:p>
            <a:r>
              <a:rPr lang="en-US" dirty="0"/>
              <a:t>That molecule, of course, is </a:t>
            </a:r>
            <a:r>
              <a:rPr lang="en-US" b="1" dirty="0"/>
              <a:t>tirzepatide</a:t>
            </a:r>
            <a:r>
              <a:rPr lang="en-US" dirty="0"/>
              <a:t>. The dual GIP and GLP-1 receptor agonist that powers both </a:t>
            </a:r>
            <a:r>
              <a:rPr lang="en-US" dirty="0" err="1"/>
              <a:t>Mounjaro</a:t>
            </a:r>
            <a:r>
              <a:rPr lang="en-US" dirty="0"/>
              <a:t> and </a:t>
            </a:r>
            <a:r>
              <a:rPr lang="en-US" dirty="0" err="1"/>
              <a:t>Zepbound</a:t>
            </a:r>
            <a:r>
              <a:rPr lang="en-US" dirty="0"/>
              <a:t>. The world's best-selling drug as of Q3 2025. And the engine behind a revenue trajectory that has tripled in three years.</a:t>
            </a:r>
          </a:p>
          <a:p>
            <a:r>
              <a:rPr lang="en-US" dirty="0"/>
              <a:t>So in this video — which will run </a:t>
            </a:r>
            <a:r>
              <a:rPr lang="en-US" b="1" dirty="0"/>
              <a:t>forty to sixty minutes</a:t>
            </a:r>
            <a:r>
              <a:rPr lang="en-US" dirty="0"/>
              <a:t> — we are going to go through this entire research report, slide by slide, with full analyst-level commentary. We will cover the company's history, its business model, the financials, the pipeline, manufacturing, competitive dynamics, the red flags you absolutely need to understand, the investment thesis, price scenarios, and a monitoring checklist you can use every single quarter.</a:t>
            </a:r>
          </a:p>
          <a:p>
            <a:br>
              <a:rPr lang="en-US" dirty="0"/>
            </a:br>
            <a:br>
              <a:rPr lang="en-US" dirty="0"/>
            </a:br>
            <a:r>
              <a:rPr lang="en-US" dirty="0"/>
              <a:t>This is the dashboard slide. This is where I want you to stop, sit up, and really look at these numbers — because they are extraordinary even by the standards of the best companies in the world.</a:t>
            </a:r>
          </a:p>
          <a:p>
            <a:r>
              <a:rPr lang="en-US" dirty="0"/>
              <a:t>Let us go through them one by one.</a:t>
            </a:r>
          </a:p>
          <a:p>
            <a:r>
              <a:rPr lang="en-US" b="1" dirty="0"/>
              <a:t>Market Cap: approximately one point zero trillion dollars.</a:t>
            </a:r>
            <a:endParaRPr lang="en-US" dirty="0"/>
          </a:p>
          <a:p>
            <a:r>
              <a:rPr lang="en-US" dirty="0"/>
              <a:t>We already talked about this. But I want to </a:t>
            </a:r>
            <a:r>
              <a:rPr lang="en-US" dirty="0" err="1"/>
              <a:t>contextualise</a:t>
            </a:r>
            <a:r>
              <a:rPr lang="en-US" dirty="0"/>
              <a:t> it. In January 2020, Eli Lilly's market cap was around eighty billion dollars. That means in roughly six years, the company has grown approximately twelve-fold in market value. That is the kind of return that makes careers and retirements.</a:t>
            </a:r>
          </a:p>
          <a:p>
            <a:r>
              <a:rPr lang="en-US" b="1" dirty="0"/>
              <a:t>FY 2025 Revenue: sixty-five point two billion dollars.</a:t>
            </a:r>
            <a:endParaRPr lang="en-US" dirty="0"/>
          </a:p>
          <a:p>
            <a:r>
              <a:rPr lang="en-US" dirty="0"/>
              <a:t>Up forty-one percent year over year from FY 2024. Let that number land. Forty-one percent revenue growth at a company generating sixty-five billion dollars annually. That is not startup territory. That is not early-stage pharma territory. That is a mature, large-cap company growing at a rate you typically only see in the very best quarters of high-growth software companies. But this is drugs. This is recurring prescriptions. This is a fundamentally different kind of business.</a:t>
            </a:r>
          </a:p>
          <a:p>
            <a:r>
              <a:rPr lang="en-US" b="1" dirty="0"/>
              <a:t>Q1 2026 Revenue: nineteen point eight billion dollars.</a:t>
            </a:r>
            <a:endParaRPr lang="en-US" dirty="0"/>
          </a:p>
          <a:p>
            <a:r>
              <a:rPr lang="en-US" dirty="0"/>
              <a:t>This is the most recent data point we have. Revenue jumped fifty-six percent year over year in a single quarter. This means the acceleration is not decelerating. The growth rate is </a:t>
            </a:r>
            <a:r>
              <a:rPr lang="en-US" i="1" dirty="0"/>
              <a:t>increasing</a:t>
            </a:r>
            <a:r>
              <a:rPr lang="en-US" dirty="0"/>
              <a:t>. When a company this size is growing faster in 2026 than it did in 2025, that is a very significant signal.</a:t>
            </a:r>
          </a:p>
          <a:p>
            <a:r>
              <a:rPr lang="en-US" b="1" dirty="0"/>
              <a:t>FY 2026 Revenue Guidance: eighty-two to eighty-five billion dollars.</a:t>
            </a:r>
            <a:endParaRPr lang="en-US" dirty="0"/>
          </a:p>
          <a:p>
            <a:r>
              <a:rPr lang="en-US" dirty="0"/>
              <a:t>Management is guiding for another twenty-five to thirty percent revenue growth this year. That implies they expect to add roughly twenty billion dollars of new revenue in a single calendar year. Twenty billion dollars of new revenue. For reference, that is more total revenue than most Fortune 500 companies generate annually.</a:t>
            </a:r>
          </a:p>
          <a:p>
            <a:r>
              <a:rPr lang="en-US" b="1" dirty="0"/>
              <a:t>Gross Margin: eighty-three percent.</a:t>
            </a:r>
            <a:endParaRPr lang="en-US" dirty="0"/>
          </a:p>
          <a:p>
            <a:r>
              <a:rPr lang="en-US" dirty="0"/>
              <a:t>This is the number I most want you to understand from a business quality standpoint. Eighty-three percent gross margin means that for every dollar Eli Lilly receives from selling a drug, it keeps eighty-three cents after manufacturing costs. The pharmaceutical model is a fixed-cost model once drugs are approved. The molecules are discovered at massive upfront R&amp;D cost, and then produced at relatively low marginal cost. This explains why great pharma companies print cash at scale. Lilly's gross margin has expanded from sixty-eight percent in FY 2022 to eighty-three percent in FY 2025. That is a fifteen percentage point improvement in three years. As GLP-1 products — which carry the highest margins — become a larger share of the mix, this number should continue to improve.</a:t>
            </a:r>
          </a:p>
          <a:p>
            <a:r>
              <a:rPr lang="en-US" b="1" dirty="0"/>
              <a:t>2025 Revenue Growth: plus forty-one percent year over year.</a:t>
            </a:r>
            <a:endParaRPr lang="en-US" dirty="0"/>
          </a:p>
          <a:p>
            <a:r>
              <a:rPr lang="en-US" dirty="0"/>
              <a:t>We already covered this, but I want to note one additional dimension: the five-year compound annual growth rate. From FY 2020 to FY 2025, Lilly's revenue has grown at approximately eighteen percent per year compounded. That is world-class for any industry, let alone a hundred-and-fifty-year-old pharmaceutical company.</a:t>
            </a:r>
          </a:p>
          <a:p>
            <a:r>
              <a:rPr lang="en-US" b="1" dirty="0"/>
              <a:t>52-Week High and Low: twelve fifty to seven thirty.</a:t>
            </a:r>
            <a:endParaRPr lang="en-US" dirty="0"/>
          </a:p>
          <a:p>
            <a:r>
              <a:rPr lang="en-US" dirty="0"/>
              <a:t>This is the trading range for Lilly shares over the past year. The stock hit as high as approximately twelve hundred and fifty dollars and as low as approximately seven hundred and thirty dollars per share. That is a sixty-five percent range. It tells you this is a volatile stock — volatility that is fundamentally driven by quarterly data points, guidance commentary, and pipeline news. Long-term investors have historically been rewarded for holding through this volatility.</a:t>
            </a:r>
          </a:p>
          <a:p>
            <a:r>
              <a:rPr lang="en-US" dirty="0"/>
              <a:t>Now — the thesis summary at the bottom of this slide reads: </a:t>
            </a:r>
            <a:r>
              <a:rPr lang="en-US" i="1" dirty="0"/>
              <a:t>"The most valuable healthcare company in history, powering the global obesity and diabetes revolution. Sixty-point-five percent US GLP-1 market share. ROCE approximately forty percent plus."</a:t>
            </a:r>
            <a:endParaRPr lang="en-US" dirty="0"/>
          </a:p>
          <a:p>
            <a:r>
              <a:rPr lang="en-US" dirty="0"/>
              <a:t>That ROCE number — Return on Capital Employed at forty percent — is a critical efficiency metric. It means Lilly is generating forty cents of operating profit for every dollar of capital deployed in the business. That is world-class capital efficiency. Apple runs at approximately thirty percent ROCE. Microsoft around forty. Lilly is in the same tier as the best businesses ever built.</a:t>
            </a:r>
          </a:p>
          <a:p>
            <a:r>
              <a:rPr lang="en-US" dirty="0"/>
              <a:t>Let us keep moving. How did this company get here?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where Lilly is going, you have to understand where it came from. One hundred and fifty years of pharmaceutical leadership.“</a:t>
            </a:r>
            <a:br>
              <a:rPr lang="en-US" dirty="0"/>
            </a:br>
            <a:br>
              <a:rPr lang="en-US" dirty="0"/>
            </a:br>
            <a:r>
              <a:rPr lang="en-US" dirty="0"/>
              <a:t>I love this slide because it reminds you that Lilly is not a startup. This is not a company that got lucky. This is a company that has navigated existential crises before — multiple times — and come out stronger every time.</a:t>
            </a:r>
          </a:p>
          <a:p>
            <a:r>
              <a:rPr lang="en-US" dirty="0"/>
              <a:t>Let us walk the timeline.</a:t>
            </a:r>
          </a:p>
          <a:p>
            <a:r>
              <a:rPr lang="en-US" b="1" dirty="0"/>
              <a:t>1876.</a:t>
            </a:r>
            <a:r>
              <a:rPr lang="en-US" dirty="0"/>
              <a:t> Colonel Eli Lilly founds the company in Indianapolis, Indiana. From the very beginning, the company's identity is built around something unusual for its time: quality manufacturing controls. Colonel Lilly was a pharmacist and Civil War veteran who was frustrated by the inconsistency of medicines available in that era. He founded the company on a principle: that drugs should be pure, effective, and reliable. That founding ethos — quality and scientific </a:t>
            </a:r>
            <a:r>
              <a:rPr lang="en-US" dirty="0" err="1"/>
              <a:t>rigour</a:t>
            </a:r>
            <a:r>
              <a:rPr lang="en-US" dirty="0"/>
              <a:t> — has persisted for a hundred and fifty years.</a:t>
            </a:r>
          </a:p>
          <a:p>
            <a:r>
              <a:rPr lang="en-US" b="1" dirty="0"/>
              <a:t>1923.</a:t>
            </a:r>
            <a:r>
              <a:rPr lang="en-US" dirty="0"/>
              <a:t> Lilly becomes the first company to mass-produce commercial insulin for diabetics. This is arguably one of the most important pharmaceutical achievements in human history. Before insulin, Type 1 diabetes was a death sentence, typically within months of diagnosis. Lilly's </a:t>
            </a:r>
            <a:r>
              <a:rPr lang="en-US" dirty="0" err="1"/>
              <a:t>commercialisation</a:t>
            </a:r>
            <a:r>
              <a:rPr lang="en-US" dirty="0"/>
              <a:t> of insulin saves millions of lives and begins a multi-generational relationship between the company and the diabetes community that continues to this day.</a:t>
            </a:r>
          </a:p>
          <a:p>
            <a:r>
              <a:rPr lang="en-US" b="1" dirty="0"/>
              <a:t>1982.</a:t>
            </a:r>
            <a:r>
              <a:rPr lang="en-US" dirty="0"/>
              <a:t> Humulin. The world's first recombinant DNA drug. At a time when genetic engineering was brand new science, Lilly partnered with Genentech to produce human insulin using recombinant DNA technology. This is Lilly announcing to the world: we are a biotech company, not just a chemistry company. This decision to embrace molecular biology early — decades before it was obvious — is one of the foundations of Lilly's current competitive position.</a:t>
            </a:r>
          </a:p>
          <a:p>
            <a:r>
              <a:rPr lang="en-US" b="1" dirty="0"/>
              <a:t>1995.</a:t>
            </a:r>
            <a:r>
              <a:rPr lang="en-US" dirty="0"/>
              <a:t> Prozac becomes the world's best-selling antidepressant. For a period in the nineties, Lilly is essentially a two-drug company: insulin and Prozac. This is important context for what comes next.</a:t>
            </a:r>
          </a:p>
          <a:p>
            <a:r>
              <a:rPr lang="en-US" b="1" dirty="0"/>
              <a:t>2002.</a:t>
            </a:r>
            <a:r>
              <a:rPr lang="en-US" dirty="0"/>
              <a:t> Patent cliffs. Prozac goes generic, and later Zyprexa — the antipsychotic that was Lilly's other major franchise — faces massive government scrutiny. In 2009, Lilly pays a one point four two billion dollar DOJ fine — the largest criminal pharmaceutical fine in US history at the time — for off-label marketing of Zyprexa. Revenue collapses. The stock is devastated. This is the crisis that forces the company into an aggressive R&amp;D pivot. They have no choice. They have to innovate or die.</a:t>
            </a:r>
          </a:p>
          <a:p>
            <a:r>
              <a:rPr lang="en-US" dirty="0"/>
              <a:t>That R&amp;D pivot, </a:t>
            </a:r>
            <a:r>
              <a:rPr lang="en-US" dirty="0" err="1"/>
              <a:t>fuelled</a:t>
            </a:r>
            <a:r>
              <a:rPr lang="en-US" dirty="0"/>
              <a:t> by pain and necessity, is what ultimately produces tirzepatide.</a:t>
            </a:r>
          </a:p>
          <a:p>
            <a:r>
              <a:rPr lang="en-US" b="1" dirty="0"/>
              <a:t>2014.</a:t>
            </a:r>
            <a:r>
              <a:rPr lang="en-US" dirty="0"/>
              <a:t> Trulicity. Lilly's first GLP-1 receptor agonist, approved for Type 2 diabetes. This is the company's first foray into the incretin class — the hormone class that GLP-1 drugs mimic. Trulicity becomes a meaningful commercial success. But more importantly, it teaches Lilly how to develop, manufacture, and </a:t>
            </a:r>
            <a:r>
              <a:rPr lang="en-US" dirty="0" err="1"/>
              <a:t>commercialise</a:t>
            </a:r>
            <a:r>
              <a:rPr lang="en-US" dirty="0"/>
              <a:t> GLP-1 injectable medicines. It is the training ground.</a:t>
            </a:r>
          </a:p>
          <a:p>
            <a:r>
              <a:rPr lang="en-US" b="1" dirty="0"/>
              <a:t>2022.</a:t>
            </a:r>
            <a:r>
              <a:rPr lang="en-US" dirty="0"/>
              <a:t> </a:t>
            </a:r>
            <a:r>
              <a:rPr lang="en-US" dirty="0" err="1"/>
              <a:t>Mounjaro</a:t>
            </a:r>
            <a:r>
              <a:rPr lang="en-US" dirty="0"/>
              <a:t>. FDA approval for tirzepatide in Type 2 diabetes. The SURPASS clinical trials show tirzepatide is not just good — it is better than anything else in the class. The dual GIP and GLP-1 mechanism is genuinely novel and clinically superior to semaglutide, which targets only GLP-1. This is the inflection point.</a:t>
            </a:r>
          </a:p>
          <a:p>
            <a:r>
              <a:rPr lang="en-US" b="1" dirty="0"/>
              <a:t>2023.</a:t>
            </a:r>
            <a:r>
              <a:rPr lang="en-US" dirty="0"/>
              <a:t> </a:t>
            </a:r>
            <a:r>
              <a:rPr lang="en-US" dirty="0" err="1"/>
              <a:t>Zepbound</a:t>
            </a:r>
            <a:r>
              <a:rPr lang="en-US" dirty="0"/>
              <a:t>. FDA approval of tirzepatide for obesity under the brand name </a:t>
            </a:r>
            <a:r>
              <a:rPr lang="en-US" dirty="0" err="1"/>
              <a:t>Zepbound</a:t>
            </a:r>
            <a:r>
              <a:rPr lang="en-US" dirty="0"/>
              <a:t>. This is the commercial explosion moment. The SURMOUNT trials demonstrate that tirzepatide achieves approximately twenty percent average body weight reduction in obese patients — compared to fourteen percent for </a:t>
            </a:r>
            <a:r>
              <a:rPr lang="en-US" dirty="0" err="1"/>
              <a:t>Wegovy</a:t>
            </a:r>
            <a:r>
              <a:rPr lang="en-US" dirty="0"/>
              <a:t>. Six percentage points. In a clinical trial, that is a canyon, not a gap.</a:t>
            </a:r>
          </a:p>
          <a:p>
            <a:r>
              <a:rPr lang="en-US" b="1" dirty="0"/>
              <a:t>2025.</a:t>
            </a:r>
            <a:r>
              <a:rPr lang="en-US" dirty="0"/>
              <a:t> Revenue hits sixty-five point two billion. Tirzepatide becomes the world's number one selling drug by revenue, surpassing Keytruda — Merck's cancer blockbuster — in the third quarter of 2025. </a:t>
            </a:r>
            <a:r>
              <a:rPr lang="en-US" dirty="0" err="1"/>
              <a:t>Orforglipron</a:t>
            </a:r>
            <a:r>
              <a:rPr lang="en-US" dirty="0"/>
              <a:t>, the oral GLP-1 pill, files with the FDA.</a:t>
            </a:r>
          </a:p>
          <a:p>
            <a:r>
              <a:rPr lang="en-US" dirty="0"/>
              <a:t>The bottom of this slide gives you the three inherited advantages that competitors cannot easily replicate overnight: an eleven billion dollar annual R&amp;D engine, a sixty-five billion dollar manufacturing buildout in progress, and a brand and regulatory moat built over decades of scientific excellence.</a:t>
            </a:r>
          </a:p>
          <a:p>
            <a:r>
              <a:rPr lang="en-US" dirty="0"/>
              <a:t>Now let us go to the business model.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Lilly actually sell? Four pillars. Let us look at each one.</a:t>
            </a:r>
            <a:br>
              <a:rPr lang="en-US" dirty="0"/>
            </a:br>
            <a:br>
              <a:rPr lang="en-US" dirty="0"/>
            </a:br>
            <a:r>
              <a:rPr lang="en-US" dirty="0"/>
              <a:t>This is where Lilly's business model separates itself from what I call traditional pharma — companies like Pfizer, Merck, or AbbVie.</a:t>
            </a:r>
          </a:p>
          <a:p>
            <a:r>
              <a:rPr lang="en-US" dirty="0"/>
              <a:t>Look at the positioning strip across the top of the slide. Three buckets:</a:t>
            </a:r>
          </a:p>
          <a:p>
            <a:r>
              <a:rPr lang="en-US" dirty="0"/>
              <a:t>Traditional pharma on the left: general primary care, diversified, lower growth, lower margins. Companies that sell into every disease category, compete on volume, and operate in a world of constant patent cliff anxiety.</a:t>
            </a:r>
          </a:p>
          <a:p>
            <a:r>
              <a:rPr lang="en-US" dirty="0"/>
              <a:t>Eli Lilly in the middle: specialty growth pharma. GLP-1 specialists. Pipeline-driven. Eighty-three percent gross margins. Greater than forty percent ROCE. Best-in-class efficiency.</a:t>
            </a:r>
          </a:p>
          <a:p>
            <a:r>
              <a:rPr lang="en-US" dirty="0"/>
              <a:t>And on the right: the market gap Lilly fills. The only pharma company with the world's number one drug AND sixty percent plus market share in the fastest growing prescription drug class on the planet.</a:t>
            </a:r>
          </a:p>
          <a:p>
            <a:r>
              <a:rPr lang="en-US" dirty="0"/>
              <a:t>Now let us go through the four business pillars.</a:t>
            </a:r>
          </a:p>
          <a:p>
            <a:r>
              <a:rPr lang="en-US" b="1" dirty="0"/>
              <a:t>PILLAR ONE: CARDIOMETABOLIC — MORE THAN SIXTY PERCENT OF REVENUE.</a:t>
            </a:r>
            <a:endParaRPr lang="en-US" dirty="0"/>
          </a:p>
          <a:p>
            <a:r>
              <a:rPr lang="en-US" dirty="0"/>
              <a:t>This is the engine. This is what makes Lilly what it is today.</a:t>
            </a:r>
          </a:p>
          <a:p>
            <a:r>
              <a:rPr lang="en-US" b="1" dirty="0" err="1"/>
              <a:t>Mounjaro</a:t>
            </a:r>
            <a:r>
              <a:rPr lang="en-US" dirty="0"/>
              <a:t> (tirzepatide for Type 2 Diabetes) did eleven point five billion dollars in FY 2024 alone. That single drug was more revenue than many entire pharmaceutical companies.</a:t>
            </a:r>
          </a:p>
          <a:p>
            <a:r>
              <a:rPr lang="en-US" b="1" dirty="0" err="1"/>
              <a:t>Zepbound</a:t>
            </a:r>
            <a:r>
              <a:rPr lang="en-US" dirty="0"/>
              <a:t> (tirzepatide for obesity) did four point nine billion dollars in FY 2024, its first full year of </a:t>
            </a:r>
            <a:r>
              <a:rPr lang="en-US" dirty="0" err="1"/>
              <a:t>commercialisation</a:t>
            </a:r>
            <a:r>
              <a:rPr lang="en-US" dirty="0"/>
              <a:t>. It is now significantly larger and growing faster.</a:t>
            </a:r>
          </a:p>
          <a:p>
            <a:r>
              <a:rPr lang="en-US" b="1" dirty="0" err="1"/>
              <a:t>Foundayo</a:t>
            </a:r>
            <a:r>
              <a:rPr lang="en-US" dirty="0"/>
              <a:t> (</a:t>
            </a:r>
            <a:r>
              <a:rPr lang="en-US" dirty="0" err="1"/>
              <a:t>orforglipron</a:t>
            </a:r>
            <a:r>
              <a:rPr lang="en-US" dirty="0"/>
              <a:t>, the oral GLP-1 pill) received FDA approval in April 2026. This is a massive deal, and I will spend significant time on it when we hit the pipeline slide.</a:t>
            </a:r>
          </a:p>
          <a:p>
            <a:r>
              <a:rPr lang="en-US" b="1" dirty="0" err="1"/>
              <a:t>Retatrutide</a:t>
            </a:r>
            <a:r>
              <a:rPr lang="en-US" dirty="0"/>
              <a:t> (the Triple G, or triple agonist) is in Phase 3. It targets GLP-1, GIP, and glucagon receptors simultaneously. Phase 2 data showed twenty-eight point seven percent average weight loss. That is the highest weight loss result ever recorded in a pharmaceutical clinical trial in the history of medicine. If that holds in Phase 3, Lilly will have three distinct obesity molecules across three different mechanistic pathways.</a:t>
            </a:r>
          </a:p>
          <a:p>
            <a:r>
              <a:rPr lang="en-US" dirty="0"/>
              <a:t>The underlying dual GIP plus GLP-1 mechanism is why tirzepatide is superior. GIP receptor activation improves insulin sensitivity and energy metabolism in ways that GLP-1 alone does not. This is not a marketing story. It is a biochemistry story.</a:t>
            </a:r>
          </a:p>
          <a:p>
            <a:r>
              <a:rPr lang="en-US" b="1" dirty="0"/>
              <a:t>PILLAR TWO: ONCOLOGY — APPROXIMATELY EIGHTEEN PERCENT OF REVENUE.</a:t>
            </a:r>
            <a:endParaRPr lang="en-US" dirty="0"/>
          </a:p>
          <a:p>
            <a:r>
              <a:rPr lang="en-US" dirty="0"/>
              <a:t>This is Lilly's durable anchor franchise.</a:t>
            </a:r>
          </a:p>
          <a:p>
            <a:r>
              <a:rPr lang="en-US" b="1" dirty="0" err="1"/>
              <a:t>Verzenio</a:t>
            </a:r>
            <a:r>
              <a:rPr lang="en-US" dirty="0"/>
              <a:t> (</a:t>
            </a:r>
            <a:r>
              <a:rPr lang="en-US" dirty="0" err="1"/>
              <a:t>abemaciclib</a:t>
            </a:r>
            <a:r>
              <a:rPr lang="en-US" dirty="0"/>
              <a:t>) is a CDK 4 slash 6 inhibitor that has become a standard of care in adjuvant breast cancer treatment — meaning it is given after surgery to prevent recurrence. The five-year disease-free survival data is exceptional. </a:t>
            </a:r>
            <a:r>
              <a:rPr lang="en-US" dirty="0" err="1"/>
              <a:t>Verzenio</a:t>
            </a:r>
            <a:r>
              <a:rPr lang="en-US" dirty="0"/>
              <a:t> is protected by patent through approximately 2033 in the US.</a:t>
            </a:r>
          </a:p>
          <a:p>
            <a:r>
              <a:rPr lang="en-US" b="1" dirty="0" err="1"/>
              <a:t>Inluriyo</a:t>
            </a:r>
            <a:r>
              <a:rPr lang="en-US" dirty="0"/>
              <a:t> (</a:t>
            </a:r>
            <a:r>
              <a:rPr lang="en-US" dirty="0" err="1"/>
              <a:t>imlunestrant</a:t>
            </a:r>
            <a:r>
              <a:rPr lang="en-US" dirty="0"/>
              <a:t>) received FDA approval in 2025 for breast cancer. This is the next generation of Lilly's breast cancer franchise.</a:t>
            </a:r>
          </a:p>
          <a:p>
            <a:r>
              <a:rPr lang="en-US" b="1" dirty="0" err="1"/>
              <a:t>Jaypirca</a:t>
            </a:r>
            <a:r>
              <a:rPr lang="en-US" dirty="0"/>
              <a:t> (</a:t>
            </a:r>
            <a:r>
              <a:rPr lang="en-US" dirty="0" err="1"/>
              <a:t>pirtobrutinib</a:t>
            </a:r>
            <a:r>
              <a:rPr lang="en-US" dirty="0"/>
              <a:t>) is a BTK inhibitor for chronic lymphocytic </a:t>
            </a:r>
            <a:r>
              <a:rPr lang="en-US" dirty="0" err="1"/>
              <a:t>leukaemia</a:t>
            </a:r>
            <a:r>
              <a:rPr lang="en-US" dirty="0"/>
              <a:t> and mantle cell lymphoma. It passed six hundred million dollars </a:t>
            </a:r>
            <a:r>
              <a:rPr lang="en-US" dirty="0" err="1"/>
              <a:t>annualised</a:t>
            </a:r>
            <a:r>
              <a:rPr lang="en-US" dirty="0"/>
              <a:t> run rate in just its second year of </a:t>
            </a:r>
            <a:r>
              <a:rPr lang="en-US" dirty="0" err="1"/>
              <a:t>commercialisation</a:t>
            </a:r>
            <a:r>
              <a:rPr lang="en-US" dirty="0"/>
              <a:t>.</a:t>
            </a:r>
          </a:p>
          <a:p>
            <a:r>
              <a:rPr lang="en-US" dirty="0"/>
              <a:t>The oncology pipeline is deep: acquisitions of Ajax Therapeutics, </a:t>
            </a:r>
            <a:r>
              <a:rPr lang="en-US" dirty="0" err="1"/>
              <a:t>Centessa</a:t>
            </a:r>
            <a:r>
              <a:rPr lang="en-US" dirty="0"/>
              <a:t>, and Orna Therapeutics bring in KRAS-targeting and RNA-delivery capabilities that could define the next decade.</a:t>
            </a:r>
          </a:p>
          <a:p>
            <a:r>
              <a:rPr lang="en-US" b="1" dirty="0"/>
              <a:t>PILLAR THREE: IMMUNOLOGY.</a:t>
            </a:r>
            <a:endParaRPr lang="en-US" dirty="0"/>
          </a:p>
          <a:p>
            <a:r>
              <a:rPr lang="en-US" b="1" dirty="0"/>
              <a:t>Taltz</a:t>
            </a:r>
            <a:r>
              <a:rPr lang="en-US" dirty="0"/>
              <a:t> (</a:t>
            </a:r>
            <a:r>
              <a:rPr lang="en-US" dirty="0" err="1"/>
              <a:t>ixekizumab</a:t>
            </a:r>
            <a:r>
              <a:rPr lang="en-US" dirty="0"/>
              <a:t>) for psoriasis and psoriatic arthritis generates approximately two point four billion dollars annually. Biosimilar competition is emerging before 2030.</a:t>
            </a:r>
          </a:p>
          <a:p>
            <a:r>
              <a:rPr lang="en-US" b="1" dirty="0" err="1"/>
              <a:t>Omvoh</a:t>
            </a:r>
            <a:r>
              <a:rPr lang="en-US" dirty="0"/>
              <a:t> (</a:t>
            </a:r>
            <a:r>
              <a:rPr lang="en-US" dirty="0" err="1"/>
              <a:t>mirikizumab</a:t>
            </a:r>
            <a:r>
              <a:rPr lang="en-US" dirty="0"/>
              <a:t>) for ulcerative colitis is a growing franchise. Phase 3 data in Crohn's disease is compelling.</a:t>
            </a:r>
          </a:p>
          <a:p>
            <a:r>
              <a:rPr lang="en-US" b="1" dirty="0"/>
              <a:t>Lebrikizumab</a:t>
            </a:r>
            <a:r>
              <a:rPr lang="en-US" dirty="0"/>
              <a:t> — an IL-13 inhibitor for atopic dermatitis — is approved in the EU under the brand </a:t>
            </a:r>
            <a:r>
              <a:rPr lang="en-US" dirty="0" err="1"/>
              <a:t>Ebglyss</a:t>
            </a:r>
            <a:r>
              <a:rPr lang="en-US" dirty="0"/>
              <a:t>, with US launch underway. This goes directly against Dupixent, AstraZeneca and Sanofi's mega-blockbuster. If lebrikizumab can carve out even fifteen percent of that market, it is meaningful.</a:t>
            </a:r>
          </a:p>
          <a:p>
            <a:r>
              <a:rPr lang="en-US" dirty="0"/>
              <a:t>A Taltz-plus-</a:t>
            </a:r>
            <a:r>
              <a:rPr lang="en-US" dirty="0" err="1"/>
              <a:t>Zepbound</a:t>
            </a:r>
            <a:r>
              <a:rPr lang="en-US" dirty="0"/>
              <a:t> combination approach targeting psoriatic arthritis AND obesity simultaneously is in Phase 3. That is an intriguing dual-condition asset.</a:t>
            </a:r>
          </a:p>
          <a:p>
            <a:r>
              <a:rPr lang="en-US" b="1" dirty="0"/>
              <a:t>PILLAR FOUR: NEUROSCIENCE.</a:t>
            </a:r>
            <a:endParaRPr lang="en-US" dirty="0"/>
          </a:p>
          <a:p>
            <a:r>
              <a:rPr lang="en-US" b="1" dirty="0" err="1"/>
              <a:t>Kisunla</a:t>
            </a:r>
            <a:r>
              <a:rPr lang="en-US" dirty="0"/>
              <a:t> (donanemab for Alzheimer's disease) received FDA approval in July 2024. This is the first therapy in human history that has been shown to meaningfully slow cognitive decline in early Alzheimer's patients by clearing amyloid plaques from the brain. The TRAILBLAZER-ALZ 2 trial showed a thirty-five percent reduction in the spread of tau — the marker of neurodegeneration. This is real science.</a:t>
            </a:r>
          </a:p>
          <a:p>
            <a:r>
              <a:rPr lang="en-US" b="1" dirty="0" err="1"/>
              <a:t>LillyDirect</a:t>
            </a:r>
            <a:r>
              <a:rPr lang="en-US" dirty="0"/>
              <a:t> is Lilly's direct-to-consumer pharmacy platform that allows patients to bypass pharmacy benefit managers — the middlemen who extract pricing concessions in exchange for formulary placement. This is a strategic hedge against PBM pricing pressure.</a:t>
            </a:r>
          </a:p>
          <a:p>
            <a:r>
              <a:rPr lang="en-US" b="1" dirty="0"/>
              <a:t>Verve Therapeutics acquisition</a:t>
            </a:r>
            <a:r>
              <a:rPr lang="en-US" dirty="0"/>
              <a:t> in 2025 brings gene-editing capabilities for cardiovascular disease — specifically for LDL reduction using base editing. One treatment, potentially lifelong LDL management. That is the ambition.</a:t>
            </a:r>
          </a:p>
          <a:p>
            <a:r>
              <a:rPr lang="en-US" b="1" dirty="0" err="1"/>
              <a:t>SiteOne</a:t>
            </a:r>
            <a:r>
              <a:rPr lang="en-US" b="1" dirty="0"/>
              <a:t> Therapeutics</a:t>
            </a:r>
            <a:r>
              <a:rPr lang="en-US" dirty="0"/>
              <a:t> (Nav1.7) targets chronic pain pathways. Chronic pain is a massive market with significant unmet medical need.</a:t>
            </a:r>
          </a:p>
          <a:p>
            <a:r>
              <a:rPr lang="en-US" dirty="0"/>
              <a:t>The overall picture is clear: Lilly is not a one-trick pony. GLP-1 is the dominant franchise, but there are multiple billion-dollar revenue streams either established or in development that give this company legitimate diversification.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what all of this translates to financially. The numbers here are genuinely remarkable."</a:t>
            </a:r>
            <a:br>
              <a:rPr lang="en-US" dirty="0"/>
            </a:br>
            <a:br>
              <a:rPr lang="en-US" dirty="0"/>
            </a:br>
            <a:r>
              <a:rPr lang="en-US" dirty="0"/>
              <a:t>I call this the financial inflection slide. Because it tells the story of a company that went from flat revenue growth for years, to an almost vertical trajectory. From twenty-eight point five billion dollars in FY 2022 to sixty-five point two billion in FY 2025. That is revenue nearly tripling in three years.</a:t>
            </a:r>
          </a:p>
          <a:p>
            <a:r>
              <a:rPr lang="en-US" dirty="0"/>
              <a:t>Let me go through the key numbers methodically.</a:t>
            </a:r>
          </a:p>
          <a:p>
            <a:r>
              <a:rPr lang="en-US" b="1" dirty="0"/>
              <a:t>Top row — the six headline KPIs:</a:t>
            </a:r>
            <a:endParaRPr lang="en-US" dirty="0"/>
          </a:p>
          <a:p>
            <a:r>
              <a:rPr lang="en-US" dirty="0"/>
              <a:t>FY 2025 Revenue: sixty-five point two billion. Up forty-four point seven percent year over year.</a:t>
            </a:r>
          </a:p>
          <a:p>
            <a:r>
              <a:rPr lang="en-US" dirty="0"/>
              <a:t>Q4 2025 Revenue: approximately sixteen point five billion. The quarterly run rate </a:t>
            </a:r>
            <a:r>
              <a:rPr lang="en-US" dirty="0" err="1"/>
              <a:t>annualises</a:t>
            </a:r>
            <a:r>
              <a:rPr lang="en-US" dirty="0"/>
              <a:t> to sixty-six billion — which means the FY 2026 guidance of eighty-two to eighty-five billion represents meaningful sequential acceleration.</a:t>
            </a:r>
          </a:p>
          <a:p>
            <a:r>
              <a:rPr lang="en-US" dirty="0"/>
              <a:t>FY 2025 Net Income: twenty-one point eight billion dollars. For context: in FY 2023 — just two years earlier — net income was five point five billion. So net income has roughly quadrupled in two years. That is the power of operating leverage.</a:t>
            </a:r>
          </a:p>
          <a:p>
            <a:r>
              <a:rPr lang="en-US" dirty="0"/>
              <a:t>FY 2025 EBITDA Margin: approximately forty-two percent. Up from twenty-eight percent in FY 2022. Fourteen percentage points of margin expansion in three years. This is what revenue scale does to a high-fixed-cost business. The drug is already developed. The clinical trial costs are already sunk. Every incremental prescription sold at eighty-three percent gross margin falls through to earnings at an extraordinary rate.</a:t>
            </a:r>
          </a:p>
          <a:p>
            <a:r>
              <a:rPr lang="en-US" dirty="0"/>
              <a:t>Cash and Equivalents: approximately three point two billion. This is not a cash-rich balance sheet by the standards of Apple or Microsoft, but the important point is the trajectory: Lilly has been deploying capital aggressively into manufacturing and R&amp;D, which is the correct allocation given the revenue growth opportunity in front of it.</a:t>
            </a:r>
          </a:p>
          <a:p>
            <a:r>
              <a:rPr lang="en-US" dirty="0"/>
              <a:t>FY 2026 EPS Guide: thirty-three dollars fifty to thirty-five dollars. Non-GAAP. That is approximately forty percent earnings per share growth in a single year.</a:t>
            </a:r>
          </a:p>
          <a:p>
            <a:r>
              <a:rPr lang="en-US" b="1" dirty="0"/>
              <a:t>The bar chart:</a:t>
            </a:r>
            <a:endParaRPr lang="en-US" dirty="0"/>
          </a:p>
          <a:p>
            <a:r>
              <a:rPr lang="en-US" dirty="0"/>
              <a:t>Look at the revenue trajectory from FY 2021 through to the FY 2026 estimate. It is almost perfectly exponential. Twenty-eight billion, thirty-four billion, forty-five billion, sixty-five billion, and now guiding for eighty-one to eighty-two billion. If you have been following Lilly for the past three years, every single one of these numbers came in above what analysts modelled twelve months earlier.</a:t>
            </a:r>
          </a:p>
          <a:p>
            <a:r>
              <a:rPr lang="en-US" b="1" dirty="0"/>
              <a:t>The detailed financial table:</a:t>
            </a:r>
            <a:endParaRPr lang="en-US" dirty="0"/>
          </a:p>
          <a:p>
            <a:r>
              <a:rPr lang="en-US" dirty="0"/>
              <a:t>Gross Margin: sixty-eight percent in FY 2022, eighty percent in FY 2024, eighty-three percent in FY 2025, projected at approximately eighty-two percent in FY 2026. The slight dip expected in 2026 reflects the new manufacturing capacity coming online — there is some dilutive effect during ramp-up. But the long-run direction is up.</a:t>
            </a:r>
          </a:p>
          <a:p>
            <a:r>
              <a:rPr lang="en-US" dirty="0"/>
              <a:t>EBITDA Margin: twenty-eight percent to forty-two percent in three years. Targeting forty-four percent in 2026.</a:t>
            </a:r>
          </a:p>
          <a:p>
            <a:r>
              <a:rPr lang="en-US" dirty="0"/>
              <a:t>ROCE: twenty-two percent in FY 2022. Forty percent plus in FY 2025. Estimated forty-eight percent in FY 2026. This is on its way to becoming one of the highest-ROCE pharmaceutical companies in the world.</a:t>
            </a:r>
          </a:p>
          <a:p>
            <a:r>
              <a:rPr lang="en-US" dirty="0"/>
              <a:t>Debt to EBITDA: one point nine times in FY 2022, down to approximately one point zero times in FY 2025, targeting zero point eight times in FY 2026. The company is rapidly deleveraging. This is a strong signal of financial health.</a:t>
            </a:r>
          </a:p>
          <a:p>
            <a:r>
              <a:rPr lang="en-US" dirty="0"/>
              <a:t>R&amp;D spending: seven point two billion in FY 2022, approximately eleven billion in FY 2025, estimated thirteen billion in FY 2026. They are spending more in absolute terms on R&amp;D every year — which is the correct </a:t>
            </a:r>
            <a:r>
              <a:rPr lang="en-US" dirty="0" err="1"/>
              <a:t>behaviour</a:t>
            </a:r>
            <a:r>
              <a:rPr lang="en-US" dirty="0"/>
              <a:t> given the pipeline optionality ahead.</a:t>
            </a:r>
          </a:p>
          <a:p>
            <a:r>
              <a:rPr lang="en-US" dirty="0"/>
              <a:t>This financial profile — high growth, expanding margins, world-class ROCE, deleveraging balance sheet, and increasing R&amp;D investment — is extraordinarily rare. It is the profile of a company in the middle of a generational product cycle.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talk about what is next. The pipeline. Because Lilly's current products are not the whole story — not even close."</a:t>
            </a:r>
            <a:br>
              <a:rPr lang="en-US" dirty="0"/>
            </a:br>
            <a:br>
              <a:rPr lang="en-US" dirty="0"/>
            </a:br>
            <a:r>
              <a:rPr lang="en-US" dirty="0"/>
              <a:t>This is the slide I find most exciting. Because it tells you that Lilly is not just harvesting today's success — it is actively building the next wave.</a:t>
            </a:r>
          </a:p>
          <a:p>
            <a:r>
              <a:rPr lang="en-US" dirty="0"/>
              <a:t>Let me go through each pipeline asset.</a:t>
            </a:r>
          </a:p>
          <a:p>
            <a:r>
              <a:rPr lang="en-US" b="1" dirty="0"/>
              <a:t>FOUNDAYO (ORFORGLIPRON) — APPROVED APRIL 2026. STATUS: COMMERCIAL.</a:t>
            </a:r>
            <a:endParaRPr lang="en-US" dirty="0"/>
          </a:p>
          <a:p>
            <a:r>
              <a:rPr lang="en-US" dirty="0"/>
              <a:t>Let me spend extra time here because this is genuinely transformative.</a:t>
            </a:r>
          </a:p>
          <a:p>
            <a:r>
              <a:rPr lang="en-US" dirty="0" err="1"/>
              <a:t>Orforglipron</a:t>
            </a:r>
            <a:r>
              <a:rPr lang="en-US" dirty="0"/>
              <a:t> is a small molecule GLP-1 receptor agonist that can be taken as an oral pill — with </a:t>
            </a:r>
            <a:r>
              <a:rPr lang="en-US" i="1" dirty="0"/>
              <a:t>no food or water restrictions</a:t>
            </a:r>
            <a:r>
              <a:rPr lang="en-US" dirty="0"/>
              <a:t>. Let me explain why that last part matters.</a:t>
            </a:r>
          </a:p>
          <a:p>
            <a:r>
              <a:rPr lang="en-US" dirty="0"/>
              <a:t>Current GLP-1 drugs — Ozempic, </a:t>
            </a:r>
            <a:r>
              <a:rPr lang="en-US" dirty="0" err="1"/>
              <a:t>Wegovy</a:t>
            </a:r>
            <a:r>
              <a:rPr lang="en-US" dirty="0"/>
              <a:t>, </a:t>
            </a:r>
            <a:r>
              <a:rPr lang="en-US" dirty="0" err="1"/>
              <a:t>Mounjaro</a:t>
            </a:r>
            <a:r>
              <a:rPr lang="en-US" dirty="0"/>
              <a:t>, </a:t>
            </a:r>
            <a:r>
              <a:rPr lang="en-US" dirty="0" err="1"/>
              <a:t>Zepbound</a:t>
            </a:r>
            <a:r>
              <a:rPr lang="en-US" dirty="0"/>
              <a:t> — are all injectable. They are weekly subcutaneous injections. There is a meaningful segment of the patient population that will not self-inject. They are needle-phobic. They forget. They do not want to deal with storage requirements and temperature controls. That barrier is real, and it is large.</a:t>
            </a:r>
          </a:p>
          <a:p>
            <a:r>
              <a:rPr lang="en-US" dirty="0"/>
              <a:t>Previous oral GLP-1 attempts — specifically Novo Nordisk's </a:t>
            </a:r>
            <a:r>
              <a:rPr lang="en-US" dirty="0" err="1"/>
              <a:t>Rybelsus</a:t>
            </a:r>
            <a:r>
              <a:rPr lang="en-US" dirty="0"/>
              <a:t> — required patients to take the pill on an empty stomach with only four ounces of water, and then wait thirty minutes before eating or drinking. Compliance was poor. The absorption was inconsistent.</a:t>
            </a:r>
          </a:p>
          <a:p>
            <a:r>
              <a:rPr lang="en-US" dirty="0" err="1"/>
              <a:t>Foundayo</a:t>
            </a:r>
            <a:r>
              <a:rPr lang="en-US" dirty="0"/>
              <a:t> — </a:t>
            </a:r>
            <a:r>
              <a:rPr lang="en-US" dirty="0" err="1"/>
              <a:t>orforglipron</a:t>
            </a:r>
            <a:r>
              <a:rPr lang="en-US" dirty="0"/>
              <a:t> — is a truly convenient oral pill. No food restrictions. Take it whenever. The clinical data shows approximately sixteen percent body weight reduction and meaningful A1c improvements in Type 2 diabetes. Approval came in April 2026. This is the first truly unrestricted oral GLP-1 available commercially.</a:t>
            </a:r>
          </a:p>
          <a:p>
            <a:r>
              <a:rPr lang="en-US" dirty="0"/>
              <a:t>The market implication: there are hundreds of millions of people globally who could benefit from GLP-1 therapy but who face barriers to injectable treatment. The oral pill removes those barriers. This is a potential ten-fold expansion of the addressable market over a five to ten year horizon.</a:t>
            </a:r>
          </a:p>
          <a:p>
            <a:r>
              <a:rPr lang="en-US" b="1" dirty="0"/>
              <a:t>RETATRUTIDE ('TRIPLE G') — PHASE 3 / NDA FILING EXPECTED Q3-Q4 2026.</a:t>
            </a:r>
            <a:endParaRPr lang="en-US" dirty="0"/>
          </a:p>
          <a:p>
            <a:r>
              <a:rPr lang="en-US" dirty="0"/>
              <a:t>This is the one that genuinely keeps Novo Nordisk executives awake at night.</a:t>
            </a:r>
          </a:p>
          <a:p>
            <a:r>
              <a:rPr lang="en-US" dirty="0" err="1"/>
              <a:t>Retatrutide</a:t>
            </a:r>
            <a:r>
              <a:rPr lang="en-US" dirty="0"/>
              <a:t> is a triple agonist. It targets three receptors simultaneously: GLP-1, GIP, and glucagon. The glucagon agonism drives fatty acid oxidation — essentially it tells the liver to burn stored fat for energy, which adds an entirely new mechanism on top of the GLP-1 effects.</a:t>
            </a:r>
          </a:p>
          <a:p>
            <a:r>
              <a:rPr lang="en-US" dirty="0"/>
              <a:t>Phase 2 clinical trials showed twenty-eight point seven percent average weight loss over approximately forty-eight weeks. Twenty-eight point seven percent. That is not a typo. For a patient weighing two hundred and fifty pounds, that is seventy-two pounds of weight lost. On a drug. Without surgery.</a:t>
            </a:r>
          </a:p>
          <a:p>
            <a:r>
              <a:rPr lang="en-US" dirty="0"/>
              <a:t>For comparison: bariatric sleeve gastrectomy — stomach surgery — typically achieves twenty-five to thirty percent excess weight loss. </a:t>
            </a:r>
            <a:r>
              <a:rPr lang="en-US" dirty="0" err="1"/>
              <a:t>Retatrutide</a:t>
            </a:r>
            <a:r>
              <a:rPr lang="en-US" dirty="0"/>
              <a:t> is approaching </a:t>
            </a:r>
            <a:r>
              <a:rPr lang="en-US" i="1" dirty="0"/>
              <a:t>surgical levels of weight reduction in a pharmaceutical format</a:t>
            </a:r>
            <a:r>
              <a:rPr lang="en-US" dirty="0"/>
              <a:t>.</a:t>
            </a:r>
          </a:p>
          <a:p>
            <a:r>
              <a:rPr lang="en-US" dirty="0"/>
              <a:t>No competitor has a comparable molecule in late-stage development. If Phase 3 data holds, and the safety profile is acceptable — which is the critical conditional — Lilly will have three distinct obesity molecules: </a:t>
            </a:r>
            <a:r>
              <a:rPr lang="en-US" dirty="0" err="1"/>
              <a:t>Zepbound</a:t>
            </a:r>
            <a:r>
              <a:rPr lang="en-US" dirty="0"/>
              <a:t> for the general market, </a:t>
            </a:r>
            <a:r>
              <a:rPr lang="en-US" dirty="0" err="1"/>
              <a:t>Foundayo</a:t>
            </a:r>
            <a:r>
              <a:rPr lang="en-US" dirty="0"/>
              <a:t> for the oral convenience market, and </a:t>
            </a:r>
            <a:r>
              <a:rPr lang="en-US" dirty="0" err="1"/>
              <a:t>Retatrutide</a:t>
            </a:r>
            <a:r>
              <a:rPr lang="en-US" dirty="0"/>
              <a:t> for extreme efficacy where maximum weight loss is the clinical priority.</a:t>
            </a:r>
          </a:p>
          <a:p>
            <a:r>
              <a:rPr lang="en-US" b="1" dirty="0"/>
              <a:t>ZEPBOUND LABEL EXPANSIONS — NDA EXPANSIONS ONGOING.</a:t>
            </a:r>
            <a:endParaRPr lang="en-US" dirty="0"/>
          </a:p>
          <a:p>
            <a:r>
              <a:rPr lang="en-US" dirty="0"/>
              <a:t>Tirzepatide is being studied and approved for an expanding list of conditions:</a:t>
            </a:r>
          </a:p>
          <a:p>
            <a:r>
              <a:rPr lang="en-US" b="1" dirty="0"/>
              <a:t>Obstructive sleep apnea</a:t>
            </a:r>
            <a:r>
              <a:rPr lang="en-US" dirty="0"/>
              <a:t>: Already approved in 2024. This is significant because the treatment for sleep apnea is currently a CPAP machine — a device that millions of patients find uncomfortable and non-compliant. If tirzepatide can replace or reduce CPAP dependence, the addressable population is enormous.</a:t>
            </a:r>
          </a:p>
          <a:p>
            <a:r>
              <a:rPr lang="en-US" b="1" dirty="0"/>
              <a:t>Heart failure with preserved ejection fraction (HFpEF)</a:t>
            </a:r>
            <a:r>
              <a:rPr lang="en-US" dirty="0"/>
              <a:t>: Clinical trial data is compelling. This is a form of heart failure affecting roughly half of all heart failure patients, with very limited pharmacological treatment options.</a:t>
            </a:r>
          </a:p>
          <a:p>
            <a:r>
              <a:rPr lang="en-US" b="1" dirty="0"/>
              <a:t>MASH (Metabolic dysfunction-associated steatohepatitis)</a:t>
            </a:r>
            <a:r>
              <a:rPr lang="en-US" dirty="0"/>
              <a:t>: Liver disease linked to obesity and insulin resistance. Tirzepatide reduces liver fat in clinical trials. This is a major unmet medical need.</a:t>
            </a:r>
          </a:p>
          <a:p>
            <a:r>
              <a:rPr lang="en-US" dirty="0"/>
              <a:t>Lilly is effectively turning tirzepatide from a weight loss drug into a multi-system metabolic platform. Each new label approval opens a new patient population and potentially extends the commercial life of the asset.</a:t>
            </a:r>
          </a:p>
          <a:p>
            <a:r>
              <a:rPr lang="en-US" b="1" dirty="0"/>
              <a:t>KISUNLA (DONANEMAB) — APPROVED AND EXPANDING FOR ALZHEIMER'S DISEASE.</a:t>
            </a:r>
            <a:endParaRPr lang="en-US" dirty="0"/>
          </a:p>
          <a:p>
            <a:r>
              <a:rPr lang="en-US" dirty="0"/>
              <a:t>First drug to genuinely slow cognitive decline in early Alzheimer's. The TRAILBLAZER-ALZ 2 data: thirty-five percent slowing of cognitive decline in amyloid-positive patients. The caveat: ARIA — amyloid-related imaging abnormalities, essentially brain swelling or micro-bleeding — is a real side effect that limits uptake to carefully screened patient populations. This is a medical supervision drug, not a general-population drug.</a:t>
            </a:r>
          </a:p>
          <a:p>
            <a:r>
              <a:rPr lang="en-US" dirty="0"/>
              <a:t>But the Alzheimer's TAM is staggering: fifty to sixty million people with Alzheimer's globally, with a peak US sales opportunity estimated at five to ten billion dollars annually if prescribing broadens.</a:t>
            </a:r>
          </a:p>
          <a:p>
            <a:r>
              <a:rPr lang="en-US" b="1" dirty="0"/>
              <a:t>LEBRIKIZUMAB (ATOPIC DERMATITIS) — EU APPROVED, US LAUNCH UNDERWAY.</a:t>
            </a:r>
            <a:endParaRPr lang="en-US" dirty="0"/>
          </a:p>
          <a:p>
            <a:r>
              <a:rPr lang="en-US" dirty="0"/>
              <a:t>Going head-to-head with Dupixent — a fourteen billion dollar drug from Sanofi and Regeneron. Lebrikizumab targets IL-13 specifically rather than both IL-4 and IL-13. Whether that narrower targeting provides clinical advantages in certain patient sub-populations is the key commercial question. The EU approved it. The US launch has begun.</a:t>
            </a:r>
          </a:p>
          <a:p>
            <a:r>
              <a:rPr lang="en-US" b="1" dirty="0"/>
              <a:t>OLOMORASIB + SOTORASIB — PHASE 2/3 FOR KRAS G12C LUNG AND COLORECTAL CANCER.</a:t>
            </a:r>
            <a:endParaRPr lang="en-US" dirty="0"/>
          </a:p>
          <a:p>
            <a:r>
              <a:rPr lang="en-US" dirty="0"/>
              <a:t>KRAS was considered "undruggable" for decades. The first KRAS inhibitors were approved around 2021, and now the race is on for combination approaches. Lilly's combination oncology approach in KRAS G12C-mutated lung and colorectal cancer is an important pipeline bet on next-generation oncology.</a:t>
            </a:r>
          </a:p>
          <a:p>
            <a:r>
              <a:rPr lang="en-US" b="1" dirty="0"/>
              <a:t>GENE MEDICINE PLATFORM — PRECLINICAL / PHASE 1.</a:t>
            </a:r>
            <a:endParaRPr lang="en-US" dirty="0"/>
          </a:p>
          <a:p>
            <a:r>
              <a:rPr lang="en-US" dirty="0"/>
              <a:t>Verve Therapeutics acquisition brings base editing technology. The Lebanon, Indiana gene medicine plant opened in May 2026. This is the long-term optionality play. RNA therapies and gene editing represent the next paradigm shift in medicine, and Lilly is positioning early.</a:t>
            </a:r>
          </a:p>
          <a:p>
            <a:r>
              <a:rPr lang="en-US" dirty="0"/>
              <a:t>The pipeline is extraordinarily deep. There are approximately forty active clinical programs. This is not a one-molecule wonder. It is a platform.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pipeline dreams only become revenue if you can actually manufacture and deliver the drugs at scale. And Lilly has been supply-constrained. Let us look at how they are solving that.“</a:t>
            </a:r>
            <a:br>
              <a:rPr lang="en-US" dirty="0"/>
            </a:br>
            <a:br>
              <a:rPr lang="en-US" dirty="0"/>
            </a:br>
            <a:r>
              <a:rPr lang="en-US" dirty="0"/>
              <a:t>The single most important risk that almost derailed the GLP-1 story for Lilly in 2023 and 2024 was not clinical. It was not regulatory. It was manufacturing. They could not make enough drug to meet demand. </a:t>
            </a:r>
            <a:r>
              <a:rPr lang="en-US" dirty="0" err="1"/>
              <a:t>Zepbound</a:t>
            </a:r>
            <a:r>
              <a:rPr lang="en-US" dirty="0"/>
              <a:t> was on the FDA drug shortage list. Patients were turning to compounding pharmacies. Novo was gaining share simply because it had more physical supply.</a:t>
            </a:r>
          </a:p>
          <a:p>
            <a:r>
              <a:rPr lang="en-US" dirty="0"/>
              <a:t>Lilly's response has been one of the largest manufacturing investment </a:t>
            </a:r>
            <a:r>
              <a:rPr lang="en-US" dirty="0" err="1"/>
              <a:t>programmes</a:t>
            </a:r>
            <a:r>
              <a:rPr lang="en-US" dirty="0"/>
              <a:t> in pharmaceutical history. Sixty-five billion dollars committed. Let me walk you through the sites.</a:t>
            </a:r>
          </a:p>
          <a:p>
            <a:r>
              <a:rPr lang="en-US" b="1" dirty="0"/>
              <a:t>Indianapolis, Indiana — Headquarters and Legacy Site.</a:t>
            </a:r>
            <a:r>
              <a:rPr lang="en-US" dirty="0"/>
              <a:t> The original facility. Insulin history, biotech history. Still important but not the primary growth capacity.</a:t>
            </a:r>
          </a:p>
          <a:p>
            <a:r>
              <a:rPr lang="en-US" b="1" dirty="0"/>
              <a:t>Branchburg, New Jersey — five point three billion dollar expansion.</a:t>
            </a:r>
            <a:r>
              <a:rPr lang="en-US" dirty="0"/>
              <a:t> This is the primary tirzepatide active pharmaceutical ingredient site. The API is what defines your supply capacity. Branchburg is coming online in 2025 and 2026. This is the key supply unlock.</a:t>
            </a:r>
          </a:p>
          <a:p>
            <a:r>
              <a:rPr lang="en-US" b="1" dirty="0"/>
              <a:t>Lebanon, Indiana — Lilly Medicine Foundry, four point five billion dollars.</a:t>
            </a:r>
            <a:r>
              <a:rPr lang="en-US" dirty="0"/>
              <a:t> Opened in 2024, with the gene medicine facility added in May 2026. This is Lilly's showcase site — small molecule manufacturing, biotech capabilities, and now genetic therapies. Purpose-built for the next decade of their pipeline.</a:t>
            </a:r>
          </a:p>
          <a:p>
            <a:r>
              <a:rPr lang="en-US" b="1" dirty="0"/>
              <a:t>Research Triangle, North Carolina — one billion plus.</a:t>
            </a:r>
            <a:r>
              <a:rPr lang="en-US" dirty="0"/>
              <a:t> Focused on oral delivery and advanced manufacturing. </a:t>
            </a:r>
            <a:r>
              <a:rPr lang="en-US" dirty="0" err="1"/>
              <a:t>Foundayo's</a:t>
            </a:r>
            <a:r>
              <a:rPr lang="en-US" dirty="0"/>
              <a:t> oral formulation may be processed here.</a:t>
            </a:r>
          </a:p>
          <a:p>
            <a:r>
              <a:rPr lang="en-US" b="1" dirty="0" err="1"/>
              <a:t>Alzey</a:t>
            </a:r>
            <a:r>
              <a:rPr lang="en-US" b="1" dirty="0"/>
              <a:t>, Germany — two point three billion.</a:t>
            </a:r>
            <a:r>
              <a:rPr lang="en-US" dirty="0"/>
              <a:t> EU manufacturing for injectable GLP-1 drugs. This site addresses European supply and reduces the geopolitical concentration risk of manufacturing only in the US.</a:t>
            </a:r>
          </a:p>
          <a:p>
            <a:r>
              <a:rPr lang="en-US" b="1" dirty="0"/>
              <a:t>Limerick, Ireland — one point six billion.</a:t>
            </a:r>
            <a:r>
              <a:rPr lang="en-US" dirty="0"/>
              <a:t> Ireland is a well-established pharmaceutical manufacturing hub with </a:t>
            </a:r>
            <a:r>
              <a:rPr lang="en-US" dirty="0" err="1"/>
              <a:t>favourable</a:t>
            </a:r>
            <a:r>
              <a:rPr lang="en-US" dirty="0"/>
              <a:t> tax treatment. This expands Lilly's European capacity further.</a:t>
            </a:r>
          </a:p>
          <a:p>
            <a:r>
              <a:rPr lang="en-US" dirty="0"/>
              <a:t>The key point: seventy-five percent of Lilly's manufacturing capacity is in the US and Puerto Rico. This provides partial protection against potential pharma import tariffs — a watchlist item we will discuss in the risk section.</a:t>
            </a:r>
          </a:p>
          <a:p>
            <a:r>
              <a:rPr lang="en-US" b="1" dirty="0"/>
              <a:t>Now the geographic revenue split:</a:t>
            </a:r>
            <a:endParaRPr lang="en-US" dirty="0"/>
          </a:p>
          <a:p>
            <a:r>
              <a:rPr lang="en-US" dirty="0"/>
              <a:t>United States: sixty-four percent of revenue, approximately forty-one point seven billion dollars.</a:t>
            </a:r>
          </a:p>
          <a:p>
            <a:r>
              <a:rPr lang="en-US" dirty="0"/>
              <a:t>Europe: fifteen percent, approximately nine point eight billion.</a:t>
            </a:r>
          </a:p>
          <a:p>
            <a:r>
              <a:rPr lang="en-US" dirty="0"/>
              <a:t>Japan: six percent, approximately three point nine billion.</a:t>
            </a:r>
          </a:p>
          <a:p>
            <a:r>
              <a:rPr lang="en-US" dirty="0"/>
              <a:t>China: seven percent, approximately four point six billion. Note: </a:t>
            </a:r>
            <a:r>
              <a:rPr lang="en-US" dirty="0" err="1"/>
              <a:t>Mounjaro</a:t>
            </a:r>
            <a:r>
              <a:rPr lang="en-US" dirty="0"/>
              <a:t> launched in China, but NRDL — the National Reimbursement Drug List — pricing negotiations have cut the price. Volume is growing; net revenue impact is mixed.</a:t>
            </a:r>
          </a:p>
          <a:p>
            <a:r>
              <a:rPr lang="en-US" dirty="0"/>
              <a:t>Rest of World: eight percent.</a:t>
            </a:r>
          </a:p>
          <a:p>
            <a:r>
              <a:rPr lang="en-US" dirty="0"/>
              <a:t>The US dominance — sixty-four percent — is a double-edged sword. On one side, the US is where GLP-1 pricing is highest, and where Medicare coverage expansion from July 2026 represents a massive volume catalyst. On the other side, US policy risk around Medicaid rollbacks and IRA price negotiations is concentrated and material.</a:t>
            </a:r>
          </a:p>
          <a:p>
            <a:r>
              <a:rPr lang="en-US" dirty="0"/>
              <a:t>The regulatory and geopolitical risk watch on the right side of this slide deserves close attention. Four items:</a:t>
            </a:r>
          </a:p>
          <a:p>
            <a:r>
              <a:rPr lang="en-US" b="1" dirty="0"/>
              <a:t>HIGH severity: US Medicaid Obesity Coverage Rollback.</a:t>
            </a:r>
            <a:r>
              <a:rPr lang="en-US" dirty="0"/>
              <a:t> California removed </a:t>
            </a:r>
            <a:r>
              <a:rPr lang="en-US" dirty="0" err="1"/>
              <a:t>Zepbound</a:t>
            </a:r>
            <a:r>
              <a:rPr lang="en-US" dirty="0"/>
              <a:t> from Medi-Cal. Multiple states considering similar cuts. This is a real headwind to volume in lower-income populations.</a:t>
            </a:r>
          </a:p>
          <a:p>
            <a:r>
              <a:rPr lang="en-US" b="1" dirty="0"/>
              <a:t>MEDIUM severity: Pharma Import Tariff Proposals.</a:t>
            </a:r>
            <a:r>
              <a:rPr lang="en-US" dirty="0"/>
              <a:t> The Trump administration has proposed significant tariffs on pharmaceutical imports. Lilly's seventy-five percent US manufacturing provides a partial shield, but twenty-five percent OUS exposure means this is not a zero-impact scenario.</a:t>
            </a:r>
          </a:p>
          <a:p>
            <a:r>
              <a:rPr lang="en-US" b="1" dirty="0"/>
              <a:t>MEDIUM severity: IRA Drug Pricing Negotiation.</a:t>
            </a:r>
            <a:r>
              <a:rPr lang="en-US" dirty="0"/>
              <a:t> The Inflation Reduction Act subjects drugs to Medicare price negotiation after nine years of </a:t>
            </a:r>
            <a:r>
              <a:rPr lang="en-US" dirty="0" err="1"/>
              <a:t>commercialisation</a:t>
            </a:r>
            <a:r>
              <a:rPr lang="en-US" dirty="0"/>
              <a:t> for small molecules. </a:t>
            </a:r>
            <a:r>
              <a:rPr lang="en-US" dirty="0" err="1"/>
              <a:t>Mounjaro</a:t>
            </a:r>
            <a:r>
              <a:rPr lang="en-US" dirty="0"/>
              <a:t> and </a:t>
            </a:r>
            <a:r>
              <a:rPr lang="en-US" dirty="0" err="1"/>
              <a:t>Zepbound</a:t>
            </a:r>
            <a:r>
              <a:rPr lang="en-US" dirty="0"/>
              <a:t> are tirzepatide-based small molecule products. They could enter negotiation as early as 2031. This is a long-term margin headwind that investors in Lilly need to model.</a:t>
            </a:r>
          </a:p>
          <a:p>
            <a:r>
              <a:rPr lang="en-US" b="1" dirty="0"/>
              <a:t>WATCH: EU AI Act and </a:t>
            </a:r>
            <a:r>
              <a:rPr lang="en-US" b="1" dirty="0" err="1"/>
              <a:t>GxP</a:t>
            </a:r>
            <a:r>
              <a:rPr lang="en-US" b="1" dirty="0"/>
              <a:t> Regulatory.</a:t>
            </a:r>
            <a:r>
              <a:rPr lang="en-US" dirty="0"/>
              <a:t> Lilly is using AI in drug discovery. EU data privacy regulation is evolving. This is a low-probability, manageable risk but worth monitoring.</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how Lilly competes. Who are they up against, and why are they winning?“</a:t>
            </a:r>
            <a:br>
              <a:rPr lang="en-US" dirty="0"/>
            </a:br>
            <a:br>
              <a:rPr lang="en-US" dirty="0"/>
            </a:br>
            <a:r>
              <a:rPr lang="en-US" dirty="0"/>
              <a:t>The competitive slide is where I want to be very precise, because the narrative around Lilly versus Novo Nordisk is one of the most important stories in global pharma.</a:t>
            </a:r>
          </a:p>
          <a:p>
            <a:r>
              <a:rPr lang="en-US" dirty="0"/>
              <a:t>Let me go through the comparison table first.</a:t>
            </a:r>
          </a:p>
          <a:p>
            <a:r>
              <a:rPr lang="en-US" b="1" dirty="0"/>
              <a:t>Eli Lilly, ticker LLY.</a:t>
            </a:r>
            <a:r>
              <a:rPr lang="en-US" dirty="0"/>
              <a:t> Revenue sixty-five point two billion. Forward P/E approximately thirty times. GLP-1 position: leader, dual GIP plus GLP-1. Key moat: pipeline depth plus oral GLP-1 plus manufacturing scale.</a:t>
            </a:r>
          </a:p>
          <a:p>
            <a:r>
              <a:rPr lang="en-US" b="1" dirty="0"/>
              <a:t>Novo Nordisk, ticker NVO.</a:t>
            </a:r>
            <a:r>
              <a:rPr lang="en-US" dirty="0"/>
              <a:t> Revenue approximately forty-five billion. Forward P/E approximately twenty-two times. GLP-1 position: challenger, semaglutide based. Key moat: scale, Ozempic and </a:t>
            </a:r>
            <a:r>
              <a:rPr lang="en-US" dirty="0" err="1"/>
              <a:t>Wegovy</a:t>
            </a:r>
            <a:r>
              <a:rPr lang="en-US" dirty="0"/>
              <a:t> brand recognition, strong global distribution — particularly in Europe, where Novo has decades of diabetes relationships.</a:t>
            </a:r>
          </a:p>
          <a:p>
            <a:r>
              <a:rPr lang="en-US" dirty="0"/>
              <a:t>Important note on Novo: they guided revenues DOWN for 2026 — negative five to thirteen percent year over year growth. That is extraordinary. The company that invented the modern GLP-1 market is now losing US market share fast enough to shrink its total revenue. That tells you everything about the magnitude of Lilly's competitive advantage.</a:t>
            </a:r>
          </a:p>
          <a:p>
            <a:r>
              <a:rPr lang="en-US" b="1" dirty="0"/>
              <a:t>Pfizer, ticker PFE.</a:t>
            </a:r>
            <a:r>
              <a:rPr lang="en-US" dirty="0"/>
              <a:t> Revenue approximately sixty-three billion. Forward P/E approximately twelve times. GLP-1 position: competitor, </a:t>
            </a:r>
            <a:r>
              <a:rPr lang="en-US" dirty="0" err="1"/>
              <a:t>danuglipron</a:t>
            </a:r>
            <a:r>
              <a:rPr lang="en-US" dirty="0"/>
              <a:t> in Phase 3. Key moat: scale but early-stage GLP-1; pipeline rebuilding after Paxlovid revenue cliff. Pfizer is not a near-term GLP-1 threat.</a:t>
            </a:r>
          </a:p>
          <a:p>
            <a:r>
              <a:rPr lang="en-US" b="1" dirty="0"/>
              <a:t>AstraZeneca, ticker AZN.</a:t>
            </a:r>
            <a:r>
              <a:rPr lang="en-US" dirty="0"/>
              <a:t> Revenue approximately fifty-four billion. Forward P/E approximately eighteen times. GLP-1 position: minimal, indirect. Key moat: oncology and CVRM franchise. No obesity play yet.</a:t>
            </a:r>
          </a:p>
          <a:p>
            <a:r>
              <a:rPr lang="en-US" b="1" dirty="0"/>
              <a:t>Roche, ticker RHHBY.</a:t>
            </a:r>
            <a:r>
              <a:rPr lang="en-US" dirty="0"/>
              <a:t> Revenue approximately sixty billion. Forward P/E approximately seventeen times. GLP-1 position: entrant, CT-996 oral GLP-1 in Phase 2. Key moat: diagnostics plus oncology.</a:t>
            </a:r>
          </a:p>
          <a:p>
            <a:r>
              <a:rPr lang="en-US" dirty="0"/>
              <a:t>Now let us go to the three competitive insight boxes at the bottom of the slide. These are critical.</a:t>
            </a:r>
          </a:p>
          <a:p>
            <a:r>
              <a:rPr lang="en-US" b="1" dirty="0"/>
              <a:t>Box one: Clinical Superiority.</a:t>
            </a:r>
            <a:endParaRPr lang="en-US" dirty="0"/>
          </a:p>
          <a:p>
            <a:r>
              <a:rPr lang="en-US" dirty="0"/>
              <a:t>In the SURMOUNT-5 head-to-head trial — which is the first direct comparison between tirzepatide and semaglutide in an obesity population — tirzepatide showed twenty point two percent body weight reduction versus thirteen point seven percent for </a:t>
            </a:r>
            <a:r>
              <a:rPr lang="en-US" dirty="0" err="1"/>
              <a:t>Wegovy</a:t>
            </a:r>
            <a:r>
              <a:rPr lang="en-US" dirty="0"/>
              <a:t>. That is a six and a half percentage point gap. When a prescriber sees that kind of trial data, the prescribing decision is clear: tirzepatide works better. Clinical superiority drives formulary positioning. Formulary positioning drives prescription volume. This is a durable moat.</a:t>
            </a:r>
          </a:p>
          <a:p>
            <a:r>
              <a:rPr lang="en-US" b="1" dirty="0"/>
              <a:t>Box two: Oral GLP-1 First-Mover.</a:t>
            </a:r>
            <a:endParaRPr lang="en-US" dirty="0"/>
          </a:p>
          <a:p>
            <a:r>
              <a:rPr lang="en-US" dirty="0" err="1"/>
              <a:t>Foundayo</a:t>
            </a:r>
            <a:r>
              <a:rPr lang="en-US" dirty="0"/>
              <a:t> — </a:t>
            </a:r>
            <a:r>
              <a:rPr lang="en-US" dirty="0" err="1"/>
              <a:t>orforglipron</a:t>
            </a:r>
            <a:r>
              <a:rPr lang="en-US" dirty="0"/>
              <a:t> — is the only approved oral GLP-1 pill with no food or water restrictions. </a:t>
            </a:r>
            <a:r>
              <a:rPr lang="en-US" dirty="0" err="1"/>
              <a:t>Novo's</a:t>
            </a:r>
            <a:r>
              <a:rPr lang="en-US" dirty="0"/>
              <a:t> oral semaglutide exists, but the compliance requirements limit its real-world effectiveness. In markets where cold-chain distribution of injectables is impractical — rural India, Sub-Saharan Africa, large parts of Southeast Asia — an oral pill changes the access equation entirely. The global TAM for an effective, convenient oral GLP-1 is not fifty million patients. It is hundreds of millions of patients.</a:t>
            </a:r>
          </a:p>
          <a:p>
            <a:r>
              <a:rPr lang="en-US" b="1" dirty="0"/>
              <a:t>Box three: </a:t>
            </a:r>
            <a:r>
              <a:rPr lang="en-US" b="1" dirty="0" err="1"/>
              <a:t>Retatrutide</a:t>
            </a:r>
            <a:r>
              <a:rPr lang="en-US" b="1" dirty="0"/>
              <a:t> Moat.</a:t>
            </a:r>
            <a:endParaRPr lang="en-US" dirty="0"/>
          </a:p>
          <a:p>
            <a:r>
              <a:rPr lang="en-US" dirty="0"/>
              <a:t>If </a:t>
            </a:r>
            <a:r>
              <a:rPr lang="en-US" dirty="0" err="1"/>
              <a:t>retatrutide</a:t>
            </a:r>
            <a:r>
              <a:rPr lang="en-US" dirty="0"/>
              <a:t> achieves approval with its twenty-eight point seven percent weight loss profile, no competitor has a comparable triple-agonist molecule in late-stage development. This extends Lilly's premium positioning for potentially five to seven years beyond the current tirzepatide cycle.</a:t>
            </a:r>
          </a:p>
          <a:p>
            <a:r>
              <a:rPr lang="en-US" dirty="0"/>
              <a:t>The key takeaway from this competitive analysis: Lilly is not just winning today's competition. It is building structural advantages that will be increasingly hard to close.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 am a skeptical analyst by training. And no matter how good a story looks, you have to force yourself to look at what could go wrong. Let us look at the red flags.“</a:t>
            </a:r>
            <a:br>
              <a:rPr lang="en-US" dirty="0"/>
            </a:br>
            <a:r>
              <a:rPr lang="en-US" dirty="0"/>
              <a:t>This is the slide that separates a research note from a promotional piece. Every great investment has risks. The question is whether you understand them clearly enough to size your position appropriately and to know what news flow would change your thesis. Let me go through each risk with full transparency.</a:t>
            </a:r>
          </a:p>
          <a:p>
            <a:r>
              <a:rPr lang="en-US" b="1" dirty="0"/>
              <a:t>RISK ONE: GLP-1 PRICING AND IRA MEDICARE NEGOTIATION — SEVERITY: CRITICAL.</a:t>
            </a:r>
            <a:endParaRPr lang="en-US" dirty="0"/>
          </a:p>
          <a:p>
            <a:r>
              <a:rPr lang="en-US" dirty="0"/>
              <a:t>The Inflation Reduction Act is one of the most significant structural changes to the US pharmaceutical pricing environment in a generation. Under the IRA, Medicare can negotiate prices for drugs that have been on the market for nine years — small molecules in nine years, biologics in thirteen years.</a:t>
            </a:r>
          </a:p>
          <a:p>
            <a:r>
              <a:rPr lang="en-US" dirty="0"/>
              <a:t>Tirzepatide is a small molecule. It was first approved in 2022. That means it could enter the Medicare negotiation cycle as early as 2031. If tirzepatide is selected for negotiation, the price reduction could be thirty to sixty percent or more. The Congressional Budget Office has estimated that the first ten drugs selected for negotiation will see price reductions averaging around forty percent.</a:t>
            </a:r>
          </a:p>
          <a:p>
            <a:r>
              <a:rPr lang="en-US" dirty="0"/>
              <a:t>For context: if tirzepatide generates forty billion dollars of revenue by 2030, and then faces a forty percent price cut in 2031, that is sixteen billion dollars of </a:t>
            </a:r>
            <a:r>
              <a:rPr lang="en-US" dirty="0" err="1"/>
              <a:t>annualised</a:t>
            </a:r>
            <a:r>
              <a:rPr lang="en-US" dirty="0"/>
              <a:t> revenue that simply disappears. PBM — pharmacy benefit manager — rebate pressure is an additional near-term pricing headwind that is already compressing net revenue per prescription.</a:t>
            </a:r>
          </a:p>
          <a:p>
            <a:r>
              <a:rPr lang="en-US" dirty="0"/>
              <a:t>This is the single most important long-term financial risk to Lilly. It is not an if. It is a when.</a:t>
            </a:r>
          </a:p>
          <a:p>
            <a:r>
              <a:rPr lang="en-US" b="1" dirty="0"/>
              <a:t>RISK TWO: MANUFACTURING EXECUTION RISK — SEVERITY: CRITICAL.</a:t>
            </a:r>
            <a:endParaRPr lang="en-US" dirty="0"/>
          </a:p>
          <a:p>
            <a:r>
              <a:rPr lang="en-US" dirty="0"/>
              <a:t>Lilly was on the FDA drug shortage list for </a:t>
            </a:r>
            <a:r>
              <a:rPr lang="en-US" dirty="0" err="1"/>
              <a:t>Zepbound</a:t>
            </a:r>
            <a:r>
              <a:rPr lang="en-US" dirty="0"/>
              <a:t> in 2023 and 2024. When you are a drug company with a sixty percent market share in your primary market, and you cannot fill prescriptions, patients switch to competitors. Prescribers switch formulary preferences. Brand loyalty erodes.</a:t>
            </a:r>
          </a:p>
          <a:p>
            <a:r>
              <a:rPr lang="en-US" dirty="0"/>
              <a:t>The sixty-five billion dollar manufacturing buildout is the correct response, but it is a massive, complex, multi-site execution challenge. Construction can be delayed. Regulatory approvals for new facilities take time. Equipment installation and validation takes time. Any meaningful delay in Branchburg or Lebanon coming to full capacity could reopen the supply gap in 2026 or 2027.</a:t>
            </a:r>
          </a:p>
          <a:p>
            <a:r>
              <a:rPr lang="en-US" dirty="0"/>
              <a:t>I want to be very direct: twenty-seven billion dollars of capex is committed in 2026. That is the largest annual capital deployment in Lilly's history by a significant margin. Executing a capex </a:t>
            </a:r>
            <a:r>
              <a:rPr lang="en-US" dirty="0" err="1"/>
              <a:t>programme</a:t>
            </a:r>
            <a:r>
              <a:rPr lang="en-US" dirty="0"/>
              <a:t> of that scale while simultaneously growing revenue at thirty percent per year is genuinely difficult. Management credibility depends on delivery.</a:t>
            </a:r>
          </a:p>
          <a:p>
            <a:r>
              <a:rPr lang="en-US" b="1" dirty="0"/>
              <a:t>RISK THREE: ALZHEIMER'S REGULATORY AND SAFETY RISK — SEVERITY: HIGH.</a:t>
            </a:r>
            <a:endParaRPr lang="en-US" dirty="0"/>
          </a:p>
          <a:p>
            <a:r>
              <a:rPr lang="en-US" dirty="0" err="1"/>
              <a:t>Kisunla</a:t>
            </a:r>
            <a:r>
              <a:rPr lang="en-US" dirty="0"/>
              <a:t> is a genuinely important drug. But ARIA — amyloid-related imaging abnormalities — is a real safety concern. ARIA manifests as brain swelling or micro-bleeding in a subset of patients, particularly those who are APOE4 carriers. In the TRAILBLAZER-ALZ 2 trial, a small number of patients experienced serious ARIA events, including fatalities. That is not a disqualifying risk — it is a manageable clinical risk — but it limits prescribing to patients who can be properly monitored and screened.</a:t>
            </a:r>
          </a:p>
          <a:p>
            <a:r>
              <a:rPr lang="en-US" dirty="0"/>
              <a:t>The lesson from </a:t>
            </a:r>
            <a:r>
              <a:rPr lang="en-US" dirty="0" err="1"/>
              <a:t>Leqembi</a:t>
            </a:r>
            <a:r>
              <a:rPr lang="en-US" dirty="0"/>
              <a:t> — Biogen and Eisai's similar Alzheimer's drug — is instructive. </a:t>
            </a:r>
            <a:r>
              <a:rPr lang="en-US" dirty="0" err="1"/>
              <a:t>Leqembi</a:t>
            </a:r>
            <a:r>
              <a:rPr lang="en-US" dirty="0"/>
              <a:t> was approved, had a very similar safety profile, and has been commercially disappointing because the label criteria, monitoring requirements, and physician reluctance to use it have constrained uptake. </a:t>
            </a:r>
            <a:r>
              <a:rPr lang="en-US" dirty="0" err="1"/>
              <a:t>Kisunla</a:t>
            </a:r>
            <a:r>
              <a:rPr lang="en-US" dirty="0"/>
              <a:t> faces the same dynamics.</a:t>
            </a:r>
          </a:p>
          <a:p>
            <a:r>
              <a:rPr lang="en-US" b="1" dirty="0"/>
              <a:t>RISK FOUR: ORAL GLP-1 COMPETITOR ENTRY — SEVERITY: HIGH.</a:t>
            </a:r>
            <a:endParaRPr lang="en-US" dirty="0"/>
          </a:p>
          <a:p>
            <a:r>
              <a:rPr lang="en-US" dirty="0" err="1"/>
              <a:t>Foundayo's</a:t>
            </a:r>
            <a:r>
              <a:rPr lang="en-US" dirty="0"/>
              <a:t> approval in April 2026 gives Lilly a meaningful head start in oral GLP-1. But this is a race, not a monopoly.</a:t>
            </a:r>
          </a:p>
          <a:p>
            <a:r>
              <a:rPr lang="en-US" dirty="0"/>
              <a:t>Novo Nordisk's oral </a:t>
            </a:r>
            <a:r>
              <a:rPr lang="en-US" dirty="0" err="1"/>
              <a:t>Wegovy</a:t>
            </a:r>
            <a:r>
              <a:rPr lang="en-US" dirty="0"/>
              <a:t> launched in January 2026 — before </a:t>
            </a:r>
            <a:r>
              <a:rPr lang="en-US" dirty="0" err="1"/>
              <a:t>Foundayo</a:t>
            </a:r>
            <a:r>
              <a:rPr lang="en-US" dirty="0"/>
              <a:t>. It showed approximately fifteen percent weight loss in trials. That is below </a:t>
            </a:r>
            <a:r>
              <a:rPr lang="en-US" dirty="0" err="1"/>
              <a:t>orforglipron's</a:t>
            </a:r>
            <a:r>
              <a:rPr lang="en-US" dirty="0"/>
              <a:t> sixteen percent, and it has food restrictions — but it exists, it is on market, and Novo has decades of prescriber relationships.</a:t>
            </a:r>
          </a:p>
          <a:p>
            <a:r>
              <a:rPr lang="en-US" dirty="0"/>
              <a:t>Pfizer's </a:t>
            </a:r>
            <a:r>
              <a:rPr lang="en-US" dirty="0" err="1"/>
              <a:t>danuglipron</a:t>
            </a:r>
            <a:r>
              <a:rPr lang="en-US" dirty="0"/>
              <a:t> is in Phase 3. Chinese pharmaceutical companies are developing multiple oral GLP-1 candidates at significantly lower cost structures. The oral GLP-1 market will not be </a:t>
            </a:r>
            <a:r>
              <a:rPr lang="en-US" dirty="0" err="1"/>
              <a:t>monopolised</a:t>
            </a:r>
            <a:r>
              <a:rPr lang="en-US" dirty="0"/>
              <a:t> by Lilly forever. The first-mover advantage is real and valuable, but it has a time limit.</a:t>
            </a:r>
          </a:p>
          <a:p>
            <a:r>
              <a:rPr lang="en-US" b="1" dirty="0"/>
              <a:t>RISK FIVE: VALUATION MULTIPLE COMPRESSION — SEVERITY: HIGH.</a:t>
            </a:r>
            <a:endParaRPr lang="en-US" dirty="0"/>
          </a:p>
          <a:p>
            <a:r>
              <a:rPr lang="en-US" dirty="0"/>
              <a:t>LLY trades at approximately forty-five times forward earnings as of May 2026. That is a technology-company multiple applied to a pharmaceutical company. Growth-stock valuations of this kind carry enormous fragility. A single bad quarter — a miss on revenue guidance, a supply disruption announcement, a </a:t>
            </a:r>
            <a:r>
              <a:rPr lang="en-US" dirty="0" err="1"/>
              <a:t>retatrutide</a:t>
            </a:r>
            <a:r>
              <a:rPr lang="en-US" dirty="0"/>
              <a:t> Phase 3 disappointment — can cause rapid and severe multiple compression.</a:t>
            </a:r>
          </a:p>
          <a:p>
            <a:r>
              <a:rPr lang="en-US" dirty="0"/>
              <a:t>Novo Nordisk fell approximately fifty percent in 2025 on a single guidance cut. That was </a:t>
            </a:r>
            <a:r>
              <a:rPr lang="en-US" dirty="0" err="1"/>
              <a:t>Novo's</a:t>
            </a:r>
            <a:r>
              <a:rPr lang="en-US" dirty="0"/>
              <a:t> first significant earnings miss in years, and the market reacted by repricing the entire GLP-1 category. Lilly is not immune to that dynamic.</a:t>
            </a:r>
          </a:p>
          <a:p>
            <a:r>
              <a:rPr lang="en-US" dirty="0"/>
              <a:t>If Lilly's forward P/E compresses from thirty times to eighteen times — which is closer to the pharmaceutical sector average — that alone represents approximately forty percent downside from current prices, even if revenue growth continues.</a:t>
            </a:r>
          </a:p>
          <a:p>
            <a:r>
              <a:rPr lang="en-US" b="1" dirty="0"/>
              <a:t>RISK SIX: PATENT CLIFF EXPOSURE 2026-2030 — SEVERITY: MEDIUM.</a:t>
            </a:r>
            <a:endParaRPr lang="en-US" dirty="0"/>
          </a:p>
          <a:p>
            <a:r>
              <a:rPr lang="en-US" dirty="0"/>
              <a:t>Trulicity loses US patent exclusivity around 2027. That is a multi-billion dollar revenue headwind. Taltz faces biosimilar entry before 2030. </a:t>
            </a:r>
            <a:r>
              <a:rPr lang="en-US" dirty="0" err="1"/>
              <a:t>Verzenio's</a:t>
            </a:r>
            <a:r>
              <a:rPr lang="en-US" dirty="0"/>
              <a:t> palbociclib comparator is already facing generic entry. Tirzepatide's core patents run to approximately 2036, which provides the primary protection window — but legacy drugs creating revenue headwinds will compound the burden of replacement.</a:t>
            </a:r>
          </a:p>
          <a:p>
            <a:r>
              <a:rPr lang="en-US" b="1" dirty="0"/>
              <a:t>RISK SEVEN: COMPOUNDING PHARMACY DISRUPTION — SEVERITY: MEDIUM.</a:t>
            </a:r>
            <a:endParaRPr lang="en-US" dirty="0"/>
          </a:p>
          <a:p>
            <a:r>
              <a:rPr lang="en-US" dirty="0"/>
              <a:t>During the shortage period, compound pharmacies produced semaglutide and tirzepatide at approximately ninety percent lower cost than branded drugs. The FDA has begun enforcement actions against compounders as supply </a:t>
            </a:r>
            <a:r>
              <a:rPr lang="en-US" dirty="0" err="1"/>
              <a:t>normalises</a:t>
            </a:r>
            <a:r>
              <a:rPr lang="en-US" dirty="0"/>
              <a:t>. But the compounding issue has raised patient awareness about pricing, and any future shortage — or any future FDA determination of drug availability — could reopen the compounding market and damage brand pricing power.</a:t>
            </a:r>
          </a:p>
          <a:p>
            <a:r>
              <a:rPr lang="en-US" b="1" dirty="0"/>
              <a:t>RISK EIGHT: GEOPOLITICAL AND GLOBAL PRICING DIVERGENCE — SEVERITY: WATCH.</a:t>
            </a:r>
            <a:endParaRPr lang="en-US" dirty="0"/>
          </a:p>
          <a:p>
            <a:r>
              <a:rPr lang="en-US" dirty="0"/>
              <a:t>GLP-1 drugs are priced five to ten times higher in the US than in Europe or Japan. International revenue growth requires either accepting lower price points or waiting for price convergence that may never come. Political risk around drug pricing headlines is a persistent overhang.</a:t>
            </a:r>
          </a:p>
          <a:p>
            <a:r>
              <a:rPr lang="en-US" dirty="0"/>
              <a:t>This is the full red flag inventory. I want to be clear: none of these risks individually is thesis-destroying. But they need to be understood, modelled, and monitored. Ignoring risks is how investors get hurt.</a:t>
            </a:r>
          </a:p>
          <a:p>
            <a:br>
              <a:rPr lang="en-US" dirty="0"/>
            </a:br>
            <a:br>
              <a:rPr lang="en-US" dirty="0"/>
            </a:b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looked honestly at the risks, let us build the investment thesis. What must you believe to own this stock?“</a:t>
            </a:r>
            <a:br>
              <a:rPr lang="en-US" dirty="0"/>
            </a:br>
            <a:br>
              <a:rPr lang="en-US" dirty="0"/>
            </a:br>
            <a:r>
              <a:rPr lang="en-US" dirty="0"/>
              <a:t>I structure my investment analysis around the concept of </a:t>
            </a:r>
            <a:r>
              <a:rPr lang="en-US" i="1" dirty="0"/>
              <a:t>necessary beliefs</a:t>
            </a:r>
            <a:r>
              <a:rPr lang="en-US" dirty="0"/>
              <a:t>. Every investment thesis has a set of propositions that must be true for the thesis to work. If you cannot honestly say you believe these things, you should not own the stock — regardless of how good the narrative sounds.</a:t>
            </a:r>
          </a:p>
          <a:p>
            <a:r>
              <a:rPr lang="en-US" dirty="0"/>
              <a:t>For Eli Lilly, there are three core beliefs that must hold simultaneously.</a:t>
            </a:r>
          </a:p>
          <a:p>
            <a:r>
              <a:rPr lang="en-US" b="1" dirty="0"/>
              <a:t>BELIEF ONE: GLP-1 DEMAND IS REAL, STRUCTURAL, AND WILL GROW FOR DECADES.</a:t>
            </a:r>
            <a:endParaRPr lang="en-US" dirty="0"/>
          </a:p>
          <a:p>
            <a:r>
              <a:rPr lang="en-US" dirty="0"/>
              <a:t>IF TRUE: One in eight adults globally is obese by WHO classification. US obesity prevalence is approximately forty-three percent. Medicare coverage expansion in mid-2026 adds seven million or more new eligible patients. GLP-1s are demonstrating clinical efficacy across cardiovascular disease, sleep apnea, NASH, arthritis, and early signals in Parkinson's and addiction. The addressable market is fifty-two billion dollars today and projected to reach one hundred and eighty-seven billion by 2032 at approximately seventeen percent compound annual growth. Tirzepatide has been confirmed superior in a portfolio of more than fifteen thousand patients across clinical trials.</a:t>
            </a:r>
          </a:p>
          <a:p>
            <a:r>
              <a:rPr lang="en-US" dirty="0"/>
              <a:t>IF FALSE: The DeepSeek analogy applies. If future oral GLP-1 pills from Novo, Pfizer, and emerging Chinese competitors achieve comparable efficacy to tirzepatide at dramatically lower cost, pricing power collapses across the category. If cardiovascular outcomes data from tirzepatide's large SELECT-equivalent trial disappoints, new label expansions stall and volume growth assumptions are too aggressive. Volume without pricing equals margin compression, which means the current earnings multiple is unsustainable.</a:t>
            </a:r>
          </a:p>
          <a:p>
            <a:r>
              <a:rPr lang="en-US" dirty="0"/>
              <a:t>My view: I believe Belief One is highly likely to be true. The structural obesity demand is real, the multi-indication expansion is underway, and the market penetration rate among eligible patients is still in the low single digits globally. There is an enormous runway.</a:t>
            </a:r>
          </a:p>
          <a:p>
            <a:r>
              <a:rPr lang="en-US" b="1" dirty="0"/>
              <a:t>BELIEF TWO: TIRZEPATIDE'S CLINICAL SUPERIORITY CREATES A DURABLE APPROXIMATELY SIXTY PERCENT MARKET SHARE.</a:t>
            </a:r>
            <a:endParaRPr lang="en-US" dirty="0"/>
          </a:p>
          <a:p>
            <a:r>
              <a:rPr lang="en-US" dirty="0"/>
              <a:t>IF TRUE: Twenty percent versus fourteen percent weight loss — six percentage points of superiority over </a:t>
            </a:r>
            <a:r>
              <a:rPr lang="en-US" dirty="0" err="1"/>
              <a:t>Wegovy</a:t>
            </a:r>
            <a:r>
              <a:rPr lang="en-US" dirty="0"/>
              <a:t> — is clinically meaningful and drives prescribing decisions. Sixty point five percent US share gained in twenty-four months against a competitor with a ten-year head start is structural evidence of superiority. Patient switching rates are low once outcomes are achieved — tirzepatide works well enough that patients do not want to switch. </a:t>
            </a:r>
            <a:r>
              <a:rPr lang="en-US" dirty="0" err="1"/>
              <a:t>Foundayo</a:t>
            </a:r>
            <a:r>
              <a:rPr lang="en-US" dirty="0"/>
              <a:t> removes the injection barrier for the next tranche of patients.</a:t>
            </a:r>
          </a:p>
          <a:p>
            <a:r>
              <a:rPr lang="en-US" dirty="0"/>
              <a:t>IF FALSE: </a:t>
            </a:r>
            <a:r>
              <a:rPr lang="en-US" dirty="0" err="1"/>
              <a:t>Novo's</a:t>
            </a:r>
            <a:r>
              <a:rPr lang="en-US" dirty="0"/>
              <a:t> oral </a:t>
            </a:r>
            <a:r>
              <a:rPr lang="en-US" dirty="0" err="1"/>
              <a:t>Wegovy</a:t>
            </a:r>
            <a:r>
              <a:rPr lang="en-US" dirty="0"/>
              <a:t> launched January 2026 shows fifteen percent weight loss — only one percentage point below </a:t>
            </a:r>
            <a:r>
              <a:rPr lang="en-US" dirty="0" err="1"/>
              <a:t>orforglipron's</a:t>
            </a:r>
            <a:r>
              <a:rPr lang="en-US" dirty="0"/>
              <a:t> sixteen percent signal. If oral formats </a:t>
            </a:r>
            <a:r>
              <a:rPr lang="en-US" dirty="0" err="1"/>
              <a:t>commoditise</a:t>
            </a:r>
            <a:r>
              <a:rPr lang="en-US" dirty="0"/>
              <a:t> the GLP-1 class and price becomes the primary differentiator, Lilly's premium pricing erodes rapidly. </a:t>
            </a:r>
            <a:r>
              <a:rPr lang="en-US" dirty="0" err="1"/>
              <a:t>Novo's</a:t>
            </a:r>
            <a:r>
              <a:rPr lang="en-US" dirty="0"/>
              <a:t> </a:t>
            </a:r>
            <a:r>
              <a:rPr lang="en-US" dirty="0" err="1"/>
              <a:t>CagriSema</a:t>
            </a:r>
            <a:r>
              <a:rPr lang="en-US" dirty="0"/>
              <a:t> combination product in Phase 3 shows greater than twenty-five percent weight loss — if approved, it could rival </a:t>
            </a:r>
            <a:r>
              <a:rPr lang="en-US" dirty="0" err="1"/>
              <a:t>retatrutide</a:t>
            </a:r>
            <a:r>
              <a:rPr lang="en-US" dirty="0"/>
              <a:t> and challenge the superiority narrative.</a:t>
            </a:r>
          </a:p>
          <a:p>
            <a:r>
              <a:rPr lang="en-US" dirty="0"/>
              <a:t>My view: Belief Two is likely true in the medium term, but faces the highest risk from oral competition. The head-to-head superiority data is locked in and will drive prescribing for years. But the three to five year oral market dynamic is the key variable I am watching most closely.</a:t>
            </a:r>
          </a:p>
          <a:p>
            <a:r>
              <a:rPr lang="en-US" b="1" dirty="0"/>
              <a:t>BELIEF THREE: THE PREMIUM VALUATION IS WARRANTED AND WILL SUSTAIN AS PIPELINE DELIVERS.</a:t>
            </a:r>
            <a:endParaRPr lang="en-US" dirty="0"/>
          </a:p>
          <a:p>
            <a:r>
              <a:rPr lang="en-US" dirty="0"/>
              <a:t>IF TRUE: Thirty times forward P/E is earned when revenue is growing at twenty-five to forty-five percent annually, gross margins are eighty-three percent, ROCE is forty percent plus, and you have three pipeline options — </a:t>
            </a:r>
            <a:r>
              <a:rPr lang="en-US" dirty="0" err="1"/>
              <a:t>orforglipron</a:t>
            </a:r>
            <a:r>
              <a:rPr lang="en-US" dirty="0"/>
              <a:t>, </a:t>
            </a:r>
            <a:r>
              <a:rPr lang="en-US" dirty="0" err="1"/>
              <a:t>retatrutide</a:t>
            </a:r>
            <a:r>
              <a:rPr lang="en-US" dirty="0"/>
              <a:t>, </a:t>
            </a:r>
            <a:r>
              <a:rPr lang="en-US" dirty="0" err="1"/>
              <a:t>Kisunla</a:t>
            </a:r>
            <a:r>
              <a:rPr lang="en-US" dirty="0"/>
              <a:t> — that are valued at zero in current financial models. Historical compounders like Microsoft and Apple sustained thirty times plus valuations for over a decade when fundamentals supported it. Pharmaceutical IP has longer legal protection than software. Lilly is more capital-light than semiconductor companies.</a:t>
            </a:r>
          </a:p>
          <a:p>
            <a:r>
              <a:rPr lang="en-US" dirty="0"/>
              <a:t>IF FALSE: Novo Nordisk traded above thirty times P/E in 2024. Fell fifty percent in 2025 on a single guidance cut. Lilly is not structurally protected from a similar repricing. If </a:t>
            </a:r>
            <a:r>
              <a:rPr lang="en-US" dirty="0" err="1"/>
              <a:t>orforglipron</a:t>
            </a:r>
            <a:r>
              <a:rPr lang="en-US" dirty="0"/>
              <a:t> fails to capture expected market share, if </a:t>
            </a:r>
            <a:r>
              <a:rPr lang="en-US" dirty="0" err="1"/>
              <a:t>retatrutide</a:t>
            </a:r>
            <a:r>
              <a:rPr lang="en-US" dirty="0"/>
              <a:t> Phase 3 data disappoints, or if Alzheimer's stalls — the stock could compress to fifteen to eighteen times forward P/E, which is the pharmaceutical sector average, implying forty to fifty percent downside from current levels.</a:t>
            </a:r>
          </a:p>
          <a:p>
            <a:r>
              <a:rPr lang="en-US" dirty="0"/>
              <a:t>My view: Belief Three is where I have the most analytical tension. The premium valuation is currently earning from fundamentals, but it has essentially zero margin for error. A long-term investor with a five to ten year horizon can tolerate the multiple compression risk because the fundamental earnings power should compound through it. A short-term investor cannot.</a:t>
            </a:r>
          </a:p>
          <a:p>
            <a:br>
              <a:rPr lang="en-US" dirty="0"/>
            </a:br>
            <a:br>
              <a:rPr lang="en-US" dirty="0"/>
            </a:b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put price targets to this. What is this stock worth under different scenarios?“</a:t>
            </a:r>
            <a:br>
              <a:rPr lang="en-US" dirty="0"/>
            </a:br>
            <a:br>
              <a:rPr lang="en-US" dirty="0"/>
            </a:br>
            <a:r>
              <a:rPr lang="en-US" dirty="0"/>
              <a:t>Current market price as of May 2026: approximately one thousand and sixty-five dollars per share. Fifty-two week high: twelve hundred and fifty dollars. Fifty-two week low: seven hundred and thirty dollars. Market cap approximately one trillion. Shares outstanding approximately nine hundred million. Next earnings: Q2 2026.</a:t>
            </a:r>
          </a:p>
          <a:p>
            <a:r>
              <a:rPr lang="en-US" b="1" dirty="0"/>
              <a:t>BEAR CASE: PRICE TARGET FIVE HUNDRED TO SIX HUNDRED DOLLARS. MINUS THIRTY-SEVEN TO MINUS FORTY-FOUR PERCENT FROM CURRENT.</a:t>
            </a:r>
            <a:endParaRPr lang="en-US" dirty="0"/>
          </a:p>
          <a:p>
            <a:r>
              <a:rPr lang="en-US" dirty="0"/>
              <a:t>What kills the bear case: </a:t>
            </a:r>
            <a:r>
              <a:rPr lang="en-US" dirty="0" err="1"/>
              <a:t>orforglipron</a:t>
            </a:r>
            <a:r>
              <a:rPr lang="en-US" dirty="0"/>
              <a:t> fails to win meaningful market share — prescribers do not switch to oral because injectable tirzepatide outcomes are already excellent, and the new patient incremental is smaller than modelled. </a:t>
            </a:r>
            <a:r>
              <a:rPr lang="en-US" dirty="0" err="1"/>
              <a:t>Retatrutide</a:t>
            </a:r>
            <a:r>
              <a:rPr lang="en-US" dirty="0"/>
              <a:t> Phase 3 misses on efficacy or shows unacceptable safety, eliminating the next-generation pipeline optionality. </a:t>
            </a:r>
            <a:r>
              <a:rPr lang="en-US" dirty="0" err="1"/>
              <a:t>CagriSema</a:t>
            </a:r>
            <a:r>
              <a:rPr lang="en-US" dirty="0"/>
              <a:t> from Novo wins the weight loss efficacy race. US government pricing deal expands to all GLP-1 Medicare drugs — not just this deal, but a broader pricing framework. Tariff-driven COGS spike erodes the eighty-three percent gross margin. The market re-rates from thirty times to eighteen to twenty-two times forward P/E.</a:t>
            </a:r>
          </a:p>
          <a:p>
            <a:r>
              <a:rPr lang="en-US" dirty="0"/>
              <a:t>Implied 2026 revenue in the bear: sixty-five to seventy billion. The underlying business does not collapse — it simply stops growing as fast as the market expected.</a:t>
            </a:r>
          </a:p>
          <a:p>
            <a:r>
              <a:rPr lang="en-US" b="1" dirty="0"/>
              <a:t>BASE CASE: PRICE TARGET NINE HUNDRED AND FIFTY TO ONE THOUSAND ONE HUNDRED DOLLARS. PLUS NINETEEN TO PLUS THIRTY-EIGHT PERCENT FROM CURRENT.</a:t>
            </a:r>
            <a:endParaRPr lang="en-US" dirty="0"/>
          </a:p>
          <a:p>
            <a:r>
              <a:rPr lang="en-US" dirty="0"/>
              <a:t>What delivers the base case: FY 2026 revenue guidance of eighty to eighty-three billion is achieved. </a:t>
            </a:r>
            <a:r>
              <a:rPr lang="en-US" dirty="0" err="1"/>
              <a:t>Orforglipron</a:t>
            </a:r>
            <a:r>
              <a:rPr lang="en-US" dirty="0"/>
              <a:t> FDA approval comes on schedule in Q2 2026 and begins ramping prescriptions. US Medicare obesity coverage begins in July 2026 and adds meaningful patient volume by year-end. Market share holds at sixty percent plus versus Novo. EBITDA margin expands to forty-four to forty-six percent on operating leverage. </a:t>
            </a:r>
            <a:r>
              <a:rPr lang="en-US" dirty="0" err="1"/>
              <a:t>Kisunla</a:t>
            </a:r>
            <a:r>
              <a:rPr lang="en-US" dirty="0"/>
              <a:t> reaches three billion plus by FY 2026. The stock re-rates modestly to twenty-seven to thirty times forward P/E.</a:t>
            </a:r>
          </a:p>
          <a:p>
            <a:r>
              <a:rPr lang="en-US" b="1" dirty="0"/>
              <a:t>BULL CASE: PRICE TARGET ONE THOUSAND THREE HUNDRED TO ONE THOUSAND FIVE HUNDRED DOLLARS. PLUS TWENTY-TWO TO PLUS FORTY-ONE PERCENT FROM CURRENT.</a:t>
            </a:r>
            <a:endParaRPr lang="en-US" dirty="0"/>
          </a:p>
          <a:p>
            <a:r>
              <a:rPr lang="en-US" dirty="0"/>
              <a:t>What delivers the bull case: </a:t>
            </a:r>
            <a:r>
              <a:rPr lang="en-US" dirty="0" err="1"/>
              <a:t>Retatrutide</a:t>
            </a:r>
            <a:r>
              <a:rPr lang="en-US" dirty="0"/>
              <a:t> Phase 3 shows greater than twenty-five percent weight loss, establishing it as the most effective obesity drug in history, with NDA filing in Q3 or Q4 2026. </a:t>
            </a:r>
            <a:r>
              <a:rPr lang="en-US" dirty="0" err="1"/>
              <a:t>Inluriyo</a:t>
            </a:r>
            <a:r>
              <a:rPr lang="en-US" dirty="0"/>
              <a:t> Alzheimer's approval adds a genuinely new ten billion dollar plus peak sales opportunity. </a:t>
            </a:r>
            <a:r>
              <a:rPr lang="en-US" dirty="0" err="1"/>
              <a:t>Orforglipron</a:t>
            </a:r>
            <a:r>
              <a:rPr lang="en-US" dirty="0"/>
              <a:t> dominates the oral GLP-1 market globally, expanding the addressable patient population to over two hundred million eligible patients worldwide. US, EU, and Japan oral GLP-1 coverage frameworks accelerate faster than expected. Lilly's enterprise value re-rates to a platform multiple — like Microsoft's software platform or Apple's hardware-plus-services platform — pricing in the optionality of being the dominant provider in the largest medical market of the twenty-first century. Revenue trajectory confirms one hundred and fifty billion dollars by 2030.</a:t>
            </a:r>
          </a:p>
          <a:p>
            <a:r>
              <a:rPr lang="en-US" dirty="0"/>
              <a:t>The analyst consensus, as of May 2026: twelve analysts covering the stock. Average twelve-month price target approximately twelve hundred to twelve hundred and eleven dollars. Highest price target fifteen hundred dollars. Consensus rating: Strong Buy.</a:t>
            </a:r>
          </a:p>
          <a:p>
            <a:br>
              <a:rPr lang="en-US" dirty="0"/>
            </a:br>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price targets are only useful if you know which data points are going to drive the stock. Let us talk about exactly what to watch.“</a:t>
            </a:r>
          </a:p>
          <a:p>
            <a:endParaRPr lang="en-US" dirty="0"/>
          </a:p>
          <a:p>
            <a:r>
              <a:rPr lang="en-US" dirty="0"/>
              <a:t>This slide gives you the valuation context in numbers.</a:t>
            </a:r>
          </a:p>
          <a:p>
            <a:r>
              <a:rPr lang="en-US" dirty="0"/>
              <a:t>Current price approximately one thousand and sixty-five dollars. Market cap approximately one trillion. Trailing P/E on FY 2025 actuals: approximately forty-six times. Forward P/E on FY 2026 estimates: approximately twenty-eight to thirty times.</a:t>
            </a:r>
          </a:p>
          <a:p>
            <a:r>
              <a:rPr lang="en-US" dirty="0"/>
              <a:t>The consensus twelve-month price target is twelve hundred and eleven dollars. The highest analyst price target is fifteen hundred dollars.</a:t>
            </a:r>
          </a:p>
          <a:p>
            <a:r>
              <a:rPr lang="en-US" b="1" dirty="0"/>
              <a:t>Peer comparison:</a:t>
            </a:r>
            <a:endParaRPr lang="en-US" dirty="0"/>
          </a:p>
          <a:p>
            <a:r>
              <a:rPr lang="en-US" dirty="0"/>
              <a:t>Eli Lilly: forward revenue multiple eight point five times estimated 2026 revenue. Strong Buy consensus.</a:t>
            </a:r>
          </a:p>
          <a:p>
            <a:r>
              <a:rPr lang="en-US" dirty="0"/>
              <a:t>Novo Nordisk: forward revenue multiple approximately four times. Buy consensus. Trading at a significant discount to Lilly because the market is pricing in the US share loss and the revenue decline.</a:t>
            </a:r>
          </a:p>
          <a:p>
            <a:r>
              <a:rPr lang="en-US" dirty="0"/>
              <a:t>AstraZeneca: approximately five times revenue multiple. Buy consensus. Growing at single-digit rates. Lower multiple reflects lower growth.</a:t>
            </a:r>
          </a:p>
          <a:p>
            <a:r>
              <a:rPr lang="en-US" dirty="0"/>
              <a:t>Pfizer: approximately two and a half times revenue multiple. Hold consensus. Rebuilding pipeline after Paxlovid cliff.</a:t>
            </a:r>
          </a:p>
          <a:p>
            <a:r>
              <a:rPr lang="en-US" dirty="0"/>
              <a:t>The key valuation insight at the bottom of this slide is the most important thing I can tell you about Lilly's valuation:</a:t>
            </a:r>
          </a:p>
          <a:p>
            <a:r>
              <a:rPr lang="en-US" i="1" dirty="0"/>
              <a:t>Lilly trades at approximately two times Novo Nordisk's price-to-earnings multiple.</a:t>
            </a:r>
            <a:r>
              <a:rPr lang="en-US" dirty="0"/>
              <a:t> That premium reflects: tirzepatide's clinical superiority, Lilly's first-mover advantage in oral GLP-1, a stronger pipeline with more optionality, and the </a:t>
            </a:r>
            <a:r>
              <a:rPr lang="en-US" dirty="0" err="1"/>
              <a:t>retatrutide</a:t>
            </a:r>
            <a:r>
              <a:rPr lang="en-US" dirty="0"/>
              <a:t> call option that no competitor can match.</a:t>
            </a:r>
          </a:p>
          <a:p>
            <a:r>
              <a:rPr lang="en-US" dirty="0"/>
              <a:t>The premium is justified IF the FY 2026 guidance of eighty-two to eighty-five billion is achieved AND </a:t>
            </a:r>
            <a:r>
              <a:rPr lang="en-US" dirty="0" err="1"/>
              <a:t>retatrutide</a:t>
            </a:r>
            <a:r>
              <a:rPr lang="en-US" dirty="0"/>
              <a:t> advances cleanly. A miss on either — especially supply constraints persisting or IRA pricing pressure intensifying — could compress the multiple back toward twenty to twenty-two times, implying twenty-five to thirty percent downside.</a:t>
            </a:r>
          </a:p>
          <a:p>
            <a:r>
              <a:rPr lang="en-US" dirty="0"/>
              <a:t>DCF key assumptions: revenue trajectory from eighty-one billion in 2026 to one hundred and fifty billion plus by 2031 at approximately thirteen percent compound annual growth. Terminal growth rate three point five percent. WACC eight point five percent. Terminal EBITDA margin forty-eight percent. That DCF produces a value range of approximately nine hundred and fifty to eleven hundred and fifty dollars per share. The bull scenario — oral GLP-1 platform plus Alzheimer's success — pushes that to thirteen hundred plus.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the practical investing section. What exactly do you track every quarter to know whether the thesis is on track or breaking down?“</a:t>
            </a:r>
            <a:br>
              <a:rPr lang="en-US" dirty="0"/>
            </a:br>
            <a:br>
              <a:rPr lang="en-US" dirty="0"/>
            </a:br>
            <a:r>
              <a:rPr lang="en-US" dirty="0"/>
              <a:t>This is the slide I recommend every Lilly investor saves and reviews before every quarterly earnings call.</a:t>
            </a:r>
          </a:p>
          <a:p>
            <a:r>
              <a:rPr lang="en-US" b="1" dirty="0"/>
              <a:t>QUADRANT ONE: Q2 AND Q3 2026 EARNINGS METRICS.</a:t>
            </a:r>
            <a:endParaRPr lang="en-US" dirty="0"/>
          </a:p>
          <a:p>
            <a:r>
              <a:rPr lang="en-US" dirty="0"/>
              <a:t>Revenue versus twenty-one to twenty-three billion dollar Q2 consensus. Is the first-half acceleration on track for eighty-two to eighty-five billion full year?</a:t>
            </a:r>
          </a:p>
          <a:p>
            <a:r>
              <a:rPr lang="en-US" dirty="0" err="1"/>
              <a:t>Mounjaro</a:t>
            </a:r>
            <a:r>
              <a:rPr lang="en-US" dirty="0"/>
              <a:t> and </a:t>
            </a:r>
            <a:r>
              <a:rPr lang="en-US" dirty="0" err="1"/>
              <a:t>Zepbound</a:t>
            </a:r>
            <a:r>
              <a:rPr lang="en-US" dirty="0"/>
              <a:t> volume growth — are supply constraints easing quarter by quarter? Shortage notifications declining is the metric to watch.</a:t>
            </a:r>
          </a:p>
          <a:p>
            <a:r>
              <a:rPr lang="en-US" b="1" dirty="0" err="1"/>
              <a:t>Foundayo</a:t>
            </a:r>
            <a:r>
              <a:rPr lang="en-US" b="1" dirty="0"/>
              <a:t> uptake data.</a:t>
            </a:r>
            <a:r>
              <a:rPr lang="en-US" dirty="0"/>
              <a:t> This is the most important new data point for 2026. How many patients are starting </a:t>
            </a:r>
            <a:r>
              <a:rPr lang="en-US" dirty="0" err="1"/>
              <a:t>orforglipron</a:t>
            </a:r>
            <a:r>
              <a:rPr lang="en-US" dirty="0"/>
              <a:t> in Q2 — the first full quarter of commercial availability? Any early real-world prescription data is a major catalyst.</a:t>
            </a:r>
          </a:p>
          <a:p>
            <a:r>
              <a:rPr lang="en-US" dirty="0"/>
              <a:t>Non-GAAP gross margin: targeting eighty-three to eighty-five percent in 2026. If gross margin dips below eighty percent, it signals either manufacturing ramp costs or pricing pressure — both are negative signals.</a:t>
            </a:r>
          </a:p>
          <a:p>
            <a:r>
              <a:rPr lang="en-US" dirty="0"/>
              <a:t>Full-year guidance reiterated or raised. Guidance raise is a strong positive re-rating catalyst. Any guidance reduction or removal triggers the Novo-style sell-off risk.</a:t>
            </a:r>
          </a:p>
          <a:p>
            <a:r>
              <a:rPr lang="en-US" b="1" dirty="0"/>
              <a:t>QUADRANT TWO: PIPELINE MONITORING.</a:t>
            </a:r>
            <a:endParaRPr lang="en-US" dirty="0"/>
          </a:p>
          <a:p>
            <a:r>
              <a:rPr lang="en-US" dirty="0" err="1"/>
              <a:t>Retatrutide</a:t>
            </a:r>
            <a:r>
              <a:rPr lang="en-US" dirty="0"/>
              <a:t> NDA filing timeline. Q3 to Q4 2026 is expected. Any acceleration or delay in filing is a major stock mover.</a:t>
            </a:r>
          </a:p>
          <a:p>
            <a:r>
              <a:rPr lang="en-US" dirty="0" err="1"/>
              <a:t>Retatrutide</a:t>
            </a:r>
            <a:r>
              <a:rPr lang="en-US" dirty="0"/>
              <a:t> Phase 3 safety data. Any adverse event signals — ARIA-like issues, gastrointestinal tolerability above tirzepatide — would be a thesis risk.</a:t>
            </a:r>
          </a:p>
          <a:p>
            <a:r>
              <a:rPr lang="en-US" dirty="0" err="1"/>
              <a:t>Kisunla</a:t>
            </a:r>
            <a:r>
              <a:rPr lang="en-US" dirty="0"/>
              <a:t> global rollout: prescriber adoption curves in EU and Japan. If the Alzheimer's franchise is stalling, it removes a key bull case pillar.</a:t>
            </a:r>
          </a:p>
          <a:p>
            <a:r>
              <a:rPr lang="en-US" dirty="0"/>
              <a:t>Lebrikizumab versus Dupixent market share in atopic dermatitis. Early market share data in the US is key.</a:t>
            </a:r>
          </a:p>
          <a:p>
            <a:r>
              <a:rPr lang="en-US" dirty="0"/>
              <a:t>Gene medicine program milestones at Lebanon Advanced Therapies plant. Any Phase 1 readout is early-stage optionality data.</a:t>
            </a:r>
          </a:p>
          <a:p>
            <a:r>
              <a:rPr lang="en-US" b="1" dirty="0"/>
              <a:t>QUADRANT THREE: MANUFACTURING AND SUPPLY.</a:t>
            </a:r>
            <a:endParaRPr lang="en-US" dirty="0"/>
          </a:p>
          <a:p>
            <a:r>
              <a:rPr lang="en-US" dirty="0"/>
              <a:t>Lebanon API site construction milestones — on track for 2027 commercial production?</a:t>
            </a:r>
          </a:p>
          <a:p>
            <a:r>
              <a:rPr lang="en-US" dirty="0" err="1"/>
              <a:t>Zepbound</a:t>
            </a:r>
            <a:r>
              <a:rPr lang="en-US" dirty="0"/>
              <a:t> and </a:t>
            </a:r>
            <a:r>
              <a:rPr lang="en-US" dirty="0" err="1"/>
              <a:t>Mounjaro</a:t>
            </a:r>
            <a:r>
              <a:rPr lang="en-US" dirty="0"/>
              <a:t> supply situation — shortage notifications declining? Wholesale channel inventory levels </a:t>
            </a:r>
            <a:r>
              <a:rPr lang="en-US" dirty="0" err="1"/>
              <a:t>normalising</a:t>
            </a:r>
            <a:r>
              <a:rPr lang="en-US" dirty="0"/>
              <a:t>?</a:t>
            </a:r>
          </a:p>
          <a:p>
            <a:r>
              <a:rPr lang="en-US" dirty="0"/>
              <a:t>Compounding pharmacy legal status — FDA enforcement effectiveness. If compounders continue to operate despite Lilly winning injunctions, pricing and brand positioning remain compromised.</a:t>
            </a:r>
          </a:p>
          <a:p>
            <a:r>
              <a:rPr lang="en-US" dirty="0"/>
              <a:t>International market entry pace — EU and Asia </a:t>
            </a:r>
            <a:r>
              <a:rPr lang="en-US" dirty="0" err="1"/>
              <a:t>Zepbound</a:t>
            </a:r>
            <a:r>
              <a:rPr lang="en-US" dirty="0"/>
              <a:t> approvals. Each new market approval is a volume addition.</a:t>
            </a:r>
          </a:p>
          <a:p>
            <a:r>
              <a:rPr lang="en-US" dirty="0"/>
              <a:t>Capital deployment efficiency. Twenty-seven billion of capex committed in 2026. Revenue output per capex dollar is the efficiency metric to track.</a:t>
            </a:r>
          </a:p>
          <a:p>
            <a:r>
              <a:rPr lang="en-US" b="1" dirty="0"/>
              <a:t>QUADRANT FOUR: REGULATORY AND POLICY WATCHLIST.</a:t>
            </a:r>
            <a:endParaRPr lang="en-US" dirty="0"/>
          </a:p>
          <a:p>
            <a:r>
              <a:rPr lang="en-US" dirty="0"/>
              <a:t>IRA negotiations — is tirzepatide selected for Medicare price control? Any announcement here is a major negative catalyst.</a:t>
            </a:r>
          </a:p>
          <a:p>
            <a:r>
              <a:rPr lang="en-US" dirty="0"/>
              <a:t>Medicare Part D obesity drug expansion — congressional progress on full implementation.</a:t>
            </a:r>
          </a:p>
          <a:p>
            <a:r>
              <a:rPr lang="en-US" dirty="0"/>
              <a:t>FDA </a:t>
            </a:r>
            <a:r>
              <a:rPr lang="en-US" dirty="0" err="1"/>
              <a:t>Foundayo</a:t>
            </a:r>
            <a:r>
              <a:rPr lang="en-US" dirty="0"/>
              <a:t> additional indications — diabetes approval to complement the obesity approval will significantly broaden the prescribing base.</a:t>
            </a:r>
          </a:p>
          <a:p>
            <a:r>
              <a:rPr lang="en-US" dirty="0"/>
              <a:t>Trump administration drug pricing policy — executive order risk for unilateral pricing action.</a:t>
            </a:r>
          </a:p>
          <a:p>
            <a:r>
              <a:rPr lang="en-US" b="1" dirty="0"/>
              <a:t>CRITICAL NEAR-TERM CATALYST:</a:t>
            </a:r>
            <a:endParaRPr lang="en-US" dirty="0"/>
          </a:p>
          <a:p>
            <a:r>
              <a:rPr lang="en-US" dirty="0"/>
              <a:t>Q2 2026 earnings, expected around August 2026. This is the first time we see real </a:t>
            </a:r>
            <a:r>
              <a:rPr lang="en-US" dirty="0" err="1"/>
              <a:t>Foundayo</a:t>
            </a:r>
            <a:r>
              <a:rPr lang="en-US" dirty="0"/>
              <a:t> revenue data. It is also the first earnings call where management will give initial </a:t>
            </a:r>
            <a:r>
              <a:rPr lang="en-US" dirty="0" err="1"/>
              <a:t>colour</a:t>
            </a:r>
            <a:r>
              <a:rPr lang="en-US" dirty="0"/>
              <a:t> on </a:t>
            </a:r>
            <a:r>
              <a:rPr lang="en-US" dirty="0" err="1"/>
              <a:t>retatrutide</a:t>
            </a:r>
            <a:r>
              <a:rPr lang="en-US" dirty="0"/>
              <a:t> filing timeline. And it is when we will know whether the manufacturing ramp is proceeding fast enough to hit full-year guidance.</a:t>
            </a:r>
          </a:p>
          <a:p>
            <a:r>
              <a:rPr lang="en-US" dirty="0"/>
              <a:t>That earnings call is the most important single data event for LLY over the next six months.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one-slide version of everything we have spent the last hour on. If I could only show one slide about Lilly to an investor, this would be it.</a:t>
            </a:r>
          </a:p>
          <a:p>
            <a:r>
              <a:rPr lang="en-US" b="1" dirty="0"/>
              <a:t>ONE-LINE THESIS:</a:t>
            </a:r>
            <a:endParaRPr lang="en-US" dirty="0"/>
          </a:p>
          <a:p>
            <a:r>
              <a:rPr lang="en-US" dirty="0"/>
              <a:t>Eli Lilly owns the most differentiated GLP-1 molecule in medicine — tirzepatide — is deploying a twenty-seven billion dollar manufacturing fortress, and carries a pipeline with donanemab, </a:t>
            </a:r>
            <a:r>
              <a:rPr lang="en-US" dirty="0" err="1"/>
              <a:t>orforglipron</a:t>
            </a:r>
            <a:r>
              <a:rPr lang="en-US" dirty="0"/>
              <a:t>, and oncology depth that could sustain twenty percent plus topline growth through 2030.</a:t>
            </a:r>
          </a:p>
          <a:p>
            <a:r>
              <a:rPr lang="en-US" b="1" dirty="0"/>
              <a:t>WHY IT IS DIFFERENT:</a:t>
            </a:r>
            <a:endParaRPr lang="en-US" dirty="0"/>
          </a:p>
          <a:p>
            <a:r>
              <a:rPr lang="en-US" dirty="0"/>
              <a:t>Unlike Novo Nordisk, which is dependent on a single GLP-1 mechanism and is losing US market share — Lilly's tirzepatide achieves superior efficacy via the dual GIP plus GLP-1 mechanism. Unlike Pfizer or Merck, which are still forty-five billion dollar revenue companies growing at single digits, Lilly is a sixty-five billion dollar company growing at forty percent. Unlike any competitor, Lilly combines GLP-1 category leadership with genuine Alzheimer's and oncology optionality. The breadth and quality of the franchise is genuinely unprecedented.</a:t>
            </a:r>
          </a:p>
          <a:p>
            <a:r>
              <a:rPr lang="en-US" b="1" dirty="0"/>
              <a:t>WHAT WE LIKE:</a:t>
            </a:r>
            <a:endParaRPr lang="en-US" dirty="0"/>
          </a:p>
          <a:p>
            <a:r>
              <a:rPr lang="en-US" dirty="0"/>
              <a:t>Twenty-seven point two billion dollars of GLP-1 revenue in FY 2024 growing ninety percent plus year over year. Donanemab could unlock five to ten billion dollars of Alzheimer's revenue. Oral GLP-1 could multiply the addressable patient population by ten times. Twenty-seven billion dollars of US manufacturing investment creates supply moat. Fifty plus pipeline molecules provide next-decade growth runway.</a:t>
            </a:r>
          </a:p>
          <a:p>
            <a:r>
              <a:rPr lang="en-US" b="1" dirty="0"/>
              <a:t>WHAT WORRIES US:</a:t>
            </a:r>
            <a:endParaRPr lang="en-US" dirty="0"/>
          </a:p>
          <a:p>
            <a:r>
              <a:rPr lang="en-US" dirty="0"/>
              <a:t>Valuation prices near-perfection at forty-five times forward earnings as of May 2026. Manufacturing ramp is the number one near-term execution risk — any delay compounds through the revenue model. IRA price negotiation threatens long-term margin profile after 2031. Donanemab has binary FDA dynamic and ARIA side effect risk that limits commercial upside. GLP-1 discontinuation data — the subset of patients who stop taking GLP-1 drugs and regain weight — could challenge payor coverage mandates if health outcomes are not durable.</a:t>
            </a:r>
          </a:p>
          <a:p>
            <a:r>
              <a:rPr lang="en-US" b="1" dirty="0"/>
              <a:t>PRICE TARGET RANGE:</a:t>
            </a:r>
            <a:endParaRPr lang="en-US" dirty="0"/>
          </a:p>
          <a:p>
            <a:r>
              <a:rPr lang="en-US" dirty="0"/>
              <a:t>Bear: four hundred and eighty to five hundred and eighty dollars — execution failures or IRA pricing shock.</a:t>
            </a:r>
          </a:p>
          <a:p>
            <a:r>
              <a:rPr lang="en-US" dirty="0"/>
              <a:t>Base: nine hundred to eleven hundred dollars — guidance execution, eleven to fourteen times price-to-sales re-rate.</a:t>
            </a:r>
          </a:p>
          <a:p>
            <a:r>
              <a:rPr lang="en-US" dirty="0"/>
              <a:t>Bull: one thousand three hundred to one thousand six hundred dollars — oral GLP-1, donanemab, and triple agonist all succeed at hyperscale.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full research note on Eli Lilly and Company.</a:t>
            </a:r>
          </a:p>
          <a:p>
            <a:r>
              <a:rPr lang="en-US" dirty="0"/>
              <a:t>Let me give you the five-sentence version of everything we covered today.</a:t>
            </a:r>
          </a:p>
          <a:p>
            <a:r>
              <a:rPr lang="en-US" b="1" dirty="0"/>
              <a:t>One:</a:t>
            </a:r>
            <a:r>
              <a:rPr lang="en-US" dirty="0"/>
              <a:t> Lilly owns the world's best-selling drug by revenue — tirzepatide — with an </a:t>
            </a:r>
            <a:r>
              <a:rPr lang="en-US" dirty="0" err="1"/>
              <a:t>annualised</a:t>
            </a:r>
            <a:r>
              <a:rPr lang="en-US" dirty="0"/>
              <a:t> run rate approaching forty billion dollars and a sixty percent US market share that is still rising quarter over quarter.</a:t>
            </a:r>
          </a:p>
          <a:p>
            <a:r>
              <a:rPr lang="en-US" b="1" dirty="0"/>
              <a:t>Two:</a:t>
            </a:r>
            <a:r>
              <a:rPr lang="en-US" dirty="0"/>
              <a:t> The pipeline is extraordinary: </a:t>
            </a:r>
            <a:r>
              <a:rPr lang="en-US" dirty="0" err="1"/>
              <a:t>Foundayo</a:t>
            </a:r>
            <a:r>
              <a:rPr lang="en-US" dirty="0"/>
              <a:t> brings oral GLP-1 to hundreds of millions of patients who would not self-inject, and </a:t>
            </a:r>
            <a:r>
              <a:rPr lang="en-US" dirty="0" err="1"/>
              <a:t>retatrutide</a:t>
            </a:r>
            <a:r>
              <a:rPr lang="en-US" dirty="0"/>
              <a:t> has the potential to be the most effective obesity drug in clinical history if Phase 3 data holds.</a:t>
            </a:r>
          </a:p>
          <a:p>
            <a:r>
              <a:rPr lang="en-US" b="1" dirty="0"/>
              <a:t>Three:</a:t>
            </a:r>
            <a:r>
              <a:rPr lang="en-US" dirty="0"/>
              <a:t> The financial profile — forty-one percent revenue growth, eighty-three percent gross margins, forty percent ROCE, rapidly expanding net income — is one of the best in global markets today, in any sector.</a:t>
            </a:r>
          </a:p>
          <a:p>
            <a:r>
              <a:rPr lang="en-US" b="1" dirty="0"/>
              <a:t>Four:</a:t>
            </a:r>
            <a:r>
              <a:rPr lang="en-US" dirty="0"/>
              <a:t> The valuation, at approximately thirty times forward earnings and one trillion dollars market cap, prices a great deal of this in. You are paying a premium for a premium business. That premium compresses fast if guidance is missed or pipeline disappoints.</a:t>
            </a:r>
          </a:p>
          <a:p>
            <a:r>
              <a:rPr lang="en-US" b="1" dirty="0"/>
              <a:t>Five:</a:t>
            </a:r>
            <a:r>
              <a:rPr lang="en-US" dirty="0"/>
              <a:t> For a long-term compounder investor with a five to ten year horizon — someone who can hold through quarterly volatility and multiple compression events — Lilly represents one of the highest-conviction large-cap opportunities available globally, grounded in structural demographic demand, clinical superiority, and a pipeline depth that no competitor can match today.</a:t>
            </a:r>
          </a:p>
          <a:p>
            <a:r>
              <a:rPr lang="en-US" dirty="0"/>
              <a:t>This is not a comfortable valuation. But history rewards those who buy great businesses early in a generational product cycle and hold. We are, I believe, still early.</a:t>
            </a:r>
          </a:p>
          <a:p>
            <a:r>
              <a:rPr lang="en-US" dirty="0"/>
              <a:t>Do your own research. Consult a qualified financial professional. But if you found this analysis useful — please like the video, subscribe to the channel, and leave your thoughts in the comments below. What is your view on Lilly? What risks am I missing? What data points are you watching most closely?</a:t>
            </a:r>
          </a:p>
          <a:p>
            <a:r>
              <a:rPr lang="en-US" dirty="0"/>
              <a:t>Thank you for spending an hour with </a:t>
            </a:r>
            <a:r>
              <a:rPr lang="en-US" dirty="0" err="1"/>
              <a:t>Dreamlit</a:t>
            </a:r>
            <a:r>
              <a:rPr lang="en-US" dirty="0"/>
              <a:t> Equity Research. We will see you in the next one.</a:t>
            </a:r>
          </a:p>
          <a:p>
            <a:endParaRPr lang="en-US" dirty="0"/>
          </a:p>
        </p:txBody>
      </p:sp>
      <p:sp>
        <p:nvSpPr>
          <p:cNvPr id="4" name="Slide Number Placeholder 3"/>
          <p:cNvSpPr>
            <a:spLocks noGrp="1"/>
          </p:cNvSpPr>
          <p:nvPr>
            <p:ph type="sldNum" sz="quarter" idx="5"/>
          </p:nvPr>
        </p:nvSpPr>
        <p:spPr/>
        <p:txBody>
          <a:bodyPr/>
          <a:lstStyle/>
          <a:p>
            <a:fld id="{49F3E57C-F302-4DDA-9D05-13A296E43432}" type="slidenum">
              <a:rPr lang="en-IN" smtClean="0"/>
              <a:t>16</a:t>
            </a:fld>
            <a:endParaRPr lang="en-IN"/>
          </a:p>
        </p:txBody>
      </p:sp>
    </p:spTree>
    <p:extLst>
      <p:ext uri="{BB962C8B-B14F-4D97-AF65-F5344CB8AC3E}">
        <p14:creationId xmlns:p14="http://schemas.microsoft.com/office/powerpoint/2010/main" val="8798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5983-A03A-E0ED-34EE-A443E53A5B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B8837B-0727-E855-BFDD-B99EAE6AC1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26AC85-404D-9408-28CB-801E4A5933A0}"/>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E179E98B-1AF9-4875-D5B3-88859CF85A7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334707E-798E-7C97-CD41-D775F7DE003F}"/>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598192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60D9-2122-3ABA-5538-F0E27B8953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BAA8A7-B1F4-5506-F776-AFB80FE75D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EB9D3E-D1AE-A90E-6D89-C8FD10F7B33E}"/>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9BFA61B0-DE9D-6995-9E7A-69DC171A15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BD05BF3-9CF1-FA8A-BB5A-ECD88C70FE30}"/>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91153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EA982-AB85-98CC-C877-EA4E79FF1A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8BF187-D2E5-0B54-BD73-DA6895CBC0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256B0-21BF-EA24-CBAB-9C7610C98BE4}"/>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E5CEC522-0EF6-592F-545D-AEE789C84A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00FB6D0-D2F5-AE6E-DD18-51A6DEDDEAF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4125936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517B-C6E4-54A7-7DCA-3E1379C0CB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5F1E7-A809-88B3-92F7-00C015CBD0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1ADBF0-2118-931D-5DB1-3C63A2AD4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5254DA-B0D9-5A8E-1082-5B0B723969FD}"/>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6" name="Footer Placeholder 5">
            <a:extLst>
              <a:ext uri="{FF2B5EF4-FFF2-40B4-BE49-F238E27FC236}">
                <a16:creationId xmlns:a16="http://schemas.microsoft.com/office/drawing/2014/main" id="{0900ABA4-B34D-DCA3-091C-C13AB7A448D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6306393-A259-9803-9EF7-0496F50DC205}"/>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96249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897B-282E-F6A8-8744-CD4A496E4E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9EB027-C5B8-9853-4985-41EE27B04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8E21C-2E43-FD01-1A03-C5804DE46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0475D7-194A-DD15-6D87-3F9FB1106C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291681-FED0-66A8-E134-9325C89A6A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0DA14E-B6D0-D657-0112-4DEAD5E3D031}"/>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8" name="Footer Placeholder 7">
            <a:extLst>
              <a:ext uri="{FF2B5EF4-FFF2-40B4-BE49-F238E27FC236}">
                <a16:creationId xmlns:a16="http://schemas.microsoft.com/office/drawing/2014/main" id="{7AD2F618-DEC5-021D-936B-2FF3C5E635B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445CFC53-2D51-EF01-8C48-624A5490CE1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713036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C518E-EE2E-8AC8-37C3-AF264CD142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145FDC-5C6C-97EE-0FF0-55226E2D16FE}"/>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4" name="Footer Placeholder 3">
            <a:extLst>
              <a:ext uri="{FF2B5EF4-FFF2-40B4-BE49-F238E27FC236}">
                <a16:creationId xmlns:a16="http://schemas.microsoft.com/office/drawing/2014/main" id="{DC1BC3E9-7E22-3E0E-B63A-CBC3D79FC53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3C8FB05-E8DF-761A-1B31-C54E391639D7}"/>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2807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FDF00-402F-50D5-D0D2-0C3684BF34CE}"/>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3" name="Footer Placeholder 2">
            <a:extLst>
              <a:ext uri="{FF2B5EF4-FFF2-40B4-BE49-F238E27FC236}">
                <a16:creationId xmlns:a16="http://schemas.microsoft.com/office/drawing/2014/main" id="{2B6CDD23-4172-F46A-6F91-D81957C869A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1972F11-3449-B30B-8F44-E9581B44778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88416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E689-DD00-0642-53CC-961331092B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A43E27-D3A3-C032-1B22-D4F0F4B50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B389BD-C591-026B-4B42-F7CCBDB8F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15E48-BF5E-3690-4515-E22FC82541FB}"/>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6" name="Footer Placeholder 5">
            <a:extLst>
              <a:ext uri="{FF2B5EF4-FFF2-40B4-BE49-F238E27FC236}">
                <a16:creationId xmlns:a16="http://schemas.microsoft.com/office/drawing/2014/main" id="{447670F7-110C-F630-D868-1422C3DB18D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1C1A669-A1D1-A9BA-89F6-B41C82B57C6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107148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74BE-6B3D-5962-8251-90E88EE53E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D01EBC-25BA-ED73-8D45-470E76080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8358B04-6189-AACC-2093-A6FC28011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46FCE-ADFD-B0A8-6308-0087D4BB9FF4}"/>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6" name="Footer Placeholder 5">
            <a:extLst>
              <a:ext uri="{FF2B5EF4-FFF2-40B4-BE49-F238E27FC236}">
                <a16:creationId xmlns:a16="http://schemas.microsoft.com/office/drawing/2014/main" id="{C55E3D00-5327-171C-E8C0-2ADE1133909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02B3EAE-9589-AF24-CEFA-E4A3C5D88F0E}"/>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88811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D716-0853-1E81-06FC-21F49A95E4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3F3CA1-4B67-CADA-F4B0-9642DFFEE9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EA883-1B78-49FC-F4AF-9C948F985B0B}"/>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52494C0C-745E-A49F-D6CC-F3E946B17C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D4B3DA9-7B87-47CC-F674-ADE6B9DAE751}"/>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658789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FDC632-C9C7-2DA9-D70F-0D06E9A2BD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1DD888-DA2D-FD9D-2EE5-AB3305D58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1074A-B1D6-0A71-39E2-12157B251998}"/>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2B2CAAF8-36C0-5205-12B3-8314DBBB701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24CBA80-C5C7-6372-FE23-7E5AEA28C922}"/>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66865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8375C-9BF8-44F5-8288-D9CD158117D1}"/>
              </a:ext>
            </a:extLst>
          </p:cNvPr>
          <p:cNvSpPr>
            <a:spLocks noGrp="1"/>
          </p:cNvSpPr>
          <p:nvPr>
            <p:ph idx="1"/>
          </p:nvPr>
        </p:nvSpPr>
        <p:spPr>
          <a:xfrm>
            <a:off x="838200" y="1426232"/>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6A17B0C0-2FB7-1404-61AE-3CF75D90DD02}"/>
              </a:ext>
            </a:extLst>
          </p:cNvPr>
          <p:cNvSpPr>
            <a:spLocks noGrp="1"/>
          </p:cNvSpPr>
          <p:nvPr>
            <p:ph type="title"/>
          </p:nvPr>
        </p:nvSpPr>
        <p:spPr>
          <a:xfrm>
            <a:off x="0" y="6045938"/>
            <a:ext cx="12192000" cy="812062"/>
          </a:xfrm>
          <a:solidFill>
            <a:srgbClr val="7900FF"/>
          </a:solidFill>
          <a:ln>
            <a:noFill/>
          </a:ln>
          <a:effectLst>
            <a:outerShdw blurRad="190500" dist="228600" dir="2700000" algn="ctr">
              <a:srgbClr val="000000">
                <a:alpha val="30000"/>
              </a:srgbClr>
            </a:outerShdw>
          </a:effectLst>
        </p:spPr>
        <p:txBody>
          <a:bodyPr>
            <a:normAutofit/>
          </a:bodyPr>
          <a:lstStyle>
            <a:lvl1pPr>
              <a:defRPr sz="3600" b="1">
                <a:solidFill>
                  <a:schemeClr val="bg1"/>
                </a:solidFill>
                <a:latin typeface="Aptos" panose="020B0004020202020204" pitchFamily="34" charset="0"/>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B340062-B786-D72C-16AB-92EA3520AFEC}"/>
              </a:ext>
            </a:extLst>
          </p:cNvPr>
          <p:cNvSpPr>
            <a:spLocks noGrp="1"/>
          </p:cNvSpPr>
          <p:nvPr>
            <p:ph type="sldNum" sz="quarter" idx="12"/>
          </p:nvPr>
        </p:nvSpPr>
        <p:spPr>
          <a:xfrm>
            <a:off x="8242739" y="6356350"/>
            <a:ext cx="2743200" cy="365125"/>
          </a:xfrm>
        </p:spPr>
        <p:txBody>
          <a:bodyPr/>
          <a:lstStyle>
            <a:lvl1pPr>
              <a:defRPr sz="1800" b="1"/>
            </a:lvl1pPr>
          </a:lstStyle>
          <a:p>
            <a:fld id="{C2ABBCA0-D234-4812-975F-DB2C17A4DDDD}" type="slidenum">
              <a:rPr lang="en-US" smtClean="0"/>
              <a:pPr/>
              <a:t>‹#›</a:t>
            </a:fld>
            <a:endParaRPr lang="en-US" dirty="0"/>
          </a:p>
        </p:txBody>
      </p:sp>
    </p:spTree>
    <p:extLst>
      <p:ext uri="{BB962C8B-B14F-4D97-AF65-F5344CB8AC3E}">
        <p14:creationId xmlns:p14="http://schemas.microsoft.com/office/powerpoint/2010/main" val="195630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2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32478-7BE6-FD94-B1B3-1533CF2A0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D9CED8-6854-0C73-DD84-5B9D8C952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77F259-EFEC-5AD7-5C68-771A3AA6BF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D3C4C6CB-8B77-4048-9007-4FC8E9028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92FFA66-CADE-8389-6472-9E7A47E21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731DD7-10D8-42F8-B738-27059AAF31FC}" type="slidenum">
              <a:rPr lang="en-IN" smtClean="0"/>
              <a:t>‹#›</a:t>
            </a:fld>
            <a:endParaRPr lang="en-IN" dirty="0"/>
          </a:p>
        </p:txBody>
      </p:sp>
    </p:spTree>
    <p:extLst>
      <p:ext uri="{BB962C8B-B14F-4D97-AF65-F5344CB8AC3E}">
        <p14:creationId xmlns:p14="http://schemas.microsoft.com/office/powerpoint/2010/main" val="2321768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audio" Target="NULL" TargetMode="External"/><Relationship Id="rId7" Type="http://schemas.openxmlformats.org/officeDocument/2006/relationships/image" Target="../media/image1.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microsoft.com/office/2007/relationships/media" Target="../media/media2.mp3"/><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audio" Target="NULL" TargetMode="External"/><Relationship Id="rId7" Type="http://schemas.openxmlformats.org/officeDocument/2006/relationships/image" Target="../media/image3.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microsoft.com/office/2007/relationships/media" Target="../media/media2.mp3"/></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audio" Target="NULL" TargetMode="External"/><Relationship Id="rId7" Type="http://schemas.openxmlformats.org/officeDocument/2006/relationships/image" Target="../media/image1.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microsoft.com/office/2007/relationships/media" Target="../media/media2.mp3"/><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0" y="-10177"/>
            <a:ext cx="12192000" cy="6861645"/>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2172129" y="3117559"/>
            <a:ext cx="10039565" cy="1636159"/>
          </a:xfrm>
          <a:prstGeom prst="rect">
            <a:avLst/>
          </a:prstGeom>
          <a:solidFill>
            <a:srgbClr val="FFFFFF">
              <a:alpha val="14902"/>
            </a:srgbClr>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nSpc>
                <a:spcPct val="120000"/>
              </a:lnSpc>
            </a:pPr>
            <a:r>
              <a:rPr lang="en-US" b="1" dirty="0" err="1">
                <a:solidFill>
                  <a:srgbClr val="FFFF00"/>
                </a:solidFill>
                <a:latin typeface="FN Shyamol Bangla" panose="02000600000000000000" pitchFamily="2" charset="0"/>
                <a:cs typeface="FN Shyamol Bangla" panose="02000600000000000000" pitchFamily="2" charset="0"/>
              </a:rPr>
              <a:t>Dreamlit</a:t>
            </a:r>
            <a:r>
              <a:rPr lang="en-US" b="1" dirty="0">
                <a:solidFill>
                  <a:srgbClr val="FFFF00"/>
                </a:solidFill>
                <a:latin typeface="FN Shyamol Bangla" panose="02000600000000000000" pitchFamily="2" charset="0"/>
                <a:cs typeface="FN Shyamol Bangla" panose="02000600000000000000" pitchFamily="2" charset="0"/>
              </a:rPr>
              <a:t> Equity Research: 2</a:t>
            </a:r>
          </a:p>
          <a:p>
            <a:pPr>
              <a:lnSpc>
                <a:spcPct val="120000"/>
              </a:lnSpc>
            </a:pPr>
            <a:r>
              <a:rPr lang="en-US" sz="4000" b="1" dirty="0">
                <a:latin typeface="FN Shyamol Bangla" panose="02000600000000000000" pitchFamily="2" charset="0"/>
                <a:cs typeface="FN Shyamol Bangla" panose="02000600000000000000" pitchFamily="2" charset="0"/>
              </a:rPr>
              <a:t>Pharmaceutical &amp; Metabolic Medicine Leader</a:t>
            </a:r>
          </a:p>
        </p:txBody>
      </p:sp>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3" name="Audio 2">
            <a:hlinkClick r:id="" action="ppaction://media"/>
            <a:extLst>
              <a:ext uri="{FF2B5EF4-FFF2-40B4-BE49-F238E27FC236}">
                <a16:creationId xmlns:a16="http://schemas.microsoft.com/office/drawing/2014/main" id="{36CFB779-4FFD-A359-1B63-154AE47D281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325000" t="-160938" r="-325000" b="-160938"/>
          <a:stretch>
            <a:fillRect/>
          </a:stretch>
        </p:blipFill>
        <p:spPr>
          <a:xfrm>
            <a:off x="11412877" y="4642635"/>
            <a:ext cx="3048000" cy="1714500"/>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9"/>
          <a:stretch>
            <a:fillRect/>
          </a:stretch>
        </p:blipFill>
        <p:spPr>
          <a:xfrm>
            <a:off x="-1709827" y="3420645"/>
            <a:ext cx="406400" cy="406400"/>
          </a:xfrm>
          <a:prstGeom prst="rect">
            <a:avLst/>
          </a:prstGeom>
        </p:spPr>
      </p:pic>
    </p:spTree>
    <p:extLst>
      <p:ext uri="{BB962C8B-B14F-4D97-AF65-F5344CB8AC3E}">
        <p14:creationId xmlns:p14="http://schemas.microsoft.com/office/powerpoint/2010/main" val="2516154058"/>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2A6057-E419-E6D3-A61C-154F039901C1}"/>
              </a:ext>
            </a:extLst>
          </p:cNvPr>
          <p:cNvSpPr txBox="1">
            <a:spLocks/>
          </p:cNvSpPr>
          <p:nvPr/>
        </p:nvSpPr>
        <p:spPr>
          <a:xfrm>
            <a:off x="285949" y="237274"/>
            <a:ext cx="11906051" cy="812062"/>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Aptos" panose="020B0004020202020204" pitchFamily="34" charset="0"/>
                <a:ea typeface="+mj-ea"/>
                <a:cs typeface="+mj-cs"/>
              </a:defRPr>
            </a:lvl1pPr>
          </a:lstStyle>
          <a:p>
            <a:pPr algn="ctr"/>
            <a:r>
              <a:rPr lang="en-US" sz="3600" b="1" dirty="0">
                <a:solidFill>
                  <a:srgbClr val="A80C2A"/>
                </a:solidFill>
              </a:rPr>
              <a:t>DISCLAIMER</a:t>
            </a:r>
            <a:endParaRPr lang="en-IN" sz="3600" b="1" dirty="0">
              <a:solidFill>
                <a:srgbClr val="A80C2A"/>
              </a:solidFill>
            </a:endParaRPr>
          </a:p>
        </p:txBody>
      </p:sp>
      <p:pic>
        <p:nvPicPr>
          <p:cNvPr id="6" name="Audio 5">
            <a:hlinkClick r:id="" action="ppaction://media"/>
            <a:extLst>
              <a:ext uri="{FF2B5EF4-FFF2-40B4-BE49-F238E27FC236}">
                <a16:creationId xmlns:a16="http://schemas.microsoft.com/office/drawing/2014/main" id="{A3A0A51A-8FC4-392D-A8FC-96C643AC9527}"/>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325000" t="-160938" r="-325000" b="-160938"/>
          <a:stretch>
            <a:fillRect/>
          </a:stretch>
        </p:blipFill>
        <p:spPr>
          <a:xfrm>
            <a:off x="11578856" y="4978471"/>
            <a:ext cx="3048000" cy="1714500"/>
          </a:xfrm>
          <a:prstGeom prst="rect">
            <a:avLst/>
          </a:prstGeom>
        </p:spPr>
      </p:pic>
      <p:pic>
        <p:nvPicPr>
          <p:cNvPr id="8" name="Untitled (2)">
            <a:hlinkClick r:id="" action="ppaction://media"/>
            <a:extLst>
              <a:ext uri="{FF2B5EF4-FFF2-40B4-BE49-F238E27FC236}">
                <a16:creationId xmlns:a16="http://schemas.microsoft.com/office/drawing/2014/main" id="{07A43B10-2FE9-CB71-0833-6F2E03897FE8}"/>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7"/>
          <a:stretch>
            <a:fillRect/>
          </a:stretch>
        </p:blipFill>
        <p:spPr>
          <a:xfrm>
            <a:off x="-1709827" y="3420645"/>
            <a:ext cx="406400" cy="406400"/>
          </a:xfrm>
          <a:prstGeom prst="rect">
            <a:avLst/>
          </a:prstGeom>
        </p:spPr>
      </p:pic>
      <p:grpSp>
        <p:nvGrpSpPr>
          <p:cNvPr id="19" name="Group 18">
            <a:extLst>
              <a:ext uri="{FF2B5EF4-FFF2-40B4-BE49-F238E27FC236}">
                <a16:creationId xmlns:a16="http://schemas.microsoft.com/office/drawing/2014/main" id="{2B399FE1-B268-5F1F-B1FA-F457719D724C}"/>
              </a:ext>
            </a:extLst>
          </p:cNvPr>
          <p:cNvGrpSpPr/>
          <p:nvPr/>
        </p:nvGrpSpPr>
        <p:grpSpPr>
          <a:xfrm>
            <a:off x="373345" y="1049336"/>
            <a:ext cx="2504610" cy="5368484"/>
            <a:chOff x="844642" y="1681136"/>
            <a:chExt cx="10502712" cy="5784908"/>
          </a:xfrm>
        </p:grpSpPr>
        <p:sp>
          <p:nvSpPr>
            <p:cNvPr id="13" name="Title 7">
              <a:extLst>
                <a:ext uri="{FF2B5EF4-FFF2-40B4-BE49-F238E27FC236}">
                  <a16:creationId xmlns:a16="http://schemas.microsoft.com/office/drawing/2014/main" id="{8DE03FF1-840A-2117-3004-C30E7555EFC9}"/>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4" name="Title 7">
              <a:extLst>
                <a:ext uri="{FF2B5EF4-FFF2-40B4-BE49-F238E27FC236}">
                  <a16:creationId xmlns:a16="http://schemas.microsoft.com/office/drawing/2014/main" id="{6C2201E5-3197-6603-0D94-D576950F08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Advisory Status</a:t>
              </a:r>
              <a:endParaRPr lang="en-US" sz="2000" b="1" dirty="0"/>
            </a:p>
          </p:txBody>
        </p:sp>
        <p:sp>
          <p:nvSpPr>
            <p:cNvPr id="15" name="Title 7">
              <a:extLst>
                <a:ext uri="{FF2B5EF4-FFF2-40B4-BE49-F238E27FC236}">
                  <a16:creationId xmlns:a16="http://schemas.microsoft.com/office/drawing/2014/main" id="{CBCF57AE-277C-9FDC-099E-FC2CF48253C2}"/>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6" name="Title 7">
              <a:extLst>
                <a:ext uri="{FF2B5EF4-FFF2-40B4-BE49-F238E27FC236}">
                  <a16:creationId xmlns:a16="http://schemas.microsoft.com/office/drawing/2014/main" id="{6EA068E0-2144-5C7F-CBAF-17316AA3873D}"/>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Risk Warning</a:t>
              </a:r>
              <a:endParaRPr lang="en-US" sz="2000" b="1" dirty="0"/>
            </a:p>
          </p:txBody>
        </p:sp>
        <p:sp>
          <p:nvSpPr>
            <p:cNvPr id="17" name="Title 7">
              <a:extLst>
                <a:ext uri="{FF2B5EF4-FFF2-40B4-BE49-F238E27FC236}">
                  <a16:creationId xmlns:a16="http://schemas.microsoft.com/office/drawing/2014/main" id="{B527A497-5FEA-5A6B-3CD5-18080708ACA0}"/>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Liability</a:t>
              </a:r>
              <a:endParaRPr lang="en-US" sz="2000" b="1" dirty="0"/>
            </a:p>
          </p:txBody>
        </p:sp>
        <p:sp>
          <p:nvSpPr>
            <p:cNvPr id="18" name="Title 7">
              <a:extLst>
                <a:ext uri="{FF2B5EF4-FFF2-40B4-BE49-F238E27FC236}">
                  <a16:creationId xmlns:a16="http://schemas.microsoft.com/office/drawing/2014/main" id="{AFA7281D-4100-BA9E-C295-3AE289229A46}"/>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Recommendation</a:t>
              </a:r>
              <a:endParaRPr lang="en-US" sz="2000" b="1" dirty="0"/>
            </a:p>
          </p:txBody>
        </p:sp>
        <p:sp>
          <p:nvSpPr>
            <p:cNvPr id="20" name="Title 7">
              <a:extLst>
                <a:ext uri="{FF2B5EF4-FFF2-40B4-BE49-F238E27FC236}">
                  <a16:creationId xmlns:a16="http://schemas.microsoft.com/office/drawing/2014/main" id="{8F206109-CA70-7440-DD11-B9C108C33E8C}"/>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t>Legal Basis</a:t>
              </a:r>
              <a:endParaRPr lang="en-IN" sz="2000" dirty="0">
                <a:solidFill>
                  <a:schemeClr val="bg1"/>
                </a:solidFill>
              </a:endParaRPr>
            </a:p>
          </p:txBody>
        </p:sp>
      </p:grpSp>
      <p:pic>
        <p:nvPicPr>
          <p:cNvPr id="21" name="Graphic 20" descr="Warning with solid fill">
            <a:extLst>
              <a:ext uri="{FF2B5EF4-FFF2-40B4-BE49-F238E27FC236}">
                <a16:creationId xmlns:a16="http://schemas.microsoft.com/office/drawing/2014/main" id="{37B056C0-10E4-097E-7914-158229F81B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21328" y="156542"/>
            <a:ext cx="612172" cy="600511"/>
          </a:xfrm>
          <a:prstGeom prst="rect">
            <a:avLst/>
          </a:prstGeom>
        </p:spPr>
      </p:pic>
      <p:grpSp>
        <p:nvGrpSpPr>
          <p:cNvPr id="23" name="Group 22">
            <a:extLst>
              <a:ext uri="{FF2B5EF4-FFF2-40B4-BE49-F238E27FC236}">
                <a16:creationId xmlns:a16="http://schemas.microsoft.com/office/drawing/2014/main" id="{010CD110-D3C7-B489-05AC-78F16E8A2315}"/>
              </a:ext>
            </a:extLst>
          </p:cNvPr>
          <p:cNvGrpSpPr/>
          <p:nvPr/>
        </p:nvGrpSpPr>
        <p:grpSpPr>
          <a:xfrm>
            <a:off x="2955390" y="1032718"/>
            <a:ext cx="8787431" cy="5368484"/>
            <a:chOff x="844642" y="1681136"/>
            <a:chExt cx="10502712" cy="5784908"/>
          </a:xfrm>
        </p:grpSpPr>
        <p:sp>
          <p:nvSpPr>
            <p:cNvPr id="24" name="Title 7">
              <a:extLst>
                <a:ext uri="{FF2B5EF4-FFF2-40B4-BE49-F238E27FC236}">
                  <a16:creationId xmlns:a16="http://schemas.microsoft.com/office/drawing/2014/main" id="{2AD060FD-1461-559C-C0CB-682EC36EDC72}"/>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5" name="Title 7">
              <a:extLst>
                <a:ext uri="{FF2B5EF4-FFF2-40B4-BE49-F238E27FC236}">
                  <a16:creationId xmlns:a16="http://schemas.microsoft.com/office/drawing/2014/main" id="{EDF3456A-9EC2-21F5-1927-378B3F1FCD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Not financial, investment, legal, or tax advice; creator is not a licensed financial advisor.</a:t>
              </a:r>
            </a:p>
          </p:txBody>
        </p:sp>
        <p:sp>
          <p:nvSpPr>
            <p:cNvPr id="26" name="Title 7">
              <a:extLst>
                <a:ext uri="{FF2B5EF4-FFF2-40B4-BE49-F238E27FC236}">
                  <a16:creationId xmlns:a16="http://schemas.microsoft.com/office/drawing/2014/main" id="{BFDFB7B4-DA49-AF99-67CC-F907E10A3F60}"/>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7" name="Title 7">
              <a:extLst>
                <a:ext uri="{FF2B5EF4-FFF2-40B4-BE49-F238E27FC236}">
                  <a16:creationId xmlns:a16="http://schemas.microsoft.com/office/drawing/2014/main" id="{5C56D47E-F7CE-6904-2C81-B17CD2143C82}"/>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Investing involves risk, including potential loss of principal.</a:t>
              </a:r>
            </a:p>
          </p:txBody>
        </p:sp>
        <p:sp>
          <p:nvSpPr>
            <p:cNvPr id="28" name="Title 7">
              <a:extLst>
                <a:ext uri="{FF2B5EF4-FFF2-40B4-BE49-F238E27FC236}">
                  <a16:creationId xmlns:a16="http://schemas.microsoft.com/office/drawing/2014/main" id="{DFA0F27C-1198-6E1B-F6F9-1B056D0C167D}"/>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Opinions are the creator's own and may change without notice; the individual is responsible for their own decisions.</a:t>
              </a:r>
            </a:p>
          </p:txBody>
        </p:sp>
        <p:sp>
          <p:nvSpPr>
            <p:cNvPr id="29" name="Title 7">
              <a:extLst>
                <a:ext uri="{FF2B5EF4-FFF2-40B4-BE49-F238E27FC236}">
                  <a16:creationId xmlns:a16="http://schemas.microsoft.com/office/drawing/2014/main" id="{A7FBD42C-8131-478B-B5EB-7A1329552A73}"/>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Perform own research and consult a qualified professional before making investment decisions.</a:t>
              </a:r>
            </a:p>
          </p:txBody>
        </p:sp>
        <p:sp>
          <p:nvSpPr>
            <p:cNvPr id="30" name="Title 7">
              <a:extLst>
                <a:ext uri="{FF2B5EF4-FFF2-40B4-BE49-F238E27FC236}">
                  <a16:creationId xmlns:a16="http://schemas.microsoft.com/office/drawing/2014/main" id="{DB60985C-5D53-A6D2-4F49-292D5B01D5EF}"/>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solidFill>
                    <a:schemeClr val="bg1"/>
                  </a:solidFill>
                </a:rPr>
                <a:t>Third-party content is used under Fair Use for commentary, criticism, and analysis.</a:t>
              </a:r>
              <a:endParaRPr lang="en-IN" sz="2000" dirty="0">
                <a:solidFill>
                  <a:schemeClr val="bg1"/>
                </a:solidFill>
              </a:endParaRPr>
            </a:p>
          </p:txBody>
        </p:sp>
      </p:grpSp>
    </p:spTree>
    <p:extLst>
      <p:ext uri="{BB962C8B-B14F-4D97-AF65-F5344CB8AC3E}">
        <p14:creationId xmlns:p14="http://schemas.microsoft.com/office/powerpoint/2010/main" val="3726314589"/>
      </p:ext>
    </p:extLst>
  </p:cSld>
  <p:clrMapOvr>
    <a:masterClrMapping/>
  </p:clrMapOvr>
  <mc:AlternateContent xmlns:mc="http://schemas.openxmlformats.org/markup-compatibility/2006" xmlns:p14="http://schemas.microsoft.com/office/powerpoint/2010/main">
    <mc:Choice Requires="p14">
      <p:transition spd="slow" p14:dur="2000" advTm="10627"/>
    </mc:Choice>
    <mc:Fallback xmlns="">
      <p:transition spd="slow" advTm="106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par>
                          <p:cTn id="7" fill="hold">
                            <p:stCondLst>
                              <p:cond delay="1"/>
                            </p:stCondLst>
                            <p:childTnLst>
                              <p:par>
                                <p:cTn id="8" presetID="26" presetClass="emph" presetSubtype="0" fill="hold" nodeType="afterEffect">
                                  <p:stCondLst>
                                    <p:cond delay="0"/>
                                  </p:stCondLst>
                                  <p:childTnLst>
                                    <p:animEffect transition="out" filter="fade">
                                      <p:cBhvr>
                                        <p:cTn id="9" dur="500" tmFilter="0, 0; .2, .5; .8, .5; 1, 0"/>
                                        <p:tgtEl>
                                          <p:spTgt spid="5">
                                            <p:txEl>
                                              <p:pRg st="0" end="0"/>
                                            </p:txEl>
                                          </p:spTgt>
                                        </p:tgtEl>
                                      </p:cBhvr>
                                    </p:animEffect>
                                    <p:animScale>
                                      <p:cBhvr>
                                        <p:cTn id="10" dur="250" autoRev="1" fill="hold"/>
                                        <p:tgtEl>
                                          <p:spTgt spid="5">
                                            <p:txEl>
                                              <p:pRg st="0" end="0"/>
                                            </p:txEl>
                                          </p:spTgt>
                                        </p:tgtEl>
                                      </p:cBhvr>
                                      <p:by x="105000" y="105000"/>
                                    </p:animScale>
                                  </p:childTnLst>
                                </p:cTn>
                              </p:par>
                            </p:childTnLst>
                          </p:cTn>
                        </p:par>
                        <p:par>
                          <p:cTn id="11" fill="hold">
                            <p:stCondLst>
                              <p:cond delay="501"/>
                            </p:stCondLst>
                            <p:childTnLst>
                              <p:par>
                                <p:cTn id="12" presetID="1" presetClass="mediacall" presetSubtype="0" fill="hold" nodeType="afterEffect">
                                  <p:stCondLst>
                                    <p:cond delay="0"/>
                                  </p:stCondLst>
                                  <p:childTnLst>
                                    <p:cmd type="call" cmd="playFrom(0.0)">
                                      <p:cBhvr>
                                        <p:cTn id="13" dur="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4" fill="hold" display="0">
                  <p:stCondLst>
                    <p:cond delay="indefinite"/>
                  </p:stCondLst>
                  <p:endCondLst>
                    <p:cond evt="onStopAudio" delay="0">
                      <p:tgtEl>
                        <p:sldTgt/>
                      </p:tgtEl>
                    </p:cond>
                  </p:endCondLst>
                </p:cTn>
                <p:tgtEl>
                  <p:spTgt spid="6"/>
                </p:tgtEl>
              </p:cMediaNode>
            </p:audio>
            <p:audio>
              <p:cMediaNode vol="80000">
                <p:cTn id="15"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41376" cy="6858000"/>
          </a:xfrm>
          <a:prstGeom prst="rect">
            <a:avLst/>
          </a:prstGeom>
          <a:solidFill>
            <a:srgbClr val="8B0000"/>
          </a:solidFill>
          <a:ln w="12700">
            <a:solidFill>
              <a:srgbClr val="8B0000"/>
            </a:solidFill>
            <a:prstDash val="solid"/>
          </a:ln>
        </p:spPr>
      </p:sp>
      <p:sp>
        <p:nvSpPr>
          <p:cNvPr id="3" name="Shape 1"/>
          <p:cNvSpPr/>
          <p:nvPr/>
        </p:nvSpPr>
        <p:spPr>
          <a:xfrm>
            <a:off x="7315200" y="-1"/>
            <a:ext cx="4876800" cy="6857999"/>
          </a:xfrm>
          <a:prstGeom prst="rect">
            <a:avLst/>
          </a:prstGeom>
          <a:solidFill>
            <a:srgbClr val="C9952A"/>
          </a:solidFill>
          <a:ln w="12700">
            <a:solidFill>
              <a:srgbClr val="C9952A"/>
            </a:solidFill>
            <a:prstDash val="solid"/>
          </a:ln>
        </p:spPr>
      </p:sp>
      <p:sp>
        <p:nvSpPr>
          <p:cNvPr id="4" name="Text 2"/>
          <p:cNvSpPr/>
          <p:nvPr/>
        </p:nvSpPr>
        <p:spPr>
          <a:xfrm>
            <a:off x="505005" y="14341"/>
            <a:ext cx="11216640" cy="548640"/>
          </a:xfrm>
          <a:prstGeom prst="rect">
            <a:avLst/>
          </a:prstGeom>
          <a:noFill/>
          <a:ln/>
        </p:spPr>
        <p:txBody>
          <a:bodyPr wrap="square" rtlCol="0" anchor="ctr"/>
          <a:lstStyle/>
          <a:p>
            <a:r>
              <a:rPr lang="en-US" sz="1600" b="1" kern="0" spc="533" dirty="0">
                <a:solidFill>
                  <a:srgbClr val="C9952A"/>
                </a:solidFill>
                <a:latin typeface="Calibri" pitchFamily="34" charset="0"/>
                <a:ea typeface="Calibri" pitchFamily="34" charset="-122"/>
                <a:cs typeface="Calibri" pitchFamily="34" charset="-120"/>
              </a:rPr>
              <a:t>DREAMLIT EQUITY RESEARCH</a:t>
            </a:r>
            <a:endParaRPr lang="en-US" sz="1600" dirty="0"/>
          </a:p>
        </p:txBody>
      </p:sp>
      <p:sp>
        <p:nvSpPr>
          <p:cNvPr id="5" name="Text 3"/>
          <p:cNvSpPr/>
          <p:nvPr/>
        </p:nvSpPr>
        <p:spPr>
          <a:xfrm>
            <a:off x="764406" y="424710"/>
            <a:ext cx="11216640" cy="1828800"/>
          </a:xfrm>
          <a:prstGeom prst="rect">
            <a:avLst/>
          </a:prstGeom>
          <a:noFill/>
          <a:ln/>
        </p:spPr>
        <p:txBody>
          <a:bodyPr wrap="square" rtlCol="0" anchor="ctr"/>
          <a:lstStyle/>
          <a:p>
            <a:r>
              <a:rPr lang="en-US" sz="9600" b="1" dirty="0">
                <a:solidFill>
                  <a:srgbClr val="FFFFFF"/>
                </a:solidFill>
                <a:latin typeface="Georgia" pitchFamily="34" charset="0"/>
                <a:ea typeface="Georgia" pitchFamily="34" charset="-122"/>
                <a:cs typeface="Georgia" pitchFamily="34" charset="-120"/>
              </a:rPr>
              <a:t>Eli Lilly</a:t>
            </a:r>
            <a:endParaRPr lang="en-US" sz="9600" dirty="0"/>
          </a:p>
        </p:txBody>
      </p:sp>
      <p:sp>
        <p:nvSpPr>
          <p:cNvPr id="6" name="Text 4"/>
          <p:cNvSpPr/>
          <p:nvPr/>
        </p:nvSpPr>
        <p:spPr>
          <a:xfrm>
            <a:off x="764406" y="2070630"/>
            <a:ext cx="11216640" cy="975360"/>
          </a:xfrm>
          <a:prstGeom prst="rect">
            <a:avLst/>
          </a:prstGeom>
          <a:noFill/>
          <a:ln/>
        </p:spPr>
        <p:txBody>
          <a:bodyPr wrap="square" rtlCol="0" anchor="ctr"/>
          <a:lstStyle/>
          <a:p>
            <a:r>
              <a:rPr lang="en-US" sz="5067" i="1" dirty="0">
                <a:solidFill>
                  <a:srgbClr val="FFFFFF"/>
                </a:solidFill>
                <a:latin typeface="Georgia" pitchFamily="34" charset="0"/>
                <a:ea typeface="Georgia" pitchFamily="34" charset="-122"/>
                <a:cs typeface="Georgia" pitchFamily="34" charset="-120"/>
              </a:rPr>
              <a:t>&amp; Company</a:t>
            </a:r>
            <a:endParaRPr lang="en-US" sz="5067" dirty="0"/>
          </a:p>
        </p:txBody>
      </p:sp>
      <p:sp>
        <p:nvSpPr>
          <p:cNvPr id="7" name="Text 5"/>
          <p:cNvSpPr/>
          <p:nvPr/>
        </p:nvSpPr>
        <p:spPr>
          <a:xfrm>
            <a:off x="680185" y="3623111"/>
            <a:ext cx="11216640" cy="548640"/>
          </a:xfrm>
          <a:prstGeom prst="rect">
            <a:avLst/>
          </a:prstGeom>
          <a:noFill/>
          <a:ln/>
        </p:spPr>
        <p:txBody>
          <a:bodyPr wrap="square" rtlCol="0" anchor="ctr"/>
          <a:lstStyle/>
          <a:p>
            <a:r>
              <a:rPr lang="en-US" sz="1867" dirty="0">
                <a:solidFill>
                  <a:schemeClr val="bg1"/>
                </a:solidFill>
                <a:latin typeface="Calibri" pitchFamily="34" charset="0"/>
                <a:ea typeface="Calibri" pitchFamily="34" charset="-122"/>
                <a:cs typeface="Calibri" pitchFamily="34" charset="-120"/>
              </a:rPr>
              <a:t>NYSE: LLY  |  Pharmaceuticals |  Cardiometabolic  |  Oncology</a:t>
            </a:r>
            <a:endParaRPr lang="en-US" sz="1867" dirty="0">
              <a:solidFill>
                <a:schemeClr val="bg1"/>
              </a:solidFill>
            </a:endParaRPr>
          </a:p>
        </p:txBody>
      </p:sp>
      <p:sp>
        <p:nvSpPr>
          <p:cNvPr id="8" name="Shape 6"/>
          <p:cNvSpPr/>
          <p:nvPr/>
        </p:nvSpPr>
        <p:spPr>
          <a:xfrm flipV="1">
            <a:off x="761598" y="4128101"/>
            <a:ext cx="5966461" cy="45719"/>
          </a:xfrm>
          <a:prstGeom prst="rect">
            <a:avLst/>
          </a:prstGeom>
          <a:solidFill>
            <a:srgbClr val="C9952A"/>
          </a:solidFill>
          <a:ln w="12700">
            <a:solidFill>
              <a:srgbClr val="C9952A"/>
            </a:solidFill>
            <a:prstDash val="solid"/>
          </a:ln>
        </p:spPr>
      </p:sp>
      <p:sp>
        <p:nvSpPr>
          <p:cNvPr id="9" name="Text 7"/>
          <p:cNvSpPr/>
          <p:nvPr/>
        </p:nvSpPr>
        <p:spPr>
          <a:xfrm>
            <a:off x="689490" y="4302688"/>
            <a:ext cx="6144126" cy="609600"/>
          </a:xfrm>
          <a:prstGeom prst="rect">
            <a:avLst/>
          </a:prstGeom>
          <a:noFill/>
          <a:ln/>
        </p:spPr>
        <p:txBody>
          <a:bodyPr wrap="square" rtlCol="0" anchor="ctr"/>
          <a:lstStyle/>
          <a:p>
            <a:r>
              <a:rPr lang="en-US" sz="2000" b="1" dirty="0">
                <a:solidFill>
                  <a:srgbClr val="F8F4EF"/>
                </a:solidFill>
                <a:latin typeface="Calibri" pitchFamily="34" charset="0"/>
                <a:ea typeface="Calibri" pitchFamily="34" charset="-122"/>
                <a:cs typeface="Calibri" pitchFamily="34" charset="-120"/>
              </a:rPr>
              <a:t>GLP-1 Supercycle, Pipeline Depth, And The Path To $100B Revenue</a:t>
            </a:r>
            <a:endParaRPr lang="en-US" sz="2000" dirty="0"/>
          </a:p>
        </p:txBody>
      </p:sp>
      <p:sp>
        <p:nvSpPr>
          <p:cNvPr id="10" name="Text 8"/>
          <p:cNvSpPr/>
          <p:nvPr/>
        </p:nvSpPr>
        <p:spPr>
          <a:xfrm>
            <a:off x="651390" y="5942489"/>
            <a:ext cx="6366309" cy="548640"/>
          </a:xfrm>
          <a:prstGeom prst="rect">
            <a:avLst/>
          </a:prstGeom>
          <a:noFill/>
          <a:ln/>
        </p:spPr>
        <p:txBody>
          <a:bodyPr wrap="square" rtlCol="0" anchor="ctr"/>
          <a:lstStyle/>
          <a:p>
            <a:r>
              <a:rPr lang="en-US" sz="1600" dirty="0">
                <a:solidFill>
                  <a:schemeClr val="bg1"/>
                </a:solidFill>
                <a:latin typeface="Calibri" pitchFamily="34" charset="0"/>
                <a:ea typeface="Calibri" pitchFamily="34" charset="-122"/>
                <a:cs typeface="Calibri" pitchFamily="34" charset="-120"/>
              </a:rPr>
              <a:t>The most valuable healthcare company in history, powering the global obesity &amp; diabetes revolution, 60.5% US GLP-1 market share, ROCE ~40%+</a:t>
            </a:r>
          </a:p>
          <a:p>
            <a:endParaRPr lang="en-US" sz="1600" dirty="0">
              <a:solidFill>
                <a:schemeClr val="bg1"/>
              </a:solidFill>
            </a:endParaRPr>
          </a:p>
        </p:txBody>
      </p:sp>
      <p:sp>
        <p:nvSpPr>
          <p:cNvPr id="11" name="Text 9"/>
          <p:cNvSpPr/>
          <p:nvPr/>
        </p:nvSpPr>
        <p:spPr>
          <a:xfrm>
            <a:off x="689490" y="6477899"/>
            <a:ext cx="10972800" cy="365760"/>
          </a:xfrm>
          <a:prstGeom prst="rect">
            <a:avLst/>
          </a:prstGeom>
          <a:noFill/>
          <a:ln/>
        </p:spPr>
        <p:txBody>
          <a:bodyPr wrap="square" rtlCol="0" anchor="ctr"/>
          <a:lstStyle/>
          <a:p>
            <a:r>
              <a:rPr lang="en-US" sz="1333" dirty="0">
                <a:solidFill>
                  <a:schemeClr val="bg1"/>
                </a:solidFill>
                <a:latin typeface="Calibri" pitchFamily="34" charset="0"/>
                <a:ea typeface="Calibri" pitchFamily="34" charset="-122"/>
                <a:cs typeface="Calibri" pitchFamily="34" charset="-120"/>
              </a:rPr>
              <a:t>Date: May 2026  |  Analyst: Dreamlit Quant Research</a:t>
            </a:r>
            <a:endParaRPr lang="en-US" sz="1333" dirty="0">
              <a:solidFill>
                <a:schemeClr val="bg1"/>
              </a:solidFill>
            </a:endParaRPr>
          </a:p>
        </p:txBody>
      </p:sp>
      <p:grpSp>
        <p:nvGrpSpPr>
          <p:cNvPr id="14" name="Group 13">
            <a:extLst>
              <a:ext uri="{FF2B5EF4-FFF2-40B4-BE49-F238E27FC236}">
                <a16:creationId xmlns:a16="http://schemas.microsoft.com/office/drawing/2014/main" id="{58D960BF-8A36-5132-B251-6F6874E1B182}"/>
              </a:ext>
            </a:extLst>
          </p:cNvPr>
          <p:cNvGrpSpPr/>
          <p:nvPr/>
        </p:nvGrpSpPr>
        <p:grpSpPr>
          <a:xfrm>
            <a:off x="7478829" y="548641"/>
            <a:ext cx="4434840" cy="5623560"/>
            <a:chOff x="7406640" y="548640"/>
            <a:chExt cx="4434840" cy="5623560"/>
          </a:xfrm>
        </p:grpSpPr>
        <p:sp>
          <p:nvSpPr>
            <p:cNvPr id="15" name="Text 7">
              <a:extLst>
                <a:ext uri="{FF2B5EF4-FFF2-40B4-BE49-F238E27FC236}">
                  <a16:creationId xmlns:a16="http://schemas.microsoft.com/office/drawing/2014/main" id="{9FBC3DD2-7DD2-E36F-D9A0-5339871298E4}"/>
                </a:ext>
              </a:extLst>
            </p:cNvPr>
            <p:cNvSpPr/>
            <p:nvPr/>
          </p:nvSpPr>
          <p:spPr>
            <a:xfrm>
              <a:off x="7406640" y="548640"/>
              <a:ext cx="4389120" cy="365760"/>
            </a:xfrm>
            <a:prstGeom prst="rect">
              <a:avLst/>
            </a:prstGeom>
            <a:noFill/>
            <a:ln/>
          </p:spPr>
          <p:txBody>
            <a:bodyPr wrap="square" lIns="0" tIns="0" rIns="0" bIns="0" rtlCol="0" anchor="ctr"/>
            <a:lstStyle/>
            <a:p>
              <a:pPr marL="0" indent="0">
                <a:buNone/>
              </a:pPr>
              <a:r>
                <a:rPr lang="en-US" sz="1600" b="1" kern="0" spc="200" dirty="0">
                  <a:solidFill>
                    <a:srgbClr val="A80C2A"/>
                  </a:solidFill>
                </a:rPr>
                <a:t>KEY METRICS  (May 2026)</a:t>
              </a:r>
              <a:endParaRPr lang="en-US" sz="1600" dirty="0">
                <a:solidFill>
                  <a:srgbClr val="A80C2A"/>
                </a:solidFill>
              </a:endParaRPr>
            </a:p>
          </p:txBody>
        </p:sp>
        <p:sp>
          <p:nvSpPr>
            <p:cNvPr id="16" name="Shape 8">
              <a:extLst>
                <a:ext uri="{FF2B5EF4-FFF2-40B4-BE49-F238E27FC236}">
                  <a16:creationId xmlns:a16="http://schemas.microsoft.com/office/drawing/2014/main" id="{0FF029DD-BF6A-476E-08F9-F903C5B149E8}"/>
                </a:ext>
              </a:extLst>
            </p:cNvPr>
            <p:cNvSpPr/>
            <p:nvPr/>
          </p:nvSpPr>
          <p:spPr>
            <a:xfrm>
              <a:off x="7406640" y="100584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17" name="Text 9">
              <a:extLst>
                <a:ext uri="{FF2B5EF4-FFF2-40B4-BE49-F238E27FC236}">
                  <a16:creationId xmlns:a16="http://schemas.microsoft.com/office/drawing/2014/main" id="{3B0ABFCD-9139-54B5-96CA-C942F0D72453}"/>
                </a:ext>
              </a:extLst>
            </p:cNvPr>
            <p:cNvSpPr/>
            <p:nvPr/>
          </p:nvSpPr>
          <p:spPr>
            <a:xfrm>
              <a:off x="7452360" y="1051560"/>
              <a:ext cx="2011680" cy="274320"/>
            </a:xfrm>
            <a:prstGeom prst="rect">
              <a:avLst/>
            </a:prstGeom>
            <a:noFill/>
            <a:ln/>
          </p:spPr>
          <p:txBody>
            <a:bodyPr wrap="square" lIns="0" tIns="0" rIns="0" bIns="0" rtlCol="0" anchor="ctr"/>
            <a:lstStyle/>
            <a:p>
              <a:pPr marL="0" indent="0">
                <a:buNone/>
              </a:pPr>
              <a:r>
                <a:rPr lang="en-US" dirty="0">
                  <a:solidFill>
                    <a:srgbClr val="D4E3F5"/>
                  </a:solidFill>
                </a:rPr>
                <a:t>Market Cap</a:t>
              </a:r>
              <a:endParaRPr lang="en-US" dirty="0"/>
            </a:p>
          </p:txBody>
        </p:sp>
        <p:sp>
          <p:nvSpPr>
            <p:cNvPr id="18" name="Text 10">
              <a:extLst>
                <a:ext uri="{FF2B5EF4-FFF2-40B4-BE49-F238E27FC236}">
                  <a16:creationId xmlns:a16="http://schemas.microsoft.com/office/drawing/2014/main" id="{CD75F07E-A8A8-0C3A-5250-21930BFBF762}"/>
                </a:ext>
              </a:extLst>
            </p:cNvPr>
            <p:cNvSpPr/>
            <p:nvPr/>
          </p:nvSpPr>
          <p:spPr>
            <a:xfrm>
              <a:off x="7452360" y="135331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~$1.0T</a:t>
              </a:r>
            </a:p>
          </p:txBody>
        </p:sp>
        <p:sp>
          <p:nvSpPr>
            <p:cNvPr id="19" name="Shape 11">
              <a:extLst>
                <a:ext uri="{FF2B5EF4-FFF2-40B4-BE49-F238E27FC236}">
                  <a16:creationId xmlns:a16="http://schemas.microsoft.com/office/drawing/2014/main" id="{E29A7BA6-3F12-9398-9588-6E1B63B24890}"/>
                </a:ext>
              </a:extLst>
            </p:cNvPr>
            <p:cNvSpPr/>
            <p:nvPr/>
          </p:nvSpPr>
          <p:spPr>
            <a:xfrm>
              <a:off x="9692640" y="100584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20" name="Text 12">
              <a:extLst>
                <a:ext uri="{FF2B5EF4-FFF2-40B4-BE49-F238E27FC236}">
                  <a16:creationId xmlns:a16="http://schemas.microsoft.com/office/drawing/2014/main" id="{CAD6DB4E-DE42-B8D5-CF44-3C38CA1C7621}"/>
                </a:ext>
              </a:extLst>
            </p:cNvPr>
            <p:cNvSpPr/>
            <p:nvPr/>
          </p:nvSpPr>
          <p:spPr>
            <a:xfrm>
              <a:off x="9738360" y="1051560"/>
              <a:ext cx="2011680" cy="274320"/>
            </a:xfrm>
            <a:prstGeom prst="rect">
              <a:avLst/>
            </a:prstGeom>
            <a:noFill/>
            <a:ln/>
          </p:spPr>
          <p:txBody>
            <a:bodyPr wrap="square" lIns="0" tIns="0" rIns="0" bIns="0" rtlCol="0" anchor="ctr"/>
            <a:lstStyle/>
            <a:p>
              <a:pPr marL="0" indent="0">
                <a:buNone/>
              </a:pPr>
              <a:r>
                <a:rPr lang="en-US" dirty="0">
                  <a:solidFill>
                    <a:srgbClr val="D4E3F5"/>
                  </a:solidFill>
                </a:rPr>
                <a:t>FY2025 Revenue</a:t>
              </a:r>
              <a:endParaRPr lang="en-US" dirty="0"/>
            </a:p>
          </p:txBody>
        </p:sp>
        <p:sp>
          <p:nvSpPr>
            <p:cNvPr id="21" name="Text 13">
              <a:extLst>
                <a:ext uri="{FF2B5EF4-FFF2-40B4-BE49-F238E27FC236}">
                  <a16:creationId xmlns:a16="http://schemas.microsoft.com/office/drawing/2014/main" id="{2127095A-75C0-00F5-7C70-24D02B114C59}"/>
                </a:ext>
              </a:extLst>
            </p:cNvPr>
            <p:cNvSpPr/>
            <p:nvPr/>
          </p:nvSpPr>
          <p:spPr>
            <a:xfrm>
              <a:off x="9738360" y="135331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$65.2B</a:t>
              </a:r>
            </a:p>
          </p:txBody>
        </p:sp>
        <p:sp>
          <p:nvSpPr>
            <p:cNvPr id="22" name="Shape 14">
              <a:extLst>
                <a:ext uri="{FF2B5EF4-FFF2-40B4-BE49-F238E27FC236}">
                  <a16:creationId xmlns:a16="http://schemas.microsoft.com/office/drawing/2014/main" id="{2564BAFE-7A2A-D456-3894-4DCCA841F8D1}"/>
                </a:ext>
              </a:extLst>
            </p:cNvPr>
            <p:cNvSpPr/>
            <p:nvPr/>
          </p:nvSpPr>
          <p:spPr>
            <a:xfrm>
              <a:off x="7406640" y="233172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23" name="Text 15">
              <a:extLst>
                <a:ext uri="{FF2B5EF4-FFF2-40B4-BE49-F238E27FC236}">
                  <a16:creationId xmlns:a16="http://schemas.microsoft.com/office/drawing/2014/main" id="{F58B6414-0662-CE6D-72C6-86BA2C4C64C6}"/>
                </a:ext>
              </a:extLst>
            </p:cNvPr>
            <p:cNvSpPr/>
            <p:nvPr/>
          </p:nvSpPr>
          <p:spPr>
            <a:xfrm>
              <a:off x="7452360" y="2377440"/>
              <a:ext cx="2011680" cy="274320"/>
            </a:xfrm>
            <a:prstGeom prst="rect">
              <a:avLst/>
            </a:prstGeom>
            <a:noFill/>
            <a:ln/>
          </p:spPr>
          <p:txBody>
            <a:bodyPr wrap="square" lIns="0" tIns="0" rIns="0" bIns="0" rtlCol="0" anchor="ctr"/>
            <a:lstStyle/>
            <a:p>
              <a:pPr marL="0" indent="0">
                <a:buNone/>
              </a:pPr>
              <a:r>
                <a:rPr lang="en-US" dirty="0">
                  <a:solidFill>
                    <a:srgbClr val="D4E3F5"/>
                  </a:solidFill>
                </a:rPr>
                <a:t>Q1 2026 Growth</a:t>
              </a:r>
            </a:p>
          </p:txBody>
        </p:sp>
        <p:sp>
          <p:nvSpPr>
            <p:cNvPr id="24" name="Text 16">
              <a:extLst>
                <a:ext uri="{FF2B5EF4-FFF2-40B4-BE49-F238E27FC236}">
                  <a16:creationId xmlns:a16="http://schemas.microsoft.com/office/drawing/2014/main" id="{AA7EF84C-18E9-24CE-52A4-3C55127262FB}"/>
                </a:ext>
              </a:extLst>
            </p:cNvPr>
            <p:cNvSpPr/>
            <p:nvPr/>
          </p:nvSpPr>
          <p:spPr>
            <a:xfrm>
              <a:off x="7452360" y="267919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+56% YoY</a:t>
              </a:r>
            </a:p>
          </p:txBody>
        </p:sp>
        <p:sp>
          <p:nvSpPr>
            <p:cNvPr id="25" name="Shape 17">
              <a:extLst>
                <a:ext uri="{FF2B5EF4-FFF2-40B4-BE49-F238E27FC236}">
                  <a16:creationId xmlns:a16="http://schemas.microsoft.com/office/drawing/2014/main" id="{F433D332-DAEB-1A16-FF39-8CB1B8BAD17C}"/>
                </a:ext>
              </a:extLst>
            </p:cNvPr>
            <p:cNvSpPr/>
            <p:nvPr/>
          </p:nvSpPr>
          <p:spPr>
            <a:xfrm>
              <a:off x="9692640" y="233172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26" name="Text 18">
              <a:extLst>
                <a:ext uri="{FF2B5EF4-FFF2-40B4-BE49-F238E27FC236}">
                  <a16:creationId xmlns:a16="http://schemas.microsoft.com/office/drawing/2014/main" id="{039FDD92-6CB5-A8F8-9D36-DF271176327C}"/>
                </a:ext>
              </a:extLst>
            </p:cNvPr>
            <p:cNvSpPr/>
            <p:nvPr/>
          </p:nvSpPr>
          <p:spPr>
            <a:xfrm>
              <a:off x="9738360" y="2377440"/>
              <a:ext cx="2011680" cy="274320"/>
            </a:xfrm>
            <a:prstGeom prst="rect">
              <a:avLst/>
            </a:prstGeom>
            <a:noFill/>
            <a:ln/>
          </p:spPr>
          <p:txBody>
            <a:bodyPr wrap="square" lIns="0" tIns="0" rIns="0" bIns="0" rtlCol="0" anchor="ctr"/>
            <a:lstStyle/>
            <a:p>
              <a:pPr marL="0" indent="0">
                <a:buNone/>
              </a:pPr>
              <a:r>
                <a:rPr lang="en-US" dirty="0">
                  <a:solidFill>
                    <a:srgbClr val="D4E3F5"/>
                  </a:solidFill>
                </a:rPr>
                <a:t>Q1 2026 Revenue</a:t>
              </a:r>
            </a:p>
          </p:txBody>
        </p:sp>
        <p:sp>
          <p:nvSpPr>
            <p:cNvPr id="27" name="Text 19">
              <a:extLst>
                <a:ext uri="{FF2B5EF4-FFF2-40B4-BE49-F238E27FC236}">
                  <a16:creationId xmlns:a16="http://schemas.microsoft.com/office/drawing/2014/main" id="{DB17BA41-96DC-B14E-8836-6D936CD87CB9}"/>
                </a:ext>
              </a:extLst>
            </p:cNvPr>
            <p:cNvSpPr/>
            <p:nvPr/>
          </p:nvSpPr>
          <p:spPr>
            <a:xfrm>
              <a:off x="9738360" y="267919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$19.8B</a:t>
              </a:r>
            </a:p>
          </p:txBody>
        </p:sp>
        <p:sp>
          <p:nvSpPr>
            <p:cNvPr id="28" name="Shape 20">
              <a:extLst>
                <a:ext uri="{FF2B5EF4-FFF2-40B4-BE49-F238E27FC236}">
                  <a16:creationId xmlns:a16="http://schemas.microsoft.com/office/drawing/2014/main" id="{228B1748-1068-4F4F-50DF-1D254437EDD7}"/>
                </a:ext>
              </a:extLst>
            </p:cNvPr>
            <p:cNvSpPr/>
            <p:nvPr/>
          </p:nvSpPr>
          <p:spPr>
            <a:xfrm>
              <a:off x="7406640" y="365760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29" name="Text 21">
              <a:extLst>
                <a:ext uri="{FF2B5EF4-FFF2-40B4-BE49-F238E27FC236}">
                  <a16:creationId xmlns:a16="http://schemas.microsoft.com/office/drawing/2014/main" id="{3EA25A2D-1FF5-189C-2328-8F4341864CE3}"/>
                </a:ext>
              </a:extLst>
            </p:cNvPr>
            <p:cNvSpPr/>
            <p:nvPr/>
          </p:nvSpPr>
          <p:spPr>
            <a:xfrm>
              <a:off x="7452360" y="3703320"/>
              <a:ext cx="2011680" cy="274320"/>
            </a:xfrm>
            <a:prstGeom prst="rect">
              <a:avLst/>
            </a:prstGeom>
            <a:noFill/>
            <a:ln/>
          </p:spPr>
          <p:txBody>
            <a:bodyPr wrap="square" lIns="0" tIns="0" rIns="0" bIns="0" rtlCol="0" anchor="ctr"/>
            <a:lstStyle/>
            <a:p>
              <a:pPr marL="0" indent="0">
                <a:buNone/>
              </a:pPr>
              <a:r>
                <a:rPr lang="en-US" dirty="0">
                  <a:solidFill>
                    <a:srgbClr val="D4E3F5"/>
                  </a:solidFill>
                </a:rPr>
                <a:t>Gross Margin</a:t>
              </a:r>
            </a:p>
          </p:txBody>
        </p:sp>
        <p:sp>
          <p:nvSpPr>
            <p:cNvPr id="30" name="Text 22">
              <a:extLst>
                <a:ext uri="{FF2B5EF4-FFF2-40B4-BE49-F238E27FC236}">
                  <a16:creationId xmlns:a16="http://schemas.microsoft.com/office/drawing/2014/main" id="{E9096CA1-0106-9E84-2BA2-8D1915955F7F}"/>
                </a:ext>
              </a:extLst>
            </p:cNvPr>
            <p:cNvSpPr/>
            <p:nvPr/>
          </p:nvSpPr>
          <p:spPr>
            <a:xfrm>
              <a:off x="7452360" y="400507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83%</a:t>
              </a:r>
            </a:p>
          </p:txBody>
        </p:sp>
        <p:sp>
          <p:nvSpPr>
            <p:cNvPr id="31" name="Shape 23">
              <a:extLst>
                <a:ext uri="{FF2B5EF4-FFF2-40B4-BE49-F238E27FC236}">
                  <a16:creationId xmlns:a16="http://schemas.microsoft.com/office/drawing/2014/main" id="{F6FDEC77-F009-9B3A-1BF4-0FBF4868286B}"/>
                </a:ext>
              </a:extLst>
            </p:cNvPr>
            <p:cNvSpPr/>
            <p:nvPr/>
          </p:nvSpPr>
          <p:spPr>
            <a:xfrm>
              <a:off x="9692640" y="365760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32" name="Text 24">
              <a:extLst>
                <a:ext uri="{FF2B5EF4-FFF2-40B4-BE49-F238E27FC236}">
                  <a16:creationId xmlns:a16="http://schemas.microsoft.com/office/drawing/2014/main" id="{C3A68DB3-DBE4-4967-43F4-86943C7D8480}"/>
                </a:ext>
              </a:extLst>
            </p:cNvPr>
            <p:cNvSpPr/>
            <p:nvPr/>
          </p:nvSpPr>
          <p:spPr>
            <a:xfrm>
              <a:off x="9738360" y="3703320"/>
              <a:ext cx="2011680" cy="274320"/>
            </a:xfrm>
            <a:prstGeom prst="rect">
              <a:avLst/>
            </a:prstGeom>
            <a:noFill/>
            <a:ln/>
          </p:spPr>
          <p:txBody>
            <a:bodyPr wrap="square" lIns="0" tIns="0" rIns="0" bIns="0" rtlCol="0" anchor="ctr"/>
            <a:lstStyle/>
            <a:p>
              <a:pPr marL="0" indent="0">
                <a:buNone/>
              </a:pPr>
              <a:r>
                <a:rPr lang="en-US" dirty="0">
                  <a:solidFill>
                    <a:srgbClr val="D4E3F5"/>
                  </a:solidFill>
                </a:rPr>
                <a:t>2025 Rev Growth</a:t>
              </a:r>
            </a:p>
          </p:txBody>
        </p:sp>
        <p:sp>
          <p:nvSpPr>
            <p:cNvPr id="33" name="Text 25">
              <a:extLst>
                <a:ext uri="{FF2B5EF4-FFF2-40B4-BE49-F238E27FC236}">
                  <a16:creationId xmlns:a16="http://schemas.microsoft.com/office/drawing/2014/main" id="{25F64253-380D-DFAB-4388-08AAA9FA2D81}"/>
                </a:ext>
              </a:extLst>
            </p:cNvPr>
            <p:cNvSpPr/>
            <p:nvPr/>
          </p:nvSpPr>
          <p:spPr>
            <a:xfrm>
              <a:off x="9738360" y="400507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+41% YoY</a:t>
              </a:r>
            </a:p>
          </p:txBody>
        </p:sp>
        <p:sp>
          <p:nvSpPr>
            <p:cNvPr id="34" name="Shape 26">
              <a:extLst>
                <a:ext uri="{FF2B5EF4-FFF2-40B4-BE49-F238E27FC236}">
                  <a16:creationId xmlns:a16="http://schemas.microsoft.com/office/drawing/2014/main" id="{C7AE5CCC-2D07-5BBD-EA0A-F859CC08B9D9}"/>
                </a:ext>
              </a:extLst>
            </p:cNvPr>
            <p:cNvSpPr/>
            <p:nvPr/>
          </p:nvSpPr>
          <p:spPr>
            <a:xfrm>
              <a:off x="7406640" y="498348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35" name="Text 27">
              <a:extLst>
                <a:ext uri="{FF2B5EF4-FFF2-40B4-BE49-F238E27FC236}">
                  <a16:creationId xmlns:a16="http://schemas.microsoft.com/office/drawing/2014/main" id="{1F4F556A-D3D4-EAA2-7DC6-DCA2EC216FE4}"/>
                </a:ext>
              </a:extLst>
            </p:cNvPr>
            <p:cNvSpPr/>
            <p:nvPr/>
          </p:nvSpPr>
          <p:spPr>
            <a:xfrm>
              <a:off x="7452360" y="5029200"/>
              <a:ext cx="2011680" cy="274320"/>
            </a:xfrm>
            <a:prstGeom prst="rect">
              <a:avLst/>
            </a:prstGeom>
            <a:noFill/>
            <a:ln/>
          </p:spPr>
          <p:txBody>
            <a:bodyPr wrap="square" lIns="0" tIns="0" rIns="0" bIns="0" rtlCol="0" anchor="ctr"/>
            <a:lstStyle/>
            <a:p>
              <a:pPr marL="0" indent="0">
                <a:buNone/>
              </a:pPr>
              <a:r>
                <a:rPr lang="en-US" dirty="0">
                  <a:solidFill>
                    <a:srgbClr val="D4E3F5"/>
                  </a:solidFill>
                </a:rPr>
                <a:t>FY2026 Rev Guide</a:t>
              </a:r>
            </a:p>
          </p:txBody>
        </p:sp>
        <p:sp>
          <p:nvSpPr>
            <p:cNvPr id="36" name="Text 28">
              <a:extLst>
                <a:ext uri="{FF2B5EF4-FFF2-40B4-BE49-F238E27FC236}">
                  <a16:creationId xmlns:a16="http://schemas.microsoft.com/office/drawing/2014/main" id="{02A2FE70-0F90-C176-1934-CDF908038C56}"/>
                </a:ext>
              </a:extLst>
            </p:cNvPr>
            <p:cNvSpPr/>
            <p:nvPr/>
          </p:nvSpPr>
          <p:spPr>
            <a:xfrm>
              <a:off x="7475220" y="5426113"/>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$82–$85B</a:t>
              </a:r>
            </a:p>
          </p:txBody>
        </p:sp>
        <p:sp>
          <p:nvSpPr>
            <p:cNvPr id="37" name="Shape 29">
              <a:extLst>
                <a:ext uri="{FF2B5EF4-FFF2-40B4-BE49-F238E27FC236}">
                  <a16:creationId xmlns:a16="http://schemas.microsoft.com/office/drawing/2014/main" id="{1027206E-589B-2CC9-23E1-6FE0BB7C9BD1}"/>
                </a:ext>
              </a:extLst>
            </p:cNvPr>
            <p:cNvSpPr/>
            <p:nvPr/>
          </p:nvSpPr>
          <p:spPr>
            <a:xfrm>
              <a:off x="9692640" y="4983480"/>
              <a:ext cx="2148840" cy="1188720"/>
            </a:xfrm>
            <a:prstGeom prst="rect">
              <a:avLst/>
            </a:prstGeom>
            <a:solidFill>
              <a:schemeClr val="tx1"/>
            </a:solidFill>
            <a:ln w="12700">
              <a:solidFill>
                <a:srgbClr val="A80C2A"/>
              </a:solidFill>
              <a:prstDash val="solid"/>
            </a:ln>
            <a:effectLst>
              <a:outerShdw blurRad="101600" dist="38100" dir="8100000" algn="bl" rotWithShape="0">
                <a:srgbClr val="000000">
                  <a:alpha val="10000"/>
                </a:srgbClr>
              </a:outerShdw>
            </a:effectLst>
          </p:spPr>
        </p:sp>
        <p:sp>
          <p:nvSpPr>
            <p:cNvPr id="38" name="Text 30">
              <a:extLst>
                <a:ext uri="{FF2B5EF4-FFF2-40B4-BE49-F238E27FC236}">
                  <a16:creationId xmlns:a16="http://schemas.microsoft.com/office/drawing/2014/main" id="{832E3D11-AFAC-979B-17B2-45B6FF7F35FA}"/>
                </a:ext>
              </a:extLst>
            </p:cNvPr>
            <p:cNvSpPr/>
            <p:nvPr/>
          </p:nvSpPr>
          <p:spPr>
            <a:xfrm>
              <a:off x="9738360" y="5029200"/>
              <a:ext cx="2011680" cy="274320"/>
            </a:xfrm>
            <a:prstGeom prst="rect">
              <a:avLst/>
            </a:prstGeom>
            <a:noFill/>
            <a:ln/>
          </p:spPr>
          <p:txBody>
            <a:bodyPr wrap="square" lIns="0" tIns="0" rIns="0" bIns="0" rtlCol="0" anchor="ctr"/>
            <a:lstStyle/>
            <a:p>
              <a:pPr marL="0" indent="0">
                <a:buNone/>
              </a:pPr>
              <a:r>
                <a:rPr lang="en-US" dirty="0">
                  <a:solidFill>
                    <a:srgbClr val="D4E3F5"/>
                  </a:solidFill>
                </a:rPr>
                <a:t>52-Wk High/Low</a:t>
              </a:r>
              <a:endParaRPr lang="en-US" dirty="0"/>
            </a:p>
          </p:txBody>
        </p:sp>
        <p:sp>
          <p:nvSpPr>
            <p:cNvPr id="39" name="Text 31">
              <a:extLst>
                <a:ext uri="{FF2B5EF4-FFF2-40B4-BE49-F238E27FC236}">
                  <a16:creationId xmlns:a16="http://schemas.microsoft.com/office/drawing/2014/main" id="{2BB59B27-C9F8-D2CB-52CC-683E132A819C}"/>
                </a:ext>
              </a:extLst>
            </p:cNvPr>
            <p:cNvSpPr/>
            <p:nvPr/>
          </p:nvSpPr>
          <p:spPr>
            <a:xfrm>
              <a:off x="9761220" y="5394960"/>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$1,250 / $730</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3E"/>
          </a:solidFill>
          <a:ln w="12700">
            <a:solidFill>
              <a:srgbClr val="0D1B3E"/>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1: COMPANY HISTORY — 150 YEARS OF PHARMACEUTICAL LEADERSHIP</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One of the oldest and most enduring pharmaceutical innovators in the world</a:t>
            </a: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1874520"/>
            <a:ext cx="11704320" cy="45720"/>
          </a:xfrm>
          <a:prstGeom prst="rect">
            <a:avLst/>
          </a:prstGeom>
          <a:solidFill>
            <a:srgbClr val="00C8C8"/>
          </a:solidFill>
          <a:ln w="12700">
            <a:solidFill>
              <a:srgbClr val="00C8C8"/>
            </a:solidFill>
            <a:prstDash val="solid"/>
          </a:ln>
        </p:spPr>
      </p:sp>
      <p:sp>
        <p:nvSpPr>
          <p:cNvPr id="8" name="Shape 6"/>
          <p:cNvSpPr/>
          <p:nvPr/>
        </p:nvSpPr>
        <p:spPr>
          <a:xfrm>
            <a:off x="804672" y="1719072"/>
            <a:ext cx="384048" cy="384048"/>
          </a:xfrm>
          <a:prstGeom prst="ellipse">
            <a:avLst/>
          </a:prstGeom>
          <a:solidFill>
            <a:srgbClr val="00C8C8"/>
          </a:solidFill>
          <a:ln w="12700">
            <a:solidFill>
              <a:srgbClr val="FFFFFF"/>
            </a:solidFill>
            <a:prstDash val="solid"/>
          </a:ln>
        </p:spPr>
      </p:sp>
      <p:sp>
        <p:nvSpPr>
          <p:cNvPr id="9" name="Text 7"/>
          <p:cNvSpPr/>
          <p:nvPr/>
        </p:nvSpPr>
        <p:spPr>
          <a:xfrm>
            <a:off x="312460" y="1156716"/>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1876</a:t>
            </a:r>
            <a:endParaRPr lang="en-US" sz="1200" dirty="0"/>
          </a:p>
        </p:txBody>
      </p:sp>
      <p:sp>
        <p:nvSpPr>
          <p:cNvPr id="10" name="Text 8"/>
          <p:cNvSpPr/>
          <p:nvPr/>
        </p:nvSpPr>
        <p:spPr>
          <a:xfrm>
            <a:off x="70144" y="1275588"/>
            <a:ext cx="2273728"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Col. Eli Lilly founds company in Indianapolis — pioneers quality manufacturing</a:t>
            </a:r>
            <a:endParaRPr lang="en-US" sz="900" dirty="0"/>
          </a:p>
        </p:txBody>
      </p:sp>
      <p:sp>
        <p:nvSpPr>
          <p:cNvPr id="11" name="Shape 9"/>
          <p:cNvSpPr/>
          <p:nvPr/>
        </p:nvSpPr>
        <p:spPr>
          <a:xfrm>
            <a:off x="2304288" y="1719072"/>
            <a:ext cx="384048" cy="384048"/>
          </a:xfrm>
          <a:prstGeom prst="ellipse">
            <a:avLst/>
          </a:prstGeom>
          <a:solidFill>
            <a:srgbClr val="00C8C8"/>
          </a:solidFill>
          <a:ln w="12700">
            <a:solidFill>
              <a:srgbClr val="FFFFFF"/>
            </a:solidFill>
            <a:prstDash val="solid"/>
          </a:ln>
        </p:spPr>
      </p:sp>
      <p:sp>
        <p:nvSpPr>
          <p:cNvPr id="12" name="Text 10"/>
          <p:cNvSpPr/>
          <p:nvPr/>
        </p:nvSpPr>
        <p:spPr>
          <a:xfrm>
            <a:off x="1805940" y="2162376"/>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1982</a:t>
            </a:r>
            <a:endParaRPr lang="en-US" sz="1200" dirty="0"/>
          </a:p>
        </p:txBody>
      </p:sp>
      <p:sp>
        <p:nvSpPr>
          <p:cNvPr id="13" name="Text 11"/>
          <p:cNvSpPr/>
          <p:nvPr/>
        </p:nvSpPr>
        <p:spPr>
          <a:xfrm>
            <a:off x="1356921" y="2313432"/>
            <a:ext cx="2315357"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Humulin — world's first recombinant DNA insulin. Biotech pioneer born</a:t>
            </a:r>
            <a:endParaRPr lang="en-US" sz="900" dirty="0"/>
          </a:p>
        </p:txBody>
      </p:sp>
      <p:sp>
        <p:nvSpPr>
          <p:cNvPr id="14" name="Shape 12"/>
          <p:cNvSpPr/>
          <p:nvPr/>
        </p:nvSpPr>
        <p:spPr>
          <a:xfrm>
            <a:off x="3803904" y="1719072"/>
            <a:ext cx="384048" cy="384048"/>
          </a:xfrm>
          <a:prstGeom prst="ellipse">
            <a:avLst/>
          </a:prstGeom>
          <a:solidFill>
            <a:srgbClr val="00C8C8"/>
          </a:solidFill>
          <a:ln w="12700">
            <a:solidFill>
              <a:srgbClr val="FFFFFF"/>
            </a:solidFill>
            <a:prstDash val="solid"/>
          </a:ln>
        </p:spPr>
      </p:sp>
      <p:sp>
        <p:nvSpPr>
          <p:cNvPr id="15" name="Text 13"/>
          <p:cNvSpPr/>
          <p:nvPr/>
        </p:nvSpPr>
        <p:spPr>
          <a:xfrm>
            <a:off x="3255264" y="1207008"/>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1995</a:t>
            </a:r>
            <a:endParaRPr lang="en-US" sz="1200" dirty="0"/>
          </a:p>
        </p:txBody>
      </p:sp>
      <p:sp>
        <p:nvSpPr>
          <p:cNvPr id="16" name="Text 14"/>
          <p:cNvSpPr/>
          <p:nvPr/>
        </p:nvSpPr>
        <p:spPr>
          <a:xfrm>
            <a:off x="2910800" y="1307592"/>
            <a:ext cx="2178077"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Prozac becomes world's #1 antidepressant. Multi-franchise era begins</a:t>
            </a:r>
            <a:endParaRPr lang="en-US" sz="900" dirty="0"/>
          </a:p>
        </p:txBody>
      </p:sp>
      <p:sp>
        <p:nvSpPr>
          <p:cNvPr id="17" name="Shape 15"/>
          <p:cNvSpPr/>
          <p:nvPr/>
        </p:nvSpPr>
        <p:spPr>
          <a:xfrm>
            <a:off x="5303520" y="1719072"/>
            <a:ext cx="384048" cy="384048"/>
          </a:xfrm>
          <a:prstGeom prst="ellipse">
            <a:avLst/>
          </a:prstGeom>
          <a:solidFill>
            <a:srgbClr val="00C8C8"/>
          </a:solidFill>
          <a:ln w="12700">
            <a:solidFill>
              <a:srgbClr val="FFFFFF"/>
            </a:solidFill>
            <a:prstDash val="solid"/>
          </a:ln>
        </p:spPr>
      </p:sp>
      <p:sp>
        <p:nvSpPr>
          <p:cNvPr id="18" name="Text 16"/>
          <p:cNvSpPr/>
          <p:nvPr/>
        </p:nvSpPr>
        <p:spPr>
          <a:xfrm>
            <a:off x="4818888" y="2102157"/>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2002</a:t>
            </a:r>
            <a:endParaRPr lang="en-US" sz="1200" dirty="0"/>
          </a:p>
        </p:txBody>
      </p:sp>
      <p:sp>
        <p:nvSpPr>
          <p:cNvPr id="19" name="Text 17"/>
          <p:cNvSpPr/>
          <p:nvPr/>
        </p:nvSpPr>
        <p:spPr>
          <a:xfrm>
            <a:off x="4369869" y="2295144"/>
            <a:ext cx="2315357"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Zyprexa/Prozac patent cliff — revenue crisis triggers aggressive R&amp;D pivot</a:t>
            </a:r>
            <a:endParaRPr lang="en-US" sz="900" dirty="0"/>
          </a:p>
        </p:txBody>
      </p:sp>
      <p:sp>
        <p:nvSpPr>
          <p:cNvPr id="20" name="Shape 18"/>
          <p:cNvSpPr/>
          <p:nvPr/>
        </p:nvSpPr>
        <p:spPr>
          <a:xfrm>
            <a:off x="6803136" y="1719072"/>
            <a:ext cx="384048" cy="384048"/>
          </a:xfrm>
          <a:prstGeom prst="ellipse">
            <a:avLst/>
          </a:prstGeom>
          <a:solidFill>
            <a:srgbClr val="00C8C8"/>
          </a:solidFill>
          <a:ln w="12700">
            <a:solidFill>
              <a:srgbClr val="FFFFFF"/>
            </a:solidFill>
            <a:prstDash val="solid"/>
          </a:ln>
        </p:spPr>
      </p:sp>
      <p:sp>
        <p:nvSpPr>
          <p:cNvPr id="21" name="Text 19"/>
          <p:cNvSpPr/>
          <p:nvPr/>
        </p:nvSpPr>
        <p:spPr>
          <a:xfrm>
            <a:off x="6254496" y="1207008"/>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2014</a:t>
            </a:r>
            <a:endParaRPr lang="en-US" sz="1200" dirty="0"/>
          </a:p>
        </p:txBody>
      </p:sp>
      <p:sp>
        <p:nvSpPr>
          <p:cNvPr id="22" name="Text 20"/>
          <p:cNvSpPr/>
          <p:nvPr/>
        </p:nvSpPr>
        <p:spPr>
          <a:xfrm>
            <a:off x="6098567" y="1342482"/>
            <a:ext cx="1999487"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Trulicity (GLP-1) approved — first incretin franchise entry</a:t>
            </a:r>
            <a:endParaRPr lang="en-US" sz="900" dirty="0"/>
          </a:p>
        </p:txBody>
      </p:sp>
      <p:sp>
        <p:nvSpPr>
          <p:cNvPr id="23" name="Shape 21"/>
          <p:cNvSpPr/>
          <p:nvPr/>
        </p:nvSpPr>
        <p:spPr>
          <a:xfrm>
            <a:off x="8302752" y="1719072"/>
            <a:ext cx="384048" cy="384048"/>
          </a:xfrm>
          <a:prstGeom prst="ellipse">
            <a:avLst/>
          </a:prstGeom>
          <a:solidFill>
            <a:srgbClr val="FFB800"/>
          </a:solidFill>
          <a:ln w="12700">
            <a:solidFill>
              <a:srgbClr val="FFFFFF"/>
            </a:solidFill>
            <a:prstDash val="solid"/>
          </a:ln>
        </p:spPr>
      </p:sp>
      <p:sp>
        <p:nvSpPr>
          <p:cNvPr id="24" name="Text 22"/>
          <p:cNvSpPr/>
          <p:nvPr/>
        </p:nvSpPr>
        <p:spPr>
          <a:xfrm>
            <a:off x="7802118" y="2144990"/>
            <a:ext cx="1417320" cy="274320"/>
          </a:xfrm>
          <a:prstGeom prst="rect">
            <a:avLst/>
          </a:prstGeom>
          <a:noFill/>
          <a:ln/>
        </p:spPr>
        <p:txBody>
          <a:bodyPr wrap="square" rtlCol="0" anchor="ctr"/>
          <a:lstStyle/>
          <a:p>
            <a:pPr marL="0" indent="0" algn="ctr">
              <a:buNone/>
            </a:pPr>
            <a:r>
              <a:rPr lang="en-US" sz="1200" b="1" dirty="0">
                <a:solidFill>
                  <a:srgbClr val="FFB800"/>
                </a:solidFill>
                <a:latin typeface="Calibri" pitchFamily="34" charset="0"/>
                <a:ea typeface="Calibri" pitchFamily="34" charset="-122"/>
                <a:cs typeface="Calibri" pitchFamily="34" charset="-120"/>
              </a:rPr>
              <a:t>2022</a:t>
            </a:r>
            <a:endParaRPr lang="en-US" sz="1200" dirty="0"/>
          </a:p>
        </p:txBody>
      </p:sp>
      <p:sp>
        <p:nvSpPr>
          <p:cNvPr id="25" name="Text 23"/>
          <p:cNvSpPr/>
          <p:nvPr/>
        </p:nvSpPr>
        <p:spPr>
          <a:xfrm>
            <a:off x="7471611" y="2313432"/>
            <a:ext cx="2315357"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Mounjaro (tirzepatide) FDA approved for T2D — dual GIP/GLP-1 breakthrough</a:t>
            </a:r>
            <a:endParaRPr lang="en-US" sz="900" dirty="0"/>
          </a:p>
        </p:txBody>
      </p:sp>
      <p:sp>
        <p:nvSpPr>
          <p:cNvPr id="26" name="Shape 24"/>
          <p:cNvSpPr/>
          <p:nvPr/>
        </p:nvSpPr>
        <p:spPr>
          <a:xfrm>
            <a:off x="9802368" y="1719072"/>
            <a:ext cx="384048" cy="384048"/>
          </a:xfrm>
          <a:prstGeom prst="ellipse">
            <a:avLst/>
          </a:prstGeom>
          <a:solidFill>
            <a:srgbClr val="FFB800"/>
          </a:solidFill>
          <a:ln w="12700">
            <a:solidFill>
              <a:srgbClr val="FFFFFF"/>
            </a:solidFill>
            <a:prstDash val="solid"/>
          </a:ln>
        </p:spPr>
      </p:sp>
      <p:sp>
        <p:nvSpPr>
          <p:cNvPr id="27" name="Text 25"/>
          <p:cNvSpPr/>
          <p:nvPr/>
        </p:nvSpPr>
        <p:spPr>
          <a:xfrm>
            <a:off x="9253728" y="1170432"/>
            <a:ext cx="1417320" cy="274320"/>
          </a:xfrm>
          <a:prstGeom prst="rect">
            <a:avLst/>
          </a:prstGeom>
          <a:noFill/>
          <a:ln/>
        </p:spPr>
        <p:txBody>
          <a:bodyPr wrap="square" rtlCol="0" anchor="ctr"/>
          <a:lstStyle/>
          <a:p>
            <a:pPr marL="0" indent="0" algn="ctr">
              <a:buNone/>
            </a:pPr>
            <a:r>
              <a:rPr lang="en-US" sz="1200" b="1" dirty="0">
                <a:solidFill>
                  <a:srgbClr val="FFB800"/>
                </a:solidFill>
                <a:latin typeface="Calibri" pitchFamily="34" charset="0"/>
                <a:ea typeface="Calibri" pitchFamily="34" charset="-122"/>
                <a:cs typeface="Calibri" pitchFamily="34" charset="-120"/>
              </a:rPr>
              <a:t>2023</a:t>
            </a:r>
            <a:endParaRPr lang="en-US" sz="1200" dirty="0"/>
          </a:p>
        </p:txBody>
      </p:sp>
      <p:sp>
        <p:nvSpPr>
          <p:cNvPr id="28" name="Text 26"/>
          <p:cNvSpPr/>
          <p:nvPr/>
        </p:nvSpPr>
        <p:spPr>
          <a:xfrm>
            <a:off x="8804548" y="1307111"/>
            <a:ext cx="2385942"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Zepbound approved for obesity. Lilly becomes one of world's most valuable companies</a:t>
            </a:r>
            <a:endParaRPr lang="en-US" sz="900" dirty="0"/>
          </a:p>
        </p:txBody>
      </p:sp>
      <p:sp>
        <p:nvSpPr>
          <p:cNvPr id="29" name="Shape 27"/>
          <p:cNvSpPr/>
          <p:nvPr/>
        </p:nvSpPr>
        <p:spPr>
          <a:xfrm>
            <a:off x="11301984" y="1719072"/>
            <a:ext cx="384048" cy="384048"/>
          </a:xfrm>
          <a:prstGeom prst="ellipse">
            <a:avLst/>
          </a:prstGeom>
          <a:solidFill>
            <a:srgbClr val="FFB800"/>
          </a:solidFill>
          <a:ln w="12700">
            <a:solidFill>
              <a:srgbClr val="FFFFFF"/>
            </a:solidFill>
            <a:prstDash val="solid"/>
          </a:ln>
        </p:spPr>
      </p:sp>
      <p:sp>
        <p:nvSpPr>
          <p:cNvPr id="30" name="Text 28"/>
          <p:cNvSpPr/>
          <p:nvPr/>
        </p:nvSpPr>
        <p:spPr>
          <a:xfrm>
            <a:off x="10815829" y="2121649"/>
            <a:ext cx="1417320" cy="274320"/>
          </a:xfrm>
          <a:prstGeom prst="rect">
            <a:avLst/>
          </a:prstGeom>
          <a:noFill/>
          <a:ln/>
        </p:spPr>
        <p:txBody>
          <a:bodyPr wrap="square" rtlCol="0" anchor="ctr"/>
          <a:lstStyle/>
          <a:p>
            <a:pPr marL="0" indent="0" algn="ctr">
              <a:buNone/>
            </a:pPr>
            <a:r>
              <a:rPr lang="en-US" sz="1200" b="1" dirty="0">
                <a:solidFill>
                  <a:srgbClr val="FFB800"/>
                </a:solidFill>
                <a:latin typeface="Calibri" pitchFamily="34" charset="0"/>
                <a:ea typeface="Calibri" pitchFamily="34" charset="-122"/>
                <a:cs typeface="Calibri" pitchFamily="34" charset="-120"/>
              </a:rPr>
              <a:t>2025</a:t>
            </a:r>
            <a:endParaRPr lang="en-US" sz="1200" dirty="0"/>
          </a:p>
        </p:txBody>
      </p:sp>
      <p:sp>
        <p:nvSpPr>
          <p:cNvPr id="31" name="Text 29"/>
          <p:cNvSpPr/>
          <p:nvPr/>
        </p:nvSpPr>
        <p:spPr>
          <a:xfrm>
            <a:off x="10215051" y="2301883"/>
            <a:ext cx="1984248" cy="502920"/>
          </a:xfrm>
          <a:prstGeom prst="rect">
            <a:avLst/>
          </a:prstGeom>
          <a:noFill/>
          <a:ln/>
        </p:spPr>
        <p:txBody>
          <a:bodyPr wrap="square" rtlCol="0" anchor="ctr"/>
          <a:lstStyle/>
          <a:p>
            <a:pPr marL="0" indent="0" algn="ctr">
              <a:buNone/>
            </a:pPr>
            <a:r>
              <a:rPr lang="en-US" sz="900" dirty="0">
                <a:latin typeface="Calibri" pitchFamily="34" charset="0"/>
                <a:ea typeface="Calibri" pitchFamily="34" charset="-122"/>
                <a:cs typeface="Calibri" pitchFamily="34" charset="-120"/>
              </a:rPr>
              <a:t>$65.2B revenue (+45%). Tirzepatide world's #1 drug. Orforglipron filed</a:t>
            </a:r>
            <a:endParaRPr lang="en-US" sz="900" dirty="0"/>
          </a:p>
        </p:txBody>
      </p:sp>
      <p:sp>
        <p:nvSpPr>
          <p:cNvPr id="32" name="Text 30"/>
          <p:cNvSpPr/>
          <p:nvPr/>
        </p:nvSpPr>
        <p:spPr>
          <a:xfrm>
            <a:off x="256032" y="2852928"/>
            <a:ext cx="11612880" cy="292608"/>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What Lilly Built Over 150 Years — Advantages Competitors Cannot Easily Replicate</a:t>
            </a:r>
            <a:endParaRPr lang="en-US" sz="1300" dirty="0"/>
          </a:p>
        </p:txBody>
      </p:sp>
      <p:sp>
        <p:nvSpPr>
          <p:cNvPr id="33" name="Shape 31"/>
          <p:cNvSpPr/>
          <p:nvPr/>
        </p:nvSpPr>
        <p:spPr>
          <a:xfrm>
            <a:off x="256032" y="3200400"/>
            <a:ext cx="3794760" cy="3310128"/>
          </a:xfrm>
          <a:prstGeom prst="rect">
            <a:avLst/>
          </a:prstGeom>
          <a:solidFill>
            <a:srgbClr val="162040"/>
          </a:solidFill>
          <a:ln w="12700">
            <a:solidFill>
              <a:srgbClr val="162040"/>
            </a:solidFill>
            <a:prstDash val="solid"/>
          </a:ln>
        </p:spPr>
      </p:sp>
      <p:sp>
        <p:nvSpPr>
          <p:cNvPr id="34" name="Shape 32"/>
          <p:cNvSpPr/>
          <p:nvPr/>
        </p:nvSpPr>
        <p:spPr>
          <a:xfrm>
            <a:off x="256032" y="3200400"/>
            <a:ext cx="64008" cy="3310128"/>
          </a:xfrm>
          <a:prstGeom prst="rect">
            <a:avLst/>
          </a:prstGeom>
          <a:solidFill>
            <a:srgbClr val="00C8C8"/>
          </a:solidFill>
          <a:ln w="12700">
            <a:solidFill>
              <a:srgbClr val="00C8C8"/>
            </a:solidFill>
            <a:prstDash val="solid"/>
          </a:ln>
        </p:spPr>
      </p:sp>
      <p:sp>
        <p:nvSpPr>
          <p:cNvPr id="35" name="Text 33"/>
          <p:cNvSpPr/>
          <p:nvPr/>
        </p:nvSpPr>
        <p:spPr>
          <a:xfrm>
            <a:off x="438912" y="3255264"/>
            <a:ext cx="3520440" cy="384048"/>
          </a:xfrm>
          <a:prstGeom prst="rect">
            <a:avLst/>
          </a:prstGeom>
          <a:noFill/>
          <a:ln/>
        </p:spPr>
        <p:txBody>
          <a:bodyPr wrap="square" rtlCol="0" anchor="ctr"/>
          <a:lstStyle/>
          <a:p>
            <a:pPr marL="0" indent="0">
              <a:buNone/>
            </a:pPr>
            <a:r>
              <a:rPr lang="en-US" sz="1600" b="1" dirty="0">
                <a:solidFill>
                  <a:srgbClr val="00C8C8"/>
                </a:solidFill>
                <a:latin typeface="Calibri" pitchFamily="34" charset="0"/>
                <a:ea typeface="Calibri" pitchFamily="34" charset="-122"/>
                <a:cs typeface="Calibri" pitchFamily="34" charset="-120"/>
              </a:rPr>
              <a:t>~$11B Annual R&amp;D Engine</a:t>
            </a:r>
            <a:endParaRPr lang="en-US" sz="1600" dirty="0"/>
          </a:p>
        </p:txBody>
      </p:sp>
      <p:grpSp>
        <p:nvGrpSpPr>
          <p:cNvPr id="57" name="Group 56">
            <a:extLst>
              <a:ext uri="{FF2B5EF4-FFF2-40B4-BE49-F238E27FC236}">
                <a16:creationId xmlns:a16="http://schemas.microsoft.com/office/drawing/2014/main" id="{2CA63F09-1A2A-BEB3-8E6B-95D41DA10275}"/>
              </a:ext>
            </a:extLst>
          </p:cNvPr>
          <p:cNvGrpSpPr/>
          <p:nvPr/>
        </p:nvGrpSpPr>
        <p:grpSpPr>
          <a:xfrm>
            <a:off x="438912" y="3657600"/>
            <a:ext cx="3520440" cy="2726838"/>
            <a:chOff x="438912" y="3657600"/>
            <a:chExt cx="3520440" cy="2726838"/>
          </a:xfrm>
        </p:grpSpPr>
        <p:sp>
          <p:nvSpPr>
            <p:cNvPr id="36" name="Text 34"/>
            <p:cNvSpPr/>
            <p:nvPr/>
          </p:nvSpPr>
          <p:spPr>
            <a:xfrm>
              <a:off x="438912" y="3657600"/>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~15-16% of revenue reinvested each year</a:t>
              </a:r>
              <a:endParaRPr lang="en-US" sz="1400" dirty="0">
                <a:solidFill>
                  <a:schemeClr val="bg1"/>
                </a:solidFill>
              </a:endParaRPr>
            </a:p>
          </p:txBody>
        </p:sp>
        <p:sp>
          <p:nvSpPr>
            <p:cNvPr id="37" name="Text 35"/>
            <p:cNvSpPr/>
            <p:nvPr/>
          </p:nvSpPr>
          <p:spPr>
            <a:xfrm>
              <a:off x="438912" y="4160042"/>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Indiana, San Diego, Boston, Basel hubs</a:t>
              </a:r>
              <a:endParaRPr lang="en-US" sz="1400" dirty="0">
                <a:solidFill>
                  <a:schemeClr val="bg1"/>
                </a:solidFill>
              </a:endParaRPr>
            </a:p>
          </p:txBody>
        </p:sp>
        <p:sp>
          <p:nvSpPr>
            <p:cNvPr id="38" name="Text 36"/>
            <p:cNvSpPr/>
            <p:nvPr/>
          </p:nvSpPr>
          <p:spPr>
            <a:xfrm>
              <a:off x="438912" y="4700984"/>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Tirzepatide SURPASS/SURMOUNT trial mastery</a:t>
              </a:r>
              <a:endParaRPr lang="en-US" sz="1400" dirty="0">
                <a:solidFill>
                  <a:schemeClr val="bg1"/>
                </a:solidFill>
              </a:endParaRPr>
            </a:p>
          </p:txBody>
        </p:sp>
        <p:sp>
          <p:nvSpPr>
            <p:cNvPr id="39" name="Text 37"/>
            <p:cNvSpPr/>
            <p:nvPr/>
          </p:nvSpPr>
          <p:spPr>
            <a:xfrm>
              <a:off x="438912" y="5299673"/>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Orforglipron oral pill — Ph3 complete, filed Q4 2025</a:t>
              </a:r>
              <a:endParaRPr lang="en-US" sz="1400" dirty="0">
                <a:solidFill>
                  <a:schemeClr val="bg1"/>
                </a:solidFill>
              </a:endParaRPr>
            </a:p>
          </p:txBody>
        </p:sp>
        <p:sp>
          <p:nvSpPr>
            <p:cNvPr id="40" name="Text 38"/>
            <p:cNvSpPr/>
            <p:nvPr/>
          </p:nvSpPr>
          <p:spPr>
            <a:xfrm>
              <a:off x="438912" y="5927238"/>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Retatrutide (triple agonist) — Phase 3 readouts 2026</a:t>
              </a:r>
              <a:endParaRPr lang="en-US" sz="1400" dirty="0">
                <a:solidFill>
                  <a:schemeClr val="bg1"/>
                </a:solidFill>
              </a:endParaRPr>
            </a:p>
          </p:txBody>
        </p:sp>
      </p:grpSp>
      <p:sp>
        <p:nvSpPr>
          <p:cNvPr id="41" name="Shape 39"/>
          <p:cNvSpPr/>
          <p:nvPr/>
        </p:nvSpPr>
        <p:spPr>
          <a:xfrm>
            <a:off x="4233672" y="3200400"/>
            <a:ext cx="3794760" cy="3310128"/>
          </a:xfrm>
          <a:prstGeom prst="rect">
            <a:avLst/>
          </a:prstGeom>
          <a:solidFill>
            <a:srgbClr val="162040"/>
          </a:solidFill>
          <a:ln w="12700">
            <a:solidFill>
              <a:srgbClr val="162040"/>
            </a:solidFill>
            <a:prstDash val="solid"/>
          </a:ln>
        </p:spPr>
      </p:sp>
      <p:sp>
        <p:nvSpPr>
          <p:cNvPr id="42" name="Shape 40"/>
          <p:cNvSpPr/>
          <p:nvPr/>
        </p:nvSpPr>
        <p:spPr>
          <a:xfrm>
            <a:off x="4233672" y="3200400"/>
            <a:ext cx="64008" cy="3310128"/>
          </a:xfrm>
          <a:prstGeom prst="rect">
            <a:avLst/>
          </a:prstGeom>
          <a:solidFill>
            <a:srgbClr val="FFB800"/>
          </a:solidFill>
          <a:ln w="12700">
            <a:solidFill>
              <a:srgbClr val="FFB800"/>
            </a:solidFill>
            <a:prstDash val="solid"/>
          </a:ln>
        </p:spPr>
      </p:sp>
      <p:sp>
        <p:nvSpPr>
          <p:cNvPr id="43" name="Text 41"/>
          <p:cNvSpPr/>
          <p:nvPr/>
        </p:nvSpPr>
        <p:spPr>
          <a:xfrm>
            <a:off x="4416552" y="3255264"/>
            <a:ext cx="3520440" cy="384048"/>
          </a:xfrm>
          <a:prstGeom prst="rect">
            <a:avLst/>
          </a:prstGeom>
          <a:noFill/>
          <a:ln/>
        </p:spPr>
        <p:txBody>
          <a:bodyPr wrap="square" rtlCol="0" anchor="ctr"/>
          <a:lstStyle/>
          <a:p>
            <a:pPr marL="0" indent="0">
              <a:buNone/>
            </a:pPr>
            <a:r>
              <a:rPr lang="en-US" sz="1600" b="1" dirty="0">
                <a:solidFill>
                  <a:srgbClr val="FFB800"/>
                </a:solidFill>
                <a:latin typeface="Calibri" pitchFamily="34" charset="0"/>
                <a:ea typeface="Calibri" pitchFamily="34" charset="-122"/>
                <a:cs typeface="Calibri" pitchFamily="34" charset="-120"/>
              </a:rPr>
              <a:t>$65B Manufacturing Buildout</a:t>
            </a:r>
            <a:endParaRPr lang="en-US" sz="1600" dirty="0"/>
          </a:p>
        </p:txBody>
      </p:sp>
      <p:grpSp>
        <p:nvGrpSpPr>
          <p:cNvPr id="58" name="Group 57">
            <a:extLst>
              <a:ext uri="{FF2B5EF4-FFF2-40B4-BE49-F238E27FC236}">
                <a16:creationId xmlns:a16="http://schemas.microsoft.com/office/drawing/2014/main" id="{0BCA47C6-5D78-F9D0-E4E6-12439205D098}"/>
              </a:ext>
            </a:extLst>
          </p:cNvPr>
          <p:cNvGrpSpPr/>
          <p:nvPr/>
        </p:nvGrpSpPr>
        <p:grpSpPr>
          <a:xfrm>
            <a:off x="4416552" y="3657600"/>
            <a:ext cx="3520440" cy="2736463"/>
            <a:chOff x="4416552" y="3657600"/>
            <a:chExt cx="3520440" cy="2736463"/>
          </a:xfrm>
        </p:grpSpPr>
        <p:sp>
          <p:nvSpPr>
            <p:cNvPr id="44" name="Text 42"/>
            <p:cNvSpPr/>
            <p:nvPr/>
          </p:nvSpPr>
          <p:spPr>
            <a:xfrm>
              <a:off x="4416552" y="3657600"/>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$4.5B Lilly Medicine Foundry (Indiana, 2024)</a:t>
              </a:r>
              <a:endParaRPr lang="en-US" sz="1400" dirty="0">
                <a:solidFill>
                  <a:schemeClr val="bg1"/>
                </a:solidFill>
              </a:endParaRPr>
            </a:p>
          </p:txBody>
        </p:sp>
        <p:sp>
          <p:nvSpPr>
            <p:cNvPr id="45" name="Text 43"/>
            <p:cNvSpPr/>
            <p:nvPr/>
          </p:nvSpPr>
          <p:spPr>
            <a:xfrm>
              <a:off x="4416552" y="4265914"/>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$5.3B Branchburg NJ API site expansion</a:t>
              </a:r>
              <a:endParaRPr lang="en-US" sz="1400" dirty="0">
                <a:solidFill>
                  <a:schemeClr val="bg1"/>
                </a:solidFill>
              </a:endParaRPr>
            </a:p>
          </p:txBody>
        </p:sp>
        <p:sp>
          <p:nvSpPr>
            <p:cNvPr id="46" name="Text 44"/>
            <p:cNvSpPr/>
            <p:nvPr/>
          </p:nvSpPr>
          <p:spPr>
            <a:xfrm>
              <a:off x="4416552" y="4749108"/>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$9B Germany / Ireland / North Carolina new facilities</a:t>
              </a:r>
              <a:endParaRPr lang="en-US" sz="1400" dirty="0">
                <a:solidFill>
                  <a:schemeClr val="bg1"/>
                </a:solidFill>
              </a:endParaRPr>
            </a:p>
          </p:txBody>
        </p:sp>
        <p:sp>
          <p:nvSpPr>
            <p:cNvPr id="47" name="Text 45"/>
            <p:cNvSpPr/>
            <p:nvPr/>
          </p:nvSpPr>
          <p:spPr>
            <a:xfrm>
              <a:off x="4416552" y="5328549"/>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75% US/PR manufacturing — partial tariff resilience</a:t>
              </a:r>
              <a:endParaRPr lang="en-US" sz="1400" dirty="0">
                <a:solidFill>
                  <a:schemeClr val="bg1"/>
                </a:solidFill>
              </a:endParaRPr>
            </a:p>
          </p:txBody>
        </p:sp>
        <p:sp>
          <p:nvSpPr>
            <p:cNvPr id="48" name="Text 46"/>
            <p:cNvSpPr/>
            <p:nvPr/>
          </p:nvSpPr>
          <p:spPr>
            <a:xfrm>
              <a:off x="4416552" y="5936863"/>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Supply constraints → now actively being resolved</a:t>
              </a:r>
              <a:endParaRPr lang="en-US" sz="1400" dirty="0">
                <a:solidFill>
                  <a:schemeClr val="bg1"/>
                </a:solidFill>
              </a:endParaRPr>
            </a:p>
          </p:txBody>
        </p:sp>
      </p:grpSp>
      <p:sp>
        <p:nvSpPr>
          <p:cNvPr id="49" name="Shape 47"/>
          <p:cNvSpPr/>
          <p:nvPr/>
        </p:nvSpPr>
        <p:spPr>
          <a:xfrm>
            <a:off x="8211312" y="3200400"/>
            <a:ext cx="3794760" cy="3310128"/>
          </a:xfrm>
          <a:prstGeom prst="rect">
            <a:avLst/>
          </a:prstGeom>
          <a:solidFill>
            <a:srgbClr val="162040"/>
          </a:solidFill>
          <a:ln w="12700">
            <a:solidFill>
              <a:srgbClr val="162040"/>
            </a:solidFill>
            <a:prstDash val="solid"/>
          </a:ln>
        </p:spPr>
      </p:sp>
      <p:sp>
        <p:nvSpPr>
          <p:cNvPr id="50" name="Shape 48"/>
          <p:cNvSpPr/>
          <p:nvPr/>
        </p:nvSpPr>
        <p:spPr>
          <a:xfrm>
            <a:off x="8211312" y="3200400"/>
            <a:ext cx="64008" cy="3310128"/>
          </a:xfrm>
          <a:prstGeom prst="rect">
            <a:avLst/>
          </a:prstGeom>
          <a:solidFill>
            <a:srgbClr val="8B5CF6"/>
          </a:solidFill>
          <a:ln w="12700">
            <a:solidFill>
              <a:srgbClr val="8B5CF6"/>
            </a:solidFill>
            <a:prstDash val="solid"/>
          </a:ln>
        </p:spPr>
      </p:sp>
      <p:sp>
        <p:nvSpPr>
          <p:cNvPr id="51" name="Text 49"/>
          <p:cNvSpPr/>
          <p:nvPr/>
        </p:nvSpPr>
        <p:spPr>
          <a:xfrm>
            <a:off x="8394192" y="3255264"/>
            <a:ext cx="3520440" cy="384048"/>
          </a:xfrm>
          <a:prstGeom prst="rect">
            <a:avLst/>
          </a:prstGeom>
          <a:noFill/>
          <a:ln/>
        </p:spPr>
        <p:txBody>
          <a:bodyPr wrap="square"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Brand &amp; Regulatory Moat</a:t>
            </a:r>
            <a:endParaRPr lang="en-US" sz="1600" dirty="0"/>
          </a:p>
        </p:txBody>
      </p:sp>
      <p:grpSp>
        <p:nvGrpSpPr>
          <p:cNvPr id="59" name="Group 58">
            <a:extLst>
              <a:ext uri="{FF2B5EF4-FFF2-40B4-BE49-F238E27FC236}">
                <a16:creationId xmlns:a16="http://schemas.microsoft.com/office/drawing/2014/main" id="{405B933B-D5D7-4929-A303-934B08BBDB1A}"/>
              </a:ext>
            </a:extLst>
          </p:cNvPr>
          <p:cNvGrpSpPr/>
          <p:nvPr/>
        </p:nvGrpSpPr>
        <p:grpSpPr>
          <a:xfrm>
            <a:off x="8394192" y="3628725"/>
            <a:ext cx="3520440" cy="2794213"/>
            <a:chOff x="8394192" y="3628725"/>
            <a:chExt cx="3520440" cy="2794213"/>
          </a:xfrm>
        </p:grpSpPr>
        <p:sp>
          <p:nvSpPr>
            <p:cNvPr id="52" name="Text 50"/>
            <p:cNvSpPr/>
            <p:nvPr/>
          </p:nvSpPr>
          <p:spPr>
            <a:xfrm>
              <a:off x="8394192" y="3628725"/>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12+ FDA approvals since 2020</a:t>
              </a:r>
              <a:endParaRPr lang="en-US" sz="1400" dirty="0">
                <a:solidFill>
                  <a:schemeClr val="bg1"/>
                </a:solidFill>
              </a:endParaRPr>
            </a:p>
          </p:txBody>
        </p:sp>
        <p:sp>
          <p:nvSpPr>
            <p:cNvPr id="53" name="Text 51"/>
            <p:cNvSpPr/>
            <p:nvPr/>
          </p:nvSpPr>
          <p:spPr>
            <a:xfrm>
              <a:off x="8394192" y="4198539"/>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60.5% US incretin share — #1 in fastest-growing Rx class</a:t>
              </a:r>
              <a:endParaRPr lang="en-US" sz="1400" dirty="0">
                <a:solidFill>
                  <a:schemeClr val="bg1"/>
                </a:solidFill>
              </a:endParaRPr>
            </a:p>
          </p:txBody>
        </p:sp>
        <p:sp>
          <p:nvSpPr>
            <p:cNvPr id="54" name="Text 52"/>
            <p:cNvSpPr/>
            <p:nvPr/>
          </p:nvSpPr>
          <p:spPr>
            <a:xfrm>
              <a:off x="8394192" y="4777984"/>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November 2025 US Govt MFN access deal (7M+ patients)</a:t>
              </a:r>
              <a:endParaRPr lang="en-US" sz="1400" dirty="0">
                <a:solidFill>
                  <a:schemeClr val="bg1"/>
                </a:solidFill>
              </a:endParaRPr>
            </a:p>
          </p:txBody>
        </p:sp>
        <p:sp>
          <p:nvSpPr>
            <p:cNvPr id="55" name="Text 53"/>
            <p:cNvSpPr/>
            <p:nvPr/>
          </p:nvSpPr>
          <p:spPr>
            <a:xfrm>
              <a:off x="8394192" y="5357421"/>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Medicare Part D obesity coverage beginning July 2026</a:t>
              </a:r>
              <a:endParaRPr lang="en-US" sz="1400" dirty="0">
                <a:solidFill>
                  <a:schemeClr val="bg1"/>
                </a:solidFill>
              </a:endParaRPr>
            </a:p>
          </p:txBody>
        </p:sp>
        <p:sp>
          <p:nvSpPr>
            <p:cNvPr id="56" name="Text 54"/>
            <p:cNvSpPr/>
            <p:nvPr/>
          </p:nvSpPr>
          <p:spPr>
            <a:xfrm>
              <a:off x="8394192" y="5965738"/>
              <a:ext cx="3520440" cy="457200"/>
            </a:xfrm>
            <a:prstGeom prst="rect">
              <a:avLst/>
            </a:prstGeom>
            <a:noFill/>
            <a:ln/>
          </p:spPr>
          <p:txBody>
            <a:bodyPr wrap="square" rtlCol="0" anchor="ctr"/>
            <a:lstStyle/>
            <a:p>
              <a:pPr marL="0" indent="0">
                <a:buNone/>
              </a:pPr>
              <a:r>
                <a:rPr lang="en-US" sz="1400" dirty="0">
                  <a:solidFill>
                    <a:schemeClr val="bg1"/>
                  </a:solidFill>
                  <a:latin typeface="Calibri" pitchFamily="34" charset="0"/>
                  <a:ea typeface="Calibri" pitchFamily="34" charset="-122"/>
                  <a:cs typeface="Calibri" pitchFamily="34" charset="-120"/>
                </a:rPr>
                <a:t>• Kisunla Alzheimer's — first amyloid-clearing biologic</a:t>
              </a:r>
              <a:endParaRPr lang="en-US" sz="1400" dirty="0">
                <a:solidFill>
                  <a:schemeClr val="bg1"/>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FC9A2642-0182-2967-E0A1-4DC0B4610B9D}"/>
              </a:ext>
            </a:extLst>
          </p:cNvPr>
          <p:cNvGrpSpPr/>
          <p:nvPr/>
        </p:nvGrpSpPr>
        <p:grpSpPr>
          <a:xfrm>
            <a:off x="231006" y="2420229"/>
            <a:ext cx="11729987" cy="4142874"/>
            <a:chOff x="340093" y="1471062"/>
            <a:chExt cx="11729987" cy="5192833"/>
          </a:xfrm>
        </p:grpSpPr>
        <p:sp>
          <p:nvSpPr>
            <p:cNvPr id="17" name="Shape 15"/>
            <p:cNvSpPr/>
            <p:nvPr/>
          </p:nvSpPr>
          <p:spPr>
            <a:xfrm>
              <a:off x="6400800" y="4164535"/>
              <a:ext cx="5669280" cy="249936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grpSp>
          <p:nvGrpSpPr>
            <p:cNvPr id="25" name="Group 24">
              <a:extLst>
                <a:ext uri="{FF2B5EF4-FFF2-40B4-BE49-F238E27FC236}">
                  <a16:creationId xmlns:a16="http://schemas.microsoft.com/office/drawing/2014/main" id="{E8646583-C233-91F6-2FB6-FA12CB9F36E1}"/>
                </a:ext>
              </a:extLst>
            </p:cNvPr>
            <p:cNvGrpSpPr/>
            <p:nvPr/>
          </p:nvGrpSpPr>
          <p:grpSpPr>
            <a:xfrm>
              <a:off x="340093" y="1471062"/>
              <a:ext cx="11729987" cy="5181600"/>
              <a:chOff x="340093" y="1471062"/>
              <a:chExt cx="11729987" cy="5181600"/>
            </a:xfrm>
          </p:grpSpPr>
          <p:sp>
            <p:nvSpPr>
              <p:cNvPr id="5" name="Shape 3"/>
              <p:cNvSpPr/>
              <p:nvPr/>
            </p:nvSpPr>
            <p:spPr>
              <a:xfrm>
                <a:off x="340093" y="1471062"/>
                <a:ext cx="5669280" cy="249936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6" name="Shape 4"/>
              <p:cNvSpPr/>
              <p:nvPr/>
            </p:nvSpPr>
            <p:spPr>
              <a:xfrm>
                <a:off x="340093" y="1471062"/>
                <a:ext cx="146304" cy="2499360"/>
              </a:xfrm>
              <a:prstGeom prst="rect">
                <a:avLst/>
              </a:prstGeom>
              <a:solidFill>
                <a:srgbClr val="8B0000"/>
              </a:solidFill>
              <a:ln w="12700">
                <a:solidFill>
                  <a:srgbClr val="8B0000"/>
                </a:solidFill>
                <a:prstDash val="solid"/>
              </a:ln>
            </p:spPr>
          </p:sp>
          <p:sp>
            <p:nvSpPr>
              <p:cNvPr id="7" name="Text 5"/>
              <p:cNvSpPr/>
              <p:nvPr/>
            </p:nvSpPr>
            <p:spPr>
              <a:xfrm>
                <a:off x="608317" y="1592982"/>
                <a:ext cx="5242560" cy="390144"/>
              </a:xfrm>
              <a:prstGeom prst="rect">
                <a:avLst/>
              </a:prstGeom>
              <a:noFill/>
              <a:ln/>
            </p:spPr>
            <p:txBody>
              <a:bodyPr wrap="square" rtlCol="0" anchor="ctr"/>
              <a:lstStyle/>
              <a:p>
                <a:r>
                  <a:rPr lang="en-US" sz="1600" b="1" dirty="0">
                    <a:solidFill>
                      <a:srgbClr val="8B0000"/>
                    </a:solidFill>
                    <a:latin typeface="Calibri" pitchFamily="34" charset="0"/>
                    <a:ea typeface="Calibri" pitchFamily="34" charset="-122"/>
                    <a:cs typeface="Calibri" pitchFamily="34" charset="-120"/>
                  </a:rPr>
                  <a:t>Cardiometabolic (&gt;60% Revenue)</a:t>
                </a:r>
                <a:endParaRPr lang="en-US" sz="1600" dirty="0"/>
              </a:p>
            </p:txBody>
          </p:sp>
          <p:sp>
            <p:nvSpPr>
              <p:cNvPr id="8" name="Text 6"/>
              <p:cNvSpPr/>
              <p:nvPr/>
            </p:nvSpPr>
            <p:spPr>
              <a:xfrm>
                <a:off x="486397" y="1993715"/>
                <a:ext cx="5522976" cy="188976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Mounjaro (tirzepatide) — Type 2 Diabetes; $11.5B in FY2024</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Zepbound (tirzepatide) — Obesity; $4.9B in FY2024</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Foundayo (orforglipron) — Oral GLP-1 pill; FDA approved Apr 2026</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Retatrutide ('Triple G') — Phase 3; highest weight loss ever in trials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Dual GIP+GLP-1 mechanism: superior to semaglutide in head-to-head trials</a:t>
                </a:r>
                <a:endParaRPr lang="en-US" sz="1400" dirty="0"/>
              </a:p>
            </p:txBody>
          </p:sp>
          <p:sp>
            <p:nvSpPr>
              <p:cNvPr id="9" name="Shape 7"/>
              <p:cNvSpPr/>
              <p:nvPr/>
            </p:nvSpPr>
            <p:spPr>
              <a:xfrm>
                <a:off x="6314173" y="1471062"/>
                <a:ext cx="5669280" cy="249936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10" name="Shape 8"/>
              <p:cNvSpPr/>
              <p:nvPr/>
            </p:nvSpPr>
            <p:spPr>
              <a:xfrm>
                <a:off x="6314173" y="1471062"/>
                <a:ext cx="146304" cy="2499360"/>
              </a:xfrm>
              <a:prstGeom prst="rect">
                <a:avLst/>
              </a:prstGeom>
              <a:solidFill>
                <a:srgbClr val="0F6B8A"/>
              </a:solidFill>
              <a:ln w="12700">
                <a:solidFill>
                  <a:srgbClr val="0F6B8A"/>
                </a:solidFill>
                <a:prstDash val="solid"/>
              </a:ln>
            </p:spPr>
          </p:sp>
          <p:sp>
            <p:nvSpPr>
              <p:cNvPr id="11" name="Text 9"/>
              <p:cNvSpPr/>
              <p:nvPr/>
            </p:nvSpPr>
            <p:spPr>
              <a:xfrm>
                <a:off x="6582397" y="1592982"/>
                <a:ext cx="5242560" cy="390144"/>
              </a:xfrm>
              <a:prstGeom prst="rect">
                <a:avLst/>
              </a:prstGeom>
              <a:noFill/>
              <a:ln/>
            </p:spPr>
            <p:txBody>
              <a:bodyPr wrap="square" rtlCol="0" anchor="ctr"/>
              <a:lstStyle/>
              <a:p>
                <a:r>
                  <a:rPr lang="en-US" sz="1600" b="1" dirty="0">
                    <a:solidFill>
                      <a:srgbClr val="0F6B8A"/>
                    </a:solidFill>
                    <a:latin typeface="Calibri" pitchFamily="34" charset="0"/>
                    <a:ea typeface="Calibri" pitchFamily="34" charset="-122"/>
                    <a:cs typeface="Calibri" pitchFamily="34" charset="-120"/>
                  </a:rPr>
                  <a:t>Oncology (18% of Rev)</a:t>
                </a:r>
              </a:p>
            </p:txBody>
          </p:sp>
          <p:sp>
            <p:nvSpPr>
              <p:cNvPr id="12" name="Text 10"/>
              <p:cNvSpPr/>
              <p:nvPr/>
            </p:nvSpPr>
            <p:spPr>
              <a:xfrm>
                <a:off x="6495770" y="1820778"/>
                <a:ext cx="5242560" cy="188976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Verzenio (abemaciclib) — breast cancer CDK4/6 inhibitor</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Inluriyo (imlunestrant) — FDA approved 2025 for breast cancer</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Jaypirca (pirtobrutinib) — BTK inhibitor for blood cancers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Growing pipeline targeting difficult-to-treat solid tumors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Acquisitions: Ajax Therapeutics, Centessa, Orna Therapeutics</a:t>
                </a:r>
                <a:endParaRPr lang="en-US" sz="1400" dirty="0"/>
              </a:p>
            </p:txBody>
          </p:sp>
          <p:sp>
            <p:nvSpPr>
              <p:cNvPr id="13" name="Shape 11"/>
              <p:cNvSpPr/>
              <p:nvPr/>
            </p:nvSpPr>
            <p:spPr>
              <a:xfrm>
                <a:off x="340093" y="4137258"/>
                <a:ext cx="5669280" cy="249936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14" name="Shape 12"/>
              <p:cNvSpPr/>
              <p:nvPr/>
            </p:nvSpPr>
            <p:spPr>
              <a:xfrm>
                <a:off x="340093" y="4153302"/>
                <a:ext cx="146304" cy="2499360"/>
              </a:xfrm>
              <a:prstGeom prst="rect">
                <a:avLst/>
              </a:prstGeom>
              <a:solidFill>
                <a:srgbClr val="C9952A"/>
              </a:solidFill>
              <a:ln w="12700">
                <a:solidFill>
                  <a:srgbClr val="C9952A"/>
                </a:solidFill>
                <a:prstDash val="solid"/>
              </a:ln>
            </p:spPr>
          </p:sp>
          <p:sp>
            <p:nvSpPr>
              <p:cNvPr id="15" name="Text 13"/>
              <p:cNvSpPr/>
              <p:nvPr/>
            </p:nvSpPr>
            <p:spPr>
              <a:xfrm>
                <a:off x="608317" y="4275222"/>
                <a:ext cx="5242560" cy="390144"/>
              </a:xfrm>
              <a:prstGeom prst="rect">
                <a:avLst/>
              </a:prstGeom>
              <a:noFill/>
              <a:ln/>
            </p:spPr>
            <p:txBody>
              <a:bodyPr wrap="square" rtlCol="0" anchor="ctr"/>
              <a:lstStyle/>
              <a:p>
                <a:r>
                  <a:rPr lang="en-US" sz="1600" b="1" dirty="0">
                    <a:solidFill>
                      <a:srgbClr val="C9952A"/>
                    </a:solidFill>
                    <a:latin typeface="Calibri" pitchFamily="34" charset="0"/>
                    <a:ea typeface="Calibri" pitchFamily="34" charset="-122"/>
                    <a:cs typeface="Calibri" pitchFamily="34" charset="-120"/>
                  </a:rPr>
                  <a:t>Immunology</a:t>
                </a:r>
                <a:endParaRPr lang="en-US" sz="1600" dirty="0"/>
              </a:p>
            </p:txBody>
          </p:sp>
          <p:sp>
            <p:nvSpPr>
              <p:cNvPr id="16" name="Text 14"/>
              <p:cNvSpPr/>
              <p:nvPr/>
            </p:nvSpPr>
            <p:spPr>
              <a:xfrm>
                <a:off x="512064" y="4493075"/>
                <a:ext cx="5583936" cy="188976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Taltz (ixekizumab) — psoriasis &amp; psoriatic arthritis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Omvoh (mirikizumab) — ulcerative colitis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Lebrikizumab — atopic dermatitis (pipeline expanding)</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Taltz + Zepbound combo Phase 3 data in psoriatic arthritis &amp; obesity</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Expanding SQ &amp; IV formulations for broader patient access</a:t>
                </a:r>
                <a:endParaRPr lang="en-US" sz="1400" dirty="0"/>
              </a:p>
            </p:txBody>
          </p:sp>
          <p:sp>
            <p:nvSpPr>
              <p:cNvPr id="18" name="Shape 16"/>
              <p:cNvSpPr/>
              <p:nvPr/>
            </p:nvSpPr>
            <p:spPr>
              <a:xfrm>
                <a:off x="6314173" y="4153302"/>
                <a:ext cx="146304" cy="2499360"/>
              </a:xfrm>
              <a:prstGeom prst="rect">
                <a:avLst/>
              </a:prstGeom>
              <a:solidFill>
                <a:srgbClr val="4A5568"/>
              </a:solidFill>
              <a:ln w="12700">
                <a:solidFill>
                  <a:srgbClr val="4A5568"/>
                </a:solidFill>
                <a:prstDash val="solid"/>
              </a:ln>
            </p:spPr>
          </p:sp>
          <p:sp>
            <p:nvSpPr>
              <p:cNvPr id="19" name="Text 17"/>
              <p:cNvSpPr/>
              <p:nvPr/>
            </p:nvSpPr>
            <p:spPr>
              <a:xfrm>
                <a:off x="6582397" y="4182180"/>
                <a:ext cx="5242560" cy="390144"/>
              </a:xfrm>
              <a:prstGeom prst="rect">
                <a:avLst/>
              </a:prstGeom>
              <a:noFill/>
              <a:ln/>
            </p:spPr>
            <p:txBody>
              <a:bodyPr wrap="square" rtlCol="0" anchor="ctr"/>
              <a:lstStyle/>
              <a:p>
                <a:r>
                  <a:rPr lang="en-US" sz="1600" b="1" dirty="0">
                    <a:solidFill>
                      <a:srgbClr val="4A5568"/>
                    </a:solidFill>
                    <a:latin typeface="Calibri" pitchFamily="34" charset="0"/>
                    <a:ea typeface="Calibri" pitchFamily="34" charset="-122"/>
                    <a:cs typeface="Calibri" pitchFamily="34" charset="-120"/>
                  </a:rPr>
                  <a:t>Neuroscience</a:t>
                </a:r>
                <a:endParaRPr lang="en-US" sz="1600" dirty="0"/>
              </a:p>
            </p:txBody>
          </p:sp>
          <p:sp>
            <p:nvSpPr>
              <p:cNvPr id="20" name="Text 18"/>
              <p:cNvSpPr/>
              <p:nvPr/>
            </p:nvSpPr>
            <p:spPr>
              <a:xfrm>
                <a:off x="6582397" y="4588203"/>
                <a:ext cx="5487683" cy="188976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Kisunla (donanemab) — FDA approved 2024 for early Alzheimer's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First Alzheimer's therapy to slow cognitive decline in amyloid patients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LillyDirect platform — direct-to-consumer access; bypasses PBMs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Verve Therapeutics acquisition (2025) — gene-editing for heart disease</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SiteOne Therapeutics (Nav1.7) — chronic pain pipeline</a:t>
                </a:r>
                <a:endParaRPr lang="en-US" sz="1400" dirty="0"/>
              </a:p>
            </p:txBody>
          </p:sp>
        </p:grpSp>
      </p:grpSp>
      <p:sp>
        <p:nvSpPr>
          <p:cNvPr id="21" name="Shape 0">
            <a:extLst>
              <a:ext uri="{FF2B5EF4-FFF2-40B4-BE49-F238E27FC236}">
                <a16:creationId xmlns:a16="http://schemas.microsoft.com/office/drawing/2014/main" id="{22014F8F-2FCC-CFDC-057C-7010A1F2C270}"/>
              </a:ext>
            </a:extLst>
          </p:cNvPr>
          <p:cNvSpPr/>
          <p:nvPr/>
        </p:nvSpPr>
        <p:spPr>
          <a:xfrm>
            <a:off x="0" y="0"/>
            <a:ext cx="12192000" cy="914400"/>
          </a:xfrm>
          <a:prstGeom prst="rect">
            <a:avLst/>
          </a:prstGeom>
          <a:solidFill>
            <a:srgbClr val="1E293B"/>
          </a:solidFill>
          <a:ln w="12700">
            <a:solidFill>
              <a:srgbClr val="1E293B"/>
            </a:solidFill>
            <a:prstDash val="solid"/>
          </a:ln>
        </p:spPr>
      </p:sp>
      <p:sp>
        <p:nvSpPr>
          <p:cNvPr id="22" name="Shape 1">
            <a:extLst>
              <a:ext uri="{FF2B5EF4-FFF2-40B4-BE49-F238E27FC236}">
                <a16:creationId xmlns:a16="http://schemas.microsoft.com/office/drawing/2014/main" id="{68997524-1F7E-2A5D-4DAC-CC7A09A518BF}"/>
              </a:ext>
            </a:extLst>
          </p:cNvPr>
          <p:cNvSpPr/>
          <p:nvPr/>
        </p:nvSpPr>
        <p:spPr>
          <a:xfrm>
            <a:off x="0" y="0"/>
            <a:ext cx="463296" cy="914400"/>
          </a:xfrm>
          <a:prstGeom prst="rect">
            <a:avLst/>
          </a:prstGeom>
          <a:solidFill>
            <a:srgbClr val="00B4D8"/>
          </a:solidFill>
          <a:ln w="12700">
            <a:solidFill>
              <a:srgbClr val="00B4D8"/>
            </a:solidFill>
            <a:prstDash val="solid"/>
          </a:ln>
        </p:spPr>
      </p:sp>
      <p:sp>
        <p:nvSpPr>
          <p:cNvPr id="23" name="Text 2">
            <a:extLst>
              <a:ext uri="{FF2B5EF4-FFF2-40B4-BE49-F238E27FC236}">
                <a16:creationId xmlns:a16="http://schemas.microsoft.com/office/drawing/2014/main" id="{FA85ED84-7558-6C52-B3FA-71686D88F6BF}"/>
              </a:ext>
            </a:extLst>
          </p:cNvPr>
          <p:cNvSpPr/>
          <p:nvPr/>
        </p:nvSpPr>
        <p:spPr>
          <a:xfrm>
            <a:off x="669277" y="10668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2: BUSINESS MODEL — FOUR-PILLAR PHARMACEUTICAL PLATFORM</a:t>
            </a:r>
          </a:p>
        </p:txBody>
      </p:sp>
      <p:sp>
        <p:nvSpPr>
          <p:cNvPr id="24" name="Text 2"/>
          <p:cNvSpPr/>
          <p:nvPr/>
        </p:nvSpPr>
        <p:spPr>
          <a:xfrm>
            <a:off x="656443" y="883920"/>
            <a:ext cx="10972800" cy="36576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Diabetes + Obesity + Oncology + Neuroscience + Immunology — five verticals, one engine</a:t>
            </a:r>
          </a:p>
        </p:txBody>
      </p:sp>
      <p:grpSp>
        <p:nvGrpSpPr>
          <p:cNvPr id="40" name="Group 39">
            <a:extLst>
              <a:ext uri="{FF2B5EF4-FFF2-40B4-BE49-F238E27FC236}">
                <a16:creationId xmlns:a16="http://schemas.microsoft.com/office/drawing/2014/main" id="{A2C6E70D-C810-88D6-B173-F4D502E08B2A}"/>
              </a:ext>
            </a:extLst>
          </p:cNvPr>
          <p:cNvGrpSpPr/>
          <p:nvPr/>
        </p:nvGrpSpPr>
        <p:grpSpPr>
          <a:xfrm>
            <a:off x="231006" y="1473479"/>
            <a:ext cx="11643360" cy="756592"/>
            <a:chOff x="231006" y="1409700"/>
            <a:chExt cx="11740896" cy="594360"/>
          </a:xfrm>
        </p:grpSpPr>
        <p:sp>
          <p:nvSpPr>
            <p:cNvPr id="31" name="Shape 5">
              <a:extLst>
                <a:ext uri="{FF2B5EF4-FFF2-40B4-BE49-F238E27FC236}">
                  <a16:creationId xmlns:a16="http://schemas.microsoft.com/office/drawing/2014/main" id="{ADF3257F-9FF0-2877-8044-8948FC1753DE}"/>
                </a:ext>
              </a:extLst>
            </p:cNvPr>
            <p:cNvSpPr/>
            <p:nvPr/>
          </p:nvSpPr>
          <p:spPr>
            <a:xfrm>
              <a:off x="231006" y="1409700"/>
              <a:ext cx="3785616" cy="594360"/>
            </a:xfrm>
            <a:prstGeom prst="rect">
              <a:avLst/>
            </a:prstGeom>
            <a:solidFill>
              <a:srgbClr val="222240"/>
            </a:solidFill>
            <a:ln w="12700">
              <a:solidFill>
                <a:srgbClr val="222240"/>
              </a:solidFill>
              <a:prstDash val="solid"/>
            </a:ln>
          </p:spPr>
        </p:sp>
        <p:sp>
          <p:nvSpPr>
            <p:cNvPr id="32" name="Text 6">
              <a:extLst>
                <a:ext uri="{FF2B5EF4-FFF2-40B4-BE49-F238E27FC236}">
                  <a16:creationId xmlns:a16="http://schemas.microsoft.com/office/drawing/2014/main" id="{08FFC949-2DD0-5273-1C6E-56B1D37D53F0}"/>
                </a:ext>
              </a:extLst>
            </p:cNvPr>
            <p:cNvSpPr/>
            <p:nvPr/>
          </p:nvSpPr>
          <p:spPr>
            <a:xfrm>
              <a:off x="322446" y="1427988"/>
              <a:ext cx="361188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Traditional Pharma (PFE, MRK, ABBV)</a:t>
              </a:r>
              <a:endParaRPr lang="en-US" sz="1600" dirty="0"/>
            </a:p>
          </p:txBody>
        </p:sp>
        <p:sp>
          <p:nvSpPr>
            <p:cNvPr id="33" name="Text 7">
              <a:extLst>
                <a:ext uri="{FF2B5EF4-FFF2-40B4-BE49-F238E27FC236}">
                  <a16:creationId xmlns:a16="http://schemas.microsoft.com/office/drawing/2014/main" id="{7F2C401A-8039-059D-D50E-DADB95B998D9}"/>
                </a:ext>
              </a:extLst>
            </p:cNvPr>
            <p:cNvSpPr/>
            <p:nvPr/>
          </p:nvSpPr>
          <p:spPr>
            <a:xfrm>
              <a:off x="322446" y="1674876"/>
              <a:ext cx="3611880" cy="29260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General primary care, diversified, lower growth, lower margins</a:t>
              </a:r>
              <a:endParaRPr lang="en-US" sz="1100" dirty="0">
                <a:solidFill>
                  <a:schemeClr val="bg1"/>
                </a:solidFill>
              </a:endParaRPr>
            </a:p>
          </p:txBody>
        </p:sp>
        <p:sp>
          <p:nvSpPr>
            <p:cNvPr id="34" name="Shape 8">
              <a:extLst>
                <a:ext uri="{FF2B5EF4-FFF2-40B4-BE49-F238E27FC236}">
                  <a16:creationId xmlns:a16="http://schemas.microsoft.com/office/drawing/2014/main" id="{E1EDB8D9-43E4-A351-B0F9-81933929B6F9}"/>
                </a:ext>
              </a:extLst>
            </p:cNvPr>
            <p:cNvSpPr/>
            <p:nvPr/>
          </p:nvSpPr>
          <p:spPr>
            <a:xfrm>
              <a:off x="4208646" y="1409700"/>
              <a:ext cx="3785616" cy="594360"/>
            </a:xfrm>
            <a:prstGeom prst="rect">
              <a:avLst/>
            </a:prstGeom>
            <a:solidFill>
              <a:srgbClr val="00C8C8"/>
            </a:solidFill>
            <a:ln w="12700">
              <a:solidFill>
                <a:srgbClr val="00C8C8"/>
              </a:solidFill>
              <a:prstDash val="solid"/>
            </a:ln>
          </p:spPr>
        </p:sp>
        <p:sp>
          <p:nvSpPr>
            <p:cNvPr id="35" name="Text 9">
              <a:extLst>
                <a:ext uri="{FF2B5EF4-FFF2-40B4-BE49-F238E27FC236}">
                  <a16:creationId xmlns:a16="http://schemas.microsoft.com/office/drawing/2014/main" id="{AFF63920-00BC-68E9-602B-E4D674A131AA}"/>
                </a:ext>
              </a:extLst>
            </p:cNvPr>
            <p:cNvSpPr/>
            <p:nvPr/>
          </p:nvSpPr>
          <p:spPr>
            <a:xfrm>
              <a:off x="4300086" y="1427988"/>
              <a:ext cx="3611880" cy="274320"/>
            </a:xfrm>
            <a:prstGeom prst="rect">
              <a:avLst/>
            </a:prstGeom>
            <a:noFill/>
            <a:ln/>
          </p:spPr>
          <p:txBody>
            <a:bodyPr wrap="square" rtlCol="0" anchor="ctr"/>
            <a:lstStyle/>
            <a:p>
              <a:pPr marL="0" indent="0">
                <a:buNone/>
              </a:pPr>
              <a:r>
                <a:rPr lang="en-US" sz="1600" b="1" dirty="0">
                  <a:solidFill>
                    <a:srgbClr val="000000"/>
                  </a:solidFill>
                  <a:latin typeface="Calibri" pitchFamily="34" charset="0"/>
                  <a:ea typeface="Calibri" pitchFamily="34" charset="-122"/>
                  <a:cs typeface="Calibri" pitchFamily="34" charset="-120"/>
                </a:rPr>
                <a:t>Eli Lilly (Specialty Growth Pharma)</a:t>
              </a:r>
              <a:endParaRPr lang="en-US" sz="1600" dirty="0"/>
            </a:p>
          </p:txBody>
        </p:sp>
        <p:sp>
          <p:nvSpPr>
            <p:cNvPr id="36" name="Text 10">
              <a:extLst>
                <a:ext uri="{FF2B5EF4-FFF2-40B4-BE49-F238E27FC236}">
                  <a16:creationId xmlns:a16="http://schemas.microsoft.com/office/drawing/2014/main" id="{3AAAA66A-AB02-E32A-149A-6889D53AF4FE}"/>
                </a:ext>
              </a:extLst>
            </p:cNvPr>
            <p:cNvSpPr/>
            <p:nvPr/>
          </p:nvSpPr>
          <p:spPr>
            <a:xfrm>
              <a:off x="4300086" y="1674876"/>
              <a:ext cx="3611880" cy="292608"/>
            </a:xfrm>
            <a:prstGeom prst="rect">
              <a:avLst/>
            </a:prstGeom>
            <a:noFill/>
            <a:ln/>
          </p:spPr>
          <p:txBody>
            <a:bodyPr wrap="square" rtlCol="0" anchor="ctr"/>
            <a:lstStyle/>
            <a:p>
              <a:pPr marL="0" indent="0">
                <a:buNone/>
              </a:pPr>
              <a:r>
                <a:rPr lang="en-US" sz="1100" dirty="0">
                  <a:solidFill>
                    <a:srgbClr val="0D1B3E"/>
                  </a:solidFill>
                  <a:latin typeface="Calibri" pitchFamily="34" charset="0"/>
                  <a:ea typeface="Calibri" pitchFamily="34" charset="-122"/>
                  <a:cs typeface="Calibri" pitchFamily="34" charset="-120"/>
                </a:rPr>
                <a:t>GLP-1 specialists, pipeline-driven, 83% gross margin, &gt;40% ROCE — best-in-class</a:t>
              </a:r>
              <a:endParaRPr lang="en-US" sz="1100" dirty="0"/>
            </a:p>
          </p:txBody>
        </p:sp>
        <p:sp>
          <p:nvSpPr>
            <p:cNvPr id="37" name="Shape 11">
              <a:extLst>
                <a:ext uri="{FF2B5EF4-FFF2-40B4-BE49-F238E27FC236}">
                  <a16:creationId xmlns:a16="http://schemas.microsoft.com/office/drawing/2014/main" id="{87CFA5B8-CFDC-A38A-0282-C6EA8C9E0651}"/>
                </a:ext>
              </a:extLst>
            </p:cNvPr>
            <p:cNvSpPr/>
            <p:nvPr/>
          </p:nvSpPr>
          <p:spPr>
            <a:xfrm>
              <a:off x="8186286" y="1409700"/>
              <a:ext cx="3785616" cy="594360"/>
            </a:xfrm>
            <a:prstGeom prst="rect">
              <a:avLst/>
            </a:prstGeom>
            <a:solidFill>
              <a:srgbClr val="222240"/>
            </a:solidFill>
            <a:ln w="12700">
              <a:solidFill>
                <a:srgbClr val="222240"/>
              </a:solidFill>
              <a:prstDash val="solid"/>
            </a:ln>
          </p:spPr>
        </p:sp>
        <p:sp>
          <p:nvSpPr>
            <p:cNvPr id="38" name="Text 12">
              <a:extLst>
                <a:ext uri="{FF2B5EF4-FFF2-40B4-BE49-F238E27FC236}">
                  <a16:creationId xmlns:a16="http://schemas.microsoft.com/office/drawing/2014/main" id="{A12F0CC8-3466-EF55-1C0A-19937A88FF68}"/>
                </a:ext>
              </a:extLst>
            </p:cNvPr>
            <p:cNvSpPr/>
            <p:nvPr/>
          </p:nvSpPr>
          <p:spPr>
            <a:xfrm>
              <a:off x="8277726" y="1427988"/>
              <a:ext cx="3611880" cy="2743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Market Gap Lilly Fills</a:t>
              </a:r>
              <a:endParaRPr lang="en-US" sz="1600" dirty="0"/>
            </a:p>
          </p:txBody>
        </p:sp>
        <p:sp>
          <p:nvSpPr>
            <p:cNvPr id="39" name="Text 13">
              <a:extLst>
                <a:ext uri="{FF2B5EF4-FFF2-40B4-BE49-F238E27FC236}">
                  <a16:creationId xmlns:a16="http://schemas.microsoft.com/office/drawing/2014/main" id="{375B99F8-99EF-E1CA-022B-F05858EB6FAB}"/>
                </a:ext>
              </a:extLst>
            </p:cNvPr>
            <p:cNvSpPr/>
            <p:nvPr/>
          </p:nvSpPr>
          <p:spPr>
            <a:xfrm>
              <a:off x="8277726" y="1674876"/>
              <a:ext cx="3611880" cy="292608"/>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The only pharma with #1 drug + 60%+ market share in fastest-growing Rx class</a:t>
              </a:r>
              <a:endParaRPr lang="en-US" sz="1100" dirty="0">
                <a:solidFill>
                  <a:schemeClr val="bg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5" name="Text 3"/>
          <p:cNvSpPr/>
          <p:nvPr/>
        </p:nvSpPr>
        <p:spPr>
          <a:xfrm>
            <a:off x="463296" y="978587"/>
            <a:ext cx="11612880" cy="256032"/>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From $28.5B (FY2022) to $65.2B (FY2025) — revenue nearly 3× in 3 years</a:t>
            </a: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grpSp>
        <p:nvGrpSpPr>
          <p:cNvPr id="112" name="Group 111">
            <a:extLst>
              <a:ext uri="{FF2B5EF4-FFF2-40B4-BE49-F238E27FC236}">
                <a16:creationId xmlns:a16="http://schemas.microsoft.com/office/drawing/2014/main" id="{44913943-ECCC-F8D2-EBC2-94A9FA734554}"/>
              </a:ext>
            </a:extLst>
          </p:cNvPr>
          <p:cNvGrpSpPr/>
          <p:nvPr/>
        </p:nvGrpSpPr>
        <p:grpSpPr>
          <a:xfrm>
            <a:off x="302910" y="1444752"/>
            <a:ext cx="11586180" cy="1280160"/>
            <a:chOff x="256032" y="841248"/>
            <a:chExt cx="11265408" cy="1280160"/>
          </a:xfrm>
        </p:grpSpPr>
        <p:sp>
          <p:nvSpPr>
            <p:cNvPr id="7" name="Shape 5"/>
            <p:cNvSpPr/>
            <p:nvPr/>
          </p:nvSpPr>
          <p:spPr>
            <a:xfrm>
              <a:off x="256032" y="841248"/>
              <a:ext cx="1755648" cy="1280160"/>
            </a:xfrm>
            <a:prstGeom prst="rect">
              <a:avLst/>
            </a:prstGeom>
            <a:solidFill>
              <a:srgbClr val="162040"/>
            </a:solidFill>
            <a:ln w="12700">
              <a:solidFill>
                <a:srgbClr val="162040"/>
              </a:solidFill>
              <a:prstDash val="solid"/>
            </a:ln>
          </p:spPr>
        </p:sp>
        <p:sp>
          <p:nvSpPr>
            <p:cNvPr id="8" name="Shape 6"/>
            <p:cNvSpPr/>
            <p:nvPr/>
          </p:nvSpPr>
          <p:spPr>
            <a:xfrm>
              <a:off x="256032" y="841248"/>
              <a:ext cx="1755648" cy="54864"/>
            </a:xfrm>
            <a:prstGeom prst="rect">
              <a:avLst/>
            </a:prstGeom>
            <a:solidFill>
              <a:srgbClr val="00C8C8"/>
            </a:solidFill>
            <a:ln w="12700">
              <a:solidFill>
                <a:srgbClr val="00C8C8"/>
              </a:solidFill>
              <a:prstDash val="solid"/>
            </a:ln>
          </p:spPr>
        </p:sp>
        <p:sp>
          <p:nvSpPr>
            <p:cNvPr id="9" name="Text 7"/>
            <p:cNvSpPr/>
            <p:nvPr/>
          </p:nvSpPr>
          <p:spPr>
            <a:xfrm>
              <a:off x="347472" y="932688"/>
              <a:ext cx="1572768"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FY2025 Revenue</a:t>
              </a:r>
              <a:endParaRPr lang="en-US" sz="1200" dirty="0">
                <a:solidFill>
                  <a:schemeClr val="bg1"/>
                </a:solidFill>
              </a:endParaRPr>
            </a:p>
          </p:txBody>
        </p:sp>
        <p:sp>
          <p:nvSpPr>
            <p:cNvPr id="10" name="Text 8"/>
            <p:cNvSpPr/>
            <p:nvPr/>
          </p:nvSpPr>
          <p:spPr>
            <a:xfrm>
              <a:off x="347472" y="1188720"/>
              <a:ext cx="1572768" cy="548640"/>
            </a:xfrm>
            <a:prstGeom prst="rect">
              <a:avLst/>
            </a:prstGeom>
            <a:noFill/>
            <a:ln/>
          </p:spPr>
          <p:txBody>
            <a:bodyPr wrap="square" rtlCol="0" anchor="ctr"/>
            <a:lstStyle/>
            <a:p>
              <a:pPr marL="0" indent="0">
                <a:buNone/>
              </a:pPr>
              <a:r>
                <a:rPr lang="en-US" sz="2000" b="1" dirty="0">
                  <a:solidFill>
                    <a:srgbClr val="00C8C8"/>
                  </a:solidFill>
                  <a:latin typeface="Calibri" pitchFamily="34" charset="0"/>
                  <a:ea typeface="Calibri" pitchFamily="34" charset="-122"/>
                  <a:cs typeface="Calibri" pitchFamily="34" charset="-120"/>
                </a:rPr>
                <a:t>$65.2B</a:t>
              </a:r>
              <a:endParaRPr lang="en-US" sz="2000" dirty="0"/>
            </a:p>
          </p:txBody>
        </p:sp>
        <p:sp>
          <p:nvSpPr>
            <p:cNvPr id="11" name="Text 9"/>
            <p:cNvSpPr/>
            <p:nvPr/>
          </p:nvSpPr>
          <p:spPr>
            <a:xfrm>
              <a:off x="347472" y="1755648"/>
              <a:ext cx="1572768" cy="25603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44.7% YoY</a:t>
              </a:r>
              <a:endParaRPr lang="en-US" sz="1200" dirty="0">
                <a:solidFill>
                  <a:schemeClr val="bg1"/>
                </a:solidFill>
              </a:endParaRPr>
            </a:p>
          </p:txBody>
        </p:sp>
        <p:sp>
          <p:nvSpPr>
            <p:cNvPr id="12" name="Shape 10"/>
            <p:cNvSpPr/>
            <p:nvPr/>
          </p:nvSpPr>
          <p:spPr>
            <a:xfrm>
              <a:off x="2157984" y="841248"/>
              <a:ext cx="1755648" cy="1280160"/>
            </a:xfrm>
            <a:prstGeom prst="rect">
              <a:avLst/>
            </a:prstGeom>
            <a:solidFill>
              <a:srgbClr val="162040"/>
            </a:solidFill>
            <a:ln w="12700">
              <a:solidFill>
                <a:srgbClr val="162040"/>
              </a:solidFill>
              <a:prstDash val="solid"/>
            </a:ln>
          </p:spPr>
        </p:sp>
        <p:sp>
          <p:nvSpPr>
            <p:cNvPr id="13" name="Shape 11"/>
            <p:cNvSpPr/>
            <p:nvPr/>
          </p:nvSpPr>
          <p:spPr>
            <a:xfrm>
              <a:off x="2157984" y="841248"/>
              <a:ext cx="1755648" cy="54864"/>
            </a:xfrm>
            <a:prstGeom prst="rect">
              <a:avLst/>
            </a:prstGeom>
            <a:solidFill>
              <a:srgbClr val="00C8C8"/>
            </a:solidFill>
            <a:ln w="12700">
              <a:solidFill>
                <a:srgbClr val="00C8C8"/>
              </a:solidFill>
              <a:prstDash val="solid"/>
            </a:ln>
          </p:spPr>
        </p:sp>
        <p:sp>
          <p:nvSpPr>
            <p:cNvPr id="14" name="Text 12"/>
            <p:cNvSpPr/>
            <p:nvPr/>
          </p:nvSpPr>
          <p:spPr>
            <a:xfrm>
              <a:off x="2249424" y="932688"/>
              <a:ext cx="1572768"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Q4 2025 Revenue</a:t>
              </a:r>
              <a:endParaRPr lang="en-US" sz="1200" dirty="0">
                <a:solidFill>
                  <a:schemeClr val="bg1"/>
                </a:solidFill>
              </a:endParaRPr>
            </a:p>
          </p:txBody>
        </p:sp>
        <p:sp>
          <p:nvSpPr>
            <p:cNvPr id="15" name="Text 13"/>
            <p:cNvSpPr/>
            <p:nvPr/>
          </p:nvSpPr>
          <p:spPr>
            <a:xfrm>
              <a:off x="2249424" y="1188720"/>
              <a:ext cx="1572768" cy="548640"/>
            </a:xfrm>
            <a:prstGeom prst="rect">
              <a:avLst/>
            </a:prstGeom>
            <a:noFill/>
            <a:ln/>
          </p:spPr>
          <p:txBody>
            <a:bodyPr wrap="square" rtlCol="0" anchor="ctr"/>
            <a:lstStyle/>
            <a:p>
              <a:pPr marL="0" indent="0">
                <a:buNone/>
              </a:pPr>
              <a:r>
                <a:rPr lang="en-US" sz="1700" b="1" dirty="0">
                  <a:solidFill>
                    <a:srgbClr val="00C8C8"/>
                  </a:solidFill>
                  <a:latin typeface="Calibri" pitchFamily="34" charset="0"/>
                  <a:ea typeface="Calibri" pitchFamily="34" charset="-122"/>
                  <a:cs typeface="Calibri" pitchFamily="34" charset="-120"/>
                </a:rPr>
                <a:t>~$16.5B</a:t>
              </a:r>
              <a:endParaRPr lang="en-US" sz="1700" dirty="0"/>
            </a:p>
          </p:txBody>
        </p:sp>
        <p:sp>
          <p:nvSpPr>
            <p:cNvPr id="16" name="Text 14"/>
            <p:cNvSpPr/>
            <p:nvPr/>
          </p:nvSpPr>
          <p:spPr>
            <a:xfrm>
              <a:off x="2249424" y="1755648"/>
              <a:ext cx="1572768" cy="25603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~$66B annualized</a:t>
              </a:r>
              <a:endParaRPr lang="en-US" sz="1200" dirty="0">
                <a:solidFill>
                  <a:schemeClr val="bg1"/>
                </a:solidFill>
              </a:endParaRPr>
            </a:p>
          </p:txBody>
        </p:sp>
        <p:sp>
          <p:nvSpPr>
            <p:cNvPr id="17" name="Shape 15"/>
            <p:cNvSpPr/>
            <p:nvPr/>
          </p:nvSpPr>
          <p:spPr>
            <a:xfrm>
              <a:off x="4059936" y="841248"/>
              <a:ext cx="1755648" cy="1280160"/>
            </a:xfrm>
            <a:prstGeom prst="rect">
              <a:avLst/>
            </a:prstGeom>
            <a:solidFill>
              <a:srgbClr val="162040"/>
            </a:solidFill>
            <a:ln w="12700">
              <a:solidFill>
                <a:srgbClr val="162040"/>
              </a:solidFill>
              <a:prstDash val="solid"/>
            </a:ln>
          </p:spPr>
        </p:sp>
        <p:sp>
          <p:nvSpPr>
            <p:cNvPr id="18" name="Shape 16"/>
            <p:cNvSpPr/>
            <p:nvPr/>
          </p:nvSpPr>
          <p:spPr>
            <a:xfrm>
              <a:off x="4059936" y="841248"/>
              <a:ext cx="1755648" cy="54864"/>
            </a:xfrm>
            <a:prstGeom prst="rect">
              <a:avLst/>
            </a:prstGeom>
            <a:solidFill>
              <a:srgbClr val="22C55E"/>
            </a:solidFill>
            <a:ln w="12700">
              <a:solidFill>
                <a:srgbClr val="22C55E"/>
              </a:solidFill>
              <a:prstDash val="solid"/>
            </a:ln>
          </p:spPr>
        </p:sp>
        <p:sp>
          <p:nvSpPr>
            <p:cNvPr id="19" name="Text 17"/>
            <p:cNvSpPr/>
            <p:nvPr/>
          </p:nvSpPr>
          <p:spPr>
            <a:xfrm>
              <a:off x="4151376" y="932688"/>
              <a:ext cx="1572768"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FY2025 Net Income</a:t>
              </a:r>
              <a:endParaRPr lang="en-US" sz="1200" dirty="0">
                <a:solidFill>
                  <a:schemeClr val="bg1"/>
                </a:solidFill>
              </a:endParaRPr>
            </a:p>
          </p:txBody>
        </p:sp>
        <p:sp>
          <p:nvSpPr>
            <p:cNvPr id="20" name="Text 18"/>
            <p:cNvSpPr/>
            <p:nvPr/>
          </p:nvSpPr>
          <p:spPr>
            <a:xfrm>
              <a:off x="4151376" y="1188720"/>
              <a:ext cx="1572768" cy="548640"/>
            </a:xfrm>
            <a:prstGeom prst="rect">
              <a:avLst/>
            </a:prstGeom>
            <a:noFill/>
            <a:ln/>
          </p:spPr>
          <p:txBody>
            <a:bodyPr wrap="square" rtlCol="0" anchor="ctr"/>
            <a:lstStyle/>
            <a:p>
              <a:pPr marL="0" indent="0">
                <a:buNone/>
              </a:pPr>
              <a:r>
                <a:rPr lang="en-US" sz="2000" b="1" dirty="0">
                  <a:solidFill>
                    <a:srgbClr val="22C55E"/>
                  </a:solidFill>
                  <a:latin typeface="Calibri" pitchFamily="34" charset="0"/>
                  <a:ea typeface="Calibri" pitchFamily="34" charset="-122"/>
                  <a:cs typeface="Calibri" pitchFamily="34" charset="-120"/>
                </a:rPr>
                <a:t>$21.8B</a:t>
              </a:r>
              <a:endParaRPr lang="en-US" sz="2000" dirty="0"/>
            </a:p>
          </p:txBody>
        </p:sp>
        <p:sp>
          <p:nvSpPr>
            <p:cNvPr id="21" name="Text 19"/>
            <p:cNvSpPr/>
            <p:nvPr/>
          </p:nvSpPr>
          <p:spPr>
            <a:xfrm>
              <a:off x="4151376" y="1755648"/>
              <a:ext cx="1572768" cy="25603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vs $5.8B FY2023</a:t>
              </a:r>
              <a:endParaRPr lang="en-US" sz="1200" dirty="0">
                <a:solidFill>
                  <a:schemeClr val="bg1"/>
                </a:solidFill>
              </a:endParaRPr>
            </a:p>
          </p:txBody>
        </p:sp>
        <p:sp>
          <p:nvSpPr>
            <p:cNvPr id="22" name="Shape 20"/>
            <p:cNvSpPr/>
            <p:nvPr/>
          </p:nvSpPr>
          <p:spPr>
            <a:xfrm>
              <a:off x="5961888" y="841248"/>
              <a:ext cx="1755648" cy="1280160"/>
            </a:xfrm>
            <a:prstGeom prst="rect">
              <a:avLst/>
            </a:prstGeom>
            <a:solidFill>
              <a:srgbClr val="162040"/>
            </a:solidFill>
            <a:ln w="12700">
              <a:solidFill>
                <a:srgbClr val="162040"/>
              </a:solidFill>
              <a:prstDash val="solid"/>
            </a:ln>
          </p:spPr>
        </p:sp>
        <p:sp>
          <p:nvSpPr>
            <p:cNvPr id="23" name="Shape 21"/>
            <p:cNvSpPr/>
            <p:nvPr/>
          </p:nvSpPr>
          <p:spPr>
            <a:xfrm>
              <a:off x="5961888" y="841248"/>
              <a:ext cx="1755648" cy="54864"/>
            </a:xfrm>
            <a:prstGeom prst="rect">
              <a:avLst/>
            </a:prstGeom>
            <a:solidFill>
              <a:srgbClr val="FFB800"/>
            </a:solidFill>
            <a:ln w="12700">
              <a:solidFill>
                <a:srgbClr val="FFB800"/>
              </a:solidFill>
              <a:prstDash val="solid"/>
            </a:ln>
          </p:spPr>
        </p:sp>
        <p:sp>
          <p:nvSpPr>
            <p:cNvPr id="24" name="Text 22"/>
            <p:cNvSpPr/>
            <p:nvPr/>
          </p:nvSpPr>
          <p:spPr>
            <a:xfrm>
              <a:off x="6053328" y="932688"/>
              <a:ext cx="1572768"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FY2025 EBITDA Mgn</a:t>
              </a:r>
              <a:endParaRPr lang="en-US" sz="1200" dirty="0">
                <a:solidFill>
                  <a:schemeClr val="bg1"/>
                </a:solidFill>
              </a:endParaRPr>
            </a:p>
          </p:txBody>
        </p:sp>
        <p:sp>
          <p:nvSpPr>
            <p:cNvPr id="25" name="Text 23"/>
            <p:cNvSpPr/>
            <p:nvPr/>
          </p:nvSpPr>
          <p:spPr>
            <a:xfrm>
              <a:off x="6053328" y="1188720"/>
              <a:ext cx="1572768" cy="548640"/>
            </a:xfrm>
            <a:prstGeom prst="rect">
              <a:avLst/>
            </a:prstGeom>
            <a:noFill/>
            <a:ln/>
          </p:spPr>
          <p:txBody>
            <a:bodyPr wrap="square" rtlCol="0" anchor="ctr"/>
            <a:lstStyle/>
            <a:p>
              <a:pPr marL="0" indent="0">
                <a:buNone/>
              </a:pPr>
              <a:r>
                <a:rPr lang="en-US" sz="2000" b="1" dirty="0">
                  <a:solidFill>
                    <a:srgbClr val="FFB800"/>
                  </a:solidFill>
                  <a:latin typeface="Calibri" pitchFamily="34" charset="0"/>
                  <a:ea typeface="Calibri" pitchFamily="34" charset="-122"/>
                  <a:cs typeface="Calibri" pitchFamily="34" charset="-120"/>
                </a:rPr>
                <a:t>~42%</a:t>
              </a:r>
              <a:endParaRPr lang="en-US" sz="2000" dirty="0"/>
            </a:p>
          </p:txBody>
        </p:sp>
        <p:sp>
          <p:nvSpPr>
            <p:cNvPr id="26" name="Text 24"/>
            <p:cNvSpPr/>
            <p:nvPr/>
          </p:nvSpPr>
          <p:spPr>
            <a:xfrm>
              <a:off x="6053328" y="1755648"/>
              <a:ext cx="1572768" cy="25603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Up from 28% FY2022</a:t>
              </a:r>
              <a:endParaRPr lang="en-US" sz="1200" dirty="0">
                <a:solidFill>
                  <a:schemeClr val="bg1"/>
                </a:solidFill>
              </a:endParaRPr>
            </a:p>
          </p:txBody>
        </p:sp>
        <p:sp>
          <p:nvSpPr>
            <p:cNvPr id="27" name="Shape 25"/>
            <p:cNvSpPr/>
            <p:nvPr/>
          </p:nvSpPr>
          <p:spPr>
            <a:xfrm>
              <a:off x="7863840" y="841248"/>
              <a:ext cx="1755648" cy="1280160"/>
            </a:xfrm>
            <a:prstGeom prst="rect">
              <a:avLst/>
            </a:prstGeom>
            <a:solidFill>
              <a:srgbClr val="162040"/>
            </a:solidFill>
            <a:ln w="12700">
              <a:solidFill>
                <a:srgbClr val="162040"/>
              </a:solidFill>
              <a:prstDash val="solid"/>
            </a:ln>
          </p:spPr>
        </p:sp>
        <p:sp>
          <p:nvSpPr>
            <p:cNvPr id="28" name="Shape 26"/>
            <p:cNvSpPr/>
            <p:nvPr/>
          </p:nvSpPr>
          <p:spPr>
            <a:xfrm>
              <a:off x="7863840" y="841248"/>
              <a:ext cx="1755648" cy="54864"/>
            </a:xfrm>
            <a:prstGeom prst="rect">
              <a:avLst/>
            </a:prstGeom>
            <a:solidFill>
              <a:srgbClr val="3B82F6"/>
            </a:solidFill>
            <a:ln w="12700">
              <a:solidFill>
                <a:srgbClr val="3B82F6"/>
              </a:solidFill>
              <a:prstDash val="solid"/>
            </a:ln>
          </p:spPr>
        </p:sp>
        <p:sp>
          <p:nvSpPr>
            <p:cNvPr id="29" name="Text 27"/>
            <p:cNvSpPr/>
            <p:nvPr/>
          </p:nvSpPr>
          <p:spPr>
            <a:xfrm>
              <a:off x="7955280" y="932688"/>
              <a:ext cx="1572768"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Cash &amp; Equivalents</a:t>
              </a:r>
              <a:endParaRPr lang="en-US" sz="1200" dirty="0">
                <a:solidFill>
                  <a:schemeClr val="bg1"/>
                </a:solidFill>
              </a:endParaRPr>
            </a:p>
          </p:txBody>
        </p:sp>
        <p:sp>
          <p:nvSpPr>
            <p:cNvPr id="30" name="Text 28"/>
            <p:cNvSpPr/>
            <p:nvPr/>
          </p:nvSpPr>
          <p:spPr>
            <a:xfrm>
              <a:off x="7955280" y="1188720"/>
              <a:ext cx="1572768" cy="548640"/>
            </a:xfrm>
            <a:prstGeom prst="rect">
              <a:avLst/>
            </a:prstGeom>
            <a:noFill/>
            <a:ln/>
          </p:spPr>
          <p:txBody>
            <a:bodyPr wrap="square" rtlCol="0" anchor="ctr"/>
            <a:lstStyle/>
            <a:p>
              <a:pPr marL="0" indent="0">
                <a:buNone/>
              </a:pPr>
              <a:r>
                <a:rPr lang="en-US" sz="2000" b="1" dirty="0">
                  <a:solidFill>
                    <a:srgbClr val="3B82F6"/>
                  </a:solidFill>
                  <a:latin typeface="Calibri" pitchFamily="34" charset="0"/>
                  <a:ea typeface="Calibri" pitchFamily="34" charset="-122"/>
                  <a:cs typeface="Calibri" pitchFamily="34" charset="-120"/>
                </a:rPr>
                <a:t>~$3.2B</a:t>
              </a:r>
              <a:endParaRPr lang="en-US" sz="2000" dirty="0"/>
            </a:p>
          </p:txBody>
        </p:sp>
        <p:sp>
          <p:nvSpPr>
            <p:cNvPr id="31" name="Text 29"/>
            <p:cNvSpPr/>
            <p:nvPr/>
          </p:nvSpPr>
          <p:spPr>
            <a:xfrm>
              <a:off x="7955280" y="1755648"/>
              <a:ext cx="1572768" cy="25603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Dec 2025 est.</a:t>
              </a:r>
              <a:endParaRPr lang="en-US" sz="1200" dirty="0">
                <a:solidFill>
                  <a:schemeClr val="bg1"/>
                </a:solidFill>
              </a:endParaRPr>
            </a:p>
          </p:txBody>
        </p:sp>
        <p:sp>
          <p:nvSpPr>
            <p:cNvPr id="32" name="Shape 30"/>
            <p:cNvSpPr/>
            <p:nvPr/>
          </p:nvSpPr>
          <p:spPr>
            <a:xfrm>
              <a:off x="9765792" y="841248"/>
              <a:ext cx="1755648" cy="1280160"/>
            </a:xfrm>
            <a:prstGeom prst="rect">
              <a:avLst/>
            </a:prstGeom>
            <a:solidFill>
              <a:srgbClr val="162040"/>
            </a:solidFill>
            <a:ln w="12700">
              <a:solidFill>
                <a:srgbClr val="162040"/>
              </a:solidFill>
              <a:prstDash val="solid"/>
            </a:ln>
          </p:spPr>
        </p:sp>
        <p:sp>
          <p:nvSpPr>
            <p:cNvPr id="33" name="Shape 31"/>
            <p:cNvSpPr/>
            <p:nvPr/>
          </p:nvSpPr>
          <p:spPr>
            <a:xfrm>
              <a:off x="9765792" y="841248"/>
              <a:ext cx="1755648" cy="54864"/>
            </a:xfrm>
            <a:prstGeom prst="rect">
              <a:avLst/>
            </a:prstGeom>
            <a:solidFill>
              <a:srgbClr val="8B5CF6"/>
            </a:solidFill>
            <a:ln w="12700">
              <a:solidFill>
                <a:srgbClr val="8B5CF6"/>
              </a:solidFill>
              <a:prstDash val="solid"/>
            </a:ln>
          </p:spPr>
        </p:sp>
        <p:sp>
          <p:nvSpPr>
            <p:cNvPr id="34" name="Text 32"/>
            <p:cNvSpPr/>
            <p:nvPr/>
          </p:nvSpPr>
          <p:spPr>
            <a:xfrm>
              <a:off x="9857232" y="932688"/>
              <a:ext cx="1572768"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FY2026 EPS Guide</a:t>
              </a:r>
              <a:endParaRPr lang="en-US" sz="1200" dirty="0">
                <a:solidFill>
                  <a:schemeClr val="bg1"/>
                </a:solidFill>
              </a:endParaRPr>
            </a:p>
          </p:txBody>
        </p:sp>
        <p:sp>
          <p:nvSpPr>
            <p:cNvPr id="35" name="Text 33"/>
            <p:cNvSpPr/>
            <p:nvPr/>
          </p:nvSpPr>
          <p:spPr>
            <a:xfrm>
              <a:off x="9857232" y="1188720"/>
              <a:ext cx="1572768" cy="548640"/>
            </a:xfrm>
            <a:prstGeom prst="rect">
              <a:avLst/>
            </a:prstGeom>
            <a:noFill/>
            <a:ln/>
          </p:spPr>
          <p:txBody>
            <a:bodyPr wrap="square" rtlCol="0" anchor="ctr"/>
            <a:lstStyle/>
            <a:p>
              <a:pPr marL="0" indent="0">
                <a:buNone/>
              </a:pPr>
              <a:r>
                <a:rPr lang="en-US" sz="1700" b="1" dirty="0">
                  <a:solidFill>
                    <a:srgbClr val="8B5CF6"/>
                  </a:solidFill>
                  <a:latin typeface="Calibri" pitchFamily="34" charset="0"/>
                  <a:ea typeface="Calibri" pitchFamily="34" charset="-122"/>
                  <a:cs typeface="Calibri" pitchFamily="34" charset="-120"/>
                </a:rPr>
                <a:t>$33.50–35</a:t>
              </a:r>
              <a:endParaRPr lang="en-US" sz="1700" dirty="0"/>
            </a:p>
          </p:txBody>
        </p:sp>
        <p:sp>
          <p:nvSpPr>
            <p:cNvPr id="36" name="Text 34"/>
            <p:cNvSpPr/>
            <p:nvPr/>
          </p:nvSpPr>
          <p:spPr>
            <a:xfrm>
              <a:off x="9857232" y="1755648"/>
              <a:ext cx="1572768" cy="25603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non-GAAP; +40% YoY</a:t>
              </a:r>
              <a:endParaRPr lang="en-US" sz="1200" dirty="0">
                <a:solidFill>
                  <a:schemeClr val="bg1"/>
                </a:solidFill>
              </a:endParaRPr>
            </a:p>
          </p:txBody>
        </p:sp>
      </p:grpSp>
      <p:graphicFrame>
        <p:nvGraphicFramePr>
          <p:cNvPr id="37" name="Chart 0"/>
          <p:cNvGraphicFramePr/>
          <p:nvPr>
            <p:extLst>
              <p:ext uri="{D42A27DB-BD31-4B8C-83A1-F6EECF244321}">
                <p14:modId xmlns:p14="http://schemas.microsoft.com/office/powerpoint/2010/main" val="4287309041"/>
              </p:ext>
            </p:extLst>
          </p:nvPr>
        </p:nvGraphicFramePr>
        <p:xfrm>
          <a:off x="256032" y="3134591"/>
          <a:ext cx="4445783"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0" name="Text 107"/>
          <p:cNvSpPr/>
          <p:nvPr/>
        </p:nvSpPr>
        <p:spPr>
          <a:xfrm>
            <a:off x="256032" y="6565392"/>
            <a:ext cx="11612880" cy="219456"/>
          </a:xfrm>
          <a:prstGeom prst="rect">
            <a:avLst/>
          </a:prstGeom>
          <a:noFill/>
          <a:ln/>
        </p:spPr>
        <p:txBody>
          <a:bodyPr wrap="square" rtlCol="0" anchor="ctr"/>
          <a:lstStyle/>
          <a:p>
            <a:pPr marL="0" indent="0">
              <a:buNone/>
            </a:pPr>
            <a:r>
              <a:rPr lang="en-US" sz="850" i="1" dirty="0">
                <a:latin typeface="Calibri" pitchFamily="34" charset="0"/>
                <a:ea typeface="Calibri" pitchFamily="34" charset="-122"/>
                <a:cs typeface="Calibri" pitchFamily="34" charset="-120"/>
              </a:rPr>
              <a:t>Sources: SEC 10-K FY2021–2025, Q4 2025 Earnings Release (Feb 4 2026), Macrotrends, Bloomberg</a:t>
            </a:r>
            <a:endParaRPr lang="en-US" sz="850" dirty="0"/>
          </a:p>
        </p:txBody>
      </p:sp>
      <p:sp>
        <p:nvSpPr>
          <p:cNvPr id="113" name="Shape 0">
            <a:extLst>
              <a:ext uri="{FF2B5EF4-FFF2-40B4-BE49-F238E27FC236}">
                <a16:creationId xmlns:a16="http://schemas.microsoft.com/office/drawing/2014/main" id="{7AB647DD-6395-8EB7-858D-C35696581EDF}"/>
              </a:ext>
            </a:extLst>
          </p:cNvPr>
          <p:cNvSpPr/>
          <p:nvPr/>
        </p:nvSpPr>
        <p:spPr>
          <a:xfrm>
            <a:off x="0" y="0"/>
            <a:ext cx="12192000" cy="914400"/>
          </a:xfrm>
          <a:prstGeom prst="rect">
            <a:avLst/>
          </a:prstGeom>
          <a:solidFill>
            <a:srgbClr val="1E293B"/>
          </a:solidFill>
          <a:ln w="12700">
            <a:solidFill>
              <a:srgbClr val="1E293B"/>
            </a:solidFill>
            <a:prstDash val="solid"/>
          </a:ln>
        </p:spPr>
      </p:sp>
      <p:sp>
        <p:nvSpPr>
          <p:cNvPr id="114" name="Shape 1">
            <a:extLst>
              <a:ext uri="{FF2B5EF4-FFF2-40B4-BE49-F238E27FC236}">
                <a16:creationId xmlns:a16="http://schemas.microsoft.com/office/drawing/2014/main" id="{171640F1-38A7-BDDF-BD47-9BFBBACACB9D}"/>
              </a:ext>
            </a:extLst>
          </p:cNvPr>
          <p:cNvSpPr/>
          <p:nvPr/>
        </p:nvSpPr>
        <p:spPr>
          <a:xfrm>
            <a:off x="0" y="0"/>
            <a:ext cx="463296" cy="914400"/>
          </a:xfrm>
          <a:prstGeom prst="rect">
            <a:avLst/>
          </a:prstGeom>
          <a:solidFill>
            <a:srgbClr val="00B4D8"/>
          </a:solidFill>
          <a:ln w="12700">
            <a:solidFill>
              <a:srgbClr val="00B4D8"/>
            </a:solidFill>
            <a:prstDash val="solid"/>
          </a:ln>
        </p:spPr>
      </p:sp>
      <p:sp>
        <p:nvSpPr>
          <p:cNvPr id="115" name="Text 2">
            <a:extLst>
              <a:ext uri="{FF2B5EF4-FFF2-40B4-BE49-F238E27FC236}">
                <a16:creationId xmlns:a16="http://schemas.microsoft.com/office/drawing/2014/main" id="{D7D51997-A056-7D87-CA90-E16C6765E9A6}"/>
              </a:ext>
            </a:extLst>
          </p:cNvPr>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3: FINANCIAL ANALYSIS</a:t>
            </a:r>
            <a:endParaRPr lang="en-US" sz="2267" dirty="0"/>
          </a:p>
        </p:txBody>
      </p:sp>
      <p:grpSp>
        <p:nvGrpSpPr>
          <p:cNvPr id="133" name="Group 132">
            <a:extLst>
              <a:ext uri="{FF2B5EF4-FFF2-40B4-BE49-F238E27FC236}">
                <a16:creationId xmlns:a16="http://schemas.microsoft.com/office/drawing/2014/main" id="{15235787-A122-EC5D-6F4B-779F58843ECD}"/>
              </a:ext>
            </a:extLst>
          </p:cNvPr>
          <p:cNvGrpSpPr/>
          <p:nvPr/>
        </p:nvGrpSpPr>
        <p:grpSpPr>
          <a:xfrm>
            <a:off x="4915175" y="3195245"/>
            <a:ext cx="7015855" cy="2956862"/>
            <a:chOff x="5806440" y="2337324"/>
            <a:chExt cx="8366760" cy="3383083"/>
          </a:xfrm>
        </p:grpSpPr>
        <p:sp>
          <p:nvSpPr>
            <p:cNvPr id="134" name="Shape 35">
              <a:extLst>
                <a:ext uri="{FF2B5EF4-FFF2-40B4-BE49-F238E27FC236}">
                  <a16:creationId xmlns:a16="http://schemas.microsoft.com/office/drawing/2014/main" id="{50B01AFD-273A-A688-AEDB-E25DAA55AEBF}"/>
                </a:ext>
              </a:extLst>
            </p:cNvPr>
            <p:cNvSpPr/>
            <p:nvPr/>
          </p:nvSpPr>
          <p:spPr>
            <a:xfrm>
              <a:off x="5806440" y="2337324"/>
              <a:ext cx="8366760" cy="365760"/>
            </a:xfrm>
            <a:prstGeom prst="rect">
              <a:avLst/>
            </a:prstGeom>
            <a:solidFill>
              <a:srgbClr val="0D1B3E"/>
            </a:solidFill>
            <a:ln w="12700">
              <a:solidFill>
                <a:srgbClr val="0D1B3E"/>
              </a:solidFill>
              <a:prstDash val="solid"/>
            </a:ln>
          </p:spPr>
        </p:sp>
        <p:sp>
          <p:nvSpPr>
            <p:cNvPr id="135" name="Text 36">
              <a:extLst>
                <a:ext uri="{FF2B5EF4-FFF2-40B4-BE49-F238E27FC236}">
                  <a16:creationId xmlns:a16="http://schemas.microsoft.com/office/drawing/2014/main" id="{5940420F-E2A7-0AB1-4B0A-6D31B15A3656}"/>
                </a:ext>
              </a:extLst>
            </p:cNvPr>
            <p:cNvSpPr/>
            <p:nvPr/>
          </p:nvSpPr>
          <p:spPr>
            <a:xfrm>
              <a:off x="5861304" y="2359152"/>
              <a:ext cx="173736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136" name="Text 37">
              <a:extLst>
                <a:ext uri="{FF2B5EF4-FFF2-40B4-BE49-F238E27FC236}">
                  <a16:creationId xmlns:a16="http://schemas.microsoft.com/office/drawing/2014/main" id="{19BC21CF-CD29-091B-48BF-9BD6015A1ABD}"/>
                </a:ext>
              </a:extLst>
            </p:cNvPr>
            <p:cNvSpPr/>
            <p:nvPr/>
          </p:nvSpPr>
          <p:spPr>
            <a:xfrm>
              <a:off x="7690104" y="2359152"/>
              <a:ext cx="8686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FY2022</a:t>
              </a:r>
              <a:endParaRPr lang="en-US" sz="1200" dirty="0"/>
            </a:p>
          </p:txBody>
        </p:sp>
        <p:sp>
          <p:nvSpPr>
            <p:cNvPr id="137" name="Text 38">
              <a:extLst>
                <a:ext uri="{FF2B5EF4-FFF2-40B4-BE49-F238E27FC236}">
                  <a16:creationId xmlns:a16="http://schemas.microsoft.com/office/drawing/2014/main" id="{7A2B6663-CE30-6EC7-C324-51FA1CFD5B73}"/>
                </a:ext>
              </a:extLst>
            </p:cNvPr>
            <p:cNvSpPr/>
            <p:nvPr/>
          </p:nvSpPr>
          <p:spPr>
            <a:xfrm>
              <a:off x="8650224" y="2359152"/>
              <a:ext cx="8686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FY2023</a:t>
              </a:r>
              <a:endParaRPr lang="en-US" sz="1200" dirty="0"/>
            </a:p>
          </p:txBody>
        </p:sp>
        <p:sp>
          <p:nvSpPr>
            <p:cNvPr id="138" name="Text 39">
              <a:extLst>
                <a:ext uri="{FF2B5EF4-FFF2-40B4-BE49-F238E27FC236}">
                  <a16:creationId xmlns:a16="http://schemas.microsoft.com/office/drawing/2014/main" id="{9CB978BA-82C8-A9CF-8B2D-30C0B2564C0A}"/>
                </a:ext>
              </a:extLst>
            </p:cNvPr>
            <p:cNvSpPr/>
            <p:nvPr/>
          </p:nvSpPr>
          <p:spPr>
            <a:xfrm>
              <a:off x="9610344" y="2359152"/>
              <a:ext cx="8686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p>
          </p:txBody>
        </p:sp>
        <p:sp>
          <p:nvSpPr>
            <p:cNvPr id="139" name="Text 40">
              <a:extLst>
                <a:ext uri="{FF2B5EF4-FFF2-40B4-BE49-F238E27FC236}">
                  <a16:creationId xmlns:a16="http://schemas.microsoft.com/office/drawing/2014/main" id="{866C9981-1B6B-D3E8-3CD9-C24EEBA95058}"/>
                </a:ext>
              </a:extLst>
            </p:cNvPr>
            <p:cNvSpPr/>
            <p:nvPr/>
          </p:nvSpPr>
          <p:spPr>
            <a:xfrm>
              <a:off x="10570464" y="2359152"/>
              <a:ext cx="9144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p>
          </p:txBody>
        </p:sp>
        <p:sp>
          <p:nvSpPr>
            <p:cNvPr id="140" name="Text 41">
              <a:extLst>
                <a:ext uri="{FF2B5EF4-FFF2-40B4-BE49-F238E27FC236}">
                  <a16:creationId xmlns:a16="http://schemas.microsoft.com/office/drawing/2014/main" id="{5F450549-9B6F-5D92-47AB-4D4AC4746DC7}"/>
                </a:ext>
              </a:extLst>
            </p:cNvPr>
            <p:cNvSpPr/>
            <p:nvPr/>
          </p:nvSpPr>
          <p:spPr>
            <a:xfrm>
              <a:off x="11576304" y="2359152"/>
              <a:ext cx="105156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FY2026E</a:t>
              </a:r>
              <a:endParaRPr lang="en-US" sz="1200" dirty="0"/>
            </a:p>
          </p:txBody>
        </p:sp>
        <p:sp>
          <p:nvSpPr>
            <p:cNvPr id="141" name="Text 42">
              <a:extLst>
                <a:ext uri="{FF2B5EF4-FFF2-40B4-BE49-F238E27FC236}">
                  <a16:creationId xmlns:a16="http://schemas.microsoft.com/office/drawing/2014/main" id="{BCCA3327-4948-1C5E-E235-7AE8015DF4E8}"/>
                </a:ext>
              </a:extLst>
            </p:cNvPr>
            <p:cNvSpPr/>
            <p:nvPr/>
          </p:nvSpPr>
          <p:spPr>
            <a:xfrm>
              <a:off x="12719304" y="2359152"/>
              <a:ext cx="141732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Trend</a:t>
              </a:r>
              <a:endParaRPr lang="en-US" sz="1200" dirty="0"/>
            </a:p>
          </p:txBody>
        </p:sp>
        <p:sp>
          <p:nvSpPr>
            <p:cNvPr id="142" name="Shape 43">
              <a:extLst>
                <a:ext uri="{FF2B5EF4-FFF2-40B4-BE49-F238E27FC236}">
                  <a16:creationId xmlns:a16="http://schemas.microsoft.com/office/drawing/2014/main" id="{CB26F5B9-414A-0DC9-08D6-C93CDF9CE33B}"/>
                </a:ext>
              </a:extLst>
            </p:cNvPr>
            <p:cNvSpPr/>
            <p:nvPr/>
          </p:nvSpPr>
          <p:spPr>
            <a:xfrm>
              <a:off x="5806440" y="2710361"/>
              <a:ext cx="8366760" cy="365759"/>
            </a:xfrm>
            <a:prstGeom prst="rect">
              <a:avLst/>
            </a:prstGeom>
            <a:solidFill>
              <a:srgbClr val="0F1A30"/>
            </a:solidFill>
            <a:ln w="12700">
              <a:solidFill>
                <a:srgbClr val="0F1A30"/>
              </a:solidFill>
              <a:prstDash val="solid"/>
            </a:ln>
          </p:spPr>
        </p:sp>
        <p:sp>
          <p:nvSpPr>
            <p:cNvPr id="143" name="Text 44">
              <a:extLst>
                <a:ext uri="{FF2B5EF4-FFF2-40B4-BE49-F238E27FC236}">
                  <a16:creationId xmlns:a16="http://schemas.microsoft.com/office/drawing/2014/main" id="{07FFB34C-CAC8-9509-3C6D-162C1373C7D4}"/>
                </a:ext>
              </a:extLst>
            </p:cNvPr>
            <p:cNvSpPr/>
            <p:nvPr/>
          </p:nvSpPr>
          <p:spPr>
            <a:xfrm>
              <a:off x="5861304" y="2743200"/>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Revenue ($B)</a:t>
              </a:r>
              <a:endParaRPr lang="en-US" sz="1100" dirty="0"/>
            </a:p>
          </p:txBody>
        </p:sp>
        <p:sp>
          <p:nvSpPr>
            <p:cNvPr id="144" name="Text 45">
              <a:extLst>
                <a:ext uri="{FF2B5EF4-FFF2-40B4-BE49-F238E27FC236}">
                  <a16:creationId xmlns:a16="http://schemas.microsoft.com/office/drawing/2014/main" id="{03F169D6-C62F-54CE-53D6-7D9006018AD4}"/>
                </a:ext>
              </a:extLst>
            </p:cNvPr>
            <p:cNvSpPr/>
            <p:nvPr/>
          </p:nvSpPr>
          <p:spPr>
            <a:xfrm>
              <a:off x="7690104" y="2743200"/>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$28.5</a:t>
              </a:r>
              <a:endParaRPr lang="en-US" sz="1100" dirty="0"/>
            </a:p>
          </p:txBody>
        </p:sp>
        <p:sp>
          <p:nvSpPr>
            <p:cNvPr id="145" name="Text 46">
              <a:extLst>
                <a:ext uri="{FF2B5EF4-FFF2-40B4-BE49-F238E27FC236}">
                  <a16:creationId xmlns:a16="http://schemas.microsoft.com/office/drawing/2014/main" id="{68E0E5DA-6B61-DF26-1693-DA857573727D}"/>
                </a:ext>
              </a:extLst>
            </p:cNvPr>
            <p:cNvSpPr/>
            <p:nvPr/>
          </p:nvSpPr>
          <p:spPr>
            <a:xfrm>
              <a:off x="8650224" y="2743200"/>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$34.1</a:t>
              </a:r>
              <a:endParaRPr lang="en-US" sz="1100" dirty="0"/>
            </a:p>
          </p:txBody>
        </p:sp>
        <p:sp>
          <p:nvSpPr>
            <p:cNvPr id="146" name="Text 47">
              <a:extLst>
                <a:ext uri="{FF2B5EF4-FFF2-40B4-BE49-F238E27FC236}">
                  <a16:creationId xmlns:a16="http://schemas.microsoft.com/office/drawing/2014/main" id="{565D9E35-1759-F58D-25BF-974DAC1A2AEC}"/>
                </a:ext>
              </a:extLst>
            </p:cNvPr>
            <p:cNvSpPr/>
            <p:nvPr/>
          </p:nvSpPr>
          <p:spPr>
            <a:xfrm>
              <a:off x="9610344" y="2743200"/>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$45.0</a:t>
              </a:r>
              <a:endParaRPr lang="en-US" sz="1100" dirty="0"/>
            </a:p>
          </p:txBody>
        </p:sp>
        <p:sp>
          <p:nvSpPr>
            <p:cNvPr id="147" name="Text 48">
              <a:extLst>
                <a:ext uri="{FF2B5EF4-FFF2-40B4-BE49-F238E27FC236}">
                  <a16:creationId xmlns:a16="http://schemas.microsoft.com/office/drawing/2014/main" id="{2B4F5FAC-51C9-EF12-021C-25FAE739F9FD}"/>
                </a:ext>
              </a:extLst>
            </p:cNvPr>
            <p:cNvSpPr/>
            <p:nvPr/>
          </p:nvSpPr>
          <p:spPr>
            <a:xfrm>
              <a:off x="10570464" y="2743200"/>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$65.2</a:t>
              </a:r>
              <a:endParaRPr lang="en-US" sz="1100" dirty="0"/>
            </a:p>
          </p:txBody>
        </p:sp>
        <p:sp>
          <p:nvSpPr>
            <p:cNvPr id="148" name="Text 49">
              <a:extLst>
                <a:ext uri="{FF2B5EF4-FFF2-40B4-BE49-F238E27FC236}">
                  <a16:creationId xmlns:a16="http://schemas.microsoft.com/office/drawing/2014/main" id="{15F154AC-86BD-F2E6-A2CE-DF82F7404FD1}"/>
                </a:ext>
              </a:extLst>
            </p:cNvPr>
            <p:cNvSpPr/>
            <p:nvPr/>
          </p:nvSpPr>
          <p:spPr>
            <a:xfrm>
              <a:off x="11576304" y="2743200"/>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$81.5E</a:t>
              </a:r>
              <a:endParaRPr lang="en-US" sz="1100" dirty="0"/>
            </a:p>
          </p:txBody>
        </p:sp>
        <p:sp>
          <p:nvSpPr>
            <p:cNvPr id="149" name="Text 50">
              <a:extLst>
                <a:ext uri="{FF2B5EF4-FFF2-40B4-BE49-F238E27FC236}">
                  <a16:creationId xmlns:a16="http://schemas.microsoft.com/office/drawing/2014/main" id="{32AA9DB6-5483-B565-8668-166C6C8A5AFF}"/>
                </a:ext>
              </a:extLst>
            </p:cNvPr>
            <p:cNvSpPr/>
            <p:nvPr/>
          </p:nvSpPr>
          <p:spPr>
            <a:xfrm>
              <a:off x="12719304" y="2743200"/>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+44.7% YoY</a:t>
              </a:r>
              <a:endParaRPr lang="en-US" sz="1100" dirty="0"/>
            </a:p>
          </p:txBody>
        </p:sp>
        <p:sp>
          <p:nvSpPr>
            <p:cNvPr id="150" name="Shape 51">
              <a:extLst>
                <a:ext uri="{FF2B5EF4-FFF2-40B4-BE49-F238E27FC236}">
                  <a16:creationId xmlns:a16="http://schemas.microsoft.com/office/drawing/2014/main" id="{5F5B5F36-03B1-CB73-C01B-02168FE7A8D2}"/>
                </a:ext>
              </a:extLst>
            </p:cNvPr>
            <p:cNvSpPr/>
            <p:nvPr/>
          </p:nvSpPr>
          <p:spPr>
            <a:xfrm>
              <a:off x="5806440" y="3083396"/>
              <a:ext cx="8366760" cy="365760"/>
            </a:xfrm>
            <a:prstGeom prst="rect">
              <a:avLst/>
            </a:prstGeom>
            <a:solidFill>
              <a:srgbClr val="162040"/>
            </a:solidFill>
            <a:ln w="12700">
              <a:solidFill>
                <a:srgbClr val="162040"/>
              </a:solidFill>
              <a:prstDash val="solid"/>
            </a:ln>
          </p:spPr>
        </p:sp>
        <p:sp>
          <p:nvSpPr>
            <p:cNvPr id="151" name="Text 52">
              <a:extLst>
                <a:ext uri="{FF2B5EF4-FFF2-40B4-BE49-F238E27FC236}">
                  <a16:creationId xmlns:a16="http://schemas.microsoft.com/office/drawing/2014/main" id="{A0DC67E0-0918-2E51-D7B9-39A3EBFDC714}"/>
                </a:ext>
              </a:extLst>
            </p:cNvPr>
            <p:cNvSpPr/>
            <p:nvPr/>
          </p:nvSpPr>
          <p:spPr>
            <a:xfrm>
              <a:off x="5861304" y="3127248"/>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Gross Margin</a:t>
              </a:r>
              <a:endParaRPr lang="en-US" sz="1100" dirty="0"/>
            </a:p>
          </p:txBody>
        </p:sp>
        <p:sp>
          <p:nvSpPr>
            <p:cNvPr id="152" name="Text 53">
              <a:extLst>
                <a:ext uri="{FF2B5EF4-FFF2-40B4-BE49-F238E27FC236}">
                  <a16:creationId xmlns:a16="http://schemas.microsoft.com/office/drawing/2014/main" id="{486D50F1-6199-2F5E-6D2D-1193B4F3772B}"/>
                </a:ext>
              </a:extLst>
            </p:cNvPr>
            <p:cNvSpPr/>
            <p:nvPr/>
          </p:nvSpPr>
          <p:spPr>
            <a:xfrm>
              <a:off x="7690104" y="3127248"/>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68%</a:t>
              </a:r>
              <a:endParaRPr lang="en-US" sz="1100" dirty="0"/>
            </a:p>
          </p:txBody>
        </p:sp>
        <p:sp>
          <p:nvSpPr>
            <p:cNvPr id="153" name="Text 54">
              <a:extLst>
                <a:ext uri="{FF2B5EF4-FFF2-40B4-BE49-F238E27FC236}">
                  <a16:creationId xmlns:a16="http://schemas.microsoft.com/office/drawing/2014/main" id="{EDF45D0E-0F56-6B49-8ADF-71BAFA0A4177}"/>
                </a:ext>
              </a:extLst>
            </p:cNvPr>
            <p:cNvSpPr/>
            <p:nvPr/>
          </p:nvSpPr>
          <p:spPr>
            <a:xfrm>
              <a:off x="8650224" y="3127248"/>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72%</a:t>
              </a:r>
              <a:endParaRPr lang="en-US" sz="1100" dirty="0"/>
            </a:p>
          </p:txBody>
        </p:sp>
        <p:sp>
          <p:nvSpPr>
            <p:cNvPr id="154" name="Text 55">
              <a:extLst>
                <a:ext uri="{FF2B5EF4-FFF2-40B4-BE49-F238E27FC236}">
                  <a16:creationId xmlns:a16="http://schemas.microsoft.com/office/drawing/2014/main" id="{03F102E3-5996-0B01-16FC-2979161185A0}"/>
                </a:ext>
              </a:extLst>
            </p:cNvPr>
            <p:cNvSpPr/>
            <p:nvPr/>
          </p:nvSpPr>
          <p:spPr>
            <a:xfrm>
              <a:off x="9610344" y="3127248"/>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80%</a:t>
              </a:r>
              <a:endParaRPr lang="en-US" sz="1100" dirty="0"/>
            </a:p>
          </p:txBody>
        </p:sp>
        <p:sp>
          <p:nvSpPr>
            <p:cNvPr id="155" name="Text 56">
              <a:extLst>
                <a:ext uri="{FF2B5EF4-FFF2-40B4-BE49-F238E27FC236}">
                  <a16:creationId xmlns:a16="http://schemas.microsoft.com/office/drawing/2014/main" id="{3801B61B-6BD5-D82E-243A-A5ECB41484CD}"/>
                </a:ext>
              </a:extLst>
            </p:cNvPr>
            <p:cNvSpPr/>
            <p:nvPr/>
          </p:nvSpPr>
          <p:spPr>
            <a:xfrm>
              <a:off x="10570464" y="3127248"/>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83%</a:t>
              </a:r>
              <a:endParaRPr lang="en-US" sz="1100" dirty="0"/>
            </a:p>
          </p:txBody>
        </p:sp>
        <p:sp>
          <p:nvSpPr>
            <p:cNvPr id="156" name="Text 57">
              <a:extLst>
                <a:ext uri="{FF2B5EF4-FFF2-40B4-BE49-F238E27FC236}">
                  <a16:creationId xmlns:a16="http://schemas.microsoft.com/office/drawing/2014/main" id="{D05B3D24-6174-DD97-DC58-FBA196355B82}"/>
                </a:ext>
              </a:extLst>
            </p:cNvPr>
            <p:cNvSpPr/>
            <p:nvPr/>
          </p:nvSpPr>
          <p:spPr>
            <a:xfrm>
              <a:off x="11576304" y="3127248"/>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~82%</a:t>
              </a:r>
              <a:endParaRPr lang="en-US" sz="1100" dirty="0"/>
            </a:p>
          </p:txBody>
        </p:sp>
        <p:sp>
          <p:nvSpPr>
            <p:cNvPr id="157" name="Text 58">
              <a:extLst>
                <a:ext uri="{FF2B5EF4-FFF2-40B4-BE49-F238E27FC236}">
                  <a16:creationId xmlns:a16="http://schemas.microsoft.com/office/drawing/2014/main" id="{E8C21673-54C0-BB8E-EF06-79BC78376995}"/>
                </a:ext>
              </a:extLst>
            </p:cNvPr>
            <p:cNvSpPr/>
            <p:nvPr/>
          </p:nvSpPr>
          <p:spPr>
            <a:xfrm>
              <a:off x="12719304" y="3127248"/>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Expanding</a:t>
              </a:r>
              <a:endParaRPr lang="en-US" sz="1100" dirty="0"/>
            </a:p>
          </p:txBody>
        </p:sp>
        <p:sp>
          <p:nvSpPr>
            <p:cNvPr id="158" name="Shape 59">
              <a:extLst>
                <a:ext uri="{FF2B5EF4-FFF2-40B4-BE49-F238E27FC236}">
                  <a16:creationId xmlns:a16="http://schemas.microsoft.com/office/drawing/2014/main" id="{5EAFC435-6EDE-8BE7-415D-6888A438CEF8}"/>
                </a:ext>
              </a:extLst>
            </p:cNvPr>
            <p:cNvSpPr/>
            <p:nvPr/>
          </p:nvSpPr>
          <p:spPr>
            <a:xfrm>
              <a:off x="5806440" y="3456432"/>
              <a:ext cx="8366760" cy="365760"/>
            </a:xfrm>
            <a:prstGeom prst="rect">
              <a:avLst/>
            </a:prstGeom>
            <a:solidFill>
              <a:srgbClr val="0F1A30"/>
            </a:solidFill>
            <a:ln w="12700">
              <a:solidFill>
                <a:srgbClr val="0F1A30"/>
              </a:solidFill>
              <a:prstDash val="solid"/>
            </a:ln>
          </p:spPr>
        </p:sp>
        <p:sp>
          <p:nvSpPr>
            <p:cNvPr id="159" name="Text 60">
              <a:extLst>
                <a:ext uri="{FF2B5EF4-FFF2-40B4-BE49-F238E27FC236}">
                  <a16:creationId xmlns:a16="http://schemas.microsoft.com/office/drawing/2014/main" id="{8A3BA652-8CF6-2C5E-9BF5-5AF804B10C7C}"/>
                </a:ext>
              </a:extLst>
            </p:cNvPr>
            <p:cNvSpPr/>
            <p:nvPr/>
          </p:nvSpPr>
          <p:spPr>
            <a:xfrm>
              <a:off x="5861304" y="3511296"/>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EBITDA Margin</a:t>
              </a:r>
              <a:endParaRPr lang="en-US" sz="1100" dirty="0"/>
            </a:p>
          </p:txBody>
        </p:sp>
        <p:sp>
          <p:nvSpPr>
            <p:cNvPr id="160" name="Text 61">
              <a:extLst>
                <a:ext uri="{FF2B5EF4-FFF2-40B4-BE49-F238E27FC236}">
                  <a16:creationId xmlns:a16="http://schemas.microsoft.com/office/drawing/2014/main" id="{3541E488-9C11-E512-8A81-E876A8801806}"/>
                </a:ext>
              </a:extLst>
            </p:cNvPr>
            <p:cNvSpPr/>
            <p:nvPr/>
          </p:nvSpPr>
          <p:spPr>
            <a:xfrm>
              <a:off x="7690104" y="3511296"/>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28%</a:t>
              </a:r>
              <a:endParaRPr lang="en-US" sz="1100" dirty="0"/>
            </a:p>
          </p:txBody>
        </p:sp>
        <p:sp>
          <p:nvSpPr>
            <p:cNvPr id="161" name="Text 62">
              <a:extLst>
                <a:ext uri="{FF2B5EF4-FFF2-40B4-BE49-F238E27FC236}">
                  <a16:creationId xmlns:a16="http://schemas.microsoft.com/office/drawing/2014/main" id="{329CD99F-661C-77E1-ECBE-0265A8AD5EDD}"/>
                </a:ext>
              </a:extLst>
            </p:cNvPr>
            <p:cNvSpPr/>
            <p:nvPr/>
          </p:nvSpPr>
          <p:spPr>
            <a:xfrm>
              <a:off x="8650224" y="3511296"/>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30%</a:t>
              </a:r>
              <a:endParaRPr lang="en-US" sz="1100" dirty="0"/>
            </a:p>
          </p:txBody>
        </p:sp>
        <p:sp>
          <p:nvSpPr>
            <p:cNvPr id="162" name="Text 63">
              <a:extLst>
                <a:ext uri="{FF2B5EF4-FFF2-40B4-BE49-F238E27FC236}">
                  <a16:creationId xmlns:a16="http://schemas.microsoft.com/office/drawing/2014/main" id="{E9528953-8628-151E-B270-14E3A5E1BF33}"/>
                </a:ext>
              </a:extLst>
            </p:cNvPr>
            <p:cNvSpPr/>
            <p:nvPr/>
          </p:nvSpPr>
          <p:spPr>
            <a:xfrm>
              <a:off x="9610344" y="3511296"/>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35%</a:t>
              </a:r>
              <a:endParaRPr lang="en-US" sz="1100" dirty="0"/>
            </a:p>
          </p:txBody>
        </p:sp>
        <p:sp>
          <p:nvSpPr>
            <p:cNvPr id="163" name="Text 64">
              <a:extLst>
                <a:ext uri="{FF2B5EF4-FFF2-40B4-BE49-F238E27FC236}">
                  <a16:creationId xmlns:a16="http://schemas.microsoft.com/office/drawing/2014/main" id="{9212B4A0-4228-6862-197A-63C8FF912637}"/>
                </a:ext>
              </a:extLst>
            </p:cNvPr>
            <p:cNvSpPr/>
            <p:nvPr/>
          </p:nvSpPr>
          <p:spPr>
            <a:xfrm>
              <a:off x="10570464" y="3511296"/>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42%</a:t>
              </a:r>
              <a:endParaRPr lang="en-US" sz="1100" dirty="0"/>
            </a:p>
          </p:txBody>
        </p:sp>
        <p:sp>
          <p:nvSpPr>
            <p:cNvPr id="164" name="Text 65">
              <a:extLst>
                <a:ext uri="{FF2B5EF4-FFF2-40B4-BE49-F238E27FC236}">
                  <a16:creationId xmlns:a16="http://schemas.microsoft.com/office/drawing/2014/main" id="{B0F9F95A-7287-CC0B-8EBD-6FE52FAAEDF6}"/>
                </a:ext>
              </a:extLst>
            </p:cNvPr>
            <p:cNvSpPr/>
            <p:nvPr/>
          </p:nvSpPr>
          <p:spPr>
            <a:xfrm>
              <a:off x="11576304" y="3511296"/>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~44%</a:t>
              </a:r>
              <a:endParaRPr lang="en-US" sz="1100" dirty="0"/>
            </a:p>
          </p:txBody>
        </p:sp>
        <p:sp>
          <p:nvSpPr>
            <p:cNvPr id="165" name="Text 66">
              <a:extLst>
                <a:ext uri="{FF2B5EF4-FFF2-40B4-BE49-F238E27FC236}">
                  <a16:creationId xmlns:a16="http://schemas.microsoft.com/office/drawing/2014/main" id="{40BEAE5B-6EFF-2784-21FF-AD5CECE3DF2C}"/>
                </a:ext>
              </a:extLst>
            </p:cNvPr>
            <p:cNvSpPr/>
            <p:nvPr/>
          </p:nvSpPr>
          <p:spPr>
            <a:xfrm>
              <a:off x="12719304" y="3511296"/>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Significant leverage</a:t>
              </a:r>
              <a:endParaRPr lang="en-US" sz="1100" dirty="0"/>
            </a:p>
          </p:txBody>
        </p:sp>
        <p:sp>
          <p:nvSpPr>
            <p:cNvPr id="166" name="Shape 67">
              <a:extLst>
                <a:ext uri="{FF2B5EF4-FFF2-40B4-BE49-F238E27FC236}">
                  <a16:creationId xmlns:a16="http://schemas.microsoft.com/office/drawing/2014/main" id="{0809851D-E5ED-9ED5-3E8F-6DCE4C11DC19}"/>
                </a:ext>
              </a:extLst>
            </p:cNvPr>
            <p:cNvSpPr/>
            <p:nvPr/>
          </p:nvSpPr>
          <p:spPr>
            <a:xfrm>
              <a:off x="5806440" y="3840480"/>
              <a:ext cx="8366760" cy="365760"/>
            </a:xfrm>
            <a:prstGeom prst="rect">
              <a:avLst/>
            </a:prstGeom>
            <a:solidFill>
              <a:srgbClr val="162040"/>
            </a:solidFill>
            <a:ln w="12700">
              <a:solidFill>
                <a:srgbClr val="162040"/>
              </a:solidFill>
              <a:prstDash val="solid"/>
            </a:ln>
          </p:spPr>
        </p:sp>
        <p:sp>
          <p:nvSpPr>
            <p:cNvPr id="167" name="Text 68">
              <a:extLst>
                <a:ext uri="{FF2B5EF4-FFF2-40B4-BE49-F238E27FC236}">
                  <a16:creationId xmlns:a16="http://schemas.microsoft.com/office/drawing/2014/main" id="{2E0351B3-846E-453D-C0D2-B054F14196C5}"/>
                </a:ext>
              </a:extLst>
            </p:cNvPr>
            <p:cNvSpPr/>
            <p:nvPr/>
          </p:nvSpPr>
          <p:spPr>
            <a:xfrm>
              <a:off x="5861304" y="3895344"/>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Net Income ($B)</a:t>
              </a:r>
              <a:endParaRPr lang="en-US" sz="1100" dirty="0"/>
            </a:p>
          </p:txBody>
        </p:sp>
        <p:sp>
          <p:nvSpPr>
            <p:cNvPr id="168" name="Text 69">
              <a:extLst>
                <a:ext uri="{FF2B5EF4-FFF2-40B4-BE49-F238E27FC236}">
                  <a16:creationId xmlns:a16="http://schemas.microsoft.com/office/drawing/2014/main" id="{96240989-9502-E9B2-FF9C-87C4F5EE5CC6}"/>
                </a:ext>
              </a:extLst>
            </p:cNvPr>
            <p:cNvSpPr/>
            <p:nvPr/>
          </p:nvSpPr>
          <p:spPr>
            <a:xfrm>
              <a:off x="7690104" y="3895344"/>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$5.9</a:t>
              </a:r>
              <a:endParaRPr lang="en-US" sz="1100" dirty="0"/>
            </a:p>
          </p:txBody>
        </p:sp>
        <p:sp>
          <p:nvSpPr>
            <p:cNvPr id="169" name="Text 70">
              <a:extLst>
                <a:ext uri="{FF2B5EF4-FFF2-40B4-BE49-F238E27FC236}">
                  <a16:creationId xmlns:a16="http://schemas.microsoft.com/office/drawing/2014/main" id="{11D7A540-0A9D-7BFD-EEB4-A84FBEE0F0DF}"/>
                </a:ext>
              </a:extLst>
            </p:cNvPr>
            <p:cNvSpPr/>
            <p:nvPr/>
          </p:nvSpPr>
          <p:spPr>
            <a:xfrm>
              <a:off x="8650224" y="3895344"/>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$5.5</a:t>
              </a:r>
              <a:endParaRPr lang="en-US" sz="1100" dirty="0"/>
            </a:p>
          </p:txBody>
        </p:sp>
        <p:sp>
          <p:nvSpPr>
            <p:cNvPr id="170" name="Text 71">
              <a:extLst>
                <a:ext uri="{FF2B5EF4-FFF2-40B4-BE49-F238E27FC236}">
                  <a16:creationId xmlns:a16="http://schemas.microsoft.com/office/drawing/2014/main" id="{4DFD0FFC-4D35-1AAE-83BB-ECBE905A27EB}"/>
                </a:ext>
              </a:extLst>
            </p:cNvPr>
            <p:cNvSpPr/>
            <p:nvPr/>
          </p:nvSpPr>
          <p:spPr>
            <a:xfrm>
              <a:off x="9610344" y="3895344"/>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$10.6</a:t>
              </a:r>
              <a:endParaRPr lang="en-US" sz="1100" dirty="0"/>
            </a:p>
          </p:txBody>
        </p:sp>
        <p:sp>
          <p:nvSpPr>
            <p:cNvPr id="171" name="Text 72">
              <a:extLst>
                <a:ext uri="{FF2B5EF4-FFF2-40B4-BE49-F238E27FC236}">
                  <a16:creationId xmlns:a16="http://schemas.microsoft.com/office/drawing/2014/main" id="{52456702-B07C-885D-1425-6ECFE660396D}"/>
                </a:ext>
              </a:extLst>
            </p:cNvPr>
            <p:cNvSpPr/>
            <p:nvPr/>
          </p:nvSpPr>
          <p:spPr>
            <a:xfrm>
              <a:off x="10570464" y="3895344"/>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$21.8</a:t>
              </a:r>
              <a:endParaRPr lang="en-US" sz="1100" dirty="0"/>
            </a:p>
          </p:txBody>
        </p:sp>
        <p:sp>
          <p:nvSpPr>
            <p:cNvPr id="172" name="Text 73">
              <a:extLst>
                <a:ext uri="{FF2B5EF4-FFF2-40B4-BE49-F238E27FC236}">
                  <a16:creationId xmlns:a16="http://schemas.microsoft.com/office/drawing/2014/main" id="{BC0AB6D9-7591-B196-696F-821D0A98EF0E}"/>
                </a:ext>
              </a:extLst>
            </p:cNvPr>
            <p:cNvSpPr/>
            <p:nvPr/>
          </p:nvSpPr>
          <p:spPr>
            <a:xfrm>
              <a:off x="11576304" y="3895344"/>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~$29B E</a:t>
              </a:r>
              <a:endParaRPr lang="en-US" sz="1100" dirty="0"/>
            </a:p>
          </p:txBody>
        </p:sp>
        <p:sp>
          <p:nvSpPr>
            <p:cNvPr id="173" name="Text 74">
              <a:extLst>
                <a:ext uri="{FF2B5EF4-FFF2-40B4-BE49-F238E27FC236}">
                  <a16:creationId xmlns:a16="http://schemas.microsoft.com/office/drawing/2014/main" id="{DE912053-989F-3613-6007-BC8AE693E865}"/>
                </a:ext>
              </a:extLst>
            </p:cNvPr>
            <p:cNvSpPr/>
            <p:nvPr/>
          </p:nvSpPr>
          <p:spPr>
            <a:xfrm>
              <a:off x="12719304" y="3895344"/>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+86% FY25</a:t>
              </a:r>
              <a:endParaRPr lang="en-US" sz="1100" dirty="0"/>
            </a:p>
          </p:txBody>
        </p:sp>
        <p:sp>
          <p:nvSpPr>
            <p:cNvPr id="174" name="Shape 75">
              <a:extLst>
                <a:ext uri="{FF2B5EF4-FFF2-40B4-BE49-F238E27FC236}">
                  <a16:creationId xmlns:a16="http://schemas.microsoft.com/office/drawing/2014/main" id="{D8201D2F-58EF-B2AF-03D5-3EF5AA969911}"/>
                </a:ext>
              </a:extLst>
            </p:cNvPr>
            <p:cNvSpPr/>
            <p:nvPr/>
          </p:nvSpPr>
          <p:spPr>
            <a:xfrm>
              <a:off x="5806440" y="4224528"/>
              <a:ext cx="8366760" cy="365760"/>
            </a:xfrm>
            <a:prstGeom prst="rect">
              <a:avLst/>
            </a:prstGeom>
            <a:solidFill>
              <a:srgbClr val="0F1A30"/>
            </a:solidFill>
            <a:ln w="12700">
              <a:solidFill>
                <a:srgbClr val="0F1A30"/>
              </a:solidFill>
              <a:prstDash val="solid"/>
            </a:ln>
          </p:spPr>
        </p:sp>
        <p:sp>
          <p:nvSpPr>
            <p:cNvPr id="175" name="Text 76">
              <a:extLst>
                <a:ext uri="{FF2B5EF4-FFF2-40B4-BE49-F238E27FC236}">
                  <a16:creationId xmlns:a16="http://schemas.microsoft.com/office/drawing/2014/main" id="{B1C4DCE6-1B01-847D-00D3-F46BD8F0086F}"/>
                </a:ext>
              </a:extLst>
            </p:cNvPr>
            <p:cNvSpPr/>
            <p:nvPr/>
          </p:nvSpPr>
          <p:spPr>
            <a:xfrm>
              <a:off x="5861304" y="4279392"/>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EPS (non-GAAP)</a:t>
              </a:r>
              <a:endParaRPr lang="en-US" sz="1100" dirty="0"/>
            </a:p>
          </p:txBody>
        </p:sp>
        <p:sp>
          <p:nvSpPr>
            <p:cNvPr id="176" name="Text 77">
              <a:extLst>
                <a:ext uri="{FF2B5EF4-FFF2-40B4-BE49-F238E27FC236}">
                  <a16:creationId xmlns:a16="http://schemas.microsoft.com/office/drawing/2014/main" id="{978C0129-15D7-BA0B-A95F-01AFAEC3DFA3}"/>
                </a:ext>
              </a:extLst>
            </p:cNvPr>
            <p:cNvSpPr/>
            <p:nvPr/>
          </p:nvSpPr>
          <p:spPr>
            <a:xfrm>
              <a:off x="7690104" y="4279392"/>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$7.18</a:t>
              </a:r>
              <a:endParaRPr lang="en-US" sz="1100" dirty="0"/>
            </a:p>
          </p:txBody>
        </p:sp>
        <p:sp>
          <p:nvSpPr>
            <p:cNvPr id="177" name="Text 78">
              <a:extLst>
                <a:ext uri="{FF2B5EF4-FFF2-40B4-BE49-F238E27FC236}">
                  <a16:creationId xmlns:a16="http://schemas.microsoft.com/office/drawing/2014/main" id="{52A71AB0-10E6-3D89-CD5A-402FDC771463}"/>
                </a:ext>
              </a:extLst>
            </p:cNvPr>
            <p:cNvSpPr/>
            <p:nvPr/>
          </p:nvSpPr>
          <p:spPr>
            <a:xfrm>
              <a:off x="8650224" y="4279392"/>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$9.06</a:t>
              </a:r>
              <a:endParaRPr lang="en-US" sz="1100" dirty="0"/>
            </a:p>
          </p:txBody>
        </p:sp>
        <p:sp>
          <p:nvSpPr>
            <p:cNvPr id="178" name="Text 79">
              <a:extLst>
                <a:ext uri="{FF2B5EF4-FFF2-40B4-BE49-F238E27FC236}">
                  <a16:creationId xmlns:a16="http://schemas.microsoft.com/office/drawing/2014/main" id="{09385A76-EB62-53D2-2216-4619FB573738}"/>
                </a:ext>
              </a:extLst>
            </p:cNvPr>
            <p:cNvSpPr/>
            <p:nvPr/>
          </p:nvSpPr>
          <p:spPr>
            <a:xfrm>
              <a:off x="9610344" y="4279392"/>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$16.40</a:t>
              </a:r>
              <a:endParaRPr lang="en-US" sz="1100" dirty="0"/>
            </a:p>
          </p:txBody>
        </p:sp>
        <p:sp>
          <p:nvSpPr>
            <p:cNvPr id="179" name="Text 80">
              <a:extLst>
                <a:ext uri="{FF2B5EF4-FFF2-40B4-BE49-F238E27FC236}">
                  <a16:creationId xmlns:a16="http://schemas.microsoft.com/office/drawing/2014/main" id="{34DA2886-583E-D082-D3AF-F749701BC36A}"/>
                </a:ext>
              </a:extLst>
            </p:cNvPr>
            <p:cNvSpPr/>
            <p:nvPr/>
          </p:nvSpPr>
          <p:spPr>
            <a:xfrm>
              <a:off x="10570464" y="4279392"/>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$24.21</a:t>
              </a:r>
              <a:endParaRPr lang="en-US" sz="1100" dirty="0"/>
            </a:p>
          </p:txBody>
        </p:sp>
        <p:sp>
          <p:nvSpPr>
            <p:cNvPr id="180" name="Text 81">
              <a:extLst>
                <a:ext uri="{FF2B5EF4-FFF2-40B4-BE49-F238E27FC236}">
                  <a16:creationId xmlns:a16="http://schemas.microsoft.com/office/drawing/2014/main" id="{3DC4304D-CADE-3548-24DB-8DC2FF3917D6}"/>
                </a:ext>
              </a:extLst>
            </p:cNvPr>
            <p:cNvSpPr/>
            <p:nvPr/>
          </p:nvSpPr>
          <p:spPr>
            <a:xfrm>
              <a:off x="11576304" y="4279392"/>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$33.50–35E</a:t>
              </a:r>
              <a:endParaRPr lang="en-US" sz="1100" dirty="0"/>
            </a:p>
          </p:txBody>
        </p:sp>
        <p:sp>
          <p:nvSpPr>
            <p:cNvPr id="181" name="Text 82">
              <a:extLst>
                <a:ext uri="{FF2B5EF4-FFF2-40B4-BE49-F238E27FC236}">
                  <a16:creationId xmlns:a16="http://schemas.microsoft.com/office/drawing/2014/main" id="{3A5C19CC-A74B-9277-4BF2-2E60E4218E04}"/>
                </a:ext>
              </a:extLst>
            </p:cNvPr>
            <p:cNvSpPr/>
            <p:nvPr/>
          </p:nvSpPr>
          <p:spPr>
            <a:xfrm>
              <a:off x="12719304" y="4279392"/>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FY26 guide</a:t>
              </a:r>
              <a:endParaRPr lang="en-US" sz="1100" dirty="0"/>
            </a:p>
          </p:txBody>
        </p:sp>
        <p:sp>
          <p:nvSpPr>
            <p:cNvPr id="182" name="Shape 83">
              <a:extLst>
                <a:ext uri="{FF2B5EF4-FFF2-40B4-BE49-F238E27FC236}">
                  <a16:creationId xmlns:a16="http://schemas.microsoft.com/office/drawing/2014/main" id="{11C8FA01-F4A7-A972-C632-B0C6A19D18AA}"/>
                </a:ext>
              </a:extLst>
            </p:cNvPr>
            <p:cNvSpPr/>
            <p:nvPr/>
          </p:nvSpPr>
          <p:spPr>
            <a:xfrm>
              <a:off x="5806440" y="4608576"/>
              <a:ext cx="8366760" cy="365760"/>
            </a:xfrm>
            <a:prstGeom prst="rect">
              <a:avLst/>
            </a:prstGeom>
            <a:solidFill>
              <a:srgbClr val="162040"/>
            </a:solidFill>
            <a:ln w="12700">
              <a:solidFill>
                <a:srgbClr val="162040"/>
              </a:solidFill>
              <a:prstDash val="solid"/>
            </a:ln>
          </p:spPr>
        </p:sp>
        <p:sp>
          <p:nvSpPr>
            <p:cNvPr id="183" name="Text 84">
              <a:extLst>
                <a:ext uri="{FF2B5EF4-FFF2-40B4-BE49-F238E27FC236}">
                  <a16:creationId xmlns:a16="http://schemas.microsoft.com/office/drawing/2014/main" id="{A1DDEB97-0469-1E03-AD51-36D7FCBA78EB}"/>
                </a:ext>
              </a:extLst>
            </p:cNvPr>
            <p:cNvSpPr/>
            <p:nvPr/>
          </p:nvSpPr>
          <p:spPr>
            <a:xfrm>
              <a:off x="5861304" y="4663440"/>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ROCE</a:t>
              </a:r>
              <a:endParaRPr lang="en-US" sz="1100" dirty="0"/>
            </a:p>
          </p:txBody>
        </p:sp>
        <p:sp>
          <p:nvSpPr>
            <p:cNvPr id="184" name="Text 85">
              <a:extLst>
                <a:ext uri="{FF2B5EF4-FFF2-40B4-BE49-F238E27FC236}">
                  <a16:creationId xmlns:a16="http://schemas.microsoft.com/office/drawing/2014/main" id="{9D9D15B9-AD73-124E-4E05-3441D3D35408}"/>
                </a:ext>
              </a:extLst>
            </p:cNvPr>
            <p:cNvSpPr/>
            <p:nvPr/>
          </p:nvSpPr>
          <p:spPr>
            <a:xfrm>
              <a:off x="7690104" y="4663440"/>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22%</a:t>
              </a:r>
              <a:endParaRPr lang="en-US" sz="1100" dirty="0"/>
            </a:p>
          </p:txBody>
        </p:sp>
        <p:sp>
          <p:nvSpPr>
            <p:cNvPr id="185" name="Text 86">
              <a:extLst>
                <a:ext uri="{FF2B5EF4-FFF2-40B4-BE49-F238E27FC236}">
                  <a16:creationId xmlns:a16="http://schemas.microsoft.com/office/drawing/2014/main" id="{2DE2574E-F726-FD0F-3CF5-F57E03DE209B}"/>
                </a:ext>
              </a:extLst>
            </p:cNvPr>
            <p:cNvSpPr/>
            <p:nvPr/>
          </p:nvSpPr>
          <p:spPr>
            <a:xfrm>
              <a:off x="8650224" y="4663440"/>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24%</a:t>
              </a:r>
              <a:endParaRPr lang="en-US" sz="1100" dirty="0"/>
            </a:p>
          </p:txBody>
        </p:sp>
        <p:sp>
          <p:nvSpPr>
            <p:cNvPr id="186" name="Text 87">
              <a:extLst>
                <a:ext uri="{FF2B5EF4-FFF2-40B4-BE49-F238E27FC236}">
                  <a16:creationId xmlns:a16="http://schemas.microsoft.com/office/drawing/2014/main" id="{4A4F63DB-28F8-3EBD-AF28-2B6DF6FD3573}"/>
                </a:ext>
              </a:extLst>
            </p:cNvPr>
            <p:cNvSpPr/>
            <p:nvPr/>
          </p:nvSpPr>
          <p:spPr>
            <a:xfrm>
              <a:off x="9610344" y="4663440"/>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30%</a:t>
              </a:r>
              <a:endParaRPr lang="en-US" sz="1100" dirty="0"/>
            </a:p>
          </p:txBody>
        </p:sp>
        <p:sp>
          <p:nvSpPr>
            <p:cNvPr id="187" name="Text 88">
              <a:extLst>
                <a:ext uri="{FF2B5EF4-FFF2-40B4-BE49-F238E27FC236}">
                  <a16:creationId xmlns:a16="http://schemas.microsoft.com/office/drawing/2014/main" id="{00DC14E2-7638-312A-303A-67ED7FAF8DCC}"/>
                </a:ext>
              </a:extLst>
            </p:cNvPr>
            <p:cNvSpPr/>
            <p:nvPr/>
          </p:nvSpPr>
          <p:spPr>
            <a:xfrm>
              <a:off x="10570464" y="4663440"/>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40%+</a:t>
              </a:r>
              <a:endParaRPr lang="en-US" sz="1100" dirty="0"/>
            </a:p>
          </p:txBody>
        </p:sp>
        <p:sp>
          <p:nvSpPr>
            <p:cNvPr id="188" name="Text 89">
              <a:extLst>
                <a:ext uri="{FF2B5EF4-FFF2-40B4-BE49-F238E27FC236}">
                  <a16:creationId xmlns:a16="http://schemas.microsoft.com/office/drawing/2014/main" id="{9122D232-DF9A-674E-70AE-A27532186417}"/>
                </a:ext>
              </a:extLst>
            </p:cNvPr>
            <p:cNvSpPr/>
            <p:nvPr/>
          </p:nvSpPr>
          <p:spPr>
            <a:xfrm>
              <a:off x="11576304" y="4663440"/>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~48%E</a:t>
              </a:r>
              <a:endParaRPr lang="en-US" sz="1100" dirty="0"/>
            </a:p>
          </p:txBody>
        </p:sp>
        <p:sp>
          <p:nvSpPr>
            <p:cNvPr id="189" name="Text 90">
              <a:extLst>
                <a:ext uri="{FF2B5EF4-FFF2-40B4-BE49-F238E27FC236}">
                  <a16:creationId xmlns:a16="http://schemas.microsoft.com/office/drawing/2014/main" id="{AD2579D6-7397-735B-2046-B2A1875F4D4F}"/>
                </a:ext>
              </a:extLst>
            </p:cNvPr>
            <p:cNvSpPr/>
            <p:nvPr/>
          </p:nvSpPr>
          <p:spPr>
            <a:xfrm>
              <a:off x="12719304" y="4663440"/>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World-class</a:t>
              </a:r>
              <a:endParaRPr lang="en-US" sz="1100" dirty="0"/>
            </a:p>
          </p:txBody>
        </p:sp>
        <p:sp>
          <p:nvSpPr>
            <p:cNvPr id="190" name="Shape 91">
              <a:extLst>
                <a:ext uri="{FF2B5EF4-FFF2-40B4-BE49-F238E27FC236}">
                  <a16:creationId xmlns:a16="http://schemas.microsoft.com/office/drawing/2014/main" id="{A8367ED3-5240-8CB5-0748-D336C62E02B5}"/>
                </a:ext>
              </a:extLst>
            </p:cNvPr>
            <p:cNvSpPr/>
            <p:nvPr/>
          </p:nvSpPr>
          <p:spPr>
            <a:xfrm>
              <a:off x="5806440" y="4981612"/>
              <a:ext cx="8366760" cy="365760"/>
            </a:xfrm>
            <a:prstGeom prst="rect">
              <a:avLst/>
            </a:prstGeom>
            <a:solidFill>
              <a:srgbClr val="0F1A30"/>
            </a:solidFill>
            <a:ln w="12700">
              <a:solidFill>
                <a:srgbClr val="0F1A30"/>
              </a:solidFill>
              <a:prstDash val="solid"/>
            </a:ln>
          </p:spPr>
        </p:sp>
        <p:sp>
          <p:nvSpPr>
            <p:cNvPr id="191" name="Text 92">
              <a:extLst>
                <a:ext uri="{FF2B5EF4-FFF2-40B4-BE49-F238E27FC236}">
                  <a16:creationId xmlns:a16="http://schemas.microsoft.com/office/drawing/2014/main" id="{76F27BF1-6DCE-5B6F-AFC5-47B44DC701FE}"/>
                </a:ext>
              </a:extLst>
            </p:cNvPr>
            <p:cNvSpPr/>
            <p:nvPr/>
          </p:nvSpPr>
          <p:spPr>
            <a:xfrm>
              <a:off x="5861304" y="5047488"/>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Debt/EBITDA</a:t>
              </a:r>
              <a:endParaRPr lang="en-US" sz="1100" dirty="0"/>
            </a:p>
          </p:txBody>
        </p:sp>
        <p:sp>
          <p:nvSpPr>
            <p:cNvPr id="192" name="Text 93">
              <a:extLst>
                <a:ext uri="{FF2B5EF4-FFF2-40B4-BE49-F238E27FC236}">
                  <a16:creationId xmlns:a16="http://schemas.microsoft.com/office/drawing/2014/main" id="{F8D770E0-C986-23E9-BBCE-7A16C27B9BBB}"/>
                </a:ext>
              </a:extLst>
            </p:cNvPr>
            <p:cNvSpPr/>
            <p:nvPr/>
          </p:nvSpPr>
          <p:spPr>
            <a:xfrm>
              <a:off x="7690104" y="5047488"/>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1.9x</a:t>
              </a:r>
              <a:endParaRPr lang="en-US" sz="1100" dirty="0"/>
            </a:p>
          </p:txBody>
        </p:sp>
        <p:sp>
          <p:nvSpPr>
            <p:cNvPr id="193" name="Text 94">
              <a:extLst>
                <a:ext uri="{FF2B5EF4-FFF2-40B4-BE49-F238E27FC236}">
                  <a16:creationId xmlns:a16="http://schemas.microsoft.com/office/drawing/2014/main" id="{95A17C9E-2B72-C922-1F7C-7657736BAE92}"/>
                </a:ext>
              </a:extLst>
            </p:cNvPr>
            <p:cNvSpPr/>
            <p:nvPr/>
          </p:nvSpPr>
          <p:spPr>
            <a:xfrm>
              <a:off x="8650224" y="5047488"/>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1.6x</a:t>
              </a:r>
              <a:endParaRPr lang="en-US" sz="1100" dirty="0"/>
            </a:p>
          </p:txBody>
        </p:sp>
        <p:sp>
          <p:nvSpPr>
            <p:cNvPr id="194" name="Text 95">
              <a:extLst>
                <a:ext uri="{FF2B5EF4-FFF2-40B4-BE49-F238E27FC236}">
                  <a16:creationId xmlns:a16="http://schemas.microsoft.com/office/drawing/2014/main" id="{2F370A63-5609-C662-5FB1-A526C3B49C90}"/>
                </a:ext>
              </a:extLst>
            </p:cNvPr>
            <p:cNvSpPr/>
            <p:nvPr/>
          </p:nvSpPr>
          <p:spPr>
            <a:xfrm>
              <a:off x="9610344" y="5047488"/>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1.3x</a:t>
              </a:r>
              <a:endParaRPr lang="en-US" sz="1100" dirty="0"/>
            </a:p>
          </p:txBody>
        </p:sp>
        <p:sp>
          <p:nvSpPr>
            <p:cNvPr id="195" name="Text 96">
              <a:extLst>
                <a:ext uri="{FF2B5EF4-FFF2-40B4-BE49-F238E27FC236}">
                  <a16:creationId xmlns:a16="http://schemas.microsoft.com/office/drawing/2014/main" id="{2E1EAC43-B4E8-F7C3-12F9-63A7971F8B64}"/>
                </a:ext>
              </a:extLst>
            </p:cNvPr>
            <p:cNvSpPr/>
            <p:nvPr/>
          </p:nvSpPr>
          <p:spPr>
            <a:xfrm>
              <a:off x="10570464" y="5047488"/>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~1.0x</a:t>
              </a:r>
              <a:endParaRPr lang="en-US" sz="1100" dirty="0"/>
            </a:p>
          </p:txBody>
        </p:sp>
        <p:sp>
          <p:nvSpPr>
            <p:cNvPr id="196" name="Text 97">
              <a:extLst>
                <a:ext uri="{FF2B5EF4-FFF2-40B4-BE49-F238E27FC236}">
                  <a16:creationId xmlns:a16="http://schemas.microsoft.com/office/drawing/2014/main" id="{8A8D8ABB-C3D6-4B92-43C5-F2FD44245E1C}"/>
                </a:ext>
              </a:extLst>
            </p:cNvPr>
            <p:cNvSpPr/>
            <p:nvPr/>
          </p:nvSpPr>
          <p:spPr>
            <a:xfrm>
              <a:off x="11576304" y="5047488"/>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~0.8xE</a:t>
              </a:r>
              <a:endParaRPr lang="en-US" sz="1100" dirty="0"/>
            </a:p>
          </p:txBody>
        </p:sp>
        <p:sp>
          <p:nvSpPr>
            <p:cNvPr id="197" name="Text 98">
              <a:extLst>
                <a:ext uri="{FF2B5EF4-FFF2-40B4-BE49-F238E27FC236}">
                  <a16:creationId xmlns:a16="http://schemas.microsoft.com/office/drawing/2014/main" id="{E20723AF-8327-1085-9557-4D20AE427A32}"/>
                </a:ext>
              </a:extLst>
            </p:cNvPr>
            <p:cNvSpPr/>
            <p:nvPr/>
          </p:nvSpPr>
          <p:spPr>
            <a:xfrm>
              <a:off x="12719304" y="5047488"/>
              <a:ext cx="141732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Deleveraging</a:t>
              </a:r>
              <a:endParaRPr lang="en-US" sz="1100" dirty="0"/>
            </a:p>
          </p:txBody>
        </p:sp>
        <p:sp>
          <p:nvSpPr>
            <p:cNvPr id="198" name="Shape 99">
              <a:extLst>
                <a:ext uri="{FF2B5EF4-FFF2-40B4-BE49-F238E27FC236}">
                  <a16:creationId xmlns:a16="http://schemas.microsoft.com/office/drawing/2014/main" id="{1EE49E08-CED7-7B37-4E1B-E0891A4C6B60}"/>
                </a:ext>
              </a:extLst>
            </p:cNvPr>
            <p:cNvSpPr/>
            <p:nvPr/>
          </p:nvSpPr>
          <p:spPr>
            <a:xfrm>
              <a:off x="5806440" y="5354646"/>
              <a:ext cx="8366760" cy="365761"/>
            </a:xfrm>
            <a:prstGeom prst="rect">
              <a:avLst/>
            </a:prstGeom>
            <a:solidFill>
              <a:srgbClr val="162040"/>
            </a:solidFill>
            <a:ln w="12700">
              <a:solidFill>
                <a:srgbClr val="162040"/>
              </a:solidFill>
              <a:prstDash val="solid"/>
            </a:ln>
          </p:spPr>
        </p:sp>
        <p:sp>
          <p:nvSpPr>
            <p:cNvPr id="199" name="Text 100">
              <a:extLst>
                <a:ext uri="{FF2B5EF4-FFF2-40B4-BE49-F238E27FC236}">
                  <a16:creationId xmlns:a16="http://schemas.microsoft.com/office/drawing/2014/main" id="{ABAF7ADE-B5BE-AD7A-DBD4-62F59E3D9F3F}"/>
                </a:ext>
              </a:extLst>
            </p:cNvPr>
            <p:cNvSpPr/>
            <p:nvPr/>
          </p:nvSpPr>
          <p:spPr>
            <a:xfrm>
              <a:off x="5861304" y="5431536"/>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R&amp;D ($B)</a:t>
              </a:r>
              <a:endParaRPr lang="en-US" sz="1100" dirty="0"/>
            </a:p>
          </p:txBody>
        </p:sp>
        <p:sp>
          <p:nvSpPr>
            <p:cNvPr id="200" name="Text 101">
              <a:extLst>
                <a:ext uri="{FF2B5EF4-FFF2-40B4-BE49-F238E27FC236}">
                  <a16:creationId xmlns:a16="http://schemas.microsoft.com/office/drawing/2014/main" id="{43984053-12BE-60DA-B03B-2FC12BE208D6}"/>
                </a:ext>
              </a:extLst>
            </p:cNvPr>
            <p:cNvSpPr/>
            <p:nvPr/>
          </p:nvSpPr>
          <p:spPr>
            <a:xfrm>
              <a:off x="7690104" y="5431536"/>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$7.2</a:t>
              </a:r>
              <a:endParaRPr lang="en-US" sz="1100" dirty="0"/>
            </a:p>
          </p:txBody>
        </p:sp>
        <p:sp>
          <p:nvSpPr>
            <p:cNvPr id="201" name="Text 102">
              <a:extLst>
                <a:ext uri="{FF2B5EF4-FFF2-40B4-BE49-F238E27FC236}">
                  <a16:creationId xmlns:a16="http://schemas.microsoft.com/office/drawing/2014/main" id="{21BC5E27-B64B-0399-E545-9530D062F50A}"/>
                </a:ext>
              </a:extLst>
            </p:cNvPr>
            <p:cNvSpPr/>
            <p:nvPr/>
          </p:nvSpPr>
          <p:spPr>
            <a:xfrm>
              <a:off x="8650224" y="5431536"/>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$8.1</a:t>
              </a:r>
              <a:endParaRPr lang="en-US" sz="1100" dirty="0"/>
            </a:p>
          </p:txBody>
        </p:sp>
        <p:sp>
          <p:nvSpPr>
            <p:cNvPr id="202" name="Text 103">
              <a:extLst>
                <a:ext uri="{FF2B5EF4-FFF2-40B4-BE49-F238E27FC236}">
                  <a16:creationId xmlns:a16="http://schemas.microsoft.com/office/drawing/2014/main" id="{B09F19E8-5C37-6CB4-E052-1ADC0D24BC94}"/>
                </a:ext>
              </a:extLst>
            </p:cNvPr>
            <p:cNvSpPr/>
            <p:nvPr/>
          </p:nvSpPr>
          <p:spPr>
            <a:xfrm>
              <a:off x="9610344" y="5431536"/>
              <a:ext cx="86868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$9.3</a:t>
              </a:r>
              <a:endParaRPr lang="en-US" sz="1100" dirty="0"/>
            </a:p>
          </p:txBody>
        </p:sp>
        <p:sp>
          <p:nvSpPr>
            <p:cNvPr id="203" name="Text 104">
              <a:extLst>
                <a:ext uri="{FF2B5EF4-FFF2-40B4-BE49-F238E27FC236}">
                  <a16:creationId xmlns:a16="http://schemas.microsoft.com/office/drawing/2014/main" id="{2507110E-3E7E-6703-61A0-E8B28962CBDF}"/>
                </a:ext>
              </a:extLst>
            </p:cNvPr>
            <p:cNvSpPr/>
            <p:nvPr/>
          </p:nvSpPr>
          <p:spPr>
            <a:xfrm>
              <a:off x="10570464" y="5431536"/>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~$11</a:t>
              </a:r>
              <a:endParaRPr lang="en-US" sz="1100" dirty="0"/>
            </a:p>
          </p:txBody>
        </p:sp>
        <p:sp>
          <p:nvSpPr>
            <p:cNvPr id="204" name="Text 105">
              <a:extLst>
                <a:ext uri="{FF2B5EF4-FFF2-40B4-BE49-F238E27FC236}">
                  <a16:creationId xmlns:a16="http://schemas.microsoft.com/office/drawing/2014/main" id="{E743ACB4-B997-DE35-9CB4-C74509A17067}"/>
                </a:ext>
              </a:extLst>
            </p:cNvPr>
            <p:cNvSpPr/>
            <p:nvPr/>
          </p:nvSpPr>
          <p:spPr>
            <a:xfrm>
              <a:off x="11576304" y="5431536"/>
              <a:ext cx="1051560" cy="274320"/>
            </a:xfrm>
            <a:prstGeom prst="rect">
              <a:avLst/>
            </a:prstGeom>
            <a:noFill/>
            <a:ln/>
          </p:spPr>
          <p:txBody>
            <a:bodyPr wrap="square" rtlCol="0" anchor="ctr"/>
            <a:lstStyle/>
            <a:p>
              <a:pPr marL="0" indent="0">
                <a:buNone/>
              </a:pPr>
              <a:r>
                <a:rPr lang="en-US" sz="1100" dirty="0">
                  <a:solidFill>
                    <a:srgbClr val="E8EEF8"/>
                  </a:solidFill>
                  <a:latin typeface="Calibri" pitchFamily="34" charset="0"/>
                  <a:ea typeface="Calibri" pitchFamily="34" charset="-122"/>
                  <a:cs typeface="Calibri" pitchFamily="34" charset="-120"/>
                </a:rPr>
                <a:t>~$13E</a:t>
              </a:r>
              <a:endParaRPr lang="en-US" sz="1100" dirty="0"/>
            </a:p>
          </p:txBody>
        </p:sp>
        <p:sp>
          <p:nvSpPr>
            <p:cNvPr id="205" name="Text 106">
              <a:extLst>
                <a:ext uri="{FF2B5EF4-FFF2-40B4-BE49-F238E27FC236}">
                  <a16:creationId xmlns:a16="http://schemas.microsoft.com/office/drawing/2014/main" id="{5C2C8D25-C2E3-650F-F84C-D417DDBDEA3E}"/>
                </a:ext>
              </a:extLst>
            </p:cNvPr>
            <p:cNvSpPr/>
            <p:nvPr/>
          </p:nvSpPr>
          <p:spPr>
            <a:xfrm>
              <a:off x="12719304" y="5431536"/>
              <a:ext cx="1417320" cy="274320"/>
            </a:xfrm>
            <a:prstGeom prst="rect">
              <a:avLst/>
            </a:prstGeom>
            <a:noFill/>
            <a:ln/>
          </p:spPr>
          <p:txBody>
            <a:bodyPr wrap="square" rtlCol="0" anchor="ctr"/>
            <a:lstStyle/>
            <a:p>
              <a:pPr marL="0" indent="0">
                <a:buNone/>
              </a:pPr>
              <a:r>
                <a:rPr lang="en-US" sz="1100" dirty="0">
                  <a:solidFill>
                    <a:srgbClr val="22C55E"/>
                  </a:solidFill>
                  <a:latin typeface="Calibri" pitchFamily="34" charset="0"/>
                  <a:ea typeface="Calibri" pitchFamily="34" charset="-122"/>
                  <a:cs typeface="Calibri" pitchFamily="34" charset="-120"/>
                </a:rPr>
                <a:t>↑ Pipeline investment</a:t>
              </a:r>
              <a:endParaRPr lang="en-US" sz="11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47A9B2DC-9534-966F-E75B-7DF2755A9964}"/>
              </a:ext>
            </a:extLst>
          </p:cNvPr>
          <p:cNvGrpSpPr/>
          <p:nvPr/>
        </p:nvGrpSpPr>
        <p:grpSpPr>
          <a:xfrm>
            <a:off x="359343" y="1274064"/>
            <a:ext cx="11338560" cy="5462016"/>
            <a:chOff x="426720" y="1219200"/>
            <a:chExt cx="11338560" cy="5462016"/>
          </a:xfrm>
        </p:grpSpPr>
        <p:sp>
          <p:nvSpPr>
            <p:cNvPr id="5" name="Shape 3"/>
            <p:cNvSpPr/>
            <p:nvPr/>
          </p:nvSpPr>
          <p:spPr>
            <a:xfrm>
              <a:off x="426720" y="121920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6" name="Shape 4"/>
            <p:cNvSpPr/>
            <p:nvPr/>
          </p:nvSpPr>
          <p:spPr>
            <a:xfrm>
              <a:off x="426720" y="1219200"/>
              <a:ext cx="146304" cy="707136"/>
            </a:xfrm>
            <a:prstGeom prst="rect">
              <a:avLst/>
            </a:prstGeom>
            <a:solidFill>
              <a:srgbClr val="1A7A4A"/>
            </a:solidFill>
            <a:ln w="12700">
              <a:solidFill>
                <a:srgbClr val="1A7A4A"/>
              </a:solidFill>
              <a:prstDash val="solid"/>
            </a:ln>
          </p:spPr>
        </p:sp>
        <p:sp>
          <p:nvSpPr>
            <p:cNvPr id="7" name="Shape 5"/>
            <p:cNvSpPr/>
            <p:nvPr/>
          </p:nvSpPr>
          <p:spPr>
            <a:xfrm>
              <a:off x="9204960" y="1341120"/>
              <a:ext cx="2438400" cy="463296"/>
            </a:xfrm>
            <a:prstGeom prst="rect">
              <a:avLst/>
            </a:prstGeom>
            <a:solidFill>
              <a:srgbClr val="1A7A4A"/>
            </a:solidFill>
            <a:ln w="12700">
              <a:solidFill>
                <a:srgbClr val="1A7A4A"/>
              </a:solidFill>
              <a:prstDash val="solid"/>
            </a:ln>
          </p:spPr>
        </p:sp>
        <p:sp>
          <p:nvSpPr>
            <p:cNvPr id="8" name="Text 6"/>
            <p:cNvSpPr/>
            <p:nvPr/>
          </p:nvSpPr>
          <p:spPr>
            <a:xfrm>
              <a:off x="9204960" y="134112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APPROVED</a:t>
              </a:r>
              <a:endParaRPr lang="en-US" sz="1133" dirty="0"/>
            </a:p>
          </p:txBody>
        </p:sp>
        <p:sp>
          <p:nvSpPr>
            <p:cNvPr id="9" name="Text 7"/>
            <p:cNvSpPr/>
            <p:nvPr/>
          </p:nvSpPr>
          <p:spPr>
            <a:xfrm>
              <a:off x="731520" y="128016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Foundayo (orforglipron)</a:t>
              </a:r>
              <a:endParaRPr lang="en-US" sz="1467" dirty="0"/>
            </a:p>
          </p:txBody>
        </p:sp>
        <p:sp>
          <p:nvSpPr>
            <p:cNvPr id="10" name="Text 8"/>
            <p:cNvSpPr/>
            <p:nvPr/>
          </p:nvSpPr>
          <p:spPr>
            <a:xfrm>
              <a:off x="731520" y="1584960"/>
              <a:ext cx="3169920" cy="268224"/>
            </a:xfrm>
            <a:prstGeom prst="rect">
              <a:avLst/>
            </a:prstGeom>
            <a:noFill/>
            <a:ln/>
          </p:spPr>
          <p:txBody>
            <a:bodyPr wrap="square" rtlCol="0" anchor="ctr"/>
            <a:lstStyle/>
            <a:p>
              <a:r>
                <a:rPr lang="en-US" sz="1333" dirty="0">
                  <a:solidFill>
                    <a:srgbClr val="1A7A4A"/>
                  </a:solidFill>
                  <a:latin typeface="Calibri" pitchFamily="34" charset="0"/>
                  <a:ea typeface="Calibri" pitchFamily="34" charset="-122"/>
                  <a:cs typeface="Calibri" pitchFamily="34" charset="-120"/>
                </a:rPr>
                <a:t>Obesity &amp; T2D (oral GLP-1)</a:t>
              </a:r>
              <a:endParaRPr lang="en-US" sz="1333" dirty="0"/>
            </a:p>
          </p:txBody>
        </p:sp>
        <p:sp>
          <p:nvSpPr>
            <p:cNvPr id="11" name="Text 9"/>
            <p:cNvSpPr/>
            <p:nvPr/>
          </p:nvSpPr>
          <p:spPr>
            <a:xfrm>
              <a:off x="4023360" y="134112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FDA approved Apr 2026 — no food/water restrictions; game-changer for oral access</a:t>
              </a:r>
              <a:endParaRPr lang="en-US" sz="1267" dirty="0"/>
            </a:p>
          </p:txBody>
        </p:sp>
        <p:sp>
          <p:nvSpPr>
            <p:cNvPr id="12" name="Shape 10"/>
            <p:cNvSpPr/>
            <p:nvPr/>
          </p:nvSpPr>
          <p:spPr>
            <a:xfrm>
              <a:off x="426720" y="201168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13" name="Shape 11"/>
            <p:cNvSpPr/>
            <p:nvPr/>
          </p:nvSpPr>
          <p:spPr>
            <a:xfrm>
              <a:off x="426720" y="2011680"/>
              <a:ext cx="146304" cy="707136"/>
            </a:xfrm>
            <a:prstGeom prst="rect">
              <a:avLst/>
            </a:prstGeom>
            <a:solidFill>
              <a:srgbClr val="C9952A"/>
            </a:solidFill>
            <a:ln w="12700">
              <a:solidFill>
                <a:srgbClr val="C9952A"/>
              </a:solidFill>
              <a:prstDash val="solid"/>
            </a:ln>
          </p:spPr>
        </p:sp>
        <p:sp>
          <p:nvSpPr>
            <p:cNvPr id="14" name="Shape 12"/>
            <p:cNvSpPr/>
            <p:nvPr/>
          </p:nvSpPr>
          <p:spPr>
            <a:xfrm>
              <a:off x="9204960" y="2133600"/>
              <a:ext cx="2438400" cy="463296"/>
            </a:xfrm>
            <a:prstGeom prst="rect">
              <a:avLst/>
            </a:prstGeom>
            <a:solidFill>
              <a:srgbClr val="C9952A"/>
            </a:solidFill>
            <a:ln w="12700">
              <a:solidFill>
                <a:srgbClr val="C9952A"/>
              </a:solidFill>
              <a:prstDash val="solid"/>
            </a:ln>
          </p:spPr>
        </p:sp>
        <p:sp>
          <p:nvSpPr>
            <p:cNvPr id="15" name="Text 13"/>
            <p:cNvSpPr/>
            <p:nvPr/>
          </p:nvSpPr>
          <p:spPr>
            <a:xfrm>
              <a:off x="9204960" y="213360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PHASE 3 / NDA FILING</a:t>
              </a:r>
              <a:endParaRPr lang="en-US" sz="1133" dirty="0"/>
            </a:p>
          </p:txBody>
        </p:sp>
        <p:sp>
          <p:nvSpPr>
            <p:cNvPr id="16" name="Text 14"/>
            <p:cNvSpPr/>
            <p:nvPr/>
          </p:nvSpPr>
          <p:spPr>
            <a:xfrm>
              <a:off x="731520" y="207264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Retatrutide ('Triple G')</a:t>
              </a:r>
              <a:endParaRPr lang="en-US" sz="1467" dirty="0"/>
            </a:p>
          </p:txBody>
        </p:sp>
        <p:sp>
          <p:nvSpPr>
            <p:cNvPr id="17" name="Text 15"/>
            <p:cNvSpPr/>
            <p:nvPr/>
          </p:nvSpPr>
          <p:spPr>
            <a:xfrm>
              <a:off x="731520" y="2377440"/>
              <a:ext cx="3169920" cy="268224"/>
            </a:xfrm>
            <a:prstGeom prst="rect">
              <a:avLst/>
            </a:prstGeom>
            <a:noFill/>
            <a:ln/>
          </p:spPr>
          <p:txBody>
            <a:bodyPr wrap="square" rtlCol="0" anchor="ctr"/>
            <a:lstStyle/>
            <a:p>
              <a:r>
                <a:rPr lang="en-US" sz="1333" dirty="0">
                  <a:solidFill>
                    <a:srgbClr val="C9952A"/>
                  </a:solidFill>
                  <a:latin typeface="Calibri" pitchFamily="34" charset="0"/>
                  <a:ea typeface="Calibri" pitchFamily="34" charset="-122"/>
                  <a:cs typeface="Calibri" pitchFamily="34" charset="-120"/>
                </a:rPr>
                <a:t>Obesity + Osteoarthritis + T2D</a:t>
              </a:r>
              <a:endParaRPr lang="en-US" sz="1333" dirty="0"/>
            </a:p>
          </p:txBody>
        </p:sp>
        <p:sp>
          <p:nvSpPr>
            <p:cNvPr id="18" name="Text 16"/>
            <p:cNvSpPr/>
            <p:nvPr/>
          </p:nvSpPr>
          <p:spPr>
            <a:xfrm>
              <a:off x="4023360" y="213360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Triple agonist (GLP-1+GIP+glucagon); 28.7% weight loss in trials — highest ever recorded</a:t>
              </a:r>
              <a:endParaRPr lang="en-US" sz="1267" dirty="0"/>
            </a:p>
          </p:txBody>
        </p:sp>
        <p:sp>
          <p:nvSpPr>
            <p:cNvPr id="19" name="Shape 17"/>
            <p:cNvSpPr/>
            <p:nvPr/>
          </p:nvSpPr>
          <p:spPr>
            <a:xfrm>
              <a:off x="426720" y="280416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20" name="Shape 18"/>
            <p:cNvSpPr/>
            <p:nvPr/>
          </p:nvSpPr>
          <p:spPr>
            <a:xfrm>
              <a:off x="426720" y="2804160"/>
              <a:ext cx="146304" cy="707136"/>
            </a:xfrm>
            <a:prstGeom prst="rect">
              <a:avLst/>
            </a:prstGeom>
            <a:solidFill>
              <a:srgbClr val="0F6B8A"/>
            </a:solidFill>
            <a:ln w="12700">
              <a:solidFill>
                <a:srgbClr val="0F6B8A"/>
              </a:solidFill>
              <a:prstDash val="solid"/>
            </a:ln>
          </p:spPr>
        </p:sp>
        <p:sp>
          <p:nvSpPr>
            <p:cNvPr id="21" name="Shape 19"/>
            <p:cNvSpPr/>
            <p:nvPr/>
          </p:nvSpPr>
          <p:spPr>
            <a:xfrm>
              <a:off x="9204960" y="2926080"/>
              <a:ext cx="2438400" cy="463296"/>
            </a:xfrm>
            <a:prstGeom prst="rect">
              <a:avLst/>
            </a:prstGeom>
            <a:solidFill>
              <a:srgbClr val="0F6B8A"/>
            </a:solidFill>
            <a:ln w="12700">
              <a:solidFill>
                <a:srgbClr val="0F6B8A"/>
              </a:solidFill>
              <a:prstDash val="solid"/>
            </a:ln>
          </p:spPr>
        </p:sp>
        <p:sp>
          <p:nvSpPr>
            <p:cNvPr id="22" name="Text 20"/>
            <p:cNvSpPr/>
            <p:nvPr/>
          </p:nvSpPr>
          <p:spPr>
            <a:xfrm>
              <a:off x="9204960" y="292608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NDA EXPANSIONS</a:t>
              </a:r>
              <a:endParaRPr lang="en-US" sz="1133" dirty="0"/>
            </a:p>
          </p:txBody>
        </p:sp>
        <p:sp>
          <p:nvSpPr>
            <p:cNvPr id="23" name="Text 21"/>
            <p:cNvSpPr/>
            <p:nvPr/>
          </p:nvSpPr>
          <p:spPr>
            <a:xfrm>
              <a:off x="731520" y="286512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Zepbound (tirzepatide)</a:t>
              </a:r>
              <a:endParaRPr lang="en-US" sz="1467" dirty="0"/>
            </a:p>
          </p:txBody>
        </p:sp>
        <p:sp>
          <p:nvSpPr>
            <p:cNvPr id="24" name="Text 22"/>
            <p:cNvSpPr/>
            <p:nvPr/>
          </p:nvSpPr>
          <p:spPr>
            <a:xfrm>
              <a:off x="731520" y="3169920"/>
              <a:ext cx="3169920" cy="268224"/>
            </a:xfrm>
            <a:prstGeom prst="rect">
              <a:avLst/>
            </a:prstGeom>
            <a:noFill/>
            <a:ln/>
          </p:spPr>
          <p:txBody>
            <a:bodyPr wrap="square" rtlCol="0" anchor="ctr"/>
            <a:lstStyle/>
            <a:p>
              <a:r>
                <a:rPr lang="en-US" sz="1333" dirty="0">
                  <a:solidFill>
                    <a:srgbClr val="0F6B8A"/>
                  </a:solidFill>
                  <a:latin typeface="Calibri" pitchFamily="34" charset="0"/>
                  <a:ea typeface="Calibri" pitchFamily="34" charset="-122"/>
                  <a:cs typeface="Calibri" pitchFamily="34" charset="-120"/>
                </a:rPr>
                <a:t>Sleep Apnea + Heart Failure + MASH</a:t>
              </a:r>
              <a:endParaRPr lang="en-US" sz="1333" dirty="0"/>
            </a:p>
          </p:txBody>
        </p:sp>
        <p:sp>
          <p:nvSpPr>
            <p:cNvPr id="25" name="Text 23"/>
            <p:cNvSpPr/>
            <p:nvPr/>
          </p:nvSpPr>
          <p:spPr>
            <a:xfrm>
              <a:off x="4023360" y="292608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Ongoing label expansions; approved for sleep apnea 2024; heart failure data compelling</a:t>
              </a:r>
              <a:endParaRPr lang="en-US" sz="1267" dirty="0"/>
            </a:p>
          </p:txBody>
        </p:sp>
        <p:sp>
          <p:nvSpPr>
            <p:cNvPr id="26" name="Shape 24"/>
            <p:cNvSpPr/>
            <p:nvPr/>
          </p:nvSpPr>
          <p:spPr>
            <a:xfrm>
              <a:off x="426720" y="359664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27" name="Shape 25"/>
            <p:cNvSpPr/>
            <p:nvPr/>
          </p:nvSpPr>
          <p:spPr>
            <a:xfrm>
              <a:off x="426720" y="3596640"/>
              <a:ext cx="146304" cy="707136"/>
            </a:xfrm>
            <a:prstGeom prst="rect">
              <a:avLst/>
            </a:prstGeom>
            <a:solidFill>
              <a:srgbClr val="1A7A4A"/>
            </a:solidFill>
            <a:ln w="12700">
              <a:solidFill>
                <a:srgbClr val="1A7A4A"/>
              </a:solidFill>
              <a:prstDash val="solid"/>
            </a:ln>
          </p:spPr>
        </p:sp>
        <p:sp>
          <p:nvSpPr>
            <p:cNvPr id="28" name="Shape 26"/>
            <p:cNvSpPr/>
            <p:nvPr/>
          </p:nvSpPr>
          <p:spPr>
            <a:xfrm>
              <a:off x="9204960" y="3718560"/>
              <a:ext cx="2438400" cy="463296"/>
            </a:xfrm>
            <a:prstGeom prst="rect">
              <a:avLst/>
            </a:prstGeom>
            <a:solidFill>
              <a:srgbClr val="1A7A4A"/>
            </a:solidFill>
            <a:ln w="12700">
              <a:solidFill>
                <a:srgbClr val="1A7A4A"/>
              </a:solidFill>
              <a:prstDash val="solid"/>
            </a:ln>
          </p:spPr>
        </p:sp>
        <p:sp>
          <p:nvSpPr>
            <p:cNvPr id="29" name="Text 27"/>
            <p:cNvSpPr/>
            <p:nvPr/>
          </p:nvSpPr>
          <p:spPr>
            <a:xfrm>
              <a:off x="9204960" y="371856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APPROVED / EXPANDING</a:t>
              </a:r>
              <a:endParaRPr lang="en-US" sz="1133" dirty="0"/>
            </a:p>
          </p:txBody>
        </p:sp>
        <p:sp>
          <p:nvSpPr>
            <p:cNvPr id="30" name="Text 28"/>
            <p:cNvSpPr/>
            <p:nvPr/>
          </p:nvSpPr>
          <p:spPr>
            <a:xfrm>
              <a:off x="731520" y="365760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Donanemab (Kisunla)</a:t>
              </a:r>
              <a:endParaRPr lang="en-US" sz="1467" dirty="0"/>
            </a:p>
          </p:txBody>
        </p:sp>
        <p:sp>
          <p:nvSpPr>
            <p:cNvPr id="31" name="Text 29"/>
            <p:cNvSpPr/>
            <p:nvPr/>
          </p:nvSpPr>
          <p:spPr>
            <a:xfrm>
              <a:off x="731520" y="3962400"/>
              <a:ext cx="3169920" cy="268224"/>
            </a:xfrm>
            <a:prstGeom prst="rect">
              <a:avLst/>
            </a:prstGeom>
            <a:noFill/>
            <a:ln/>
          </p:spPr>
          <p:txBody>
            <a:bodyPr wrap="square" rtlCol="0" anchor="ctr"/>
            <a:lstStyle/>
            <a:p>
              <a:r>
                <a:rPr lang="en-US" sz="1333" dirty="0">
                  <a:solidFill>
                    <a:srgbClr val="1A7A4A"/>
                  </a:solidFill>
                  <a:latin typeface="Calibri" pitchFamily="34" charset="0"/>
                  <a:ea typeface="Calibri" pitchFamily="34" charset="-122"/>
                  <a:cs typeface="Calibri" pitchFamily="34" charset="-120"/>
                </a:rPr>
                <a:t>Alzheimer's Disease</a:t>
              </a:r>
              <a:endParaRPr lang="en-US" sz="1333" dirty="0"/>
            </a:p>
          </p:txBody>
        </p:sp>
        <p:sp>
          <p:nvSpPr>
            <p:cNvPr id="32" name="Text 30"/>
            <p:cNvSpPr/>
            <p:nvPr/>
          </p:nvSpPr>
          <p:spPr>
            <a:xfrm>
              <a:off x="4023360" y="371856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First drug to slow Alzheimer's cognitive decline; global rollout in progress; Kisunla brand</a:t>
              </a:r>
              <a:endParaRPr lang="en-US" sz="1267" dirty="0"/>
            </a:p>
          </p:txBody>
        </p:sp>
        <p:sp>
          <p:nvSpPr>
            <p:cNvPr id="33" name="Shape 31"/>
            <p:cNvSpPr/>
            <p:nvPr/>
          </p:nvSpPr>
          <p:spPr>
            <a:xfrm>
              <a:off x="426720" y="438912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34" name="Shape 32"/>
            <p:cNvSpPr/>
            <p:nvPr/>
          </p:nvSpPr>
          <p:spPr>
            <a:xfrm>
              <a:off x="426720" y="4389120"/>
              <a:ext cx="146304" cy="707136"/>
            </a:xfrm>
            <a:prstGeom prst="rect">
              <a:avLst/>
            </a:prstGeom>
            <a:solidFill>
              <a:srgbClr val="0F6B8A"/>
            </a:solidFill>
            <a:ln w="12700">
              <a:solidFill>
                <a:srgbClr val="0F6B8A"/>
              </a:solidFill>
              <a:prstDash val="solid"/>
            </a:ln>
          </p:spPr>
        </p:sp>
        <p:sp>
          <p:nvSpPr>
            <p:cNvPr id="35" name="Shape 33"/>
            <p:cNvSpPr/>
            <p:nvPr/>
          </p:nvSpPr>
          <p:spPr>
            <a:xfrm>
              <a:off x="9204960" y="4511040"/>
              <a:ext cx="2438400" cy="463296"/>
            </a:xfrm>
            <a:prstGeom prst="rect">
              <a:avLst/>
            </a:prstGeom>
            <a:solidFill>
              <a:srgbClr val="0F6B8A"/>
            </a:solidFill>
            <a:ln w="12700">
              <a:solidFill>
                <a:srgbClr val="0F6B8A"/>
              </a:solidFill>
              <a:prstDash val="solid"/>
            </a:ln>
          </p:spPr>
        </p:sp>
        <p:sp>
          <p:nvSpPr>
            <p:cNvPr id="36" name="Text 34"/>
            <p:cNvSpPr/>
            <p:nvPr/>
          </p:nvSpPr>
          <p:spPr>
            <a:xfrm>
              <a:off x="9204960" y="451104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APPROVED (EU)</a:t>
              </a:r>
              <a:endParaRPr lang="en-US" sz="1133" dirty="0"/>
            </a:p>
          </p:txBody>
        </p:sp>
        <p:sp>
          <p:nvSpPr>
            <p:cNvPr id="37" name="Text 35"/>
            <p:cNvSpPr/>
            <p:nvPr/>
          </p:nvSpPr>
          <p:spPr>
            <a:xfrm>
              <a:off x="731520" y="445008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LY3819253 (Lebrikizumab)</a:t>
              </a:r>
              <a:endParaRPr lang="en-US" sz="1467" dirty="0"/>
            </a:p>
          </p:txBody>
        </p:sp>
        <p:sp>
          <p:nvSpPr>
            <p:cNvPr id="38" name="Text 36"/>
            <p:cNvSpPr/>
            <p:nvPr/>
          </p:nvSpPr>
          <p:spPr>
            <a:xfrm>
              <a:off x="731520" y="4754880"/>
              <a:ext cx="3169920" cy="268224"/>
            </a:xfrm>
            <a:prstGeom prst="rect">
              <a:avLst/>
            </a:prstGeom>
            <a:noFill/>
            <a:ln/>
          </p:spPr>
          <p:txBody>
            <a:bodyPr wrap="square" rtlCol="0" anchor="ctr"/>
            <a:lstStyle/>
            <a:p>
              <a:r>
                <a:rPr lang="en-US" sz="1333" dirty="0">
                  <a:solidFill>
                    <a:srgbClr val="0F6B8A"/>
                  </a:solidFill>
                  <a:latin typeface="Calibri" pitchFamily="34" charset="0"/>
                  <a:ea typeface="Calibri" pitchFamily="34" charset="-122"/>
                  <a:cs typeface="Calibri" pitchFamily="34" charset="-120"/>
                </a:rPr>
                <a:t>Atopic Dermatitis</a:t>
              </a:r>
              <a:endParaRPr lang="en-US" sz="1333" dirty="0"/>
            </a:p>
          </p:txBody>
        </p:sp>
        <p:sp>
          <p:nvSpPr>
            <p:cNvPr id="39" name="Text 37"/>
            <p:cNvSpPr/>
            <p:nvPr/>
          </p:nvSpPr>
          <p:spPr>
            <a:xfrm>
              <a:off x="4023360" y="451104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IL-13 inhibitor; approved in EU as Ebglyss; US launch underway — growing immunology base</a:t>
              </a:r>
              <a:endParaRPr lang="en-US" sz="1267" dirty="0"/>
            </a:p>
          </p:txBody>
        </p:sp>
        <p:sp>
          <p:nvSpPr>
            <p:cNvPr id="40" name="Shape 38"/>
            <p:cNvSpPr/>
            <p:nvPr/>
          </p:nvSpPr>
          <p:spPr>
            <a:xfrm>
              <a:off x="426720" y="518160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41" name="Shape 39"/>
            <p:cNvSpPr/>
            <p:nvPr/>
          </p:nvSpPr>
          <p:spPr>
            <a:xfrm>
              <a:off x="426720" y="5181600"/>
              <a:ext cx="146304" cy="707136"/>
            </a:xfrm>
            <a:prstGeom prst="rect">
              <a:avLst/>
            </a:prstGeom>
            <a:solidFill>
              <a:srgbClr val="D4691E"/>
            </a:solidFill>
            <a:ln w="12700">
              <a:solidFill>
                <a:srgbClr val="D4691E"/>
              </a:solidFill>
              <a:prstDash val="solid"/>
            </a:ln>
          </p:spPr>
        </p:sp>
        <p:sp>
          <p:nvSpPr>
            <p:cNvPr id="42" name="Shape 40"/>
            <p:cNvSpPr/>
            <p:nvPr/>
          </p:nvSpPr>
          <p:spPr>
            <a:xfrm>
              <a:off x="9204960" y="5303520"/>
              <a:ext cx="2438400" cy="463296"/>
            </a:xfrm>
            <a:prstGeom prst="rect">
              <a:avLst/>
            </a:prstGeom>
            <a:solidFill>
              <a:srgbClr val="D4691E"/>
            </a:solidFill>
            <a:ln w="12700">
              <a:solidFill>
                <a:srgbClr val="D4691E"/>
              </a:solidFill>
              <a:prstDash val="solid"/>
            </a:ln>
          </p:spPr>
        </p:sp>
        <p:sp>
          <p:nvSpPr>
            <p:cNvPr id="43" name="Text 41"/>
            <p:cNvSpPr/>
            <p:nvPr/>
          </p:nvSpPr>
          <p:spPr>
            <a:xfrm>
              <a:off x="9204960" y="530352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PHASE 2/3</a:t>
              </a:r>
              <a:endParaRPr lang="en-US" sz="1133" dirty="0"/>
            </a:p>
          </p:txBody>
        </p:sp>
        <p:sp>
          <p:nvSpPr>
            <p:cNvPr id="44" name="Text 42"/>
            <p:cNvSpPr/>
            <p:nvPr/>
          </p:nvSpPr>
          <p:spPr>
            <a:xfrm>
              <a:off x="731520" y="524256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Olomorasib + Sotorasib</a:t>
              </a:r>
              <a:endParaRPr lang="en-US" sz="1467" dirty="0"/>
            </a:p>
          </p:txBody>
        </p:sp>
        <p:sp>
          <p:nvSpPr>
            <p:cNvPr id="45" name="Text 43"/>
            <p:cNvSpPr/>
            <p:nvPr/>
          </p:nvSpPr>
          <p:spPr>
            <a:xfrm>
              <a:off x="731520" y="5547360"/>
              <a:ext cx="3169920" cy="268224"/>
            </a:xfrm>
            <a:prstGeom prst="rect">
              <a:avLst/>
            </a:prstGeom>
            <a:noFill/>
            <a:ln/>
          </p:spPr>
          <p:txBody>
            <a:bodyPr wrap="square" rtlCol="0" anchor="ctr"/>
            <a:lstStyle/>
            <a:p>
              <a:r>
                <a:rPr lang="en-US" sz="1333" dirty="0">
                  <a:solidFill>
                    <a:srgbClr val="D4691E"/>
                  </a:solidFill>
                  <a:latin typeface="Calibri" pitchFamily="34" charset="0"/>
                  <a:ea typeface="Calibri" pitchFamily="34" charset="-122"/>
                  <a:cs typeface="Calibri" pitchFamily="34" charset="-120"/>
                </a:rPr>
                <a:t>KRAS G12C Lung &amp; Colorectal</a:t>
              </a:r>
              <a:endParaRPr lang="en-US" sz="1333" dirty="0"/>
            </a:p>
          </p:txBody>
        </p:sp>
        <p:sp>
          <p:nvSpPr>
            <p:cNvPr id="46" name="Text 44"/>
            <p:cNvSpPr/>
            <p:nvPr/>
          </p:nvSpPr>
          <p:spPr>
            <a:xfrm>
              <a:off x="4023360" y="530352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Combination oncology approach; KRAS mutation targeting emerging as major oncology frontier</a:t>
              </a:r>
              <a:endParaRPr lang="en-US" sz="1267" dirty="0"/>
            </a:p>
          </p:txBody>
        </p:sp>
        <p:sp>
          <p:nvSpPr>
            <p:cNvPr id="47" name="Shape 45"/>
            <p:cNvSpPr/>
            <p:nvPr/>
          </p:nvSpPr>
          <p:spPr>
            <a:xfrm>
              <a:off x="426720" y="5974080"/>
              <a:ext cx="11338560" cy="707136"/>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48" name="Shape 46"/>
            <p:cNvSpPr/>
            <p:nvPr/>
          </p:nvSpPr>
          <p:spPr>
            <a:xfrm>
              <a:off x="426720" y="5974080"/>
              <a:ext cx="146304" cy="707136"/>
            </a:xfrm>
            <a:prstGeom prst="rect">
              <a:avLst/>
            </a:prstGeom>
            <a:solidFill>
              <a:srgbClr val="4A5568"/>
            </a:solidFill>
            <a:ln w="12700">
              <a:solidFill>
                <a:srgbClr val="4A5568"/>
              </a:solidFill>
              <a:prstDash val="solid"/>
            </a:ln>
          </p:spPr>
        </p:sp>
        <p:sp>
          <p:nvSpPr>
            <p:cNvPr id="49" name="Shape 47"/>
            <p:cNvSpPr/>
            <p:nvPr/>
          </p:nvSpPr>
          <p:spPr>
            <a:xfrm>
              <a:off x="9204960" y="6096000"/>
              <a:ext cx="2438400" cy="463296"/>
            </a:xfrm>
            <a:prstGeom prst="rect">
              <a:avLst/>
            </a:prstGeom>
            <a:solidFill>
              <a:srgbClr val="4A5568"/>
            </a:solidFill>
            <a:ln w="12700">
              <a:solidFill>
                <a:srgbClr val="4A5568"/>
              </a:solidFill>
              <a:prstDash val="solid"/>
            </a:ln>
          </p:spPr>
        </p:sp>
        <p:sp>
          <p:nvSpPr>
            <p:cNvPr id="50" name="Text 48"/>
            <p:cNvSpPr/>
            <p:nvPr/>
          </p:nvSpPr>
          <p:spPr>
            <a:xfrm>
              <a:off x="9204960" y="6096000"/>
              <a:ext cx="2438400" cy="463296"/>
            </a:xfrm>
            <a:prstGeom prst="rect">
              <a:avLst/>
            </a:prstGeom>
            <a:noFill/>
            <a:ln/>
          </p:spPr>
          <p:txBody>
            <a:bodyPr wrap="square" rtlCol="0" anchor="ctr"/>
            <a:lstStyle/>
            <a:p>
              <a:pPr algn="ctr"/>
              <a:r>
                <a:rPr lang="en-US" sz="1133" b="1" dirty="0">
                  <a:solidFill>
                    <a:srgbClr val="FFFFFF"/>
                  </a:solidFill>
                  <a:latin typeface="Calibri" pitchFamily="34" charset="0"/>
                  <a:ea typeface="Calibri" pitchFamily="34" charset="-122"/>
                  <a:cs typeface="Calibri" pitchFamily="34" charset="-120"/>
                </a:rPr>
                <a:t>PRECLINICAL / PHASE 1</a:t>
              </a:r>
              <a:endParaRPr lang="en-US" sz="1133" dirty="0"/>
            </a:p>
          </p:txBody>
        </p:sp>
        <p:sp>
          <p:nvSpPr>
            <p:cNvPr id="51" name="Text 49"/>
            <p:cNvSpPr/>
            <p:nvPr/>
          </p:nvSpPr>
          <p:spPr>
            <a:xfrm>
              <a:off x="731520" y="6035040"/>
              <a:ext cx="3169920" cy="304800"/>
            </a:xfrm>
            <a:prstGeom prst="rect">
              <a:avLst/>
            </a:prstGeom>
            <a:noFill/>
            <a:ln/>
          </p:spPr>
          <p:txBody>
            <a:bodyPr wrap="square" rtlCol="0" anchor="ctr"/>
            <a:lstStyle/>
            <a:p>
              <a:r>
                <a:rPr lang="en-US" sz="1467" b="1" dirty="0">
                  <a:solidFill>
                    <a:srgbClr val="12203A"/>
                  </a:solidFill>
                  <a:latin typeface="Calibri" pitchFamily="34" charset="0"/>
                  <a:ea typeface="Calibri" pitchFamily="34" charset="-122"/>
                  <a:cs typeface="Calibri" pitchFamily="34" charset="-120"/>
                </a:rPr>
                <a:t>Gene Medicine Platform</a:t>
              </a:r>
              <a:endParaRPr lang="en-US" sz="1467" dirty="0"/>
            </a:p>
          </p:txBody>
        </p:sp>
        <p:sp>
          <p:nvSpPr>
            <p:cNvPr id="52" name="Text 50"/>
            <p:cNvSpPr/>
            <p:nvPr/>
          </p:nvSpPr>
          <p:spPr>
            <a:xfrm>
              <a:off x="731520" y="6339840"/>
              <a:ext cx="3169920" cy="268224"/>
            </a:xfrm>
            <a:prstGeom prst="rect">
              <a:avLst/>
            </a:prstGeom>
            <a:noFill/>
            <a:ln/>
          </p:spPr>
          <p:txBody>
            <a:bodyPr wrap="square" rtlCol="0" anchor="ctr"/>
            <a:lstStyle/>
            <a:p>
              <a:r>
                <a:rPr lang="en-US" sz="1333" dirty="0">
                  <a:solidFill>
                    <a:srgbClr val="4A5568"/>
                  </a:solidFill>
                  <a:latin typeface="Calibri" pitchFamily="34" charset="0"/>
                  <a:ea typeface="Calibri" pitchFamily="34" charset="-122"/>
                  <a:cs typeface="Calibri" pitchFamily="34" charset="-120"/>
                </a:rPr>
                <a:t>Cardiovascular + Rare Disease</a:t>
              </a:r>
              <a:endParaRPr lang="en-US" sz="1333" dirty="0"/>
            </a:p>
          </p:txBody>
        </p:sp>
        <p:sp>
          <p:nvSpPr>
            <p:cNvPr id="53" name="Text 51"/>
            <p:cNvSpPr/>
            <p:nvPr/>
          </p:nvSpPr>
          <p:spPr>
            <a:xfrm>
              <a:off x="4023360" y="6096000"/>
              <a:ext cx="4998720" cy="487680"/>
            </a:xfrm>
            <a:prstGeom prst="rect">
              <a:avLst/>
            </a:prstGeom>
            <a:noFill/>
            <a:ln/>
          </p:spPr>
          <p:txBody>
            <a:bodyPr wrap="square" rtlCol="0" anchor="ctr"/>
            <a:lstStyle/>
            <a:p>
              <a:r>
                <a:rPr lang="en-US" sz="1267" dirty="0">
                  <a:latin typeface="Calibri" pitchFamily="34" charset="0"/>
                  <a:ea typeface="Calibri" pitchFamily="34" charset="-122"/>
                  <a:cs typeface="Calibri" pitchFamily="34" charset="-120"/>
                </a:rPr>
                <a:t>Verve Therapeutics acquisition; Lebanon genetic medicine plant opened May 2026</a:t>
              </a:r>
              <a:endParaRPr lang="en-US" sz="1267" dirty="0"/>
            </a:p>
          </p:txBody>
        </p:sp>
      </p:grpSp>
      <p:sp>
        <p:nvSpPr>
          <p:cNvPr id="54" name="Shape 0">
            <a:extLst>
              <a:ext uri="{FF2B5EF4-FFF2-40B4-BE49-F238E27FC236}">
                <a16:creationId xmlns:a16="http://schemas.microsoft.com/office/drawing/2014/main" id="{5FD5E4C9-1D1F-2DD8-13FB-FE6D0AFD7241}"/>
              </a:ext>
            </a:extLst>
          </p:cNvPr>
          <p:cNvSpPr/>
          <p:nvPr/>
        </p:nvSpPr>
        <p:spPr>
          <a:xfrm>
            <a:off x="0" y="0"/>
            <a:ext cx="12192000" cy="914400"/>
          </a:xfrm>
          <a:prstGeom prst="rect">
            <a:avLst/>
          </a:prstGeom>
          <a:solidFill>
            <a:srgbClr val="1E293B"/>
          </a:solidFill>
          <a:ln w="12700">
            <a:solidFill>
              <a:srgbClr val="1E293B"/>
            </a:solidFill>
            <a:prstDash val="solid"/>
          </a:ln>
        </p:spPr>
      </p:sp>
      <p:sp>
        <p:nvSpPr>
          <p:cNvPr id="55" name="Shape 1">
            <a:extLst>
              <a:ext uri="{FF2B5EF4-FFF2-40B4-BE49-F238E27FC236}">
                <a16:creationId xmlns:a16="http://schemas.microsoft.com/office/drawing/2014/main" id="{690EC055-5538-1B31-AAF3-52984F0208B8}"/>
              </a:ext>
            </a:extLst>
          </p:cNvPr>
          <p:cNvSpPr/>
          <p:nvPr/>
        </p:nvSpPr>
        <p:spPr>
          <a:xfrm>
            <a:off x="0" y="0"/>
            <a:ext cx="463296" cy="914400"/>
          </a:xfrm>
          <a:prstGeom prst="rect">
            <a:avLst/>
          </a:prstGeom>
          <a:solidFill>
            <a:srgbClr val="00B4D8"/>
          </a:solidFill>
          <a:ln w="12700">
            <a:solidFill>
              <a:srgbClr val="00B4D8"/>
            </a:solidFill>
            <a:prstDash val="solid"/>
          </a:ln>
        </p:spPr>
      </p:sp>
      <p:sp>
        <p:nvSpPr>
          <p:cNvPr id="56" name="Text 2">
            <a:extLst>
              <a:ext uri="{FF2B5EF4-FFF2-40B4-BE49-F238E27FC236}">
                <a16:creationId xmlns:a16="http://schemas.microsoft.com/office/drawing/2014/main" id="{4B93C0F9-3F46-9E9E-D703-61A609188AD3}"/>
              </a:ext>
            </a:extLst>
          </p:cNvPr>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4: PIPELINE &amp; R&amp;D STRATEGY</a:t>
            </a:r>
            <a:endParaRPr lang="en-US" sz="2267" dirty="0"/>
          </a:p>
        </p:txBody>
      </p:sp>
      <p:sp>
        <p:nvSpPr>
          <p:cNvPr id="58" name="Text 2">
            <a:extLst>
              <a:ext uri="{FF2B5EF4-FFF2-40B4-BE49-F238E27FC236}">
                <a16:creationId xmlns:a16="http://schemas.microsoft.com/office/drawing/2014/main" id="{B1416B55-C084-A69C-CD12-97DCA8B9D8A5}"/>
              </a:ext>
            </a:extLst>
          </p:cNvPr>
          <p:cNvSpPr/>
          <p:nvPr/>
        </p:nvSpPr>
        <p:spPr>
          <a:xfrm>
            <a:off x="432495" y="911352"/>
            <a:ext cx="8229600" cy="27432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Next-generation growth engines across obesity, oncology, neuroscience, and genetic medicine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3E"/>
          </a:solidFill>
          <a:ln w="12700">
            <a:solidFill>
              <a:srgbClr val="0D1B3E"/>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5: MANUFACTURING FOOTPRINT &amp; GEOGRAPHIC REVENUE</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$65B manufacturing investment programme underway — building the supply moat for the next decade</a:t>
            </a: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1115568"/>
            <a:ext cx="1828800" cy="1481328"/>
          </a:xfrm>
          <a:prstGeom prst="rect">
            <a:avLst/>
          </a:prstGeom>
          <a:solidFill>
            <a:srgbClr val="162040"/>
          </a:solidFill>
          <a:ln w="12700">
            <a:solidFill>
              <a:srgbClr val="162040"/>
            </a:solidFill>
            <a:prstDash val="solid"/>
          </a:ln>
        </p:spPr>
      </p:sp>
      <p:sp>
        <p:nvSpPr>
          <p:cNvPr id="8" name="Shape 6"/>
          <p:cNvSpPr/>
          <p:nvPr/>
        </p:nvSpPr>
        <p:spPr>
          <a:xfrm>
            <a:off x="256032" y="1115568"/>
            <a:ext cx="1828800" cy="54864"/>
          </a:xfrm>
          <a:prstGeom prst="rect">
            <a:avLst/>
          </a:prstGeom>
          <a:solidFill>
            <a:srgbClr val="00C8C8"/>
          </a:solidFill>
          <a:ln w="12700">
            <a:solidFill>
              <a:srgbClr val="00C8C8"/>
            </a:solidFill>
            <a:prstDash val="solid"/>
          </a:ln>
        </p:spPr>
      </p:sp>
      <p:sp>
        <p:nvSpPr>
          <p:cNvPr id="9" name="Text 7"/>
          <p:cNvSpPr/>
          <p:nvPr/>
        </p:nvSpPr>
        <p:spPr>
          <a:xfrm>
            <a:off x="365760" y="1207008"/>
            <a:ext cx="1627632"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Indianapolis, IN</a:t>
            </a:r>
            <a:endParaRPr lang="en-US" sz="1400" dirty="0"/>
          </a:p>
        </p:txBody>
      </p:sp>
      <p:sp>
        <p:nvSpPr>
          <p:cNvPr id="10" name="Text 8"/>
          <p:cNvSpPr/>
          <p:nvPr/>
        </p:nvSpPr>
        <p:spPr>
          <a:xfrm>
            <a:off x="365760" y="1596829"/>
            <a:ext cx="1627632" cy="384048"/>
          </a:xfrm>
          <a:prstGeom prst="rect">
            <a:avLst/>
          </a:prstGeom>
          <a:noFill/>
          <a:ln/>
        </p:spPr>
        <p:txBody>
          <a:bodyPr wrap="square" rtlCol="0" anchor="ctr"/>
          <a:lstStyle/>
          <a:p>
            <a:pPr marL="0" indent="0">
              <a:buNone/>
            </a:pPr>
            <a:r>
              <a:rPr lang="en-US" sz="2000" b="1" dirty="0">
                <a:solidFill>
                  <a:srgbClr val="00C8C8"/>
                </a:solidFill>
                <a:latin typeface="Calibri" pitchFamily="34" charset="0"/>
                <a:ea typeface="Calibri" pitchFamily="34" charset="-122"/>
                <a:cs typeface="Calibri" pitchFamily="34" charset="-120"/>
              </a:rPr>
              <a:t>HQ + Legacy</a:t>
            </a:r>
            <a:endParaRPr lang="en-US" sz="2000" dirty="0"/>
          </a:p>
        </p:txBody>
      </p:sp>
      <p:sp>
        <p:nvSpPr>
          <p:cNvPr id="11" name="Text 9"/>
          <p:cNvSpPr/>
          <p:nvPr/>
        </p:nvSpPr>
        <p:spPr>
          <a:xfrm>
            <a:off x="365760" y="1979676"/>
            <a:ext cx="1627632" cy="62179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Origin site; insulin/biotech history</a:t>
            </a:r>
            <a:endParaRPr lang="en-US" sz="1200" dirty="0">
              <a:solidFill>
                <a:schemeClr val="bg1"/>
              </a:solidFill>
            </a:endParaRPr>
          </a:p>
        </p:txBody>
      </p:sp>
      <p:sp>
        <p:nvSpPr>
          <p:cNvPr id="12" name="Shape 10"/>
          <p:cNvSpPr/>
          <p:nvPr/>
        </p:nvSpPr>
        <p:spPr>
          <a:xfrm>
            <a:off x="2249424" y="1115568"/>
            <a:ext cx="1828800" cy="1481328"/>
          </a:xfrm>
          <a:prstGeom prst="rect">
            <a:avLst/>
          </a:prstGeom>
          <a:solidFill>
            <a:srgbClr val="162040"/>
          </a:solidFill>
          <a:ln w="12700">
            <a:solidFill>
              <a:srgbClr val="162040"/>
            </a:solidFill>
            <a:prstDash val="solid"/>
          </a:ln>
        </p:spPr>
      </p:sp>
      <p:sp>
        <p:nvSpPr>
          <p:cNvPr id="13" name="Shape 11"/>
          <p:cNvSpPr/>
          <p:nvPr/>
        </p:nvSpPr>
        <p:spPr>
          <a:xfrm>
            <a:off x="2249424" y="1115568"/>
            <a:ext cx="1828800" cy="54864"/>
          </a:xfrm>
          <a:prstGeom prst="rect">
            <a:avLst/>
          </a:prstGeom>
          <a:solidFill>
            <a:srgbClr val="00C8C8"/>
          </a:solidFill>
          <a:ln w="12700">
            <a:solidFill>
              <a:srgbClr val="00C8C8"/>
            </a:solidFill>
            <a:prstDash val="solid"/>
          </a:ln>
        </p:spPr>
      </p:sp>
      <p:sp>
        <p:nvSpPr>
          <p:cNvPr id="14" name="Text 12"/>
          <p:cNvSpPr/>
          <p:nvPr/>
        </p:nvSpPr>
        <p:spPr>
          <a:xfrm>
            <a:off x="2359152" y="1207008"/>
            <a:ext cx="1627632"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Branchburg, NJ</a:t>
            </a:r>
            <a:endParaRPr lang="en-US" sz="1400" dirty="0"/>
          </a:p>
        </p:txBody>
      </p:sp>
      <p:sp>
        <p:nvSpPr>
          <p:cNvPr id="15" name="Text 13"/>
          <p:cNvSpPr/>
          <p:nvPr/>
        </p:nvSpPr>
        <p:spPr>
          <a:xfrm>
            <a:off x="2334769" y="1591056"/>
            <a:ext cx="1652016" cy="393192"/>
          </a:xfrm>
          <a:prstGeom prst="rect">
            <a:avLst/>
          </a:prstGeom>
          <a:noFill/>
          <a:ln/>
        </p:spPr>
        <p:txBody>
          <a:bodyPr wrap="square" rtlCol="0" anchor="ctr"/>
          <a:lstStyle/>
          <a:p>
            <a:pPr marL="0" indent="0">
              <a:buNone/>
            </a:pPr>
            <a:r>
              <a:rPr lang="en-US" sz="2000" b="1" dirty="0">
                <a:solidFill>
                  <a:srgbClr val="00C8C8"/>
                </a:solidFill>
                <a:latin typeface="Calibri" pitchFamily="34" charset="0"/>
                <a:ea typeface="Calibri" pitchFamily="34" charset="-122"/>
                <a:cs typeface="Calibri" pitchFamily="34" charset="-120"/>
              </a:rPr>
              <a:t>$5.3B Expansion</a:t>
            </a:r>
            <a:endParaRPr lang="en-US" sz="2000" dirty="0"/>
          </a:p>
        </p:txBody>
      </p:sp>
      <p:sp>
        <p:nvSpPr>
          <p:cNvPr id="16" name="Text 14"/>
          <p:cNvSpPr/>
          <p:nvPr/>
        </p:nvSpPr>
        <p:spPr>
          <a:xfrm>
            <a:off x="2334769" y="2011680"/>
            <a:ext cx="1627632" cy="62179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Primary tirzepatide API; online 2025–26</a:t>
            </a:r>
            <a:endParaRPr lang="en-US" sz="1200" dirty="0">
              <a:solidFill>
                <a:schemeClr val="bg1"/>
              </a:solidFill>
            </a:endParaRPr>
          </a:p>
        </p:txBody>
      </p:sp>
      <p:sp>
        <p:nvSpPr>
          <p:cNvPr id="17" name="Shape 15"/>
          <p:cNvSpPr/>
          <p:nvPr/>
        </p:nvSpPr>
        <p:spPr>
          <a:xfrm>
            <a:off x="4242816" y="1115568"/>
            <a:ext cx="1828800" cy="1481328"/>
          </a:xfrm>
          <a:prstGeom prst="rect">
            <a:avLst/>
          </a:prstGeom>
          <a:solidFill>
            <a:srgbClr val="162040"/>
          </a:solidFill>
          <a:ln w="12700">
            <a:solidFill>
              <a:srgbClr val="162040"/>
            </a:solidFill>
            <a:prstDash val="solid"/>
          </a:ln>
        </p:spPr>
      </p:sp>
      <p:sp>
        <p:nvSpPr>
          <p:cNvPr id="18" name="Shape 16"/>
          <p:cNvSpPr/>
          <p:nvPr/>
        </p:nvSpPr>
        <p:spPr>
          <a:xfrm>
            <a:off x="4242816" y="1115568"/>
            <a:ext cx="1828800" cy="54864"/>
          </a:xfrm>
          <a:prstGeom prst="rect">
            <a:avLst/>
          </a:prstGeom>
          <a:solidFill>
            <a:srgbClr val="FFB800"/>
          </a:solidFill>
          <a:ln w="12700">
            <a:solidFill>
              <a:srgbClr val="FFB800"/>
            </a:solidFill>
            <a:prstDash val="solid"/>
          </a:ln>
        </p:spPr>
      </p:sp>
      <p:sp>
        <p:nvSpPr>
          <p:cNvPr id="19" name="Text 17"/>
          <p:cNvSpPr/>
          <p:nvPr/>
        </p:nvSpPr>
        <p:spPr>
          <a:xfrm>
            <a:off x="4352544" y="1207008"/>
            <a:ext cx="1627632"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Lebanon, IN (MFY)</a:t>
            </a:r>
            <a:endParaRPr lang="en-US" sz="1400" dirty="0"/>
          </a:p>
        </p:txBody>
      </p:sp>
      <p:sp>
        <p:nvSpPr>
          <p:cNvPr id="20" name="Text 18"/>
          <p:cNvSpPr/>
          <p:nvPr/>
        </p:nvSpPr>
        <p:spPr>
          <a:xfrm>
            <a:off x="4352544" y="1606456"/>
            <a:ext cx="1627632" cy="384048"/>
          </a:xfrm>
          <a:prstGeom prst="rect">
            <a:avLst/>
          </a:prstGeom>
          <a:noFill/>
          <a:ln/>
        </p:spPr>
        <p:txBody>
          <a:bodyPr wrap="square" rtlCol="0" anchor="ctr"/>
          <a:lstStyle/>
          <a:p>
            <a:pPr marL="0" indent="0">
              <a:buNone/>
            </a:pPr>
            <a:r>
              <a:rPr lang="en-US" sz="2000" b="1" dirty="0">
                <a:solidFill>
                  <a:srgbClr val="FFB800"/>
                </a:solidFill>
                <a:latin typeface="Calibri" pitchFamily="34" charset="0"/>
                <a:ea typeface="Calibri" pitchFamily="34" charset="-122"/>
                <a:cs typeface="Calibri" pitchFamily="34" charset="-120"/>
              </a:rPr>
              <a:t>$4.5B Foundry</a:t>
            </a:r>
            <a:endParaRPr lang="en-US" sz="2000" dirty="0"/>
          </a:p>
        </p:txBody>
      </p:sp>
      <p:sp>
        <p:nvSpPr>
          <p:cNvPr id="21" name="Text 19"/>
          <p:cNvSpPr/>
          <p:nvPr/>
        </p:nvSpPr>
        <p:spPr>
          <a:xfrm>
            <a:off x="4352544" y="2007349"/>
            <a:ext cx="1627632" cy="62179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Lilly Medicine Foundry; small mol + biotech</a:t>
            </a:r>
            <a:endParaRPr lang="en-US" sz="1200" dirty="0">
              <a:solidFill>
                <a:schemeClr val="bg1"/>
              </a:solidFill>
            </a:endParaRPr>
          </a:p>
        </p:txBody>
      </p:sp>
      <p:sp>
        <p:nvSpPr>
          <p:cNvPr id="22" name="Shape 20"/>
          <p:cNvSpPr/>
          <p:nvPr/>
        </p:nvSpPr>
        <p:spPr>
          <a:xfrm>
            <a:off x="6236208" y="1115568"/>
            <a:ext cx="1828800" cy="1481328"/>
          </a:xfrm>
          <a:prstGeom prst="rect">
            <a:avLst/>
          </a:prstGeom>
          <a:solidFill>
            <a:srgbClr val="162040"/>
          </a:solidFill>
          <a:ln w="12700">
            <a:solidFill>
              <a:srgbClr val="162040"/>
            </a:solidFill>
            <a:prstDash val="solid"/>
          </a:ln>
        </p:spPr>
      </p:sp>
      <p:sp>
        <p:nvSpPr>
          <p:cNvPr id="23" name="Shape 21"/>
          <p:cNvSpPr/>
          <p:nvPr/>
        </p:nvSpPr>
        <p:spPr>
          <a:xfrm>
            <a:off x="6236208" y="1115568"/>
            <a:ext cx="1828800" cy="54864"/>
          </a:xfrm>
          <a:prstGeom prst="rect">
            <a:avLst/>
          </a:prstGeom>
          <a:solidFill>
            <a:srgbClr val="FFB800"/>
          </a:solidFill>
          <a:ln w="12700">
            <a:solidFill>
              <a:srgbClr val="FFB800"/>
            </a:solidFill>
            <a:prstDash val="solid"/>
          </a:ln>
        </p:spPr>
      </p:sp>
      <p:sp>
        <p:nvSpPr>
          <p:cNvPr id="24" name="Text 22"/>
          <p:cNvSpPr/>
          <p:nvPr/>
        </p:nvSpPr>
        <p:spPr>
          <a:xfrm>
            <a:off x="6345936" y="1293633"/>
            <a:ext cx="1627632"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Research Triangle, NC</a:t>
            </a:r>
            <a:endParaRPr lang="en-US" sz="1400" dirty="0"/>
          </a:p>
        </p:txBody>
      </p:sp>
      <p:sp>
        <p:nvSpPr>
          <p:cNvPr id="25" name="Text 23"/>
          <p:cNvSpPr/>
          <p:nvPr/>
        </p:nvSpPr>
        <p:spPr>
          <a:xfrm>
            <a:off x="6375654" y="1664208"/>
            <a:ext cx="1627632" cy="384048"/>
          </a:xfrm>
          <a:prstGeom prst="rect">
            <a:avLst/>
          </a:prstGeom>
          <a:noFill/>
          <a:ln/>
        </p:spPr>
        <p:txBody>
          <a:bodyPr wrap="square" rtlCol="0" anchor="ctr"/>
          <a:lstStyle/>
          <a:p>
            <a:pPr marL="0" indent="0">
              <a:buNone/>
            </a:pPr>
            <a:r>
              <a:rPr lang="en-US" sz="2000" b="1" dirty="0">
                <a:solidFill>
                  <a:srgbClr val="FFB800"/>
                </a:solidFill>
                <a:latin typeface="Calibri" pitchFamily="34" charset="0"/>
                <a:ea typeface="Calibri" pitchFamily="34" charset="-122"/>
                <a:cs typeface="Calibri" pitchFamily="34" charset="-120"/>
              </a:rPr>
              <a:t>$1B+</a:t>
            </a:r>
            <a:endParaRPr lang="en-US" sz="2000" dirty="0"/>
          </a:p>
        </p:txBody>
      </p:sp>
      <p:sp>
        <p:nvSpPr>
          <p:cNvPr id="26" name="Text 24"/>
          <p:cNvSpPr/>
          <p:nvPr/>
        </p:nvSpPr>
        <p:spPr>
          <a:xfrm>
            <a:off x="6293358" y="2039112"/>
            <a:ext cx="1792224" cy="62179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Oral delivery + advanced manufacturing</a:t>
            </a:r>
            <a:endParaRPr lang="en-US" sz="1200" dirty="0">
              <a:solidFill>
                <a:schemeClr val="bg1"/>
              </a:solidFill>
            </a:endParaRPr>
          </a:p>
        </p:txBody>
      </p:sp>
      <p:sp>
        <p:nvSpPr>
          <p:cNvPr id="27" name="Shape 25"/>
          <p:cNvSpPr/>
          <p:nvPr/>
        </p:nvSpPr>
        <p:spPr>
          <a:xfrm>
            <a:off x="8229600" y="1115568"/>
            <a:ext cx="1828800" cy="1481328"/>
          </a:xfrm>
          <a:prstGeom prst="rect">
            <a:avLst/>
          </a:prstGeom>
          <a:solidFill>
            <a:srgbClr val="162040"/>
          </a:solidFill>
          <a:ln w="12700">
            <a:solidFill>
              <a:srgbClr val="162040"/>
            </a:solidFill>
            <a:prstDash val="solid"/>
          </a:ln>
        </p:spPr>
      </p:sp>
      <p:sp>
        <p:nvSpPr>
          <p:cNvPr id="28" name="Shape 26"/>
          <p:cNvSpPr/>
          <p:nvPr/>
        </p:nvSpPr>
        <p:spPr>
          <a:xfrm>
            <a:off x="8229600" y="1115568"/>
            <a:ext cx="1828800" cy="54864"/>
          </a:xfrm>
          <a:prstGeom prst="rect">
            <a:avLst/>
          </a:prstGeom>
          <a:solidFill>
            <a:srgbClr val="8B5CF6"/>
          </a:solidFill>
          <a:ln w="12700">
            <a:solidFill>
              <a:srgbClr val="8B5CF6"/>
            </a:solidFill>
            <a:prstDash val="solid"/>
          </a:ln>
        </p:spPr>
      </p:sp>
      <p:sp>
        <p:nvSpPr>
          <p:cNvPr id="29" name="Text 27"/>
          <p:cNvSpPr/>
          <p:nvPr/>
        </p:nvSpPr>
        <p:spPr>
          <a:xfrm>
            <a:off x="8339328" y="1207008"/>
            <a:ext cx="1627632"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Alzey, Germany</a:t>
            </a:r>
            <a:endParaRPr lang="en-US" sz="1400" dirty="0"/>
          </a:p>
        </p:txBody>
      </p:sp>
      <p:sp>
        <p:nvSpPr>
          <p:cNvPr id="30" name="Text 28"/>
          <p:cNvSpPr/>
          <p:nvPr/>
        </p:nvSpPr>
        <p:spPr>
          <a:xfrm>
            <a:off x="8307324" y="1606456"/>
            <a:ext cx="1627632" cy="384048"/>
          </a:xfrm>
          <a:prstGeom prst="rect">
            <a:avLst/>
          </a:prstGeom>
          <a:noFill/>
          <a:ln/>
        </p:spPr>
        <p:txBody>
          <a:bodyPr wrap="square" rtlCol="0" anchor="ctr"/>
          <a:lstStyle/>
          <a:p>
            <a:pPr marL="0" indent="0">
              <a:buNone/>
            </a:pPr>
            <a:r>
              <a:rPr lang="en-US" sz="2000" b="1" dirty="0">
                <a:solidFill>
                  <a:srgbClr val="8B5CF6"/>
                </a:solidFill>
                <a:latin typeface="Calibri" pitchFamily="34" charset="0"/>
                <a:ea typeface="Calibri" pitchFamily="34" charset="-122"/>
                <a:cs typeface="Calibri" pitchFamily="34" charset="-120"/>
              </a:rPr>
              <a:t>$2.3B</a:t>
            </a:r>
            <a:endParaRPr lang="en-US" sz="2000" dirty="0"/>
          </a:p>
        </p:txBody>
      </p:sp>
      <p:sp>
        <p:nvSpPr>
          <p:cNvPr id="31" name="Text 29"/>
          <p:cNvSpPr/>
          <p:nvPr/>
        </p:nvSpPr>
        <p:spPr>
          <a:xfrm>
            <a:off x="8353044" y="2017936"/>
            <a:ext cx="1627632" cy="62179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EU manufacturing; injectable GLP-1</a:t>
            </a:r>
            <a:endParaRPr lang="en-US" sz="1200" dirty="0">
              <a:solidFill>
                <a:schemeClr val="bg1"/>
              </a:solidFill>
            </a:endParaRPr>
          </a:p>
        </p:txBody>
      </p:sp>
      <p:sp>
        <p:nvSpPr>
          <p:cNvPr id="32" name="Shape 30"/>
          <p:cNvSpPr/>
          <p:nvPr/>
        </p:nvSpPr>
        <p:spPr>
          <a:xfrm>
            <a:off x="10222992" y="1115568"/>
            <a:ext cx="1828800" cy="1481328"/>
          </a:xfrm>
          <a:prstGeom prst="rect">
            <a:avLst/>
          </a:prstGeom>
          <a:solidFill>
            <a:srgbClr val="162040"/>
          </a:solidFill>
          <a:ln w="12700">
            <a:solidFill>
              <a:srgbClr val="162040"/>
            </a:solidFill>
            <a:prstDash val="solid"/>
          </a:ln>
        </p:spPr>
      </p:sp>
      <p:sp>
        <p:nvSpPr>
          <p:cNvPr id="33" name="Shape 31"/>
          <p:cNvSpPr/>
          <p:nvPr/>
        </p:nvSpPr>
        <p:spPr>
          <a:xfrm>
            <a:off x="10222992" y="1115568"/>
            <a:ext cx="1828800" cy="54864"/>
          </a:xfrm>
          <a:prstGeom prst="rect">
            <a:avLst/>
          </a:prstGeom>
          <a:solidFill>
            <a:srgbClr val="8B5CF6"/>
          </a:solidFill>
          <a:ln w="12700">
            <a:solidFill>
              <a:srgbClr val="8B5CF6"/>
            </a:solidFill>
            <a:prstDash val="solid"/>
          </a:ln>
        </p:spPr>
      </p:sp>
      <p:sp>
        <p:nvSpPr>
          <p:cNvPr id="34" name="Text 32"/>
          <p:cNvSpPr/>
          <p:nvPr/>
        </p:nvSpPr>
        <p:spPr>
          <a:xfrm>
            <a:off x="10332720" y="1207008"/>
            <a:ext cx="1627632"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Limerick, Ireland</a:t>
            </a:r>
            <a:endParaRPr lang="en-US" sz="1400" dirty="0"/>
          </a:p>
        </p:txBody>
      </p:sp>
      <p:sp>
        <p:nvSpPr>
          <p:cNvPr id="35" name="Text 33"/>
          <p:cNvSpPr/>
          <p:nvPr/>
        </p:nvSpPr>
        <p:spPr>
          <a:xfrm>
            <a:off x="10332720" y="1625226"/>
            <a:ext cx="1627632" cy="384048"/>
          </a:xfrm>
          <a:prstGeom prst="rect">
            <a:avLst/>
          </a:prstGeom>
          <a:noFill/>
          <a:ln/>
        </p:spPr>
        <p:txBody>
          <a:bodyPr wrap="square" rtlCol="0" anchor="ctr"/>
          <a:lstStyle/>
          <a:p>
            <a:pPr marL="0" indent="0">
              <a:buNone/>
            </a:pPr>
            <a:r>
              <a:rPr lang="en-US" sz="2000" b="1" dirty="0">
                <a:solidFill>
                  <a:srgbClr val="8B5CF6"/>
                </a:solidFill>
                <a:latin typeface="Calibri" pitchFamily="34" charset="0"/>
                <a:ea typeface="Calibri" pitchFamily="34" charset="-122"/>
                <a:cs typeface="Calibri" pitchFamily="34" charset="-120"/>
              </a:rPr>
              <a:t>$1.6B</a:t>
            </a:r>
            <a:endParaRPr lang="en-US" sz="2000" dirty="0"/>
          </a:p>
        </p:txBody>
      </p:sp>
      <p:sp>
        <p:nvSpPr>
          <p:cNvPr id="36" name="Text 34"/>
          <p:cNvSpPr/>
          <p:nvPr/>
        </p:nvSpPr>
        <p:spPr>
          <a:xfrm>
            <a:off x="10305288" y="2057400"/>
            <a:ext cx="1627632" cy="62179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Existing large pharma campus expansion</a:t>
            </a:r>
            <a:endParaRPr lang="en-US" sz="1200" dirty="0">
              <a:solidFill>
                <a:schemeClr val="bg1"/>
              </a:solidFill>
            </a:endParaRPr>
          </a:p>
        </p:txBody>
      </p:sp>
      <p:sp>
        <p:nvSpPr>
          <p:cNvPr id="37" name="Text 35"/>
          <p:cNvSpPr/>
          <p:nvPr/>
        </p:nvSpPr>
        <p:spPr>
          <a:xfrm>
            <a:off x="256032" y="2724912"/>
            <a:ext cx="5943600" cy="320040"/>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Revenue by Geography (FY2025 Estimated)</a:t>
            </a:r>
            <a:endParaRPr lang="en-US" sz="1300" dirty="0"/>
          </a:p>
        </p:txBody>
      </p:sp>
      <p:sp>
        <p:nvSpPr>
          <p:cNvPr id="68" name="Text 66"/>
          <p:cNvSpPr/>
          <p:nvPr/>
        </p:nvSpPr>
        <p:spPr>
          <a:xfrm>
            <a:off x="4754880" y="2725875"/>
            <a:ext cx="5577840" cy="320040"/>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Regulatory &amp; Geopolitical Risk Watch</a:t>
            </a:r>
            <a:endParaRPr lang="en-US" sz="1300" dirty="0"/>
          </a:p>
        </p:txBody>
      </p:sp>
      <p:grpSp>
        <p:nvGrpSpPr>
          <p:cNvPr id="91" name="Group 90">
            <a:extLst>
              <a:ext uri="{FF2B5EF4-FFF2-40B4-BE49-F238E27FC236}">
                <a16:creationId xmlns:a16="http://schemas.microsoft.com/office/drawing/2014/main" id="{FA00B7DD-A80C-B40A-D753-9E7B97D504D1}"/>
              </a:ext>
            </a:extLst>
          </p:cNvPr>
          <p:cNvGrpSpPr/>
          <p:nvPr/>
        </p:nvGrpSpPr>
        <p:grpSpPr>
          <a:xfrm>
            <a:off x="256032" y="3010195"/>
            <a:ext cx="4392981" cy="3721608"/>
            <a:chOff x="257556" y="3236976"/>
            <a:chExt cx="5760720" cy="3479533"/>
          </a:xfrm>
        </p:grpSpPr>
        <p:sp>
          <p:nvSpPr>
            <p:cNvPr id="38" name="Shape 36"/>
            <p:cNvSpPr/>
            <p:nvPr/>
          </p:nvSpPr>
          <p:spPr>
            <a:xfrm>
              <a:off x="257556" y="3236976"/>
              <a:ext cx="5760720" cy="648726"/>
            </a:xfrm>
            <a:prstGeom prst="rect">
              <a:avLst/>
            </a:prstGeom>
            <a:solidFill>
              <a:srgbClr val="162040"/>
            </a:solidFill>
            <a:ln w="12700">
              <a:solidFill>
                <a:srgbClr val="162040"/>
              </a:solidFill>
              <a:prstDash val="solid"/>
            </a:ln>
          </p:spPr>
        </p:sp>
        <p:sp>
          <p:nvSpPr>
            <p:cNvPr id="39" name="Shape 37"/>
            <p:cNvSpPr/>
            <p:nvPr/>
          </p:nvSpPr>
          <p:spPr>
            <a:xfrm>
              <a:off x="257556" y="3236976"/>
              <a:ext cx="64008" cy="648726"/>
            </a:xfrm>
            <a:prstGeom prst="rect">
              <a:avLst/>
            </a:prstGeom>
            <a:solidFill>
              <a:srgbClr val="00C8C8"/>
            </a:solidFill>
            <a:ln w="12700">
              <a:solidFill>
                <a:srgbClr val="00C8C8"/>
              </a:solidFill>
              <a:prstDash val="solid"/>
            </a:ln>
          </p:spPr>
        </p:sp>
        <p:sp>
          <p:nvSpPr>
            <p:cNvPr id="40" name="Text 38"/>
            <p:cNvSpPr/>
            <p:nvPr/>
          </p:nvSpPr>
          <p:spPr>
            <a:xfrm>
              <a:off x="424589" y="3326617"/>
              <a:ext cx="1791209" cy="302457"/>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United States</a:t>
              </a:r>
              <a:endParaRPr lang="en-US" sz="1600" dirty="0"/>
            </a:p>
          </p:txBody>
        </p:sp>
        <p:sp>
          <p:nvSpPr>
            <p:cNvPr id="41" name="Text 39"/>
            <p:cNvSpPr/>
            <p:nvPr/>
          </p:nvSpPr>
          <p:spPr>
            <a:xfrm>
              <a:off x="440436" y="3600656"/>
              <a:ext cx="1645920" cy="275217"/>
            </a:xfrm>
            <a:prstGeom prst="rect">
              <a:avLst/>
            </a:prstGeom>
            <a:noFill/>
            <a:ln/>
          </p:spPr>
          <p:txBody>
            <a:bodyPr wrap="square" rtlCol="0" anchor="ctr"/>
            <a:lstStyle/>
            <a:p>
              <a:pPr marL="0" indent="0">
                <a:buNone/>
              </a:pPr>
              <a:r>
                <a:rPr lang="en-US" sz="1200" dirty="0">
                  <a:solidFill>
                    <a:srgbClr val="00C8C8"/>
                  </a:solidFill>
                  <a:latin typeface="Calibri" pitchFamily="34" charset="0"/>
                  <a:ea typeface="Calibri" pitchFamily="34" charset="-122"/>
                  <a:cs typeface="Calibri" pitchFamily="34" charset="-120"/>
                </a:rPr>
                <a:t>$41.7B (64%)</a:t>
              </a:r>
              <a:endParaRPr lang="en-US" sz="1200" dirty="0"/>
            </a:p>
          </p:txBody>
        </p:sp>
        <p:sp>
          <p:nvSpPr>
            <p:cNvPr id="42" name="Shape 40"/>
            <p:cNvSpPr/>
            <p:nvPr/>
          </p:nvSpPr>
          <p:spPr>
            <a:xfrm>
              <a:off x="2196084" y="3413901"/>
              <a:ext cx="2370125" cy="294876"/>
            </a:xfrm>
            <a:prstGeom prst="rect">
              <a:avLst/>
            </a:prstGeom>
            <a:solidFill>
              <a:srgbClr val="00C8C8"/>
            </a:solidFill>
            <a:ln w="12700">
              <a:solidFill>
                <a:srgbClr val="00C8C8"/>
              </a:solidFill>
              <a:prstDash val="solid"/>
            </a:ln>
          </p:spPr>
        </p:sp>
        <p:sp>
          <p:nvSpPr>
            <p:cNvPr id="43" name="Text 41"/>
            <p:cNvSpPr/>
            <p:nvPr/>
          </p:nvSpPr>
          <p:spPr>
            <a:xfrm>
              <a:off x="4639361" y="3433560"/>
              <a:ext cx="990141" cy="297570"/>
            </a:xfrm>
            <a:prstGeom prst="rect">
              <a:avLst/>
            </a:prstGeom>
            <a:noFill/>
            <a:ln/>
          </p:spPr>
          <p:txBody>
            <a:bodyPr wrap="square" rtlCol="0" anchor="ctr"/>
            <a:lstStyle/>
            <a:p>
              <a:pPr marL="0" indent="0">
                <a:buNone/>
              </a:pPr>
              <a:r>
                <a:rPr lang="en-US" sz="1200" b="1" dirty="0">
                  <a:solidFill>
                    <a:srgbClr val="00C8C8"/>
                  </a:solidFill>
                  <a:latin typeface="Calibri" pitchFamily="34" charset="0"/>
                  <a:ea typeface="Calibri" pitchFamily="34" charset="-122"/>
                  <a:cs typeface="Calibri" pitchFamily="34" charset="-120"/>
                </a:rPr>
                <a:t>64%</a:t>
              </a:r>
              <a:endParaRPr lang="en-US" sz="1200" dirty="0"/>
            </a:p>
          </p:txBody>
        </p:sp>
        <p:sp>
          <p:nvSpPr>
            <p:cNvPr id="44" name="Shape 42"/>
            <p:cNvSpPr/>
            <p:nvPr/>
          </p:nvSpPr>
          <p:spPr>
            <a:xfrm>
              <a:off x="257556" y="3944678"/>
              <a:ext cx="5760720" cy="648726"/>
            </a:xfrm>
            <a:prstGeom prst="rect">
              <a:avLst/>
            </a:prstGeom>
            <a:solidFill>
              <a:srgbClr val="0A1428"/>
            </a:solidFill>
            <a:ln w="12700">
              <a:solidFill>
                <a:srgbClr val="0A1428"/>
              </a:solidFill>
              <a:prstDash val="solid"/>
            </a:ln>
          </p:spPr>
        </p:sp>
        <p:sp>
          <p:nvSpPr>
            <p:cNvPr id="45" name="Shape 43"/>
            <p:cNvSpPr/>
            <p:nvPr/>
          </p:nvSpPr>
          <p:spPr>
            <a:xfrm>
              <a:off x="257556" y="3944678"/>
              <a:ext cx="64008" cy="648726"/>
            </a:xfrm>
            <a:prstGeom prst="rect">
              <a:avLst/>
            </a:prstGeom>
            <a:solidFill>
              <a:srgbClr val="FFB800"/>
            </a:solidFill>
            <a:ln w="12700">
              <a:solidFill>
                <a:srgbClr val="FFB800"/>
              </a:solidFill>
              <a:prstDash val="solid"/>
            </a:ln>
          </p:spPr>
        </p:sp>
        <p:sp>
          <p:nvSpPr>
            <p:cNvPr id="46" name="Text 44"/>
            <p:cNvSpPr/>
            <p:nvPr/>
          </p:nvSpPr>
          <p:spPr>
            <a:xfrm>
              <a:off x="440436" y="4003653"/>
              <a:ext cx="1645920" cy="29487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Europe</a:t>
              </a:r>
              <a:endParaRPr lang="en-US" sz="1600" dirty="0"/>
            </a:p>
          </p:txBody>
        </p:sp>
        <p:sp>
          <p:nvSpPr>
            <p:cNvPr id="47" name="Text 45"/>
            <p:cNvSpPr/>
            <p:nvPr/>
          </p:nvSpPr>
          <p:spPr>
            <a:xfrm>
              <a:off x="440436" y="4308358"/>
              <a:ext cx="1645920" cy="275217"/>
            </a:xfrm>
            <a:prstGeom prst="rect">
              <a:avLst/>
            </a:prstGeom>
            <a:noFill/>
            <a:ln/>
          </p:spPr>
          <p:txBody>
            <a:bodyPr wrap="square" rtlCol="0" anchor="ctr"/>
            <a:lstStyle/>
            <a:p>
              <a:pPr marL="0" indent="0">
                <a:buNone/>
              </a:pPr>
              <a:r>
                <a:rPr lang="en-US" sz="1200" dirty="0">
                  <a:solidFill>
                    <a:srgbClr val="FFB800"/>
                  </a:solidFill>
                  <a:latin typeface="Calibri" pitchFamily="34" charset="0"/>
                  <a:ea typeface="Calibri" pitchFamily="34" charset="-122"/>
                  <a:cs typeface="Calibri" pitchFamily="34" charset="-120"/>
                </a:rPr>
                <a:t>$9.8B (15%)</a:t>
              </a:r>
              <a:endParaRPr lang="en-US" sz="1200" dirty="0"/>
            </a:p>
          </p:txBody>
        </p:sp>
        <p:sp>
          <p:nvSpPr>
            <p:cNvPr id="48" name="Shape 46"/>
            <p:cNvSpPr/>
            <p:nvPr/>
          </p:nvSpPr>
          <p:spPr>
            <a:xfrm>
              <a:off x="2196084" y="4121603"/>
              <a:ext cx="555498" cy="294876"/>
            </a:xfrm>
            <a:prstGeom prst="rect">
              <a:avLst/>
            </a:prstGeom>
            <a:solidFill>
              <a:srgbClr val="FFB800"/>
            </a:solidFill>
            <a:ln w="12700">
              <a:solidFill>
                <a:srgbClr val="FFB800"/>
              </a:solidFill>
              <a:prstDash val="solid"/>
            </a:ln>
          </p:spPr>
        </p:sp>
        <p:sp>
          <p:nvSpPr>
            <p:cNvPr id="49" name="Text 47"/>
            <p:cNvSpPr/>
            <p:nvPr/>
          </p:nvSpPr>
          <p:spPr>
            <a:xfrm>
              <a:off x="2824734" y="4141261"/>
              <a:ext cx="1186620" cy="299223"/>
            </a:xfrm>
            <a:prstGeom prst="rect">
              <a:avLst/>
            </a:prstGeom>
            <a:noFill/>
            <a:ln/>
          </p:spPr>
          <p:txBody>
            <a:bodyPr wrap="square" rtlCol="0" anchor="ctr"/>
            <a:lstStyle/>
            <a:p>
              <a:pPr marL="0" indent="0">
                <a:buNone/>
              </a:pPr>
              <a:r>
                <a:rPr lang="en-US" sz="1200" b="1" dirty="0">
                  <a:solidFill>
                    <a:srgbClr val="FFB800"/>
                  </a:solidFill>
                  <a:latin typeface="Calibri" pitchFamily="34" charset="0"/>
                  <a:ea typeface="Calibri" pitchFamily="34" charset="-122"/>
                  <a:cs typeface="Calibri" pitchFamily="34" charset="-120"/>
                </a:rPr>
                <a:t>15%</a:t>
              </a:r>
              <a:endParaRPr lang="en-US" sz="1200" dirty="0"/>
            </a:p>
          </p:txBody>
        </p:sp>
        <p:sp>
          <p:nvSpPr>
            <p:cNvPr id="50" name="Shape 48"/>
            <p:cNvSpPr/>
            <p:nvPr/>
          </p:nvSpPr>
          <p:spPr>
            <a:xfrm>
              <a:off x="257556" y="4652379"/>
              <a:ext cx="5760720" cy="648726"/>
            </a:xfrm>
            <a:prstGeom prst="rect">
              <a:avLst/>
            </a:prstGeom>
            <a:solidFill>
              <a:srgbClr val="162040"/>
            </a:solidFill>
            <a:ln w="12700">
              <a:solidFill>
                <a:srgbClr val="162040"/>
              </a:solidFill>
              <a:prstDash val="solid"/>
            </a:ln>
          </p:spPr>
        </p:sp>
        <p:sp>
          <p:nvSpPr>
            <p:cNvPr id="51" name="Shape 49"/>
            <p:cNvSpPr/>
            <p:nvPr/>
          </p:nvSpPr>
          <p:spPr>
            <a:xfrm>
              <a:off x="257556" y="4652379"/>
              <a:ext cx="64008" cy="648726"/>
            </a:xfrm>
            <a:prstGeom prst="rect">
              <a:avLst/>
            </a:prstGeom>
            <a:solidFill>
              <a:srgbClr val="8B5CF6"/>
            </a:solidFill>
            <a:ln w="12700">
              <a:solidFill>
                <a:srgbClr val="8B5CF6"/>
              </a:solidFill>
              <a:prstDash val="solid"/>
            </a:ln>
          </p:spPr>
        </p:sp>
        <p:sp>
          <p:nvSpPr>
            <p:cNvPr id="52" name="Text 50"/>
            <p:cNvSpPr/>
            <p:nvPr/>
          </p:nvSpPr>
          <p:spPr>
            <a:xfrm>
              <a:off x="440436" y="4711354"/>
              <a:ext cx="1645920" cy="29487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Japan</a:t>
              </a:r>
              <a:endParaRPr lang="en-US" sz="1600" dirty="0"/>
            </a:p>
          </p:txBody>
        </p:sp>
        <p:sp>
          <p:nvSpPr>
            <p:cNvPr id="53" name="Text 51"/>
            <p:cNvSpPr/>
            <p:nvPr/>
          </p:nvSpPr>
          <p:spPr>
            <a:xfrm>
              <a:off x="440436" y="5016059"/>
              <a:ext cx="1645920" cy="275217"/>
            </a:xfrm>
            <a:prstGeom prst="rect">
              <a:avLst/>
            </a:prstGeom>
            <a:noFill/>
            <a:ln/>
          </p:spPr>
          <p:txBody>
            <a:bodyPr wrap="square" rtlCol="0" anchor="ctr"/>
            <a:lstStyle/>
            <a:p>
              <a:pPr marL="0" indent="0">
                <a:buNone/>
              </a:pPr>
              <a:r>
                <a:rPr lang="en-US" sz="1200" dirty="0">
                  <a:solidFill>
                    <a:srgbClr val="8B5CF6"/>
                  </a:solidFill>
                  <a:latin typeface="Calibri" pitchFamily="34" charset="0"/>
                  <a:ea typeface="Calibri" pitchFamily="34" charset="-122"/>
                  <a:cs typeface="Calibri" pitchFamily="34" charset="-120"/>
                </a:rPr>
                <a:t>$3.9B (6%)</a:t>
              </a:r>
              <a:endParaRPr lang="en-US" sz="1200" dirty="0"/>
            </a:p>
          </p:txBody>
        </p:sp>
        <p:sp>
          <p:nvSpPr>
            <p:cNvPr id="54" name="Shape 52"/>
            <p:cNvSpPr/>
            <p:nvPr/>
          </p:nvSpPr>
          <p:spPr>
            <a:xfrm>
              <a:off x="2196084" y="4829305"/>
              <a:ext cx="222199" cy="294876"/>
            </a:xfrm>
            <a:prstGeom prst="rect">
              <a:avLst/>
            </a:prstGeom>
            <a:solidFill>
              <a:srgbClr val="8B5CF6"/>
            </a:solidFill>
            <a:ln w="12700">
              <a:solidFill>
                <a:srgbClr val="8B5CF6"/>
              </a:solidFill>
              <a:prstDash val="solid"/>
            </a:ln>
          </p:spPr>
        </p:sp>
        <p:sp>
          <p:nvSpPr>
            <p:cNvPr id="55" name="Text 53"/>
            <p:cNvSpPr/>
            <p:nvPr/>
          </p:nvSpPr>
          <p:spPr>
            <a:xfrm>
              <a:off x="2491435" y="4848963"/>
              <a:ext cx="1330589" cy="299223"/>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6%</a:t>
              </a:r>
              <a:endParaRPr lang="en-US" sz="1200" dirty="0"/>
            </a:p>
          </p:txBody>
        </p:sp>
        <p:sp>
          <p:nvSpPr>
            <p:cNvPr id="56" name="Shape 54"/>
            <p:cNvSpPr/>
            <p:nvPr/>
          </p:nvSpPr>
          <p:spPr>
            <a:xfrm>
              <a:off x="257556" y="5360081"/>
              <a:ext cx="5760720" cy="648726"/>
            </a:xfrm>
            <a:prstGeom prst="rect">
              <a:avLst/>
            </a:prstGeom>
            <a:solidFill>
              <a:srgbClr val="0A1428"/>
            </a:solidFill>
            <a:ln w="12700">
              <a:solidFill>
                <a:srgbClr val="0A1428"/>
              </a:solidFill>
              <a:prstDash val="solid"/>
            </a:ln>
          </p:spPr>
        </p:sp>
        <p:sp>
          <p:nvSpPr>
            <p:cNvPr id="57" name="Shape 55"/>
            <p:cNvSpPr/>
            <p:nvPr/>
          </p:nvSpPr>
          <p:spPr>
            <a:xfrm>
              <a:off x="257556" y="5360081"/>
              <a:ext cx="64008" cy="648726"/>
            </a:xfrm>
            <a:prstGeom prst="rect">
              <a:avLst/>
            </a:prstGeom>
            <a:solidFill>
              <a:srgbClr val="3B82F6"/>
            </a:solidFill>
            <a:ln w="12700">
              <a:solidFill>
                <a:srgbClr val="3B82F6"/>
              </a:solidFill>
              <a:prstDash val="solid"/>
            </a:ln>
          </p:spPr>
        </p:sp>
        <p:sp>
          <p:nvSpPr>
            <p:cNvPr id="58" name="Text 56"/>
            <p:cNvSpPr/>
            <p:nvPr/>
          </p:nvSpPr>
          <p:spPr>
            <a:xfrm>
              <a:off x="440436" y="5419056"/>
              <a:ext cx="1645920" cy="294876"/>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China</a:t>
              </a:r>
              <a:endParaRPr lang="en-US" sz="1600" dirty="0"/>
            </a:p>
          </p:txBody>
        </p:sp>
        <p:sp>
          <p:nvSpPr>
            <p:cNvPr id="59" name="Text 57"/>
            <p:cNvSpPr/>
            <p:nvPr/>
          </p:nvSpPr>
          <p:spPr>
            <a:xfrm>
              <a:off x="440436" y="5723761"/>
              <a:ext cx="1645920" cy="275217"/>
            </a:xfrm>
            <a:prstGeom prst="rect">
              <a:avLst/>
            </a:prstGeom>
            <a:noFill/>
            <a:ln/>
          </p:spPr>
          <p:txBody>
            <a:bodyPr wrap="square" rtlCol="0" anchor="ctr"/>
            <a:lstStyle/>
            <a:p>
              <a:pPr marL="0" indent="0">
                <a:buNone/>
              </a:pPr>
              <a:r>
                <a:rPr lang="en-US" sz="1200" dirty="0">
                  <a:solidFill>
                    <a:srgbClr val="3B82F6"/>
                  </a:solidFill>
                  <a:latin typeface="Calibri" pitchFamily="34" charset="0"/>
                  <a:ea typeface="Calibri" pitchFamily="34" charset="-122"/>
                  <a:cs typeface="Calibri" pitchFamily="34" charset="-120"/>
                </a:rPr>
                <a:t>$4.6B (7%)</a:t>
              </a:r>
              <a:endParaRPr lang="en-US" sz="1200" dirty="0"/>
            </a:p>
          </p:txBody>
        </p:sp>
        <p:sp>
          <p:nvSpPr>
            <p:cNvPr id="60" name="Shape 58"/>
            <p:cNvSpPr/>
            <p:nvPr/>
          </p:nvSpPr>
          <p:spPr>
            <a:xfrm>
              <a:off x="2196084" y="5537006"/>
              <a:ext cx="259232" cy="294876"/>
            </a:xfrm>
            <a:prstGeom prst="rect">
              <a:avLst/>
            </a:prstGeom>
            <a:solidFill>
              <a:srgbClr val="3B82F6"/>
            </a:solidFill>
            <a:ln w="12700">
              <a:solidFill>
                <a:srgbClr val="3B82F6"/>
              </a:solidFill>
              <a:prstDash val="solid"/>
            </a:ln>
          </p:spPr>
        </p:sp>
        <p:sp>
          <p:nvSpPr>
            <p:cNvPr id="61" name="Text 59"/>
            <p:cNvSpPr/>
            <p:nvPr/>
          </p:nvSpPr>
          <p:spPr>
            <a:xfrm>
              <a:off x="2528468" y="5556665"/>
              <a:ext cx="1369288" cy="234828"/>
            </a:xfrm>
            <a:prstGeom prst="rect">
              <a:avLst/>
            </a:prstGeom>
            <a:noFill/>
            <a:ln/>
          </p:spPr>
          <p:txBody>
            <a:bodyPr wrap="square"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7%</a:t>
              </a:r>
              <a:endParaRPr lang="en-US" sz="1200" dirty="0"/>
            </a:p>
          </p:txBody>
        </p:sp>
        <p:sp>
          <p:nvSpPr>
            <p:cNvPr id="62" name="Shape 60"/>
            <p:cNvSpPr/>
            <p:nvPr/>
          </p:nvSpPr>
          <p:spPr>
            <a:xfrm>
              <a:off x="257556" y="6067783"/>
              <a:ext cx="5760720" cy="648726"/>
            </a:xfrm>
            <a:prstGeom prst="rect">
              <a:avLst/>
            </a:prstGeom>
            <a:solidFill>
              <a:srgbClr val="162040"/>
            </a:solidFill>
            <a:ln w="12700">
              <a:solidFill>
                <a:srgbClr val="162040"/>
              </a:solidFill>
              <a:prstDash val="solid"/>
            </a:ln>
          </p:spPr>
        </p:sp>
        <p:sp>
          <p:nvSpPr>
            <p:cNvPr id="63" name="Shape 61"/>
            <p:cNvSpPr/>
            <p:nvPr/>
          </p:nvSpPr>
          <p:spPr>
            <a:xfrm>
              <a:off x="257556" y="6067783"/>
              <a:ext cx="64008" cy="648726"/>
            </a:xfrm>
            <a:prstGeom prst="rect">
              <a:avLst/>
            </a:prstGeom>
            <a:solidFill>
              <a:srgbClr val="22C55E"/>
            </a:solidFill>
            <a:ln w="12700">
              <a:solidFill>
                <a:srgbClr val="22C55E"/>
              </a:solidFill>
              <a:prstDash val="solid"/>
            </a:ln>
          </p:spPr>
        </p:sp>
        <p:sp>
          <p:nvSpPr>
            <p:cNvPr id="64" name="Text 62"/>
            <p:cNvSpPr/>
            <p:nvPr/>
          </p:nvSpPr>
          <p:spPr>
            <a:xfrm>
              <a:off x="401447" y="6185405"/>
              <a:ext cx="1854319" cy="29922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Rest of World</a:t>
              </a:r>
              <a:endParaRPr lang="en-US" sz="1600" dirty="0"/>
            </a:p>
          </p:txBody>
        </p:sp>
        <p:sp>
          <p:nvSpPr>
            <p:cNvPr id="65" name="Text 63"/>
            <p:cNvSpPr/>
            <p:nvPr/>
          </p:nvSpPr>
          <p:spPr>
            <a:xfrm>
              <a:off x="440436" y="6431463"/>
              <a:ext cx="1645920" cy="275217"/>
            </a:xfrm>
            <a:prstGeom prst="rect">
              <a:avLst/>
            </a:prstGeom>
            <a:noFill/>
            <a:ln/>
          </p:spPr>
          <p:txBody>
            <a:bodyPr wrap="square" rtlCol="0" anchor="ctr"/>
            <a:lstStyle/>
            <a:p>
              <a:pPr marL="0" indent="0">
                <a:buNone/>
              </a:pPr>
              <a:r>
                <a:rPr lang="en-US" sz="1200" dirty="0">
                  <a:solidFill>
                    <a:srgbClr val="22C55E"/>
                  </a:solidFill>
                  <a:latin typeface="Calibri" pitchFamily="34" charset="0"/>
                  <a:ea typeface="Calibri" pitchFamily="34" charset="-122"/>
                  <a:cs typeface="Calibri" pitchFamily="34" charset="-120"/>
                </a:rPr>
                <a:t>$5.2B (8%)</a:t>
              </a:r>
              <a:endParaRPr lang="en-US" sz="1200" dirty="0"/>
            </a:p>
          </p:txBody>
        </p:sp>
        <p:sp>
          <p:nvSpPr>
            <p:cNvPr id="66" name="Shape 64"/>
            <p:cNvSpPr/>
            <p:nvPr/>
          </p:nvSpPr>
          <p:spPr>
            <a:xfrm>
              <a:off x="2196084" y="6244708"/>
              <a:ext cx="296266" cy="294876"/>
            </a:xfrm>
            <a:prstGeom prst="rect">
              <a:avLst/>
            </a:prstGeom>
            <a:solidFill>
              <a:srgbClr val="22C55E"/>
            </a:solidFill>
            <a:ln w="12700">
              <a:solidFill>
                <a:srgbClr val="22C55E"/>
              </a:solidFill>
              <a:prstDash val="solid"/>
            </a:ln>
          </p:spPr>
        </p:sp>
        <p:sp>
          <p:nvSpPr>
            <p:cNvPr id="67" name="Text 65"/>
            <p:cNvSpPr/>
            <p:nvPr/>
          </p:nvSpPr>
          <p:spPr>
            <a:xfrm>
              <a:off x="2565502" y="6264366"/>
              <a:ext cx="1231278" cy="299223"/>
            </a:xfrm>
            <a:prstGeom prst="rect">
              <a:avLst/>
            </a:prstGeom>
            <a:noFill/>
            <a:ln/>
          </p:spPr>
          <p:txBody>
            <a:bodyPr wrap="square" rtlCol="0" anchor="ctr"/>
            <a:lstStyle/>
            <a:p>
              <a:pPr marL="0" indent="0">
                <a:buNone/>
              </a:pPr>
              <a:r>
                <a:rPr lang="en-US" sz="1200" b="1" dirty="0">
                  <a:solidFill>
                    <a:srgbClr val="22C55E"/>
                  </a:solidFill>
                  <a:latin typeface="Calibri" pitchFamily="34" charset="0"/>
                  <a:ea typeface="Calibri" pitchFamily="34" charset="-122"/>
                  <a:cs typeface="Calibri" pitchFamily="34" charset="-120"/>
                </a:rPr>
                <a:t>8%</a:t>
              </a:r>
              <a:endParaRPr lang="en-US" sz="1200" dirty="0"/>
            </a:p>
          </p:txBody>
        </p:sp>
      </p:grpSp>
      <p:grpSp>
        <p:nvGrpSpPr>
          <p:cNvPr id="90" name="Group 89">
            <a:extLst>
              <a:ext uri="{FF2B5EF4-FFF2-40B4-BE49-F238E27FC236}">
                <a16:creationId xmlns:a16="http://schemas.microsoft.com/office/drawing/2014/main" id="{11AC30D7-8EA2-E40F-EFF8-D984D51DC0EA}"/>
              </a:ext>
            </a:extLst>
          </p:cNvPr>
          <p:cNvGrpSpPr/>
          <p:nvPr/>
        </p:nvGrpSpPr>
        <p:grpSpPr>
          <a:xfrm>
            <a:off x="4795317" y="3025702"/>
            <a:ext cx="7283907" cy="3686851"/>
            <a:chOff x="6356604" y="3236976"/>
            <a:chExt cx="5577840" cy="3479533"/>
          </a:xfrm>
        </p:grpSpPr>
        <p:sp>
          <p:nvSpPr>
            <p:cNvPr id="69" name="Shape 67"/>
            <p:cNvSpPr/>
            <p:nvPr/>
          </p:nvSpPr>
          <p:spPr>
            <a:xfrm>
              <a:off x="6356604" y="3236976"/>
              <a:ext cx="5577840" cy="825652"/>
            </a:xfrm>
            <a:prstGeom prst="rect">
              <a:avLst/>
            </a:prstGeom>
            <a:solidFill>
              <a:srgbClr val="162040"/>
            </a:solidFill>
            <a:ln w="12700">
              <a:solidFill>
                <a:srgbClr val="162040"/>
              </a:solidFill>
              <a:prstDash val="solid"/>
            </a:ln>
          </p:spPr>
        </p:sp>
        <p:sp>
          <p:nvSpPr>
            <p:cNvPr id="70" name="Shape 68"/>
            <p:cNvSpPr/>
            <p:nvPr/>
          </p:nvSpPr>
          <p:spPr>
            <a:xfrm>
              <a:off x="6356604" y="3236976"/>
              <a:ext cx="64008" cy="825652"/>
            </a:xfrm>
            <a:prstGeom prst="rect">
              <a:avLst/>
            </a:prstGeom>
            <a:solidFill>
              <a:srgbClr val="EF4444"/>
            </a:solidFill>
            <a:ln w="12700">
              <a:solidFill>
                <a:srgbClr val="EF4444"/>
              </a:solidFill>
              <a:prstDash val="solid"/>
            </a:ln>
          </p:spPr>
        </p:sp>
        <p:sp>
          <p:nvSpPr>
            <p:cNvPr id="71" name="Text 69"/>
            <p:cNvSpPr/>
            <p:nvPr/>
          </p:nvSpPr>
          <p:spPr>
            <a:xfrm>
              <a:off x="6493764" y="3249786"/>
              <a:ext cx="1097280" cy="275217"/>
            </a:xfrm>
            <a:prstGeom prst="rect">
              <a:avLst/>
            </a:prstGeom>
            <a:noFill/>
            <a:ln/>
          </p:spPr>
          <p:txBody>
            <a:bodyPr wrap="square" rtlCol="0" anchor="ctr"/>
            <a:lstStyle/>
            <a:p>
              <a:pPr marL="0" indent="0">
                <a:buNone/>
              </a:pPr>
              <a:r>
                <a:rPr lang="en-US" b="1" dirty="0">
                  <a:solidFill>
                    <a:srgbClr val="EF4444"/>
                  </a:solidFill>
                  <a:latin typeface="Calibri" pitchFamily="34" charset="0"/>
                  <a:ea typeface="Calibri" pitchFamily="34" charset="-122"/>
                  <a:cs typeface="Calibri" pitchFamily="34" charset="-120"/>
                </a:rPr>
                <a:t>HIGH</a:t>
              </a:r>
              <a:endParaRPr lang="en-US" dirty="0"/>
            </a:p>
          </p:txBody>
        </p:sp>
        <p:sp>
          <p:nvSpPr>
            <p:cNvPr id="72" name="Text 70"/>
            <p:cNvSpPr/>
            <p:nvPr/>
          </p:nvSpPr>
          <p:spPr>
            <a:xfrm>
              <a:off x="6493764" y="3437766"/>
              <a:ext cx="5303520" cy="275217"/>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US Medicaid Obesity Coverage Rollback</a:t>
              </a:r>
              <a:endParaRPr lang="en-US" sz="1400" dirty="0"/>
            </a:p>
          </p:txBody>
        </p:sp>
        <p:sp>
          <p:nvSpPr>
            <p:cNvPr id="73" name="Text 71"/>
            <p:cNvSpPr/>
            <p:nvPr/>
          </p:nvSpPr>
          <p:spPr>
            <a:xfrm>
              <a:off x="6493764" y="3664379"/>
              <a:ext cx="5349240" cy="351322"/>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Several states (CA, etc.) cutting obesity drug coverage in 2026. California removed Zepbound from Medi-Cal. Federal rollback risk under new administration.</a:t>
              </a:r>
              <a:endParaRPr lang="en-US" sz="1200" dirty="0">
                <a:solidFill>
                  <a:schemeClr val="bg1"/>
                </a:solidFill>
              </a:endParaRPr>
            </a:p>
          </p:txBody>
        </p:sp>
        <p:sp>
          <p:nvSpPr>
            <p:cNvPr id="74" name="Shape 72"/>
            <p:cNvSpPr/>
            <p:nvPr/>
          </p:nvSpPr>
          <p:spPr>
            <a:xfrm>
              <a:off x="6356604" y="4103435"/>
              <a:ext cx="5577840" cy="854658"/>
            </a:xfrm>
            <a:prstGeom prst="rect">
              <a:avLst/>
            </a:prstGeom>
            <a:solidFill>
              <a:srgbClr val="0A1428"/>
            </a:solidFill>
            <a:ln w="12700">
              <a:solidFill>
                <a:srgbClr val="0A1428"/>
              </a:solidFill>
              <a:prstDash val="solid"/>
            </a:ln>
          </p:spPr>
        </p:sp>
        <p:sp>
          <p:nvSpPr>
            <p:cNvPr id="75" name="Shape 73"/>
            <p:cNvSpPr/>
            <p:nvPr/>
          </p:nvSpPr>
          <p:spPr>
            <a:xfrm>
              <a:off x="6356604" y="4121603"/>
              <a:ext cx="64008" cy="825652"/>
            </a:xfrm>
            <a:prstGeom prst="rect">
              <a:avLst/>
            </a:prstGeom>
            <a:solidFill>
              <a:srgbClr val="FFB800"/>
            </a:solidFill>
            <a:ln w="12700">
              <a:solidFill>
                <a:srgbClr val="FFB800"/>
              </a:solidFill>
              <a:prstDash val="solid"/>
            </a:ln>
          </p:spPr>
        </p:sp>
        <p:sp>
          <p:nvSpPr>
            <p:cNvPr id="76" name="Text 74"/>
            <p:cNvSpPr/>
            <p:nvPr/>
          </p:nvSpPr>
          <p:spPr>
            <a:xfrm>
              <a:off x="6493764" y="4125331"/>
              <a:ext cx="1097280" cy="275217"/>
            </a:xfrm>
            <a:prstGeom prst="rect">
              <a:avLst/>
            </a:prstGeom>
            <a:noFill/>
            <a:ln/>
          </p:spPr>
          <p:txBody>
            <a:bodyPr wrap="square" rtlCol="0" anchor="ctr"/>
            <a:lstStyle/>
            <a:p>
              <a:pPr marL="0" indent="0">
                <a:buNone/>
              </a:pPr>
              <a:r>
                <a:rPr lang="en-US" sz="1600" b="1" dirty="0">
                  <a:solidFill>
                    <a:srgbClr val="FFB800"/>
                  </a:solidFill>
                  <a:latin typeface="Calibri" pitchFamily="34" charset="0"/>
                  <a:ea typeface="Calibri" pitchFamily="34" charset="-122"/>
                  <a:cs typeface="Calibri" pitchFamily="34" charset="-120"/>
                </a:rPr>
                <a:t>MEDIUM</a:t>
              </a:r>
              <a:endParaRPr lang="en-US" sz="1600" dirty="0"/>
            </a:p>
          </p:txBody>
        </p:sp>
        <p:sp>
          <p:nvSpPr>
            <p:cNvPr id="77" name="Text 75"/>
            <p:cNvSpPr/>
            <p:nvPr/>
          </p:nvSpPr>
          <p:spPr>
            <a:xfrm>
              <a:off x="6493764" y="4323476"/>
              <a:ext cx="5303520" cy="275217"/>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Pharma Import Tariff Proposals</a:t>
              </a:r>
              <a:endParaRPr lang="en-US" sz="1400" dirty="0"/>
            </a:p>
          </p:txBody>
        </p:sp>
        <p:sp>
          <p:nvSpPr>
            <p:cNvPr id="78" name="Text 76"/>
            <p:cNvSpPr/>
            <p:nvPr/>
          </p:nvSpPr>
          <p:spPr>
            <a:xfrm>
              <a:off x="6493764" y="4635703"/>
              <a:ext cx="5349240" cy="24573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Trump 'big' pharma tariff proposals ongoing. 75% US/PR manufacturing provides partial shield but ~25% OUS exposure is a watchlist item.</a:t>
              </a:r>
              <a:endParaRPr lang="en-US" sz="1200" dirty="0">
                <a:solidFill>
                  <a:schemeClr val="bg1"/>
                </a:solidFill>
              </a:endParaRPr>
            </a:p>
          </p:txBody>
        </p:sp>
        <p:sp>
          <p:nvSpPr>
            <p:cNvPr id="79" name="Shape 77"/>
            <p:cNvSpPr/>
            <p:nvPr/>
          </p:nvSpPr>
          <p:spPr>
            <a:xfrm>
              <a:off x="6356604" y="5006230"/>
              <a:ext cx="5577840" cy="825652"/>
            </a:xfrm>
            <a:prstGeom prst="rect">
              <a:avLst/>
            </a:prstGeom>
            <a:solidFill>
              <a:srgbClr val="162040"/>
            </a:solidFill>
            <a:ln w="12700">
              <a:solidFill>
                <a:srgbClr val="162040"/>
              </a:solidFill>
              <a:prstDash val="solid"/>
            </a:ln>
          </p:spPr>
        </p:sp>
        <p:sp>
          <p:nvSpPr>
            <p:cNvPr id="80" name="Shape 78"/>
            <p:cNvSpPr/>
            <p:nvPr/>
          </p:nvSpPr>
          <p:spPr>
            <a:xfrm>
              <a:off x="6356604" y="5006230"/>
              <a:ext cx="64008" cy="825652"/>
            </a:xfrm>
            <a:prstGeom prst="rect">
              <a:avLst/>
            </a:prstGeom>
            <a:solidFill>
              <a:srgbClr val="FFB800"/>
            </a:solidFill>
            <a:ln w="12700">
              <a:solidFill>
                <a:srgbClr val="FFB800"/>
              </a:solidFill>
              <a:prstDash val="solid"/>
            </a:ln>
          </p:spPr>
        </p:sp>
        <p:sp>
          <p:nvSpPr>
            <p:cNvPr id="81" name="Text 79"/>
            <p:cNvSpPr/>
            <p:nvPr/>
          </p:nvSpPr>
          <p:spPr>
            <a:xfrm>
              <a:off x="6493764" y="5019041"/>
              <a:ext cx="1097280" cy="275217"/>
            </a:xfrm>
            <a:prstGeom prst="rect">
              <a:avLst/>
            </a:prstGeom>
            <a:noFill/>
            <a:ln/>
          </p:spPr>
          <p:txBody>
            <a:bodyPr wrap="square" rtlCol="0" anchor="ctr"/>
            <a:lstStyle/>
            <a:p>
              <a:pPr marL="0" indent="0">
                <a:buNone/>
              </a:pPr>
              <a:r>
                <a:rPr lang="en-US" sz="1600" b="1" dirty="0">
                  <a:solidFill>
                    <a:srgbClr val="FFB800"/>
                  </a:solidFill>
                  <a:latin typeface="Calibri" pitchFamily="34" charset="0"/>
                  <a:ea typeface="Calibri" pitchFamily="34" charset="-122"/>
                  <a:cs typeface="Calibri" pitchFamily="34" charset="-120"/>
                </a:rPr>
                <a:t>MEDIUM</a:t>
              </a:r>
              <a:endParaRPr lang="en-US" sz="1600" dirty="0"/>
            </a:p>
          </p:txBody>
        </p:sp>
        <p:sp>
          <p:nvSpPr>
            <p:cNvPr id="82" name="Text 80"/>
            <p:cNvSpPr/>
            <p:nvPr/>
          </p:nvSpPr>
          <p:spPr>
            <a:xfrm>
              <a:off x="6493764" y="5206480"/>
              <a:ext cx="5303520" cy="275217"/>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IRA Drug Pricing Negotiation</a:t>
              </a:r>
              <a:endParaRPr lang="en-US" sz="1400" dirty="0"/>
            </a:p>
          </p:txBody>
        </p:sp>
        <p:sp>
          <p:nvSpPr>
            <p:cNvPr id="83" name="Text 81"/>
            <p:cNvSpPr/>
            <p:nvPr/>
          </p:nvSpPr>
          <p:spPr>
            <a:xfrm>
              <a:off x="6493764" y="5491996"/>
              <a:ext cx="5349240" cy="290776"/>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Medicare Part D IRA price negotiations expanding. Mounjaro/Zepbound could face negotiation by 2026–2027 (post-9yr small mol threshold).</a:t>
              </a:r>
              <a:endParaRPr lang="en-US" sz="1200" dirty="0">
                <a:solidFill>
                  <a:schemeClr val="bg1"/>
                </a:solidFill>
              </a:endParaRPr>
            </a:p>
          </p:txBody>
        </p:sp>
        <p:sp>
          <p:nvSpPr>
            <p:cNvPr id="84" name="Shape 82"/>
            <p:cNvSpPr/>
            <p:nvPr/>
          </p:nvSpPr>
          <p:spPr>
            <a:xfrm>
              <a:off x="6356604" y="5890857"/>
              <a:ext cx="5577840" cy="825652"/>
            </a:xfrm>
            <a:prstGeom prst="rect">
              <a:avLst/>
            </a:prstGeom>
            <a:solidFill>
              <a:srgbClr val="0A1428"/>
            </a:solidFill>
            <a:ln w="12700">
              <a:solidFill>
                <a:srgbClr val="0A1428"/>
              </a:solidFill>
              <a:prstDash val="solid"/>
            </a:ln>
          </p:spPr>
        </p:sp>
        <p:sp>
          <p:nvSpPr>
            <p:cNvPr id="85" name="Shape 83"/>
            <p:cNvSpPr/>
            <p:nvPr/>
          </p:nvSpPr>
          <p:spPr>
            <a:xfrm>
              <a:off x="6356604" y="5890857"/>
              <a:ext cx="64008" cy="825652"/>
            </a:xfrm>
            <a:prstGeom prst="rect">
              <a:avLst/>
            </a:prstGeom>
            <a:solidFill>
              <a:srgbClr val="3B82F6"/>
            </a:solidFill>
            <a:ln w="12700">
              <a:solidFill>
                <a:srgbClr val="3B82F6"/>
              </a:solidFill>
              <a:prstDash val="solid"/>
            </a:ln>
          </p:spPr>
        </p:sp>
        <p:sp>
          <p:nvSpPr>
            <p:cNvPr id="86" name="Text 84"/>
            <p:cNvSpPr/>
            <p:nvPr/>
          </p:nvSpPr>
          <p:spPr>
            <a:xfrm>
              <a:off x="6493764" y="5867334"/>
              <a:ext cx="1097280" cy="275217"/>
            </a:xfrm>
            <a:prstGeom prst="rect">
              <a:avLst/>
            </a:prstGeom>
            <a:noFill/>
            <a:ln/>
          </p:spPr>
          <p:txBody>
            <a:bodyPr wrap="square"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WATCH</a:t>
              </a:r>
              <a:endParaRPr lang="en-US" sz="1600" dirty="0"/>
            </a:p>
          </p:txBody>
        </p:sp>
        <p:sp>
          <p:nvSpPr>
            <p:cNvPr id="87" name="Text 85"/>
            <p:cNvSpPr/>
            <p:nvPr/>
          </p:nvSpPr>
          <p:spPr>
            <a:xfrm>
              <a:off x="6493764" y="6045687"/>
              <a:ext cx="5303520" cy="275217"/>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EU AI Act / GxP Regulatory</a:t>
              </a:r>
              <a:endParaRPr lang="en-US" sz="1400" dirty="0"/>
            </a:p>
          </p:txBody>
        </p:sp>
        <p:sp>
          <p:nvSpPr>
            <p:cNvPr id="88" name="Text 86"/>
            <p:cNvSpPr/>
            <p:nvPr/>
          </p:nvSpPr>
          <p:spPr>
            <a:xfrm>
              <a:off x="6494175" y="6339745"/>
              <a:ext cx="5349240" cy="302044"/>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EU expanding digital health regulation. Lilly's AI-based drug discovery programs must navigate evolving EU pharma data laws.</a:t>
              </a:r>
              <a:endParaRPr lang="en-US" sz="1200" dirty="0">
                <a:solidFill>
                  <a:schemeClr val="bg1"/>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82855" y="6327648"/>
            <a:ext cx="10972800" cy="365760"/>
          </a:xfrm>
          <a:prstGeom prst="rect">
            <a:avLst/>
          </a:prstGeom>
          <a:noFill/>
          <a:ln/>
        </p:spPr>
        <p:txBody>
          <a:bodyPr wrap="square" rtlCol="0" anchor="ctr"/>
          <a:lstStyle/>
          <a:p>
            <a:endParaRPr lang="en-US" sz="1467" dirty="0"/>
          </a:p>
        </p:txBody>
      </p:sp>
      <p:graphicFrame>
        <p:nvGraphicFramePr>
          <p:cNvPr id="11" name="Table 0"/>
          <p:cNvGraphicFramePr>
            <a:graphicFrameLocks noGrp="1"/>
          </p:cNvGraphicFramePr>
          <p:nvPr>
            <p:extLst>
              <p:ext uri="{D42A27DB-BD31-4B8C-83A1-F6EECF244321}">
                <p14:modId xmlns:p14="http://schemas.microsoft.com/office/powerpoint/2010/main" val="2356896568"/>
              </p:ext>
            </p:extLst>
          </p:nvPr>
        </p:nvGraphicFramePr>
        <p:xfrm>
          <a:off x="451104" y="1408176"/>
          <a:ext cx="11338562" cy="3048000"/>
        </p:xfrm>
        <a:graphic>
          <a:graphicData uri="http://schemas.openxmlformats.org/drawingml/2006/table">
            <a:tbl>
              <a:tblPr/>
              <a:tblGrid>
                <a:gridCol w="1981496">
                  <a:extLst>
                    <a:ext uri="{9D8B030D-6E8A-4147-A177-3AD203B41FA5}">
                      <a16:colId xmlns:a16="http://schemas.microsoft.com/office/drawing/2014/main" val="20000"/>
                    </a:ext>
                  </a:extLst>
                </a:gridCol>
                <a:gridCol w="990748">
                  <a:extLst>
                    <a:ext uri="{9D8B030D-6E8A-4147-A177-3AD203B41FA5}">
                      <a16:colId xmlns:a16="http://schemas.microsoft.com/office/drawing/2014/main" val="20001"/>
                    </a:ext>
                  </a:extLst>
                </a:gridCol>
                <a:gridCol w="1431080">
                  <a:extLst>
                    <a:ext uri="{9D8B030D-6E8A-4147-A177-3AD203B41FA5}">
                      <a16:colId xmlns:a16="http://schemas.microsoft.com/office/drawing/2014/main" val="20002"/>
                    </a:ext>
                  </a:extLst>
                </a:gridCol>
                <a:gridCol w="1210915">
                  <a:extLst>
                    <a:ext uri="{9D8B030D-6E8A-4147-A177-3AD203B41FA5}">
                      <a16:colId xmlns:a16="http://schemas.microsoft.com/office/drawing/2014/main" val="20003"/>
                    </a:ext>
                  </a:extLst>
                </a:gridCol>
                <a:gridCol w="2531912">
                  <a:extLst>
                    <a:ext uri="{9D8B030D-6E8A-4147-A177-3AD203B41FA5}">
                      <a16:colId xmlns:a16="http://schemas.microsoft.com/office/drawing/2014/main" val="20004"/>
                    </a:ext>
                  </a:extLst>
                </a:gridCol>
                <a:gridCol w="3192411">
                  <a:extLst>
                    <a:ext uri="{9D8B030D-6E8A-4147-A177-3AD203B41FA5}">
                      <a16:colId xmlns:a16="http://schemas.microsoft.com/office/drawing/2014/main" val="20005"/>
                    </a:ext>
                  </a:extLst>
                </a:gridCol>
              </a:tblGrid>
              <a:tr h="4673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Company</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Ticker</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FY2025 Rev</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 (NTM)</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GLP-1 Position</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Key Moat</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extLst>
                  <a:ext uri="{0D108BD9-81ED-4DB2-BD59-A6C34878D82A}">
                    <a16:rowId xmlns:a16="http://schemas.microsoft.com/office/drawing/2014/main" val="10000"/>
                  </a:ext>
                </a:extLst>
              </a:tr>
              <a:tr h="528320">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Eli Lilly</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LLY</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$65.2B</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~30x</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Leader (dual GIP+GLP-1)</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Pipeline depth + oral GLP-1 + manufacturing</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8320">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Novo Nordisk</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NVO</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~$45B</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~22x</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Challenger (semaglutide)</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Scale + Ozempic/Wegovy brand + global distribution</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8320">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Pfizer</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PFE</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~$63B</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~12x</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Competitor (danuglipron)</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Scale but early-stage; oral GLP-1 lagging Lilly</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7360">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AstraZeneca</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AZN</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~$54B</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~18x</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Minimal / indirect</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Oncology + CVRM focus; no GLP-1 yet</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7360">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Roche</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RHHBY</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~$60B</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~17x</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Entrant (CT-996 oral)</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400" dirty="0">
                          <a:solidFill>
                            <a:srgbClr val="12203A"/>
                          </a:solidFill>
                          <a:latin typeface="Calibri" pitchFamily="34" charset="0"/>
                          <a:ea typeface="Calibri" pitchFamily="34" charset="-122"/>
                          <a:cs typeface="Calibri" pitchFamily="34" charset="-120"/>
                        </a:rPr>
                        <a:t>Diagnostics + oncology; GLP-1 Phase 2</a:t>
                      </a:r>
                      <a:endParaRPr lang="en-US" sz="14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426719" y="4343400"/>
            <a:ext cx="11338560" cy="426720"/>
          </a:xfrm>
          <a:prstGeom prst="rect">
            <a:avLst/>
          </a:prstGeom>
          <a:noFill/>
          <a:ln/>
        </p:spPr>
        <p:txBody>
          <a:bodyPr wrap="square" rtlCol="0" anchor="ctr"/>
          <a:lstStyle/>
          <a:p>
            <a:r>
              <a:rPr lang="en-US" sz="1600" b="1" dirty="0">
                <a:solidFill>
                  <a:srgbClr val="8B0000"/>
                </a:solidFill>
                <a:latin typeface="Calibri" pitchFamily="34" charset="0"/>
                <a:ea typeface="Calibri" pitchFamily="34" charset="-122"/>
                <a:cs typeface="Calibri" pitchFamily="34" charset="-120"/>
              </a:rPr>
              <a:t>KEY COMPETITIVE INSIGHT</a:t>
            </a:r>
            <a:endParaRPr lang="en-US" sz="1600" dirty="0"/>
          </a:p>
        </p:txBody>
      </p:sp>
      <p:grpSp>
        <p:nvGrpSpPr>
          <p:cNvPr id="23" name="Group 22">
            <a:extLst>
              <a:ext uri="{FF2B5EF4-FFF2-40B4-BE49-F238E27FC236}">
                <a16:creationId xmlns:a16="http://schemas.microsoft.com/office/drawing/2014/main" id="{6F6E7128-3C1A-7496-CE65-122E01C79E75}"/>
              </a:ext>
            </a:extLst>
          </p:cNvPr>
          <p:cNvGrpSpPr/>
          <p:nvPr/>
        </p:nvGrpSpPr>
        <p:grpSpPr>
          <a:xfrm>
            <a:off x="426721" y="4785360"/>
            <a:ext cx="11338560" cy="1950720"/>
            <a:chOff x="426721" y="4785360"/>
            <a:chExt cx="11338560" cy="1950720"/>
          </a:xfrm>
        </p:grpSpPr>
        <p:sp>
          <p:nvSpPr>
            <p:cNvPr id="7" name="Shape 4"/>
            <p:cNvSpPr/>
            <p:nvPr/>
          </p:nvSpPr>
          <p:spPr>
            <a:xfrm>
              <a:off x="426721" y="4785360"/>
              <a:ext cx="3657600" cy="1950720"/>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8" name="Shape 5"/>
            <p:cNvSpPr/>
            <p:nvPr/>
          </p:nvSpPr>
          <p:spPr>
            <a:xfrm>
              <a:off x="426721" y="4785360"/>
              <a:ext cx="3657600" cy="97536"/>
            </a:xfrm>
            <a:prstGeom prst="rect">
              <a:avLst/>
            </a:prstGeom>
            <a:solidFill>
              <a:srgbClr val="8B0000"/>
            </a:solidFill>
            <a:ln w="12700">
              <a:solidFill>
                <a:srgbClr val="8B0000"/>
              </a:solidFill>
              <a:prstDash val="solid"/>
            </a:ln>
          </p:spPr>
        </p:sp>
        <p:sp>
          <p:nvSpPr>
            <p:cNvPr id="9" name="Text 6"/>
            <p:cNvSpPr/>
            <p:nvPr/>
          </p:nvSpPr>
          <p:spPr>
            <a:xfrm>
              <a:off x="573025" y="4882896"/>
              <a:ext cx="3413760" cy="390144"/>
            </a:xfrm>
            <a:prstGeom prst="rect">
              <a:avLst/>
            </a:prstGeom>
            <a:noFill/>
            <a:ln/>
          </p:spPr>
          <p:txBody>
            <a:bodyPr wrap="square" rtlCol="0" anchor="ctr"/>
            <a:lstStyle/>
            <a:p>
              <a:r>
                <a:rPr lang="en-US" b="1" dirty="0">
                  <a:solidFill>
                    <a:srgbClr val="C9952A"/>
                  </a:solidFill>
                  <a:latin typeface="Calibri" pitchFamily="34" charset="0"/>
                  <a:ea typeface="Calibri" pitchFamily="34" charset="-122"/>
                  <a:cs typeface="Calibri" pitchFamily="34" charset="-120"/>
                </a:rPr>
                <a:t>Clinical Superiority</a:t>
              </a:r>
              <a:endParaRPr lang="en-US" dirty="0"/>
            </a:p>
          </p:txBody>
        </p:sp>
        <p:sp>
          <p:nvSpPr>
            <p:cNvPr id="10" name="Text 7"/>
            <p:cNvSpPr/>
            <p:nvPr/>
          </p:nvSpPr>
          <p:spPr>
            <a:xfrm>
              <a:off x="573025" y="5297424"/>
              <a:ext cx="3413760" cy="1341120"/>
            </a:xfrm>
            <a:prstGeom prst="rect">
              <a:avLst/>
            </a:prstGeom>
            <a:noFill/>
            <a:ln/>
          </p:spPr>
          <p:txBody>
            <a:bodyPr wrap="square" rtlCol="0" anchor="ctr"/>
            <a:lstStyle/>
            <a:p>
              <a:r>
                <a:rPr lang="en-US" sz="1600" dirty="0">
                  <a:solidFill>
                    <a:srgbClr val="F8F4EF"/>
                  </a:solidFill>
                  <a:latin typeface="Calibri" pitchFamily="34" charset="0"/>
                  <a:ea typeface="Calibri" pitchFamily="34" charset="-122"/>
                  <a:cs typeface="Calibri" pitchFamily="34" charset="-120"/>
                </a:rPr>
                <a:t>Tirzepatide (Zepbound) outperformed Wegovy by 20.2% vs 13.7% weight loss in the SURMOUNT-5 head-to-head trial. Clinical superiority drives prescribing habits and formulary positioning.</a:t>
              </a:r>
              <a:endParaRPr lang="en-US" sz="1600" dirty="0"/>
            </a:p>
          </p:txBody>
        </p:sp>
        <p:sp>
          <p:nvSpPr>
            <p:cNvPr id="5" name="Shape 8"/>
            <p:cNvSpPr/>
            <p:nvPr/>
          </p:nvSpPr>
          <p:spPr>
            <a:xfrm>
              <a:off x="4267201" y="4785360"/>
              <a:ext cx="3657600" cy="1950720"/>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12" name="Shape 9"/>
            <p:cNvSpPr/>
            <p:nvPr/>
          </p:nvSpPr>
          <p:spPr>
            <a:xfrm>
              <a:off x="4267201" y="4785360"/>
              <a:ext cx="3657600" cy="97536"/>
            </a:xfrm>
            <a:prstGeom prst="rect">
              <a:avLst/>
            </a:prstGeom>
            <a:solidFill>
              <a:srgbClr val="8B0000"/>
            </a:solidFill>
            <a:ln w="12700">
              <a:solidFill>
                <a:srgbClr val="8B0000"/>
              </a:solidFill>
              <a:prstDash val="solid"/>
            </a:ln>
          </p:spPr>
        </p:sp>
        <p:sp>
          <p:nvSpPr>
            <p:cNvPr id="13" name="Text 10"/>
            <p:cNvSpPr/>
            <p:nvPr/>
          </p:nvSpPr>
          <p:spPr>
            <a:xfrm>
              <a:off x="4413505" y="4882896"/>
              <a:ext cx="3413760" cy="390144"/>
            </a:xfrm>
            <a:prstGeom prst="rect">
              <a:avLst/>
            </a:prstGeom>
            <a:noFill/>
            <a:ln/>
          </p:spPr>
          <p:txBody>
            <a:bodyPr wrap="square" rtlCol="0" anchor="ctr"/>
            <a:lstStyle/>
            <a:p>
              <a:r>
                <a:rPr lang="en-US" b="1" dirty="0">
                  <a:solidFill>
                    <a:srgbClr val="C9952A"/>
                  </a:solidFill>
                  <a:latin typeface="Calibri" pitchFamily="34" charset="0"/>
                  <a:ea typeface="Calibri" pitchFamily="34" charset="-122"/>
                  <a:cs typeface="Calibri" pitchFamily="34" charset="-120"/>
                </a:rPr>
                <a:t>Oral GLP-1 First-Mover</a:t>
              </a:r>
              <a:endParaRPr lang="en-US" dirty="0"/>
            </a:p>
          </p:txBody>
        </p:sp>
        <p:sp>
          <p:nvSpPr>
            <p:cNvPr id="14" name="Text 11"/>
            <p:cNvSpPr/>
            <p:nvPr/>
          </p:nvSpPr>
          <p:spPr>
            <a:xfrm>
              <a:off x="4413505" y="5297424"/>
              <a:ext cx="3413760" cy="1341120"/>
            </a:xfrm>
            <a:prstGeom prst="rect">
              <a:avLst/>
            </a:prstGeom>
            <a:noFill/>
            <a:ln/>
          </p:spPr>
          <p:txBody>
            <a:bodyPr wrap="square" rtlCol="0" anchor="ctr"/>
            <a:lstStyle/>
            <a:p>
              <a:r>
                <a:rPr lang="en-US" sz="1600" dirty="0">
                  <a:solidFill>
                    <a:srgbClr val="F8F4EF"/>
                  </a:solidFill>
                  <a:latin typeface="Calibri" pitchFamily="34" charset="0"/>
                  <a:ea typeface="Calibri" pitchFamily="34" charset="-122"/>
                  <a:cs typeface="Calibri" pitchFamily="34" charset="-120"/>
                </a:rPr>
                <a:t>Foundayo (orforglipron) is the only approved oral GLP-1 pill with no food or water restrictions — unlocking global markets where cold-chain injectable distribution is impractical.</a:t>
              </a:r>
              <a:endParaRPr lang="en-US" sz="1600" dirty="0"/>
            </a:p>
          </p:txBody>
        </p:sp>
        <p:sp>
          <p:nvSpPr>
            <p:cNvPr id="15" name="Shape 12"/>
            <p:cNvSpPr/>
            <p:nvPr/>
          </p:nvSpPr>
          <p:spPr>
            <a:xfrm>
              <a:off x="8107681" y="4785360"/>
              <a:ext cx="3657600" cy="1950720"/>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16" name="Shape 13"/>
            <p:cNvSpPr/>
            <p:nvPr/>
          </p:nvSpPr>
          <p:spPr>
            <a:xfrm>
              <a:off x="8107681" y="4785360"/>
              <a:ext cx="3657600" cy="97536"/>
            </a:xfrm>
            <a:prstGeom prst="rect">
              <a:avLst/>
            </a:prstGeom>
            <a:solidFill>
              <a:srgbClr val="8B0000"/>
            </a:solidFill>
            <a:ln w="12700">
              <a:solidFill>
                <a:srgbClr val="8B0000"/>
              </a:solidFill>
              <a:prstDash val="solid"/>
            </a:ln>
          </p:spPr>
        </p:sp>
        <p:sp>
          <p:nvSpPr>
            <p:cNvPr id="17" name="Text 14"/>
            <p:cNvSpPr/>
            <p:nvPr/>
          </p:nvSpPr>
          <p:spPr>
            <a:xfrm>
              <a:off x="8253985" y="4882896"/>
              <a:ext cx="3413760" cy="390144"/>
            </a:xfrm>
            <a:prstGeom prst="rect">
              <a:avLst/>
            </a:prstGeom>
            <a:noFill/>
            <a:ln/>
          </p:spPr>
          <p:txBody>
            <a:bodyPr wrap="square" rtlCol="0" anchor="ctr"/>
            <a:lstStyle/>
            <a:p>
              <a:r>
                <a:rPr lang="en-US" b="1" dirty="0">
                  <a:solidFill>
                    <a:srgbClr val="C9952A"/>
                  </a:solidFill>
                  <a:latin typeface="Calibri" pitchFamily="34" charset="0"/>
                  <a:ea typeface="Calibri" pitchFamily="34" charset="-122"/>
                  <a:cs typeface="Calibri" pitchFamily="34" charset="-120"/>
                </a:rPr>
                <a:t>Retatrutide Moat</a:t>
              </a:r>
              <a:endParaRPr lang="en-US" dirty="0"/>
            </a:p>
          </p:txBody>
        </p:sp>
        <p:sp>
          <p:nvSpPr>
            <p:cNvPr id="18" name="Text 15"/>
            <p:cNvSpPr/>
            <p:nvPr/>
          </p:nvSpPr>
          <p:spPr>
            <a:xfrm>
              <a:off x="8253985" y="5297424"/>
              <a:ext cx="3413760" cy="1341120"/>
            </a:xfrm>
            <a:prstGeom prst="rect">
              <a:avLst/>
            </a:prstGeom>
            <a:noFill/>
            <a:ln/>
          </p:spPr>
          <p:txBody>
            <a:bodyPr wrap="square" rtlCol="0" anchor="ctr"/>
            <a:lstStyle/>
            <a:p>
              <a:r>
                <a:rPr lang="en-US" sz="1600" dirty="0">
                  <a:solidFill>
                    <a:srgbClr val="F8F4EF"/>
                  </a:solidFill>
                  <a:latin typeface="Calibri" pitchFamily="34" charset="0"/>
                  <a:ea typeface="Calibri" pitchFamily="34" charset="-122"/>
                  <a:cs typeface="Calibri" pitchFamily="34" charset="-120"/>
                </a:rPr>
                <a:t>If retatrutide (28.7% weight loss) receives approval, no competitor has a comparable molecule in late-stage development. This would extend Lilly's premium for potentially 5–7 years.</a:t>
              </a:r>
              <a:endParaRPr lang="en-US" sz="1600" dirty="0"/>
            </a:p>
          </p:txBody>
        </p:sp>
      </p:grpSp>
      <p:sp>
        <p:nvSpPr>
          <p:cNvPr id="19" name="Shape 0">
            <a:extLst>
              <a:ext uri="{FF2B5EF4-FFF2-40B4-BE49-F238E27FC236}">
                <a16:creationId xmlns:a16="http://schemas.microsoft.com/office/drawing/2014/main" id="{335B6582-4530-E230-532F-1E2C57679E7B}"/>
              </a:ext>
            </a:extLst>
          </p:cNvPr>
          <p:cNvSpPr/>
          <p:nvPr/>
        </p:nvSpPr>
        <p:spPr>
          <a:xfrm>
            <a:off x="0" y="0"/>
            <a:ext cx="12192000" cy="914400"/>
          </a:xfrm>
          <a:prstGeom prst="rect">
            <a:avLst/>
          </a:prstGeom>
          <a:solidFill>
            <a:srgbClr val="1E293B"/>
          </a:solidFill>
          <a:ln w="12700">
            <a:solidFill>
              <a:srgbClr val="1E293B"/>
            </a:solidFill>
            <a:prstDash val="solid"/>
          </a:ln>
        </p:spPr>
      </p:sp>
      <p:sp>
        <p:nvSpPr>
          <p:cNvPr id="20" name="Shape 1">
            <a:extLst>
              <a:ext uri="{FF2B5EF4-FFF2-40B4-BE49-F238E27FC236}">
                <a16:creationId xmlns:a16="http://schemas.microsoft.com/office/drawing/2014/main" id="{26AD20F7-6FEA-47DD-4AE7-A15EEBD7A4D9}"/>
              </a:ext>
            </a:extLst>
          </p:cNvPr>
          <p:cNvSpPr/>
          <p:nvPr/>
        </p:nvSpPr>
        <p:spPr>
          <a:xfrm>
            <a:off x="0" y="0"/>
            <a:ext cx="463296" cy="914400"/>
          </a:xfrm>
          <a:prstGeom prst="rect">
            <a:avLst/>
          </a:prstGeom>
          <a:solidFill>
            <a:srgbClr val="00B4D8"/>
          </a:solidFill>
          <a:ln w="12700">
            <a:solidFill>
              <a:srgbClr val="00B4D8"/>
            </a:solidFill>
            <a:prstDash val="solid"/>
          </a:ln>
        </p:spPr>
      </p:sp>
      <p:sp>
        <p:nvSpPr>
          <p:cNvPr id="21" name="Text 2">
            <a:extLst>
              <a:ext uri="{FF2B5EF4-FFF2-40B4-BE49-F238E27FC236}">
                <a16:creationId xmlns:a16="http://schemas.microsoft.com/office/drawing/2014/main" id="{A55ABC8E-6F68-CFB8-1E53-2482054D0274}"/>
              </a:ext>
            </a:extLst>
          </p:cNvPr>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6: COMPETITIVE LANDSCAPE — LILLY VS PEERS</a:t>
            </a:r>
          </a:p>
        </p:txBody>
      </p:sp>
      <p:sp>
        <p:nvSpPr>
          <p:cNvPr id="22" name="Text 3">
            <a:extLst>
              <a:ext uri="{FF2B5EF4-FFF2-40B4-BE49-F238E27FC236}">
                <a16:creationId xmlns:a16="http://schemas.microsoft.com/office/drawing/2014/main" id="{A8113098-BD56-AE06-1A34-80291DC1D26A}"/>
              </a:ext>
            </a:extLst>
          </p:cNvPr>
          <p:cNvSpPr/>
          <p:nvPr/>
        </p:nvSpPr>
        <p:spPr>
          <a:xfrm>
            <a:off x="694945" y="903170"/>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Dominating obesity &amp; diabetes while building second-act platforms in oncology and neuroscience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892689"/>
            <a:ext cx="10972800" cy="341376"/>
          </a:xfrm>
          <a:prstGeom prst="rect">
            <a:avLst/>
          </a:prstGeom>
          <a:noFill/>
          <a:ln/>
        </p:spPr>
        <p:txBody>
          <a:bodyPr wrap="square" lIns="0" tIns="0" rIns="0" bIns="0" rtlCol="0" anchor="ctr"/>
          <a:lstStyle/>
          <a:p>
            <a:r>
              <a:rPr lang="en-US" sz="1467" i="1" dirty="0">
                <a:latin typeface="Calibri" pitchFamily="34" charset="0"/>
                <a:ea typeface="Calibri" pitchFamily="34" charset="-122"/>
                <a:cs typeface="Calibri" pitchFamily="34" charset="-120"/>
              </a:rPr>
              <a:t>Regulatory, clinical, manufacturing, pricing &amp; competitive threats investors must monitor</a:t>
            </a:r>
            <a:endParaRPr lang="en-US" sz="1467" dirty="0"/>
          </a:p>
        </p:txBody>
      </p:sp>
      <p:grpSp>
        <p:nvGrpSpPr>
          <p:cNvPr id="48" name="Group 47">
            <a:extLst>
              <a:ext uri="{FF2B5EF4-FFF2-40B4-BE49-F238E27FC236}">
                <a16:creationId xmlns:a16="http://schemas.microsoft.com/office/drawing/2014/main" id="{AC67F74B-C83A-57DB-2970-BBEA8A57499A}"/>
              </a:ext>
            </a:extLst>
          </p:cNvPr>
          <p:cNvGrpSpPr/>
          <p:nvPr/>
        </p:nvGrpSpPr>
        <p:grpSpPr>
          <a:xfrm>
            <a:off x="335280" y="1328928"/>
            <a:ext cx="11521440" cy="5407152"/>
            <a:chOff x="548640" y="1487424"/>
            <a:chExt cx="11521440" cy="4864608"/>
          </a:xfrm>
        </p:grpSpPr>
        <p:sp>
          <p:nvSpPr>
            <p:cNvPr id="5" name="Shape 3"/>
            <p:cNvSpPr/>
            <p:nvPr/>
          </p:nvSpPr>
          <p:spPr>
            <a:xfrm>
              <a:off x="548640" y="1487424"/>
              <a:ext cx="5608320" cy="1097280"/>
            </a:xfrm>
            <a:prstGeom prst="rect">
              <a:avLst/>
            </a:prstGeom>
            <a:solidFill>
              <a:schemeClr val="accent2">
                <a:lumMod val="20000"/>
                <a:lumOff val="80000"/>
              </a:schemeClr>
            </a:solidFill>
            <a:ln/>
            <a:effectLst>
              <a:outerShdw blurRad="76200" dist="25400" dir="8100000" algn="bl" rotWithShape="0">
                <a:srgbClr val="000000">
                  <a:alpha val="12000"/>
                </a:srgbClr>
              </a:outerShdw>
            </a:effectLst>
          </p:spPr>
        </p:sp>
        <p:sp>
          <p:nvSpPr>
            <p:cNvPr id="6" name="Shape 4"/>
            <p:cNvSpPr/>
            <p:nvPr/>
          </p:nvSpPr>
          <p:spPr>
            <a:xfrm>
              <a:off x="548640" y="1487424"/>
              <a:ext cx="85344" cy="1097280"/>
            </a:xfrm>
            <a:prstGeom prst="rect">
              <a:avLst/>
            </a:prstGeom>
            <a:solidFill>
              <a:srgbClr val="8B1A2E"/>
            </a:solidFill>
            <a:ln/>
          </p:spPr>
        </p:sp>
        <p:sp>
          <p:nvSpPr>
            <p:cNvPr id="7" name="Text 5"/>
            <p:cNvSpPr/>
            <p:nvPr/>
          </p:nvSpPr>
          <p:spPr>
            <a:xfrm>
              <a:off x="743712" y="1560576"/>
              <a:ext cx="1097280" cy="268224"/>
            </a:xfrm>
            <a:prstGeom prst="rect">
              <a:avLst/>
            </a:prstGeom>
            <a:noFill/>
            <a:ln/>
          </p:spPr>
          <p:txBody>
            <a:bodyPr wrap="square" lIns="0" tIns="0" rIns="0" bIns="0" rtlCol="0" anchor="ctr"/>
            <a:lstStyle/>
            <a:p>
              <a:r>
                <a:rPr lang="en-US" sz="900" b="1" kern="0" spc="107" dirty="0">
                  <a:solidFill>
                    <a:srgbClr val="8B1A2E"/>
                  </a:solidFill>
                  <a:latin typeface="Calibri" pitchFamily="34" charset="0"/>
                  <a:ea typeface="Calibri" pitchFamily="34" charset="-122"/>
                  <a:cs typeface="Calibri" pitchFamily="34" charset="-120"/>
                </a:rPr>
                <a:t>CRITICAL</a:t>
              </a:r>
              <a:endParaRPr lang="en-US" sz="900" dirty="0"/>
            </a:p>
          </p:txBody>
        </p:sp>
        <p:sp>
          <p:nvSpPr>
            <p:cNvPr id="8" name="Text 6"/>
            <p:cNvSpPr/>
            <p:nvPr/>
          </p:nvSpPr>
          <p:spPr>
            <a:xfrm>
              <a:off x="1865376" y="1560576"/>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GLP-1 Pricing &amp; IRA / Medicare Negotiation</a:t>
              </a:r>
              <a:endParaRPr lang="en-US" sz="1200" dirty="0"/>
            </a:p>
          </p:txBody>
        </p:sp>
        <p:sp>
          <p:nvSpPr>
            <p:cNvPr id="9" name="Text 7"/>
            <p:cNvSpPr/>
            <p:nvPr/>
          </p:nvSpPr>
          <p:spPr>
            <a:xfrm>
              <a:off x="743712" y="1901952"/>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The Inflation Reduction Act (IRA) subjects drugs to Medicare price negotiation after 9 years. Mounjaro/Zepbound could face forced price cuts post-2031 — compressing long-tail margins significantly. PBM rebate pressure is also intensifying now.</a:t>
              </a:r>
              <a:endParaRPr lang="en-US" sz="1200" dirty="0"/>
            </a:p>
          </p:txBody>
        </p:sp>
        <p:sp>
          <p:nvSpPr>
            <p:cNvPr id="10" name="Shape 8"/>
            <p:cNvSpPr/>
            <p:nvPr/>
          </p:nvSpPr>
          <p:spPr>
            <a:xfrm>
              <a:off x="6461760" y="1487424"/>
              <a:ext cx="5608320" cy="1097280"/>
            </a:xfrm>
            <a:prstGeom prst="rect">
              <a:avLst/>
            </a:prstGeom>
            <a:solidFill>
              <a:schemeClr val="accent2">
                <a:lumMod val="20000"/>
                <a:lumOff val="80000"/>
              </a:schemeClr>
            </a:solidFill>
            <a:ln/>
            <a:effectLst>
              <a:outerShdw blurRad="76200" dist="25400" dir="8100000" algn="bl" rotWithShape="0">
                <a:srgbClr val="000000">
                  <a:alpha val="12000"/>
                </a:srgbClr>
              </a:outerShdw>
            </a:effectLst>
          </p:spPr>
        </p:sp>
        <p:sp>
          <p:nvSpPr>
            <p:cNvPr id="11" name="Shape 9"/>
            <p:cNvSpPr/>
            <p:nvPr/>
          </p:nvSpPr>
          <p:spPr>
            <a:xfrm>
              <a:off x="6461760" y="1487424"/>
              <a:ext cx="85344" cy="1097280"/>
            </a:xfrm>
            <a:prstGeom prst="rect">
              <a:avLst/>
            </a:prstGeom>
            <a:solidFill>
              <a:srgbClr val="8B1A2E"/>
            </a:solidFill>
            <a:ln/>
          </p:spPr>
        </p:sp>
        <p:sp>
          <p:nvSpPr>
            <p:cNvPr id="12" name="Text 10"/>
            <p:cNvSpPr/>
            <p:nvPr/>
          </p:nvSpPr>
          <p:spPr>
            <a:xfrm>
              <a:off x="6656832" y="1560576"/>
              <a:ext cx="1097280" cy="268224"/>
            </a:xfrm>
            <a:prstGeom prst="rect">
              <a:avLst/>
            </a:prstGeom>
            <a:noFill/>
            <a:ln/>
          </p:spPr>
          <p:txBody>
            <a:bodyPr wrap="square" lIns="0" tIns="0" rIns="0" bIns="0" rtlCol="0" anchor="ctr"/>
            <a:lstStyle/>
            <a:p>
              <a:r>
                <a:rPr lang="en-US" sz="900" b="1" kern="0" spc="107" dirty="0">
                  <a:solidFill>
                    <a:srgbClr val="8B1A2E"/>
                  </a:solidFill>
                  <a:latin typeface="Calibri" pitchFamily="34" charset="0"/>
                  <a:ea typeface="Calibri" pitchFamily="34" charset="-122"/>
                  <a:cs typeface="Calibri" pitchFamily="34" charset="-120"/>
                </a:rPr>
                <a:t>CRITICAL</a:t>
              </a:r>
              <a:endParaRPr lang="en-US" sz="900" dirty="0"/>
            </a:p>
          </p:txBody>
        </p:sp>
        <p:sp>
          <p:nvSpPr>
            <p:cNvPr id="13" name="Text 11"/>
            <p:cNvSpPr/>
            <p:nvPr/>
          </p:nvSpPr>
          <p:spPr>
            <a:xfrm>
              <a:off x="7778496" y="1560576"/>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Manufacturing Execution Risk</a:t>
              </a:r>
              <a:endParaRPr lang="en-US" sz="1200" dirty="0"/>
            </a:p>
          </p:txBody>
        </p:sp>
        <p:sp>
          <p:nvSpPr>
            <p:cNvPr id="14" name="Text 12"/>
            <p:cNvSpPr/>
            <p:nvPr/>
          </p:nvSpPr>
          <p:spPr>
            <a:xfrm>
              <a:off x="6656832" y="1901952"/>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Lilly was on FDA drug shortage lists for Zepbound in 2023–2024. Failure to ramp manufacturing fast enough means losing prescriptions to compounders, biosimilars, or Novo. $27B capex is committed but execution is uncertain.</a:t>
              </a:r>
              <a:endParaRPr lang="en-US" sz="1200" dirty="0"/>
            </a:p>
          </p:txBody>
        </p:sp>
        <p:sp>
          <p:nvSpPr>
            <p:cNvPr id="15" name="Shape 13"/>
            <p:cNvSpPr/>
            <p:nvPr/>
          </p:nvSpPr>
          <p:spPr>
            <a:xfrm>
              <a:off x="548640" y="2743200"/>
              <a:ext cx="5608320" cy="1097280"/>
            </a:xfrm>
            <a:prstGeom prst="rect">
              <a:avLst/>
            </a:prstGeom>
            <a:solidFill>
              <a:schemeClr val="accent4">
                <a:lumMod val="20000"/>
                <a:lumOff val="80000"/>
              </a:schemeClr>
            </a:solidFill>
            <a:ln/>
            <a:effectLst>
              <a:outerShdw blurRad="76200" dist="25400" dir="8100000" algn="bl" rotWithShape="0">
                <a:srgbClr val="000000">
                  <a:alpha val="12000"/>
                </a:srgbClr>
              </a:outerShdw>
            </a:effectLst>
          </p:spPr>
        </p:sp>
        <p:sp>
          <p:nvSpPr>
            <p:cNvPr id="16" name="Shape 14"/>
            <p:cNvSpPr/>
            <p:nvPr/>
          </p:nvSpPr>
          <p:spPr>
            <a:xfrm>
              <a:off x="548640" y="2743200"/>
              <a:ext cx="85344" cy="1097280"/>
            </a:xfrm>
            <a:prstGeom prst="rect">
              <a:avLst/>
            </a:prstGeom>
            <a:solidFill>
              <a:srgbClr val="C8973A"/>
            </a:solidFill>
            <a:ln/>
          </p:spPr>
        </p:sp>
        <p:sp>
          <p:nvSpPr>
            <p:cNvPr id="17" name="Text 15"/>
            <p:cNvSpPr/>
            <p:nvPr/>
          </p:nvSpPr>
          <p:spPr>
            <a:xfrm>
              <a:off x="743712" y="2816352"/>
              <a:ext cx="1097280" cy="268224"/>
            </a:xfrm>
            <a:prstGeom prst="rect">
              <a:avLst/>
            </a:prstGeom>
            <a:noFill/>
            <a:ln/>
          </p:spPr>
          <p:txBody>
            <a:bodyPr wrap="square" lIns="0" tIns="0" rIns="0" bIns="0" rtlCol="0" anchor="ctr"/>
            <a:lstStyle/>
            <a:p>
              <a:r>
                <a:rPr lang="en-US" sz="900" b="1" kern="0" spc="107" dirty="0">
                  <a:solidFill>
                    <a:srgbClr val="C8973A"/>
                  </a:solidFill>
                  <a:latin typeface="Calibri" pitchFamily="34" charset="0"/>
                  <a:ea typeface="Calibri" pitchFamily="34" charset="-122"/>
                  <a:cs typeface="Calibri" pitchFamily="34" charset="-120"/>
                </a:rPr>
                <a:t>HIGH</a:t>
              </a:r>
              <a:endParaRPr lang="en-US" sz="900" dirty="0"/>
            </a:p>
          </p:txBody>
        </p:sp>
        <p:sp>
          <p:nvSpPr>
            <p:cNvPr id="18" name="Text 16"/>
            <p:cNvSpPr/>
            <p:nvPr/>
          </p:nvSpPr>
          <p:spPr>
            <a:xfrm>
              <a:off x="1865376" y="2816352"/>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Donanemab (Alzheimer's) Regulatory Risk</a:t>
              </a:r>
              <a:endParaRPr lang="en-US" sz="1200" dirty="0"/>
            </a:p>
          </p:txBody>
        </p:sp>
        <p:sp>
          <p:nvSpPr>
            <p:cNvPr id="19" name="Text 17"/>
            <p:cNvSpPr/>
            <p:nvPr/>
          </p:nvSpPr>
          <p:spPr>
            <a:xfrm>
              <a:off x="743712" y="3157728"/>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Donanemab FDA filing is a high-risk, high-reward catalyst. ARIA (brain swelling/bleeding) side effects and narrow label criteria could limit commercial uptake even with approval. Leqembi (Biogen/Eisai) failure lessons apply.</a:t>
              </a:r>
              <a:endParaRPr lang="en-US" sz="1200" dirty="0"/>
            </a:p>
          </p:txBody>
        </p:sp>
        <p:sp>
          <p:nvSpPr>
            <p:cNvPr id="20" name="Shape 18"/>
            <p:cNvSpPr/>
            <p:nvPr/>
          </p:nvSpPr>
          <p:spPr>
            <a:xfrm>
              <a:off x="6461760" y="2743200"/>
              <a:ext cx="5608320" cy="1097280"/>
            </a:xfrm>
            <a:prstGeom prst="rect">
              <a:avLst/>
            </a:prstGeom>
            <a:solidFill>
              <a:schemeClr val="accent4">
                <a:lumMod val="20000"/>
                <a:lumOff val="80000"/>
              </a:schemeClr>
            </a:solidFill>
            <a:ln/>
            <a:effectLst>
              <a:outerShdw blurRad="76200" dist="25400" dir="8100000" algn="bl" rotWithShape="0">
                <a:srgbClr val="000000">
                  <a:alpha val="12000"/>
                </a:srgbClr>
              </a:outerShdw>
            </a:effectLst>
          </p:spPr>
        </p:sp>
        <p:sp>
          <p:nvSpPr>
            <p:cNvPr id="21" name="Shape 19"/>
            <p:cNvSpPr/>
            <p:nvPr/>
          </p:nvSpPr>
          <p:spPr>
            <a:xfrm>
              <a:off x="6461760" y="2743200"/>
              <a:ext cx="85344" cy="1097280"/>
            </a:xfrm>
            <a:prstGeom prst="rect">
              <a:avLst/>
            </a:prstGeom>
            <a:solidFill>
              <a:srgbClr val="C8973A"/>
            </a:solidFill>
            <a:ln/>
          </p:spPr>
        </p:sp>
        <p:sp>
          <p:nvSpPr>
            <p:cNvPr id="22" name="Text 20"/>
            <p:cNvSpPr/>
            <p:nvPr/>
          </p:nvSpPr>
          <p:spPr>
            <a:xfrm>
              <a:off x="6656832" y="2816352"/>
              <a:ext cx="1097280" cy="268224"/>
            </a:xfrm>
            <a:prstGeom prst="rect">
              <a:avLst/>
            </a:prstGeom>
            <a:noFill/>
            <a:ln/>
          </p:spPr>
          <p:txBody>
            <a:bodyPr wrap="square" lIns="0" tIns="0" rIns="0" bIns="0" rtlCol="0" anchor="ctr"/>
            <a:lstStyle/>
            <a:p>
              <a:r>
                <a:rPr lang="en-US" sz="900" b="1" kern="0" spc="107" dirty="0">
                  <a:solidFill>
                    <a:srgbClr val="C8973A"/>
                  </a:solidFill>
                  <a:latin typeface="Calibri" pitchFamily="34" charset="0"/>
                  <a:ea typeface="Calibri" pitchFamily="34" charset="-122"/>
                  <a:cs typeface="Calibri" pitchFamily="34" charset="-120"/>
                </a:rPr>
                <a:t>HIGH</a:t>
              </a:r>
              <a:endParaRPr lang="en-US" sz="900" dirty="0"/>
            </a:p>
          </p:txBody>
        </p:sp>
        <p:sp>
          <p:nvSpPr>
            <p:cNvPr id="23" name="Text 21"/>
            <p:cNvSpPr/>
            <p:nvPr/>
          </p:nvSpPr>
          <p:spPr>
            <a:xfrm>
              <a:off x="7778496" y="2816352"/>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GLP-1 Competitor Entry (Oral Small Molecules)</a:t>
              </a:r>
              <a:endParaRPr lang="en-US" sz="1200" dirty="0"/>
            </a:p>
          </p:txBody>
        </p:sp>
        <p:sp>
          <p:nvSpPr>
            <p:cNvPr id="24" name="Text 22"/>
            <p:cNvSpPr/>
            <p:nvPr/>
          </p:nvSpPr>
          <p:spPr>
            <a:xfrm>
              <a:off x="6656832" y="3157728"/>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Pfizer's danuglipron, Novo's oral semaglutide (Rybelsus), and multiple emerging Chinese GLP-1s could commoditize the class. If oral GLP-1 becomes generic-like, pricing power erodes rapidly.</a:t>
              </a:r>
              <a:endParaRPr lang="en-US" sz="1200" dirty="0"/>
            </a:p>
          </p:txBody>
        </p:sp>
        <p:sp>
          <p:nvSpPr>
            <p:cNvPr id="25" name="Shape 23"/>
            <p:cNvSpPr/>
            <p:nvPr/>
          </p:nvSpPr>
          <p:spPr>
            <a:xfrm>
              <a:off x="548640" y="3998976"/>
              <a:ext cx="5608320" cy="1097280"/>
            </a:xfrm>
            <a:prstGeom prst="rect">
              <a:avLst/>
            </a:prstGeom>
            <a:solidFill>
              <a:schemeClr val="accent4">
                <a:lumMod val="20000"/>
                <a:lumOff val="80000"/>
              </a:schemeClr>
            </a:solidFill>
            <a:ln/>
            <a:effectLst>
              <a:outerShdw blurRad="76200" dist="25400" dir="8100000" algn="bl" rotWithShape="0">
                <a:srgbClr val="000000">
                  <a:alpha val="12000"/>
                </a:srgbClr>
              </a:outerShdw>
            </a:effectLst>
          </p:spPr>
        </p:sp>
        <p:sp>
          <p:nvSpPr>
            <p:cNvPr id="26" name="Shape 24"/>
            <p:cNvSpPr/>
            <p:nvPr/>
          </p:nvSpPr>
          <p:spPr>
            <a:xfrm>
              <a:off x="548640" y="3998976"/>
              <a:ext cx="85344" cy="1097280"/>
            </a:xfrm>
            <a:prstGeom prst="rect">
              <a:avLst/>
            </a:prstGeom>
            <a:solidFill>
              <a:srgbClr val="C8973A"/>
            </a:solidFill>
            <a:ln/>
          </p:spPr>
        </p:sp>
        <p:sp>
          <p:nvSpPr>
            <p:cNvPr id="27" name="Text 25"/>
            <p:cNvSpPr/>
            <p:nvPr/>
          </p:nvSpPr>
          <p:spPr>
            <a:xfrm>
              <a:off x="743712" y="4072128"/>
              <a:ext cx="1097280" cy="268224"/>
            </a:xfrm>
            <a:prstGeom prst="rect">
              <a:avLst/>
            </a:prstGeom>
            <a:noFill/>
            <a:ln/>
          </p:spPr>
          <p:txBody>
            <a:bodyPr wrap="square" lIns="0" tIns="0" rIns="0" bIns="0" rtlCol="0" anchor="ctr"/>
            <a:lstStyle/>
            <a:p>
              <a:r>
                <a:rPr lang="en-US" sz="900" b="1" kern="0" spc="107" dirty="0">
                  <a:solidFill>
                    <a:srgbClr val="C8973A"/>
                  </a:solidFill>
                  <a:latin typeface="Calibri" pitchFamily="34" charset="0"/>
                  <a:ea typeface="Calibri" pitchFamily="34" charset="-122"/>
                  <a:cs typeface="Calibri" pitchFamily="34" charset="-120"/>
                </a:rPr>
                <a:t>HIGH</a:t>
              </a:r>
              <a:endParaRPr lang="en-US" sz="900" dirty="0"/>
            </a:p>
          </p:txBody>
        </p:sp>
        <p:sp>
          <p:nvSpPr>
            <p:cNvPr id="28" name="Text 26"/>
            <p:cNvSpPr/>
            <p:nvPr/>
          </p:nvSpPr>
          <p:spPr>
            <a:xfrm>
              <a:off x="1865376" y="4072128"/>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Valuation Multiple Compression Risk</a:t>
              </a:r>
              <a:endParaRPr lang="en-US" sz="1200" dirty="0"/>
            </a:p>
          </p:txBody>
        </p:sp>
        <p:sp>
          <p:nvSpPr>
            <p:cNvPr id="29" name="Text 27"/>
            <p:cNvSpPr/>
            <p:nvPr/>
          </p:nvSpPr>
          <p:spPr>
            <a:xfrm>
              <a:off x="743712" y="4413504"/>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LLY trades at ~12x forward revenue and ~45x forward earnings — premium valuations require perfect execution. Any pipeline failure, earnings miss, or macro sentiment shift could cause significant multiple de-rating.</a:t>
              </a:r>
              <a:endParaRPr lang="en-US" sz="1200" dirty="0"/>
            </a:p>
          </p:txBody>
        </p:sp>
        <p:sp>
          <p:nvSpPr>
            <p:cNvPr id="30" name="Shape 28"/>
            <p:cNvSpPr/>
            <p:nvPr/>
          </p:nvSpPr>
          <p:spPr>
            <a:xfrm>
              <a:off x="6461760" y="3998976"/>
              <a:ext cx="5608320" cy="1097280"/>
            </a:xfrm>
            <a:prstGeom prst="rect">
              <a:avLst/>
            </a:prstGeom>
            <a:solidFill>
              <a:schemeClr val="accent6">
                <a:lumMod val="20000"/>
                <a:lumOff val="80000"/>
              </a:schemeClr>
            </a:solidFill>
            <a:ln/>
            <a:effectLst>
              <a:outerShdw blurRad="76200" dist="25400" dir="8100000" algn="bl" rotWithShape="0">
                <a:srgbClr val="000000">
                  <a:alpha val="12000"/>
                </a:srgbClr>
              </a:outerShdw>
            </a:effectLst>
          </p:spPr>
        </p:sp>
        <p:sp>
          <p:nvSpPr>
            <p:cNvPr id="31" name="Shape 29"/>
            <p:cNvSpPr/>
            <p:nvPr/>
          </p:nvSpPr>
          <p:spPr>
            <a:xfrm>
              <a:off x="6461760" y="3998976"/>
              <a:ext cx="85344" cy="1097280"/>
            </a:xfrm>
            <a:prstGeom prst="rect">
              <a:avLst/>
            </a:prstGeom>
            <a:solidFill>
              <a:srgbClr val="1A6B6B"/>
            </a:solidFill>
            <a:ln/>
          </p:spPr>
        </p:sp>
        <p:sp>
          <p:nvSpPr>
            <p:cNvPr id="32" name="Text 30"/>
            <p:cNvSpPr/>
            <p:nvPr/>
          </p:nvSpPr>
          <p:spPr>
            <a:xfrm>
              <a:off x="6656832" y="4072128"/>
              <a:ext cx="1097280" cy="268224"/>
            </a:xfrm>
            <a:prstGeom prst="rect">
              <a:avLst/>
            </a:prstGeom>
            <a:noFill/>
            <a:ln/>
          </p:spPr>
          <p:txBody>
            <a:bodyPr wrap="square" lIns="0" tIns="0" rIns="0" bIns="0" rtlCol="0" anchor="ctr"/>
            <a:lstStyle/>
            <a:p>
              <a:r>
                <a:rPr lang="en-US" sz="900" b="1" kern="0" spc="107" dirty="0">
                  <a:solidFill>
                    <a:srgbClr val="1A6B6B"/>
                  </a:solidFill>
                  <a:latin typeface="Calibri" pitchFamily="34" charset="0"/>
                  <a:ea typeface="Calibri" pitchFamily="34" charset="-122"/>
                  <a:cs typeface="Calibri" pitchFamily="34" charset="-120"/>
                </a:rPr>
                <a:t>MEDIUM</a:t>
              </a:r>
              <a:endParaRPr lang="en-US" sz="900" dirty="0"/>
            </a:p>
          </p:txBody>
        </p:sp>
        <p:sp>
          <p:nvSpPr>
            <p:cNvPr id="33" name="Text 31"/>
            <p:cNvSpPr/>
            <p:nvPr/>
          </p:nvSpPr>
          <p:spPr>
            <a:xfrm>
              <a:off x="7778496" y="4072128"/>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Patent Cliff Exposure (2026–2030)</a:t>
              </a:r>
              <a:endParaRPr lang="en-US" sz="1200" dirty="0"/>
            </a:p>
          </p:txBody>
        </p:sp>
        <p:sp>
          <p:nvSpPr>
            <p:cNvPr id="34" name="Text 32"/>
            <p:cNvSpPr/>
            <p:nvPr/>
          </p:nvSpPr>
          <p:spPr>
            <a:xfrm>
              <a:off x="6656832" y="4413504"/>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Trulicity loses US exclusivity around 2027. Taltz faces biosimilar competition. Verzenio palbociclib generics could pressure CDK4/6 economics. Tirzepatide's core patents run to ~2036 — key protection.</a:t>
              </a:r>
              <a:endParaRPr lang="en-US" sz="1200" dirty="0"/>
            </a:p>
          </p:txBody>
        </p:sp>
        <p:sp>
          <p:nvSpPr>
            <p:cNvPr id="35" name="Shape 33"/>
            <p:cNvSpPr/>
            <p:nvPr/>
          </p:nvSpPr>
          <p:spPr>
            <a:xfrm>
              <a:off x="548640" y="5254752"/>
              <a:ext cx="5608320" cy="1097280"/>
            </a:xfrm>
            <a:prstGeom prst="rect">
              <a:avLst/>
            </a:prstGeom>
            <a:solidFill>
              <a:schemeClr val="accent6">
                <a:lumMod val="20000"/>
                <a:lumOff val="80000"/>
              </a:schemeClr>
            </a:solidFill>
            <a:ln/>
            <a:effectLst>
              <a:outerShdw blurRad="76200" dist="25400" dir="8100000" algn="bl" rotWithShape="0">
                <a:srgbClr val="000000">
                  <a:alpha val="12000"/>
                </a:srgbClr>
              </a:outerShdw>
            </a:effectLst>
          </p:spPr>
        </p:sp>
        <p:sp>
          <p:nvSpPr>
            <p:cNvPr id="36" name="Shape 34"/>
            <p:cNvSpPr/>
            <p:nvPr/>
          </p:nvSpPr>
          <p:spPr>
            <a:xfrm>
              <a:off x="548640" y="5254752"/>
              <a:ext cx="85344" cy="1097280"/>
            </a:xfrm>
            <a:prstGeom prst="rect">
              <a:avLst/>
            </a:prstGeom>
            <a:solidFill>
              <a:srgbClr val="1A6B6B"/>
            </a:solidFill>
            <a:ln/>
          </p:spPr>
        </p:sp>
        <p:sp>
          <p:nvSpPr>
            <p:cNvPr id="37" name="Text 35"/>
            <p:cNvSpPr/>
            <p:nvPr/>
          </p:nvSpPr>
          <p:spPr>
            <a:xfrm>
              <a:off x="743712" y="5327904"/>
              <a:ext cx="1097280" cy="268224"/>
            </a:xfrm>
            <a:prstGeom prst="rect">
              <a:avLst/>
            </a:prstGeom>
            <a:noFill/>
            <a:ln/>
          </p:spPr>
          <p:txBody>
            <a:bodyPr wrap="square" lIns="0" tIns="0" rIns="0" bIns="0" rtlCol="0" anchor="ctr"/>
            <a:lstStyle/>
            <a:p>
              <a:r>
                <a:rPr lang="en-US" sz="900" b="1" kern="0" spc="107" dirty="0">
                  <a:solidFill>
                    <a:srgbClr val="1A6B6B"/>
                  </a:solidFill>
                  <a:latin typeface="Calibri" pitchFamily="34" charset="0"/>
                  <a:ea typeface="Calibri" pitchFamily="34" charset="-122"/>
                  <a:cs typeface="Calibri" pitchFamily="34" charset="-120"/>
                </a:rPr>
                <a:t>MEDIUM</a:t>
              </a:r>
              <a:endParaRPr lang="en-US" sz="900" dirty="0"/>
            </a:p>
          </p:txBody>
        </p:sp>
        <p:sp>
          <p:nvSpPr>
            <p:cNvPr id="38" name="Text 36"/>
            <p:cNvSpPr/>
            <p:nvPr/>
          </p:nvSpPr>
          <p:spPr>
            <a:xfrm>
              <a:off x="1865376" y="5327904"/>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Compounding Pharmacy Disruption</a:t>
              </a:r>
              <a:endParaRPr lang="en-US" sz="1200" dirty="0"/>
            </a:p>
          </p:txBody>
        </p:sp>
        <p:sp>
          <p:nvSpPr>
            <p:cNvPr id="39" name="Text 37"/>
            <p:cNvSpPr/>
            <p:nvPr/>
          </p:nvSpPr>
          <p:spPr>
            <a:xfrm>
              <a:off x="743712" y="5669280"/>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During shortage periods, compound pharmacies legally produced semaglutide and tirzepatide at ~90% lower cost. If FDA re-lists GLP-1s as 'available,' compounders must stop — but resolution delay risks brand loyalty loss.</a:t>
              </a:r>
              <a:endParaRPr lang="en-US" sz="1200" dirty="0"/>
            </a:p>
          </p:txBody>
        </p:sp>
        <p:sp>
          <p:nvSpPr>
            <p:cNvPr id="40" name="Shape 38"/>
            <p:cNvSpPr/>
            <p:nvPr/>
          </p:nvSpPr>
          <p:spPr>
            <a:xfrm>
              <a:off x="6461760" y="5254752"/>
              <a:ext cx="5608320" cy="1097280"/>
            </a:xfrm>
            <a:prstGeom prst="rect">
              <a:avLst/>
            </a:prstGeom>
            <a:solidFill>
              <a:schemeClr val="bg1">
                <a:lumMod val="95000"/>
              </a:schemeClr>
            </a:solidFill>
            <a:ln/>
            <a:effectLst>
              <a:outerShdw blurRad="76200" dist="25400" dir="8100000" algn="bl" rotWithShape="0">
                <a:srgbClr val="000000">
                  <a:alpha val="12000"/>
                </a:srgbClr>
              </a:outerShdw>
            </a:effectLst>
          </p:spPr>
        </p:sp>
        <p:sp>
          <p:nvSpPr>
            <p:cNvPr id="41" name="Shape 39"/>
            <p:cNvSpPr/>
            <p:nvPr/>
          </p:nvSpPr>
          <p:spPr>
            <a:xfrm>
              <a:off x="6461760" y="5254752"/>
              <a:ext cx="85344" cy="1097280"/>
            </a:xfrm>
            <a:prstGeom prst="rect">
              <a:avLst/>
            </a:prstGeom>
            <a:solidFill>
              <a:srgbClr val="7A7A7A"/>
            </a:solidFill>
            <a:ln/>
          </p:spPr>
        </p:sp>
        <p:sp>
          <p:nvSpPr>
            <p:cNvPr id="42" name="Text 40"/>
            <p:cNvSpPr/>
            <p:nvPr/>
          </p:nvSpPr>
          <p:spPr>
            <a:xfrm>
              <a:off x="6656832" y="5327904"/>
              <a:ext cx="1097280" cy="268224"/>
            </a:xfrm>
            <a:prstGeom prst="rect">
              <a:avLst/>
            </a:prstGeom>
            <a:noFill/>
            <a:ln/>
          </p:spPr>
          <p:txBody>
            <a:bodyPr wrap="square" lIns="0" tIns="0" rIns="0" bIns="0" rtlCol="0" anchor="ctr"/>
            <a:lstStyle/>
            <a:p>
              <a:r>
                <a:rPr lang="en-US" sz="900" b="1" kern="0" spc="107" dirty="0">
                  <a:solidFill>
                    <a:srgbClr val="7A7A7A"/>
                  </a:solidFill>
                  <a:latin typeface="Calibri" pitchFamily="34" charset="0"/>
                  <a:ea typeface="Calibri" pitchFamily="34" charset="-122"/>
                  <a:cs typeface="Calibri" pitchFamily="34" charset="-120"/>
                </a:rPr>
                <a:t>WATCH</a:t>
              </a:r>
              <a:endParaRPr lang="en-US" sz="900" dirty="0"/>
            </a:p>
          </p:txBody>
        </p:sp>
        <p:sp>
          <p:nvSpPr>
            <p:cNvPr id="43" name="Text 41"/>
            <p:cNvSpPr/>
            <p:nvPr/>
          </p:nvSpPr>
          <p:spPr>
            <a:xfrm>
              <a:off x="7778496" y="5327904"/>
              <a:ext cx="4120896" cy="268224"/>
            </a:xfrm>
            <a:prstGeom prst="rect">
              <a:avLst/>
            </a:prstGeom>
            <a:noFill/>
            <a:ln/>
          </p:spPr>
          <p:txBody>
            <a:bodyPr wrap="square" lIns="0" tIns="0" rIns="0" bIns="0" rtlCol="0" anchor="ctr"/>
            <a:lstStyle/>
            <a:p>
              <a:r>
                <a:rPr lang="en-US" sz="1200" b="1" dirty="0">
                  <a:solidFill>
                    <a:srgbClr val="1B2B5E"/>
                  </a:solidFill>
                  <a:latin typeface="Cambria" pitchFamily="34" charset="0"/>
                  <a:ea typeface="Cambria" pitchFamily="34" charset="-122"/>
                  <a:cs typeface="Cambria" pitchFamily="34" charset="-120"/>
                </a:rPr>
                <a:t>Geopolitical / Global Pricing Divergence</a:t>
              </a:r>
              <a:endParaRPr lang="en-US" sz="1200" dirty="0"/>
            </a:p>
          </p:txBody>
        </p:sp>
        <p:sp>
          <p:nvSpPr>
            <p:cNvPr id="44" name="Text 42"/>
            <p:cNvSpPr/>
            <p:nvPr/>
          </p:nvSpPr>
          <p:spPr>
            <a:xfrm>
              <a:off x="6656832" y="5669280"/>
              <a:ext cx="5242560" cy="609600"/>
            </a:xfrm>
            <a:prstGeom prst="rect">
              <a:avLst/>
            </a:prstGeom>
            <a:noFill/>
            <a:ln/>
          </p:spPr>
          <p:txBody>
            <a:bodyPr wrap="square" lIns="0" tIns="0" rIns="0" bIns="0" rtlCol="0" anchor="ctr"/>
            <a:lstStyle/>
            <a:p>
              <a:r>
                <a:rPr lang="en-US" sz="1200" dirty="0">
                  <a:solidFill>
                    <a:srgbClr val="1A1A1A"/>
                  </a:solidFill>
                  <a:latin typeface="Calibri" pitchFamily="34" charset="0"/>
                  <a:ea typeface="Calibri" pitchFamily="34" charset="-122"/>
                  <a:cs typeface="Calibri" pitchFamily="34" charset="-120"/>
                </a:rPr>
                <a:t>GLP-1 drugs are priced 5–10x higher in the US vs Europe/Japan. International revenue expansion is limited until pricing frameworks converge. Political risk around drug pricing headlines is persistent.</a:t>
              </a:r>
              <a:endParaRPr lang="en-US" sz="1200" dirty="0"/>
            </a:p>
          </p:txBody>
        </p:sp>
      </p:grpSp>
      <p:sp>
        <p:nvSpPr>
          <p:cNvPr id="45" name="Shape 0">
            <a:extLst>
              <a:ext uri="{FF2B5EF4-FFF2-40B4-BE49-F238E27FC236}">
                <a16:creationId xmlns:a16="http://schemas.microsoft.com/office/drawing/2014/main" id="{BADE0C30-DA49-C5A8-679B-AF91096927CB}"/>
              </a:ext>
            </a:extLst>
          </p:cNvPr>
          <p:cNvSpPr/>
          <p:nvPr/>
        </p:nvSpPr>
        <p:spPr>
          <a:xfrm>
            <a:off x="0" y="0"/>
            <a:ext cx="12192000" cy="914400"/>
          </a:xfrm>
          <a:prstGeom prst="rect">
            <a:avLst/>
          </a:prstGeom>
          <a:solidFill>
            <a:srgbClr val="4A1A1A"/>
          </a:solidFill>
          <a:ln w="12700">
            <a:solidFill>
              <a:srgbClr val="4A1A1A"/>
            </a:solidFill>
            <a:prstDash val="solid"/>
          </a:ln>
        </p:spPr>
      </p:sp>
      <p:sp>
        <p:nvSpPr>
          <p:cNvPr id="46" name="Shape 1">
            <a:extLst>
              <a:ext uri="{FF2B5EF4-FFF2-40B4-BE49-F238E27FC236}">
                <a16:creationId xmlns:a16="http://schemas.microsoft.com/office/drawing/2014/main" id="{62822779-B83B-F1A5-8515-BA60ADF8A539}"/>
              </a:ext>
            </a:extLst>
          </p:cNvPr>
          <p:cNvSpPr/>
          <p:nvPr/>
        </p:nvSpPr>
        <p:spPr>
          <a:xfrm>
            <a:off x="0" y="0"/>
            <a:ext cx="463296" cy="914400"/>
          </a:xfrm>
          <a:prstGeom prst="rect">
            <a:avLst/>
          </a:prstGeom>
          <a:solidFill>
            <a:srgbClr val="EF4444"/>
          </a:solidFill>
          <a:ln w="12700">
            <a:solidFill>
              <a:srgbClr val="EF4444"/>
            </a:solidFill>
            <a:prstDash val="solid"/>
          </a:ln>
        </p:spPr>
      </p:sp>
      <p:sp>
        <p:nvSpPr>
          <p:cNvPr id="47" name="Text 2">
            <a:extLst>
              <a:ext uri="{FF2B5EF4-FFF2-40B4-BE49-F238E27FC236}">
                <a16:creationId xmlns:a16="http://schemas.microsoft.com/office/drawing/2014/main" id="{1D5DF4A0-CD7B-726B-3C02-E75740AABF09}"/>
              </a:ext>
            </a:extLst>
          </p:cNvPr>
          <p:cNvSpPr/>
          <p:nvPr/>
        </p:nvSpPr>
        <p:spPr>
          <a:xfrm>
            <a:off x="670560" y="121920"/>
            <a:ext cx="109728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7: RED FLAGS &amp; INVESTMENT RISKS</a:t>
            </a:r>
            <a:endParaRPr lang="en-US" sz="226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D1B3E"/>
          </a:solidFill>
          <a:ln w="12700">
            <a:solidFill>
              <a:srgbClr val="0D1B3E"/>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8: INVESTMENT THESIS — THREE CORE BELIEFS</a:t>
            </a:r>
            <a:endParaRPr lang="en-US" sz="2200" dirty="0"/>
          </a:p>
        </p:txBody>
      </p:sp>
      <p:sp>
        <p:nvSpPr>
          <p:cNvPr id="5" name="Text 3"/>
          <p:cNvSpPr/>
          <p:nvPr/>
        </p:nvSpPr>
        <p:spPr>
          <a:xfrm>
            <a:off x="256032" y="786384"/>
            <a:ext cx="11612880" cy="256032"/>
          </a:xfrm>
          <a:prstGeom prst="rect">
            <a:avLst/>
          </a:prstGeom>
          <a:noFill/>
          <a:ln/>
        </p:spPr>
        <p:txBody>
          <a:bodyPr wrap="square" lIns="0" tIns="0" rIns="0" bIns="0" rtlCol="0" anchor="ctr"/>
          <a:lstStyle/>
          <a:p>
            <a:r>
              <a:rPr lang="en-US" sz="1467" i="1" dirty="0">
                <a:latin typeface="Calibri" pitchFamily="34" charset="0"/>
                <a:ea typeface="Calibri" pitchFamily="34" charset="-122"/>
                <a:cs typeface="Calibri" pitchFamily="34" charset="-120"/>
              </a:rPr>
              <a:t>All three must hold simultaneously for the bull case to work</a:t>
            </a: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1261872"/>
            <a:ext cx="11704320" cy="1719072"/>
          </a:xfrm>
          <a:prstGeom prst="rect">
            <a:avLst/>
          </a:prstGeom>
          <a:solidFill>
            <a:schemeClr val="bg1">
              <a:lumMod val="95000"/>
            </a:schemeClr>
          </a:solidFill>
          <a:ln w="12700">
            <a:solidFill>
              <a:srgbClr val="162040"/>
            </a:solidFill>
            <a:prstDash val="solid"/>
          </a:ln>
        </p:spPr>
        <p:txBody>
          <a:bodyPr/>
          <a:lstStyle/>
          <a:p>
            <a:endParaRPr lang="en-IN" dirty="0"/>
          </a:p>
        </p:txBody>
      </p:sp>
      <p:sp>
        <p:nvSpPr>
          <p:cNvPr id="8" name="Shape 6"/>
          <p:cNvSpPr/>
          <p:nvPr/>
        </p:nvSpPr>
        <p:spPr>
          <a:xfrm>
            <a:off x="256032" y="1261872"/>
            <a:ext cx="64008" cy="1719072"/>
          </a:xfrm>
          <a:prstGeom prst="rect">
            <a:avLst/>
          </a:prstGeom>
          <a:solidFill>
            <a:srgbClr val="00C8C8"/>
          </a:solidFill>
          <a:ln w="12700">
            <a:solidFill>
              <a:srgbClr val="00C8C8"/>
            </a:solidFill>
            <a:prstDash val="solid"/>
          </a:ln>
        </p:spPr>
      </p:sp>
      <p:sp>
        <p:nvSpPr>
          <p:cNvPr id="9" name="Text 7"/>
          <p:cNvSpPr/>
          <p:nvPr/>
        </p:nvSpPr>
        <p:spPr>
          <a:xfrm>
            <a:off x="384048" y="1399032"/>
            <a:ext cx="713232" cy="731520"/>
          </a:xfrm>
          <a:prstGeom prst="rect">
            <a:avLst/>
          </a:prstGeom>
          <a:noFill/>
          <a:ln/>
        </p:spPr>
        <p:txBody>
          <a:bodyPr wrap="square" rtlCol="0" anchor="ctr"/>
          <a:lstStyle/>
          <a:p>
            <a:pPr marL="0" indent="0">
              <a:buNone/>
            </a:pPr>
            <a:r>
              <a:rPr lang="en-US" sz="3200" b="1" dirty="0">
                <a:solidFill>
                  <a:srgbClr val="00C8C8"/>
                </a:solidFill>
                <a:latin typeface="Calibri" pitchFamily="34" charset="0"/>
                <a:ea typeface="Calibri" pitchFamily="34" charset="-122"/>
                <a:cs typeface="Calibri" pitchFamily="34" charset="-120"/>
              </a:rPr>
              <a:t>01</a:t>
            </a:r>
            <a:endParaRPr lang="en-US" sz="3200" dirty="0"/>
          </a:p>
        </p:txBody>
      </p:sp>
      <p:sp>
        <p:nvSpPr>
          <p:cNvPr id="10" name="Text 8"/>
          <p:cNvSpPr/>
          <p:nvPr/>
        </p:nvSpPr>
        <p:spPr>
          <a:xfrm>
            <a:off x="1161288" y="1220965"/>
            <a:ext cx="10515600" cy="384048"/>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GLP-1 Demand Is Real, Structural, and Will Grow for Decades</a:t>
            </a:r>
            <a:endParaRPr lang="en-US" sz="1400" dirty="0"/>
          </a:p>
        </p:txBody>
      </p:sp>
      <p:sp>
        <p:nvSpPr>
          <p:cNvPr id="11" name="Shape 9"/>
          <p:cNvSpPr/>
          <p:nvPr/>
        </p:nvSpPr>
        <p:spPr>
          <a:xfrm>
            <a:off x="1207008" y="1737360"/>
            <a:ext cx="201168" cy="201168"/>
          </a:xfrm>
          <a:prstGeom prst="rect">
            <a:avLst/>
          </a:prstGeom>
          <a:solidFill>
            <a:srgbClr val="22C55E"/>
          </a:solidFill>
          <a:ln w="12700">
            <a:solidFill>
              <a:srgbClr val="22C55E"/>
            </a:solidFill>
            <a:prstDash val="solid"/>
          </a:ln>
        </p:spPr>
      </p:sp>
      <p:sp>
        <p:nvSpPr>
          <p:cNvPr id="12" name="Text 10"/>
          <p:cNvSpPr/>
          <p:nvPr/>
        </p:nvSpPr>
        <p:spPr>
          <a:xfrm>
            <a:off x="1444752" y="1737360"/>
            <a:ext cx="1005840" cy="201168"/>
          </a:xfrm>
          <a:prstGeom prst="rect">
            <a:avLst/>
          </a:prstGeom>
          <a:noFill/>
          <a:ln/>
        </p:spPr>
        <p:txBody>
          <a:bodyPr wrap="square" rtlCol="0" anchor="ctr"/>
          <a:lstStyle/>
          <a:p>
            <a:pPr marL="0" indent="0">
              <a:buNone/>
            </a:pPr>
            <a:r>
              <a:rPr lang="en-US" sz="950" b="1" dirty="0">
                <a:solidFill>
                  <a:srgbClr val="22C55E"/>
                </a:solidFill>
                <a:latin typeface="Calibri" pitchFamily="34" charset="0"/>
                <a:ea typeface="Calibri" pitchFamily="34" charset="-122"/>
                <a:cs typeface="Calibri" pitchFamily="34" charset="-120"/>
              </a:rPr>
              <a:t>IF TRUE:</a:t>
            </a:r>
            <a:endParaRPr lang="en-US" sz="950" dirty="0"/>
          </a:p>
        </p:txBody>
      </p:sp>
      <p:sp>
        <p:nvSpPr>
          <p:cNvPr id="13" name="Text 11"/>
          <p:cNvSpPr/>
          <p:nvPr/>
        </p:nvSpPr>
        <p:spPr>
          <a:xfrm>
            <a:off x="2131034" y="1697896"/>
            <a:ext cx="9364898" cy="457200"/>
          </a:xfrm>
          <a:prstGeom prst="rect">
            <a:avLst/>
          </a:prstGeom>
          <a:noFill/>
          <a:ln/>
        </p:spPr>
        <p:txBody>
          <a:bodyPr wrap="square" rtlCol="0" anchor="ctr"/>
          <a:lstStyle/>
          <a:p>
            <a:pPr marL="0" indent="0" algn="just">
              <a:buNone/>
            </a:pPr>
            <a:r>
              <a:rPr lang="en-US" sz="1100" dirty="0">
                <a:latin typeface="Calibri" pitchFamily="34" charset="0"/>
                <a:ea typeface="Calibri" pitchFamily="34" charset="-122"/>
                <a:cs typeface="Calibri" pitchFamily="34" charset="-120"/>
              </a:rPr>
              <a:t>1 in 8 adults globally obese (WHO). US obesity prevalence ~43%. Medicare coverage expanding mid-2026 adds 7M+ patients. GLP-1s showing efficacy in CV, sleep apnea, NASH, arthritis, Parkinson's. $52B market in 2024 → $187B by 2032E at 17% CAGR (BoA Research). Tirzepatide confirmed superiority in &gt;15,000-patient trial portfolio.</a:t>
            </a:r>
            <a:endParaRPr lang="en-US" sz="1100" dirty="0"/>
          </a:p>
        </p:txBody>
      </p:sp>
      <p:sp>
        <p:nvSpPr>
          <p:cNvPr id="14" name="Shape 12"/>
          <p:cNvSpPr/>
          <p:nvPr/>
        </p:nvSpPr>
        <p:spPr>
          <a:xfrm>
            <a:off x="1207008" y="2231136"/>
            <a:ext cx="201168" cy="201168"/>
          </a:xfrm>
          <a:prstGeom prst="rect">
            <a:avLst/>
          </a:prstGeom>
          <a:solidFill>
            <a:srgbClr val="EF4444"/>
          </a:solidFill>
          <a:ln w="12700">
            <a:solidFill>
              <a:srgbClr val="EF4444"/>
            </a:solidFill>
            <a:prstDash val="solid"/>
          </a:ln>
        </p:spPr>
      </p:sp>
      <p:sp>
        <p:nvSpPr>
          <p:cNvPr id="15" name="Text 13"/>
          <p:cNvSpPr/>
          <p:nvPr/>
        </p:nvSpPr>
        <p:spPr>
          <a:xfrm>
            <a:off x="1444752" y="2231136"/>
            <a:ext cx="1005840" cy="201168"/>
          </a:xfrm>
          <a:prstGeom prst="rect">
            <a:avLst/>
          </a:prstGeom>
          <a:noFill/>
          <a:ln/>
        </p:spPr>
        <p:txBody>
          <a:bodyPr wrap="square"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IF FALSE:</a:t>
            </a:r>
            <a:endParaRPr lang="en-US" sz="950" dirty="0"/>
          </a:p>
        </p:txBody>
      </p:sp>
      <p:sp>
        <p:nvSpPr>
          <p:cNvPr id="16" name="Text 14"/>
          <p:cNvSpPr/>
          <p:nvPr/>
        </p:nvSpPr>
        <p:spPr>
          <a:xfrm>
            <a:off x="2131034" y="2267712"/>
            <a:ext cx="9364898" cy="475488"/>
          </a:xfrm>
          <a:prstGeom prst="rect">
            <a:avLst/>
          </a:prstGeom>
          <a:noFill/>
          <a:ln/>
        </p:spPr>
        <p:txBody>
          <a:bodyPr wrap="square" rtlCol="0" anchor="ctr"/>
          <a:lstStyle/>
          <a:p>
            <a:pPr marL="0" indent="0" algn="just">
              <a:buNone/>
            </a:pPr>
            <a:r>
              <a:rPr lang="en-US" sz="1100" dirty="0">
                <a:latin typeface="Calibri" pitchFamily="34" charset="0"/>
                <a:ea typeface="Calibri" pitchFamily="34" charset="-122"/>
                <a:cs typeface="Calibri" pitchFamily="34" charset="-120"/>
              </a:rPr>
              <a:t>DeepSeek-style compute efficiency analogy: if future GLP-1 oral pills (from Novo, Pfizer, others) match tirzepatide's efficacy at lower cost, pricing power erodes. Additionally, if cardiovascular outcomes data disappoints (SELECT-style trial for tirzepatide), new label expansion slows. Volume without pricing = margin compression.</a:t>
            </a:r>
            <a:endParaRPr lang="en-US" sz="1100" dirty="0"/>
          </a:p>
        </p:txBody>
      </p:sp>
      <p:sp>
        <p:nvSpPr>
          <p:cNvPr id="17" name="Shape 15"/>
          <p:cNvSpPr/>
          <p:nvPr/>
        </p:nvSpPr>
        <p:spPr>
          <a:xfrm>
            <a:off x="256032" y="3044952"/>
            <a:ext cx="11704320" cy="1719072"/>
          </a:xfrm>
          <a:prstGeom prst="rect">
            <a:avLst/>
          </a:prstGeom>
          <a:solidFill>
            <a:schemeClr val="bg1">
              <a:lumMod val="95000"/>
            </a:schemeClr>
          </a:solidFill>
          <a:ln w="12700">
            <a:solidFill>
              <a:srgbClr val="162040"/>
            </a:solidFill>
            <a:prstDash val="solid"/>
          </a:ln>
        </p:spPr>
      </p:sp>
      <p:sp>
        <p:nvSpPr>
          <p:cNvPr id="18" name="Shape 16"/>
          <p:cNvSpPr/>
          <p:nvPr/>
        </p:nvSpPr>
        <p:spPr>
          <a:xfrm>
            <a:off x="256032" y="3044952"/>
            <a:ext cx="64008" cy="1719072"/>
          </a:xfrm>
          <a:prstGeom prst="rect">
            <a:avLst/>
          </a:prstGeom>
          <a:solidFill>
            <a:srgbClr val="FFB800"/>
          </a:solidFill>
          <a:ln w="12700">
            <a:solidFill>
              <a:srgbClr val="FFB800"/>
            </a:solidFill>
            <a:prstDash val="solid"/>
          </a:ln>
        </p:spPr>
      </p:sp>
      <p:sp>
        <p:nvSpPr>
          <p:cNvPr id="19" name="Text 17"/>
          <p:cNvSpPr/>
          <p:nvPr/>
        </p:nvSpPr>
        <p:spPr>
          <a:xfrm>
            <a:off x="384048" y="3182112"/>
            <a:ext cx="713232" cy="731520"/>
          </a:xfrm>
          <a:prstGeom prst="rect">
            <a:avLst/>
          </a:prstGeom>
          <a:noFill/>
          <a:ln/>
        </p:spPr>
        <p:txBody>
          <a:bodyPr wrap="square" rtlCol="0" anchor="ctr"/>
          <a:lstStyle/>
          <a:p>
            <a:pPr marL="0" indent="0">
              <a:buNone/>
            </a:pPr>
            <a:r>
              <a:rPr lang="en-US" sz="3200" b="1" dirty="0">
                <a:solidFill>
                  <a:srgbClr val="FFB800"/>
                </a:solidFill>
                <a:latin typeface="Calibri" pitchFamily="34" charset="0"/>
                <a:ea typeface="Calibri" pitchFamily="34" charset="-122"/>
                <a:cs typeface="Calibri" pitchFamily="34" charset="-120"/>
              </a:rPr>
              <a:t>02</a:t>
            </a:r>
            <a:endParaRPr lang="en-US" sz="3200" dirty="0"/>
          </a:p>
        </p:txBody>
      </p:sp>
      <p:sp>
        <p:nvSpPr>
          <p:cNvPr id="20" name="Text 18"/>
          <p:cNvSpPr/>
          <p:nvPr/>
        </p:nvSpPr>
        <p:spPr>
          <a:xfrm>
            <a:off x="1207008" y="3026664"/>
            <a:ext cx="10515600" cy="384048"/>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Tirzepatide's Clinical Superiority Creates a Durable ~60% Market Share</a:t>
            </a:r>
            <a:endParaRPr lang="en-US" sz="1400" dirty="0"/>
          </a:p>
        </p:txBody>
      </p:sp>
      <p:sp>
        <p:nvSpPr>
          <p:cNvPr id="21" name="Shape 19"/>
          <p:cNvSpPr/>
          <p:nvPr/>
        </p:nvSpPr>
        <p:spPr>
          <a:xfrm>
            <a:off x="1207008" y="3520440"/>
            <a:ext cx="201168" cy="201168"/>
          </a:xfrm>
          <a:prstGeom prst="rect">
            <a:avLst/>
          </a:prstGeom>
          <a:solidFill>
            <a:srgbClr val="22C55E"/>
          </a:solidFill>
          <a:ln w="12700">
            <a:solidFill>
              <a:srgbClr val="22C55E"/>
            </a:solidFill>
            <a:prstDash val="solid"/>
          </a:ln>
        </p:spPr>
      </p:sp>
      <p:sp>
        <p:nvSpPr>
          <p:cNvPr id="22" name="Text 20"/>
          <p:cNvSpPr/>
          <p:nvPr/>
        </p:nvSpPr>
        <p:spPr>
          <a:xfrm>
            <a:off x="1444752" y="3520440"/>
            <a:ext cx="1005840" cy="201168"/>
          </a:xfrm>
          <a:prstGeom prst="rect">
            <a:avLst/>
          </a:prstGeom>
          <a:noFill/>
          <a:ln/>
        </p:spPr>
        <p:txBody>
          <a:bodyPr wrap="square" rtlCol="0" anchor="ctr"/>
          <a:lstStyle/>
          <a:p>
            <a:pPr marL="0" indent="0">
              <a:buNone/>
            </a:pPr>
            <a:r>
              <a:rPr lang="en-US" sz="950" b="1" dirty="0">
                <a:solidFill>
                  <a:srgbClr val="22C55E"/>
                </a:solidFill>
                <a:latin typeface="Calibri" pitchFamily="34" charset="0"/>
                <a:ea typeface="Calibri" pitchFamily="34" charset="-122"/>
                <a:cs typeface="Calibri" pitchFamily="34" charset="-120"/>
              </a:rPr>
              <a:t>IF TRUE:</a:t>
            </a:r>
            <a:endParaRPr lang="en-US" sz="950" dirty="0"/>
          </a:p>
        </p:txBody>
      </p:sp>
      <p:sp>
        <p:nvSpPr>
          <p:cNvPr id="23" name="Text 21"/>
          <p:cNvSpPr/>
          <p:nvPr/>
        </p:nvSpPr>
        <p:spPr>
          <a:xfrm>
            <a:off x="2131034" y="3511296"/>
            <a:ext cx="9364898" cy="457200"/>
          </a:xfrm>
          <a:prstGeom prst="rect">
            <a:avLst/>
          </a:prstGeom>
          <a:noFill/>
          <a:ln/>
        </p:spPr>
        <p:txBody>
          <a:bodyPr wrap="square" rtlCol="0" anchor="ctr"/>
          <a:lstStyle/>
          <a:p>
            <a:pPr marL="0" indent="0" algn="just">
              <a:buNone/>
            </a:pPr>
            <a:r>
              <a:rPr lang="en-US" sz="1100" dirty="0">
                <a:latin typeface="Calibri" pitchFamily="34" charset="0"/>
                <a:ea typeface="Calibri" pitchFamily="34" charset="-122"/>
                <a:cs typeface="Calibri" pitchFamily="34" charset="-120"/>
              </a:rPr>
              <a:t>20% vs 14% weight loss (tirzepatide vs semaglutide in SURMOUNT-1 vs STEP-1). 6ppt superiority is clinically meaningful — prescribers see real differentiation. 60.5% US share gained in 24 months vs Novo's 10+ year head start. Once a patient starts tirzepatide and achieves outcomes, switching risk is low. Oral orforglipron (pending) removes last barrier.</a:t>
            </a:r>
            <a:endParaRPr lang="en-US" sz="1100" dirty="0"/>
          </a:p>
        </p:txBody>
      </p:sp>
      <p:sp>
        <p:nvSpPr>
          <p:cNvPr id="24" name="Shape 22"/>
          <p:cNvSpPr/>
          <p:nvPr/>
        </p:nvSpPr>
        <p:spPr>
          <a:xfrm>
            <a:off x="1207008" y="4014216"/>
            <a:ext cx="201168" cy="201168"/>
          </a:xfrm>
          <a:prstGeom prst="rect">
            <a:avLst/>
          </a:prstGeom>
          <a:solidFill>
            <a:srgbClr val="EF4444"/>
          </a:solidFill>
          <a:ln w="12700">
            <a:solidFill>
              <a:srgbClr val="EF4444"/>
            </a:solidFill>
            <a:prstDash val="solid"/>
          </a:ln>
        </p:spPr>
      </p:sp>
      <p:sp>
        <p:nvSpPr>
          <p:cNvPr id="25" name="Text 23"/>
          <p:cNvSpPr/>
          <p:nvPr/>
        </p:nvSpPr>
        <p:spPr>
          <a:xfrm>
            <a:off x="1444752" y="4014216"/>
            <a:ext cx="1005840" cy="201168"/>
          </a:xfrm>
          <a:prstGeom prst="rect">
            <a:avLst/>
          </a:prstGeom>
          <a:noFill/>
          <a:ln/>
        </p:spPr>
        <p:txBody>
          <a:bodyPr wrap="square"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IF FALSE:</a:t>
            </a:r>
            <a:endParaRPr lang="en-US" sz="950" dirty="0"/>
          </a:p>
        </p:txBody>
      </p:sp>
      <p:sp>
        <p:nvSpPr>
          <p:cNvPr id="26" name="Text 24"/>
          <p:cNvSpPr/>
          <p:nvPr/>
        </p:nvSpPr>
        <p:spPr>
          <a:xfrm>
            <a:off x="2131034" y="4005072"/>
            <a:ext cx="9364898" cy="475488"/>
          </a:xfrm>
          <a:prstGeom prst="rect">
            <a:avLst/>
          </a:prstGeom>
          <a:noFill/>
          <a:ln/>
        </p:spPr>
        <p:txBody>
          <a:bodyPr wrap="square" rtlCol="0" anchor="ctr"/>
          <a:lstStyle/>
          <a:p>
            <a:pPr marL="0" indent="0" algn="just">
              <a:buNone/>
            </a:pPr>
            <a:r>
              <a:rPr lang="en-US" sz="1100" dirty="0">
                <a:latin typeface="Calibri" pitchFamily="34" charset="0"/>
                <a:ea typeface="Calibri" pitchFamily="34" charset="-122"/>
                <a:cs typeface="Calibri" pitchFamily="34" charset="-120"/>
              </a:rPr>
              <a:t>Novo's oral Wegovy (Jan 2026 launch) shows 15% weight loss — only 1ppt below orforglipron's 16% signal. If oral formats commoditize the market and price becomes primary differentiator, Lilly's premium pricing could compress. CagriSema (Novo combo) in Ph3 shows ~25%+ weight loss — could rival retatrutide.</a:t>
            </a:r>
            <a:endParaRPr lang="en-US" sz="1100" dirty="0"/>
          </a:p>
        </p:txBody>
      </p:sp>
      <p:sp>
        <p:nvSpPr>
          <p:cNvPr id="27" name="Shape 25"/>
          <p:cNvSpPr/>
          <p:nvPr/>
        </p:nvSpPr>
        <p:spPr>
          <a:xfrm>
            <a:off x="256032" y="4828032"/>
            <a:ext cx="11704320" cy="1719072"/>
          </a:xfrm>
          <a:prstGeom prst="rect">
            <a:avLst/>
          </a:prstGeom>
          <a:solidFill>
            <a:schemeClr val="bg1">
              <a:lumMod val="95000"/>
            </a:schemeClr>
          </a:solidFill>
          <a:ln w="12700">
            <a:solidFill>
              <a:srgbClr val="162040"/>
            </a:solidFill>
            <a:prstDash val="solid"/>
          </a:ln>
        </p:spPr>
      </p:sp>
      <p:sp>
        <p:nvSpPr>
          <p:cNvPr id="28" name="Shape 26"/>
          <p:cNvSpPr/>
          <p:nvPr/>
        </p:nvSpPr>
        <p:spPr>
          <a:xfrm>
            <a:off x="256032" y="4828032"/>
            <a:ext cx="64008" cy="1719072"/>
          </a:xfrm>
          <a:prstGeom prst="rect">
            <a:avLst/>
          </a:prstGeom>
          <a:solidFill>
            <a:srgbClr val="8B5CF6"/>
          </a:solidFill>
          <a:ln w="12700">
            <a:solidFill>
              <a:srgbClr val="8B5CF6"/>
            </a:solidFill>
            <a:prstDash val="solid"/>
          </a:ln>
        </p:spPr>
      </p:sp>
      <p:sp>
        <p:nvSpPr>
          <p:cNvPr id="29" name="Text 27"/>
          <p:cNvSpPr/>
          <p:nvPr/>
        </p:nvSpPr>
        <p:spPr>
          <a:xfrm>
            <a:off x="384048" y="4965192"/>
            <a:ext cx="713232" cy="731520"/>
          </a:xfrm>
          <a:prstGeom prst="rect">
            <a:avLst/>
          </a:prstGeom>
          <a:noFill/>
          <a:ln/>
        </p:spPr>
        <p:txBody>
          <a:bodyPr wrap="square" rtlCol="0" anchor="ctr"/>
          <a:lstStyle/>
          <a:p>
            <a:pPr marL="0" indent="0">
              <a:buNone/>
            </a:pPr>
            <a:r>
              <a:rPr lang="en-US" sz="3200" b="1" dirty="0">
                <a:solidFill>
                  <a:srgbClr val="8B5CF6"/>
                </a:solidFill>
                <a:latin typeface="Calibri" pitchFamily="34" charset="0"/>
                <a:ea typeface="Calibri" pitchFamily="34" charset="-122"/>
                <a:cs typeface="Calibri" pitchFamily="34" charset="-120"/>
              </a:rPr>
              <a:t>03</a:t>
            </a:r>
            <a:endParaRPr lang="en-US" sz="3200" dirty="0"/>
          </a:p>
        </p:txBody>
      </p:sp>
      <p:sp>
        <p:nvSpPr>
          <p:cNvPr id="30" name="Text 28"/>
          <p:cNvSpPr/>
          <p:nvPr/>
        </p:nvSpPr>
        <p:spPr>
          <a:xfrm>
            <a:off x="1200912" y="4864608"/>
            <a:ext cx="10515600" cy="384048"/>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Premium Valuation Is Warranted and Will Sustain as Pipeline Delivers</a:t>
            </a:r>
            <a:endParaRPr lang="en-US" sz="1400" dirty="0"/>
          </a:p>
        </p:txBody>
      </p:sp>
      <p:sp>
        <p:nvSpPr>
          <p:cNvPr id="31" name="Shape 29"/>
          <p:cNvSpPr/>
          <p:nvPr/>
        </p:nvSpPr>
        <p:spPr>
          <a:xfrm>
            <a:off x="1207008" y="5303520"/>
            <a:ext cx="201168" cy="201168"/>
          </a:xfrm>
          <a:prstGeom prst="rect">
            <a:avLst/>
          </a:prstGeom>
          <a:solidFill>
            <a:srgbClr val="22C55E"/>
          </a:solidFill>
          <a:ln w="12700">
            <a:solidFill>
              <a:srgbClr val="22C55E"/>
            </a:solidFill>
            <a:prstDash val="solid"/>
          </a:ln>
        </p:spPr>
      </p:sp>
      <p:sp>
        <p:nvSpPr>
          <p:cNvPr id="32" name="Text 30"/>
          <p:cNvSpPr/>
          <p:nvPr/>
        </p:nvSpPr>
        <p:spPr>
          <a:xfrm>
            <a:off x="1444752" y="5303520"/>
            <a:ext cx="1005840" cy="201168"/>
          </a:xfrm>
          <a:prstGeom prst="rect">
            <a:avLst/>
          </a:prstGeom>
          <a:noFill/>
          <a:ln/>
        </p:spPr>
        <p:txBody>
          <a:bodyPr wrap="square" rtlCol="0" anchor="ctr"/>
          <a:lstStyle/>
          <a:p>
            <a:pPr marL="0" indent="0">
              <a:buNone/>
            </a:pPr>
            <a:r>
              <a:rPr lang="en-US" sz="950" b="1" dirty="0">
                <a:solidFill>
                  <a:srgbClr val="22C55E"/>
                </a:solidFill>
                <a:latin typeface="Calibri" pitchFamily="34" charset="0"/>
                <a:ea typeface="Calibri" pitchFamily="34" charset="-122"/>
                <a:cs typeface="Calibri" pitchFamily="34" charset="-120"/>
              </a:rPr>
              <a:t>IF TRUE:</a:t>
            </a:r>
            <a:endParaRPr lang="en-US" sz="950" dirty="0"/>
          </a:p>
        </p:txBody>
      </p:sp>
      <p:sp>
        <p:nvSpPr>
          <p:cNvPr id="33" name="Text 31"/>
          <p:cNvSpPr/>
          <p:nvPr/>
        </p:nvSpPr>
        <p:spPr>
          <a:xfrm>
            <a:off x="2131034" y="5266944"/>
            <a:ext cx="9364898" cy="457200"/>
          </a:xfrm>
          <a:prstGeom prst="rect">
            <a:avLst/>
          </a:prstGeom>
          <a:noFill/>
          <a:ln/>
        </p:spPr>
        <p:txBody>
          <a:bodyPr wrap="square" rtlCol="0" anchor="ctr"/>
          <a:lstStyle/>
          <a:p>
            <a:pPr marL="0" indent="0" algn="just">
              <a:buNone/>
            </a:pPr>
            <a:r>
              <a:rPr lang="en-US" sz="1100" dirty="0">
                <a:latin typeface="Calibri" pitchFamily="34" charset="0"/>
                <a:ea typeface="Calibri" pitchFamily="34" charset="-122"/>
                <a:cs typeface="Calibri" pitchFamily="34" charset="-120"/>
              </a:rPr>
              <a:t>30x fwd P/E is earned when: revenue growing 25–45% pa, gross margins 83%, ROCE 40%+, pipeline valued at $0 (orforglipron, retatrutide, Kisunla, Inluriyo all have call option value). Historical compounders (MSFT, AAPL) sustained 30x+ for a decade when fundamentals supported it. Lilly is more capital-light than tech — pharma IP has longer tail.</a:t>
            </a:r>
            <a:endParaRPr lang="en-US" sz="1100" dirty="0"/>
          </a:p>
        </p:txBody>
      </p:sp>
      <p:sp>
        <p:nvSpPr>
          <p:cNvPr id="34" name="Shape 32"/>
          <p:cNvSpPr/>
          <p:nvPr/>
        </p:nvSpPr>
        <p:spPr>
          <a:xfrm>
            <a:off x="1207008" y="5797296"/>
            <a:ext cx="201168" cy="201168"/>
          </a:xfrm>
          <a:prstGeom prst="rect">
            <a:avLst/>
          </a:prstGeom>
          <a:solidFill>
            <a:srgbClr val="EF4444"/>
          </a:solidFill>
          <a:ln w="12700">
            <a:solidFill>
              <a:srgbClr val="EF4444"/>
            </a:solidFill>
            <a:prstDash val="solid"/>
          </a:ln>
        </p:spPr>
      </p:sp>
      <p:sp>
        <p:nvSpPr>
          <p:cNvPr id="35" name="Text 33"/>
          <p:cNvSpPr/>
          <p:nvPr/>
        </p:nvSpPr>
        <p:spPr>
          <a:xfrm>
            <a:off x="1444752" y="5797296"/>
            <a:ext cx="1005840" cy="201168"/>
          </a:xfrm>
          <a:prstGeom prst="rect">
            <a:avLst/>
          </a:prstGeom>
          <a:noFill/>
          <a:ln/>
        </p:spPr>
        <p:txBody>
          <a:bodyPr wrap="square"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IF FALSE:</a:t>
            </a:r>
            <a:endParaRPr lang="en-US" sz="950" dirty="0"/>
          </a:p>
        </p:txBody>
      </p:sp>
      <p:sp>
        <p:nvSpPr>
          <p:cNvPr id="36" name="Text 34"/>
          <p:cNvSpPr/>
          <p:nvPr/>
        </p:nvSpPr>
        <p:spPr>
          <a:xfrm>
            <a:off x="2131034" y="5760720"/>
            <a:ext cx="9364898" cy="475488"/>
          </a:xfrm>
          <a:prstGeom prst="rect">
            <a:avLst/>
          </a:prstGeom>
          <a:noFill/>
          <a:ln/>
        </p:spPr>
        <p:txBody>
          <a:bodyPr wrap="square" rtlCol="0" anchor="ctr"/>
          <a:lstStyle/>
          <a:p>
            <a:pPr marL="0" indent="0" algn="just">
              <a:buNone/>
            </a:pPr>
            <a:r>
              <a:rPr lang="en-US" sz="1100" dirty="0">
                <a:latin typeface="Calibri" pitchFamily="34" charset="0"/>
                <a:ea typeface="Calibri" pitchFamily="34" charset="-122"/>
                <a:cs typeface="Calibri" pitchFamily="34" charset="-120"/>
              </a:rPr>
              <a:t>Novo traded at 30x+ in 2024. Fell 50% in 2025 on a single guidance cut. Lilly is not immune. If orforglipron fails FDA, retatrutide disappoints, or Alzheimer's stalls — stock could compress to 15–18x fwd P/E (sector avg), implying 40–50% downside from current levels.</a:t>
            </a:r>
            <a:endParaRPr lang="en-US" sz="1100" dirty="0"/>
          </a:p>
        </p:txBody>
      </p:sp>
      <p:sp>
        <p:nvSpPr>
          <p:cNvPr id="37" name="Text 35"/>
          <p:cNvSpPr/>
          <p:nvPr/>
        </p:nvSpPr>
        <p:spPr>
          <a:xfrm>
            <a:off x="256032" y="6565392"/>
            <a:ext cx="11612880" cy="219456"/>
          </a:xfrm>
          <a:prstGeom prst="rect">
            <a:avLst/>
          </a:prstGeom>
          <a:noFill/>
          <a:ln/>
        </p:spPr>
        <p:txBody>
          <a:bodyPr wrap="square"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Thesis: independent fundamental analysis. Not investment advice. March 2026.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1A1A2E"/>
          </a:solidFill>
          <a:ln w="12700">
            <a:solidFill>
              <a:srgbClr val="1A1A2E"/>
            </a:solidFill>
            <a:prstDash val="solid"/>
          </a:ln>
        </p:spPr>
      </p:sp>
      <p:sp>
        <p:nvSpPr>
          <p:cNvPr id="3" name="Text 1"/>
          <p:cNvSpPr/>
          <p:nvPr/>
        </p:nvSpPr>
        <p:spPr>
          <a:xfrm>
            <a:off x="256032" y="73152"/>
            <a:ext cx="11704320" cy="603504"/>
          </a:xfrm>
          <a:prstGeom prst="rect">
            <a:avLst/>
          </a:prstGeom>
          <a:noFill/>
          <a:ln/>
        </p:spPr>
        <p:txBody>
          <a:bodyPr wrap="square" rtlCol="0" anchor="ctr"/>
          <a:lstStyle/>
          <a:p>
            <a:pPr marL="0" indent="0">
              <a:buNone/>
            </a:pPr>
            <a:r>
              <a:rPr lang="en-US" sz="2200" b="1" dirty="0">
                <a:solidFill>
                  <a:srgbClr val="00C8C8"/>
                </a:solidFill>
                <a:latin typeface="Calibri" pitchFamily="34" charset="0"/>
                <a:ea typeface="Calibri" pitchFamily="34" charset="-122"/>
                <a:cs typeface="Calibri" pitchFamily="34" charset="-120"/>
              </a:rPr>
              <a:t>SECTION 9: PRICE PROJECTION — BULL / BASE / BEAR</a:t>
            </a:r>
            <a:endParaRPr lang="en-US" sz="2200" dirty="0"/>
          </a:p>
        </p:txBody>
      </p:sp>
      <p:sp>
        <p:nvSpPr>
          <p:cNvPr id="4" name="Text 2"/>
          <p:cNvSpPr/>
          <p:nvPr/>
        </p:nvSpPr>
        <p:spPr>
          <a:xfrm>
            <a:off x="329184" y="768096"/>
            <a:ext cx="11704320" cy="274320"/>
          </a:xfrm>
          <a:prstGeom prst="rect">
            <a:avLst/>
          </a:prstGeom>
          <a:noFill/>
          <a:ln/>
        </p:spPr>
        <p:txBody>
          <a:bodyPr wrap="square" lIns="0" tIns="0" rIns="0" bIns="0" rtlCol="0" anchor="ctr"/>
          <a:lstStyle/>
          <a:p>
            <a:r>
              <a:rPr lang="en-US" sz="1467" i="1" dirty="0">
                <a:solidFill>
                  <a:schemeClr val="accent5">
                    <a:lumMod val="50000"/>
                  </a:schemeClr>
                </a:solidFill>
                <a:latin typeface="Calibri" pitchFamily="34" charset="0"/>
                <a:ea typeface="Calibri" pitchFamily="34" charset="-122"/>
                <a:cs typeface="Calibri" pitchFamily="34" charset="-120"/>
              </a:rPr>
              <a:t>CMP: ~$800  ·  52-Wk High: $972  ·  52-Wk Low: $730  ·  Market Cap: ~$720B  ·  Shares: ~900M  ·  Next Earnings: Q1 2026 (Apr/May)</a:t>
            </a:r>
          </a:p>
        </p:txBody>
      </p:sp>
      <p:sp>
        <p:nvSpPr>
          <p:cNvPr id="5" name="Shape 3"/>
          <p:cNvSpPr/>
          <p:nvPr/>
        </p:nvSpPr>
        <p:spPr>
          <a:xfrm>
            <a:off x="256032" y="1170432"/>
            <a:ext cx="3840480" cy="475488"/>
          </a:xfrm>
          <a:prstGeom prst="rect">
            <a:avLst/>
          </a:prstGeom>
          <a:solidFill>
            <a:srgbClr val="B91C1C"/>
          </a:solidFill>
          <a:ln w="12700">
            <a:solidFill>
              <a:srgbClr val="B91C1C"/>
            </a:solidFill>
            <a:prstDash val="solid"/>
          </a:ln>
        </p:spPr>
      </p:sp>
      <p:sp>
        <p:nvSpPr>
          <p:cNvPr id="6" name="Text 4"/>
          <p:cNvSpPr/>
          <p:nvPr/>
        </p:nvSpPr>
        <p:spPr>
          <a:xfrm>
            <a:off x="393192" y="1170432"/>
            <a:ext cx="3657600" cy="47548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BEAR CASE</a:t>
            </a:r>
            <a:endParaRPr lang="en-US" sz="1800" dirty="0"/>
          </a:p>
        </p:txBody>
      </p:sp>
      <p:sp>
        <p:nvSpPr>
          <p:cNvPr id="7" name="Shape 5"/>
          <p:cNvSpPr/>
          <p:nvPr/>
        </p:nvSpPr>
        <p:spPr>
          <a:xfrm>
            <a:off x="256032" y="1645920"/>
            <a:ext cx="3840480" cy="4803006"/>
          </a:xfrm>
          <a:prstGeom prst="rect">
            <a:avLst/>
          </a:prstGeom>
          <a:solidFill>
            <a:schemeClr val="bg1">
              <a:lumMod val="95000"/>
            </a:schemeClr>
          </a:solidFill>
          <a:ln w="12700">
            <a:solidFill>
              <a:srgbClr val="1A0404"/>
            </a:solidFill>
            <a:prstDash val="solid"/>
          </a:ln>
        </p:spPr>
      </p:sp>
      <p:sp>
        <p:nvSpPr>
          <p:cNvPr id="8" name="Text 6"/>
          <p:cNvSpPr/>
          <p:nvPr/>
        </p:nvSpPr>
        <p:spPr>
          <a:xfrm>
            <a:off x="393192" y="1719072"/>
            <a:ext cx="3566160" cy="25603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12-Month Target</a:t>
            </a:r>
            <a:endParaRPr lang="en-US" sz="1100" dirty="0"/>
          </a:p>
        </p:txBody>
      </p:sp>
      <p:sp>
        <p:nvSpPr>
          <p:cNvPr id="9" name="Text 7"/>
          <p:cNvSpPr/>
          <p:nvPr/>
        </p:nvSpPr>
        <p:spPr>
          <a:xfrm>
            <a:off x="393192" y="1938528"/>
            <a:ext cx="3566160" cy="804672"/>
          </a:xfrm>
          <a:prstGeom prst="rect">
            <a:avLst/>
          </a:prstGeom>
          <a:noFill/>
          <a:ln/>
        </p:spPr>
        <p:txBody>
          <a:bodyPr wrap="square" rtlCol="0" anchor="ctr"/>
          <a:lstStyle/>
          <a:p>
            <a:pPr marL="0" indent="0">
              <a:buNone/>
            </a:pPr>
            <a:r>
              <a:rPr lang="en-US" sz="3800" b="1" dirty="0">
                <a:solidFill>
                  <a:srgbClr val="B91C1C"/>
                </a:solidFill>
                <a:latin typeface="Calibri" pitchFamily="34" charset="0"/>
                <a:ea typeface="Calibri" pitchFamily="34" charset="-122"/>
                <a:cs typeface="Calibri" pitchFamily="34" charset="-120"/>
              </a:rPr>
              <a:t>$500–600</a:t>
            </a:r>
            <a:endParaRPr lang="en-US" sz="3800" dirty="0"/>
          </a:p>
        </p:txBody>
      </p:sp>
      <p:sp>
        <p:nvSpPr>
          <p:cNvPr id="10" name="Text 8"/>
          <p:cNvSpPr/>
          <p:nvPr/>
        </p:nvSpPr>
        <p:spPr>
          <a:xfrm>
            <a:off x="393192" y="2743200"/>
            <a:ext cx="3566160" cy="274320"/>
          </a:xfrm>
          <a:prstGeom prst="rect">
            <a:avLst/>
          </a:prstGeom>
          <a:noFill/>
          <a:ln/>
        </p:spPr>
        <p:txBody>
          <a:bodyPr wrap="square" rtlCol="0" anchor="ctr"/>
          <a:lstStyle/>
          <a:p>
            <a:pPr marL="0" indent="0">
              <a:buNone/>
            </a:pPr>
            <a:r>
              <a:rPr lang="en-US" sz="1400" dirty="0">
                <a:solidFill>
                  <a:srgbClr val="EF4444"/>
                </a:solidFill>
                <a:latin typeface="Calibri" pitchFamily="34" charset="0"/>
                <a:ea typeface="Calibri" pitchFamily="34" charset="-122"/>
                <a:cs typeface="Calibri" pitchFamily="34" charset="-120"/>
              </a:rPr>
              <a:t>−37% to −25% vs CMP</a:t>
            </a:r>
            <a:endParaRPr lang="en-US" sz="1400" dirty="0"/>
          </a:p>
        </p:txBody>
      </p:sp>
      <p:sp>
        <p:nvSpPr>
          <p:cNvPr id="11" name="Shape 9"/>
          <p:cNvSpPr/>
          <p:nvPr/>
        </p:nvSpPr>
        <p:spPr>
          <a:xfrm>
            <a:off x="393192" y="3046395"/>
            <a:ext cx="3566160" cy="45719"/>
          </a:xfrm>
          <a:prstGeom prst="rect">
            <a:avLst/>
          </a:prstGeom>
          <a:solidFill>
            <a:srgbClr val="333355"/>
          </a:solidFill>
          <a:ln w="12700">
            <a:solidFill>
              <a:srgbClr val="333355"/>
            </a:solidFill>
            <a:prstDash val="solid"/>
          </a:ln>
        </p:spPr>
      </p:sp>
      <p:grpSp>
        <p:nvGrpSpPr>
          <p:cNvPr id="74" name="Group 73">
            <a:extLst>
              <a:ext uri="{FF2B5EF4-FFF2-40B4-BE49-F238E27FC236}">
                <a16:creationId xmlns:a16="http://schemas.microsoft.com/office/drawing/2014/main" id="{B85EEA29-DD74-CC11-BF69-7A3C1182B305}"/>
              </a:ext>
            </a:extLst>
          </p:cNvPr>
          <p:cNvGrpSpPr/>
          <p:nvPr/>
        </p:nvGrpSpPr>
        <p:grpSpPr>
          <a:xfrm>
            <a:off x="393192" y="3127248"/>
            <a:ext cx="1645920" cy="512064"/>
            <a:chOff x="393192" y="3127248"/>
            <a:chExt cx="1645920" cy="512064"/>
          </a:xfrm>
        </p:grpSpPr>
        <p:sp>
          <p:nvSpPr>
            <p:cNvPr id="12" name="Text 10"/>
            <p:cNvSpPr/>
            <p:nvPr/>
          </p:nvSpPr>
          <p:spPr>
            <a:xfrm>
              <a:off x="393192" y="3127248"/>
              <a:ext cx="1645920" cy="256032"/>
            </a:xfrm>
            <a:prstGeom prst="rect">
              <a:avLst/>
            </a:prstGeom>
            <a:solidFill>
              <a:schemeClr val="bg1">
                <a:lumMod val="85000"/>
              </a:schemeClr>
            </a:solidFill>
            <a:ln/>
          </p:spPr>
          <p:txBody>
            <a:bodyPr wrap="square" rtlCol="0" anchor="ctr"/>
            <a:lstStyle/>
            <a:p>
              <a:pPr marL="0" indent="0">
                <a:buNone/>
              </a:pPr>
              <a:r>
                <a:rPr lang="en-US" sz="1400" dirty="0">
                  <a:latin typeface="Calibri" pitchFamily="34" charset="0"/>
                  <a:ea typeface="Calibri" pitchFamily="34" charset="-122"/>
                  <a:cs typeface="Calibri" pitchFamily="34" charset="-120"/>
                </a:rPr>
                <a:t>2026E FY Rev</a:t>
              </a:r>
              <a:endParaRPr lang="en-US" sz="1400" dirty="0"/>
            </a:p>
          </p:txBody>
        </p:sp>
        <p:sp>
          <p:nvSpPr>
            <p:cNvPr id="14" name="Text 12"/>
            <p:cNvSpPr/>
            <p:nvPr/>
          </p:nvSpPr>
          <p:spPr>
            <a:xfrm>
              <a:off x="393192" y="3383280"/>
              <a:ext cx="1645920" cy="256032"/>
            </a:xfrm>
            <a:prstGeom prst="rect">
              <a:avLst/>
            </a:prstGeom>
            <a:solidFill>
              <a:schemeClr val="bg1">
                <a:lumMod val="85000"/>
              </a:schemeClr>
            </a:solidFill>
            <a:ln/>
          </p:spPr>
          <p:txBody>
            <a:bodyPr wrap="square" rtlCol="0" anchor="ctr"/>
            <a:lstStyle/>
            <a:p>
              <a:pPr marL="0" indent="0">
                <a:buNone/>
              </a:pPr>
              <a:r>
                <a:rPr lang="en-US" sz="1400" dirty="0">
                  <a:latin typeface="Calibri" pitchFamily="34" charset="0"/>
                  <a:ea typeface="Calibri" pitchFamily="34" charset="-122"/>
                  <a:cs typeface="Calibri" pitchFamily="34" charset="-120"/>
                </a:rPr>
                <a:t>Implied Multiple</a:t>
              </a:r>
              <a:endParaRPr lang="en-US" sz="1400" dirty="0"/>
            </a:p>
          </p:txBody>
        </p:sp>
      </p:grpSp>
      <p:grpSp>
        <p:nvGrpSpPr>
          <p:cNvPr id="75" name="Group 74">
            <a:extLst>
              <a:ext uri="{FF2B5EF4-FFF2-40B4-BE49-F238E27FC236}">
                <a16:creationId xmlns:a16="http://schemas.microsoft.com/office/drawing/2014/main" id="{ED5DB73A-D3E3-5EC8-0A40-7FCAF8580387}"/>
              </a:ext>
            </a:extLst>
          </p:cNvPr>
          <p:cNvGrpSpPr/>
          <p:nvPr/>
        </p:nvGrpSpPr>
        <p:grpSpPr>
          <a:xfrm>
            <a:off x="2176272" y="3127248"/>
            <a:ext cx="1828800" cy="512064"/>
            <a:chOff x="2176272" y="3127248"/>
            <a:chExt cx="1828800" cy="512064"/>
          </a:xfrm>
        </p:grpSpPr>
        <p:sp>
          <p:nvSpPr>
            <p:cNvPr id="13" name="Text 11"/>
            <p:cNvSpPr/>
            <p:nvPr/>
          </p:nvSpPr>
          <p:spPr>
            <a:xfrm>
              <a:off x="2176272" y="3127248"/>
              <a:ext cx="1828800" cy="256032"/>
            </a:xfrm>
            <a:prstGeom prst="rect">
              <a:avLst/>
            </a:prstGeom>
            <a:solidFill>
              <a:schemeClr val="bg1">
                <a:lumMod val="85000"/>
              </a:schemeClr>
            </a:solidFill>
            <a:ln/>
          </p:spPr>
          <p:txBody>
            <a:bodyPr wrap="square" rtlCol="0" anchor="ctr"/>
            <a:lstStyle/>
            <a:p>
              <a:pPr marL="0" indent="0" algn="r">
                <a:buNone/>
              </a:pPr>
              <a:r>
                <a:rPr lang="en-US" sz="1400" b="1" dirty="0">
                  <a:latin typeface="Calibri" pitchFamily="34" charset="0"/>
                  <a:ea typeface="Calibri" pitchFamily="34" charset="-122"/>
                  <a:cs typeface="Calibri" pitchFamily="34" charset="-120"/>
                </a:rPr>
                <a:t>$65–70B</a:t>
              </a:r>
              <a:endParaRPr lang="en-US" sz="1400" dirty="0"/>
            </a:p>
          </p:txBody>
        </p:sp>
        <p:sp>
          <p:nvSpPr>
            <p:cNvPr id="15" name="Text 13"/>
            <p:cNvSpPr/>
            <p:nvPr/>
          </p:nvSpPr>
          <p:spPr>
            <a:xfrm>
              <a:off x="2176272" y="3383280"/>
              <a:ext cx="1828800" cy="256032"/>
            </a:xfrm>
            <a:prstGeom prst="rect">
              <a:avLst/>
            </a:prstGeom>
            <a:solidFill>
              <a:schemeClr val="bg1">
                <a:lumMod val="85000"/>
              </a:schemeClr>
            </a:solidFill>
            <a:ln/>
          </p:spPr>
          <p:txBody>
            <a:bodyPr wrap="square" rtlCol="0" anchor="ctr"/>
            <a:lstStyle/>
            <a:p>
              <a:pPr marL="0" indent="0" algn="r">
                <a:buNone/>
              </a:pPr>
              <a:r>
                <a:rPr lang="en-US" sz="1200" b="1" dirty="0">
                  <a:solidFill>
                    <a:srgbClr val="EF4444"/>
                  </a:solidFill>
                  <a:latin typeface="Calibri" pitchFamily="34" charset="0"/>
                  <a:ea typeface="Calibri" pitchFamily="34" charset="-122"/>
                  <a:cs typeface="Calibri" pitchFamily="34" charset="-120"/>
                </a:rPr>
                <a:t>18–22x Fwd P/E</a:t>
              </a:r>
              <a:endParaRPr lang="en-US" sz="1200" dirty="0"/>
            </a:p>
          </p:txBody>
        </p:sp>
      </p:grpSp>
      <p:sp>
        <p:nvSpPr>
          <p:cNvPr id="16" name="Text 14"/>
          <p:cNvSpPr/>
          <p:nvPr/>
        </p:nvSpPr>
        <p:spPr>
          <a:xfrm>
            <a:off x="393192" y="3809195"/>
            <a:ext cx="3566160" cy="25603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Key triggers</a:t>
            </a:r>
            <a:endParaRPr lang="en-US" sz="1400" dirty="0"/>
          </a:p>
        </p:txBody>
      </p:sp>
      <p:sp>
        <p:nvSpPr>
          <p:cNvPr id="23" name="Shape 21"/>
          <p:cNvSpPr/>
          <p:nvPr/>
        </p:nvSpPr>
        <p:spPr>
          <a:xfrm>
            <a:off x="4261104" y="1170432"/>
            <a:ext cx="3840480" cy="475488"/>
          </a:xfrm>
          <a:prstGeom prst="rect">
            <a:avLst/>
          </a:prstGeom>
          <a:solidFill>
            <a:srgbClr val="00878A"/>
          </a:solidFill>
          <a:ln w="12700">
            <a:solidFill>
              <a:srgbClr val="00878A"/>
            </a:solidFill>
            <a:prstDash val="solid"/>
          </a:ln>
        </p:spPr>
      </p:sp>
      <p:sp>
        <p:nvSpPr>
          <p:cNvPr id="24" name="Text 22"/>
          <p:cNvSpPr/>
          <p:nvPr/>
        </p:nvSpPr>
        <p:spPr>
          <a:xfrm>
            <a:off x="4398264" y="1170432"/>
            <a:ext cx="3657600" cy="47548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BASE CASE</a:t>
            </a:r>
            <a:endParaRPr lang="en-US" sz="1800" dirty="0"/>
          </a:p>
        </p:txBody>
      </p:sp>
      <p:sp>
        <p:nvSpPr>
          <p:cNvPr id="25" name="Shape 23"/>
          <p:cNvSpPr/>
          <p:nvPr/>
        </p:nvSpPr>
        <p:spPr>
          <a:xfrm>
            <a:off x="4261104" y="1645920"/>
            <a:ext cx="3840480" cy="4803006"/>
          </a:xfrm>
          <a:prstGeom prst="rect">
            <a:avLst/>
          </a:prstGeom>
          <a:solidFill>
            <a:schemeClr val="bg1">
              <a:lumMod val="95000"/>
            </a:schemeClr>
          </a:solidFill>
          <a:ln w="12700">
            <a:solidFill>
              <a:srgbClr val="031818"/>
            </a:solidFill>
            <a:prstDash val="solid"/>
          </a:ln>
        </p:spPr>
      </p:sp>
      <p:sp>
        <p:nvSpPr>
          <p:cNvPr id="26" name="Text 24"/>
          <p:cNvSpPr/>
          <p:nvPr/>
        </p:nvSpPr>
        <p:spPr>
          <a:xfrm>
            <a:off x="4398264" y="1719072"/>
            <a:ext cx="3566160" cy="25603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12-Month Target</a:t>
            </a:r>
            <a:endParaRPr lang="en-US" sz="1100" dirty="0"/>
          </a:p>
        </p:txBody>
      </p:sp>
      <p:sp>
        <p:nvSpPr>
          <p:cNvPr id="27" name="Text 25"/>
          <p:cNvSpPr/>
          <p:nvPr/>
        </p:nvSpPr>
        <p:spPr>
          <a:xfrm>
            <a:off x="4398264" y="1938528"/>
            <a:ext cx="3566160" cy="804672"/>
          </a:xfrm>
          <a:prstGeom prst="rect">
            <a:avLst/>
          </a:prstGeom>
          <a:noFill/>
          <a:ln/>
        </p:spPr>
        <p:txBody>
          <a:bodyPr wrap="square" rtlCol="0" anchor="ctr"/>
          <a:lstStyle/>
          <a:p>
            <a:pPr marL="0" indent="0">
              <a:buNone/>
            </a:pPr>
            <a:r>
              <a:rPr lang="en-US" sz="3800" b="1" dirty="0">
                <a:solidFill>
                  <a:srgbClr val="00878A"/>
                </a:solidFill>
                <a:latin typeface="Calibri" pitchFamily="34" charset="0"/>
                <a:ea typeface="Calibri" pitchFamily="34" charset="-122"/>
                <a:cs typeface="Calibri" pitchFamily="34" charset="-120"/>
              </a:rPr>
              <a:t>$950–1,100</a:t>
            </a:r>
            <a:endParaRPr lang="en-US" sz="3800" dirty="0"/>
          </a:p>
        </p:txBody>
      </p:sp>
      <p:sp>
        <p:nvSpPr>
          <p:cNvPr id="28" name="Text 26"/>
          <p:cNvSpPr/>
          <p:nvPr/>
        </p:nvSpPr>
        <p:spPr>
          <a:xfrm>
            <a:off x="4398264" y="2743200"/>
            <a:ext cx="3566160" cy="274320"/>
          </a:xfrm>
          <a:prstGeom prst="rect">
            <a:avLst/>
          </a:prstGeom>
          <a:noFill/>
          <a:ln/>
        </p:spPr>
        <p:txBody>
          <a:bodyPr wrap="square" rtlCol="0" anchor="ctr"/>
          <a:lstStyle/>
          <a:p>
            <a:pPr marL="0" indent="0">
              <a:buNone/>
            </a:pPr>
            <a:r>
              <a:rPr lang="en-US" sz="1400" dirty="0">
                <a:solidFill>
                  <a:srgbClr val="00C8C8"/>
                </a:solidFill>
                <a:latin typeface="Calibri" pitchFamily="34" charset="0"/>
                <a:ea typeface="Calibri" pitchFamily="34" charset="-122"/>
                <a:cs typeface="Calibri" pitchFamily="34" charset="-120"/>
              </a:rPr>
              <a:t>+19% to +38% vs CMP</a:t>
            </a:r>
            <a:endParaRPr lang="en-US" sz="1400" dirty="0"/>
          </a:p>
        </p:txBody>
      </p:sp>
      <p:sp>
        <p:nvSpPr>
          <p:cNvPr id="29" name="Shape 27"/>
          <p:cNvSpPr/>
          <p:nvPr/>
        </p:nvSpPr>
        <p:spPr>
          <a:xfrm>
            <a:off x="4398264" y="3045433"/>
            <a:ext cx="3611880" cy="45720"/>
          </a:xfrm>
          <a:prstGeom prst="rect">
            <a:avLst/>
          </a:prstGeom>
          <a:solidFill>
            <a:srgbClr val="333355"/>
          </a:solidFill>
          <a:ln w="12700">
            <a:solidFill>
              <a:srgbClr val="333355"/>
            </a:solidFill>
            <a:prstDash val="solid"/>
          </a:ln>
        </p:spPr>
      </p:sp>
      <p:grpSp>
        <p:nvGrpSpPr>
          <p:cNvPr id="73" name="Group 72">
            <a:extLst>
              <a:ext uri="{FF2B5EF4-FFF2-40B4-BE49-F238E27FC236}">
                <a16:creationId xmlns:a16="http://schemas.microsoft.com/office/drawing/2014/main" id="{8FA99F6F-DA34-F2A1-353C-60F74615466D}"/>
              </a:ext>
            </a:extLst>
          </p:cNvPr>
          <p:cNvGrpSpPr/>
          <p:nvPr/>
        </p:nvGrpSpPr>
        <p:grpSpPr>
          <a:xfrm>
            <a:off x="4398264" y="3127248"/>
            <a:ext cx="1645920" cy="512064"/>
            <a:chOff x="4398264" y="3127248"/>
            <a:chExt cx="1645920" cy="512064"/>
          </a:xfrm>
        </p:grpSpPr>
        <p:sp>
          <p:nvSpPr>
            <p:cNvPr id="30" name="Text 28"/>
            <p:cNvSpPr/>
            <p:nvPr/>
          </p:nvSpPr>
          <p:spPr>
            <a:xfrm>
              <a:off x="4398264" y="3127248"/>
              <a:ext cx="1645920" cy="256032"/>
            </a:xfrm>
            <a:prstGeom prst="rect">
              <a:avLst/>
            </a:prstGeom>
            <a:solidFill>
              <a:schemeClr val="bg1">
                <a:lumMod val="85000"/>
              </a:schemeClr>
            </a:solidFill>
            <a:ln/>
          </p:spPr>
          <p:txBody>
            <a:bodyPr wrap="square" rtlCol="0" anchor="ctr"/>
            <a:lstStyle/>
            <a:p>
              <a:pPr marL="0" indent="0">
                <a:buNone/>
              </a:pPr>
              <a:r>
                <a:rPr lang="en-US" sz="1400" dirty="0">
                  <a:latin typeface="Calibri" pitchFamily="34" charset="0"/>
                  <a:ea typeface="Calibri" pitchFamily="34" charset="-122"/>
                  <a:cs typeface="Calibri" pitchFamily="34" charset="-120"/>
                </a:rPr>
                <a:t>2026E FY Rev</a:t>
              </a:r>
              <a:endParaRPr lang="en-US" sz="1400" dirty="0"/>
            </a:p>
          </p:txBody>
        </p:sp>
        <p:sp>
          <p:nvSpPr>
            <p:cNvPr id="32" name="Text 30"/>
            <p:cNvSpPr/>
            <p:nvPr/>
          </p:nvSpPr>
          <p:spPr>
            <a:xfrm>
              <a:off x="4398264" y="3383280"/>
              <a:ext cx="1645920" cy="256032"/>
            </a:xfrm>
            <a:prstGeom prst="rect">
              <a:avLst/>
            </a:prstGeom>
            <a:solidFill>
              <a:schemeClr val="bg1">
                <a:lumMod val="85000"/>
              </a:schemeClr>
            </a:solidFill>
            <a:ln/>
          </p:spPr>
          <p:txBody>
            <a:bodyPr wrap="square" rtlCol="0" anchor="ctr"/>
            <a:lstStyle/>
            <a:p>
              <a:pPr marL="0" indent="0">
                <a:buNone/>
              </a:pPr>
              <a:r>
                <a:rPr lang="en-US" sz="1400" dirty="0">
                  <a:latin typeface="Calibri" pitchFamily="34" charset="0"/>
                  <a:ea typeface="Calibri" pitchFamily="34" charset="-122"/>
                  <a:cs typeface="Calibri" pitchFamily="34" charset="-120"/>
                </a:rPr>
                <a:t>Implied Multiple</a:t>
              </a:r>
              <a:endParaRPr lang="en-US" sz="1400" dirty="0"/>
            </a:p>
          </p:txBody>
        </p:sp>
      </p:grpSp>
      <p:grpSp>
        <p:nvGrpSpPr>
          <p:cNvPr id="72" name="Group 71">
            <a:extLst>
              <a:ext uri="{FF2B5EF4-FFF2-40B4-BE49-F238E27FC236}">
                <a16:creationId xmlns:a16="http://schemas.microsoft.com/office/drawing/2014/main" id="{66184073-C7C3-449A-E24C-9BEA0B661863}"/>
              </a:ext>
            </a:extLst>
          </p:cNvPr>
          <p:cNvGrpSpPr/>
          <p:nvPr/>
        </p:nvGrpSpPr>
        <p:grpSpPr>
          <a:xfrm>
            <a:off x="6181344" y="3127248"/>
            <a:ext cx="1828800" cy="512064"/>
            <a:chOff x="6181344" y="3127248"/>
            <a:chExt cx="1828800" cy="512064"/>
          </a:xfrm>
        </p:grpSpPr>
        <p:sp>
          <p:nvSpPr>
            <p:cNvPr id="31" name="Text 29"/>
            <p:cNvSpPr/>
            <p:nvPr/>
          </p:nvSpPr>
          <p:spPr>
            <a:xfrm>
              <a:off x="6181344" y="3127248"/>
              <a:ext cx="1828800" cy="256032"/>
            </a:xfrm>
            <a:prstGeom prst="rect">
              <a:avLst/>
            </a:prstGeom>
            <a:solidFill>
              <a:schemeClr val="bg1">
                <a:lumMod val="85000"/>
              </a:schemeClr>
            </a:solidFill>
            <a:ln/>
          </p:spPr>
          <p:txBody>
            <a:bodyPr wrap="square" rtlCol="0" anchor="ctr"/>
            <a:lstStyle/>
            <a:p>
              <a:pPr marL="0" indent="0" algn="r">
                <a:buNone/>
              </a:pPr>
              <a:r>
                <a:rPr lang="en-US" sz="1400" b="1" dirty="0">
                  <a:latin typeface="Calibri" pitchFamily="34" charset="0"/>
                  <a:ea typeface="Calibri" pitchFamily="34" charset="-122"/>
                  <a:cs typeface="Calibri" pitchFamily="34" charset="-120"/>
                </a:rPr>
                <a:t>$80–83B</a:t>
              </a:r>
              <a:endParaRPr lang="en-US" sz="1400" dirty="0"/>
            </a:p>
          </p:txBody>
        </p:sp>
        <p:sp>
          <p:nvSpPr>
            <p:cNvPr id="33" name="Text 31"/>
            <p:cNvSpPr/>
            <p:nvPr/>
          </p:nvSpPr>
          <p:spPr>
            <a:xfrm>
              <a:off x="6181344" y="3383280"/>
              <a:ext cx="1828800" cy="256032"/>
            </a:xfrm>
            <a:prstGeom prst="rect">
              <a:avLst/>
            </a:prstGeom>
            <a:solidFill>
              <a:schemeClr val="bg1">
                <a:lumMod val="85000"/>
              </a:schemeClr>
            </a:solidFill>
            <a:ln/>
          </p:spPr>
          <p:txBody>
            <a:bodyPr wrap="square" rtlCol="0" anchor="ctr"/>
            <a:lstStyle/>
            <a:p>
              <a:pPr marL="0" indent="0" algn="r">
                <a:buNone/>
              </a:pPr>
              <a:r>
                <a:rPr lang="en-US" sz="1200" b="1" dirty="0">
                  <a:solidFill>
                    <a:srgbClr val="00C8C8"/>
                  </a:solidFill>
                  <a:latin typeface="Calibri" pitchFamily="34" charset="0"/>
                  <a:ea typeface="Calibri" pitchFamily="34" charset="-122"/>
                  <a:cs typeface="Calibri" pitchFamily="34" charset="-120"/>
                </a:rPr>
                <a:t>27–30x Fwd P/E</a:t>
              </a:r>
              <a:endParaRPr lang="en-US" sz="1200" dirty="0"/>
            </a:p>
          </p:txBody>
        </p:sp>
      </p:grpSp>
      <p:sp>
        <p:nvSpPr>
          <p:cNvPr id="34" name="Text 32"/>
          <p:cNvSpPr/>
          <p:nvPr/>
        </p:nvSpPr>
        <p:spPr>
          <a:xfrm>
            <a:off x="4398264" y="3809195"/>
            <a:ext cx="3566160" cy="256032"/>
          </a:xfrm>
          <a:prstGeom prst="rect">
            <a:avLst/>
          </a:prstGeom>
          <a:noFill/>
          <a:ln/>
        </p:spPr>
        <p:txBody>
          <a:bodyPr wrap="square" rtlCol="0" anchor="ctr"/>
          <a:lstStyle/>
          <a:p>
            <a:pPr marL="0" indent="0">
              <a:buNone/>
            </a:pPr>
            <a:r>
              <a:rPr lang="en-US" sz="1400" b="1" dirty="0">
                <a:solidFill>
                  <a:srgbClr val="00C8C8"/>
                </a:solidFill>
                <a:latin typeface="Calibri" pitchFamily="34" charset="0"/>
                <a:ea typeface="Calibri" pitchFamily="34" charset="-122"/>
                <a:cs typeface="Calibri" pitchFamily="34" charset="-120"/>
              </a:rPr>
              <a:t>Key triggers</a:t>
            </a:r>
            <a:endParaRPr lang="en-US" sz="1400" dirty="0"/>
          </a:p>
        </p:txBody>
      </p:sp>
      <p:sp>
        <p:nvSpPr>
          <p:cNvPr id="41" name="Shape 39"/>
          <p:cNvSpPr/>
          <p:nvPr/>
        </p:nvSpPr>
        <p:spPr>
          <a:xfrm>
            <a:off x="8266176" y="1170432"/>
            <a:ext cx="3840480" cy="475488"/>
          </a:xfrm>
          <a:prstGeom prst="rect">
            <a:avLst/>
          </a:prstGeom>
          <a:solidFill>
            <a:srgbClr val="15803D"/>
          </a:solidFill>
          <a:ln w="12700">
            <a:solidFill>
              <a:srgbClr val="15803D"/>
            </a:solidFill>
            <a:prstDash val="solid"/>
          </a:ln>
        </p:spPr>
      </p:sp>
      <p:sp>
        <p:nvSpPr>
          <p:cNvPr id="42" name="Text 40"/>
          <p:cNvSpPr/>
          <p:nvPr/>
        </p:nvSpPr>
        <p:spPr>
          <a:xfrm>
            <a:off x="8403336" y="1170432"/>
            <a:ext cx="3657600" cy="47548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BULL CASE</a:t>
            </a:r>
            <a:endParaRPr lang="en-US" sz="1800" dirty="0"/>
          </a:p>
        </p:txBody>
      </p:sp>
      <p:sp>
        <p:nvSpPr>
          <p:cNvPr id="43" name="Shape 41"/>
          <p:cNvSpPr/>
          <p:nvPr/>
        </p:nvSpPr>
        <p:spPr>
          <a:xfrm>
            <a:off x="8266176" y="1645920"/>
            <a:ext cx="3840480" cy="4803006"/>
          </a:xfrm>
          <a:prstGeom prst="rect">
            <a:avLst/>
          </a:prstGeom>
          <a:solidFill>
            <a:schemeClr val="bg1">
              <a:lumMod val="95000"/>
            </a:schemeClr>
          </a:solidFill>
          <a:ln w="12700">
            <a:solidFill>
              <a:srgbClr val="021A08"/>
            </a:solidFill>
            <a:prstDash val="solid"/>
          </a:ln>
        </p:spPr>
      </p:sp>
      <p:sp>
        <p:nvSpPr>
          <p:cNvPr id="44" name="Text 42"/>
          <p:cNvSpPr/>
          <p:nvPr/>
        </p:nvSpPr>
        <p:spPr>
          <a:xfrm>
            <a:off x="8403336" y="1719072"/>
            <a:ext cx="3566160" cy="256032"/>
          </a:xfrm>
          <a:prstGeom prst="rect">
            <a:avLst/>
          </a:prstGeom>
          <a:noFill/>
          <a:ln/>
        </p:spPr>
        <p:txBody>
          <a:bodyPr wrap="square" rtlCol="0" anchor="ctr"/>
          <a:lstStyle/>
          <a:p>
            <a:pPr marL="0" indent="0">
              <a:buNone/>
            </a:pPr>
            <a:r>
              <a:rPr lang="en-US" sz="1100" dirty="0">
                <a:latin typeface="Calibri" pitchFamily="34" charset="0"/>
                <a:ea typeface="Calibri" pitchFamily="34" charset="-122"/>
                <a:cs typeface="Calibri" pitchFamily="34" charset="-120"/>
              </a:rPr>
              <a:t>12-Month Target</a:t>
            </a:r>
            <a:endParaRPr lang="en-US" sz="1100" dirty="0"/>
          </a:p>
        </p:txBody>
      </p:sp>
      <p:sp>
        <p:nvSpPr>
          <p:cNvPr id="45" name="Text 43"/>
          <p:cNvSpPr/>
          <p:nvPr/>
        </p:nvSpPr>
        <p:spPr>
          <a:xfrm>
            <a:off x="8403336" y="1938528"/>
            <a:ext cx="3566160" cy="804672"/>
          </a:xfrm>
          <a:prstGeom prst="rect">
            <a:avLst/>
          </a:prstGeom>
          <a:noFill/>
          <a:ln/>
        </p:spPr>
        <p:txBody>
          <a:bodyPr wrap="square" rtlCol="0" anchor="ctr"/>
          <a:lstStyle/>
          <a:p>
            <a:pPr marL="0" indent="0">
              <a:buNone/>
            </a:pPr>
            <a:r>
              <a:rPr lang="en-US" sz="3800" b="1" dirty="0">
                <a:solidFill>
                  <a:srgbClr val="15803D"/>
                </a:solidFill>
                <a:latin typeface="Calibri" pitchFamily="34" charset="0"/>
                <a:ea typeface="Calibri" pitchFamily="34" charset="-122"/>
                <a:cs typeface="Calibri" pitchFamily="34" charset="-120"/>
              </a:rPr>
              <a:t>$1,300–1,500</a:t>
            </a:r>
            <a:endParaRPr lang="en-US" sz="3800" dirty="0"/>
          </a:p>
        </p:txBody>
      </p:sp>
      <p:sp>
        <p:nvSpPr>
          <p:cNvPr id="46" name="Text 44"/>
          <p:cNvSpPr/>
          <p:nvPr/>
        </p:nvSpPr>
        <p:spPr>
          <a:xfrm>
            <a:off x="8403336" y="2743200"/>
            <a:ext cx="3566160" cy="274320"/>
          </a:xfrm>
          <a:prstGeom prst="rect">
            <a:avLst/>
          </a:prstGeom>
          <a:noFill/>
          <a:ln/>
        </p:spPr>
        <p:txBody>
          <a:bodyPr wrap="square" rtlCol="0" anchor="ctr"/>
          <a:lstStyle/>
          <a:p>
            <a:pPr marL="0" indent="0">
              <a:buNone/>
            </a:pPr>
            <a:r>
              <a:rPr lang="en-US" sz="1400" dirty="0">
                <a:solidFill>
                  <a:srgbClr val="22C55E"/>
                </a:solidFill>
                <a:latin typeface="Calibri" pitchFamily="34" charset="0"/>
                <a:ea typeface="Calibri" pitchFamily="34" charset="-122"/>
                <a:cs typeface="Calibri" pitchFamily="34" charset="-120"/>
              </a:rPr>
              <a:t>+63% to +88% vs CMP</a:t>
            </a:r>
            <a:endParaRPr lang="en-US" sz="1400" dirty="0"/>
          </a:p>
        </p:txBody>
      </p:sp>
      <p:sp>
        <p:nvSpPr>
          <p:cNvPr id="47" name="Shape 45"/>
          <p:cNvSpPr/>
          <p:nvPr/>
        </p:nvSpPr>
        <p:spPr>
          <a:xfrm flipV="1">
            <a:off x="8403336" y="3045432"/>
            <a:ext cx="3566160" cy="46681"/>
          </a:xfrm>
          <a:prstGeom prst="rect">
            <a:avLst/>
          </a:prstGeom>
          <a:solidFill>
            <a:srgbClr val="333355"/>
          </a:solidFill>
          <a:ln w="12700">
            <a:solidFill>
              <a:srgbClr val="333355"/>
            </a:solidFill>
            <a:prstDash val="solid"/>
          </a:ln>
        </p:spPr>
      </p:sp>
      <p:grpSp>
        <p:nvGrpSpPr>
          <p:cNvPr id="71" name="Group 70">
            <a:extLst>
              <a:ext uri="{FF2B5EF4-FFF2-40B4-BE49-F238E27FC236}">
                <a16:creationId xmlns:a16="http://schemas.microsoft.com/office/drawing/2014/main" id="{AFB3171B-2922-4DAC-EFD9-5C78563B77BF}"/>
              </a:ext>
            </a:extLst>
          </p:cNvPr>
          <p:cNvGrpSpPr/>
          <p:nvPr/>
        </p:nvGrpSpPr>
        <p:grpSpPr>
          <a:xfrm>
            <a:off x="8403336" y="3127248"/>
            <a:ext cx="1645920" cy="512064"/>
            <a:chOff x="8403336" y="3127248"/>
            <a:chExt cx="1645920" cy="512064"/>
          </a:xfrm>
        </p:grpSpPr>
        <p:sp>
          <p:nvSpPr>
            <p:cNvPr id="48" name="Text 46"/>
            <p:cNvSpPr/>
            <p:nvPr/>
          </p:nvSpPr>
          <p:spPr>
            <a:xfrm>
              <a:off x="8403336" y="3127248"/>
              <a:ext cx="1645920" cy="256032"/>
            </a:xfrm>
            <a:prstGeom prst="rect">
              <a:avLst/>
            </a:prstGeom>
            <a:solidFill>
              <a:schemeClr val="bg1">
                <a:lumMod val="85000"/>
              </a:schemeClr>
            </a:solidFill>
            <a:ln/>
          </p:spPr>
          <p:txBody>
            <a:bodyPr wrap="square" rtlCol="0" anchor="ctr"/>
            <a:lstStyle/>
            <a:p>
              <a:pPr marL="0" indent="0">
                <a:buNone/>
              </a:pPr>
              <a:r>
                <a:rPr lang="en-US" sz="1400" dirty="0">
                  <a:latin typeface="Calibri" pitchFamily="34" charset="0"/>
                  <a:ea typeface="Calibri" pitchFamily="34" charset="-122"/>
                  <a:cs typeface="Calibri" pitchFamily="34" charset="-120"/>
                </a:rPr>
                <a:t>2026E FY Rev</a:t>
              </a:r>
              <a:endParaRPr lang="en-US" sz="1400" dirty="0"/>
            </a:p>
          </p:txBody>
        </p:sp>
        <p:sp>
          <p:nvSpPr>
            <p:cNvPr id="50" name="Text 48"/>
            <p:cNvSpPr/>
            <p:nvPr/>
          </p:nvSpPr>
          <p:spPr>
            <a:xfrm>
              <a:off x="8403336" y="3383280"/>
              <a:ext cx="1645920" cy="256032"/>
            </a:xfrm>
            <a:prstGeom prst="rect">
              <a:avLst/>
            </a:prstGeom>
            <a:solidFill>
              <a:schemeClr val="bg1">
                <a:lumMod val="85000"/>
              </a:schemeClr>
            </a:solidFill>
            <a:ln/>
          </p:spPr>
          <p:txBody>
            <a:bodyPr wrap="square" rtlCol="0" anchor="ctr"/>
            <a:lstStyle/>
            <a:p>
              <a:pPr marL="0" indent="0">
                <a:buNone/>
              </a:pPr>
              <a:r>
                <a:rPr lang="en-US" sz="1400" dirty="0">
                  <a:latin typeface="Calibri" pitchFamily="34" charset="0"/>
                  <a:ea typeface="Calibri" pitchFamily="34" charset="-122"/>
                  <a:cs typeface="Calibri" pitchFamily="34" charset="-120"/>
                </a:rPr>
                <a:t>Implied Multiple</a:t>
              </a:r>
              <a:endParaRPr lang="en-US" sz="1400" dirty="0"/>
            </a:p>
          </p:txBody>
        </p:sp>
      </p:grpSp>
      <p:grpSp>
        <p:nvGrpSpPr>
          <p:cNvPr id="70" name="Group 69">
            <a:extLst>
              <a:ext uri="{FF2B5EF4-FFF2-40B4-BE49-F238E27FC236}">
                <a16:creationId xmlns:a16="http://schemas.microsoft.com/office/drawing/2014/main" id="{32573992-F843-D9E9-F1C3-28F8A6B9E254}"/>
              </a:ext>
            </a:extLst>
          </p:cNvPr>
          <p:cNvGrpSpPr/>
          <p:nvPr/>
        </p:nvGrpSpPr>
        <p:grpSpPr>
          <a:xfrm>
            <a:off x="10147916" y="3127248"/>
            <a:ext cx="1828800" cy="512064"/>
            <a:chOff x="10167166" y="3127248"/>
            <a:chExt cx="1828800" cy="512064"/>
          </a:xfrm>
        </p:grpSpPr>
        <p:sp>
          <p:nvSpPr>
            <p:cNvPr id="49" name="Text 47"/>
            <p:cNvSpPr/>
            <p:nvPr/>
          </p:nvSpPr>
          <p:spPr>
            <a:xfrm>
              <a:off x="10167166" y="3127248"/>
              <a:ext cx="1828800" cy="256032"/>
            </a:xfrm>
            <a:prstGeom prst="rect">
              <a:avLst/>
            </a:prstGeom>
            <a:solidFill>
              <a:schemeClr val="bg1">
                <a:lumMod val="85000"/>
              </a:schemeClr>
            </a:solidFill>
            <a:ln/>
          </p:spPr>
          <p:txBody>
            <a:bodyPr wrap="square" rtlCol="0" anchor="ctr"/>
            <a:lstStyle/>
            <a:p>
              <a:pPr marL="0" indent="0" algn="r">
                <a:buNone/>
              </a:pPr>
              <a:r>
                <a:rPr lang="en-US" sz="1400" b="1" dirty="0">
                  <a:latin typeface="Calibri" pitchFamily="34" charset="0"/>
                  <a:ea typeface="Calibri" pitchFamily="34" charset="-122"/>
                  <a:cs typeface="Calibri" pitchFamily="34" charset="-120"/>
                </a:rPr>
                <a:t>$90–100B+</a:t>
              </a:r>
              <a:endParaRPr lang="en-US" sz="1400" dirty="0"/>
            </a:p>
          </p:txBody>
        </p:sp>
        <p:sp>
          <p:nvSpPr>
            <p:cNvPr id="51" name="Text 49"/>
            <p:cNvSpPr/>
            <p:nvPr/>
          </p:nvSpPr>
          <p:spPr>
            <a:xfrm>
              <a:off x="10167166" y="3383280"/>
              <a:ext cx="1828800" cy="256032"/>
            </a:xfrm>
            <a:prstGeom prst="rect">
              <a:avLst/>
            </a:prstGeom>
            <a:solidFill>
              <a:schemeClr val="bg1">
                <a:lumMod val="85000"/>
              </a:schemeClr>
            </a:solidFill>
            <a:ln/>
          </p:spPr>
          <p:txBody>
            <a:bodyPr wrap="square" rtlCol="0" anchor="ctr"/>
            <a:lstStyle/>
            <a:p>
              <a:pPr marL="0" indent="0" algn="r">
                <a:buNone/>
              </a:pPr>
              <a:r>
                <a:rPr lang="en-US" sz="1200" b="1" dirty="0">
                  <a:solidFill>
                    <a:srgbClr val="22C55E"/>
                  </a:solidFill>
                  <a:latin typeface="Calibri" pitchFamily="34" charset="0"/>
                  <a:ea typeface="Calibri" pitchFamily="34" charset="-122"/>
                  <a:cs typeface="Calibri" pitchFamily="34" charset="-120"/>
                </a:rPr>
                <a:t>35–40x Fwd P/E</a:t>
              </a:r>
              <a:endParaRPr lang="en-US" sz="1200" dirty="0"/>
            </a:p>
          </p:txBody>
        </p:sp>
      </p:grpSp>
      <p:sp>
        <p:nvSpPr>
          <p:cNvPr id="52" name="Text 50"/>
          <p:cNvSpPr/>
          <p:nvPr/>
        </p:nvSpPr>
        <p:spPr>
          <a:xfrm>
            <a:off x="8403336" y="3809195"/>
            <a:ext cx="3566160" cy="256032"/>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Key triggers</a:t>
            </a:r>
            <a:endParaRPr lang="en-US" sz="1400" dirty="0"/>
          </a:p>
        </p:txBody>
      </p:sp>
      <p:grpSp>
        <p:nvGrpSpPr>
          <p:cNvPr id="69" name="Group 68">
            <a:extLst>
              <a:ext uri="{FF2B5EF4-FFF2-40B4-BE49-F238E27FC236}">
                <a16:creationId xmlns:a16="http://schemas.microsoft.com/office/drawing/2014/main" id="{C3D1D288-6671-EA63-A0A0-D099D5798506}"/>
              </a:ext>
            </a:extLst>
          </p:cNvPr>
          <p:cNvGrpSpPr/>
          <p:nvPr/>
        </p:nvGrpSpPr>
        <p:grpSpPr>
          <a:xfrm>
            <a:off x="393192" y="4087848"/>
            <a:ext cx="11667744" cy="2264825"/>
            <a:chOff x="393192" y="3950208"/>
            <a:chExt cx="11576304" cy="2066544"/>
          </a:xfrm>
        </p:grpSpPr>
        <p:sp>
          <p:nvSpPr>
            <p:cNvPr id="17" name="Text 15"/>
            <p:cNvSpPr/>
            <p:nvPr/>
          </p:nvSpPr>
          <p:spPr>
            <a:xfrm>
              <a:off x="393192" y="3950208"/>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Orforglipron fails FDA or market disappointment</a:t>
              </a:r>
              <a:endParaRPr lang="en-US" sz="1200" dirty="0"/>
            </a:p>
          </p:txBody>
        </p:sp>
        <p:sp>
          <p:nvSpPr>
            <p:cNvPr id="18" name="Text 16"/>
            <p:cNvSpPr/>
            <p:nvPr/>
          </p:nvSpPr>
          <p:spPr>
            <a:xfrm>
              <a:off x="393192" y="4297680"/>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Retatrutide Ph3 miss — no next-gen obesity drug</a:t>
              </a:r>
              <a:endParaRPr lang="en-US" sz="1200" dirty="0"/>
            </a:p>
          </p:txBody>
        </p:sp>
        <p:sp>
          <p:nvSpPr>
            <p:cNvPr id="19" name="Text 17"/>
            <p:cNvSpPr/>
            <p:nvPr/>
          </p:nvSpPr>
          <p:spPr>
            <a:xfrm>
              <a:off x="393192" y="4645152"/>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Novo's CagriSema wins oral weight loss race</a:t>
              </a:r>
              <a:endParaRPr lang="en-US" sz="1200" dirty="0"/>
            </a:p>
          </p:txBody>
        </p:sp>
        <p:sp>
          <p:nvSpPr>
            <p:cNvPr id="20" name="Text 18"/>
            <p:cNvSpPr/>
            <p:nvPr/>
          </p:nvSpPr>
          <p:spPr>
            <a:xfrm>
              <a:off x="393192" y="4992624"/>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US Govt pricing deal expands to all Medicare drugs</a:t>
              </a:r>
              <a:endParaRPr lang="en-US" sz="1200" dirty="0"/>
            </a:p>
          </p:txBody>
        </p:sp>
        <p:sp>
          <p:nvSpPr>
            <p:cNvPr id="21" name="Text 19"/>
            <p:cNvSpPr/>
            <p:nvPr/>
          </p:nvSpPr>
          <p:spPr>
            <a:xfrm>
              <a:off x="393192" y="5340096"/>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Tariff-driven COGS spike erodes 83% gross margin</a:t>
              </a:r>
              <a:endParaRPr lang="en-US" sz="1200" dirty="0"/>
            </a:p>
          </p:txBody>
        </p:sp>
        <p:sp>
          <p:nvSpPr>
            <p:cNvPr id="22" name="Text 20"/>
            <p:cNvSpPr/>
            <p:nvPr/>
          </p:nvSpPr>
          <p:spPr>
            <a:xfrm>
              <a:off x="393192" y="5687568"/>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Multiple compression: 30x → 18x as growth slows to 8–10%</a:t>
              </a:r>
              <a:endParaRPr lang="en-US" sz="1200" dirty="0"/>
            </a:p>
          </p:txBody>
        </p:sp>
        <p:sp>
          <p:nvSpPr>
            <p:cNvPr id="35" name="Text 33"/>
            <p:cNvSpPr/>
            <p:nvPr/>
          </p:nvSpPr>
          <p:spPr>
            <a:xfrm>
              <a:off x="4398264" y="3950208"/>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FY2026 revenue guidance $80–83B achieved</a:t>
              </a:r>
              <a:endParaRPr lang="en-US" sz="1200" dirty="0"/>
            </a:p>
          </p:txBody>
        </p:sp>
        <p:sp>
          <p:nvSpPr>
            <p:cNvPr id="36" name="Text 34"/>
            <p:cNvSpPr/>
            <p:nvPr/>
          </p:nvSpPr>
          <p:spPr>
            <a:xfrm>
              <a:off x="4398264" y="4297680"/>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Orforglipron FDA approval Q2 2026 on schedule</a:t>
              </a:r>
              <a:endParaRPr lang="en-US" sz="1200" dirty="0"/>
            </a:p>
          </p:txBody>
        </p:sp>
        <p:sp>
          <p:nvSpPr>
            <p:cNvPr id="37" name="Text 35"/>
            <p:cNvSpPr/>
            <p:nvPr/>
          </p:nvSpPr>
          <p:spPr>
            <a:xfrm>
              <a:off x="4398264" y="4645152"/>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US Medicare obesity coverage begins July 2026</a:t>
              </a:r>
              <a:endParaRPr lang="en-US" sz="1200" dirty="0"/>
            </a:p>
          </p:txBody>
        </p:sp>
        <p:sp>
          <p:nvSpPr>
            <p:cNvPr id="38" name="Text 36"/>
            <p:cNvSpPr/>
            <p:nvPr/>
          </p:nvSpPr>
          <p:spPr>
            <a:xfrm>
              <a:off x="4398264" y="4992624"/>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Market share holds 60%+ vs Novo Nordisk</a:t>
              </a:r>
              <a:endParaRPr lang="en-US" sz="1200" dirty="0"/>
            </a:p>
          </p:txBody>
        </p:sp>
        <p:sp>
          <p:nvSpPr>
            <p:cNvPr id="39" name="Text 37"/>
            <p:cNvSpPr/>
            <p:nvPr/>
          </p:nvSpPr>
          <p:spPr>
            <a:xfrm>
              <a:off x="4398264" y="5340096"/>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EBITDA margin expands to 44–46%</a:t>
              </a:r>
              <a:endParaRPr lang="en-US" sz="1200" dirty="0"/>
            </a:p>
          </p:txBody>
        </p:sp>
        <p:sp>
          <p:nvSpPr>
            <p:cNvPr id="40" name="Text 38"/>
            <p:cNvSpPr/>
            <p:nvPr/>
          </p:nvSpPr>
          <p:spPr>
            <a:xfrm>
              <a:off x="4398264" y="5687568"/>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Kisunla reaches $3B+ by FY2026</a:t>
              </a:r>
              <a:endParaRPr lang="en-US" sz="1200" dirty="0"/>
            </a:p>
          </p:txBody>
        </p:sp>
        <p:sp>
          <p:nvSpPr>
            <p:cNvPr id="53" name="Text 51"/>
            <p:cNvSpPr/>
            <p:nvPr/>
          </p:nvSpPr>
          <p:spPr>
            <a:xfrm>
              <a:off x="8403336" y="3950208"/>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Retatrutide Ph3 shows &gt;25% wt loss — next blockbuster</a:t>
              </a:r>
              <a:endParaRPr lang="en-US" sz="1200" dirty="0"/>
            </a:p>
          </p:txBody>
        </p:sp>
        <p:sp>
          <p:nvSpPr>
            <p:cNvPr id="54" name="Text 52"/>
            <p:cNvSpPr/>
            <p:nvPr/>
          </p:nvSpPr>
          <p:spPr>
            <a:xfrm>
              <a:off x="8403336" y="4297680"/>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Inluriyo Alzheimer's approval — $10B+ peak sales</a:t>
              </a:r>
              <a:endParaRPr lang="en-US" sz="1200" dirty="0"/>
            </a:p>
          </p:txBody>
        </p:sp>
        <p:sp>
          <p:nvSpPr>
            <p:cNvPr id="55" name="Text 53"/>
            <p:cNvSpPr/>
            <p:nvPr/>
          </p:nvSpPr>
          <p:spPr>
            <a:xfrm>
              <a:off x="8403336" y="4645152"/>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Orforglipron dominates oral market, expands to 200M+ patients</a:t>
              </a:r>
              <a:endParaRPr lang="en-US" sz="1200" dirty="0"/>
            </a:p>
          </p:txBody>
        </p:sp>
        <p:sp>
          <p:nvSpPr>
            <p:cNvPr id="56" name="Text 54"/>
            <p:cNvSpPr/>
            <p:nvPr/>
          </p:nvSpPr>
          <p:spPr>
            <a:xfrm>
              <a:off x="8403336" y="4992624"/>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US/EU/Japan oral GLP-1 OTC approval wave begins</a:t>
              </a:r>
              <a:endParaRPr lang="en-US" sz="1200" dirty="0"/>
            </a:p>
          </p:txBody>
        </p:sp>
        <p:sp>
          <p:nvSpPr>
            <p:cNvPr id="57" name="Text 55"/>
            <p:cNvSpPr/>
            <p:nvPr/>
          </p:nvSpPr>
          <p:spPr>
            <a:xfrm>
              <a:off x="8403336" y="5340096"/>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Enterprise value re-rates to 'platform' multiple like MSFT</a:t>
              </a:r>
              <a:endParaRPr lang="en-US" sz="1200" dirty="0"/>
            </a:p>
          </p:txBody>
        </p:sp>
        <p:sp>
          <p:nvSpPr>
            <p:cNvPr id="58" name="Text 56"/>
            <p:cNvSpPr/>
            <p:nvPr/>
          </p:nvSpPr>
          <p:spPr>
            <a:xfrm>
              <a:off x="8403336" y="5687568"/>
              <a:ext cx="3566160" cy="329184"/>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 Revenue trajectory to $150B+ by 2030E confirmed</a:t>
              </a:r>
              <a:endParaRPr lang="en-US" sz="1200" dirty="0"/>
            </a:p>
          </p:txBody>
        </p:sp>
      </p:grpSp>
      <p:sp>
        <p:nvSpPr>
          <p:cNvPr id="59" name="Text 57"/>
          <p:cNvSpPr/>
          <p:nvPr/>
        </p:nvSpPr>
        <p:spPr>
          <a:xfrm>
            <a:off x="256032" y="6565392"/>
            <a:ext cx="11704320" cy="237744"/>
          </a:xfrm>
          <a:prstGeom prst="rect">
            <a:avLst/>
          </a:prstGeom>
          <a:noFill/>
          <a:ln/>
        </p:spPr>
        <p:txBody>
          <a:bodyPr wrap="square" rtlCol="0" anchor="ctr"/>
          <a:lstStyle/>
          <a:p>
            <a:pPr marL="0" indent="0">
              <a:buNone/>
            </a:pPr>
            <a:r>
              <a:rPr lang="en-US" sz="1000" i="1" dirty="0">
                <a:latin typeface="Calibri" pitchFamily="34" charset="0"/>
                <a:ea typeface="Calibri" pitchFamily="34" charset="-122"/>
                <a:cs typeface="Calibri" pitchFamily="34" charset="-120"/>
              </a:rPr>
              <a:t>Analyst consensus (12 analysts): Strong Buy  |  Avg 12m target: ~$1,050  |  Highest PT: $1,200  |  Leerink Outperform $1,100  |  Morgan Stanley OW $1,050. Not investment advice.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87468A5D-017B-D424-9A56-10392B002192}"/>
              </a:ext>
            </a:extLst>
          </p:cNvPr>
          <p:cNvGrpSpPr/>
          <p:nvPr/>
        </p:nvGrpSpPr>
        <p:grpSpPr>
          <a:xfrm>
            <a:off x="426720" y="1471168"/>
            <a:ext cx="11460480" cy="950976"/>
            <a:chOff x="304800" y="1410208"/>
            <a:chExt cx="11460480" cy="950976"/>
          </a:xfrm>
        </p:grpSpPr>
        <p:sp>
          <p:nvSpPr>
            <p:cNvPr id="5" name="Shape 3"/>
            <p:cNvSpPr/>
            <p:nvPr/>
          </p:nvSpPr>
          <p:spPr>
            <a:xfrm>
              <a:off x="304800" y="1410208"/>
              <a:ext cx="1828800" cy="950976"/>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6" name="Text 4"/>
            <p:cNvSpPr/>
            <p:nvPr/>
          </p:nvSpPr>
          <p:spPr>
            <a:xfrm>
              <a:off x="304800" y="1434592"/>
              <a:ext cx="1828800" cy="512064"/>
            </a:xfrm>
            <a:prstGeom prst="rect">
              <a:avLst/>
            </a:prstGeom>
            <a:noFill/>
            <a:ln/>
          </p:spPr>
          <p:txBody>
            <a:bodyPr wrap="square" rtlCol="0" anchor="ctr"/>
            <a:lstStyle/>
            <a:p>
              <a:pPr algn="ctr"/>
              <a:r>
                <a:rPr lang="en-US" sz="2400" b="1" dirty="0">
                  <a:solidFill>
                    <a:srgbClr val="C9952A"/>
                  </a:solidFill>
                  <a:latin typeface="Georgia" pitchFamily="34" charset="0"/>
                  <a:ea typeface="Georgia" pitchFamily="34" charset="-122"/>
                  <a:cs typeface="Georgia" pitchFamily="34" charset="-120"/>
                </a:rPr>
                <a:t>~$1,065</a:t>
              </a:r>
              <a:endParaRPr lang="en-US" sz="2400" dirty="0"/>
            </a:p>
          </p:txBody>
        </p:sp>
        <p:sp>
          <p:nvSpPr>
            <p:cNvPr id="7" name="Text 5"/>
            <p:cNvSpPr/>
            <p:nvPr/>
          </p:nvSpPr>
          <p:spPr>
            <a:xfrm>
              <a:off x="304800" y="1922272"/>
              <a:ext cx="1828800" cy="365760"/>
            </a:xfrm>
            <a:prstGeom prst="rect">
              <a:avLst/>
            </a:prstGeom>
            <a:noFill/>
            <a:ln/>
          </p:spPr>
          <p:txBody>
            <a:bodyPr wrap="square" rtlCol="0" anchor="ctr"/>
            <a:lstStyle/>
            <a:p>
              <a:pPr algn="ctr"/>
              <a:r>
                <a:rPr lang="en-US" sz="1133" dirty="0">
                  <a:solidFill>
                    <a:srgbClr val="94A3B8"/>
                  </a:solidFill>
                  <a:latin typeface="Calibri" pitchFamily="34" charset="0"/>
                  <a:ea typeface="Calibri" pitchFamily="34" charset="-122"/>
                  <a:cs typeface="Calibri" pitchFamily="34" charset="-120"/>
                </a:rPr>
                <a:t>CMP (May 2026)</a:t>
              </a:r>
              <a:endParaRPr lang="en-US" sz="1133" dirty="0"/>
            </a:p>
          </p:txBody>
        </p:sp>
        <p:sp>
          <p:nvSpPr>
            <p:cNvPr id="8" name="Shape 6"/>
            <p:cNvSpPr/>
            <p:nvPr/>
          </p:nvSpPr>
          <p:spPr>
            <a:xfrm>
              <a:off x="2231136" y="1410208"/>
              <a:ext cx="1828800" cy="950976"/>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9" name="Text 7"/>
            <p:cNvSpPr/>
            <p:nvPr/>
          </p:nvSpPr>
          <p:spPr>
            <a:xfrm>
              <a:off x="2231136" y="1434592"/>
              <a:ext cx="1828800" cy="512064"/>
            </a:xfrm>
            <a:prstGeom prst="rect">
              <a:avLst/>
            </a:prstGeom>
            <a:noFill/>
            <a:ln/>
          </p:spPr>
          <p:txBody>
            <a:bodyPr wrap="square" rtlCol="0" anchor="ctr"/>
            <a:lstStyle/>
            <a:p>
              <a:pPr algn="ctr"/>
              <a:r>
                <a:rPr lang="en-US" sz="2400" b="1" dirty="0">
                  <a:solidFill>
                    <a:srgbClr val="C9952A"/>
                  </a:solidFill>
                  <a:latin typeface="Georgia" pitchFamily="34" charset="0"/>
                  <a:ea typeface="Georgia" pitchFamily="34" charset="-122"/>
                  <a:cs typeface="Georgia" pitchFamily="34" charset="-120"/>
                </a:rPr>
                <a:t>~$1.0T</a:t>
              </a:r>
              <a:endParaRPr lang="en-US" sz="2400" dirty="0"/>
            </a:p>
          </p:txBody>
        </p:sp>
        <p:sp>
          <p:nvSpPr>
            <p:cNvPr id="10" name="Text 8"/>
            <p:cNvSpPr/>
            <p:nvPr/>
          </p:nvSpPr>
          <p:spPr>
            <a:xfrm>
              <a:off x="2231136" y="1922272"/>
              <a:ext cx="1828800" cy="365760"/>
            </a:xfrm>
            <a:prstGeom prst="rect">
              <a:avLst/>
            </a:prstGeom>
            <a:noFill/>
            <a:ln/>
          </p:spPr>
          <p:txBody>
            <a:bodyPr wrap="square" rtlCol="0" anchor="ctr"/>
            <a:lstStyle/>
            <a:p>
              <a:pPr algn="ctr"/>
              <a:r>
                <a:rPr lang="en-US" sz="1133" dirty="0">
                  <a:solidFill>
                    <a:srgbClr val="94A3B8"/>
                  </a:solidFill>
                  <a:latin typeface="Calibri" pitchFamily="34" charset="0"/>
                  <a:ea typeface="Calibri" pitchFamily="34" charset="-122"/>
                  <a:cs typeface="Calibri" pitchFamily="34" charset="-120"/>
                </a:rPr>
                <a:t>Market Cap</a:t>
              </a:r>
              <a:endParaRPr lang="en-US" sz="1133" dirty="0"/>
            </a:p>
          </p:txBody>
        </p:sp>
        <p:sp>
          <p:nvSpPr>
            <p:cNvPr id="11" name="Shape 9"/>
            <p:cNvSpPr/>
            <p:nvPr/>
          </p:nvSpPr>
          <p:spPr>
            <a:xfrm>
              <a:off x="4157472" y="1410208"/>
              <a:ext cx="1828800" cy="950976"/>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12" name="Text 10"/>
            <p:cNvSpPr/>
            <p:nvPr/>
          </p:nvSpPr>
          <p:spPr>
            <a:xfrm>
              <a:off x="4157472" y="1434592"/>
              <a:ext cx="1828800" cy="512064"/>
            </a:xfrm>
            <a:prstGeom prst="rect">
              <a:avLst/>
            </a:prstGeom>
            <a:noFill/>
            <a:ln/>
          </p:spPr>
          <p:txBody>
            <a:bodyPr wrap="square" rtlCol="0" anchor="ctr"/>
            <a:lstStyle/>
            <a:p>
              <a:pPr algn="ctr"/>
              <a:r>
                <a:rPr lang="en-US" sz="2400" b="1" dirty="0">
                  <a:solidFill>
                    <a:srgbClr val="C9952A"/>
                  </a:solidFill>
                  <a:latin typeface="Georgia" pitchFamily="34" charset="0"/>
                  <a:ea typeface="Georgia" pitchFamily="34" charset="-122"/>
                  <a:cs typeface="Georgia" pitchFamily="34" charset="-120"/>
                </a:rPr>
                <a:t>~46x</a:t>
              </a:r>
              <a:endParaRPr lang="en-US" sz="2400" dirty="0"/>
            </a:p>
          </p:txBody>
        </p:sp>
        <p:sp>
          <p:nvSpPr>
            <p:cNvPr id="13" name="Text 11"/>
            <p:cNvSpPr/>
            <p:nvPr/>
          </p:nvSpPr>
          <p:spPr>
            <a:xfrm>
              <a:off x="4157472" y="1922272"/>
              <a:ext cx="1828800" cy="365760"/>
            </a:xfrm>
            <a:prstGeom prst="rect">
              <a:avLst/>
            </a:prstGeom>
            <a:noFill/>
            <a:ln/>
          </p:spPr>
          <p:txBody>
            <a:bodyPr wrap="square" rtlCol="0" anchor="ctr"/>
            <a:lstStyle/>
            <a:p>
              <a:pPr algn="ctr"/>
              <a:r>
                <a:rPr lang="en-US" sz="1133" dirty="0">
                  <a:solidFill>
                    <a:srgbClr val="94A3B8"/>
                  </a:solidFill>
                  <a:latin typeface="Calibri" pitchFamily="34" charset="0"/>
                  <a:ea typeface="Calibri" pitchFamily="34" charset="-122"/>
                  <a:cs typeface="Calibri" pitchFamily="34" charset="-120"/>
                </a:rPr>
                <a:t>P/E (FY2025A)</a:t>
              </a:r>
              <a:endParaRPr lang="en-US" sz="1133" dirty="0"/>
            </a:p>
          </p:txBody>
        </p:sp>
        <p:sp>
          <p:nvSpPr>
            <p:cNvPr id="14" name="Shape 12"/>
            <p:cNvSpPr/>
            <p:nvPr/>
          </p:nvSpPr>
          <p:spPr>
            <a:xfrm>
              <a:off x="6083808" y="1410208"/>
              <a:ext cx="1828800" cy="950976"/>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15" name="Text 13"/>
            <p:cNvSpPr/>
            <p:nvPr/>
          </p:nvSpPr>
          <p:spPr>
            <a:xfrm>
              <a:off x="6083808" y="1434592"/>
              <a:ext cx="1828800" cy="512064"/>
            </a:xfrm>
            <a:prstGeom prst="rect">
              <a:avLst/>
            </a:prstGeom>
            <a:noFill/>
            <a:ln/>
          </p:spPr>
          <p:txBody>
            <a:bodyPr wrap="square" rtlCol="0" anchor="ctr"/>
            <a:lstStyle/>
            <a:p>
              <a:pPr algn="ctr"/>
              <a:r>
                <a:rPr lang="en-US" sz="2400" b="1" dirty="0">
                  <a:solidFill>
                    <a:srgbClr val="C9952A"/>
                  </a:solidFill>
                  <a:latin typeface="Georgia" pitchFamily="34" charset="0"/>
                  <a:ea typeface="Georgia" pitchFamily="34" charset="-122"/>
                  <a:cs typeface="Georgia" pitchFamily="34" charset="-120"/>
                </a:rPr>
                <a:t>~28–30x</a:t>
              </a:r>
              <a:endParaRPr lang="en-US" sz="2400" dirty="0"/>
            </a:p>
          </p:txBody>
        </p:sp>
        <p:sp>
          <p:nvSpPr>
            <p:cNvPr id="16" name="Text 14"/>
            <p:cNvSpPr/>
            <p:nvPr/>
          </p:nvSpPr>
          <p:spPr>
            <a:xfrm>
              <a:off x="6083808" y="1922272"/>
              <a:ext cx="1828800" cy="365760"/>
            </a:xfrm>
            <a:prstGeom prst="rect">
              <a:avLst/>
            </a:prstGeom>
            <a:noFill/>
            <a:ln/>
          </p:spPr>
          <p:txBody>
            <a:bodyPr wrap="square" rtlCol="0" anchor="ctr"/>
            <a:lstStyle/>
            <a:p>
              <a:pPr algn="ctr"/>
              <a:r>
                <a:rPr lang="en-US" sz="1133" dirty="0">
                  <a:solidFill>
                    <a:srgbClr val="94A3B8"/>
                  </a:solidFill>
                  <a:latin typeface="Calibri" pitchFamily="34" charset="0"/>
                  <a:ea typeface="Calibri" pitchFamily="34" charset="-122"/>
                  <a:cs typeface="Calibri" pitchFamily="34" charset="-120"/>
                </a:rPr>
                <a:t>P/E (FY2026E NTM)</a:t>
              </a:r>
              <a:endParaRPr lang="en-US" sz="1133" dirty="0"/>
            </a:p>
          </p:txBody>
        </p:sp>
        <p:sp>
          <p:nvSpPr>
            <p:cNvPr id="17" name="Shape 15"/>
            <p:cNvSpPr/>
            <p:nvPr/>
          </p:nvSpPr>
          <p:spPr>
            <a:xfrm>
              <a:off x="8010144" y="1410208"/>
              <a:ext cx="1828800" cy="950976"/>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18" name="Text 16"/>
            <p:cNvSpPr/>
            <p:nvPr/>
          </p:nvSpPr>
          <p:spPr>
            <a:xfrm>
              <a:off x="8010144" y="1434592"/>
              <a:ext cx="1828800" cy="512064"/>
            </a:xfrm>
            <a:prstGeom prst="rect">
              <a:avLst/>
            </a:prstGeom>
            <a:noFill/>
            <a:ln/>
          </p:spPr>
          <p:txBody>
            <a:bodyPr wrap="square" rtlCol="0" anchor="ctr"/>
            <a:lstStyle/>
            <a:p>
              <a:pPr algn="ctr"/>
              <a:r>
                <a:rPr lang="en-US" sz="2400" b="1" dirty="0">
                  <a:solidFill>
                    <a:srgbClr val="C9952A"/>
                  </a:solidFill>
                  <a:latin typeface="Georgia" pitchFamily="34" charset="0"/>
                  <a:ea typeface="Georgia" pitchFamily="34" charset="-122"/>
                  <a:cs typeface="Georgia" pitchFamily="34" charset="-120"/>
                </a:rPr>
                <a:t>$1,211</a:t>
              </a:r>
              <a:endParaRPr lang="en-US" sz="2400" dirty="0"/>
            </a:p>
          </p:txBody>
        </p:sp>
        <p:sp>
          <p:nvSpPr>
            <p:cNvPr id="19" name="Text 17"/>
            <p:cNvSpPr/>
            <p:nvPr/>
          </p:nvSpPr>
          <p:spPr>
            <a:xfrm>
              <a:off x="8010144" y="1922272"/>
              <a:ext cx="1828800" cy="365760"/>
            </a:xfrm>
            <a:prstGeom prst="rect">
              <a:avLst/>
            </a:prstGeom>
            <a:noFill/>
            <a:ln/>
          </p:spPr>
          <p:txBody>
            <a:bodyPr wrap="square" rtlCol="0" anchor="ctr"/>
            <a:lstStyle/>
            <a:p>
              <a:pPr algn="ctr"/>
              <a:r>
                <a:rPr lang="en-US" sz="1133" dirty="0">
                  <a:solidFill>
                    <a:srgbClr val="94A3B8"/>
                  </a:solidFill>
                  <a:latin typeface="Calibri" pitchFamily="34" charset="0"/>
                  <a:ea typeface="Calibri" pitchFamily="34" charset="-122"/>
                  <a:cs typeface="Calibri" pitchFamily="34" charset="-120"/>
                </a:rPr>
                <a:t>Consensus PT</a:t>
              </a:r>
              <a:endParaRPr lang="en-US" sz="1133" dirty="0"/>
            </a:p>
          </p:txBody>
        </p:sp>
        <p:sp>
          <p:nvSpPr>
            <p:cNvPr id="20" name="Shape 18"/>
            <p:cNvSpPr/>
            <p:nvPr/>
          </p:nvSpPr>
          <p:spPr>
            <a:xfrm>
              <a:off x="9936480" y="1410208"/>
              <a:ext cx="1828800" cy="950976"/>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21" name="Text 19"/>
            <p:cNvSpPr/>
            <p:nvPr/>
          </p:nvSpPr>
          <p:spPr>
            <a:xfrm>
              <a:off x="9936480" y="1434592"/>
              <a:ext cx="1828800" cy="512064"/>
            </a:xfrm>
            <a:prstGeom prst="rect">
              <a:avLst/>
            </a:prstGeom>
            <a:noFill/>
            <a:ln/>
          </p:spPr>
          <p:txBody>
            <a:bodyPr wrap="square" rtlCol="0" anchor="ctr"/>
            <a:lstStyle/>
            <a:p>
              <a:pPr algn="ctr"/>
              <a:r>
                <a:rPr lang="en-US" sz="2400" b="1" dirty="0">
                  <a:solidFill>
                    <a:srgbClr val="C9952A"/>
                  </a:solidFill>
                  <a:latin typeface="Georgia" pitchFamily="34" charset="0"/>
                  <a:ea typeface="Georgia" pitchFamily="34" charset="-122"/>
                  <a:cs typeface="Georgia" pitchFamily="34" charset="-120"/>
                </a:rPr>
                <a:t>$1,500</a:t>
              </a:r>
              <a:endParaRPr lang="en-US" sz="2400" dirty="0"/>
            </a:p>
          </p:txBody>
        </p:sp>
        <p:sp>
          <p:nvSpPr>
            <p:cNvPr id="22" name="Text 20"/>
            <p:cNvSpPr/>
            <p:nvPr/>
          </p:nvSpPr>
          <p:spPr>
            <a:xfrm>
              <a:off x="9936480" y="1922272"/>
              <a:ext cx="1828800" cy="365760"/>
            </a:xfrm>
            <a:prstGeom prst="rect">
              <a:avLst/>
            </a:prstGeom>
            <a:noFill/>
            <a:ln/>
          </p:spPr>
          <p:txBody>
            <a:bodyPr wrap="square" rtlCol="0" anchor="ctr"/>
            <a:lstStyle/>
            <a:p>
              <a:pPr algn="ctr"/>
              <a:r>
                <a:rPr lang="en-US" sz="1133" dirty="0">
                  <a:solidFill>
                    <a:srgbClr val="94A3B8"/>
                  </a:solidFill>
                  <a:latin typeface="Calibri" pitchFamily="34" charset="0"/>
                  <a:ea typeface="Calibri" pitchFamily="34" charset="-122"/>
                  <a:cs typeface="Calibri" pitchFamily="34" charset="-120"/>
                </a:rPr>
                <a:t>Highest PT</a:t>
              </a:r>
              <a:endParaRPr lang="en-US" sz="1133" dirty="0"/>
            </a:p>
          </p:txBody>
        </p:sp>
      </p:grpSp>
      <p:sp>
        <p:nvSpPr>
          <p:cNvPr id="23" name="Text 21"/>
          <p:cNvSpPr/>
          <p:nvPr/>
        </p:nvSpPr>
        <p:spPr>
          <a:xfrm>
            <a:off x="426720" y="2374392"/>
            <a:ext cx="11338560" cy="426720"/>
          </a:xfrm>
          <a:prstGeom prst="rect">
            <a:avLst/>
          </a:prstGeom>
          <a:noFill/>
          <a:ln/>
        </p:spPr>
        <p:txBody>
          <a:bodyPr wrap="square" rtlCol="0" anchor="ctr"/>
          <a:lstStyle/>
          <a:p>
            <a:r>
              <a:rPr lang="en-US" sz="1733" b="1" dirty="0">
                <a:solidFill>
                  <a:srgbClr val="12203A"/>
                </a:solidFill>
                <a:latin typeface="Calibri" pitchFamily="34" charset="0"/>
                <a:ea typeface="Calibri" pitchFamily="34" charset="-122"/>
                <a:cs typeface="Calibri" pitchFamily="34" charset="-120"/>
              </a:rPr>
              <a:t>Peer Valuation Comparison</a:t>
            </a:r>
            <a:endParaRPr lang="en-US" sz="1733" dirty="0"/>
          </a:p>
        </p:txBody>
      </p:sp>
      <p:graphicFrame>
        <p:nvGraphicFramePr>
          <p:cNvPr id="24" name="Table 0"/>
          <p:cNvGraphicFramePr>
            <a:graphicFrameLocks noGrp="1"/>
          </p:cNvGraphicFramePr>
          <p:nvPr/>
        </p:nvGraphicFramePr>
        <p:xfrm>
          <a:off x="426720" y="2743200"/>
          <a:ext cx="11338560" cy="3068320"/>
        </p:xfrm>
        <a:graphic>
          <a:graphicData uri="http://schemas.openxmlformats.org/drawingml/2006/table">
            <a:tbl>
              <a:tblPr/>
              <a:tblGrid>
                <a:gridCol w="207264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2682240">
                  <a:extLst>
                    <a:ext uri="{9D8B030D-6E8A-4147-A177-3AD203B41FA5}">
                      <a16:colId xmlns:a16="http://schemas.microsoft.com/office/drawing/2014/main" val="20006"/>
                    </a:ext>
                  </a:extLst>
                </a:gridCol>
              </a:tblGrid>
              <a:tr h="4267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Ticker</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FY2025 Rev</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FY2026E Rev</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NTM P/E</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Rating</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Key Differentiator</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12203A"/>
                    </a:solidFill>
                  </a:tcPr>
                </a:tc>
                <a:extLst>
                  <a:ext uri="{0D108BD9-81ED-4DB2-BD59-A6C34878D82A}">
                    <a16:rowId xmlns:a16="http://schemas.microsoft.com/office/drawing/2014/main" val="10000"/>
                  </a:ext>
                </a:extLst>
              </a:tr>
              <a:tr h="528320">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Eli Lilly</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LLY</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$65.2B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$82–85B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~29x</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Strong Buy</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Dual agonist + oral GLP-1 + pipeline depth</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8320">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Novo Nordisk</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NVO</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~$45B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~$52B+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~20x</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Buy</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GLP-1 pioneer; scale; Ozempic/Wegovy brand</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8320">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AstraZeneca</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AZN</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~$54B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~$60B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~18x</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Buy</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Oncology + CVRM; no obesity play yet</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8320">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Pfizer</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PFE</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~$63B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~$65B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~12x</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Hold</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Danuglipron oral GLP-1 still early; pipeline rebuilding</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8320">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Johnson &amp; Johnson</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JNJ</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~$88B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~$92B</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~15x</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Hold</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tc>
                  <a:txBody>
                    <a:bodyPr/>
                    <a:lstStyle/>
                    <a:p>
                      <a:pPr marL="0" indent="0">
                        <a:buNone/>
                      </a:pPr>
                      <a:r>
                        <a:rPr lang="en-US" sz="1300" dirty="0">
                          <a:solidFill>
                            <a:srgbClr val="12203A"/>
                          </a:solidFill>
                          <a:latin typeface="Calibri" pitchFamily="34" charset="0"/>
                          <a:ea typeface="Calibri" pitchFamily="34" charset="-122"/>
                          <a:cs typeface="Calibri" pitchFamily="34" charset="-120"/>
                        </a:rPr>
                        <a:t>MedTech + pharma; no GLP-1 exposure</a:t>
                      </a:r>
                      <a:endParaRPr lang="en-US" sz="1300" dirty="0">
                        <a:latin typeface="Calibri" charset="0"/>
                        <a:ea typeface="Calibri" charset="0"/>
                        <a:cs typeface="Calibri" charset="0"/>
                      </a:endParaRPr>
                    </a:p>
                  </a:txBody>
                  <a:tcPr marL="121920" marR="121920" marT="60960" marB="60960">
                    <a:lnL w="6350" cap="flat" cmpd="sng" algn="ctr">
                      <a:solidFill>
                        <a:srgbClr val="E8ECF0"/>
                      </a:solidFill>
                      <a:prstDash val="solid"/>
                      <a:round/>
                      <a:headEnd type="none" w="med" len="med"/>
                      <a:tailEnd type="none" w="med" len="med"/>
                    </a:lnL>
                    <a:lnR w="6350" cap="flat" cmpd="sng" algn="ctr">
                      <a:solidFill>
                        <a:srgbClr val="E8ECF0"/>
                      </a:solidFill>
                      <a:prstDash val="solid"/>
                      <a:round/>
                      <a:headEnd type="none" w="med" len="med"/>
                      <a:tailEnd type="none" w="med" len="med"/>
                    </a:lnR>
                    <a:lnT w="6350" cap="flat" cmpd="sng" algn="ctr">
                      <a:solidFill>
                        <a:srgbClr val="E8ECF0"/>
                      </a:solidFill>
                      <a:prstDash val="solid"/>
                      <a:round/>
                      <a:headEnd type="none" w="med" len="med"/>
                      <a:tailEnd type="none" w="med" len="med"/>
                    </a:lnT>
                    <a:lnB w="6350" cap="flat" cmpd="sng" algn="ctr">
                      <a:solidFill>
                        <a:srgbClr val="E8EC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hape 22"/>
          <p:cNvSpPr/>
          <p:nvPr/>
        </p:nvSpPr>
        <p:spPr>
          <a:xfrm>
            <a:off x="426720" y="5364480"/>
            <a:ext cx="11338560" cy="1371600"/>
          </a:xfrm>
          <a:prstGeom prst="rect">
            <a:avLst/>
          </a:prstGeom>
          <a:solidFill>
            <a:srgbClr val="12203A"/>
          </a:solidFill>
          <a:ln w="12700">
            <a:solidFill>
              <a:srgbClr val="12203A"/>
            </a:solidFill>
            <a:prstDash val="solid"/>
          </a:ln>
          <a:effectLst>
            <a:outerShdw blurRad="101600" dist="25400" dir="8100000" algn="bl" rotWithShape="0">
              <a:srgbClr val="000000">
                <a:alpha val="10000"/>
              </a:srgbClr>
            </a:outerShdw>
          </a:effectLst>
        </p:spPr>
      </p:sp>
      <p:sp>
        <p:nvSpPr>
          <p:cNvPr id="26" name="Text 23"/>
          <p:cNvSpPr/>
          <p:nvPr/>
        </p:nvSpPr>
        <p:spPr>
          <a:xfrm>
            <a:off x="670560" y="5425440"/>
            <a:ext cx="10972800" cy="341376"/>
          </a:xfrm>
          <a:prstGeom prst="rect">
            <a:avLst/>
          </a:prstGeom>
          <a:noFill/>
          <a:ln/>
        </p:spPr>
        <p:txBody>
          <a:bodyPr wrap="square" rtlCol="0" anchor="ctr"/>
          <a:lstStyle/>
          <a:p>
            <a:r>
              <a:rPr lang="en-US" sz="1467" b="1" dirty="0">
                <a:solidFill>
                  <a:srgbClr val="C9952A"/>
                </a:solidFill>
                <a:latin typeface="Calibri" pitchFamily="34" charset="0"/>
                <a:ea typeface="Calibri" pitchFamily="34" charset="-122"/>
                <a:cs typeface="Calibri" pitchFamily="34" charset="-120"/>
              </a:rPr>
              <a:t>KEY VALUATION INSIGHT</a:t>
            </a:r>
            <a:endParaRPr lang="en-US" sz="1467" dirty="0"/>
          </a:p>
        </p:txBody>
      </p:sp>
      <p:sp>
        <p:nvSpPr>
          <p:cNvPr id="27" name="Text 24"/>
          <p:cNvSpPr/>
          <p:nvPr/>
        </p:nvSpPr>
        <p:spPr>
          <a:xfrm>
            <a:off x="670560" y="5754624"/>
            <a:ext cx="11094720" cy="853440"/>
          </a:xfrm>
          <a:prstGeom prst="rect">
            <a:avLst/>
          </a:prstGeom>
          <a:noFill/>
          <a:ln/>
        </p:spPr>
        <p:txBody>
          <a:bodyPr wrap="square" rtlCol="0" anchor="ctr"/>
          <a:lstStyle/>
          <a:p>
            <a:r>
              <a:rPr lang="en-US" sz="1400" dirty="0">
                <a:solidFill>
                  <a:srgbClr val="F8F4EF"/>
                </a:solidFill>
                <a:latin typeface="Calibri" pitchFamily="34" charset="0"/>
                <a:ea typeface="Calibri" pitchFamily="34" charset="-122"/>
                <a:cs typeface="Calibri" pitchFamily="34" charset="-120"/>
              </a:rPr>
              <a:t>Lilly trades at ~2x Novo's P/E multiple — reflecting the market's pricing of retatrutide optionality + oral GLP-1 first-mover advantage + stronger pipeline vs. any biopharma peer. The premium is justified IF FY2026 guidance is met ($82–85B) and retatrutide advances cleanly. A miss on either — especially supply constraints persisting or IRA pricing pressure — could rapidly compress the multiple back toward 20–22x, implying 25–30% downside. This is a high-quality compounder at a growth-stock valuation.</a:t>
            </a:r>
            <a:endParaRPr lang="en-US" sz="1400" dirty="0"/>
          </a:p>
        </p:txBody>
      </p:sp>
      <p:sp>
        <p:nvSpPr>
          <p:cNvPr id="28" name="Shape 0">
            <a:extLst>
              <a:ext uri="{FF2B5EF4-FFF2-40B4-BE49-F238E27FC236}">
                <a16:creationId xmlns:a16="http://schemas.microsoft.com/office/drawing/2014/main" id="{8C164561-F844-122E-7615-EF02BB2AF05B}"/>
              </a:ext>
            </a:extLst>
          </p:cNvPr>
          <p:cNvSpPr/>
          <p:nvPr/>
        </p:nvSpPr>
        <p:spPr>
          <a:xfrm>
            <a:off x="0" y="0"/>
            <a:ext cx="12192000" cy="914400"/>
          </a:xfrm>
          <a:prstGeom prst="rect">
            <a:avLst/>
          </a:prstGeom>
          <a:solidFill>
            <a:srgbClr val="1E293B"/>
          </a:solidFill>
          <a:ln w="12700">
            <a:solidFill>
              <a:srgbClr val="1E293B"/>
            </a:solidFill>
            <a:prstDash val="solid"/>
          </a:ln>
        </p:spPr>
      </p:sp>
      <p:sp>
        <p:nvSpPr>
          <p:cNvPr id="29" name="Shape 1">
            <a:extLst>
              <a:ext uri="{FF2B5EF4-FFF2-40B4-BE49-F238E27FC236}">
                <a16:creationId xmlns:a16="http://schemas.microsoft.com/office/drawing/2014/main" id="{4A020A39-925C-875D-A71D-61AB931701E7}"/>
              </a:ext>
            </a:extLst>
          </p:cNvPr>
          <p:cNvSpPr/>
          <p:nvPr/>
        </p:nvSpPr>
        <p:spPr>
          <a:xfrm>
            <a:off x="0" y="0"/>
            <a:ext cx="463296" cy="914400"/>
          </a:xfrm>
          <a:prstGeom prst="rect">
            <a:avLst/>
          </a:prstGeom>
          <a:solidFill>
            <a:srgbClr val="00B4D8"/>
          </a:solidFill>
          <a:ln w="12700">
            <a:solidFill>
              <a:srgbClr val="00B4D8"/>
            </a:solidFill>
            <a:prstDash val="solid"/>
          </a:ln>
        </p:spPr>
      </p:sp>
      <p:sp>
        <p:nvSpPr>
          <p:cNvPr id="30" name="Text 2">
            <a:extLst>
              <a:ext uri="{FF2B5EF4-FFF2-40B4-BE49-F238E27FC236}">
                <a16:creationId xmlns:a16="http://schemas.microsoft.com/office/drawing/2014/main" id="{448760BE-61EE-B8EF-CA91-B747CF9FF9E4}"/>
              </a:ext>
            </a:extLst>
          </p:cNvPr>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10: VALUATION FRAMEWORK &amp; PEER COMPARISON</a:t>
            </a:r>
            <a:endParaRPr lang="en-US" sz="2267" dirty="0"/>
          </a:p>
        </p:txBody>
      </p:sp>
      <p:sp>
        <p:nvSpPr>
          <p:cNvPr id="32" name="Text 2">
            <a:extLst>
              <a:ext uri="{FF2B5EF4-FFF2-40B4-BE49-F238E27FC236}">
                <a16:creationId xmlns:a16="http://schemas.microsoft.com/office/drawing/2014/main" id="{2920358A-E7AB-2AE9-7423-0D5C89F6D648}"/>
              </a:ext>
            </a:extLst>
          </p:cNvPr>
          <p:cNvSpPr/>
          <p:nvPr/>
        </p:nvSpPr>
        <p:spPr>
          <a:xfrm>
            <a:off x="463296" y="965200"/>
            <a:ext cx="10972800" cy="365760"/>
          </a:xfrm>
          <a:prstGeom prst="rect">
            <a:avLst/>
          </a:prstGeom>
          <a:noFill/>
          <a:ln/>
        </p:spPr>
        <p:txBody>
          <a:bodyPr wrap="square" rtlCol="0" anchor="ctr"/>
          <a:lstStyle/>
          <a:p>
            <a:r>
              <a:rPr lang="en-US" sz="1467" i="1" dirty="0">
                <a:solidFill>
                  <a:schemeClr val="accent5">
                    <a:lumMod val="50000"/>
                  </a:schemeClr>
                </a:solidFill>
                <a:latin typeface="Calibri" pitchFamily="34" charset="0"/>
                <a:ea typeface="Calibri" pitchFamily="34" charset="-122"/>
                <a:cs typeface="Calibri" pitchFamily="34" charset="-120"/>
              </a:rPr>
              <a:t>Lilly commands a premium valuation — justified by pipeline depth and revenue growth trajectory</a:t>
            </a:r>
            <a:endParaRPr lang="en-US" sz="1467" i="1" dirty="0">
              <a:solidFill>
                <a:schemeClr val="accent5">
                  <a:lumMod val="50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5AAA41D3-CC32-8ECF-0C0A-204E9FC5CA78}"/>
              </a:ext>
            </a:extLst>
          </p:cNvPr>
          <p:cNvGrpSpPr/>
          <p:nvPr/>
        </p:nvGrpSpPr>
        <p:grpSpPr>
          <a:xfrm>
            <a:off x="463296" y="1466353"/>
            <a:ext cx="11582400" cy="4634948"/>
            <a:chOff x="426720" y="1219200"/>
            <a:chExt cx="11582400" cy="5364480"/>
          </a:xfrm>
        </p:grpSpPr>
        <p:sp>
          <p:nvSpPr>
            <p:cNvPr id="5" name="Shape 3"/>
            <p:cNvSpPr/>
            <p:nvPr/>
          </p:nvSpPr>
          <p:spPr>
            <a:xfrm>
              <a:off x="426720" y="1219200"/>
              <a:ext cx="5669280" cy="262128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6" name="Shape 4"/>
            <p:cNvSpPr/>
            <p:nvPr/>
          </p:nvSpPr>
          <p:spPr>
            <a:xfrm>
              <a:off x="426720" y="1219200"/>
              <a:ext cx="5669280" cy="426720"/>
            </a:xfrm>
            <a:prstGeom prst="rect">
              <a:avLst/>
            </a:prstGeom>
            <a:solidFill>
              <a:srgbClr val="8B0000"/>
            </a:solidFill>
            <a:ln w="12700">
              <a:solidFill>
                <a:srgbClr val="8B0000"/>
              </a:solidFill>
              <a:prstDash val="solid"/>
            </a:ln>
          </p:spPr>
        </p:sp>
        <p:sp>
          <p:nvSpPr>
            <p:cNvPr id="7" name="Text 5"/>
            <p:cNvSpPr/>
            <p:nvPr/>
          </p:nvSpPr>
          <p:spPr>
            <a:xfrm>
              <a:off x="573024" y="1280160"/>
              <a:ext cx="5364480" cy="341376"/>
            </a:xfrm>
            <a:prstGeom prst="rect">
              <a:avLst/>
            </a:prstGeom>
            <a:noFill/>
            <a:ln/>
          </p:spPr>
          <p:txBody>
            <a:bodyPr wrap="square" rtlCol="0" anchor="ctr"/>
            <a:lstStyle/>
            <a:p>
              <a:r>
                <a:rPr lang="en-US" sz="1467" b="1" dirty="0">
                  <a:solidFill>
                    <a:srgbClr val="FFFFFF"/>
                  </a:solidFill>
                  <a:latin typeface="Calibri" pitchFamily="34" charset="0"/>
                  <a:ea typeface="Calibri" pitchFamily="34" charset="-122"/>
                  <a:cs typeface="Calibri" pitchFamily="34" charset="-120"/>
                </a:rPr>
                <a:t>Q2/Q3 2026 Earnings Metrics</a:t>
              </a:r>
              <a:endParaRPr lang="en-US" sz="1467" dirty="0"/>
            </a:p>
          </p:txBody>
        </p:sp>
        <p:sp>
          <p:nvSpPr>
            <p:cNvPr id="8" name="Text 6"/>
            <p:cNvSpPr/>
            <p:nvPr/>
          </p:nvSpPr>
          <p:spPr>
            <a:xfrm>
              <a:off x="609600" y="1731264"/>
              <a:ext cx="5364480" cy="207264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Revenue vs $21–23B Q2 consensus — is H2 acceleration on track?</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Mounjaro + Zepbound volume growth; are supply constraints easing?</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Foundayo (orforglipron) early uptake data — initial patient starts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Non-GAAP gross margin trajectory: targeting 83–85% for 2026</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Full-year guidance reiterated or raised — critical confidence signal</a:t>
              </a:r>
              <a:endParaRPr lang="en-US" sz="1400" dirty="0"/>
            </a:p>
          </p:txBody>
        </p:sp>
        <p:sp>
          <p:nvSpPr>
            <p:cNvPr id="9" name="Shape 7"/>
            <p:cNvSpPr/>
            <p:nvPr/>
          </p:nvSpPr>
          <p:spPr>
            <a:xfrm>
              <a:off x="6339840" y="1219200"/>
              <a:ext cx="5669280" cy="262128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10" name="Shape 8"/>
            <p:cNvSpPr/>
            <p:nvPr/>
          </p:nvSpPr>
          <p:spPr>
            <a:xfrm>
              <a:off x="6339840" y="1219200"/>
              <a:ext cx="5669280" cy="426720"/>
            </a:xfrm>
            <a:prstGeom prst="rect">
              <a:avLst/>
            </a:prstGeom>
            <a:solidFill>
              <a:srgbClr val="0F6B8A"/>
            </a:solidFill>
            <a:ln w="12700">
              <a:solidFill>
                <a:srgbClr val="0F6B8A"/>
              </a:solidFill>
              <a:prstDash val="solid"/>
            </a:ln>
          </p:spPr>
        </p:sp>
        <p:sp>
          <p:nvSpPr>
            <p:cNvPr id="11" name="Text 9"/>
            <p:cNvSpPr/>
            <p:nvPr/>
          </p:nvSpPr>
          <p:spPr>
            <a:xfrm>
              <a:off x="6486144" y="1280160"/>
              <a:ext cx="5364480" cy="341376"/>
            </a:xfrm>
            <a:prstGeom prst="rect">
              <a:avLst/>
            </a:prstGeom>
            <a:noFill/>
            <a:ln/>
          </p:spPr>
          <p:txBody>
            <a:bodyPr wrap="square" rtlCol="0" anchor="ctr"/>
            <a:lstStyle/>
            <a:p>
              <a:r>
                <a:rPr lang="en-US" sz="1467" b="1" dirty="0">
                  <a:solidFill>
                    <a:srgbClr val="FFFFFF"/>
                  </a:solidFill>
                  <a:latin typeface="Calibri" pitchFamily="34" charset="0"/>
                  <a:ea typeface="Calibri" pitchFamily="34" charset="-122"/>
                  <a:cs typeface="Calibri" pitchFamily="34" charset="-120"/>
                </a:rPr>
                <a:t>Pipeline Monitoring</a:t>
              </a:r>
              <a:endParaRPr lang="en-US" sz="1467" dirty="0"/>
            </a:p>
          </p:txBody>
        </p:sp>
        <p:sp>
          <p:nvSpPr>
            <p:cNvPr id="12" name="Text 10"/>
            <p:cNvSpPr/>
            <p:nvPr/>
          </p:nvSpPr>
          <p:spPr>
            <a:xfrm>
              <a:off x="6522720" y="1731264"/>
              <a:ext cx="5364480" cy="207264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Retatrutide NDA filing timeline — Q3/Q4 2026 expected submission</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Retatrutide Phase 3 safety data — any adverse event signals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Kisunla global rollout — prescriber adoption curves in EU/Japan</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Lebrikizumab (atopic dermatitis) US market share vs Dupixent</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Gene medicine program milestones at Lebanon Advanced Therapies</a:t>
              </a:r>
              <a:endParaRPr lang="en-US" sz="1400" dirty="0"/>
            </a:p>
          </p:txBody>
        </p:sp>
        <p:sp>
          <p:nvSpPr>
            <p:cNvPr id="13" name="Shape 11"/>
            <p:cNvSpPr/>
            <p:nvPr/>
          </p:nvSpPr>
          <p:spPr>
            <a:xfrm>
              <a:off x="426720" y="3962400"/>
              <a:ext cx="5669280" cy="262128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14" name="Shape 12"/>
            <p:cNvSpPr/>
            <p:nvPr/>
          </p:nvSpPr>
          <p:spPr>
            <a:xfrm>
              <a:off x="426720" y="3962400"/>
              <a:ext cx="5669280" cy="426720"/>
            </a:xfrm>
            <a:prstGeom prst="rect">
              <a:avLst/>
            </a:prstGeom>
            <a:solidFill>
              <a:srgbClr val="D4691E"/>
            </a:solidFill>
            <a:ln w="12700">
              <a:solidFill>
                <a:srgbClr val="D4691E"/>
              </a:solidFill>
              <a:prstDash val="solid"/>
            </a:ln>
          </p:spPr>
        </p:sp>
        <p:sp>
          <p:nvSpPr>
            <p:cNvPr id="15" name="Text 13"/>
            <p:cNvSpPr/>
            <p:nvPr/>
          </p:nvSpPr>
          <p:spPr>
            <a:xfrm>
              <a:off x="573024" y="4023360"/>
              <a:ext cx="5364480" cy="341376"/>
            </a:xfrm>
            <a:prstGeom prst="rect">
              <a:avLst/>
            </a:prstGeom>
            <a:noFill/>
            <a:ln/>
          </p:spPr>
          <p:txBody>
            <a:bodyPr wrap="square" rtlCol="0" anchor="ctr"/>
            <a:lstStyle/>
            <a:p>
              <a:r>
                <a:rPr lang="en-US" sz="1467" b="1" dirty="0">
                  <a:solidFill>
                    <a:srgbClr val="FFFFFF"/>
                  </a:solidFill>
                  <a:latin typeface="Calibri" pitchFamily="34" charset="0"/>
                  <a:ea typeface="Calibri" pitchFamily="34" charset="-122"/>
                  <a:cs typeface="Calibri" pitchFamily="34" charset="-120"/>
                </a:rPr>
                <a:t>Manufacturing &amp; Supply</a:t>
              </a:r>
              <a:endParaRPr lang="en-US" sz="1467" dirty="0"/>
            </a:p>
          </p:txBody>
        </p:sp>
        <p:sp>
          <p:nvSpPr>
            <p:cNvPr id="16" name="Text 14"/>
            <p:cNvSpPr/>
            <p:nvPr/>
          </p:nvSpPr>
          <p:spPr>
            <a:xfrm>
              <a:off x="609600" y="4474464"/>
              <a:ext cx="5364480" cy="207264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Lebanon API site construction milestones — on track for 2027 opening?</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Zepbound/Mounjaro supply situation — shortage notifications declining?</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Compounding pharmacy legal status — FDA enforcement effectiveness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International market entry pace — Zepbound EU/Asia approvals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Capital deployment efficiency — total capex vs revenue output ratio</a:t>
              </a:r>
              <a:endParaRPr lang="en-US" sz="1400" dirty="0"/>
            </a:p>
          </p:txBody>
        </p:sp>
        <p:sp>
          <p:nvSpPr>
            <p:cNvPr id="17" name="Shape 15"/>
            <p:cNvSpPr/>
            <p:nvPr/>
          </p:nvSpPr>
          <p:spPr>
            <a:xfrm>
              <a:off x="6339840" y="3962400"/>
              <a:ext cx="5669280" cy="2621280"/>
            </a:xfrm>
            <a:prstGeom prst="rect">
              <a:avLst/>
            </a:prstGeom>
            <a:solidFill>
              <a:srgbClr val="FFFFFF"/>
            </a:solidFill>
            <a:ln w="12700">
              <a:solidFill>
                <a:srgbClr val="E8ECF0"/>
              </a:solidFill>
              <a:prstDash val="solid"/>
            </a:ln>
            <a:effectLst>
              <a:outerShdw blurRad="101600" dist="25400" dir="8100000" algn="bl" rotWithShape="0">
                <a:srgbClr val="000000">
                  <a:alpha val="10000"/>
                </a:srgbClr>
              </a:outerShdw>
            </a:effectLst>
          </p:spPr>
        </p:sp>
        <p:sp>
          <p:nvSpPr>
            <p:cNvPr id="18" name="Shape 16"/>
            <p:cNvSpPr/>
            <p:nvPr/>
          </p:nvSpPr>
          <p:spPr>
            <a:xfrm>
              <a:off x="6339840" y="3962400"/>
              <a:ext cx="5669280" cy="426720"/>
            </a:xfrm>
            <a:prstGeom prst="rect">
              <a:avLst/>
            </a:prstGeom>
            <a:solidFill>
              <a:srgbClr val="4A5568"/>
            </a:solidFill>
            <a:ln w="12700">
              <a:solidFill>
                <a:srgbClr val="4A5568"/>
              </a:solidFill>
              <a:prstDash val="solid"/>
            </a:ln>
          </p:spPr>
        </p:sp>
        <p:sp>
          <p:nvSpPr>
            <p:cNvPr id="19" name="Text 17"/>
            <p:cNvSpPr/>
            <p:nvPr/>
          </p:nvSpPr>
          <p:spPr>
            <a:xfrm>
              <a:off x="6486144" y="4023360"/>
              <a:ext cx="5364480" cy="341376"/>
            </a:xfrm>
            <a:prstGeom prst="rect">
              <a:avLst/>
            </a:prstGeom>
            <a:noFill/>
            <a:ln/>
          </p:spPr>
          <p:txBody>
            <a:bodyPr wrap="square" rtlCol="0" anchor="ctr"/>
            <a:lstStyle/>
            <a:p>
              <a:r>
                <a:rPr lang="en-US" sz="1467" b="1" dirty="0">
                  <a:solidFill>
                    <a:srgbClr val="FFFFFF"/>
                  </a:solidFill>
                  <a:latin typeface="Calibri" pitchFamily="34" charset="0"/>
                  <a:ea typeface="Calibri" pitchFamily="34" charset="-122"/>
                  <a:cs typeface="Calibri" pitchFamily="34" charset="-120"/>
                </a:rPr>
                <a:t>Regulatory &amp; Policy Watchlist</a:t>
              </a:r>
              <a:endParaRPr lang="en-US" sz="1467" dirty="0"/>
            </a:p>
          </p:txBody>
        </p:sp>
        <p:sp>
          <p:nvSpPr>
            <p:cNvPr id="20" name="Text 18"/>
            <p:cNvSpPr/>
            <p:nvPr/>
          </p:nvSpPr>
          <p:spPr>
            <a:xfrm>
              <a:off x="6522720" y="4474464"/>
              <a:ext cx="5364480" cy="2072640"/>
            </a:xfrm>
            <a:prstGeom prst="rect">
              <a:avLst/>
            </a:prstGeom>
            <a:noFill/>
            <a:ln/>
          </p:spPr>
          <p:txBody>
            <a:bodyPr wrap="square" rtlCol="0" anchor="ctr"/>
            <a:lstStyle/>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IRA negotiations — is tirzepatide selected for Medicare price control?</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Medicare Part D obesity drug expansion — congressional progress</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FDA Foundayo additional indications (diabetes + cardiometabolic)</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EU AI Act &amp; data privacy for LillyDirect platform compliance</a:t>
              </a:r>
              <a:endParaRPr lang="en-US" sz="1400" dirty="0"/>
            </a:p>
            <a:p>
              <a:pPr marL="457189" indent="-457189">
                <a:buSzPct val="100000"/>
                <a:buChar char="•"/>
              </a:pPr>
              <a:r>
                <a:rPr lang="en-US" sz="1400" dirty="0">
                  <a:solidFill>
                    <a:srgbClr val="12203A"/>
                  </a:solidFill>
                  <a:latin typeface="Calibri" pitchFamily="34" charset="0"/>
                  <a:ea typeface="Calibri" pitchFamily="34" charset="-122"/>
                  <a:cs typeface="Calibri" pitchFamily="34" charset="-120"/>
                </a:rPr>
                <a:t>Trump administration drug pricing policy — executive order risks</a:t>
              </a:r>
              <a:endParaRPr lang="en-US" sz="1400" dirty="0"/>
            </a:p>
          </p:txBody>
        </p:sp>
      </p:grpSp>
      <p:sp>
        <p:nvSpPr>
          <p:cNvPr id="22" name="Text 20"/>
          <p:cNvSpPr/>
          <p:nvPr/>
        </p:nvSpPr>
        <p:spPr>
          <a:xfrm>
            <a:off x="621792" y="6394839"/>
            <a:ext cx="11094720" cy="316992"/>
          </a:xfrm>
          <a:prstGeom prst="rect">
            <a:avLst/>
          </a:prstGeom>
          <a:solidFill>
            <a:srgbClr val="FEF3C7"/>
          </a:solidFill>
          <a:ln w="12700">
            <a:solidFill>
              <a:srgbClr val="F59E0B"/>
            </a:solidFill>
            <a:prstDash val="solid"/>
          </a:ln>
        </p:spPr>
        <p:txBody>
          <a:bodyPr wrap="square" rtlCol="0" anchor="ctr"/>
          <a:lstStyle/>
          <a:p>
            <a:r>
              <a:rPr lang="en-US" sz="1267" b="1" dirty="0">
                <a:latin typeface="Calibri" pitchFamily="34" charset="0"/>
                <a:ea typeface="Calibri" pitchFamily="34" charset="-122"/>
                <a:cs typeface="Calibri" pitchFamily="34" charset="-120"/>
              </a:rPr>
              <a:t>CRITICAL NEAR-TERM CATALYST: </a:t>
            </a:r>
            <a:r>
              <a:rPr lang="en-US" sz="1267" dirty="0">
                <a:latin typeface="Calibri" pitchFamily="34" charset="0"/>
                <a:ea typeface="Calibri" pitchFamily="34" charset="-122"/>
                <a:cs typeface="Calibri" pitchFamily="34" charset="-120"/>
              </a:rPr>
              <a:t>Q2 2026 earnings (~August 2026). Retatrutide NDA filing confirmation + supply shortage resolution = dual re-rating triggers.</a:t>
            </a:r>
            <a:endParaRPr lang="en-US" sz="1267" dirty="0"/>
          </a:p>
        </p:txBody>
      </p:sp>
      <p:sp>
        <p:nvSpPr>
          <p:cNvPr id="23" name="Shape 0">
            <a:extLst>
              <a:ext uri="{FF2B5EF4-FFF2-40B4-BE49-F238E27FC236}">
                <a16:creationId xmlns:a16="http://schemas.microsoft.com/office/drawing/2014/main" id="{2F32943A-5E5B-5D82-96BE-6BCDB5583CCA}"/>
              </a:ext>
            </a:extLst>
          </p:cNvPr>
          <p:cNvSpPr/>
          <p:nvPr/>
        </p:nvSpPr>
        <p:spPr>
          <a:xfrm>
            <a:off x="0" y="0"/>
            <a:ext cx="12192000" cy="914400"/>
          </a:xfrm>
          <a:prstGeom prst="rect">
            <a:avLst/>
          </a:prstGeom>
          <a:solidFill>
            <a:srgbClr val="1E293B"/>
          </a:solidFill>
          <a:ln w="12700">
            <a:solidFill>
              <a:srgbClr val="1E293B"/>
            </a:solidFill>
            <a:prstDash val="solid"/>
          </a:ln>
        </p:spPr>
      </p:sp>
      <p:sp>
        <p:nvSpPr>
          <p:cNvPr id="24" name="Shape 1">
            <a:extLst>
              <a:ext uri="{FF2B5EF4-FFF2-40B4-BE49-F238E27FC236}">
                <a16:creationId xmlns:a16="http://schemas.microsoft.com/office/drawing/2014/main" id="{5FA9F17B-DB7E-D874-7254-3128CB1A91B4}"/>
              </a:ext>
            </a:extLst>
          </p:cNvPr>
          <p:cNvSpPr/>
          <p:nvPr/>
        </p:nvSpPr>
        <p:spPr>
          <a:xfrm>
            <a:off x="0" y="0"/>
            <a:ext cx="463296" cy="914400"/>
          </a:xfrm>
          <a:prstGeom prst="rect">
            <a:avLst/>
          </a:prstGeom>
          <a:solidFill>
            <a:srgbClr val="00B4D8"/>
          </a:solidFill>
          <a:ln w="12700">
            <a:solidFill>
              <a:srgbClr val="00B4D8"/>
            </a:solidFill>
            <a:prstDash val="solid"/>
          </a:ln>
        </p:spPr>
      </p:sp>
      <p:sp>
        <p:nvSpPr>
          <p:cNvPr id="25" name="Text 3">
            <a:extLst>
              <a:ext uri="{FF2B5EF4-FFF2-40B4-BE49-F238E27FC236}">
                <a16:creationId xmlns:a16="http://schemas.microsoft.com/office/drawing/2014/main" id="{A3BA4C77-CECD-D1E1-BB37-6469F225D38C}"/>
              </a:ext>
            </a:extLst>
          </p:cNvPr>
          <p:cNvSpPr/>
          <p:nvPr/>
        </p:nvSpPr>
        <p:spPr>
          <a:xfrm>
            <a:off x="646176" y="926592"/>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What to track every quarter before conviction can be maintained or increased</a:t>
            </a:r>
          </a:p>
        </p:txBody>
      </p:sp>
      <p:sp>
        <p:nvSpPr>
          <p:cNvPr id="27" name="Text 2">
            <a:extLst>
              <a:ext uri="{FF2B5EF4-FFF2-40B4-BE49-F238E27FC236}">
                <a16:creationId xmlns:a16="http://schemas.microsoft.com/office/drawing/2014/main" id="{5BFECB3A-3DE1-0E8D-31DF-CC16CB74C810}"/>
              </a:ext>
            </a:extLst>
          </p:cNvPr>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11: INVESTOR RESEARCH CHECKLIST &amp; KEY MONITORING ITEMS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0B4D8"/>
          </a:solidFill>
          <a:ln w="12700">
            <a:solidFill>
              <a:srgbClr val="00B4D8"/>
            </a:solidFill>
            <a:prstDash val="solid"/>
          </a:ln>
        </p:spPr>
      </p:sp>
      <p:sp>
        <p:nvSpPr>
          <p:cNvPr id="3" name="Text 1"/>
          <p:cNvSpPr/>
          <p:nvPr/>
        </p:nvSpPr>
        <p:spPr>
          <a:xfrm>
            <a:off x="877824" y="140208"/>
            <a:ext cx="10728960" cy="609600"/>
          </a:xfrm>
          <a:prstGeom prst="rect">
            <a:avLst/>
          </a:prstGeom>
          <a:noFill/>
          <a:ln/>
        </p:spPr>
        <p:txBody>
          <a:bodyPr wrap="square" rtlCol="0" anchor="ctr"/>
          <a:lstStyle/>
          <a:p>
            <a:r>
              <a:rPr lang="en-US" sz="3200" b="1" dirty="0">
                <a:solidFill>
                  <a:srgbClr val="FFFFFF"/>
                </a:solidFill>
                <a:latin typeface="Calibri" pitchFamily="34" charset="0"/>
                <a:ea typeface="Calibri" pitchFamily="34" charset="-122"/>
                <a:cs typeface="Calibri" pitchFamily="34" charset="-120"/>
              </a:rPr>
              <a:t>ELI LILLY — SUMMARY VIEW</a:t>
            </a:r>
          </a:p>
        </p:txBody>
      </p:sp>
      <p:grpSp>
        <p:nvGrpSpPr>
          <p:cNvPr id="25" name="Group 24">
            <a:extLst>
              <a:ext uri="{FF2B5EF4-FFF2-40B4-BE49-F238E27FC236}">
                <a16:creationId xmlns:a16="http://schemas.microsoft.com/office/drawing/2014/main" id="{F3E8F812-4A92-8FE5-7138-709C18E0958F}"/>
              </a:ext>
            </a:extLst>
          </p:cNvPr>
          <p:cNvGrpSpPr/>
          <p:nvPr/>
        </p:nvGrpSpPr>
        <p:grpSpPr>
          <a:xfrm>
            <a:off x="877824" y="1076389"/>
            <a:ext cx="10972800" cy="5266944"/>
            <a:chOff x="877824" y="1243584"/>
            <a:chExt cx="10972800" cy="5266944"/>
          </a:xfrm>
        </p:grpSpPr>
        <p:sp>
          <p:nvSpPr>
            <p:cNvPr id="4" name="Shape 2"/>
            <p:cNvSpPr/>
            <p:nvPr/>
          </p:nvSpPr>
          <p:spPr>
            <a:xfrm>
              <a:off x="877824" y="1243584"/>
              <a:ext cx="10972800" cy="975360"/>
            </a:xfrm>
            <a:prstGeom prst="rect">
              <a:avLst/>
            </a:prstGeom>
            <a:solidFill>
              <a:srgbClr val="0D1B2A"/>
            </a:solidFill>
            <a:ln w="12700">
              <a:solidFill>
                <a:srgbClr val="1E293B"/>
              </a:solidFill>
              <a:prstDash val="solid"/>
            </a:ln>
          </p:spPr>
        </p:sp>
        <p:sp>
          <p:nvSpPr>
            <p:cNvPr id="5" name="Shape 3"/>
            <p:cNvSpPr/>
            <p:nvPr/>
          </p:nvSpPr>
          <p:spPr>
            <a:xfrm>
              <a:off x="877824" y="1243584"/>
              <a:ext cx="73152" cy="975360"/>
            </a:xfrm>
            <a:prstGeom prst="rect">
              <a:avLst/>
            </a:prstGeom>
            <a:solidFill>
              <a:srgbClr val="00B4D8"/>
            </a:solidFill>
            <a:ln w="12700">
              <a:solidFill>
                <a:srgbClr val="00B4D8"/>
              </a:solidFill>
              <a:prstDash val="solid"/>
            </a:ln>
          </p:spPr>
        </p:sp>
        <p:sp>
          <p:nvSpPr>
            <p:cNvPr id="6" name="Text 4"/>
            <p:cNvSpPr/>
            <p:nvPr/>
          </p:nvSpPr>
          <p:spPr>
            <a:xfrm>
              <a:off x="1072896" y="1280160"/>
              <a:ext cx="2682240" cy="292608"/>
            </a:xfrm>
            <a:prstGeom prst="rect">
              <a:avLst/>
            </a:prstGeom>
            <a:noFill/>
            <a:ln/>
          </p:spPr>
          <p:txBody>
            <a:bodyPr wrap="square" rtlCol="0" anchor="ctr"/>
            <a:lstStyle/>
            <a:p>
              <a:r>
                <a:rPr lang="en-US" sz="1200" b="1" kern="0" spc="133" dirty="0">
                  <a:solidFill>
                    <a:srgbClr val="00B4D8"/>
                  </a:solidFill>
                  <a:latin typeface="Calibri" pitchFamily="34" charset="0"/>
                  <a:ea typeface="Calibri" pitchFamily="34" charset="-122"/>
                  <a:cs typeface="Calibri" pitchFamily="34" charset="-120"/>
                </a:rPr>
                <a:t>ONE-LINE THESIS</a:t>
              </a:r>
              <a:endParaRPr lang="en-US" sz="1200" dirty="0"/>
            </a:p>
          </p:txBody>
        </p:sp>
        <p:sp>
          <p:nvSpPr>
            <p:cNvPr id="7" name="Text 5"/>
            <p:cNvSpPr/>
            <p:nvPr/>
          </p:nvSpPr>
          <p:spPr>
            <a:xfrm>
              <a:off x="1072896" y="1572768"/>
              <a:ext cx="10607040" cy="609600"/>
            </a:xfrm>
            <a:prstGeom prst="rect">
              <a:avLst/>
            </a:prstGeom>
            <a:noFill/>
            <a:ln/>
          </p:spPr>
          <p:txBody>
            <a:bodyPr wrap="square" rtlCol="0" anchor="ctr"/>
            <a:lstStyle/>
            <a:p>
              <a:r>
                <a:rPr lang="en-US" sz="1400" dirty="0">
                  <a:solidFill>
                    <a:schemeClr val="bg1"/>
                  </a:solidFill>
                  <a:latin typeface="Calibri" pitchFamily="34" charset="0"/>
                  <a:ea typeface="Calibri" pitchFamily="34" charset="-122"/>
                  <a:cs typeface="Calibri" pitchFamily="34" charset="-120"/>
                </a:rPr>
                <a:t>Eli Lilly owns the most differentiated GLP-1 molecule in medicine (tirzepatide), is deploying a $27B manufacturing fortress, and carries a pipeline with donanemab, </a:t>
              </a:r>
              <a:r>
                <a:rPr lang="en-US" sz="1400" dirty="0" err="1">
                  <a:solidFill>
                    <a:schemeClr val="bg1"/>
                  </a:solidFill>
                  <a:latin typeface="Calibri" pitchFamily="34" charset="0"/>
                  <a:ea typeface="Calibri" pitchFamily="34" charset="-122"/>
                  <a:cs typeface="Calibri" pitchFamily="34" charset="-120"/>
                </a:rPr>
                <a:t>orforglipron</a:t>
              </a:r>
              <a:r>
                <a:rPr lang="en-US" sz="1400" dirty="0">
                  <a:solidFill>
                    <a:schemeClr val="bg1"/>
                  </a:solidFill>
                  <a:latin typeface="Calibri" pitchFamily="34" charset="0"/>
                  <a:ea typeface="Calibri" pitchFamily="34" charset="-122"/>
                  <a:cs typeface="Calibri" pitchFamily="34" charset="-120"/>
                </a:rPr>
                <a:t>, and oncology depth that could sustain 20%+ topline growth through 2030.</a:t>
              </a:r>
            </a:p>
          </p:txBody>
        </p:sp>
        <p:sp>
          <p:nvSpPr>
            <p:cNvPr id="8" name="Shape 6"/>
            <p:cNvSpPr/>
            <p:nvPr/>
          </p:nvSpPr>
          <p:spPr>
            <a:xfrm>
              <a:off x="877824" y="2316480"/>
              <a:ext cx="10972800" cy="975360"/>
            </a:xfrm>
            <a:prstGeom prst="rect">
              <a:avLst/>
            </a:prstGeom>
            <a:solidFill>
              <a:srgbClr val="0D1B2A"/>
            </a:solidFill>
            <a:ln w="12700">
              <a:solidFill>
                <a:srgbClr val="1E293B"/>
              </a:solidFill>
              <a:prstDash val="solid"/>
            </a:ln>
          </p:spPr>
        </p:sp>
        <p:sp>
          <p:nvSpPr>
            <p:cNvPr id="9" name="Shape 7"/>
            <p:cNvSpPr/>
            <p:nvPr/>
          </p:nvSpPr>
          <p:spPr>
            <a:xfrm>
              <a:off x="877824" y="2316480"/>
              <a:ext cx="73152" cy="975360"/>
            </a:xfrm>
            <a:prstGeom prst="rect">
              <a:avLst/>
            </a:prstGeom>
            <a:solidFill>
              <a:srgbClr val="00B4D8"/>
            </a:solidFill>
            <a:ln w="12700">
              <a:solidFill>
                <a:srgbClr val="00B4D8"/>
              </a:solidFill>
              <a:prstDash val="solid"/>
            </a:ln>
          </p:spPr>
        </p:sp>
        <p:sp>
          <p:nvSpPr>
            <p:cNvPr id="10" name="Text 8"/>
            <p:cNvSpPr/>
            <p:nvPr/>
          </p:nvSpPr>
          <p:spPr>
            <a:xfrm>
              <a:off x="1072896" y="2353056"/>
              <a:ext cx="2682240" cy="292608"/>
            </a:xfrm>
            <a:prstGeom prst="rect">
              <a:avLst/>
            </a:prstGeom>
            <a:noFill/>
            <a:ln/>
          </p:spPr>
          <p:txBody>
            <a:bodyPr wrap="square" rtlCol="0" anchor="ctr"/>
            <a:lstStyle/>
            <a:p>
              <a:r>
                <a:rPr lang="en-US" sz="1200" b="1" kern="0" spc="133" dirty="0">
                  <a:solidFill>
                    <a:srgbClr val="00B4D8"/>
                  </a:solidFill>
                  <a:latin typeface="Calibri" pitchFamily="34" charset="0"/>
                  <a:ea typeface="Calibri" pitchFamily="34" charset="-122"/>
                  <a:cs typeface="Calibri" pitchFamily="34" charset="-120"/>
                </a:rPr>
                <a:t>WHY IT'S DIFFERENT</a:t>
              </a:r>
              <a:endParaRPr lang="en-US" sz="1200" dirty="0"/>
            </a:p>
          </p:txBody>
        </p:sp>
        <p:sp>
          <p:nvSpPr>
            <p:cNvPr id="11" name="Text 9"/>
            <p:cNvSpPr/>
            <p:nvPr/>
          </p:nvSpPr>
          <p:spPr>
            <a:xfrm>
              <a:off x="1072896" y="2645664"/>
              <a:ext cx="10607040" cy="609600"/>
            </a:xfrm>
            <a:prstGeom prst="rect">
              <a:avLst/>
            </a:prstGeom>
            <a:noFill/>
            <a:ln/>
          </p:spPr>
          <p:txBody>
            <a:bodyPr wrap="square" rtlCol="0" anchor="ctr"/>
            <a:lstStyle/>
            <a:p>
              <a:r>
                <a:rPr lang="en-US" sz="1400" dirty="0">
                  <a:solidFill>
                    <a:schemeClr val="bg1"/>
                  </a:solidFill>
                  <a:latin typeface="Calibri" pitchFamily="34" charset="0"/>
                  <a:ea typeface="Calibri" pitchFamily="34" charset="-122"/>
                  <a:cs typeface="Calibri" pitchFamily="34" charset="-120"/>
                </a:rPr>
                <a:t>Unlike Novo Nordisk (single GLP-1 class dependence), Lilly's tirzepatide achieves superior efficacy via dual GIP+GLP-1 mechanism. Unlike Pfizer or Merck, Lilly is already a $45B revenue company growing at 32%. Unlike peers, Lilly combines GLP-1 leadership with real Alzheimer's and oncology optionality.</a:t>
              </a:r>
            </a:p>
          </p:txBody>
        </p:sp>
        <p:sp>
          <p:nvSpPr>
            <p:cNvPr id="12" name="Shape 10"/>
            <p:cNvSpPr/>
            <p:nvPr/>
          </p:nvSpPr>
          <p:spPr>
            <a:xfrm>
              <a:off x="877824" y="3389376"/>
              <a:ext cx="10972800" cy="975360"/>
            </a:xfrm>
            <a:prstGeom prst="rect">
              <a:avLst/>
            </a:prstGeom>
            <a:solidFill>
              <a:srgbClr val="0D1B2A"/>
            </a:solidFill>
            <a:ln w="12700">
              <a:solidFill>
                <a:srgbClr val="1E293B"/>
              </a:solidFill>
              <a:prstDash val="solid"/>
            </a:ln>
          </p:spPr>
        </p:sp>
        <p:sp>
          <p:nvSpPr>
            <p:cNvPr id="13" name="Shape 11"/>
            <p:cNvSpPr/>
            <p:nvPr/>
          </p:nvSpPr>
          <p:spPr>
            <a:xfrm>
              <a:off x="877824" y="3389376"/>
              <a:ext cx="73152" cy="975360"/>
            </a:xfrm>
            <a:prstGeom prst="rect">
              <a:avLst/>
            </a:prstGeom>
            <a:solidFill>
              <a:srgbClr val="00B4D8"/>
            </a:solidFill>
            <a:ln w="12700">
              <a:solidFill>
                <a:srgbClr val="00B4D8"/>
              </a:solidFill>
              <a:prstDash val="solid"/>
            </a:ln>
          </p:spPr>
        </p:sp>
        <p:sp>
          <p:nvSpPr>
            <p:cNvPr id="14" name="Text 12"/>
            <p:cNvSpPr/>
            <p:nvPr/>
          </p:nvSpPr>
          <p:spPr>
            <a:xfrm>
              <a:off x="1072896" y="3425952"/>
              <a:ext cx="2682240" cy="292608"/>
            </a:xfrm>
            <a:prstGeom prst="rect">
              <a:avLst/>
            </a:prstGeom>
            <a:noFill/>
            <a:ln/>
          </p:spPr>
          <p:txBody>
            <a:bodyPr wrap="square" rtlCol="0" anchor="ctr"/>
            <a:lstStyle/>
            <a:p>
              <a:r>
                <a:rPr lang="en-US" sz="1200" b="1" kern="0" spc="133" dirty="0">
                  <a:solidFill>
                    <a:srgbClr val="00B4D8"/>
                  </a:solidFill>
                  <a:latin typeface="Calibri" pitchFamily="34" charset="0"/>
                  <a:ea typeface="Calibri" pitchFamily="34" charset="-122"/>
                  <a:cs typeface="Calibri" pitchFamily="34" charset="-120"/>
                </a:rPr>
                <a:t>WHAT WE LIKE</a:t>
              </a:r>
              <a:endParaRPr lang="en-US" sz="1200" dirty="0"/>
            </a:p>
          </p:txBody>
        </p:sp>
        <p:sp>
          <p:nvSpPr>
            <p:cNvPr id="15" name="Text 13"/>
            <p:cNvSpPr/>
            <p:nvPr/>
          </p:nvSpPr>
          <p:spPr>
            <a:xfrm>
              <a:off x="1072896" y="3718560"/>
              <a:ext cx="10607040" cy="609600"/>
            </a:xfrm>
            <a:prstGeom prst="rect">
              <a:avLst/>
            </a:prstGeom>
            <a:noFill/>
            <a:ln/>
          </p:spPr>
          <p:txBody>
            <a:bodyPr wrap="square" rtlCol="0" anchor="ctr"/>
            <a:lstStyle/>
            <a:p>
              <a:r>
                <a:rPr lang="en-US" sz="1400" dirty="0">
                  <a:solidFill>
                    <a:schemeClr val="bg1"/>
                  </a:solidFill>
                  <a:latin typeface="Calibri" pitchFamily="34" charset="0"/>
                  <a:ea typeface="Calibri" pitchFamily="34" charset="-122"/>
                  <a:cs typeface="Calibri" pitchFamily="34" charset="-120"/>
                </a:rPr>
                <a:t>$27.2B GLP-1 revenue in FY2024 growing 90%+ YoY · Donanemab could unlock $5–10B Alzheimer's revenue · Oral GLP-1 (</a:t>
              </a:r>
              <a:r>
                <a:rPr lang="en-US" sz="1400" dirty="0" err="1">
                  <a:solidFill>
                    <a:schemeClr val="bg1"/>
                  </a:solidFill>
                  <a:latin typeface="Calibri" pitchFamily="34" charset="0"/>
                  <a:ea typeface="Calibri" pitchFamily="34" charset="-122"/>
                  <a:cs typeface="Calibri" pitchFamily="34" charset="-120"/>
                </a:rPr>
                <a:t>orforglipron</a:t>
              </a:r>
              <a:r>
                <a:rPr lang="en-US" sz="1400" dirty="0">
                  <a:solidFill>
                    <a:schemeClr val="bg1"/>
                  </a:solidFill>
                  <a:latin typeface="Calibri" pitchFamily="34" charset="0"/>
                  <a:ea typeface="Calibri" pitchFamily="34" charset="-122"/>
                  <a:cs typeface="Calibri" pitchFamily="34" charset="-120"/>
                </a:rPr>
                <a:t>) could 10x the addressable market · $27B US manufacturing investment creates supply moat · 50+ pipeline molecules provide next decade's growth runway.</a:t>
              </a:r>
            </a:p>
          </p:txBody>
        </p:sp>
        <p:sp>
          <p:nvSpPr>
            <p:cNvPr id="16" name="Shape 14"/>
            <p:cNvSpPr/>
            <p:nvPr/>
          </p:nvSpPr>
          <p:spPr>
            <a:xfrm>
              <a:off x="877824" y="4462272"/>
              <a:ext cx="10972800" cy="975360"/>
            </a:xfrm>
            <a:prstGeom prst="rect">
              <a:avLst/>
            </a:prstGeom>
            <a:solidFill>
              <a:srgbClr val="0D1B2A"/>
            </a:solidFill>
            <a:ln w="12700">
              <a:solidFill>
                <a:srgbClr val="1E293B"/>
              </a:solidFill>
              <a:prstDash val="solid"/>
            </a:ln>
          </p:spPr>
        </p:sp>
        <p:sp>
          <p:nvSpPr>
            <p:cNvPr id="17" name="Shape 15"/>
            <p:cNvSpPr/>
            <p:nvPr/>
          </p:nvSpPr>
          <p:spPr>
            <a:xfrm>
              <a:off x="877824" y="4462272"/>
              <a:ext cx="73152" cy="975360"/>
            </a:xfrm>
            <a:prstGeom prst="rect">
              <a:avLst/>
            </a:prstGeom>
            <a:solidFill>
              <a:srgbClr val="00B4D8"/>
            </a:solidFill>
            <a:ln w="12700">
              <a:solidFill>
                <a:srgbClr val="00B4D8"/>
              </a:solidFill>
              <a:prstDash val="solid"/>
            </a:ln>
          </p:spPr>
        </p:sp>
        <p:sp>
          <p:nvSpPr>
            <p:cNvPr id="18" name="Text 16"/>
            <p:cNvSpPr/>
            <p:nvPr/>
          </p:nvSpPr>
          <p:spPr>
            <a:xfrm>
              <a:off x="1072896" y="4498848"/>
              <a:ext cx="2682240" cy="292608"/>
            </a:xfrm>
            <a:prstGeom prst="rect">
              <a:avLst/>
            </a:prstGeom>
            <a:noFill/>
            <a:ln/>
          </p:spPr>
          <p:txBody>
            <a:bodyPr wrap="square" rtlCol="0" anchor="ctr"/>
            <a:lstStyle/>
            <a:p>
              <a:r>
                <a:rPr lang="en-US" sz="1200" b="1" kern="0" spc="133" dirty="0">
                  <a:solidFill>
                    <a:srgbClr val="00B4D8"/>
                  </a:solidFill>
                  <a:latin typeface="Calibri" pitchFamily="34" charset="0"/>
                  <a:ea typeface="Calibri" pitchFamily="34" charset="-122"/>
                  <a:cs typeface="Calibri" pitchFamily="34" charset="-120"/>
                </a:rPr>
                <a:t>WHAT WORRIES US</a:t>
              </a:r>
              <a:endParaRPr lang="en-US" sz="1200" dirty="0"/>
            </a:p>
          </p:txBody>
        </p:sp>
        <p:sp>
          <p:nvSpPr>
            <p:cNvPr id="19" name="Text 17"/>
            <p:cNvSpPr/>
            <p:nvPr/>
          </p:nvSpPr>
          <p:spPr>
            <a:xfrm>
              <a:off x="1072896" y="4791456"/>
              <a:ext cx="10607040" cy="609600"/>
            </a:xfrm>
            <a:prstGeom prst="rect">
              <a:avLst/>
            </a:prstGeom>
            <a:noFill/>
            <a:ln/>
          </p:spPr>
          <p:txBody>
            <a:bodyPr wrap="square" rtlCol="0" anchor="ctr"/>
            <a:lstStyle/>
            <a:p>
              <a:r>
                <a:rPr lang="en-US" sz="1400" dirty="0">
                  <a:solidFill>
                    <a:schemeClr val="bg1"/>
                  </a:solidFill>
                  <a:latin typeface="Calibri" pitchFamily="34" charset="0"/>
                  <a:ea typeface="Calibri" pitchFamily="34" charset="-122"/>
                  <a:cs typeface="Calibri" pitchFamily="34" charset="-120"/>
                </a:rPr>
                <a:t>Valuation prices near-perfection at 45x forward earnings · Manufacturing ramp is the #1 near-term execution risk · IRA price negotiation threatens long-term margin profile · Donanemab has binary FDA risk · GLP-1 discontinuation data could challenge payor coverage mandates.</a:t>
              </a:r>
            </a:p>
          </p:txBody>
        </p:sp>
        <p:sp>
          <p:nvSpPr>
            <p:cNvPr id="20" name="Shape 18"/>
            <p:cNvSpPr/>
            <p:nvPr/>
          </p:nvSpPr>
          <p:spPr>
            <a:xfrm>
              <a:off x="877824" y="5535168"/>
              <a:ext cx="10972800" cy="975360"/>
            </a:xfrm>
            <a:prstGeom prst="rect">
              <a:avLst/>
            </a:prstGeom>
            <a:solidFill>
              <a:srgbClr val="0D1B2A"/>
            </a:solidFill>
            <a:ln w="12700">
              <a:solidFill>
                <a:srgbClr val="1E293B"/>
              </a:solidFill>
              <a:prstDash val="solid"/>
            </a:ln>
          </p:spPr>
        </p:sp>
        <p:sp>
          <p:nvSpPr>
            <p:cNvPr id="21" name="Shape 19"/>
            <p:cNvSpPr/>
            <p:nvPr/>
          </p:nvSpPr>
          <p:spPr>
            <a:xfrm>
              <a:off x="877824" y="5535168"/>
              <a:ext cx="73152" cy="975360"/>
            </a:xfrm>
            <a:prstGeom prst="rect">
              <a:avLst/>
            </a:prstGeom>
            <a:solidFill>
              <a:srgbClr val="00B4D8"/>
            </a:solidFill>
            <a:ln w="12700">
              <a:solidFill>
                <a:srgbClr val="00B4D8"/>
              </a:solidFill>
              <a:prstDash val="solid"/>
            </a:ln>
          </p:spPr>
        </p:sp>
        <p:sp>
          <p:nvSpPr>
            <p:cNvPr id="22" name="Text 20"/>
            <p:cNvSpPr/>
            <p:nvPr/>
          </p:nvSpPr>
          <p:spPr>
            <a:xfrm>
              <a:off x="1072896" y="5571744"/>
              <a:ext cx="2682240" cy="292608"/>
            </a:xfrm>
            <a:prstGeom prst="rect">
              <a:avLst/>
            </a:prstGeom>
            <a:noFill/>
            <a:ln/>
          </p:spPr>
          <p:txBody>
            <a:bodyPr wrap="square" rtlCol="0" anchor="ctr"/>
            <a:lstStyle/>
            <a:p>
              <a:r>
                <a:rPr lang="en-US" sz="1200" b="1" kern="0" spc="133" dirty="0">
                  <a:solidFill>
                    <a:srgbClr val="00B4D8"/>
                  </a:solidFill>
                  <a:latin typeface="Calibri" pitchFamily="34" charset="0"/>
                  <a:ea typeface="Calibri" pitchFamily="34" charset="-122"/>
                  <a:cs typeface="Calibri" pitchFamily="34" charset="-120"/>
                </a:rPr>
                <a:t>PRICE TARGET RANGE</a:t>
              </a:r>
              <a:endParaRPr lang="en-US" sz="1200" dirty="0"/>
            </a:p>
          </p:txBody>
        </p:sp>
        <p:sp>
          <p:nvSpPr>
            <p:cNvPr id="23" name="Text 21"/>
            <p:cNvSpPr/>
            <p:nvPr/>
          </p:nvSpPr>
          <p:spPr>
            <a:xfrm>
              <a:off x="1072896" y="5864352"/>
              <a:ext cx="10607040" cy="609600"/>
            </a:xfrm>
            <a:prstGeom prst="rect">
              <a:avLst/>
            </a:prstGeom>
            <a:noFill/>
            <a:ln/>
          </p:spPr>
          <p:txBody>
            <a:bodyPr wrap="square" rtlCol="0" anchor="ctr"/>
            <a:lstStyle/>
            <a:p>
              <a:r>
                <a:rPr lang="en-US" sz="1400" dirty="0">
                  <a:solidFill>
                    <a:schemeClr val="bg1"/>
                  </a:solidFill>
                  <a:latin typeface="Calibri" pitchFamily="34" charset="0"/>
                  <a:ea typeface="Calibri" pitchFamily="34" charset="-122"/>
                  <a:cs typeface="Calibri" pitchFamily="34" charset="-120"/>
                </a:rPr>
                <a:t>Bear: $480–580 (execution failures or IRA pricing shock) · Base: $900–1,100 (guidance execution, 11–14x P/S re-rate) · Bull: $1,300–1,600 (oral GLP-1 + donanemab + triple agonist all succeed at hyperscale)</a:t>
              </a:r>
            </a:p>
          </p:txBody>
        </p:sp>
      </p:grpSp>
      <p:sp>
        <p:nvSpPr>
          <p:cNvPr id="24" name="Text 22"/>
          <p:cNvSpPr/>
          <p:nvPr/>
        </p:nvSpPr>
        <p:spPr>
          <a:xfrm>
            <a:off x="877824" y="6559296"/>
            <a:ext cx="10972800" cy="243840"/>
          </a:xfrm>
          <a:prstGeom prst="rect">
            <a:avLst/>
          </a:prstGeom>
          <a:noFill/>
          <a:ln/>
        </p:spPr>
        <p:txBody>
          <a:bodyPr wrap="square" rtlCol="0" anchor="ctr"/>
          <a:lstStyle/>
          <a:p>
            <a:r>
              <a:rPr lang="en-US" sz="1000" i="1" dirty="0">
                <a:solidFill>
                  <a:schemeClr val="bg1"/>
                </a:solidFill>
                <a:latin typeface="Calibri" pitchFamily="34" charset="0"/>
                <a:ea typeface="Calibri" pitchFamily="34" charset="-122"/>
                <a:cs typeface="Calibri" pitchFamily="34" charset="-120"/>
              </a:rPr>
              <a:t>For Research &amp; Educational Purposes Only. Not Investment Advice. May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0" y="-10177"/>
            <a:ext cx="12192000" cy="6861645"/>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2488558" y="3191987"/>
            <a:ext cx="9703442" cy="1636159"/>
          </a:xfrm>
          <a:prstGeom prst="rect">
            <a:avLst/>
          </a:prstGeom>
          <a:solidFill>
            <a:srgbClr val="FFFFFF">
              <a:alpha val="14902"/>
            </a:srgbClr>
          </a:solidFill>
        </p:spPr>
        <p:txBody>
          <a:bodyPr vert="horz" lIns="91440" tIns="45720" rIns="91440" bIns="45720" rtlCol="0" anchor="b">
            <a:noAutofit/>
          </a:bodyPr>
          <a:lstStyle>
            <a:defPPr>
              <a:defRPr lang="en-US"/>
            </a:defPPr>
            <a:lvl1pPr algn="ctr">
              <a:lnSpc>
                <a:spcPct val="120000"/>
              </a:lnSpc>
              <a:spcBef>
                <a:spcPct val="0"/>
              </a:spcBef>
              <a:buNone/>
              <a:defRPr sz="6000" b="1">
                <a:solidFill>
                  <a:srgbClr val="FFFF00"/>
                </a:solidFill>
                <a:latin typeface="FN Shyamol Bangla" panose="02000600000000000000" pitchFamily="2" charset="0"/>
                <a:ea typeface="+mj-ea"/>
                <a:cs typeface="FN Shyamol Bangla" panose="02000600000000000000" pitchFamily="2" charset="0"/>
              </a:defRPr>
            </a:lvl1pPr>
          </a:lstStyle>
          <a:p>
            <a:r>
              <a:rPr lang="en-US" sz="8000" dirty="0">
                <a:solidFill>
                  <a:schemeClr val="bg1"/>
                </a:solidFill>
              </a:rPr>
              <a:t>Eli Lilly and Company</a:t>
            </a:r>
          </a:p>
        </p:txBody>
      </p:sp>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3" name="Audio 2">
            <a:hlinkClick r:id="" action="ppaction://media"/>
            <a:extLst>
              <a:ext uri="{FF2B5EF4-FFF2-40B4-BE49-F238E27FC236}">
                <a16:creationId xmlns:a16="http://schemas.microsoft.com/office/drawing/2014/main" id="{36CFB779-4FFD-A359-1B63-154AE47D281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325000" t="-160938" r="-325000" b="-160938"/>
          <a:stretch>
            <a:fillRect/>
          </a:stretch>
        </p:blipFill>
        <p:spPr>
          <a:xfrm>
            <a:off x="11412877" y="4642635"/>
            <a:ext cx="3048000" cy="1714500"/>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9"/>
          <a:stretch>
            <a:fillRect/>
          </a:stretch>
        </p:blipFill>
        <p:spPr>
          <a:xfrm>
            <a:off x="-1709827" y="3420645"/>
            <a:ext cx="406400" cy="406400"/>
          </a:xfrm>
          <a:prstGeom prst="rect">
            <a:avLst/>
          </a:prstGeom>
        </p:spPr>
      </p:pic>
    </p:spTree>
    <p:extLst>
      <p:ext uri="{BB962C8B-B14F-4D97-AF65-F5344CB8AC3E}">
        <p14:creationId xmlns:p14="http://schemas.microsoft.com/office/powerpoint/2010/main" val="984047693"/>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2526</TotalTime>
  <Words>14272</Words>
  <Application>Microsoft Office PowerPoint</Application>
  <PresentationFormat>Widescreen</PresentationFormat>
  <Paragraphs>813</Paragraphs>
  <Slides>16</Slides>
  <Notes>16</Notes>
  <HiddenSlides>0</HiddenSlides>
  <MMClips>6</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Calibri</vt:lpstr>
      <vt:lpstr>Calibri Light</vt:lpstr>
      <vt:lpstr>Cambria</vt:lpstr>
      <vt:lpstr>FN Shyamol Bangla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Swapan Masanta</dc:creator>
  <cp:lastModifiedBy>Swapan Masanta</cp:lastModifiedBy>
  <cp:revision>143</cp:revision>
  <dcterms:created xsi:type="dcterms:W3CDTF">2026-02-18T12:59:35Z</dcterms:created>
  <dcterms:modified xsi:type="dcterms:W3CDTF">2026-05-25T12:56:28Z</dcterms:modified>
</cp:coreProperties>
</file>