
<file path=[Content_Types].xml><?xml version="1.0" encoding="utf-8"?>
<Types xmlns="http://schemas.openxmlformats.org/package/2006/content-types">
  <Default Extension="jpeg" ContentType="image/jpeg"/>
  <Default Extension="m4a" ContentType="audio/mp4"/>
  <Default Extension="mp3" ContentType="audio/m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455" r:id="rId2"/>
    <p:sldId id="413" r:id="rId3"/>
    <p:sldId id="256" r:id="rId4"/>
    <p:sldId id="484" r:id="rId5"/>
    <p:sldId id="258" r:id="rId6"/>
    <p:sldId id="259" r:id="rId7"/>
    <p:sldId id="260" r:id="rId8"/>
    <p:sldId id="261" r:id="rId9"/>
    <p:sldId id="262" r:id="rId10"/>
    <p:sldId id="263" r:id="rId11"/>
    <p:sldId id="264" r:id="rId12"/>
    <p:sldId id="265" r:id="rId13"/>
    <p:sldId id="266" r:id="rId14"/>
    <p:sldId id="267" r:id="rId15"/>
    <p:sldId id="268" r:id="rId16"/>
    <p:sldId id="269" r:id="rId17"/>
    <p:sldId id="48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357" autoAdjust="0"/>
  </p:normalViewPr>
  <p:slideViewPr>
    <p:cSldViewPr snapToGrid="0">
      <p:cViewPr varScale="1">
        <p:scale>
          <a:sx n="58" d="100"/>
          <a:sy n="58" d="100"/>
        </p:scale>
        <p:origin x="920" y="52"/>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1E293B"/>
                </a:solidFill>
                <a:latin typeface="Arial"/>
              </a:defRPr>
            </a:pPr>
            <a:r>
              <a:rPr lang="en-IN" sz="1000" b="0" i="0" u="none" strike="noStrike">
                <a:solidFill>
                  <a:srgbClr val="1E293B"/>
                </a:solidFill>
                <a:latin typeface="Arial"/>
              </a:rPr>
              <a:t>Revenue Growth ($M)</a:t>
            </a:r>
          </a:p>
        </c:rich>
      </c:tx>
      <c:overlay val="0"/>
    </c:title>
    <c:autoTitleDeleted val="0"/>
    <c:plotArea>
      <c:layout/>
      <c:barChart>
        <c:barDir val="col"/>
        <c:grouping val="clustered"/>
        <c:varyColors val="0"/>
        <c:ser>
          <c:idx val="0"/>
          <c:order val="0"/>
          <c:tx>
            <c:strRef>
              <c:f>Sheet1!$B$1</c:f>
              <c:strCache>
                <c:ptCount val="1"/>
                <c:pt idx="0">
                  <c:v>Revenue ($M)</c:v>
                </c:pt>
              </c:strCache>
            </c:strRef>
          </c:tx>
          <c:spPr>
            <a:solidFill>
              <a:srgbClr val="00B4D8"/>
            </a:solidFill>
            <a:effectLst/>
          </c:spPr>
          <c:invertIfNegative val="0"/>
          <c:dLbls>
            <c:numFmt formatCode="#,##0" sourceLinked="0"/>
            <c:spPr>
              <a:noFill/>
              <a:ln>
                <a:noFill/>
              </a:ln>
              <a:effectLst/>
            </c:spPr>
            <c:txPr>
              <a:bodyPr/>
              <a:lstStyle/>
              <a:p>
                <a:pPr>
                  <a:defRPr sz="1200" b="0" i="0" u="none" strike="noStrike">
                    <a:solidFill>
                      <a:srgbClr val="0D1B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FY2023</c:v>
                </c:pt>
                <c:pt idx="1">
                  <c:v>FY2024</c:v>
                </c:pt>
                <c:pt idx="2">
                  <c:v>Q1'25</c:v>
                </c:pt>
                <c:pt idx="3">
                  <c:v>Q2'25</c:v>
                </c:pt>
                <c:pt idx="4">
                  <c:v>Q3'25</c:v>
                </c:pt>
                <c:pt idx="5">
                  <c:v>Q4'25</c:v>
                </c:pt>
              </c:strCache>
            </c:strRef>
          </c:cat>
          <c:val>
            <c:numRef>
              <c:f>Sheet1!$B$2:$B$7</c:f>
              <c:numCache>
                <c:formatCode>General</c:formatCode>
                <c:ptCount val="6"/>
                <c:pt idx="0">
                  <c:v>9.8000000000000007</c:v>
                </c:pt>
                <c:pt idx="1">
                  <c:v>91.5</c:v>
                </c:pt>
                <c:pt idx="2">
                  <c:v>50.9</c:v>
                </c:pt>
                <c:pt idx="3">
                  <c:v>105.1</c:v>
                </c:pt>
                <c:pt idx="4">
                  <c:v>146.1</c:v>
                </c:pt>
                <c:pt idx="5">
                  <c:v>227.7</c:v>
                </c:pt>
              </c:numCache>
            </c:numRef>
          </c:val>
          <c:extLst>
            <c:ext xmlns:c16="http://schemas.microsoft.com/office/drawing/2014/chart" uri="{C3380CC4-5D6E-409C-BE32-E72D297353CC}">
              <c16:uniqueId val="{00000000-A12F-45A6-BEAB-9DEF343FA0A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46ADD3-E4C9-4B15-B72E-7CE80015322E}"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F3E57C-F302-4DDA-9D05-13A296E43432}" type="slidenum">
              <a:rPr lang="en-IN" smtClean="0"/>
              <a:t>‹#›</a:t>
            </a:fld>
            <a:endParaRPr lang="en-IN"/>
          </a:p>
        </p:txBody>
      </p:sp>
    </p:spTree>
    <p:extLst>
      <p:ext uri="{BB962C8B-B14F-4D97-AF65-F5344CB8AC3E}">
        <p14:creationId xmlns:p14="http://schemas.microsoft.com/office/powerpoint/2010/main" val="167185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everyone, and welcome back to </a:t>
            </a:r>
            <a:r>
              <a:rPr lang="en-US" dirty="0" err="1"/>
              <a:t>Dreamlit</a:t>
            </a:r>
            <a:r>
              <a:rPr lang="en-US" dirty="0"/>
              <a:t> Equity Research.</a:t>
            </a:r>
          </a:p>
          <a:p>
            <a:r>
              <a:rPr lang="en-US" dirty="0"/>
              <a:t>Today we are going deep on one of the most fascinating companies operating in the artificial intelligence infrastructure space right now — </a:t>
            </a:r>
            <a:r>
              <a:rPr lang="en-US" dirty="0" err="1"/>
              <a:t>Nebius</a:t>
            </a:r>
            <a:r>
              <a:rPr lang="en-US" dirty="0"/>
              <a:t> Group, ticker NBIS on the Nasdaq.</a:t>
            </a:r>
          </a:p>
          <a:p>
            <a:r>
              <a:rPr lang="en-US" dirty="0"/>
              <a:t>And I want to be upfront with you: this is not a quick stock pitch. This is a full deep-dive. </a:t>
            </a:r>
          </a:p>
        </p:txBody>
      </p:sp>
      <p:sp>
        <p:nvSpPr>
          <p:cNvPr id="4" name="Slide Number Placeholder 3"/>
          <p:cNvSpPr>
            <a:spLocks noGrp="1"/>
          </p:cNvSpPr>
          <p:nvPr>
            <p:ph type="sldNum" sz="quarter" idx="5"/>
          </p:nvPr>
        </p:nvSpPr>
        <p:spPr/>
        <p:txBody>
          <a:bodyPr/>
          <a:lstStyle/>
          <a:p>
            <a:fld id="{49F3E57C-F302-4DDA-9D05-13A296E43432}" type="slidenum">
              <a:rPr lang="en-IN" smtClean="0"/>
              <a:t>1</a:t>
            </a:fld>
            <a:endParaRPr lang="en-IN"/>
          </a:p>
        </p:txBody>
      </p:sp>
    </p:spTree>
    <p:extLst>
      <p:ext uri="{BB962C8B-B14F-4D97-AF65-F5344CB8AC3E}">
        <p14:creationId xmlns:p14="http://schemas.microsoft.com/office/powerpoint/2010/main" val="21993362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Before we go any further, the legal stuff — and please do not skip this.</a:t>
            </a:r>
          </a:p>
          <a:p>
            <a:r>
              <a:rPr lang="en-US" dirty="0"/>
              <a:t>Everything in this video is for educational and research purposes only. Nothing here is financial advice, investment advice, legal advice, or tax guidance. I am not a licensed financial advisor. The analysis you are about to see is my own framework based on publicly available information — SEC filings, company guidance, earnings releases, and industry research.</a:t>
            </a:r>
          </a:p>
          <a:p>
            <a:r>
              <a:rPr lang="en-US" dirty="0"/>
              <a:t>AI infrastructure is a sector that can change dramatically within a single earnings cycle. Revenue forecasts, GPU deployment timelines, capital expenditure assumptions — these can shift fast.</a:t>
            </a:r>
          </a:p>
          <a:p>
            <a:r>
              <a:rPr lang="en-US" dirty="0"/>
              <a:t>Additionally, this sector is particularly sensitive to things like geopolitical events, GPU export restrictions, energy availability constraints, and changes in enterprise AI spending patterns.</a:t>
            </a:r>
          </a:p>
          <a:p>
            <a:r>
              <a:rPr lang="en-US" dirty="0"/>
              <a:t>So please — do your own research. Consult a qualified professional before making any investment decisions. And treat everything in this video as a starting point for your thinking, not an endpoint.</a:t>
            </a:r>
          </a:p>
          <a:p>
            <a:r>
              <a:rPr lang="en-US" dirty="0"/>
              <a:t>With that said, let us build the thesis.</a:t>
            </a:r>
          </a:p>
          <a:p>
            <a:endParaRPr lang="en-US" dirty="0"/>
          </a:p>
        </p:txBody>
      </p:sp>
      <p:sp>
        <p:nvSpPr>
          <p:cNvPr id="4" name="Slide Number Placeholder 3"/>
          <p:cNvSpPr>
            <a:spLocks noGrp="1"/>
          </p:cNvSpPr>
          <p:nvPr>
            <p:ph type="sldNum" sz="quarter" idx="5"/>
          </p:nvPr>
        </p:nvSpPr>
        <p:spPr/>
        <p:txBody>
          <a:bodyPr/>
          <a:lstStyle/>
          <a:p>
            <a:fld id="{49F3E57C-F302-4DDA-9D05-13A296E43432}" type="slidenum">
              <a:rPr lang="en-IN" smtClean="0"/>
              <a:t>2</a:t>
            </a:fld>
            <a:endParaRPr lang="en-IN"/>
          </a:p>
        </p:txBody>
      </p:sp>
    </p:spTree>
    <p:extLst>
      <p:ext uri="{BB962C8B-B14F-4D97-AF65-F5344CB8AC3E}">
        <p14:creationId xmlns:p14="http://schemas.microsoft.com/office/powerpoint/2010/main" val="168640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going to spend real time understanding this company — where it came from, what it actually does, how it makes money, who its customers are, and what the risks look like.</a:t>
            </a:r>
          </a:p>
          <a:p>
            <a:r>
              <a:rPr lang="en-US" dirty="0"/>
              <a:t>Because here is the thing — the AI narrative right now is everywhere. ChatGPT, Claude, Gemini, enterprise copilots. Everyone is talking about the application layer. The chatbots. The models. But underneath every single one of those products sits an enormous physical infrastructure stack — datacenters, GPUs, networking, cooling, power, inference engines. And that infrastructure layer is where the real capital is flowing.</a:t>
            </a:r>
          </a:p>
          <a:p>
            <a:r>
              <a:rPr lang="en-US" dirty="0"/>
              <a:t>That is where </a:t>
            </a:r>
            <a:r>
              <a:rPr lang="en-US" dirty="0" err="1"/>
              <a:t>Nebius</a:t>
            </a:r>
            <a:r>
              <a:rPr lang="en-US" dirty="0"/>
              <a:t> lives.</a:t>
            </a:r>
          </a:p>
          <a:p>
            <a:r>
              <a:rPr lang="en-US" dirty="0" err="1"/>
              <a:t>Nebius</a:t>
            </a:r>
            <a:r>
              <a:rPr lang="en-US" dirty="0"/>
              <a:t> is positioning itself as what the industry calls a </a:t>
            </a:r>
            <a:r>
              <a:rPr lang="en-US" b="1" dirty="0" err="1"/>
              <a:t>Neocloud</a:t>
            </a:r>
            <a:r>
              <a:rPr lang="en-US" dirty="0"/>
              <a:t> — an AI-native, GPU-first cloud provider built specifically for large-scale AI training and inference. Not a general-purpose cloud. Not another AWS. Something more specialized, more optimized, and arguably more relevant for the kind of workloads that the AI economy actually demands.</a:t>
            </a:r>
          </a:p>
          <a:p>
            <a:r>
              <a:rPr lang="en-US" dirty="0"/>
              <a:t>Over the next 40 to 60 minutes, we are going to work through a series of critical questions:</a:t>
            </a:r>
          </a:p>
          <a:p>
            <a:r>
              <a:rPr lang="en-US" dirty="0"/>
              <a:t>Why has AI infrastructure become one of the most capital-intensive opportunities in modern technology? Why are companies like Meta and Microsoft — companies with massive internal engineering teams — outsourcing portions of their AI compute to a company most people have never heard of? Can a </a:t>
            </a:r>
            <a:r>
              <a:rPr lang="en-US" dirty="0" err="1"/>
              <a:t>neocloud</a:t>
            </a:r>
            <a:r>
              <a:rPr lang="en-US" dirty="0"/>
              <a:t> actually compete against Amazon, Google, and Microsoft? And perhaps most importantly — is </a:t>
            </a:r>
            <a:r>
              <a:rPr lang="en-US" dirty="0" err="1"/>
              <a:t>Nebius</a:t>
            </a:r>
            <a:r>
              <a:rPr lang="en-US" dirty="0"/>
              <a:t> building a durable business, or is this just a cyclical infrastructure play riding the AI wave?</a:t>
            </a:r>
          </a:p>
          <a:p>
            <a:r>
              <a:rPr lang="en-US" dirty="0"/>
              <a:t>We will cover the full picture: the company's transformation from Yandex, its business model, its financial trajectory, its contract backlog, its NVIDIA relationship, its sovereign AI positioning, competitive dynamics, risks, and valuation scenarios.</a:t>
            </a:r>
          </a:p>
          <a:p>
            <a:r>
              <a:rPr lang="en-US" dirty="0"/>
              <a:t>This is a high-risk, high-reward infrastructure story, and by the end of this video, you will have the framework to evaluate it properly.</a:t>
            </a:r>
          </a:p>
          <a:p>
            <a:r>
              <a:rPr lang="en-US" dirty="0"/>
              <a:t>Let us get into it.</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49F3E57C-F302-4DDA-9D05-13A296E43432}" type="slidenum">
              <a:rPr lang="en-IN" smtClean="0"/>
              <a:t>3</a:t>
            </a:fld>
            <a:endParaRPr lang="en-IN"/>
          </a:p>
        </p:txBody>
      </p:sp>
    </p:spTree>
    <p:extLst>
      <p:ext uri="{BB962C8B-B14F-4D97-AF65-F5344CB8AC3E}">
        <p14:creationId xmlns:p14="http://schemas.microsoft.com/office/powerpoint/2010/main" val="2088008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a:t>
            </a:r>
            <a:r>
              <a:rPr lang="en-US" dirty="0" err="1"/>
              <a:t>Nebius</a:t>
            </a:r>
            <a:r>
              <a:rPr lang="en-US" dirty="0"/>
              <a:t>, you have to start with Yandex — because this is genuinely one of the most unusual origin stories in modern technology.</a:t>
            </a:r>
          </a:p>
          <a:p>
            <a:r>
              <a:rPr lang="en-US" dirty="0"/>
              <a:t>Yandex was often called the "Google of Russia." For decades, it built world-class capabilities in distributed computing, search optimization, datacenter engineering, AI research, and large-scale software architecture. This was not a small regional internet company. At its peak, Yandex was one of the most technically sophisticated technology organizations in the world.</a:t>
            </a:r>
          </a:p>
          <a:p>
            <a:r>
              <a:rPr lang="en-US" dirty="0"/>
              <a:t>Then came 2022. The Russia-Ukraine war. Sanctions. And one of the most complex corporate restructurings the technology industry has ever seen.</a:t>
            </a:r>
          </a:p>
          <a:p>
            <a:r>
              <a:rPr lang="en-US" dirty="0"/>
              <a:t>Yandex spent the next two years surgically separating its European and international assets from its Russian operations. In July 2024, that process was completed — the Russian assets were sold for $5.4 billion. What remained became </a:t>
            </a:r>
            <a:r>
              <a:rPr lang="en-US" dirty="0" err="1"/>
              <a:t>Nebius</a:t>
            </a:r>
            <a:r>
              <a:rPr lang="en-US" dirty="0"/>
              <a:t> Group, incorporated in the Netherlands, relisted on Nasdaq, and focused entirely on building an AI infrastructure platform for global markets.</a:t>
            </a:r>
          </a:p>
          <a:p>
            <a:r>
              <a:rPr lang="en-US" dirty="0"/>
              <a:t>Now here is why this origin story matters so much for the investment thesis.</a:t>
            </a:r>
          </a:p>
          <a:p>
            <a:r>
              <a:rPr lang="en-US" dirty="0"/>
              <a:t>Most infrastructure startups face two existential problems from day one: they have no money, and they have no talent. </a:t>
            </a:r>
            <a:r>
              <a:rPr lang="en-US" dirty="0" err="1"/>
              <a:t>Nebius</a:t>
            </a:r>
            <a:r>
              <a:rPr lang="en-US" dirty="0"/>
              <a:t> began with neither of those problems.</a:t>
            </a:r>
          </a:p>
          <a:p>
            <a:r>
              <a:rPr lang="en-US" dirty="0"/>
              <a:t>What they inherited from the Yandex restructuring was extraordinary: approximately </a:t>
            </a:r>
            <a:r>
              <a:rPr lang="en-US" b="1" dirty="0"/>
              <a:t>1,300 world-class engineers</a:t>
            </a:r>
            <a:r>
              <a:rPr lang="en-US" dirty="0"/>
              <a:t> with deep expertise in datacenter hardware, networking, AI research, and inference optimization. A </a:t>
            </a:r>
            <a:r>
              <a:rPr lang="en-US" b="1" dirty="0"/>
              <a:t>$2.8 billion cash position</a:t>
            </a:r>
            <a:r>
              <a:rPr lang="en-US" dirty="0"/>
              <a:t> — essentially no-debt infrastructure capital before they even opened their doors. A </a:t>
            </a:r>
            <a:r>
              <a:rPr lang="en-US" b="1" dirty="0"/>
              <a:t>state-of-the-art Finnish datacenter</a:t>
            </a:r>
            <a:r>
              <a:rPr lang="en-US" dirty="0"/>
              <a:t> in </a:t>
            </a:r>
            <a:r>
              <a:rPr lang="en-US" dirty="0" err="1"/>
              <a:t>Mäntsälä</a:t>
            </a:r>
            <a:r>
              <a:rPr lang="en-US" dirty="0"/>
              <a:t> housing the 16th most powerful supercomputer in the world. And an </a:t>
            </a:r>
            <a:r>
              <a:rPr lang="en-US" b="1" dirty="0"/>
              <a:t>intellectual property portfolio</a:t>
            </a:r>
            <a:r>
              <a:rPr lang="en-US" dirty="0"/>
              <a:t> covering inference optimization techniques developed over years of running Yandex's search engine at scale.</a:t>
            </a:r>
          </a:p>
          <a:p>
            <a:r>
              <a:rPr lang="en-US" dirty="0"/>
              <a:t>Think about that for a moment. Inference optimization from running search at scale is actually directly applicable to running LLMs at scale. The computational patterns are remarkably similar. That is not an accident — that is a structural advantage that most </a:t>
            </a:r>
            <a:r>
              <a:rPr lang="en-US" dirty="0" err="1"/>
              <a:t>neocloud</a:t>
            </a:r>
            <a:r>
              <a:rPr lang="en-US" dirty="0"/>
              <a:t> competitors simply do not have.</a:t>
            </a:r>
          </a:p>
          <a:p>
            <a:r>
              <a:rPr lang="en-US" dirty="0"/>
              <a:t>The restructuring also repositioned the company strategically. Rather than being a regional internet platform, </a:t>
            </a:r>
            <a:r>
              <a:rPr lang="en-US" dirty="0" err="1"/>
              <a:t>Nebius</a:t>
            </a:r>
            <a:r>
              <a:rPr lang="en-US" dirty="0"/>
              <a:t> reoriented itself as a global AI infrastructure provider, a sovereign European cloud, and a specialized alternative to the major </a:t>
            </a:r>
            <a:r>
              <a:rPr lang="en-US" dirty="0" err="1"/>
              <a:t>hyperscalers</a:t>
            </a:r>
            <a:r>
              <a:rPr lang="en-US" dirty="0"/>
              <a:t>.</a:t>
            </a:r>
          </a:p>
          <a:p>
            <a:r>
              <a:rPr lang="en-US" dirty="0"/>
              <a:t>In October 2024, Nasdaq trading resumed. The company raised $700 million in an oversubscribed capital raise — with NVIDIA as a participant. And from that point forward, the growth trajectory has been extraordinary.</a:t>
            </a:r>
          </a:p>
          <a:p>
            <a:r>
              <a:rPr lang="en-US" dirty="0"/>
              <a:t>The key point here: </a:t>
            </a:r>
            <a:r>
              <a:rPr lang="en-US" dirty="0" err="1"/>
              <a:t>Nebius</a:t>
            </a:r>
            <a:r>
              <a:rPr lang="en-US" dirty="0"/>
              <a:t> is not a startup trying to build credibility from scratch. It inherited decades of engineering sophistication. And that inherited DNA may ultimately be one of its most important competitive advantages.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a:t>
            </a:r>
            <a:r>
              <a:rPr lang="en-US" dirty="0" err="1"/>
              <a:t>Nebius</a:t>
            </a:r>
            <a:r>
              <a:rPr lang="en-US" dirty="0"/>
              <a:t> actually do? Let us break down the business model.</a:t>
            </a:r>
          </a:p>
          <a:p>
            <a:r>
              <a:rPr lang="en-US" dirty="0"/>
              <a:t>The starting point is understanding what a </a:t>
            </a:r>
            <a:r>
              <a:rPr lang="en-US" b="1" dirty="0" err="1"/>
              <a:t>Neocloud</a:t>
            </a:r>
            <a:r>
              <a:rPr lang="en-US" dirty="0"/>
              <a:t> is, because it sits between two worlds.</a:t>
            </a:r>
          </a:p>
          <a:p>
            <a:r>
              <a:rPr lang="en-US" dirty="0"/>
              <a:t>On one side you have the traditional </a:t>
            </a:r>
            <a:r>
              <a:rPr lang="en-US" dirty="0" err="1"/>
              <a:t>hyperscalers</a:t>
            </a:r>
            <a:r>
              <a:rPr lang="en-US" dirty="0"/>
              <a:t> — AWS, Azure, Google Cloud. These were built for general-purpose computing. Web hosting, databases, enterprise software, storage, analytics. AI workloads were essentially bolted on later. They are enormous, they are everywhere, and they serve millions of customers.</a:t>
            </a:r>
          </a:p>
          <a:p>
            <a:r>
              <a:rPr lang="en-US" dirty="0"/>
              <a:t>On the other side you have </a:t>
            </a:r>
            <a:r>
              <a:rPr lang="en-US" dirty="0" err="1"/>
              <a:t>Nebius</a:t>
            </a:r>
            <a:r>
              <a:rPr lang="en-US" dirty="0"/>
              <a:t> and companies like </a:t>
            </a:r>
            <a:r>
              <a:rPr lang="en-US" dirty="0" err="1"/>
              <a:t>CoreWeave</a:t>
            </a:r>
            <a:r>
              <a:rPr lang="en-US" dirty="0"/>
              <a:t> — AI-native, GPU-first, optimized specifically for the workloads that modern AI actually requires: extremely high GPU density, ultra-low latency networking, massive sustained power draw, and specialized cooling.</a:t>
            </a:r>
          </a:p>
          <a:p>
            <a:r>
              <a:rPr lang="en-US" dirty="0"/>
              <a:t>The market gap </a:t>
            </a:r>
            <a:r>
              <a:rPr lang="en-US" dirty="0" err="1"/>
              <a:t>Nebius</a:t>
            </a:r>
            <a:r>
              <a:rPr lang="en-US" dirty="0"/>
              <a:t> fills is flexibility, optimization, and the absence of </a:t>
            </a:r>
            <a:r>
              <a:rPr lang="en-US" dirty="0" err="1"/>
              <a:t>hyperscaler</a:t>
            </a:r>
            <a:r>
              <a:rPr lang="en-US" dirty="0"/>
              <a:t> lock-in. And that gap is real.</a:t>
            </a:r>
          </a:p>
          <a:p>
            <a:r>
              <a:rPr lang="en-US" dirty="0" err="1"/>
              <a:t>Nebius's</a:t>
            </a:r>
            <a:r>
              <a:rPr lang="en-US" dirty="0"/>
              <a:t> business model runs across four layers:</a:t>
            </a:r>
          </a:p>
          <a:p>
            <a:r>
              <a:rPr lang="en-US" b="1" dirty="0"/>
              <a:t>Layer One — AI Cloud (GPU Rental).</a:t>
            </a:r>
            <a:r>
              <a:rPr lang="en-US" dirty="0"/>
              <a:t> Customers rent NVIDIA GPUs — H100s, H200s, Blackwell, and soon Vera Rubin — by the hour, with no minimum contracts, full custom cluster configuration, and API-managed access. Higher customization commands higher hourly rates. Customers range from AI startups and research labs to </a:t>
            </a:r>
            <a:r>
              <a:rPr lang="en-US" dirty="0" err="1"/>
              <a:t>hyperscalers</a:t>
            </a:r>
            <a:r>
              <a:rPr lang="en-US" dirty="0"/>
              <a:t> needing overflow compute capacity.</a:t>
            </a:r>
          </a:p>
          <a:p>
            <a:r>
              <a:rPr lang="en-US" b="1" dirty="0"/>
              <a:t>Layer Two — AI Studio (Inference Platform).</a:t>
            </a:r>
            <a:r>
              <a:rPr lang="en-US" dirty="0"/>
              <a:t> This is where it gets more interesting strategically. AI Studio is </a:t>
            </a:r>
            <a:r>
              <a:rPr lang="en-US" dirty="0" err="1"/>
              <a:t>Nebius's</a:t>
            </a:r>
            <a:r>
              <a:rPr lang="en-US" dirty="0"/>
              <a:t> inference and model deployment platform. It supports open-source model serving — LLMs, image generation, multimodal models. There is a proprietary high-speed inference engine called the </a:t>
            </a:r>
            <a:r>
              <a:rPr lang="en-US" b="1" dirty="0"/>
              <a:t>Token Factory</a:t>
            </a:r>
            <a:r>
              <a:rPr lang="en-US" dirty="0"/>
              <a:t>. And with the recent </a:t>
            </a:r>
            <a:r>
              <a:rPr lang="en-US" dirty="0" err="1"/>
              <a:t>Tavily</a:t>
            </a:r>
            <a:r>
              <a:rPr lang="en-US" dirty="0"/>
              <a:t> acquisition, the platform now includes real-time agentic web search capability. The key here is the pricing model: per-token rather than per-GPU, which is much better economics for inference workloads.</a:t>
            </a:r>
          </a:p>
          <a:p>
            <a:r>
              <a:rPr lang="en-US" b="1" dirty="0"/>
              <a:t>Layer Three — Enterprise Dedicated Clusters.</a:t>
            </a:r>
            <a:r>
              <a:rPr lang="en-US" dirty="0"/>
              <a:t> This is the biggest revenue driver right now. Long-term, multi-billion dollar deals with </a:t>
            </a:r>
            <a:r>
              <a:rPr lang="en-US" dirty="0" err="1"/>
              <a:t>hyperscaler</a:t>
            </a:r>
            <a:r>
              <a:rPr lang="en-US" dirty="0"/>
              <a:t>-scale clients. The Meta and Microsoft contracts sit in this layer — fully managed infrastructure with SLAs, and pricing at a meaningful premium over on-demand GPU rental.</a:t>
            </a:r>
          </a:p>
          <a:p>
            <a:r>
              <a:rPr lang="en-US" b="1" dirty="0"/>
              <a:t>Layer Four — Sovereign AI and European Cloud.</a:t>
            </a:r>
            <a:r>
              <a:rPr lang="en-US" dirty="0"/>
              <a:t> This is the strategic differentiator that I think is underappreciated. European data residency compliance, EU AI Act alignment, Finnish datacenters powered by hydro and nuclear energy, and positioning as Europe's neutral AI cloud. The Israeli national supercomputer project is another example of this vertical. Importantly, </a:t>
            </a:r>
            <a:r>
              <a:rPr lang="en-US" dirty="0" err="1"/>
              <a:t>Nebius</a:t>
            </a:r>
            <a:r>
              <a:rPr lang="en-US" dirty="0"/>
              <a:t> operates infrastructure that never touches AWS, Azure, or GCP — that matters enormously to certain enterprise and government clients.</a:t>
            </a:r>
          </a:p>
          <a:p>
            <a:r>
              <a:rPr lang="en-US" dirty="0"/>
              <a:t>The core strategic insight: </a:t>
            </a:r>
            <a:r>
              <a:rPr lang="en-US" b="1" dirty="0" err="1"/>
              <a:t>Nebius</a:t>
            </a:r>
            <a:r>
              <a:rPr lang="en-US" b="1" dirty="0"/>
              <a:t> does not need to replace AWS</a:t>
            </a:r>
            <a:r>
              <a:rPr lang="en-US" dirty="0"/>
              <a:t>. It only needs to become indispensable for a subset of AI workloads. If AI infrastructure demand stays fragmented and specialized — and there are strong reasons to believe it will — then </a:t>
            </a:r>
            <a:r>
              <a:rPr lang="en-US" dirty="0" err="1"/>
              <a:t>Nebius</a:t>
            </a:r>
            <a:r>
              <a:rPr lang="en-US" dirty="0"/>
              <a:t> can coexist alongside </a:t>
            </a:r>
            <a:r>
              <a:rPr lang="en-US" dirty="0" err="1"/>
              <a:t>hyperscalers</a:t>
            </a:r>
            <a:r>
              <a:rPr lang="en-US" dirty="0"/>
              <a:t> at significant scale.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the numbers, because they are genuinely remarkable.</a:t>
            </a:r>
          </a:p>
          <a:p>
            <a:r>
              <a:rPr lang="en-US" dirty="0"/>
              <a:t>In FY2023, </a:t>
            </a:r>
            <a:r>
              <a:rPr lang="en-US" dirty="0" err="1"/>
              <a:t>Nebius</a:t>
            </a:r>
            <a:r>
              <a:rPr lang="en-US" dirty="0"/>
              <a:t> generated approximately $10 million in revenue. Full year. $10 million.</a:t>
            </a:r>
          </a:p>
          <a:p>
            <a:r>
              <a:rPr lang="en-US" dirty="0"/>
              <a:t>By FY2025, that number had reached </a:t>
            </a:r>
            <a:r>
              <a:rPr lang="en-US" b="1" dirty="0"/>
              <a:t>$529.8 million</a:t>
            </a:r>
            <a:r>
              <a:rPr lang="en-US" dirty="0"/>
              <a:t> — representing </a:t>
            </a:r>
            <a:r>
              <a:rPr lang="en-US" b="1" dirty="0"/>
              <a:t>479% year-over-year growth</a:t>
            </a:r>
            <a:r>
              <a:rPr lang="en-US" dirty="0"/>
              <a:t>. That is not a typo. That is not cherry-picked. That is the full-year growth rate for the company's fiscal 2025.</a:t>
            </a:r>
          </a:p>
          <a:p>
            <a:r>
              <a:rPr lang="en-US" dirty="0"/>
              <a:t>Q4 2025 revenue alone came in at $227.7 million — a 547% year-over-year increase, and 56% sequential growth from Q3. The quarterly ARR run-rate exiting 2025 was approximately $910 million.</a:t>
            </a:r>
          </a:p>
          <a:p>
            <a:r>
              <a:rPr lang="en-US" dirty="0"/>
              <a:t>But before you get carried away on the top line, you need to understand the financial structure of this business.</a:t>
            </a:r>
          </a:p>
          <a:p>
            <a:r>
              <a:rPr lang="en-US" dirty="0" err="1"/>
              <a:t>Nebius</a:t>
            </a:r>
            <a:r>
              <a:rPr lang="en-US" dirty="0"/>
              <a:t> is not a software company. It is an infrastructure business. And infrastructure businesses behave differently. Growth comes in bursts tied to datacenter deployments. A single cluster coming online can unlock hundreds of millions in annualized revenue practically overnight. That creates explosive top-line growth but also uneven quarterly recognition and significant execution volatility.</a:t>
            </a:r>
          </a:p>
          <a:p>
            <a:r>
              <a:rPr lang="en-US" dirty="0"/>
              <a:t>The profitability picture is nuanced. Net income for FY2025 was </a:t>
            </a:r>
            <a:r>
              <a:rPr lang="en-US" b="1" dirty="0"/>
              <a:t>$82.5 million</a:t>
            </a:r>
            <a:r>
              <a:rPr lang="en-US" dirty="0"/>
              <a:t> — the company's first-ever positive net income, compared to a loss of over $600 million in FY2024. Adjusted EBITDA loss narrowed dramatically to approximately negative $143 million in 2025, down from negative $314 million the year before. And operating cash flow turned positive at $401.9 million — which is a critical signal that clusters are being monetized effectively and infrastructure utilization is genuinely ramping.</a:t>
            </a:r>
          </a:p>
          <a:p>
            <a:r>
              <a:rPr lang="en-US" dirty="0"/>
              <a:t>The cash position stands at </a:t>
            </a:r>
            <a:r>
              <a:rPr lang="en-US" b="1" dirty="0"/>
              <a:t>$3.67 billion</a:t>
            </a:r>
            <a:r>
              <a:rPr lang="en-US" dirty="0"/>
              <a:t> as of December 2025 — stronger than many investors realize.</a:t>
            </a:r>
          </a:p>
          <a:p>
            <a:r>
              <a:rPr lang="en-US" dirty="0"/>
              <a:t>But GAAP profitability will remain complicated, because GPU infrastructure carries enormous depreciation. Even with improving EBITDA, investors should expect continued GAAP losses driven by depreciation on the hardware buildout and interest on the convertible notes raised in March 2026.</a:t>
            </a:r>
          </a:p>
          <a:p>
            <a:r>
              <a:rPr lang="en-US" dirty="0"/>
              <a:t>Management's forward guidance is aggressive: </a:t>
            </a:r>
            <a:r>
              <a:rPr lang="en-US" b="1" dirty="0"/>
              <a:t>$3.0 to $3.4 billion in FY2026 revenue</a:t>
            </a:r>
            <a:r>
              <a:rPr lang="en-US" dirty="0"/>
              <a:t>, and ARR targets of </a:t>
            </a:r>
            <a:r>
              <a:rPr lang="en-US" b="1" dirty="0"/>
              <a:t>$7 to $9 billion by year-end 2026</a:t>
            </a:r>
            <a:r>
              <a:rPr lang="en-US" dirty="0"/>
              <a:t>. To put that in context — the company is guiding for roughly a 6x revenue increase in a single year. That is almost entirely contingent on successful infrastructure deployment and contract execution.</a:t>
            </a:r>
          </a:p>
          <a:p>
            <a:r>
              <a:rPr lang="en-US" dirty="0"/>
              <a:t>The debate investors are having right now is essentially this: is </a:t>
            </a:r>
            <a:r>
              <a:rPr lang="en-US" dirty="0" err="1"/>
              <a:t>Nebius</a:t>
            </a:r>
            <a:r>
              <a:rPr lang="en-US" dirty="0"/>
              <a:t> a software company, an infrastructure utility, or an industrial scaling play? Because the answer to that question determines which valuation framework applies — and those frameworks produce wildly different multiples.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get to the most important validation signal in the entire </a:t>
            </a:r>
            <a:r>
              <a:rPr lang="en-US" dirty="0" err="1"/>
              <a:t>Nebius</a:t>
            </a:r>
            <a:r>
              <a:rPr lang="en-US" dirty="0"/>
              <a:t> story — the relationship with NVIDIA.</a:t>
            </a:r>
          </a:p>
          <a:p>
            <a:r>
              <a:rPr lang="en-US" dirty="0"/>
              <a:t>In AI infrastructure, NVIDIA GPU access is not just hardware. It is the fundamental bottleneck of the entire industry. Access to Hopper, Blackwell, and Vera Rubin systems — and more importantly, priority allocation during periods of extreme scarcity — is effectively a competitive moat in itself.</a:t>
            </a:r>
          </a:p>
          <a:p>
            <a:r>
              <a:rPr lang="en-US" dirty="0"/>
              <a:t>NVIDIA does not distribute chips randomly. They selectively prioritize customers based on technical capability, deployment readiness, networking sophistication, power availability, and long-term strategic relevance. You have to prove you can actually deploy and utilize the hardware at scale. Most cloud providers cannot simply order unlimited Blackwell systems and expect delivery on any specific timeline.</a:t>
            </a:r>
          </a:p>
          <a:p>
            <a:r>
              <a:rPr lang="en-US" dirty="0" err="1"/>
              <a:t>Nebius</a:t>
            </a:r>
            <a:r>
              <a:rPr lang="en-US" dirty="0"/>
              <a:t> has earned privileged status in that ecosystem.</a:t>
            </a:r>
          </a:p>
          <a:p>
            <a:r>
              <a:rPr lang="en-US" dirty="0"/>
              <a:t>NVIDIA first participated in </a:t>
            </a:r>
            <a:r>
              <a:rPr lang="en-US" dirty="0" err="1"/>
              <a:t>Nebius's</a:t>
            </a:r>
            <a:r>
              <a:rPr lang="en-US" dirty="0"/>
              <a:t> Nasdaq relisting capital raise in October 2024. Then, in December 2024, NVIDIA reportedly invested approximately </a:t>
            </a:r>
            <a:r>
              <a:rPr lang="en-US" b="1" dirty="0"/>
              <a:t>$2 billion</a:t>
            </a:r>
            <a:r>
              <a:rPr lang="en-US" dirty="0"/>
              <a:t> into </a:t>
            </a:r>
            <a:r>
              <a:rPr lang="en-US" dirty="0" err="1"/>
              <a:t>Nebius</a:t>
            </a:r>
            <a:r>
              <a:rPr lang="en-US" dirty="0"/>
              <a:t> — a strategic investment that sent a clear signal to the entire market about how seriously NVIDIA views this company.</a:t>
            </a:r>
          </a:p>
          <a:p>
            <a:r>
              <a:rPr lang="en-US" dirty="0"/>
              <a:t>That investment matters for three reasons.</a:t>
            </a:r>
          </a:p>
          <a:p>
            <a:r>
              <a:rPr lang="en-US" dirty="0"/>
              <a:t>First — </a:t>
            </a:r>
            <a:r>
              <a:rPr lang="en-US" b="1" dirty="0"/>
              <a:t>preferred GPU allocation</a:t>
            </a:r>
            <a:r>
              <a:rPr lang="en-US" dirty="0"/>
              <a:t>. </a:t>
            </a:r>
            <a:r>
              <a:rPr lang="en-US" dirty="0" err="1"/>
              <a:t>Nebius</a:t>
            </a:r>
            <a:r>
              <a:rPr lang="en-US" dirty="0"/>
              <a:t> gains earlier and larger access to Hopper, Blackwell, Blackwell Ultra, and Vera Rubin systems than competitors who lack that strategic alignment.</a:t>
            </a:r>
          </a:p>
          <a:p>
            <a:r>
              <a:rPr lang="en-US" dirty="0"/>
              <a:t>Second — </a:t>
            </a:r>
            <a:r>
              <a:rPr lang="en-US" b="1" dirty="0"/>
              <a:t>engineering collaboration</a:t>
            </a:r>
            <a:r>
              <a:rPr lang="en-US" dirty="0"/>
              <a:t>. Infrastructure performance is not just about owning GPUs. It is about optimizing interconnect bandwidth, inference throughput, cluster orchestration, and power efficiency. </a:t>
            </a:r>
            <a:r>
              <a:rPr lang="en-US" dirty="0" err="1"/>
              <a:t>Nebius's</a:t>
            </a:r>
            <a:r>
              <a:rPr lang="en-US" dirty="0"/>
              <a:t> inherited Yandex expertise in distributed systems is precisely the kind of capability NVIDIA wants deployed alongside its cutting-edge hardware. They appear to view </a:t>
            </a:r>
            <a:r>
              <a:rPr lang="en-US" dirty="0" err="1"/>
              <a:t>Nebius</a:t>
            </a:r>
            <a:r>
              <a:rPr lang="en-US" dirty="0"/>
              <a:t> as technically capable enough to extract maximum value from the infrastructure — which is a meaningful endorsement.</a:t>
            </a:r>
          </a:p>
          <a:p>
            <a:r>
              <a:rPr lang="en-US" dirty="0"/>
              <a:t>Third — </a:t>
            </a:r>
            <a:r>
              <a:rPr lang="en-US" b="1" dirty="0"/>
              <a:t>customer signaling</a:t>
            </a:r>
            <a:r>
              <a:rPr lang="en-US" dirty="0"/>
              <a:t>. When Meta and Microsoft are evaluating which </a:t>
            </a:r>
            <a:r>
              <a:rPr lang="en-US" dirty="0" err="1"/>
              <a:t>neocloud</a:t>
            </a:r>
            <a:r>
              <a:rPr lang="en-US" dirty="0"/>
              <a:t> to trust with multi-billion dollar, multi-year infrastructure commitments, the fact that NVIDIA has written a $2 billion equity cheque into </a:t>
            </a:r>
            <a:r>
              <a:rPr lang="en-US" dirty="0" err="1"/>
              <a:t>Nebius</a:t>
            </a:r>
            <a:r>
              <a:rPr lang="en-US" dirty="0"/>
              <a:t> is a powerful signal. It dramatically reduces perceived counterparty risk.</a:t>
            </a:r>
          </a:p>
          <a:p>
            <a:r>
              <a:rPr lang="en-US" dirty="0"/>
              <a:t>One important caveat: </a:t>
            </a:r>
            <a:r>
              <a:rPr lang="en-US" dirty="0" err="1"/>
              <a:t>Nebius</a:t>
            </a:r>
            <a:r>
              <a:rPr lang="en-US" dirty="0"/>
              <a:t> is deeply tied to the NVIDIA ecosystem. If future AI hardware architectures diversify — through custom ASICs, AMD competition, or internally designed accelerators — </a:t>
            </a:r>
            <a:r>
              <a:rPr lang="en-US" dirty="0" err="1"/>
              <a:t>Nebius</a:t>
            </a:r>
            <a:r>
              <a:rPr lang="en-US" dirty="0"/>
              <a:t> would face meaningful adaptation pressure. For now, however, the NVIDIA partnership is one of the company's strongest strategic assets.</a:t>
            </a:r>
            <a:br>
              <a:rPr lang="en-US" dirty="0"/>
            </a:br>
            <a:br>
              <a:rPr lang="en-US" dirty="0"/>
            </a:br>
            <a:br>
              <a:rPr lang="en-US" dirty="0"/>
            </a:br>
            <a:r>
              <a:rPr lang="en-US" dirty="0"/>
              <a:t>This slide contains the single most important figure in the investment thesis, so let us spend real time on it.</a:t>
            </a:r>
          </a:p>
          <a:p>
            <a:r>
              <a:rPr lang="en-US" dirty="0" err="1"/>
              <a:t>Nebius</a:t>
            </a:r>
            <a:r>
              <a:rPr lang="en-US" dirty="0"/>
              <a:t> reports a contracted backlog of roughly </a:t>
            </a:r>
            <a:r>
              <a:rPr lang="en-US" b="1" dirty="0"/>
              <a:t>$45 billion or more</a:t>
            </a:r>
            <a:r>
              <a:rPr lang="en-US" dirty="0"/>
              <a:t>.</a:t>
            </a:r>
          </a:p>
          <a:p>
            <a:r>
              <a:rPr lang="en-US" dirty="0"/>
              <a:t>Let that sink in. A company with a market cap in the mid-$20 billion range has over $45 billion in contracted revenue backlog. That is extraordinary.</a:t>
            </a:r>
          </a:p>
          <a:p>
            <a:r>
              <a:rPr lang="en-US" dirty="0"/>
              <a:t>The backlog is anchored by two names:</a:t>
            </a:r>
          </a:p>
          <a:p>
            <a:r>
              <a:rPr lang="en-US" b="1" dirty="0"/>
              <a:t>Microsoft</a:t>
            </a:r>
            <a:r>
              <a:rPr lang="en-US" dirty="0"/>
              <a:t> — approximately $17.4 billion over five years, for dedicated GPU capacity from their new </a:t>
            </a:r>
            <a:r>
              <a:rPr lang="en-US" dirty="0" err="1"/>
              <a:t>New</a:t>
            </a:r>
            <a:r>
              <a:rPr lang="en-US" dirty="0"/>
              <a:t> Jersey facility. This is a landmark deal that provides multi-year revenue visibility and validates </a:t>
            </a:r>
            <a:r>
              <a:rPr lang="en-US" dirty="0" err="1"/>
              <a:t>Nebius's</a:t>
            </a:r>
            <a:r>
              <a:rPr lang="en-US" dirty="0"/>
              <a:t> US infrastructure buildout.</a:t>
            </a:r>
          </a:p>
          <a:p>
            <a:r>
              <a:rPr lang="en-US" b="1" dirty="0"/>
              <a:t>Meta</a:t>
            </a:r>
            <a:r>
              <a:rPr lang="en-US" dirty="0"/>
              <a:t> — initially a $2.9 billion contract signed in November 2025 for dedicated GPU clusters to power Llama LLM training. Then in March 2026, Meta expanded that relationship dramatically with a </a:t>
            </a:r>
            <a:r>
              <a:rPr lang="en-US" b="1" dirty="0"/>
              <a:t>$27 billion commitment</a:t>
            </a:r>
            <a:r>
              <a:rPr lang="en-US" dirty="0"/>
              <a:t> — $12 billion in dedicated NVIDIA Vera Rubin capacity plus up to $15 billion in additional compute rights. First delivery begins early 2027.</a:t>
            </a:r>
          </a:p>
          <a:p>
            <a:r>
              <a:rPr lang="en-US" dirty="0"/>
              <a:t>These are not pilot projects. These are generational infrastructure commitments. The companies making them — Meta and Microsoft — are among the most sophisticated technology organizations on the planet. They are not writing $10 and $27 billion cheques to a </a:t>
            </a:r>
            <a:r>
              <a:rPr lang="en-US" dirty="0" err="1"/>
              <a:t>neocloud</a:t>
            </a:r>
            <a:r>
              <a:rPr lang="en-US" dirty="0"/>
              <a:t> without rigorous due diligence.</a:t>
            </a:r>
          </a:p>
          <a:p>
            <a:r>
              <a:rPr lang="en-US" dirty="0"/>
              <a:t>And here is why the backlog fundamentally changes the investment narrative.</a:t>
            </a:r>
          </a:p>
          <a:p>
            <a:r>
              <a:rPr lang="en-US" dirty="0"/>
              <a:t>Without backlog, </a:t>
            </a:r>
            <a:r>
              <a:rPr lang="en-US" dirty="0" err="1"/>
              <a:t>Nebius</a:t>
            </a:r>
            <a:r>
              <a:rPr lang="en-US" dirty="0"/>
              <a:t> looks like a speculative AI cloud startup. With this backlog, the question shifts entirely — from "Can they find customers?" to "Can they execute fast enough?" That is a completely different risk profile. Customer acquisition risk has been substantially de-risked. Execution risk has replaced it.</a:t>
            </a:r>
          </a:p>
          <a:p>
            <a:r>
              <a:rPr lang="en-US" dirty="0"/>
              <a:t>Management has also stated that current available capacity is effectively </a:t>
            </a:r>
            <a:r>
              <a:rPr lang="en-US" b="1" dirty="0"/>
              <a:t>sold out</a:t>
            </a:r>
            <a:r>
              <a:rPr lang="en-US" dirty="0"/>
              <a:t>. That tells you something profound about the state of AI infrastructure demand today: the bottleneck is no longer finding customers willing to pay — it is physically building fast enough to meet the demand that already exists.</a:t>
            </a:r>
          </a:p>
          <a:p>
            <a:r>
              <a:rPr lang="en-US" dirty="0"/>
              <a:t>One important caveat that investors must understand: backlog does not automatically equal guaranteed revenue. Large infrastructure contracts contain deployment milestones, performance conditions, grace periods, and termination rights. Meta's Vera Rubin agreements reportedly include specific delivery timelines that </a:t>
            </a:r>
            <a:r>
              <a:rPr lang="en-US" dirty="0" err="1"/>
              <a:t>Nebius</a:t>
            </a:r>
            <a:r>
              <a:rPr lang="en-US" dirty="0"/>
              <a:t> must meet to preserve the full contract value. Miss those timelines, and revenue recognition — and potentially the contracts themselves — are at risk.</a:t>
            </a:r>
          </a:p>
          <a:p>
            <a:r>
              <a:rPr lang="en-US" dirty="0"/>
              <a:t>This is the central tension in the </a:t>
            </a:r>
            <a:r>
              <a:rPr lang="en-US" dirty="0" err="1"/>
              <a:t>Nebius</a:t>
            </a:r>
            <a:r>
              <a:rPr lang="en-US" dirty="0"/>
              <a:t> story right now. The demand is real. The backlog is real. The execution challenge is equally real.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infrastructure is ultimately a physical business. And I think this point gets lost when investors approach the sector primarily through a software lens.</a:t>
            </a:r>
          </a:p>
          <a:p>
            <a:r>
              <a:rPr lang="en-US" dirty="0"/>
              <a:t>Every AI inference request, every training run, every token generated — underneath that is an enormous physical infrastructure consuming land, concrete, transformers, cooling systems, fiber, water, and most critically, electricity. Modern AI datacenters increasingly resemble industrial power projects more than anything from the first generation of cloud computing.</a:t>
            </a:r>
          </a:p>
          <a:p>
            <a:r>
              <a:rPr lang="en-US" dirty="0" err="1"/>
              <a:t>Nebius</a:t>
            </a:r>
            <a:r>
              <a:rPr lang="en-US" dirty="0"/>
              <a:t> understands this deeply, and their infrastructure roadmap reflects it.</a:t>
            </a:r>
          </a:p>
          <a:p>
            <a:r>
              <a:rPr lang="en-US" dirty="0"/>
              <a:t>The company is scaling from approximately 75 megawatts of initial capacity toward </a:t>
            </a:r>
            <a:r>
              <a:rPr lang="en-US" b="1" dirty="0"/>
              <a:t>1 gigawatt of connected capacity by 2026</a:t>
            </a:r>
            <a:r>
              <a:rPr lang="en-US" dirty="0"/>
              <a:t>, with </a:t>
            </a:r>
            <a:r>
              <a:rPr lang="en-US" b="1" dirty="0"/>
              <a:t>2.5 gigawatts contracted by end of 2026</a:t>
            </a:r>
            <a:r>
              <a:rPr lang="en-US" dirty="0"/>
              <a:t>. That is a 30x increase in capacity over roughly two years. The buildout spans:</a:t>
            </a:r>
          </a:p>
          <a:p>
            <a:r>
              <a:rPr lang="en-US" dirty="0"/>
              <a:t>Finland (</a:t>
            </a:r>
            <a:r>
              <a:rPr lang="en-US" dirty="0" err="1"/>
              <a:t>Mäntsälä</a:t>
            </a:r>
            <a:r>
              <a:rPr lang="en-US" dirty="0"/>
              <a:t>) — the legacy flagship, 75 MW, home to the 16th most powerful supercomputer in the world. Kansas City, US — 300 MW, Phase 1 live as of Q1 2025. New Jersey (</a:t>
            </a:r>
            <a:r>
              <a:rPr lang="en-US" dirty="0" err="1"/>
              <a:t>DataOne</a:t>
            </a:r>
            <a:r>
              <a:rPr lang="en-US" dirty="0"/>
              <a:t>) — 300 MW, online mid-2025, backing the Microsoft contract. Paris (Equinix) — NVIDIA H200 cluster live since November 2024. Iceland — additional EU presence for data residency compliance. Lappeenranta, Finland (new) — 310 MW, a $10 billion AI Factory with phases beginning late 2026.</a:t>
            </a:r>
          </a:p>
          <a:p>
            <a:r>
              <a:rPr lang="en-US" dirty="0"/>
              <a:t>On the hardware side, </a:t>
            </a:r>
            <a:r>
              <a:rPr lang="en-US" dirty="0" err="1"/>
              <a:t>Nebius</a:t>
            </a:r>
            <a:r>
              <a:rPr lang="en-US" dirty="0"/>
              <a:t> has moved through the full NVIDIA roadmap: Hopper deployed, Blackwell deployed with 22,000+ units and </a:t>
            </a:r>
            <a:r>
              <a:rPr lang="en-US" dirty="0" err="1"/>
              <a:t>MLPerf</a:t>
            </a:r>
            <a:r>
              <a:rPr lang="en-US" dirty="0"/>
              <a:t> benchmark leadership, Blackwell Ultra currently deploying in London, and Vera Rubin NVL72 ordered for H2 2026 delivery specifically for the Meta $12 billion contract.</a:t>
            </a:r>
          </a:p>
          <a:p>
            <a:r>
              <a:rPr lang="en-US" dirty="0"/>
              <a:t>Now let me highlight what I think is the most underappreciated competitive moat in this entire business: </a:t>
            </a:r>
            <a:r>
              <a:rPr lang="en-US" b="1" dirty="0"/>
              <a:t>energy strategy</a:t>
            </a:r>
            <a:r>
              <a:rPr lang="en-US" dirty="0"/>
              <a:t>.</a:t>
            </a:r>
          </a:p>
          <a:p>
            <a:r>
              <a:rPr lang="en-US" dirty="0"/>
              <a:t>Finland's energy grid is powered by hydroelectric and nuclear generation — among the cheapest and cleanest in Europe. The legacy </a:t>
            </a:r>
            <a:r>
              <a:rPr lang="en-US" dirty="0" err="1"/>
              <a:t>Mäntsälä</a:t>
            </a:r>
            <a:r>
              <a:rPr lang="en-US" dirty="0"/>
              <a:t> datacenter was designed with energy efficiency as a primary constraint. </a:t>
            </a:r>
            <a:r>
              <a:rPr lang="en-US" dirty="0" err="1"/>
              <a:t>Nebius's</a:t>
            </a:r>
            <a:r>
              <a:rPr lang="en-US" dirty="0"/>
              <a:t> Finnish facilities also capture waste heat and channel it into local district heating systems — creating a cost advantage, an ESG credential, and stronger political and regulatory goodwill simultaneously.</a:t>
            </a:r>
          </a:p>
          <a:p>
            <a:r>
              <a:rPr lang="en-US" dirty="0"/>
              <a:t>Here is the insight most investors miss: as AI buildout accelerates globally, the binding constraint is shifting. We have already seen GPU shortages ease somewhat as NVIDIA production scales. The next binding constraint is going to be </a:t>
            </a:r>
            <a:r>
              <a:rPr lang="en-US" b="1" dirty="0"/>
              <a:t>power availability</a:t>
            </a:r>
            <a:r>
              <a:rPr lang="en-US" dirty="0"/>
              <a:t> — access to reliable, scalable, affordable electricity. Whoever secures long-term power contracts at scale may ultimately dominate AI infrastructure economics. </a:t>
            </a:r>
            <a:r>
              <a:rPr lang="en-US" dirty="0" err="1"/>
              <a:t>Nebius</a:t>
            </a:r>
            <a:r>
              <a:rPr lang="en-US" dirty="0"/>
              <a:t> appears to be thinking about this earlier and more seriously than most competitors.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Nebius</a:t>
            </a:r>
            <a:r>
              <a:rPr lang="en-US" dirty="0"/>
              <a:t> is more than a GPU renter. The company sits on a portfolio of AI-adjacent assets inherited from the Yandex restructuring, and it is worth briefly understanding what those are — because they represent optionality that is not fully priced into most valuation frameworks.</a:t>
            </a:r>
          </a:p>
          <a:p>
            <a:r>
              <a:rPr lang="en-US" b="1" dirty="0" err="1"/>
              <a:t>Toloka</a:t>
            </a:r>
            <a:r>
              <a:rPr lang="en-US" b="1" dirty="0"/>
              <a:t> AI</a:t>
            </a:r>
            <a:r>
              <a:rPr lang="en-US" dirty="0"/>
              <a:t> — a B2B SaaS platform for data labeling and RLHF feedback infrastructure. As generative AI models become more sophisticated, demand for high-quality labeled datasets grows with it. </a:t>
            </a:r>
            <a:r>
              <a:rPr lang="en-US" dirty="0" err="1"/>
              <a:t>Toloka</a:t>
            </a:r>
            <a:r>
              <a:rPr lang="en-US" dirty="0"/>
              <a:t> is positioned inside the AI development pipeline itself, serving major AI labs.</a:t>
            </a:r>
          </a:p>
          <a:p>
            <a:r>
              <a:rPr lang="en-US" b="1" dirty="0" err="1"/>
              <a:t>TripleTen</a:t>
            </a:r>
            <a:r>
              <a:rPr lang="en-US" dirty="0"/>
              <a:t> — an edtech platform for workforce reskilling into tech careers, operating in over 15 countries. This is more indirect AI exposure but captures the massive labor transition that AI adoption is creating globally.</a:t>
            </a:r>
          </a:p>
          <a:p>
            <a:r>
              <a:rPr lang="en-US" b="1" dirty="0" err="1"/>
              <a:t>Avride</a:t>
            </a:r>
            <a:r>
              <a:rPr lang="en-US" dirty="0"/>
              <a:t> — this one is potentially the most speculative but highest-upside subsidiary. </a:t>
            </a:r>
            <a:r>
              <a:rPr lang="en-US" dirty="0" err="1"/>
              <a:t>Avride</a:t>
            </a:r>
            <a:r>
              <a:rPr lang="en-US" dirty="0"/>
              <a:t> develops autonomous vehicles and last-mile delivery robotics, spun out of Yandex's AV research program. NVIDIA has a strategic alliance with </a:t>
            </a:r>
            <a:r>
              <a:rPr lang="en-US" dirty="0" err="1"/>
              <a:t>Avride</a:t>
            </a:r>
            <a:r>
              <a:rPr lang="en-US" dirty="0"/>
              <a:t> specifically around Physical AI. If robotics and autonomous systems become the next major AI wave after generative models, </a:t>
            </a:r>
            <a:r>
              <a:rPr lang="en-US" dirty="0" err="1"/>
              <a:t>Avride</a:t>
            </a:r>
            <a:r>
              <a:rPr lang="en-US" dirty="0"/>
              <a:t> could eventually be independently valuable. It is worth watching.</a:t>
            </a:r>
          </a:p>
          <a:p>
            <a:r>
              <a:rPr lang="en-US" b="1" dirty="0" err="1"/>
              <a:t>ClickHouse</a:t>
            </a:r>
            <a:r>
              <a:rPr lang="en-US" dirty="0"/>
              <a:t> — </a:t>
            </a:r>
            <a:r>
              <a:rPr lang="en-US" dirty="0" err="1"/>
              <a:t>Nebius</a:t>
            </a:r>
            <a:r>
              <a:rPr lang="en-US" dirty="0"/>
              <a:t> retains an equity stake in </a:t>
            </a:r>
            <a:r>
              <a:rPr lang="en-US" dirty="0" err="1"/>
              <a:t>ClickHouse</a:t>
            </a:r>
            <a:r>
              <a:rPr lang="en-US" dirty="0"/>
              <a:t>, one of the world's fastest open-source OLAP databases used by Cloudflare, Uber, ByteDance, and major enterprises globally. </a:t>
            </a:r>
            <a:r>
              <a:rPr lang="en-US" dirty="0" err="1"/>
              <a:t>ClickHouse</a:t>
            </a:r>
            <a:r>
              <a:rPr lang="en-US" dirty="0"/>
              <a:t> has raised over $300 million from third-party investors. This stake represents potential hidden value — a liquidity event here could be meaningful.</a:t>
            </a:r>
          </a:p>
          <a:p>
            <a:r>
              <a:rPr lang="en-US" b="1" dirty="0"/>
              <a:t>Israeli National Supercomputer</a:t>
            </a:r>
            <a:r>
              <a:rPr lang="en-US" dirty="0"/>
              <a:t> — </a:t>
            </a:r>
            <a:r>
              <a:rPr lang="en-US" dirty="0" err="1"/>
              <a:t>Nebius</a:t>
            </a:r>
            <a:r>
              <a:rPr lang="en-US" dirty="0"/>
              <a:t> agreed to build and operate a $140 million government-backed supercomputer in Israel, co-funded by the Israeli Innovation Authority. This demonstrates the sovereign AI strategy in action and serves as a template for similar government-backed infrastructure deals across Europe and beyond.</a:t>
            </a:r>
          </a:p>
          <a:p>
            <a:r>
              <a:rPr lang="en-US" dirty="0"/>
              <a:t>The combined message from this portfolio: </a:t>
            </a:r>
            <a:r>
              <a:rPr lang="en-US" dirty="0" err="1"/>
              <a:t>Nebius</a:t>
            </a:r>
            <a:r>
              <a:rPr lang="en-US" dirty="0"/>
              <a:t> is building ecosystem exposure across the entire AI value chain — not just at the infrastructure layer.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look at the competitive battlefield honestly, because this is where a lot of investors get confused.</a:t>
            </a:r>
          </a:p>
          <a:p>
            <a:r>
              <a:rPr lang="en-US" dirty="0" err="1"/>
              <a:t>Nebius's</a:t>
            </a:r>
            <a:r>
              <a:rPr lang="en-US" dirty="0"/>
              <a:t> most direct comparison is </a:t>
            </a:r>
            <a:r>
              <a:rPr lang="en-US" b="1" dirty="0" err="1"/>
              <a:t>CoreWeave</a:t>
            </a:r>
            <a:r>
              <a:rPr lang="en-US" dirty="0"/>
              <a:t> — the other major publicly listed </a:t>
            </a:r>
            <a:r>
              <a:rPr lang="en-US" dirty="0" err="1"/>
              <a:t>neocloud</a:t>
            </a:r>
            <a:r>
              <a:rPr lang="en-US" dirty="0"/>
              <a:t>. Both companies are AI-native GPU cloud providers. Both have NVIDIA as a key partner. Both serve </a:t>
            </a:r>
            <a:r>
              <a:rPr lang="en-US" dirty="0" err="1"/>
              <a:t>hyperscaler</a:t>
            </a:r>
            <a:r>
              <a:rPr lang="en-US" dirty="0"/>
              <a:t>-scale clients.</a:t>
            </a:r>
          </a:p>
          <a:p>
            <a:r>
              <a:rPr lang="en-US" dirty="0"/>
              <a:t>But the financial structures are fundamentally different, and that difference matters enormously.</a:t>
            </a:r>
          </a:p>
          <a:p>
            <a:r>
              <a:rPr lang="en-US" dirty="0" err="1"/>
              <a:t>CoreWeave</a:t>
            </a:r>
            <a:r>
              <a:rPr lang="en-US" dirty="0"/>
              <a:t> funded its GPU buildout primarily through debt — roughly $15 billion or more in leverage secured against NVIDIA hardware as collateral. That is an asset-backed financing model that amplifies both returns and risk. If AI demand stays strong, it works. If demand softens or GPU asset values decline, the leverage becomes a serious problem.</a:t>
            </a:r>
          </a:p>
          <a:p>
            <a:r>
              <a:rPr lang="en-US" dirty="0" err="1"/>
              <a:t>Nebius</a:t>
            </a:r>
            <a:r>
              <a:rPr lang="en-US" dirty="0"/>
              <a:t>, by contrast, began with $2.8 billion in cash from the Yandex sale, no debt at inception, and only started taking on convertible debt in March 2026 — after it had already secured over $45 billion in contracted revenue backlog. That sequencing is fundamentally different from </a:t>
            </a:r>
            <a:r>
              <a:rPr lang="en-US" dirty="0" err="1"/>
              <a:t>CoreWeave's</a:t>
            </a:r>
            <a:r>
              <a:rPr lang="en-US" dirty="0"/>
              <a:t> approach. </a:t>
            </a:r>
            <a:r>
              <a:rPr lang="en-US" dirty="0" err="1"/>
              <a:t>Nebius</a:t>
            </a:r>
            <a:r>
              <a:rPr lang="en-US" dirty="0"/>
              <a:t> is raising capital against contracted cash flows, not against speculative future demand.</a:t>
            </a:r>
          </a:p>
          <a:p>
            <a:r>
              <a:rPr lang="en-US" dirty="0"/>
              <a:t>Versus the </a:t>
            </a:r>
            <a:r>
              <a:rPr lang="en-US" dirty="0" err="1"/>
              <a:t>hyperscalers</a:t>
            </a:r>
            <a:r>
              <a:rPr lang="en-US" dirty="0"/>
              <a:t> — AWS, Azure, Google Cloud — the dynamic is also nuanced. These companies have enormous balance sheets, global infrastructure, and enterprise ecosystems. But they are not always optimally configured for AI-native workloads. They were built for general-purpose cloud, and AI was added later.</a:t>
            </a:r>
          </a:p>
          <a:p>
            <a:r>
              <a:rPr lang="en-US" dirty="0" err="1"/>
              <a:t>Nebius</a:t>
            </a:r>
            <a:r>
              <a:rPr lang="en-US" dirty="0"/>
              <a:t> argues that specialization matters — that a </a:t>
            </a:r>
            <a:r>
              <a:rPr lang="en-US" dirty="0" err="1"/>
              <a:t>neocloud</a:t>
            </a:r>
            <a:r>
              <a:rPr lang="en-US" dirty="0"/>
              <a:t> optimized specifically for GPU-dense AI workloads can deliver better economics per token, better latency, better GPU utilization, and better customization than a general-purpose </a:t>
            </a:r>
            <a:r>
              <a:rPr lang="en-US" dirty="0" err="1"/>
              <a:t>hyperscaler</a:t>
            </a:r>
            <a:r>
              <a:rPr lang="en-US" dirty="0"/>
              <a:t>. That argument is the entire foundation of the </a:t>
            </a:r>
            <a:r>
              <a:rPr lang="en-US" dirty="0" err="1"/>
              <a:t>neocloud</a:t>
            </a:r>
            <a:r>
              <a:rPr lang="en-US" dirty="0"/>
              <a:t> sector.</a:t>
            </a:r>
          </a:p>
          <a:p>
            <a:r>
              <a:rPr lang="en-US" dirty="0"/>
              <a:t>The counterargument is equally important: if AI infrastructure eventually gets commoditized — if Blackwell and Vera Rubin become widely available through </a:t>
            </a:r>
            <a:r>
              <a:rPr lang="en-US" dirty="0" err="1"/>
              <a:t>hyperscalers</a:t>
            </a:r>
            <a:r>
              <a:rPr lang="en-US" dirty="0"/>
              <a:t> at scale — pricing pressure could become severe, and </a:t>
            </a:r>
            <a:r>
              <a:rPr lang="en-US" dirty="0" err="1"/>
              <a:t>Nebius's</a:t>
            </a:r>
            <a:r>
              <a:rPr lang="en-US" dirty="0"/>
              <a:t> optimization advantages could narrow.</a:t>
            </a:r>
          </a:p>
          <a:p>
            <a:r>
              <a:rPr lang="en-US" dirty="0"/>
              <a:t>This is why the company cannot remain just a GPU landlord. It must continuously prove that optimization, sovereignty, flexibility, and engineering expertise create durable value for customers. That is the core strategic battle over the next five years.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most important section for any serious investor: the risks. And there are real ones here.</a:t>
            </a:r>
          </a:p>
          <a:p>
            <a:r>
              <a:rPr lang="en-US" b="1" dirty="0"/>
              <a:t>Customer Concentration — CRITICAL.</a:t>
            </a:r>
            <a:r>
              <a:rPr lang="en-US" dirty="0"/>
              <a:t> Meta and Microsoft together represent the overwhelming majority of </a:t>
            </a:r>
            <a:r>
              <a:rPr lang="en-US" dirty="0" err="1"/>
              <a:t>Nebius's</a:t>
            </a:r>
            <a:r>
              <a:rPr lang="en-US" dirty="0"/>
              <a:t> $45 billion+ contracted backlog. If either company reduces AI spending, changes architecture strategy, delays deployments, or decides to insource capacity, the revenue impact would be severe. At this stage of the company's development, there is very limited diversification protection. This is the single biggest risk in the investment.</a:t>
            </a:r>
          </a:p>
          <a:p>
            <a:r>
              <a:rPr lang="en-US" b="1" dirty="0"/>
              <a:t>Capital Intensity — HIGH.</a:t>
            </a:r>
            <a:r>
              <a:rPr lang="en-US" dirty="0"/>
              <a:t> Management is projecting $20 to $25 billion in capex for 2026 to build out the infrastructure required to fulfill the Meta Vera Rubin contracts. That is </a:t>
            </a:r>
            <a:r>
              <a:rPr lang="en-US" dirty="0" err="1"/>
              <a:t>hyperscaler</a:t>
            </a:r>
            <a:r>
              <a:rPr lang="en-US" dirty="0"/>
              <a:t>-level infrastructure spending. </a:t>
            </a:r>
            <a:r>
              <a:rPr lang="en-US" dirty="0" err="1"/>
              <a:t>Nebius</a:t>
            </a:r>
            <a:r>
              <a:rPr lang="en-US" dirty="0"/>
              <a:t> has already issued $4.34 billion in convertible notes in March 2026, and has an active ATM equity program. Even if demand stays strong, financing execution is a real ongoing risk.</a:t>
            </a:r>
          </a:p>
          <a:p>
            <a:r>
              <a:rPr lang="en-US" b="1" dirty="0"/>
              <a:t>Delivery Deadlines — HIGH.</a:t>
            </a:r>
            <a:r>
              <a:rPr lang="en-US" dirty="0"/>
              <a:t> The Meta contracts reportedly contain specific deployment milestones and termination rights. The first two tranches for the initial $2.9 billion Meta deal — December 2025 and February 2026 — were delivered on schedule, which is a positive signal. But the Vera Rubin buildout starting in H2 2026 is a completely different scale of operational complexity. Any slippage risks the $12 billion contract.</a:t>
            </a:r>
          </a:p>
          <a:p>
            <a:r>
              <a:rPr lang="en-US" b="1" dirty="0"/>
              <a:t>Commoditization — HIGH.</a:t>
            </a:r>
            <a:r>
              <a:rPr lang="en-US" dirty="0"/>
              <a:t> As NVIDIA scales Blackwell and Vera Rubin production, and as </a:t>
            </a:r>
            <a:r>
              <a:rPr lang="en-US" dirty="0" err="1"/>
              <a:t>hyperscalers</a:t>
            </a:r>
            <a:r>
              <a:rPr lang="en-US" dirty="0"/>
              <a:t> absorb more AI infrastructure capacity internally, the competitive landscape could shift against </a:t>
            </a:r>
            <a:r>
              <a:rPr lang="en-US" dirty="0" err="1"/>
              <a:t>neoclouds</a:t>
            </a:r>
            <a:r>
              <a:rPr lang="en-US" dirty="0"/>
              <a:t>. </a:t>
            </a:r>
            <a:r>
              <a:rPr lang="en-US" dirty="0" err="1"/>
              <a:t>Nebius</a:t>
            </a:r>
            <a:r>
              <a:rPr lang="en-US" dirty="0"/>
              <a:t> must continuously demonstrate that optimization provides measurable, quantifiable value — not just marketing language.</a:t>
            </a:r>
          </a:p>
          <a:p>
            <a:r>
              <a:rPr lang="en-US" b="1" dirty="0"/>
              <a:t>Russia/Geopolitical Perception — MEDIUM.</a:t>
            </a:r>
            <a:r>
              <a:rPr lang="en-US" dirty="0"/>
              <a:t> The company has separated cleanly from Russian operations and has undergone extensive regulatory review confirming that separation. But perception risk among some institutional investors persists. Even if the risk is largely unfounded, perception can suppress valuation multiples.</a:t>
            </a:r>
          </a:p>
          <a:p>
            <a:r>
              <a:rPr lang="en-US" b="1" dirty="0"/>
              <a:t>Revenue Timing Concentration — MEDIUM.</a:t>
            </a:r>
            <a:r>
              <a:rPr lang="en-US" dirty="0"/>
              <a:t> Management's guidance implies very heavy revenue concentration in H2 2026, when the Vera Rubin clusters come online. Q1 and Q2 2026 results will likely disappoint some investors expecting linear progression, creating earnings volatility around quarterly reports.</a:t>
            </a:r>
          </a:p>
          <a:p>
            <a:r>
              <a:rPr lang="en-US" b="1" dirty="0"/>
              <a:t>Dilution — WATCH.</a:t>
            </a:r>
            <a:r>
              <a:rPr lang="en-US" dirty="0"/>
              <a:t> Between the ATM equity program (up to 25 million Class A shares) and the $4.34 billion convertible notes, share count is rising. Investors need to monitor whether revenue growth meaningfully outpaces dilution on a per-share basis.</a:t>
            </a:r>
          </a:p>
          <a:p>
            <a:r>
              <a:rPr lang="en-US" dirty="0"/>
              <a:t>None of these risks make </a:t>
            </a:r>
            <a:r>
              <a:rPr lang="en-US" dirty="0" err="1"/>
              <a:t>Nebius</a:t>
            </a:r>
            <a:r>
              <a:rPr lang="en-US" dirty="0"/>
              <a:t> un-investable. But they do make it genuinely high-risk. Eyes open.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Nebius</a:t>
            </a:r>
            <a:r>
              <a:rPr lang="en-US" dirty="0"/>
              <a:t> investment thesis ultimately rests on three beliefs. And importantly — all three must hold simultaneously for the bull case to work. If any one of them breaks, the story changes materially.</a:t>
            </a:r>
          </a:p>
          <a:p>
            <a:r>
              <a:rPr lang="en-US" b="1" dirty="0"/>
              <a:t>Belief One: AI demand is real and economically durable.</a:t>
            </a:r>
            <a:endParaRPr lang="en-US" dirty="0"/>
          </a:p>
          <a:p>
            <a:r>
              <a:rPr lang="en-US" dirty="0"/>
              <a:t>Right now, the evidence strongly supports this. Meta, Microsoft, Google, Amazon, OpenAI — collectively spending tens to hundreds of billions annually on AI infrastructure. That level of capital commitment implies a strong belief in future economic returns.</a:t>
            </a:r>
          </a:p>
          <a:p>
            <a:r>
              <a:rPr lang="en-US" dirty="0"/>
              <a:t>But the counterargument deserves respect. Some analysts argue that model efficiency improvements — the DeepSeek effect — could reduce total compute demand. If future models require dramatically less compute to train and run, the infrastructure economics change. </a:t>
            </a:r>
            <a:r>
              <a:rPr lang="en-US" dirty="0" err="1"/>
              <a:t>Nebius</a:t>
            </a:r>
            <a:r>
              <a:rPr lang="en-US" dirty="0"/>
              <a:t> bulls need AI demand to stay large and growing, not to shrink through efficiency gains.</a:t>
            </a:r>
          </a:p>
          <a:p>
            <a:r>
              <a:rPr lang="en-US" b="1" dirty="0"/>
              <a:t>Belief Two: The AI infrastructure market stays fragmented.</a:t>
            </a:r>
            <a:endParaRPr lang="en-US" dirty="0"/>
          </a:p>
          <a:p>
            <a:r>
              <a:rPr lang="en-US" dirty="0" err="1"/>
              <a:t>Nebius</a:t>
            </a:r>
            <a:r>
              <a:rPr lang="en-US" dirty="0"/>
              <a:t> benefits enormously if enterprises continue demanding specialized infrastructure — sovereign AI compliance, custom cluster configurations, EU data residency, non-</a:t>
            </a:r>
            <a:r>
              <a:rPr lang="en-US" dirty="0" err="1"/>
              <a:t>hyperscaler</a:t>
            </a:r>
            <a:r>
              <a:rPr lang="en-US" dirty="0"/>
              <a:t> alternatives.</a:t>
            </a:r>
          </a:p>
          <a:p>
            <a:r>
              <a:rPr lang="en-US" dirty="0"/>
              <a:t>If instead the market consolidates entirely around two or three </a:t>
            </a:r>
            <a:r>
              <a:rPr lang="en-US" dirty="0" err="1"/>
              <a:t>hyperscalers</a:t>
            </a:r>
            <a:r>
              <a:rPr lang="en-US" dirty="0"/>
              <a:t>, smaller specialized providers get squeezed. </a:t>
            </a:r>
            <a:r>
              <a:rPr lang="en-US" dirty="0" err="1"/>
              <a:t>Nebius</a:t>
            </a:r>
            <a:r>
              <a:rPr lang="en-US" dirty="0"/>
              <a:t> is betting that regulation, customization requirements, latency sensitivity, and enterprise specialization will preserve meaningful space for independent infrastructure providers. The EU AI Act trends seem to support this. But it is not guaranteed.</a:t>
            </a:r>
          </a:p>
          <a:p>
            <a:r>
              <a:rPr lang="en-US" b="1" dirty="0"/>
              <a:t>Belief Three: Optimization creates sustainable differentiation.</a:t>
            </a:r>
            <a:endParaRPr lang="en-US" dirty="0"/>
          </a:p>
          <a:p>
            <a:r>
              <a:rPr lang="en-US" dirty="0"/>
              <a:t>This is the most critical pillar and the hardest to evaluate from the outside. </a:t>
            </a:r>
            <a:r>
              <a:rPr lang="en-US" dirty="0" err="1"/>
              <a:t>Nebius's</a:t>
            </a:r>
            <a:r>
              <a:rPr lang="en-US" dirty="0"/>
              <a:t> core claim is that their Yandex-inherited expertise in inference optimization, cluster tuning, and distributed systems creates measurably better economics for AI workloads than general-purpose alternatives.</a:t>
            </a:r>
          </a:p>
          <a:p>
            <a:r>
              <a:rPr lang="en-US" dirty="0"/>
              <a:t>If that is true — if customers genuinely get better performance per dollar from </a:t>
            </a:r>
            <a:r>
              <a:rPr lang="en-US" dirty="0" err="1"/>
              <a:t>Nebius</a:t>
            </a:r>
            <a:r>
              <a:rPr lang="en-US" dirty="0"/>
              <a:t> than from AWS or Azure — then there is a real moat here. But if optimization advantages erode as GPU hardware becomes more commoditized and </a:t>
            </a:r>
            <a:r>
              <a:rPr lang="en-US" dirty="0" err="1"/>
              <a:t>hyperscalers</a:t>
            </a:r>
            <a:r>
              <a:rPr lang="en-US" dirty="0"/>
              <a:t> invest in their own AI-specific infrastructure, </a:t>
            </a:r>
            <a:r>
              <a:rPr lang="en-US" dirty="0" err="1"/>
              <a:t>Nebius</a:t>
            </a:r>
            <a:r>
              <a:rPr lang="en-US" dirty="0"/>
              <a:t> loses its differentiation story.</a:t>
            </a:r>
          </a:p>
          <a:p>
            <a:r>
              <a:rPr lang="en-US" dirty="0"/>
              <a:t>The co-founder has said something I keep coming back to: "One extra second of compute per task can make the difference between economically viable and failure." That quote either represents a genuine, measurable advantage — or it is a story that sounds compelling until the competition catches up.</a:t>
            </a:r>
          </a:p>
          <a:p>
            <a:r>
              <a:rPr lang="en-US" dirty="0"/>
              <a:t>All three beliefs. Simultaneously. That is the thesis.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walk through the scenario analysis. And I want to be clear upfront: </a:t>
            </a:r>
            <a:r>
              <a:rPr lang="en-US" dirty="0" err="1"/>
              <a:t>Nebius</a:t>
            </a:r>
            <a:r>
              <a:rPr lang="en-US" dirty="0"/>
              <a:t> is one of the hardest companies in the market to value right now, because small changes in execution assumptions produce enormous differences in outcome.</a:t>
            </a:r>
          </a:p>
          <a:p>
            <a:r>
              <a:rPr lang="en-US" b="1" dirty="0"/>
              <a:t>Bear Case — Target Range: $45–65</a:t>
            </a:r>
            <a:endParaRPr lang="en-US" dirty="0"/>
          </a:p>
          <a:p>
            <a:r>
              <a:rPr lang="en-US" dirty="0"/>
              <a:t>This scenario assumes meaningful execution problems emerge.</a:t>
            </a:r>
          </a:p>
          <a:p>
            <a:r>
              <a:rPr lang="en-US" dirty="0"/>
              <a:t>Delivery delays on Vera Rubin, Meta or Microsoft reducing commitments, financing pressure from rising interest costs, or a broader AI capex pullback. Layer on commoditization pressure from </a:t>
            </a:r>
            <a:r>
              <a:rPr lang="en-US" dirty="0" err="1"/>
              <a:t>hyperscalers</a:t>
            </a:r>
            <a:r>
              <a:rPr lang="en-US" dirty="0"/>
              <a:t>, or renewed geopolitical concerns suppressing institutional buying, and you get severe multiple compression.</a:t>
            </a:r>
          </a:p>
          <a:p>
            <a:r>
              <a:rPr lang="en-US" dirty="0"/>
              <a:t>Under these conditions, revenue could come in around $1.5 billion for FY2026 — roughly half of guidance — and the stock re-rates at 7–9x EV/Revenue, implying significant downside from current levels.</a:t>
            </a:r>
          </a:p>
          <a:p>
            <a:r>
              <a:rPr lang="en-US" b="1" dirty="0"/>
              <a:t>Base Case — Target Range: $120–160</a:t>
            </a:r>
            <a:endParaRPr lang="en-US" dirty="0"/>
          </a:p>
          <a:p>
            <a:r>
              <a:rPr lang="en-US" dirty="0"/>
              <a:t>Management largely executes. Revenue hits the $3.0 to $3.4 billion guidance range. Vera Rubin deployments proceed broadly on schedule. EBITDA improves toward breakeven on a full-year basis. Infrastructure utilization scales efficiently and new customers begin diversifying the revenue base away from pure Meta/Microsoft concentration.</a:t>
            </a:r>
          </a:p>
          <a:p>
            <a:r>
              <a:rPr lang="en-US" dirty="0"/>
              <a:t>In this environment, </a:t>
            </a:r>
            <a:r>
              <a:rPr lang="en-US" dirty="0" err="1"/>
              <a:t>Nebius</a:t>
            </a:r>
            <a:r>
              <a:rPr lang="en-US" dirty="0"/>
              <a:t> re-rates from early-stage speculation toward infrastructure growth comps. At 8–12x forward EV/Revenue, you arrive at a range of $120 to $160.</a:t>
            </a:r>
          </a:p>
          <a:p>
            <a:r>
              <a:rPr lang="en-US" b="1" dirty="0"/>
              <a:t>Bull Case — Target Range: $200–250</a:t>
            </a:r>
            <a:endParaRPr lang="en-US" dirty="0"/>
          </a:p>
          <a:p>
            <a:r>
              <a:rPr lang="en-US" dirty="0"/>
              <a:t>This is where the story becomes genuinely compelling.</a:t>
            </a:r>
          </a:p>
          <a:p>
            <a:r>
              <a:rPr lang="en-US" dirty="0"/>
              <a:t>ARR hits the high end of guidance at $9 billion or above. Vera Rubin deployment executes flawlessly. Enterprise customer diversification expands significantly. Sovereign AI demand accelerates across European governments. </a:t>
            </a:r>
            <a:r>
              <a:rPr lang="en-US" dirty="0" err="1"/>
              <a:t>Avride</a:t>
            </a:r>
            <a:r>
              <a:rPr lang="en-US" dirty="0"/>
              <a:t> or </a:t>
            </a:r>
            <a:r>
              <a:rPr lang="en-US" dirty="0" err="1"/>
              <a:t>ClickHouse</a:t>
            </a:r>
            <a:r>
              <a:rPr lang="en-US" dirty="0"/>
              <a:t> generates meaningful liquidity events. EBITDA turns strongly positive mid-year. Institutional coverage expands to 15 or 20 analysts.</a:t>
            </a:r>
          </a:p>
          <a:p>
            <a:r>
              <a:rPr lang="en-US" dirty="0"/>
              <a:t>In this scenario, </a:t>
            </a:r>
            <a:r>
              <a:rPr lang="en-US" dirty="0" err="1"/>
              <a:t>Nebius</a:t>
            </a:r>
            <a:r>
              <a:rPr lang="en-US" dirty="0"/>
              <a:t> evolves from speculative </a:t>
            </a:r>
            <a:r>
              <a:rPr lang="en-US" dirty="0" err="1"/>
              <a:t>neocloud</a:t>
            </a:r>
            <a:r>
              <a:rPr lang="en-US" dirty="0"/>
              <a:t> into a globally strategic AI infrastructure platform. At 15–20x EV/Revenue, you get $200 to $250.</a:t>
            </a:r>
          </a:p>
          <a:p>
            <a:r>
              <a:rPr lang="en-US" dirty="0"/>
              <a:t>The analyst consensus as of this writing sits at a Strong Buy rating with average 12-month targets in the $157 to $167 range. The highest analyst target is $211. Bank of America initiated with a Buy at $150.</a:t>
            </a:r>
          </a:p>
          <a:p>
            <a:r>
              <a:rPr lang="en-US" dirty="0"/>
              <a:t>The key takeaway: this is a binary-</a:t>
            </a:r>
            <a:r>
              <a:rPr lang="en-US" dirty="0" err="1"/>
              <a:t>ish</a:t>
            </a:r>
            <a:r>
              <a:rPr lang="en-US" dirty="0"/>
              <a:t> story in the near term. Execution delivers H2 2026 revenue, or it does not. April 29th Q1 2026 earnings is the first major proving ground.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put the current valuation in context.</a:t>
            </a:r>
          </a:p>
          <a:p>
            <a:r>
              <a:rPr lang="en-US" dirty="0"/>
              <a:t>At roughly $106 per share — the April 2026 reference price in this note — </a:t>
            </a:r>
            <a:r>
              <a:rPr lang="en-US" dirty="0" err="1"/>
              <a:t>Nebius</a:t>
            </a:r>
            <a:r>
              <a:rPr lang="en-US" dirty="0"/>
              <a:t> trades at approximately </a:t>
            </a:r>
            <a:r>
              <a:rPr lang="en-US" b="1" dirty="0"/>
              <a:t>49x trailing EV/Revenue</a:t>
            </a:r>
            <a:r>
              <a:rPr lang="en-US" dirty="0"/>
              <a:t> based on FY2025 results. That sounds expensive until you account for the growth rate. On a forward basis, assuming the $3.0 to $3.4 billion guidance range is achieved, that multiple compresses to approximately </a:t>
            </a:r>
            <a:r>
              <a:rPr lang="en-US" b="1" dirty="0"/>
              <a:t>8x forward EV/Revenue</a:t>
            </a:r>
            <a:r>
              <a:rPr lang="en-US" dirty="0"/>
              <a:t>.</a:t>
            </a:r>
          </a:p>
          <a:p>
            <a:r>
              <a:rPr lang="en-US" dirty="0"/>
              <a:t>Now compare that to </a:t>
            </a:r>
            <a:r>
              <a:rPr lang="en-US" dirty="0" err="1"/>
              <a:t>CoreWeave</a:t>
            </a:r>
            <a:r>
              <a:rPr lang="en-US" dirty="0"/>
              <a:t>, which currently trades at roughly 15x forward EV/Revenue.</a:t>
            </a:r>
          </a:p>
          <a:p>
            <a:r>
              <a:rPr lang="en-US" dirty="0" err="1"/>
              <a:t>Nebius</a:t>
            </a:r>
            <a:r>
              <a:rPr lang="en-US" dirty="0"/>
              <a:t> trades at a meaningful discount to its most direct </a:t>
            </a:r>
            <a:r>
              <a:rPr lang="en-US" dirty="0" err="1"/>
              <a:t>neocloud</a:t>
            </a:r>
            <a:r>
              <a:rPr lang="en-US" dirty="0"/>
              <a:t> peer. The market is telling you something: it is not yet convinced </a:t>
            </a:r>
            <a:r>
              <a:rPr lang="en-US" dirty="0" err="1"/>
              <a:t>Nebius</a:t>
            </a:r>
            <a:r>
              <a:rPr lang="en-US" dirty="0"/>
              <a:t> will execute on its guidance. That discount is a combination of execution skepticism, Meta concentration concerns, H2 revenue timing risk, and to some degree, the Russia perception overhang.</a:t>
            </a:r>
          </a:p>
          <a:p>
            <a:r>
              <a:rPr lang="en-US" dirty="0"/>
              <a:t>But here is the opportunity embedded in that discount.</a:t>
            </a:r>
          </a:p>
          <a:p>
            <a:r>
              <a:rPr lang="en-US" dirty="0"/>
              <a:t>If </a:t>
            </a:r>
            <a:r>
              <a:rPr lang="en-US" dirty="0" err="1"/>
              <a:t>Nebius</a:t>
            </a:r>
            <a:r>
              <a:rPr lang="en-US" dirty="0"/>
              <a:t> delivers — if the Vera Rubin clusters go live, if Q3 and Q4 2026 revenue comes in at scale, if EBITDA improves materially — the multiple should converge toward </a:t>
            </a:r>
            <a:r>
              <a:rPr lang="en-US" dirty="0" err="1"/>
              <a:t>CoreWeave</a:t>
            </a:r>
            <a:r>
              <a:rPr lang="en-US" dirty="0"/>
              <a:t> and other infrastructure growth peers. At 12 to 15x forward revenue, you are looking at a stock in the $150 to $190 range on 2026 guidance. That is where most of the analyst community has set their targets.</a:t>
            </a:r>
          </a:p>
          <a:p>
            <a:r>
              <a:rPr lang="en-US" dirty="0"/>
              <a:t>The risk is the flip side: if H2 guidance misses, the discount does not narrow — it widens. And with a stock that has already traded from $18 to $141 in the past year, the volatility in both directions is extreme.</a:t>
            </a:r>
          </a:p>
          <a:p>
            <a:r>
              <a:rPr lang="en-US" dirty="0"/>
              <a:t>Investors should approach this as an asymmetric bet where the upside is substantial but so is the execution risk. The market is essentially asking: prove it first. And every quarter of successful execution is a step toward that re-rating.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following </a:t>
            </a:r>
            <a:r>
              <a:rPr lang="en-US" dirty="0" err="1"/>
              <a:t>Nebius</a:t>
            </a:r>
            <a:r>
              <a:rPr lang="en-US" dirty="0"/>
              <a:t> closely, here are the specific things to monitor every quarter.</a:t>
            </a:r>
          </a:p>
          <a:p>
            <a:r>
              <a:rPr lang="en-US" b="1" dirty="0"/>
              <a:t>ARR progression.</a:t>
            </a:r>
            <a:r>
              <a:rPr lang="en-US" dirty="0"/>
              <a:t> The management team has guided toward $7 to $9 billion ARR by year-end 2026. Track it quarter by quarter. Any quarter that suggests the trajectory is falling short of that annualized pace is a warning sign.</a:t>
            </a:r>
          </a:p>
          <a:p>
            <a:r>
              <a:rPr lang="en-US" b="1" dirty="0"/>
              <a:t>Gross margins.</a:t>
            </a:r>
            <a:r>
              <a:rPr lang="en-US" dirty="0"/>
              <a:t> A gross margin above 50% indicates healthy infrastructure economics and pricing power. A margin falling below 40% suggests hardware cost pressure or pricing competition eroding the model. Watch this carefully as Vera Rubin clusters come online.</a:t>
            </a:r>
          </a:p>
          <a:p>
            <a:r>
              <a:rPr lang="en-US" b="1" dirty="0"/>
              <a:t>Vera Rubin deployment status.</a:t>
            </a:r>
            <a:r>
              <a:rPr lang="en-US" dirty="0"/>
              <a:t> This is the most critical operational variable for 2026. Every earnings call and 6-K filing should be checked for any mention of delivery schedules, capacity milestones, or grace period notices on the Meta contract.</a:t>
            </a:r>
          </a:p>
          <a:p>
            <a:r>
              <a:rPr lang="en-US" b="1" dirty="0"/>
              <a:t>Customer diversification.</a:t>
            </a:r>
            <a:r>
              <a:rPr lang="en-US" dirty="0"/>
              <a:t> The bull case requires </a:t>
            </a:r>
            <a:r>
              <a:rPr lang="en-US" dirty="0" err="1"/>
              <a:t>Nebius</a:t>
            </a:r>
            <a:r>
              <a:rPr lang="en-US" dirty="0"/>
              <a:t> to expand beyond Meta and Microsoft. New enterprise or sovereign AI contract announcements are the most important positive catalyst outside of earnings.</a:t>
            </a:r>
          </a:p>
          <a:p>
            <a:r>
              <a:rPr lang="en-US" b="1" dirty="0"/>
              <a:t>Capital structure evolution.</a:t>
            </a:r>
            <a:r>
              <a:rPr lang="en-US" dirty="0"/>
              <a:t> Track shares outstanding carefully. Monitor the ATM equity program utilization and convertible note conversion math. Infrastructure businesses can grow revenue aggressively while still destroying per-share value through dilution. The math needs to work for shareholders.</a:t>
            </a:r>
          </a:p>
          <a:p>
            <a:r>
              <a:rPr lang="en-US" b="1" dirty="0"/>
              <a:t>NVIDIA relationship stability.</a:t>
            </a:r>
            <a:r>
              <a:rPr lang="en-US" dirty="0"/>
              <a:t> Any change in the preferred allocation relationship would be a significant negative signal. Monitor NVIDIA's own commentary about preferred infrastructure partners.</a:t>
            </a:r>
          </a:p>
          <a:p>
            <a:r>
              <a:rPr lang="en-US" b="1" dirty="0"/>
              <a:t>Geopolitical and regulatory developments.</a:t>
            </a:r>
            <a:r>
              <a:rPr lang="en-US" dirty="0"/>
              <a:t> The EU AI Act implementation timeline, US-China GPU export dynamics, and Israeli geopolitical stability all have indirect effects on </a:t>
            </a:r>
            <a:r>
              <a:rPr lang="en-US" dirty="0" err="1"/>
              <a:t>Nebius's</a:t>
            </a:r>
            <a:r>
              <a:rPr lang="en-US" dirty="0"/>
              <a:t> business and investor perception.</a:t>
            </a:r>
          </a:p>
          <a:p>
            <a:r>
              <a:rPr lang="en-US" b="1" dirty="0"/>
              <a:t>The April 29th Q1 2026 earnings release is the single most important near-term catalyst.</a:t>
            </a:r>
            <a:r>
              <a:rPr lang="en-US" dirty="0"/>
              <a:t> This is the first major test of whether H2 2026 guidance is achievable. An on-time Vera Rubin deployment confirmation is a significant positive. Any delivery delay disclosure could take the stock down 20% or more in a single session.</a:t>
            </a:r>
          </a:p>
          <a:p>
            <a:r>
              <a:rPr lang="en-US" dirty="0"/>
              <a:t>This is an execution story. Every quarter is a referendum.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pull it all together.</a:t>
            </a:r>
          </a:p>
          <a:p>
            <a:r>
              <a:rPr lang="en-US" dirty="0" err="1"/>
              <a:t>Nebius</a:t>
            </a:r>
            <a:r>
              <a:rPr lang="en-US" dirty="0"/>
              <a:t> is a genuinely unusual company. And I want to explain precisely why I think that.</a:t>
            </a:r>
          </a:p>
          <a:p>
            <a:r>
              <a:rPr lang="en-US" dirty="0"/>
              <a:t>Most infrastructure companies start with nothing — no capital, no talent, no customers — and try to build credibility over years. </a:t>
            </a:r>
            <a:r>
              <a:rPr lang="en-US" dirty="0" err="1"/>
              <a:t>Nebius</a:t>
            </a:r>
            <a:r>
              <a:rPr lang="en-US" dirty="0"/>
              <a:t> started with $2.8 billion in cash, 1,300 elite engineers, a live datacenter, and world-class inference optimization expertise. It then attracted NVIDIA as a strategic investor and delivered </a:t>
            </a:r>
            <a:r>
              <a:rPr lang="en-US" dirty="0" err="1"/>
              <a:t>hyperscaler</a:t>
            </a:r>
            <a:r>
              <a:rPr lang="en-US" dirty="0"/>
              <a:t>-scale contracts from Meta and Microsoft before most of the market had even heard the company's name.</a:t>
            </a:r>
          </a:p>
          <a:p>
            <a:r>
              <a:rPr lang="en-US" dirty="0"/>
              <a:t>That combination is rare. Possibly unprecedented in this specific form.</a:t>
            </a:r>
          </a:p>
          <a:p>
            <a:r>
              <a:rPr lang="en-US" dirty="0"/>
              <a:t>The bull case rests on a coherent and defensible strategic position: AI infrastructure demand is enormous and growing, enterprise customization and sovereignty requirements will keep the market fragmented, and </a:t>
            </a:r>
            <a:r>
              <a:rPr lang="en-US" dirty="0" err="1"/>
              <a:t>Nebius's</a:t>
            </a:r>
            <a:r>
              <a:rPr lang="en-US" dirty="0"/>
              <a:t> Yandex-inherited optimization expertise creates genuine measurable value for customers.</a:t>
            </a:r>
          </a:p>
          <a:p>
            <a:r>
              <a:rPr lang="en-US" dirty="0"/>
              <a:t>The bear case is equally coherent: customer concentration creates fragility, $20 billion in capex is a massive operational challenge, Vera Rubin deployment timelines create binary quarterly risk, and commoditization could erode differentiation over time.</a:t>
            </a:r>
          </a:p>
          <a:p>
            <a:r>
              <a:rPr lang="en-US" dirty="0"/>
              <a:t>This is not a low-risk investment. I want to be absolutely clear about that. Anyone positioning this as a sure thing is not being honest with you.</a:t>
            </a:r>
          </a:p>
          <a:p>
            <a:r>
              <a:rPr lang="en-US" dirty="0"/>
              <a:t>But it may be one of the most interesting risk-reward setups in the AI infrastructure space right now — for investors who understand the risks and are comfortable with the execution uncertainty.</a:t>
            </a:r>
          </a:p>
          <a:p>
            <a:r>
              <a:rPr lang="en-US" dirty="0"/>
              <a:t>The market is essentially asking one question: Can </a:t>
            </a:r>
            <a:r>
              <a:rPr lang="en-US" dirty="0" err="1"/>
              <a:t>Nebius</a:t>
            </a:r>
            <a:r>
              <a:rPr lang="en-US" dirty="0"/>
              <a:t> successfully transition from a promising </a:t>
            </a:r>
            <a:r>
              <a:rPr lang="en-US" dirty="0" err="1"/>
              <a:t>neocloud</a:t>
            </a:r>
            <a:r>
              <a:rPr lang="en-US" dirty="0"/>
              <a:t> startup into a globally relevant AI infrastructure platform?</a:t>
            </a:r>
          </a:p>
          <a:p>
            <a:r>
              <a:rPr lang="en-US" dirty="0"/>
              <a:t>The next 12 months will go a long way toward answering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a:t>
            </a:r>
          </a:p>
          <a:p>
            <a:r>
              <a:rPr lang="en-US" dirty="0" err="1"/>
              <a:t>Nebius</a:t>
            </a:r>
            <a:r>
              <a:rPr lang="en-US" dirty="0"/>
              <a:t> represents a genuinely fascinating infrastructure story at the intersection of multiple massive global trends: artificial intelligence, sovereign computing, GPU acceleration, energy infrastructure, and distributed cloud architecture.</a:t>
            </a:r>
          </a:p>
          <a:p>
            <a:r>
              <a:rPr lang="en-US" dirty="0"/>
              <a:t>Its journey from the ashes of the Yandex restructuring into a company with $45 billion in contracted backlog and NVIDIA as a strategic partner is extraordinary by any measure. The speed of this transformation — from essentially zero in 2023 to $530 million in annual revenue in 2025 — reflects both the quality of the inherited starting point and the genuine ferocity of AI infrastructure demand.</a:t>
            </a:r>
          </a:p>
          <a:p>
            <a:r>
              <a:rPr lang="en-US" dirty="0"/>
              <a:t>But the next chapter will be significantly harder than the first. Building AI infrastructure at </a:t>
            </a:r>
            <a:r>
              <a:rPr lang="en-US" dirty="0" err="1"/>
              <a:t>hyperscaler</a:t>
            </a:r>
            <a:r>
              <a:rPr lang="en-US" dirty="0"/>
              <a:t> scale requires engineering excellence, capital discipline, operational precision, energy access, and sustained customer trust — all simultaneously, under public market scrutiny, with quarterly checkpoints.</a:t>
            </a:r>
          </a:p>
          <a:p>
            <a:r>
              <a:rPr lang="en-US" dirty="0"/>
              <a:t>The fundamental strategic question that will define this company's next five years is simple: Will optimization and specialization matter enough to preserve independent </a:t>
            </a:r>
            <a:r>
              <a:rPr lang="en-US" dirty="0" err="1"/>
              <a:t>neocloud</a:t>
            </a:r>
            <a:r>
              <a:rPr lang="en-US" dirty="0"/>
              <a:t> platforms? Or will scale ultimately dominate — and </a:t>
            </a:r>
            <a:r>
              <a:rPr lang="en-US" dirty="0" err="1"/>
              <a:t>hyperscalers</a:t>
            </a:r>
            <a:r>
              <a:rPr lang="en-US" dirty="0"/>
              <a:t> consolidate the market?</a:t>
            </a:r>
          </a:p>
          <a:p>
            <a:r>
              <a:rPr lang="en-US" dirty="0"/>
              <a:t>That answer will not only shape </a:t>
            </a:r>
            <a:r>
              <a:rPr lang="en-US" dirty="0" err="1"/>
              <a:t>Nebius's</a:t>
            </a:r>
            <a:r>
              <a:rPr lang="en-US" dirty="0"/>
              <a:t> future. It will shape the entire structure of the AI infrastructure economy.</a:t>
            </a:r>
          </a:p>
          <a:p>
            <a:r>
              <a:rPr lang="en-US" dirty="0"/>
              <a:t>And that is worth watching closely.</a:t>
            </a:r>
          </a:p>
          <a:p>
            <a:r>
              <a:rPr lang="en-US" dirty="0"/>
              <a:t>Thank you for joining this deep-dive. I hope it gave you a proper framework for thinking about this company — the opportunities, the risks, and the questions that matter.</a:t>
            </a:r>
          </a:p>
          <a:p>
            <a:r>
              <a:rPr lang="en-US" dirty="0"/>
              <a:t>As always — do your own research, consult a professional, and invest responsibly.</a:t>
            </a:r>
          </a:p>
          <a:p>
            <a:r>
              <a:rPr lang="en-US" dirty="0"/>
              <a:t>See you in the next one.</a:t>
            </a:r>
          </a:p>
        </p:txBody>
      </p:sp>
      <p:sp>
        <p:nvSpPr>
          <p:cNvPr id="4" name="Slide Number Placeholder 3"/>
          <p:cNvSpPr>
            <a:spLocks noGrp="1"/>
          </p:cNvSpPr>
          <p:nvPr>
            <p:ph type="sldNum" sz="quarter" idx="5"/>
          </p:nvPr>
        </p:nvSpPr>
        <p:spPr/>
        <p:txBody>
          <a:bodyPr/>
          <a:lstStyle/>
          <a:p>
            <a:fld id="{49F3E57C-F302-4DDA-9D05-13A296E43432}" type="slidenum">
              <a:rPr lang="en-IN" smtClean="0"/>
              <a:t>17</a:t>
            </a:fld>
            <a:endParaRPr lang="en-IN"/>
          </a:p>
        </p:txBody>
      </p:sp>
    </p:spTree>
    <p:extLst>
      <p:ext uri="{BB962C8B-B14F-4D97-AF65-F5344CB8AC3E}">
        <p14:creationId xmlns:p14="http://schemas.microsoft.com/office/powerpoint/2010/main" val="87986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75983-A03A-E0ED-34EE-A443E53A5B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B8837B-0727-E855-BFDD-B99EAE6AC1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26AC85-404D-9408-28CB-801E4A5933A0}"/>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E179E98B-1AF9-4875-D5B3-88859CF85A7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334707E-798E-7C97-CD41-D775F7DE003F}"/>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598192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60D9-2122-3ABA-5538-F0E27B8953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BAA8A7-B1F4-5506-F776-AFB80FE75D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EB9D3E-D1AE-A90E-6D89-C8FD10F7B33E}"/>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9BFA61B0-DE9D-6995-9E7A-69DC171A155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BD05BF3-9CF1-FA8A-BB5A-ECD88C70FE30}"/>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911536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EA982-AB85-98CC-C877-EA4E79FF1A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78BF187-D2E5-0B54-BD73-DA6895CBC0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9256B0-21BF-EA24-CBAB-9C7610C98BE4}"/>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E5CEC522-0EF6-592F-545D-AEE789C84A5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00FB6D0-D2F5-AE6E-DD18-51A6DEDDEAF3}"/>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4125936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2517B-C6E4-54A7-7DCA-3E1379C0CB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35F1E7-A809-88B3-92F7-00C015CBD0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1ADBF0-2118-931D-5DB1-3C63A2AD4D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5254DA-B0D9-5A8E-1082-5B0B723969FD}"/>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6" name="Footer Placeholder 5">
            <a:extLst>
              <a:ext uri="{FF2B5EF4-FFF2-40B4-BE49-F238E27FC236}">
                <a16:creationId xmlns:a16="http://schemas.microsoft.com/office/drawing/2014/main" id="{0900ABA4-B34D-DCA3-091C-C13AB7A448D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6306393-A259-9803-9EF7-0496F50DC205}"/>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962498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897B-282E-F6A8-8744-CD4A496E4E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9EB027-C5B8-9853-4985-41EE27B04D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8E21C-2E43-FD01-1A03-C5804DE46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0475D7-194A-DD15-6D87-3F9FB1106C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291681-FED0-66A8-E134-9325C89A6A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0DA14E-B6D0-D657-0112-4DEAD5E3D031}"/>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8" name="Footer Placeholder 7">
            <a:extLst>
              <a:ext uri="{FF2B5EF4-FFF2-40B4-BE49-F238E27FC236}">
                <a16:creationId xmlns:a16="http://schemas.microsoft.com/office/drawing/2014/main" id="{7AD2F618-DEC5-021D-936B-2FF3C5E635B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445CFC53-2D51-EF01-8C48-624A5490CE13}"/>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713036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C518E-EE2E-8AC8-37C3-AF264CD142A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145FDC-5C6C-97EE-0FF0-55226E2D16FE}"/>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4" name="Footer Placeholder 3">
            <a:extLst>
              <a:ext uri="{FF2B5EF4-FFF2-40B4-BE49-F238E27FC236}">
                <a16:creationId xmlns:a16="http://schemas.microsoft.com/office/drawing/2014/main" id="{DC1BC3E9-7E22-3E0E-B63A-CBC3D79FC536}"/>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83C8FB05-E8DF-761A-1B31-C54E391639D7}"/>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128073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AFDF00-402F-50D5-D0D2-0C3684BF34CE}"/>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3" name="Footer Placeholder 2">
            <a:extLst>
              <a:ext uri="{FF2B5EF4-FFF2-40B4-BE49-F238E27FC236}">
                <a16:creationId xmlns:a16="http://schemas.microsoft.com/office/drawing/2014/main" id="{2B6CDD23-4172-F46A-6F91-D81957C869A1}"/>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31972F11-3449-B30B-8F44-E9581B44778A}"/>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884160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6E689-DD00-0642-53CC-961331092B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A43E27-D3A3-C032-1B22-D4F0F4B508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9B389BD-C591-026B-4B42-F7CCBDB8FD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015E48-BF5E-3690-4515-E22FC82541FB}"/>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6" name="Footer Placeholder 5">
            <a:extLst>
              <a:ext uri="{FF2B5EF4-FFF2-40B4-BE49-F238E27FC236}">
                <a16:creationId xmlns:a16="http://schemas.microsoft.com/office/drawing/2014/main" id="{447670F7-110C-F630-D868-1422C3DB18D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1C1A669-A1D1-A9BA-89F6-B41C82B57C6A}"/>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1071485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C74BE-6B3D-5962-8251-90E88EE53E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D01EBC-25BA-ED73-8D45-470E76080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C8358B04-6189-AACC-2093-A6FC280118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146FCE-ADFD-B0A8-6308-0087D4BB9FF4}"/>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6" name="Footer Placeholder 5">
            <a:extLst>
              <a:ext uri="{FF2B5EF4-FFF2-40B4-BE49-F238E27FC236}">
                <a16:creationId xmlns:a16="http://schemas.microsoft.com/office/drawing/2014/main" id="{C55E3D00-5327-171C-E8C0-2ADE1133909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C02B3EAE-9589-AF24-CEFA-E4A3C5D88F0E}"/>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1888118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3D716-0853-1E81-06FC-21F49A95E40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3F3CA1-4B67-CADA-F4B0-9642DFFEE9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EA883-1B78-49FC-F4AF-9C948F985B0B}"/>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52494C0C-745E-A49F-D6CC-F3E946B17CC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D4B3DA9-7B87-47CC-F674-ADE6B9DAE751}"/>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2658789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FDC632-C9C7-2DA9-D70F-0D06E9A2BD2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1DD888-DA2D-FD9D-2EE5-AB3305D589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11074A-B1D6-0A71-39E2-12157B251998}"/>
              </a:ext>
            </a:extLst>
          </p:cNvPr>
          <p:cNvSpPr>
            <a:spLocks noGrp="1"/>
          </p:cNvSpPr>
          <p:nvPr>
            <p:ph type="dt" sz="half" idx="10"/>
          </p:nvPr>
        </p:nvSpPr>
        <p:spPr/>
        <p:txBody>
          <a:body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2B2CAAF8-36C0-5205-12B3-8314DBBB701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24CBA80-C5C7-6372-FE23-7E5AEA28C922}"/>
              </a:ext>
            </a:extLst>
          </p:cNvPr>
          <p:cNvSpPr>
            <a:spLocks noGrp="1"/>
          </p:cNvSpPr>
          <p:nvPr>
            <p:ph type="sldNum" sz="quarter" idx="12"/>
          </p:nvPr>
        </p:nvSpPr>
        <p:spPr/>
        <p:txBody>
          <a:bodyPr/>
          <a:lstStyle/>
          <a:p>
            <a:fld id="{85731DD7-10D8-42F8-B738-27059AAF31FC}" type="slidenum">
              <a:rPr lang="en-IN" smtClean="0"/>
              <a:t>‹#›</a:t>
            </a:fld>
            <a:endParaRPr lang="en-IN" dirty="0"/>
          </a:p>
        </p:txBody>
      </p:sp>
    </p:spTree>
    <p:extLst>
      <p:ext uri="{BB962C8B-B14F-4D97-AF65-F5344CB8AC3E}">
        <p14:creationId xmlns:p14="http://schemas.microsoft.com/office/powerpoint/2010/main" val="6686555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tx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98375C-9BF8-44F5-8288-D9CD158117D1}"/>
              </a:ext>
            </a:extLst>
          </p:cNvPr>
          <p:cNvSpPr>
            <a:spLocks noGrp="1"/>
          </p:cNvSpPr>
          <p:nvPr>
            <p:ph idx="1"/>
          </p:nvPr>
        </p:nvSpPr>
        <p:spPr>
          <a:xfrm>
            <a:off x="838200" y="1426232"/>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6A17B0C0-2FB7-1404-61AE-3CF75D90DD02}"/>
              </a:ext>
            </a:extLst>
          </p:cNvPr>
          <p:cNvSpPr>
            <a:spLocks noGrp="1"/>
          </p:cNvSpPr>
          <p:nvPr>
            <p:ph type="title"/>
          </p:nvPr>
        </p:nvSpPr>
        <p:spPr>
          <a:xfrm>
            <a:off x="0" y="6045938"/>
            <a:ext cx="12192000" cy="812062"/>
          </a:xfrm>
          <a:solidFill>
            <a:srgbClr val="7900FF"/>
          </a:solidFill>
          <a:ln>
            <a:noFill/>
          </a:ln>
          <a:effectLst>
            <a:outerShdw blurRad="190500" dist="228600" dir="2700000" algn="ctr">
              <a:srgbClr val="000000">
                <a:alpha val="30000"/>
              </a:srgbClr>
            </a:outerShdw>
          </a:effectLst>
        </p:spPr>
        <p:txBody>
          <a:bodyPr>
            <a:normAutofit/>
          </a:bodyPr>
          <a:lstStyle>
            <a:lvl1pPr>
              <a:defRPr sz="3600" b="1">
                <a:solidFill>
                  <a:schemeClr val="bg1"/>
                </a:solidFill>
                <a:latin typeface="Aptos" panose="020B0004020202020204" pitchFamily="34" charset="0"/>
              </a:defRPr>
            </a:lvl1pPr>
          </a:lstStyle>
          <a:p>
            <a:r>
              <a:rPr lang="en-US" dirty="0"/>
              <a:t>Click to edit Master title style</a:t>
            </a:r>
          </a:p>
        </p:txBody>
      </p:sp>
      <p:sp>
        <p:nvSpPr>
          <p:cNvPr id="4" name="Slide Number Placeholder 5">
            <a:extLst>
              <a:ext uri="{FF2B5EF4-FFF2-40B4-BE49-F238E27FC236}">
                <a16:creationId xmlns:a16="http://schemas.microsoft.com/office/drawing/2014/main" id="{8B340062-B786-D72C-16AB-92EA3520AFEC}"/>
              </a:ext>
            </a:extLst>
          </p:cNvPr>
          <p:cNvSpPr>
            <a:spLocks noGrp="1"/>
          </p:cNvSpPr>
          <p:nvPr>
            <p:ph type="sldNum" sz="quarter" idx="12"/>
          </p:nvPr>
        </p:nvSpPr>
        <p:spPr>
          <a:xfrm>
            <a:off x="8242739" y="6356350"/>
            <a:ext cx="2743200" cy="365125"/>
          </a:xfrm>
        </p:spPr>
        <p:txBody>
          <a:bodyPr/>
          <a:lstStyle>
            <a:lvl1pPr>
              <a:defRPr sz="1800" b="1"/>
            </a:lvl1pPr>
          </a:lstStyle>
          <a:p>
            <a:fld id="{C2ABBCA0-D234-4812-975F-DB2C17A4DDDD}" type="slidenum">
              <a:rPr lang="en-US" smtClean="0"/>
              <a:pPr/>
              <a:t>‹#›</a:t>
            </a:fld>
            <a:endParaRPr lang="en-US" dirty="0"/>
          </a:p>
        </p:txBody>
      </p:sp>
    </p:spTree>
    <p:extLst>
      <p:ext uri="{BB962C8B-B14F-4D97-AF65-F5344CB8AC3E}">
        <p14:creationId xmlns:p14="http://schemas.microsoft.com/office/powerpoint/2010/main" val="195630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92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A32478-7BE6-FD94-B1B3-1533CF2A06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CD9CED8-6854-0C73-DD84-5B9D8C9526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77F259-EFEC-5AD7-5C68-771A3AA6BF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43806E-8D21-43E4-9F2D-63F27C8E0326}" type="datetimeFigureOut">
              <a:rPr lang="en-IN" smtClean="0"/>
              <a:t>25-05-2026</a:t>
            </a:fld>
            <a:endParaRPr lang="en-IN" dirty="0"/>
          </a:p>
        </p:txBody>
      </p:sp>
      <p:sp>
        <p:nvSpPr>
          <p:cNvPr id="5" name="Footer Placeholder 4">
            <a:extLst>
              <a:ext uri="{FF2B5EF4-FFF2-40B4-BE49-F238E27FC236}">
                <a16:creationId xmlns:a16="http://schemas.microsoft.com/office/drawing/2014/main" id="{D3C4C6CB-8B77-4048-9007-4FC8E90286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192FFA66-CADE-8389-6472-9E7A47E21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731DD7-10D8-42F8-B738-27059AAF31FC}" type="slidenum">
              <a:rPr lang="en-IN" smtClean="0"/>
              <a:t>‹#›</a:t>
            </a:fld>
            <a:endParaRPr lang="en-IN" dirty="0"/>
          </a:p>
        </p:txBody>
      </p:sp>
    </p:spTree>
    <p:extLst>
      <p:ext uri="{BB962C8B-B14F-4D97-AF65-F5344CB8AC3E}">
        <p14:creationId xmlns:p14="http://schemas.microsoft.com/office/powerpoint/2010/main" val="2321768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audio" Target="NULL" TargetMode="External"/><Relationship Id="rId7" Type="http://schemas.openxmlformats.org/officeDocument/2006/relationships/image" Target="../media/image1.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microsoft.com/office/2007/relationships/media" Target="../media/media2.mp3"/><Relationship Id="rId9"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audio" Target="NULL" TargetMode="External"/><Relationship Id="rId7" Type="http://schemas.openxmlformats.org/officeDocument/2006/relationships/image" Target="../media/image3.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microsoft.com/office/2007/relationships/media" Target="../media/media2.mp3"/></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audio" Target="NULL" TargetMode="External"/><Relationship Id="rId7" Type="http://schemas.openxmlformats.org/officeDocument/2006/relationships/image" Target="../media/image1.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microsoft.com/office/2007/relationships/media" Target="../media/media2.mp3"/><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A8A1E5E-F0A6-BFF6-4BED-6A02878C635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6709"/>
            <a:ext cx="12192000" cy="6874709"/>
          </a:xfrm>
          <a:prstGeom prst="rect">
            <a:avLst/>
          </a:prstGeom>
        </p:spPr>
      </p:pic>
      <p:pic>
        <p:nvPicPr>
          <p:cNvPr id="26" name="Graphic 25" descr="Peacock with solid fill">
            <a:extLst>
              <a:ext uri="{FF2B5EF4-FFF2-40B4-BE49-F238E27FC236}">
                <a16:creationId xmlns:a16="http://schemas.microsoft.com/office/drawing/2014/main" id="{D51B320B-44D3-C018-F5E1-7D535FBF5E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9528" y="3420645"/>
            <a:ext cx="1333073" cy="1333073"/>
          </a:xfrm>
          <a:prstGeom prst="rect">
            <a:avLst/>
          </a:prstGeom>
        </p:spPr>
      </p:pic>
      <p:pic>
        <p:nvPicPr>
          <p:cNvPr id="3" name="Audio 2">
            <a:hlinkClick r:id="" action="ppaction://media"/>
            <a:extLst>
              <a:ext uri="{FF2B5EF4-FFF2-40B4-BE49-F238E27FC236}">
                <a16:creationId xmlns:a16="http://schemas.microsoft.com/office/drawing/2014/main" id="{36CFB779-4FFD-A359-1B63-154AE47D2810}"/>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325000" t="-160938" r="-325000" b="-160938"/>
          <a:stretch>
            <a:fillRect/>
          </a:stretch>
        </p:blipFill>
        <p:spPr>
          <a:xfrm>
            <a:off x="11412877" y="4642635"/>
            <a:ext cx="3048000" cy="1714500"/>
          </a:xfrm>
          <a:prstGeom prst="rect">
            <a:avLst/>
          </a:prstGeom>
        </p:spPr>
      </p:pic>
      <p:pic>
        <p:nvPicPr>
          <p:cNvPr id="5" name="Untitled (2)">
            <a:hlinkClick r:id="" action="ppaction://media"/>
            <a:extLst>
              <a:ext uri="{FF2B5EF4-FFF2-40B4-BE49-F238E27FC236}">
                <a16:creationId xmlns:a16="http://schemas.microsoft.com/office/drawing/2014/main" id="{7DB4B856-C49B-D335-E682-925244857C03}"/>
              </a:ext>
            </a:extLst>
          </p:cNvPr>
          <p:cNvPicPr>
            <a:picLocks noChangeAspect="1"/>
          </p:cNvPicPr>
          <p:nvPr>
            <a:audioFile r:link="rId3"/>
            <p:extLst>
              <p:ext uri="{DAA4B4D4-6D71-4841-9C94-3DE7FCFB9230}">
                <p14:media xmlns:p14="http://schemas.microsoft.com/office/powerpoint/2010/main" r:embed="rId4">
                  <p14:trim end="213320"/>
                </p14:media>
              </p:ext>
            </p:extLst>
          </p:nvPr>
        </p:nvPicPr>
        <p:blipFill>
          <a:blip r:embed="rId9"/>
          <a:stretch>
            <a:fillRect/>
          </a:stretch>
        </p:blipFill>
        <p:spPr>
          <a:xfrm>
            <a:off x="-1709827" y="3420645"/>
            <a:ext cx="406400" cy="406400"/>
          </a:xfrm>
          <a:prstGeom prst="rect">
            <a:avLst/>
          </a:prstGeom>
        </p:spPr>
      </p:pic>
      <p:sp>
        <p:nvSpPr>
          <p:cNvPr id="2" name="Title 7">
            <a:extLst>
              <a:ext uri="{FF2B5EF4-FFF2-40B4-BE49-F238E27FC236}">
                <a16:creationId xmlns:a16="http://schemas.microsoft.com/office/drawing/2014/main" id="{5EFAFD23-21F4-8FCE-EA7A-7087D811F9E7}"/>
              </a:ext>
            </a:extLst>
          </p:cNvPr>
          <p:cNvSpPr txBox="1">
            <a:spLocks/>
          </p:cNvSpPr>
          <p:nvPr/>
        </p:nvSpPr>
        <p:spPr>
          <a:xfrm>
            <a:off x="2172129" y="3034762"/>
            <a:ext cx="10039565" cy="2104837"/>
          </a:xfrm>
          <a:prstGeom prst="rect">
            <a:avLst/>
          </a:prstGeom>
          <a:solidFill>
            <a:srgbClr val="FFFFFF">
              <a:alpha val="14902"/>
            </a:srgbClr>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nSpc>
                <a:spcPct val="120000"/>
              </a:lnSpc>
            </a:pPr>
            <a:r>
              <a:rPr lang="en-US" b="1" dirty="0" err="1">
                <a:solidFill>
                  <a:srgbClr val="FFFF00"/>
                </a:solidFill>
                <a:latin typeface="FN Shyamol Bangla" panose="02000600000000000000" pitchFamily="2" charset="0"/>
                <a:cs typeface="FN Shyamol Bangla" panose="02000600000000000000" pitchFamily="2" charset="0"/>
              </a:rPr>
              <a:t>Dreamlit</a:t>
            </a:r>
            <a:r>
              <a:rPr lang="en-US" b="1" dirty="0">
                <a:solidFill>
                  <a:srgbClr val="FFFF00"/>
                </a:solidFill>
                <a:latin typeface="FN Shyamol Bangla" panose="02000600000000000000" pitchFamily="2" charset="0"/>
                <a:cs typeface="FN Shyamol Bangla" panose="02000600000000000000" pitchFamily="2" charset="0"/>
              </a:rPr>
              <a:t> Equity Research: 1</a:t>
            </a:r>
          </a:p>
          <a:p>
            <a:pPr>
              <a:lnSpc>
                <a:spcPct val="120000"/>
              </a:lnSpc>
            </a:pPr>
            <a:r>
              <a:rPr lang="en-US" b="1" dirty="0">
                <a:latin typeface="FN Shyamol Bangla" panose="02000600000000000000" pitchFamily="2" charset="0"/>
                <a:cs typeface="FN Shyamol Bangla" panose="02000600000000000000" pitchFamily="2" charset="0"/>
              </a:rPr>
              <a:t>AI  </a:t>
            </a:r>
            <a:r>
              <a:rPr lang="en-US" b="1" dirty="0" err="1">
                <a:latin typeface="FN Shyamol Bangla" panose="02000600000000000000" pitchFamily="2" charset="0"/>
                <a:cs typeface="FN Shyamol Bangla" panose="02000600000000000000" pitchFamily="2" charset="0"/>
              </a:rPr>
              <a:t>Hyperscaler</a:t>
            </a:r>
            <a:endParaRPr lang="en-US" b="1" dirty="0">
              <a:latin typeface="FN Shyamol Bangla" panose="02000600000000000000" pitchFamily="2" charset="0"/>
              <a:cs typeface="FN Shyamol Bangla" panose="02000600000000000000" pitchFamily="2" charset="0"/>
            </a:endParaRPr>
          </a:p>
        </p:txBody>
      </p:sp>
    </p:spTree>
    <p:extLst>
      <p:ext uri="{BB962C8B-B14F-4D97-AF65-F5344CB8AC3E}">
        <p14:creationId xmlns:p14="http://schemas.microsoft.com/office/powerpoint/2010/main" val="2516154058"/>
      </p:ext>
    </p:extLst>
  </p:cSld>
  <p:clrMapOvr>
    <a:masterClrMapping/>
  </p:clrMapOvr>
  <mc:AlternateContent xmlns:mc="http://schemas.openxmlformats.org/markup-compatibility/2006" xmlns:p14="http://schemas.microsoft.com/office/powerpoint/2010/main">
    <mc:Choice Requires="p14">
      <p:transition spd="slow" p14:dur="2000" advTm="12212"/>
    </mc:Choice>
    <mc:Fallback xmlns="">
      <p:transition spd="slow" advTm="122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1"/>
                            </p:stCondLst>
                            <p:childTnLst>
                              <p:par>
                                <p:cTn id="8" presetID="1" presetClass="mediacall" presetSubtype="0" fill="hold" nodeType="afterEffect">
                                  <p:stCondLst>
                                    <p:cond delay="0"/>
                                  </p:stCondLst>
                                  <p:childTnLst>
                                    <p:cmd type="call" cmd="playFrom(0.0)">
                                      <p:cBhvr>
                                        <p:cTn id="9"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3"/>
                </p:tgtEl>
              </p:cMediaNode>
            </p:audio>
            <p:audio>
              <p:cMediaNode vol="80000">
                <p:cTn id="11"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32A6057-E419-E6D3-A61C-154F039901C1}"/>
              </a:ext>
            </a:extLst>
          </p:cNvPr>
          <p:cNvSpPr txBox="1">
            <a:spLocks/>
          </p:cNvSpPr>
          <p:nvPr/>
        </p:nvSpPr>
        <p:spPr>
          <a:xfrm>
            <a:off x="285949" y="237274"/>
            <a:ext cx="11906051" cy="812062"/>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Aptos" panose="020B0004020202020204" pitchFamily="34" charset="0"/>
                <a:ea typeface="+mj-ea"/>
                <a:cs typeface="+mj-cs"/>
              </a:defRPr>
            </a:lvl1pPr>
          </a:lstStyle>
          <a:p>
            <a:pPr algn="ctr"/>
            <a:r>
              <a:rPr lang="en-US" sz="3600" b="1" dirty="0">
                <a:solidFill>
                  <a:srgbClr val="A80C2A"/>
                </a:solidFill>
              </a:rPr>
              <a:t>DISCLAIMER</a:t>
            </a:r>
            <a:endParaRPr lang="en-IN" sz="3600" b="1" dirty="0">
              <a:solidFill>
                <a:srgbClr val="A80C2A"/>
              </a:solidFill>
            </a:endParaRPr>
          </a:p>
        </p:txBody>
      </p:sp>
      <p:pic>
        <p:nvPicPr>
          <p:cNvPr id="6" name="Audio 5">
            <a:hlinkClick r:id="" action="ppaction://media"/>
            <a:extLst>
              <a:ext uri="{FF2B5EF4-FFF2-40B4-BE49-F238E27FC236}">
                <a16:creationId xmlns:a16="http://schemas.microsoft.com/office/drawing/2014/main" id="{A3A0A51A-8FC4-392D-A8FC-96C643AC9527}"/>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325000" t="-160938" r="-325000" b="-160938"/>
          <a:stretch>
            <a:fillRect/>
          </a:stretch>
        </p:blipFill>
        <p:spPr>
          <a:xfrm>
            <a:off x="11578856" y="4978471"/>
            <a:ext cx="3048000" cy="1714500"/>
          </a:xfrm>
          <a:prstGeom prst="rect">
            <a:avLst/>
          </a:prstGeom>
        </p:spPr>
      </p:pic>
      <p:pic>
        <p:nvPicPr>
          <p:cNvPr id="8" name="Untitled (2)">
            <a:hlinkClick r:id="" action="ppaction://media"/>
            <a:extLst>
              <a:ext uri="{FF2B5EF4-FFF2-40B4-BE49-F238E27FC236}">
                <a16:creationId xmlns:a16="http://schemas.microsoft.com/office/drawing/2014/main" id="{07A43B10-2FE9-CB71-0833-6F2E03897FE8}"/>
              </a:ext>
            </a:extLst>
          </p:cNvPr>
          <p:cNvPicPr>
            <a:picLocks noChangeAspect="1"/>
          </p:cNvPicPr>
          <p:nvPr>
            <a:audioFile r:link="rId3"/>
            <p:extLst>
              <p:ext uri="{DAA4B4D4-6D71-4841-9C94-3DE7FCFB9230}">
                <p14:media xmlns:p14="http://schemas.microsoft.com/office/powerpoint/2010/main" r:embed="rId4">
                  <p14:trim end="213320"/>
                </p14:media>
              </p:ext>
            </p:extLst>
          </p:nvPr>
        </p:nvPicPr>
        <p:blipFill>
          <a:blip r:embed="rId7"/>
          <a:stretch>
            <a:fillRect/>
          </a:stretch>
        </p:blipFill>
        <p:spPr>
          <a:xfrm>
            <a:off x="-1709827" y="3420645"/>
            <a:ext cx="406400" cy="406400"/>
          </a:xfrm>
          <a:prstGeom prst="rect">
            <a:avLst/>
          </a:prstGeom>
        </p:spPr>
      </p:pic>
      <p:grpSp>
        <p:nvGrpSpPr>
          <p:cNvPr id="19" name="Group 18">
            <a:extLst>
              <a:ext uri="{FF2B5EF4-FFF2-40B4-BE49-F238E27FC236}">
                <a16:creationId xmlns:a16="http://schemas.microsoft.com/office/drawing/2014/main" id="{2B399FE1-B268-5F1F-B1FA-F457719D724C}"/>
              </a:ext>
            </a:extLst>
          </p:cNvPr>
          <p:cNvGrpSpPr/>
          <p:nvPr/>
        </p:nvGrpSpPr>
        <p:grpSpPr>
          <a:xfrm>
            <a:off x="373345" y="1049336"/>
            <a:ext cx="2504610" cy="5368484"/>
            <a:chOff x="844642" y="1681136"/>
            <a:chExt cx="10502712" cy="5784908"/>
          </a:xfrm>
        </p:grpSpPr>
        <p:sp>
          <p:nvSpPr>
            <p:cNvPr id="13" name="Title 7">
              <a:extLst>
                <a:ext uri="{FF2B5EF4-FFF2-40B4-BE49-F238E27FC236}">
                  <a16:creationId xmlns:a16="http://schemas.microsoft.com/office/drawing/2014/main" id="{8DE03FF1-840A-2117-3004-C30E7555EFC9}"/>
                </a:ext>
              </a:extLst>
            </p:cNvPr>
            <p:cNvSpPr txBox="1">
              <a:spLocks/>
            </p:cNvSpPr>
            <p:nvPr/>
          </p:nvSpPr>
          <p:spPr>
            <a:xfrm>
              <a:off x="844645" y="1681136"/>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Content Purpose</a:t>
              </a:r>
              <a:endParaRPr lang="en-US" sz="2000" b="1" dirty="0"/>
            </a:p>
          </p:txBody>
        </p:sp>
        <p:sp>
          <p:nvSpPr>
            <p:cNvPr id="14" name="Title 7">
              <a:extLst>
                <a:ext uri="{FF2B5EF4-FFF2-40B4-BE49-F238E27FC236}">
                  <a16:creationId xmlns:a16="http://schemas.microsoft.com/office/drawing/2014/main" id="{6C2201E5-3197-6603-0D94-D576950F083D}"/>
                </a:ext>
              </a:extLst>
            </p:cNvPr>
            <p:cNvSpPr txBox="1">
              <a:spLocks/>
            </p:cNvSpPr>
            <p:nvPr/>
          </p:nvSpPr>
          <p:spPr>
            <a:xfrm>
              <a:off x="844643" y="2353603"/>
              <a:ext cx="10502709" cy="840172"/>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Advisory Status</a:t>
              </a:r>
              <a:endParaRPr lang="en-US" sz="2000" b="1" dirty="0"/>
            </a:p>
          </p:txBody>
        </p:sp>
        <p:sp>
          <p:nvSpPr>
            <p:cNvPr id="15" name="Title 7">
              <a:extLst>
                <a:ext uri="{FF2B5EF4-FFF2-40B4-BE49-F238E27FC236}">
                  <a16:creationId xmlns:a16="http://schemas.microsoft.com/office/drawing/2014/main" id="{CBCF57AE-277C-9FDC-099E-FC2CF48253C2}"/>
                </a:ext>
              </a:extLst>
            </p:cNvPr>
            <p:cNvSpPr txBox="1">
              <a:spLocks/>
            </p:cNvSpPr>
            <p:nvPr/>
          </p:nvSpPr>
          <p:spPr>
            <a:xfrm>
              <a:off x="844645" y="329847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Content Purpose</a:t>
              </a:r>
              <a:endParaRPr lang="en-US" sz="2000" b="1" dirty="0"/>
            </a:p>
          </p:txBody>
        </p:sp>
        <p:sp>
          <p:nvSpPr>
            <p:cNvPr id="16" name="Title 7">
              <a:extLst>
                <a:ext uri="{FF2B5EF4-FFF2-40B4-BE49-F238E27FC236}">
                  <a16:creationId xmlns:a16="http://schemas.microsoft.com/office/drawing/2014/main" id="{6EA068E0-2144-5C7F-CBAF-17316AA3873D}"/>
                </a:ext>
              </a:extLst>
            </p:cNvPr>
            <p:cNvSpPr txBox="1">
              <a:spLocks/>
            </p:cNvSpPr>
            <p:nvPr/>
          </p:nvSpPr>
          <p:spPr>
            <a:xfrm>
              <a:off x="844644" y="398122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Risk Warning</a:t>
              </a:r>
              <a:endParaRPr lang="en-US" sz="2000" b="1" dirty="0"/>
            </a:p>
          </p:txBody>
        </p:sp>
        <p:sp>
          <p:nvSpPr>
            <p:cNvPr id="17" name="Title 7">
              <a:extLst>
                <a:ext uri="{FF2B5EF4-FFF2-40B4-BE49-F238E27FC236}">
                  <a16:creationId xmlns:a16="http://schemas.microsoft.com/office/drawing/2014/main" id="{B527A497-5FEA-5A6B-3CD5-18080708ACA0}"/>
                </a:ext>
              </a:extLst>
            </p:cNvPr>
            <p:cNvSpPr txBox="1">
              <a:spLocks/>
            </p:cNvSpPr>
            <p:nvPr/>
          </p:nvSpPr>
          <p:spPr>
            <a:xfrm>
              <a:off x="844645" y="4655469"/>
              <a:ext cx="10502709" cy="90875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Liability</a:t>
              </a:r>
              <a:endParaRPr lang="en-US" sz="2000" b="1" dirty="0"/>
            </a:p>
          </p:txBody>
        </p:sp>
        <p:sp>
          <p:nvSpPr>
            <p:cNvPr id="18" name="Title 7">
              <a:extLst>
                <a:ext uri="{FF2B5EF4-FFF2-40B4-BE49-F238E27FC236}">
                  <a16:creationId xmlns:a16="http://schemas.microsoft.com/office/drawing/2014/main" id="{AFA7281D-4100-BA9E-C295-3AE289229A46}"/>
                </a:ext>
              </a:extLst>
            </p:cNvPr>
            <p:cNvSpPr txBox="1">
              <a:spLocks/>
            </p:cNvSpPr>
            <p:nvPr/>
          </p:nvSpPr>
          <p:spPr>
            <a:xfrm>
              <a:off x="844642" y="5677694"/>
              <a:ext cx="10502709" cy="83178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solidFill>
                    <a:schemeClr val="accent4">
                      <a:lumMod val="60000"/>
                      <a:lumOff val="40000"/>
                    </a:schemeClr>
                  </a:solidFill>
                </a:rPr>
                <a:t>Recommendation</a:t>
              </a:r>
              <a:endParaRPr lang="en-US" sz="2000" b="1" dirty="0"/>
            </a:p>
          </p:txBody>
        </p:sp>
        <p:sp>
          <p:nvSpPr>
            <p:cNvPr id="20" name="Title 7">
              <a:extLst>
                <a:ext uri="{FF2B5EF4-FFF2-40B4-BE49-F238E27FC236}">
                  <a16:creationId xmlns:a16="http://schemas.microsoft.com/office/drawing/2014/main" id="{8F206109-CA70-7440-DD11-B9C108C33E8C}"/>
                </a:ext>
              </a:extLst>
            </p:cNvPr>
            <p:cNvSpPr txBox="1">
              <a:spLocks/>
            </p:cNvSpPr>
            <p:nvPr/>
          </p:nvSpPr>
          <p:spPr>
            <a:xfrm>
              <a:off x="844642" y="6634259"/>
              <a:ext cx="10502709" cy="831785"/>
            </a:xfrm>
            <a:prstGeom prst="rect">
              <a:avLst/>
            </a:prstGeom>
            <a:solidFill>
              <a:srgbClr val="FFFFFF">
                <a:alpha val="14902"/>
              </a:srgbClr>
            </a:solidFill>
          </p:spPr>
          <p:txBody>
            <a:bodyPr vert="horz" lIns="91440" tIns="45720" rIns="91440" bIns="4572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2000" dirty="0"/>
                <a:t>Legal Basis</a:t>
              </a:r>
              <a:endParaRPr lang="en-IN" sz="2000" dirty="0">
                <a:solidFill>
                  <a:schemeClr val="bg1"/>
                </a:solidFill>
              </a:endParaRPr>
            </a:p>
          </p:txBody>
        </p:sp>
      </p:grpSp>
      <p:pic>
        <p:nvPicPr>
          <p:cNvPr id="21" name="Graphic 20" descr="Warning with solid fill">
            <a:extLst>
              <a:ext uri="{FF2B5EF4-FFF2-40B4-BE49-F238E27FC236}">
                <a16:creationId xmlns:a16="http://schemas.microsoft.com/office/drawing/2014/main" id="{37B056C0-10E4-097E-7914-158229F81B8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21328" y="156542"/>
            <a:ext cx="612172" cy="600511"/>
          </a:xfrm>
          <a:prstGeom prst="rect">
            <a:avLst/>
          </a:prstGeom>
        </p:spPr>
      </p:pic>
      <p:grpSp>
        <p:nvGrpSpPr>
          <p:cNvPr id="23" name="Group 22">
            <a:extLst>
              <a:ext uri="{FF2B5EF4-FFF2-40B4-BE49-F238E27FC236}">
                <a16:creationId xmlns:a16="http://schemas.microsoft.com/office/drawing/2014/main" id="{010CD110-D3C7-B489-05AC-78F16E8A2315}"/>
              </a:ext>
            </a:extLst>
          </p:cNvPr>
          <p:cNvGrpSpPr/>
          <p:nvPr/>
        </p:nvGrpSpPr>
        <p:grpSpPr>
          <a:xfrm>
            <a:off x="2955390" y="1032718"/>
            <a:ext cx="8787431" cy="5368484"/>
            <a:chOff x="844642" y="1681136"/>
            <a:chExt cx="10502712" cy="5784908"/>
          </a:xfrm>
        </p:grpSpPr>
        <p:sp>
          <p:nvSpPr>
            <p:cNvPr id="24" name="Title 7">
              <a:extLst>
                <a:ext uri="{FF2B5EF4-FFF2-40B4-BE49-F238E27FC236}">
                  <a16:creationId xmlns:a16="http://schemas.microsoft.com/office/drawing/2014/main" id="{2AD060FD-1461-559C-C0CB-682EC36EDC72}"/>
                </a:ext>
              </a:extLst>
            </p:cNvPr>
            <p:cNvSpPr txBox="1">
              <a:spLocks/>
            </p:cNvSpPr>
            <p:nvPr/>
          </p:nvSpPr>
          <p:spPr>
            <a:xfrm>
              <a:off x="844645" y="1681136"/>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Educational and entertainment purposes only.</a:t>
              </a:r>
            </a:p>
          </p:txBody>
        </p:sp>
        <p:sp>
          <p:nvSpPr>
            <p:cNvPr id="25" name="Title 7">
              <a:extLst>
                <a:ext uri="{FF2B5EF4-FFF2-40B4-BE49-F238E27FC236}">
                  <a16:creationId xmlns:a16="http://schemas.microsoft.com/office/drawing/2014/main" id="{EDF3456A-9EC2-21F5-1927-378B3F1FCD3D}"/>
                </a:ext>
              </a:extLst>
            </p:cNvPr>
            <p:cNvSpPr txBox="1">
              <a:spLocks/>
            </p:cNvSpPr>
            <p:nvPr/>
          </p:nvSpPr>
          <p:spPr>
            <a:xfrm>
              <a:off x="844643" y="2353603"/>
              <a:ext cx="10502709" cy="840172"/>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Not financial, investment, legal, or tax advice; creator is not a licensed financial advisor.</a:t>
              </a:r>
            </a:p>
          </p:txBody>
        </p:sp>
        <p:sp>
          <p:nvSpPr>
            <p:cNvPr id="26" name="Title 7">
              <a:extLst>
                <a:ext uri="{FF2B5EF4-FFF2-40B4-BE49-F238E27FC236}">
                  <a16:creationId xmlns:a16="http://schemas.microsoft.com/office/drawing/2014/main" id="{BFDFB7B4-DA49-AF99-67CC-F907E10A3F60}"/>
                </a:ext>
              </a:extLst>
            </p:cNvPr>
            <p:cNvSpPr txBox="1">
              <a:spLocks/>
            </p:cNvSpPr>
            <p:nvPr/>
          </p:nvSpPr>
          <p:spPr>
            <a:xfrm>
              <a:off x="844645" y="329847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Educational and entertainment purposes only.</a:t>
              </a:r>
            </a:p>
          </p:txBody>
        </p:sp>
        <p:sp>
          <p:nvSpPr>
            <p:cNvPr id="27" name="Title 7">
              <a:extLst>
                <a:ext uri="{FF2B5EF4-FFF2-40B4-BE49-F238E27FC236}">
                  <a16:creationId xmlns:a16="http://schemas.microsoft.com/office/drawing/2014/main" id="{5C56D47E-F7CE-6904-2C81-B17CD2143C82}"/>
                </a:ext>
              </a:extLst>
            </p:cNvPr>
            <p:cNvSpPr txBox="1">
              <a:spLocks/>
            </p:cNvSpPr>
            <p:nvPr/>
          </p:nvSpPr>
          <p:spPr>
            <a:xfrm>
              <a:off x="844644" y="3981227"/>
              <a:ext cx="10502709" cy="574456"/>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Investing involves risk, including potential loss of principal.</a:t>
              </a:r>
            </a:p>
          </p:txBody>
        </p:sp>
        <p:sp>
          <p:nvSpPr>
            <p:cNvPr id="28" name="Title 7">
              <a:extLst>
                <a:ext uri="{FF2B5EF4-FFF2-40B4-BE49-F238E27FC236}">
                  <a16:creationId xmlns:a16="http://schemas.microsoft.com/office/drawing/2014/main" id="{DFA0F27C-1198-6E1B-F6F9-1B056D0C167D}"/>
                </a:ext>
              </a:extLst>
            </p:cNvPr>
            <p:cNvSpPr txBox="1">
              <a:spLocks/>
            </p:cNvSpPr>
            <p:nvPr/>
          </p:nvSpPr>
          <p:spPr>
            <a:xfrm>
              <a:off x="844645" y="4655469"/>
              <a:ext cx="10502709" cy="90875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Opinions are the creator's own and may change without notice; the individual is responsible for their own decisions.</a:t>
              </a:r>
            </a:p>
          </p:txBody>
        </p:sp>
        <p:sp>
          <p:nvSpPr>
            <p:cNvPr id="29" name="Title 7">
              <a:extLst>
                <a:ext uri="{FF2B5EF4-FFF2-40B4-BE49-F238E27FC236}">
                  <a16:creationId xmlns:a16="http://schemas.microsoft.com/office/drawing/2014/main" id="{A7FBD42C-8131-478B-B5EB-7A1329552A73}"/>
                </a:ext>
              </a:extLst>
            </p:cNvPr>
            <p:cNvSpPr txBox="1">
              <a:spLocks/>
            </p:cNvSpPr>
            <p:nvPr/>
          </p:nvSpPr>
          <p:spPr>
            <a:xfrm>
              <a:off x="844642" y="5677694"/>
              <a:ext cx="10502709" cy="831785"/>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gn="l">
                <a:lnSpc>
                  <a:spcPct val="120000"/>
                </a:lnSpc>
              </a:pPr>
              <a:r>
                <a:rPr lang="en-US" sz="2000" b="1" dirty="0"/>
                <a:t>Perform own research and consult a qualified professional before making investment decisions.</a:t>
              </a:r>
            </a:p>
          </p:txBody>
        </p:sp>
        <p:sp>
          <p:nvSpPr>
            <p:cNvPr id="30" name="Title 7">
              <a:extLst>
                <a:ext uri="{FF2B5EF4-FFF2-40B4-BE49-F238E27FC236}">
                  <a16:creationId xmlns:a16="http://schemas.microsoft.com/office/drawing/2014/main" id="{DB60985C-5D53-A6D2-4F49-292D5B01D5EF}"/>
                </a:ext>
              </a:extLst>
            </p:cNvPr>
            <p:cNvSpPr txBox="1">
              <a:spLocks/>
            </p:cNvSpPr>
            <p:nvPr/>
          </p:nvSpPr>
          <p:spPr>
            <a:xfrm>
              <a:off x="844642" y="6634259"/>
              <a:ext cx="10502709" cy="831785"/>
            </a:xfrm>
            <a:prstGeom prst="rect">
              <a:avLst/>
            </a:prstGeom>
            <a:solidFill>
              <a:srgbClr val="FFFFFF">
                <a:alpha val="14902"/>
              </a:srgbClr>
            </a:solidFill>
          </p:spPr>
          <p:txBody>
            <a:bodyPr vert="horz" lIns="91440" tIns="45720" rIns="91440" bIns="45720" rtlCol="0" anchor="ctr">
              <a:noAutofit/>
            </a:bodyPr>
            <a:lstStyle>
              <a:defPPr>
                <a:defRPr lang="en-US"/>
              </a:defPPr>
              <a:lvl1pPr>
                <a:lnSpc>
                  <a:spcPct val="120000"/>
                </a:lnSpc>
                <a:spcBef>
                  <a:spcPct val="0"/>
                </a:spcBef>
                <a:buNone/>
                <a:defRPr sz="2200" b="1">
                  <a:solidFill>
                    <a:schemeClr val="accent4">
                      <a:lumMod val="60000"/>
                      <a:lumOff val="40000"/>
                    </a:schemeClr>
                  </a:solidFill>
                  <a:latin typeface="Aptos" panose="020B0004020202020204" pitchFamily="34" charset="0"/>
                  <a:ea typeface="+mj-ea"/>
                  <a:cs typeface="+mj-cs"/>
                </a:defRPr>
              </a:lvl1pPr>
            </a:lstStyle>
            <a:p>
              <a:r>
                <a:rPr lang="en-US" sz="2000" dirty="0">
                  <a:solidFill>
                    <a:schemeClr val="bg1"/>
                  </a:solidFill>
                </a:rPr>
                <a:t>Third-party content is used under Fair Use for commentary, criticism, and analysis.</a:t>
              </a:r>
              <a:endParaRPr lang="en-IN" sz="2000" dirty="0">
                <a:solidFill>
                  <a:schemeClr val="bg1"/>
                </a:solidFill>
              </a:endParaRPr>
            </a:p>
          </p:txBody>
        </p:sp>
      </p:grpSp>
    </p:spTree>
    <p:extLst>
      <p:ext uri="{BB962C8B-B14F-4D97-AF65-F5344CB8AC3E}">
        <p14:creationId xmlns:p14="http://schemas.microsoft.com/office/powerpoint/2010/main" val="3726314589"/>
      </p:ext>
    </p:extLst>
  </p:cSld>
  <p:clrMapOvr>
    <a:masterClrMapping/>
  </p:clrMapOvr>
  <mc:AlternateContent xmlns:mc="http://schemas.openxmlformats.org/markup-compatibility/2006" xmlns:p14="http://schemas.microsoft.com/office/powerpoint/2010/main">
    <mc:Choice Requires="p14">
      <p:transition spd="slow" p14:dur="2000" advTm="10627"/>
    </mc:Choice>
    <mc:Fallback xmlns="">
      <p:transition spd="slow" advTm="106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par>
                          <p:cTn id="7" fill="hold">
                            <p:stCondLst>
                              <p:cond delay="1"/>
                            </p:stCondLst>
                            <p:childTnLst>
                              <p:par>
                                <p:cTn id="8" presetID="26" presetClass="emph" presetSubtype="0" fill="hold" nodeType="afterEffect">
                                  <p:stCondLst>
                                    <p:cond delay="0"/>
                                  </p:stCondLst>
                                  <p:childTnLst>
                                    <p:animEffect transition="out" filter="fade">
                                      <p:cBhvr>
                                        <p:cTn id="9" dur="500" tmFilter="0, 0; .2, .5; .8, .5; 1, 0"/>
                                        <p:tgtEl>
                                          <p:spTgt spid="5">
                                            <p:txEl>
                                              <p:pRg st="0" end="0"/>
                                            </p:txEl>
                                          </p:spTgt>
                                        </p:tgtEl>
                                      </p:cBhvr>
                                    </p:animEffect>
                                    <p:animScale>
                                      <p:cBhvr>
                                        <p:cTn id="10" dur="250" autoRev="1" fill="hold"/>
                                        <p:tgtEl>
                                          <p:spTgt spid="5">
                                            <p:txEl>
                                              <p:pRg st="0" end="0"/>
                                            </p:txEl>
                                          </p:spTgt>
                                        </p:tgtEl>
                                      </p:cBhvr>
                                      <p:by x="105000" y="105000"/>
                                    </p:animScale>
                                  </p:childTnLst>
                                </p:cTn>
                              </p:par>
                            </p:childTnLst>
                          </p:cTn>
                        </p:par>
                        <p:par>
                          <p:cTn id="11" fill="hold">
                            <p:stCondLst>
                              <p:cond delay="501"/>
                            </p:stCondLst>
                            <p:childTnLst>
                              <p:par>
                                <p:cTn id="12" presetID="1" presetClass="mediacall" presetSubtype="0" fill="hold" nodeType="afterEffect">
                                  <p:stCondLst>
                                    <p:cond delay="0"/>
                                  </p:stCondLst>
                                  <p:childTnLst>
                                    <p:cmd type="call" cmd="playFrom(0.0)">
                                      <p:cBhvr>
                                        <p:cTn id="13" dur="1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4" fill="hold" display="0">
                  <p:stCondLst>
                    <p:cond delay="indefinite"/>
                  </p:stCondLst>
                  <p:endCondLst>
                    <p:cond evt="onStopAudio" delay="0">
                      <p:tgtEl>
                        <p:sldTgt/>
                      </p:tgtEl>
                    </p:cond>
                  </p:endCondLst>
                </p:cTn>
                <p:tgtEl>
                  <p:spTgt spid="6"/>
                </p:tgtEl>
              </p:cMediaNode>
            </p:audio>
            <p:audio>
              <p:cMediaNode vol="80000">
                <p:cTn id="15" fill="hold" display="0">
                  <p:stCondLst>
                    <p:cond delay="indefinite"/>
                  </p:stCondLst>
                  <p:endCondLst>
                    <p:cond evt="onStopAudio" delay="0">
                      <p:tgtEl>
                        <p:sldTgt/>
                      </p:tgtEl>
                    </p:cond>
                  </p:endCondLst>
                </p:cTn>
                <p:tgtEl>
                  <p:spTgt spid="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09BC204-F767-36C4-C959-95B77373072D}"/>
              </a:ext>
            </a:extLst>
          </p:cNvPr>
          <p:cNvGrpSpPr/>
          <p:nvPr/>
        </p:nvGrpSpPr>
        <p:grpSpPr>
          <a:xfrm>
            <a:off x="648585" y="489098"/>
            <a:ext cx="8729331" cy="5989320"/>
            <a:chOff x="712380" y="510363"/>
            <a:chExt cx="8729331" cy="5989320"/>
          </a:xfrm>
        </p:grpSpPr>
        <p:sp>
          <p:nvSpPr>
            <p:cNvPr id="4" name="Text 2">
              <a:extLst>
                <a:ext uri="{FF2B5EF4-FFF2-40B4-BE49-F238E27FC236}">
                  <a16:creationId xmlns:a16="http://schemas.microsoft.com/office/drawing/2014/main" id="{1E166E0D-5F49-86C5-5CE6-05B866176473}"/>
                </a:ext>
              </a:extLst>
            </p:cNvPr>
            <p:cNvSpPr/>
            <p:nvPr/>
          </p:nvSpPr>
          <p:spPr>
            <a:xfrm>
              <a:off x="712381" y="510363"/>
              <a:ext cx="8479922" cy="365760"/>
            </a:xfrm>
            <a:prstGeom prst="rect">
              <a:avLst/>
            </a:prstGeom>
            <a:noFill/>
            <a:ln/>
          </p:spPr>
          <p:txBody>
            <a:bodyPr wrap="square" lIns="0" tIns="0" rIns="0" bIns="0" rtlCol="0" anchor="ctr"/>
            <a:lstStyle/>
            <a:p>
              <a:pPr marL="0" indent="0">
                <a:buNone/>
              </a:pPr>
              <a:r>
                <a:rPr lang="en-US" sz="1600" b="1" kern="0" spc="400" dirty="0">
                  <a:solidFill>
                    <a:srgbClr val="00A8E8"/>
                  </a:solidFill>
                </a:rPr>
                <a:t>EQUITY RESEARCH NOTE</a:t>
              </a:r>
              <a:endParaRPr lang="en-US" sz="1600" dirty="0"/>
            </a:p>
          </p:txBody>
        </p:sp>
        <p:sp>
          <p:nvSpPr>
            <p:cNvPr id="5" name="Text 3">
              <a:extLst>
                <a:ext uri="{FF2B5EF4-FFF2-40B4-BE49-F238E27FC236}">
                  <a16:creationId xmlns:a16="http://schemas.microsoft.com/office/drawing/2014/main" id="{4D7D6029-1431-D79E-A58C-64D632352BBE}"/>
                </a:ext>
              </a:extLst>
            </p:cNvPr>
            <p:cNvSpPr/>
            <p:nvPr/>
          </p:nvSpPr>
          <p:spPr>
            <a:xfrm>
              <a:off x="712380" y="1013283"/>
              <a:ext cx="8729331" cy="1005840"/>
            </a:xfrm>
            <a:prstGeom prst="rect">
              <a:avLst/>
            </a:prstGeom>
            <a:noFill/>
            <a:ln/>
          </p:spPr>
          <p:txBody>
            <a:bodyPr wrap="square" lIns="0" tIns="0" rIns="0" bIns="0" rtlCol="0" anchor="ctr"/>
            <a:lstStyle/>
            <a:p>
              <a:pPr marL="0" indent="0">
                <a:buNone/>
              </a:pPr>
              <a:r>
                <a:rPr lang="en-US" sz="6000" b="1" dirty="0">
                  <a:solidFill>
                    <a:srgbClr val="FFFFFF"/>
                  </a:solidFill>
                </a:rPr>
                <a:t>Nebius Group N.V.</a:t>
              </a:r>
              <a:endParaRPr lang="en-US" sz="6000" dirty="0"/>
            </a:p>
          </p:txBody>
        </p:sp>
        <p:sp>
          <p:nvSpPr>
            <p:cNvPr id="6" name="Text 4">
              <a:extLst>
                <a:ext uri="{FF2B5EF4-FFF2-40B4-BE49-F238E27FC236}">
                  <a16:creationId xmlns:a16="http://schemas.microsoft.com/office/drawing/2014/main" id="{D05B440E-D4A3-60F8-7712-4658B0CE1FE4}"/>
                </a:ext>
              </a:extLst>
            </p:cNvPr>
            <p:cNvSpPr/>
            <p:nvPr/>
          </p:nvSpPr>
          <p:spPr>
            <a:xfrm>
              <a:off x="712380" y="2064843"/>
              <a:ext cx="4988189" cy="457200"/>
            </a:xfrm>
            <a:prstGeom prst="rect">
              <a:avLst/>
            </a:prstGeom>
            <a:noFill/>
            <a:ln/>
          </p:spPr>
          <p:txBody>
            <a:bodyPr wrap="square" lIns="0" tIns="0" rIns="0" bIns="0" rtlCol="0" anchor="ctr"/>
            <a:lstStyle/>
            <a:p>
              <a:pPr marL="0" indent="0">
                <a:buNone/>
              </a:pPr>
              <a:r>
                <a:rPr lang="en-US" sz="2400" b="1" dirty="0">
                  <a:solidFill>
                    <a:srgbClr val="F4A300"/>
                  </a:solidFill>
                </a:rPr>
                <a:t>NASDAQ: NBIS</a:t>
              </a:r>
              <a:endParaRPr lang="en-US" sz="2400" dirty="0"/>
            </a:p>
          </p:txBody>
        </p:sp>
        <p:sp>
          <p:nvSpPr>
            <p:cNvPr id="7" name="Text 5">
              <a:extLst>
                <a:ext uri="{FF2B5EF4-FFF2-40B4-BE49-F238E27FC236}">
                  <a16:creationId xmlns:a16="http://schemas.microsoft.com/office/drawing/2014/main" id="{BE240855-2262-8D6C-B599-493D00C3E32D}"/>
                </a:ext>
              </a:extLst>
            </p:cNvPr>
            <p:cNvSpPr/>
            <p:nvPr/>
          </p:nvSpPr>
          <p:spPr>
            <a:xfrm>
              <a:off x="712380" y="2613483"/>
              <a:ext cx="8729331" cy="640080"/>
            </a:xfrm>
            <a:prstGeom prst="rect">
              <a:avLst/>
            </a:prstGeom>
            <a:noFill/>
            <a:ln/>
          </p:spPr>
          <p:txBody>
            <a:bodyPr wrap="square" lIns="0" tIns="0" rIns="0" bIns="0" rtlCol="0" anchor="ctr"/>
            <a:lstStyle/>
            <a:p>
              <a:pPr marL="0" indent="0">
                <a:buNone/>
              </a:pPr>
              <a:r>
                <a:rPr lang="en-US" dirty="0">
                  <a:solidFill>
                    <a:srgbClr val="D4E3F5"/>
                  </a:solidFill>
                </a:rPr>
                <a:t>AI Infrastructure &amp;  </a:t>
              </a:r>
              <a:r>
                <a:rPr lang="en-US" dirty="0" err="1">
                  <a:solidFill>
                    <a:srgbClr val="D4E3F5"/>
                  </a:solidFill>
                </a:rPr>
                <a:t>Neocloud</a:t>
              </a:r>
              <a:r>
                <a:rPr lang="en-US" dirty="0">
                  <a:solidFill>
                    <a:srgbClr val="D4E3F5"/>
                  </a:solidFill>
                </a:rPr>
                <a:t> Services</a:t>
              </a:r>
              <a:endParaRPr lang="en-US" dirty="0"/>
            </a:p>
            <a:p>
              <a:pPr marL="0" indent="0">
                <a:buNone/>
              </a:pPr>
              <a:r>
                <a:rPr lang="en-US" dirty="0">
                  <a:solidFill>
                    <a:srgbClr val="D4E3F5"/>
                  </a:solidFill>
                </a:rPr>
                <a:t>Amsterdam, Netherlands</a:t>
              </a:r>
              <a:endParaRPr lang="en-US" dirty="0"/>
            </a:p>
          </p:txBody>
        </p:sp>
        <p:sp>
          <p:nvSpPr>
            <p:cNvPr id="8" name="Shape 6">
              <a:extLst>
                <a:ext uri="{FF2B5EF4-FFF2-40B4-BE49-F238E27FC236}">
                  <a16:creationId xmlns:a16="http://schemas.microsoft.com/office/drawing/2014/main" id="{62DFF65C-27F1-D208-6E4D-A06FE8149227}"/>
                </a:ext>
              </a:extLst>
            </p:cNvPr>
            <p:cNvSpPr/>
            <p:nvPr/>
          </p:nvSpPr>
          <p:spPr>
            <a:xfrm>
              <a:off x="712381" y="3390723"/>
              <a:ext cx="3741142" cy="54864"/>
            </a:xfrm>
            <a:prstGeom prst="rect">
              <a:avLst/>
            </a:prstGeom>
            <a:solidFill>
              <a:srgbClr val="00A8E8"/>
            </a:solidFill>
            <a:ln w="12700">
              <a:solidFill>
                <a:srgbClr val="00A8E8"/>
              </a:solidFill>
              <a:prstDash val="solid"/>
            </a:ln>
          </p:spPr>
        </p:sp>
        <p:sp>
          <p:nvSpPr>
            <p:cNvPr id="9" name="Text 32">
              <a:extLst>
                <a:ext uri="{FF2B5EF4-FFF2-40B4-BE49-F238E27FC236}">
                  <a16:creationId xmlns:a16="http://schemas.microsoft.com/office/drawing/2014/main" id="{96A3FD58-E75B-7693-75EE-63E2B26B9867}"/>
                </a:ext>
              </a:extLst>
            </p:cNvPr>
            <p:cNvSpPr/>
            <p:nvPr/>
          </p:nvSpPr>
          <p:spPr>
            <a:xfrm>
              <a:off x="712380" y="4539358"/>
              <a:ext cx="6163695" cy="502920"/>
            </a:xfrm>
            <a:prstGeom prst="rect">
              <a:avLst/>
            </a:prstGeom>
            <a:noFill/>
            <a:ln/>
          </p:spPr>
          <p:txBody>
            <a:bodyPr wrap="square" lIns="0" tIns="0" rIns="0" bIns="0" rtlCol="0" anchor="ctr"/>
            <a:lstStyle/>
            <a:p>
              <a:pPr marL="0" indent="0">
                <a:buNone/>
              </a:pPr>
              <a:r>
                <a:rPr lang="en-US" sz="2400" b="1" dirty="0">
                  <a:solidFill>
                    <a:srgbClr val="F4A300"/>
                  </a:solidFill>
                </a:rPr>
                <a:t>AI Infrastructure Hypergrowth, Capital Intensity, And Valuation Debate</a:t>
              </a:r>
            </a:p>
          </p:txBody>
        </p:sp>
        <p:sp>
          <p:nvSpPr>
            <p:cNvPr id="10" name="Text 33">
              <a:extLst>
                <a:ext uri="{FF2B5EF4-FFF2-40B4-BE49-F238E27FC236}">
                  <a16:creationId xmlns:a16="http://schemas.microsoft.com/office/drawing/2014/main" id="{123E3E34-5957-62C3-D274-260809885BEA}"/>
                </a:ext>
              </a:extLst>
            </p:cNvPr>
            <p:cNvSpPr/>
            <p:nvPr/>
          </p:nvSpPr>
          <p:spPr>
            <a:xfrm>
              <a:off x="712381" y="5267688"/>
              <a:ext cx="8479922" cy="640080"/>
            </a:xfrm>
            <a:prstGeom prst="rect">
              <a:avLst/>
            </a:prstGeom>
            <a:noFill/>
            <a:ln/>
          </p:spPr>
          <p:txBody>
            <a:bodyPr wrap="square" lIns="0" tIns="0" rIns="0" bIns="0" rtlCol="0" anchor="ctr"/>
            <a:lstStyle/>
            <a:p>
              <a:pPr marL="0" indent="0">
                <a:buNone/>
              </a:pPr>
              <a:r>
                <a:rPr lang="en-US" sz="1400" dirty="0">
                  <a:solidFill>
                    <a:srgbClr val="D4E3F5"/>
                  </a:solidFill>
                </a:rPr>
                <a:t>Sustained AI capex supercycle + vertically integrated neocloud</a:t>
              </a:r>
              <a:endParaRPr lang="en-US" sz="1400" dirty="0"/>
            </a:p>
            <a:p>
              <a:pPr marL="0" indent="0">
                <a:buNone/>
              </a:pPr>
              <a:r>
                <a:rPr lang="en-US" sz="1400" dirty="0">
                  <a:solidFill>
                    <a:srgbClr val="D4E3F5"/>
                  </a:solidFill>
                </a:rPr>
                <a:t>with Nvidia as strategic partner, Meta deals $30B+ &amp; $17B Microsoft contract.</a:t>
              </a:r>
              <a:endParaRPr lang="en-US" sz="1400" dirty="0"/>
            </a:p>
          </p:txBody>
        </p:sp>
        <p:sp>
          <p:nvSpPr>
            <p:cNvPr id="11" name="Text 34">
              <a:extLst>
                <a:ext uri="{FF2B5EF4-FFF2-40B4-BE49-F238E27FC236}">
                  <a16:creationId xmlns:a16="http://schemas.microsoft.com/office/drawing/2014/main" id="{A98482E9-2DDF-244D-0165-F805B39F77E5}"/>
                </a:ext>
              </a:extLst>
            </p:cNvPr>
            <p:cNvSpPr/>
            <p:nvPr/>
          </p:nvSpPr>
          <p:spPr>
            <a:xfrm>
              <a:off x="712380" y="6179643"/>
              <a:ext cx="8729331" cy="320040"/>
            </a:xfrm>
            <a:prstGeom prst="rect">
              <a:avLst/>
            </a:prstGeom>
            <a:noFill/>
            <a:ln/>
          </p:spPr>
          <p:txBody>
            <a:bodyPr wrap="square" lIns="0" tIns="0" rIns="0" bIns="0" rtlCol="0" anchor="ctr"/>
            <a:lstStyle/>
            <a:p>
              <a:pPr marL="0" indent="0">
                <a:buNone/>
              </a:pPr>
              <a:r>
                <a:rPr lang="en-US" sz="1050" dirty="0">
                  <a:solidFill>
                    <a:srgbClr val="5A7A9A"/>
                  </a:solidFill>
                </a:rPr>
                <a:t>Date: March 14, 2026  |  Analyst: </a:t>
              </a:r>
              <a:r>
                <a:rPr lang="en-US" sz="1050" dirty="0" err="1">
                  <a:solidFill>
                    <a:srgbClr val="5A7A9A"/>
                  </a:solidFill>
                </a:rPr>
                <a:t>Dreamlit</a:t>
              </a:r>
              <a:r>
                <a:rPr lang="en-US" sz="1050" dirty="0">
                  <a:solidFill>
                    <a:srgbClr val="5A7A9A"/>
                  </a:solidFill>
                </a:rPr>
                <a:t> Quant Research</a:t>
              </a:r>
              <a:endParaRPr lang="en-US" sz="1050" dirty="0"/>
            </a:p>
          </p:txBody>
        </p:sp>
      </p:grpSp>
      <p:sp>
        <p:nvSpPr>
          <p:cNvPr id="23" name="Shape 1">
            <a:extLst>
              <a:ext uri="{FF2B5EF4-FFF2-40B4-BE49-F238E27FC236}">
                <a16:creationId xmlns:a16="http://schemas.microsoft.com/office/drawing/2014/main" id="{47019ED1-8D45-4041-D522-47EA1A6247B9}"/>
              </a:ext>
            </a:extLst>
          </p:cNvPr>
          <p:cNvSpPr/>
          <p:nvPr/>
        </p:nvSpPr>
        <p:spPr>
          <a:xfrm>
            <a:off x="7132320" y="0"/>
            <a:ext cx="5029200" cy="6858000"/>
          </a:xfrm>
          <a:prstGeom prst="rect">
            <a:avLst/>
          </a:prstGeom>
          <a:solidFill>
            <a:srgbClr val="1A4B8C"/>
          </a:solidFill>
          <a:ln w="12700">
            <a:solidFill>
              <a:srgbClr val="1A4B8C"/>
            </a:solidFill>
            <a:prstDash val="solid"/>
          </a:ln>
        </p:spPr>
      </p:sp>
      <p:sp>
        <p:nvSpPr>
          <p:cNvPr id="24" name="Text 7">
            <a:extLst>
              <a:ext uri="{FF2B5EF4-FFF2-40B4-BE49-F238E27FC236}">
                <a16:creationId xmlns:a16="http://schemas.microsoft.com/office/drawing/2014/main" id="{9E845FF6-CBA1-336B-9379-569ED0AD120E}"/>
              </a:ext>
            </a:extLst>
          </p:cNvPr>
          <p:cNvSpPr/>
          <p:nvPr/>
        </p:nvSpPr>
        <p:spPr>
          <a:xfrm>
            <a:off x="7406640" y="548640"/>
            <a:ext cx="4389120" cy="365760"/>
          </a:xfrm>
          <a:prstGeom prst="rect">
            <a:avLst/>
          </a:prstGeom>
          <a:noFill/>
          <a:ln/>
        </p:spPr>
        <p:txBody>
          <a:bodyPr wrap="square" lIns="0" tIns="0" rIns="0" bIns="0" rtlCol="0" anchor="ctr"/>
          <a:lstStyle/>
          <a:p>
            <a:pPr marL="0" indent="0">
              <a:buNone/>
            </a:pPr>
            <a:r>
              <a:rPr lang="en-US" sz="1600" b="1" kern="0" spc="200" dirty="0">
                <a:solidFill>
                  <a:srgbClr val="00A8E8"/>
                </a:solidFill>
              </a:rPr>
              <a:t>KEY METRICS  (Mar 2026)</a:t>
            </a:r>
            <a:endParaRPr lang="en-US" sz="1600" dirty="0"/>
          </a:p>
        </p:txBody>
      </p:sp>
      <p:sp>
        <p:nvSpPr>
          <p:cNvPr id="25" name="Shape 8">
            <a:extLst>
              <a:ext uri="{FF2B5EF4-FFF2-40B4-BE49-F238E27FC236}">
                <a16:creationId xmlns:a16="http://schemas.microsoft.com/office/drawing/2014/main" id="{370FAA00-AE32-AFCE-66E7-D07640666829}"/>
              </a:ext>
            </a:extLst>
          </p:cNvPr>
          <p:cNvSpPr/>
          <p:nvPr/>
        </p:nvSpPr>
        <p:spPr>
          <a:xfrm>
            <a:off x="7406640" y="1005840"/>
            <a:ext cx="2148840" cy="1188720"/>
          </a:xfrm>
          <a:prstGeom prst="rect">
            <a:avLst/>
          </a:prstGeom>
          <a:solidFill>
            <a:srgbClr val="0D1F3C"/>
          </a:solidFill>
          <a:ln w="12700">
            <a:solidFill>
              <a:srgbClr val="00A8E8"/>
            </a:solidFill>
            <a:prstDash val="solid"/>
          </a:ln>
          <a:effectLst>
            <a:outerShdw blurRad="101600" dist="38100" dir="8100000" algn="bl" rotWithShape="0">
              <a:srgbClr val="000000">
                <a:alpha val="10000"/>
              </a:srgbClr>
            </a:outerShdw>
          </a:effectLst>
        </p:spPr>
      </p:sp>
      <p:sp>
        <p:nvSpPr>
          <p:cNvPr id="26" name="Text 9">
            <a:extLst>
              <a:ext uri="{FF2B5EF4-FFF2-40B4-BE49-F238E27FC236}">
                <a16:creationId xmlns:a16="http://schemas.microsoft.com/office/drawing/2014/main" id="{EE5C91BD-3053-55D4-1533-1A048BA5AB73}"/>
              </a:ext>
            </a:extLst>
          </p:cNvPr>
          <p:cNvSpPr/>
          <p:nvPr/>
        </p:nvSpPr>
        <p:spPr>
          <a:xfrm>
            <a:off x="7452360" y="1051560"/>
            <a:ext cx="2011680" cy="274320"/>
          </a:xfrm>
          <a:prstGeom prst="rect">
            <a:avLst/>
          </a:prstGeom>
          <a:noFill/>
          <a:ln/>
        </p:spPr>
        <p:txBody>
          <a:bodyPr wrap="square" lIns="0" tIns="0" rIns="0" bIns="0" rtlCol="0" anchor="ctr"/>
          <a:lstStyle/>
          <a:p>
            <a:pPr marL="0" indent="0">
              <a:buNone/>
            </a:pPr>
            <a:r>
              <a:rPr lang="en-US" dirty="0">
                <a:solidFill>
                  <a:srgbClr val="D4E3F5"/>
                </a:solidFill>
              </a:rPr>
              <a:t>Market Cap</a:t>
            </a:r>
            <a:endParaRPr lang="en-US" dirty="0"/>
          </a:p>
        </p:txBody>
      </p:sp>
      <p:sp>
        <p:nvSpPr>
          <p:cNvPr id="27" name="Text 10">
            <a:extLst>
              <a:ext uri="{FF2B5EF4-FFF2-40B4-BE49-F238E27FC236}">
                <a16:creationId xmlns:a16="http://schemas.microsoft.com/office/drawing/2014/main" id="{B9FDA541-30B1-71B6-CD13-6F4059971F8D}"/>
              </a:ext>
            </a:extLst>
          </p:cNvPr>
          <p:cNvSpPr/>
          <p:nvPr/>
        </p:nvSpPr>
        <p:spPr>
          <a:xfrm>
            <a:off x="7452360" y="135331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~$27B</a:t>
            </a:r>
            <a:endParaRPr lang="en-US" sz="2400" dirty="0"/>
          </a:p>
        </p:txBody>
      </p:sp>
      <p:sp>
        <p:nvSpPr>
          <p:cNvPr id="28" name="Shape 11">
            <a:extLst>
              <a:ext uri="{FF2B5EF4-FFF2-40B4-BE49-F238E27FC236}">
                <a16:creationId xmlns:a16="http://schemas.microsoft.com/office/drawing/2014/main" id="{4A0897EE-0623-9A7E-EB52-7C8BA3F9C88F}"/>
              </a:ext>
            </a:extLst>
          </p:cNvPr>
          <p:cNvSpPr/>
          <p:nvPr/>
        </p:nvSpPr>
        <p:spPr>
          <a:xfrm>
            <a:off x="9692640" y="1005840"/>
            <a:ext cx="2148840" cy="1188720"/>
          </a:xfrm>
          <a:prstGeom prst="rect">
            <a:avLst/>
          </a:prstGeom>
          <a:solidFill>
            <a:srgbClr val="0D1F3C"/>
          </a:solidFill>
          <a:ln w="12700">
            <a:solidFill>
              <a:srgbClr val="00A8E8"/>
            </a:solidFill>
            <a:prstDash val="solid"/>
          </a:ln>
          <a:effectLst>
            <a:outerShdw blurRad="101600" dist="38100" dir="8100000" algn="bl" rotWithShape="0">
              <a:srgbClr val="000000">
                <a:alpha val="10000"/>
              </a:srgbClr>
            </a:outerShdw>
          </a:effectLst>
        </p:spPr>
      </p:sp>
      <p:sp>
        <p:nvSpPr>
          <p:cNvPr id="29" name="Text 12">
            <a:extLst>
              <a:ext uri="{FF2B5EF4-FFF2-40B4-BE49-F238E27FC236}">
                <a16:creationId xmlns:a16="http://schemas.microsoft.com/office/drawing/2014/main" id="{28D4172E-AF3B-B7C8-6049-974FDECAC1EF}"/>
              </a:ext>
            </a:extLst>
          </p:cNvPr>
          <p:cNvSpPr/>
          <p:nvPr/>
        </p:nvSpPr>
        <p:spPr>
          <a:xfrm>
            <a:off x="9738360" y="1051560"/>
            <a:ext cx="2011680" cy="274320"/>
          </a:xfrm>
          <a:prstGeom prst="rect">
            <a:avLst/>
          </a:prstGeom>
          <a:noFill/>
          <a:ln/>
        </p:spPr>
        <p:txBody>
          <a:bodyPr wrap="square" lIns="0" tIns="0" rIns="0" bIns="0" rtlCol="0" anchor="ctr"/>
          <a:lstStyle/>
          <a:p>
            <a:pPr marL="0" indent="0">
              <a:buNone/>
            </a:pPr>
            <a:r>
              <a:rPr lang="en-US" dirty="0">
                <a:solidFill>
                  <a:srgbClr val="D4E3F5"/>
                </a:solidFill>
              </a:rPr>
              <a:t>FY2025 Revenue</a:t>
            </a:r>
            <a:endParaRPr lang="en-US" dirty="0"/>
          </a:p>
        </p:txBody>
      </p:sp>
      <p:sp>
        <p:nvSpPr>
          <p:cNvPr id="30" name="Text 13">
            <a:extLst>
              <a:ext uri="{FF2B5EF4-FFF2-40B4-BE49-F238E27FC236}">
                <a16:creationId xmlns:a16="http://schemas.microsoft.com/office/drawing/2014/main" id="{9F49F7A4-A472-0388-C9F1-A54294930B17}"/>
              </a:ext>
            </a:extLst>
          </p:cNvPr>
          <p:cNvSpPr/>
          <p:nvPr/>
        </p:nvSpPr>
        <p:spPr>
          <a:xfrm>
            <a:off x="9738360" y="135331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$530M</a:t>
            </a:r>
            <a:endParaRPr lang="en-US" sz="2400" dirty="0"/>
          </a:p>
        </p:txBody>
      </p:sp>
      <p:sp>
        <p:nvSpPr>
          <p:cNvPr id="31" name="Shape 14">
            <a:extLst>
              <a:ext uri="{FF2B5EF4-FFF2-40B4-BE49-F238E27FC236}">
                <a16:creationId xmlns:a16="http://schemas.microsoft.com/office/drawing/2014/main" id="{FAB759D3-A343-E4DA-6E7C-A7660A77B149}"/>
              </a:ext>
            </a:extLst>
          </p:cNvPr>
          <p:cNvSpPr/>
          <p:nvPr/>
        </p:nvSpPr>
        <p:spPr>
          <a:xfrm>
            <a:off x="7406640" y="2331720"/>
            <a:ext cx="2148840" cy="1188720"/>
          </a:xfrm>
          <a:prstGeom prst="rect">
            <a:avLst/>
          </a:prstGeom>
          <a:solidFill>
            <a:srgbClr val="0D1F3C"/>
          </a:solidFill>
          <a:ln w="12700">
            <a:solidFill>
              <a:srgbClr val="00A8E8"/>
            </a:solidFill>
            <a:prstDash val="solid"/>
          </a:ln>
          <a:effectLst>
            <a:outerShdw blurRad="101600" dist="38100" dir="8100000" algn="bl" rotWithShape="0">
              <a:srgbClr val="000000">
                <a:alpha val="10000"/>
              </a:srgbClr>
            </a:outerShdw>
          </a:effectLst>
        </p:spPr>
      </p:sp>
      <p:sp>
        <p:nvSpPr>
          <p:cNvPr id="32" name="Text 15">
            <a:extLst>
              <a:ext uri="{FF2B5EF4-FFF2-40B4-BE49-F238E27FC236}">
                <a16:creationId xmlns:a16="http://schemas.microsoft.com/office/drawing/2014/main" id="{748B3A39-393E-155A-966E-E02510FE86D6}"/>
              </a:ext>
            </a:extLst>
          </p:cNvPr>
          <p:cNvSpPr/>
          <p:nvPr/>
        </p:nvSpPr>
        <p:spPr>
          <a:xfrm>
            <a:off x="7452360" y="2377440"/>
            <a:ext cx="2011680" cy="274320"/>
          </a:xfrm>
          <a:prstGeom prst="rect">
            <a:avLst/>
          </a:prstGeom>
          <a:noFill/>
          <a:ln/>
        </p:spPr>
        <p:txBody>
          <a:bodyPr wrap="square" lIns="0" tIns="0" rIns="0" bIns="0" rtlCol="0" anchor="ctr"/>
          <a:lstStyle/>
          <a:p>
            <a:pPr marL="0" indent="0">
              <a:buNone/>
            </a:pPr>
            <a:r>
              <a:rPr lang="en-US" dirty="0">
                <a:solidFill>
                  <a:srgbClr val="D4E3F5"/>
                </a:solidFill>
              </a:rPr>
              <a:t>2025 Rev Growth</a:t>
            </a:r>
            <a:endParaRPr lang="en-US" dirty="0"/>
          </a:p>
        </p:txBody>
      </p:sp>
      <p:sp>
        <p:nvSpPr>
          <p:cNvPr id="33" name="Text 16">
            <a:extLst>
              <a:ext uri="{FF2B5EF4-FFF2-40B4-BE49-F238E27FC236}">
                <a16:creationId xmlns:a16="http://schemas.microsoft.com/office/drawing/2014/main" id="{8AF64003-C95C-4D00-215B-60EA29FBF2F0}"/>
              </a:ext>
            </a:extLst>
          </p:cNvPr>
          <p:cNvSpPr/>
          <p:nvPr/>
        </p:nvSpPr>
        <p:spPr>
          <a:xfrm>
            <a:off x="7452360" y="267919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+479% YoY</a:t>
            </a:r>
            <a:endParaRPr lang="en-US" sz="2400" dirty="0"/>
          </a:p>
        </p:txBody>
      </p:sp>
      <p:sp>
        <p:nvSpPr>
          <p:cNvPr id="34" name="Shape 17">
            <a:extLst>
              <a:ext uri="{FF2B5EF4-FFF2-40B4-BE49-F238E27FC236}">
                <a16:creationId xmlns:a16="http://schemas.microsoft.com/office/drawing/2014/main" id="{C6C00360-000E-D916-D8FC-EBC874DF7D16}"/>
              </a:ext>
            </a:extLst>
          </p:cNvPr>
          <p:cNvSpPr/>
          <p:nvPr/>
        </p:nvSpPr>
        <p:spPr>
          <a:xfrm>
            <a:off x="9692640" y="2331720"/>
            <a:ext cx="2148840" cy="1188720"/>
          </a:xfrm>
          <a:prstGeom prst="rect">
            <a:avLst/>
          </a:prstGeom>
          <a:solidFill>
            <a:srgbClr val="0D1F3C"/>
          </a:solidFill>
          <a:ln w="12700">
            <a:solidFill>
              <a:srgbClr val="00A8E8"/>
            </a:solidFill>
            <a:prstDash val="solid"/>
          </a:ln>
          <a:effectLst>
            <a:outerShdw blurRad="101600" dist="38100" dir="8100000" algn="bl" rotWithShape="0">
              <a:srgbClr val="000000">
                <a:alpha val="10000"/>
              </a:srgbClr>
            </a:outerShdw>
          </a:effectLst>
        </p:spPr>
      </p:sp>
      <p:sp>
        <p:nvSpPr>
          <p:cNvPr id="35" name="Text 18">
            <a:extLst>
              <a:ext uri="{FF2B5EF4-FFF2-40B4-BE49-F238E27FC236}">
                <a16:creationId xmlns:a16="http://schemas.microsoft.com/office/drawing/2014/main" id="{D0DB8103-8556-8752-4486-43902B5B249E}"/>
              </a:ext>
            </a:extLst>
          </p:cNvPr>
          <p:cNvSpPr/>
          <p:nvPr/>
        </p:nvSpPr>
        <p:spPr>
          <a:xfrm>
            <a:off x="9738360" y="2377440"/>
            <a:ext cx="2011680" cy="274320"/>
          </a:xfrm>
          <a:prstGeom prst="rect">
            <a:avLst/>
          </a:prstGeom>
          <a:noFill/>
          <a:ln/>
        </p:spPr>
        <p:txBody>
          <a:bodyPr wrap="square" lIns="0" tIns="0" rIns="0" bIns="0" rtlCol="0" anchor="ctr"/>
          <a:lstStyle/>
          <a:p>
            <a:pPr marL="0" indent="0">
              <a:buNone/>
            </a:pPr>
            <a:r>
              <a:rPr lang="en-US" dirty="0">
                <a:solidFill>
                  <a:srgbClr val="D4E3F5"/>
                </a:solidFill>
              </a:rPr>
              <a:t>2025 Exit ARR</a:t>
            </a:r>
            <a:endParaRPr lang="en-US" dirty="0"/>
          </a:p>
        </p:txBody>
      </p:sp>
      <p:sp>
        <p:nvSpPr>
          <p:cNvPr id="36" name="Text 19">
            <a:extLst>
              <a:ext uri="{FF2B5EF4-FFF2-40B4-BE49-F238E27FC236}">
                <a16:creationId xmlns:a16="http://schemas.microsoft.com/office/drawing/2014/main" id="{92A14061-D822-E928-AB38-91BB8E0A0755}"/>
              </a:ext>
            </a:extLst>
          </p:cNvPr>
          <p:cNvSpPr/>
          <p:nvPr/>
        </p:nvSpPr>
        <p:spPr>
          <a:xfrm>
            <a:off x="9738360" y="267919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$1.25B</a:t>
            </a:r>
            <a:endParaRPr lang="en-US" sz="2400" dirty="0"/>
          </a:p>
        </p:txBody>
      </p:sp>
      <p:sp>
        <p:nvSpPr>
          <p:cNvPr id="37" name="Shape 20">
            <a:extLst>
              <a:ext uri="{FF2B5EF4-FFF2-40B4-BE49-F238E27FC236}">
                <a16:creationId xmlns:a16="http://schemas.microsoft.com/office/drawing/2014/main" id="{177F0F3D-7D69-33EF-CCE7-547D35034EDD}"/>
              </a:ext>
            </a:extLst>
          </p:cNvPr>
          <p:cNvSpPr/>
          <p:nvPr/>
        </p:nvSpPr>
        <p:spPr>
          <a:xfrm>
            <a:off x="7406640" y="3657600"/>
            <a:ext cx="2148840" cy="1188720"/>
          </a:xfrm>
          <a:prstGeom prst="rect">
            <a:avLst/>
          </a:prstGeom>
          <a:solidFill>
            <a:srgbClr val="0D1F3C"/>
          </a:solidFill>
          <a:ln w="12700">
            <a:solidFill>
              <a:srgbClr val="00A8E8"/>
            </a:solidFill>
            <a:prstDash val="solid"/>
          </a:ln>
          <a:effectLst>
            <a:outerShdw blurRad="101600" dist="38100" dir="8100000" algn="bl" rotWithShape="0">
              <a:srgbClr val="000000">
                <a:alpha val="10000"/>
              </a:srgbClr>
            </a:outerShdw>
          </a:effectLst>
        </p:spPr>
      </p:sp>
      <p:sp>
        <p:nvSpPr>
          <p:cNvPr id="38" name="Text 21">
            <a:extLst>
              <a:ext uri="{FF2B5EF4-FFF2-40B4-BE49-F238E27FC236}">
                <a16:creationId xmlns:a16="http://schemas.microsoft.com/office/drawing/2014/main" id="{DE799238-1089-6FAC-61AB-B734985AA871}"/>
              </a:ext>
            </a:extLst>
          </p:cNvPr>
          <p:cNvSpPr/>
          <p:nvPr/>
        </p:nvSpPr>
        <p:spPr>
          <a:xfrm>
            <a:off x="7452360" y="3703320"/>
            <a:ext cx="2011680" cy="274320"/>
          </a:xfrm>
          <a:prstGeom prst="rect">
            <a:avLst/>
          </a:prstGeom>
          <a:noFill/>
          <a:ln/>
        </p:spPr>
        <p:txBody>
          <a:bodyPr wrap="square" lIns="0" tIns="0" rIns="0" bIns="0" rtlCol="0" anchor="ctr"/>
          <a:lstStyle/>
          <a:p>
            <a:pPr marL="0" indent="0">
              <a:buNone/>
            </a:pPr>
            <a:r>
              <a:rPr lang="en-US" dirty="0">
                <a:solidFill>
                  <a:srgbClr val="D4E3F5"/>
                </a:solidFill>
              </a:rPr>
              <a:t>2026 ARR Target</a:t>
            </a:r>
            <a:endParaRPr lang="en-US" dirty="0"/>
          </a:p>
        </p:txBody>
      </p:sp>
      <p:sp>
        <p:nvSpPr>
          <p:cNvPr id="39" name="Text 22">
            <a:extLst>
              <a:ext uri="{FF2B5EF4-FFF2-40B4-BE49-F238E27FC236}">
                <a16:creationId xmlns:a16="http://schemas.microsoft.com/office/drawing/2014/main" id="{64D5BF2C-930F-0A7E-7C04-E0AE56FC3D2D}"/>
              </a:ext>
            </a:extLst>
          </p:cNvPr>
          <p:cNvSpPr/>
          <p:nvPr/>
        </p:nvSpPr>
        <p:spPr>
          <a:xfrm>
            <a:off x="7452360" y="400507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$7–9B</a:t>
            </a:r>
            <a:endParaRPr lang="en-US" sz="2400" dirty="0"/>
          </a:p>
        </p:txBody>
      </p:sp>
      <p:sp>
        <p:nvSpPr>
          <p:cNvPr id="40" name="Shape 23">
            <a:extLst>
              <a:ext uri="{FF2B5EF4-FFF2-40B4-BE49-F238E27FC236}">
                <a16:creationId xmlns:a16="http://schemas.microsoft.com/office/drawing/2014/main" id="{B971C103-9FE8-093A-5EF3-48D9AA8A2BAE}"/>
              </a:ext>
            </a:extLst>
          </p:cNvPr>
          <p:cNvSpPr/>
          <p:nvPr/>
        </p:nvSpPr>
        <p:spPr>
          <a:xfrm>
            <a:off x="9692640" y="3657600"/>
            <a:ext cx="2148840" cy="1188720"/>
          </a:xfrm>
          <a:prstGeom prst="rect">
            <a:avLst/>
          </a:prstGeom>
          <a:solidFill>
            <a:srgbClr val="0D1F3C"/>
          </a:solidFill>
          <a:ln w="12700">
            <a:solidFill>
              <a:srgbClr val="00A8E8"/>
            </a:solidFill>
            <a:prstDash val="solid"/>
          </a:ln>
          <a:effectLst>
            <a:outerShdw blurRad="101600" dist="38100" dir="8100000" algn="bl" rotWithShape="0">
              <a:srgbClr val="000000">
                <a:alpha val="10000"/>
              </a:srgbClr>
            </a:outerShdw>
          </a:effectLst>
        </p:spPr>
      </p:sp>
      <p:sp>
        <p:nvSpPr>
          <p:cNvPr id="41" name="Text 24">
            <a:extLst>
              <a:ext uri="{FF2B5EF4-FFF2-40B4-BE49-F238E27FC236}">
                <a16:creationId xmlns:a16="http://schemas.microsoft.com/office/drawing/2014/main" id="{C453B374-8A51-5D14-634E-952C7513B1EE}"/>
              </a:ext>
            </a:extLst>
          </p:cNvPr>
          <p:cNvSpPr/>
          <p:nvPr/>
        </p:nvSpPr>
        <p:spPr>
          <a:xfrm>
            <a:off x="9738360" y="3703320"/>
            <a:ext cx="2011680" cy="274320"/>
          </a:xfrm>
          <a:prstGeom prst="rect">
            <a:avLst/>
          </a:prstGeom>
          <a:noFill/>
          <a:ln/>
        </p:spPr>
        <p:txBody>
          <a:bodyPr wrap="square" lIns="0" tIns="0" rIns="0" bIns="0" rtlCol="0" anchor="ctr"/>
          <a:lstStyle/>
          <a:p>
            <a:pPr marL="0" indent="0">
              <a:buNone/>
            </a:pPr>
            <a:r>
              <a:rPr lang="en-US" dirty="0">
                <a:solidFill>
                  <a:srgbClr val="D4E3F5"/>
                </a:solidFill>
              </a:rPr>
              <a:t>2026 Capex Guidance</a:t>
            </a:r>
            <a:endParaRPr lang="en-US" dirty="0"/>
          </a:p>
        </p:txBody>
      </p:sp>
      <p:sp>
        <p:nvSpPr>
          <p:cNvPr id="42" name="Text 25">
            <a:extLst>
              <a:ext uri="{FF2B5EF4-FFF2-40B4-BE49-F238E27FC236}">
                <a16:creationId xmlns:a16="http://schemas.microsoft.com/office/drawing/2014/main" id="{529847EA-7B12-8E30-E079-96134417A24D}"/>
              </a:ext>
            </a:extLst>
          </p:cNvPr>
          <p:cNvSpPr/>
          <p:nvPr/>
        </p:nvSpPr>
        <p:spPr>
          <a:xfrm>
            <a:off x="9738360" y="4005072"/>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$20B–$25B</a:t>
            </a:r>
            <a:endParaRPr lang="en-US" sz="2400" dirty="0"/>
          </a:p>
        </p:txBody>
      </p:sp>
      <p:sp>
        <p:nvSpPr>
          <p:cNvPr id="43" name="Shape 26">
            <a:extLst>
              <a:ext uri="{FF2B5EF4-FFF2-40B4-BE49-F238E27FC236}">
                <a16:creationId xmlns:a16="http://schemas.microsoft.com/office/drawing/2014/main" id="{E8D7D7DF-246A-E399-F9C3-3469AA365ABD}"/>
              </a:ext>
            </a:extLst>
          </p:cNvPr>
          <p:cNvSpPr/>
          <p:nvPr/>
        </p:nvSpPr>
        <p:spPr>
          <a:xfrm>
            <a:off x="7406640" y="4983480"/>
            <a:ext cx="2148840" cy="1188720"/>
          </a:xfrm>
          <a:prstGeom prst="rect">
            <a:avLst/>
          </a:prstGeom>
          <a:solidFill>
            <a:srgbClr val="0D1F3C"/>
          </a:solidFill>
          <a:ln w="12700">
            <a:solidFill>
              <a:srgbClr val="00A8E8"/>
            </a:solidFill>
            <a:prstDash val="solid"/>
          </a:ln>
          <a:effectLst>
            <a:outerShdw blurRad="101600" dist="38100" dir="8100000" algn="bl" rotWithShape="0">
              <a:srgbClr val="000000">
                <a:alpha val="10000"/>
              </a:srgbClr>
            </a:outerShdw>
          </a:effectLst>
        </p:spPr>
      </p:sp>
      <p:sp>
        <p:nvSpPr>
          <p:cNvPr id="44" name="Text 27">
            <a:extLst>
              <a:ext uri="{FF2B5EF4-FFF2-40B4-BE49-F238E27FC236}">
                <a16:creationId xmlns:a16="http://schemas.microsoft.com/office/drawing/2014/main" id="{2E94C14E-A100-3703-EB1F-CACFC69A32D2}"/>
              </a:ext>
            </a:extLst>
          </p:cNvPr>
          <p:cNvSpPr/>
          <p:nvPr/>
        </p:nvSpPr>
        <p:spPr>
          <a:xfrm>
            <a:off x="7452360" y="5029200"/>
            <a:ext cx="2011680" cy="274320"/>
          </a:xfrm>
          <a:prstGeom prst="rect">
            <a:avLst/>
          </a:prstGeom>
          <a:noFill/>
          <a:ln/>
        </p:spPr>
        <p:txBody>
          <a:bodyPr wrap="square" lIns="0" tIns="0" rIns="0" bIns="0" rtlCol="0" anchor="ctr"/>
          <a:lstStyle/>
          <a:p>
            <a:pPr marL="0" indent="0">
              <a:buNone/>
            </a:pPr>
            <a:r>
              <a:rPr lang="en-US" dirty="0">
                <a:solidFill>
                  <a:srgbClr val="D4E3F5"/>
                </a:solidFill>
              </a:rPr>
              <a:t>Revenue Guidance</a:t>
            </a:r>
            <a:endParaRPr lang="en-US" dirty="0"/>
          </a:p>
        </p:txBody>
      </p:sp>
      <p:sp>
        <p:nvSpPr>
          <p:cNvPr id="45" name="Text 28">
            <a:extLst>
              <a:ext uri="{FF2B5EF4-FFF2-40B4-BE49-F238E27FC236}">
                <a16:creationId xmlns:a16="http://schemas.microsoft.com/office/drawing/2014/main" id="{0D5C6A04-C269-57FD-228B-0A0736E1C9D7}"/>
              </a:ext>
            </a:extLst>
          </p:cNvPr>
          <p:cNvSpPr/>
          <p:nvPr/>
        </p:nvSpPr>
        <p:spPr>
          <a:xfrm>
            <a:off x="7475220" y="5426113"/>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$3.0 billion – $3.4 billion</a:t>
            </a:r>
            <a:endParaRPr lang="en-US" sz="2400" dirty="0"/>
          </a:p>
        </p:txBody>
      </p:sp>
      <p:sp>
        <p:nvSpPr>
          <p:cNvPr id="46" name="Shape 29">
            <a:extLst>
              <a:ext uri="{FF2B5EF4-FFF2-40B4-BE49-F238E27FC236}">
                <a16:creationId xmlns:a16="http://schemas.microsoft.com/office/drawing/2014/main" id="{8F4DDF19-1C9E-2D2A-1605-73193ECDA6C7}"/>
              </a:ext>
            </a:extLst>
          </p:cNvPr>
          <p:cNvSpPr/>
          <p:nvPr/>
        </p:nvSpPr>
        <p:spPr>
          <a:xfrm>
            <a:off x="9692640" y="4983480"/>
            <a:ext cx="2148840" cy="1188720"/>
          </a:xfrm>
          <a:prstGeom prst="rect">
            <a:avLst/>
          </a:prstGeom>
          <a:solidFill>
            <a:srgbClr val="0D1F3C"/>
          </a:solidFill>
          <a:ln w="12700">
            <a:solidFill>
              <a:srgbClr val="00A8E8"/>
            </a:solidFill>
            <a:prstDash val="solid"/>
          </a:ln>
          <a:effectLst>
            <a:outerShdw blurRad="101600" dist="38100" dir="8100000" algn="bl" rotWithShape="0">
              <a:srgbClr val="000000">
                <a:alpha val="10000"/>
              </a:srgbClr>
            </a:outerShdw>
          </a:effectLst>
        </p:spPr>
      </p:sp>
      <p:sp>
        <p:nvSpPr>
          <p:cNvPr id="47" name="Text 30">
            <a:extLst>
              <a:ext uri="{FF2B5EF4-FFF2-40B4-BE49-F238E27FC236}">
                <a16:creationId xmlns:a16="http://schemas.microsoft.com/office/drawing/2014/main" id="{7CBB4E2B-6B23-2439-55C8-0DC01BEF04C7}"/>
              </a:ext>
            </a:extLst>
          </p:cNvPr>
          <p:cNvSpPr/>
          <p:nvPr/>
        </p:nvSpPr>
        <p:spPr>
          <a:xfrm>
            <a:off x="9738360" y="5029200"/>
            <a:ext cx="2011680" cy="274320"/>
          </a:xfrm>
          <a:prstGeom prst="rect">
            <a:avLst/>
          </a:prstGeom>
          <a:noFill/>
          <a:ln/>
        </p:spPr>
        <p:txBody>
          <a:bodyPr wrap="square" lIns="0" tIns="0" rIns="0" bIns="0" rtlCol="0" anchor="ctr"/>
          <a:lstStyle/>
          <a:p>
            <a:pPr marL="0" indent="0">
              <a:buNone/>
            </a:pPr>
            <a:r>
              <a:rPr lang="en-US" dirty="0">
                <a:solidFill>
                  <a:srgbClr val="D4E3F5"/>
                </a:solidFill>
              </a:rPr>
              <a:t>52-Wk High/Low</a:t>
            </a:r>
            <a:endParaRPr lang="en-US" dirty="0"/>
          </a:p>
        </p:txBody>
      </p:sp>
      <p:sp>
        <p:nvSpPr>
          <p:cNvPr id="48" name="Text 31">
            <a:extLst>
              <a:ext uri="{FF2B5EF4-FFF2-40B4-BE49-F238E27FC236}">
                <a16:creationId xmlns:a16="http://schemas.microsoft.com/office/drawing/2014/main" id="{D4553F17-E701-D529-5042-F231EA2C3DCC}"/>
              </a:ext>
            </a:extLst>
          </p:cNvPr>
          <p:cNvSpPr/>
          <p:nvPr/>
        </p:nvSpPr>
        <p:spPr>
          <a:xfrm>
            <a:off x="9761220" y="5394960"/>
            <a:ext cx="2011680" cy="685800"/>
          </a:xfrm>
          <a:prstGeom prst="rect">
            <a:avLst/>
          </a:prstGeom>
          <a:noFill/>
          <a:ln/>
        </p:spPr>
        <p:txBody>
          <a:bodyPr wrap="square" lIns="0" tIns="0" rIns="0" bIns="0" rtlCol="0" anchor="ctr"/>
          <a:lstStyle/>
          <a:p>
            <a:pPr marL="0" indent="0">
              <a:buNone/>
            </a:pPr>
            <a:r>
              <a:rPr lang="en-US" sz="2400" b="1" dirty="0">
                <a:solidFill>
                  <a:srgbClr val="F4A300"/>
                </a:solidFill>
              </a:rPr>
              <a:t>$141 / $18</a:t>
            </a:r>
            <a:endParaRPr lang="en-US" sz="2400" dirty="0"/>
          </a:p>
        </p:txBody>
      </p:sp>
    </p:spTree>
    <p:extLst>
      <p:ext uri="{BB962C8B-B14F-4D97-AF65-F5344CB8AC3E}">
        <p14:creationId xmlns:p14="http://schemas.microsoft.com/office/powerpoint/2010/main" val="863316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293B"/>
          </a:solidFill>
          <a:ln w="12700">
            <a:solidFill>
              <a:srgbClr val="1E293B"/>
            </a:solidFill>
            <a:prstDash val="solid"/>
          </a:ln>
        </p:spPr>
      </p:sp>
      <p:sp>
        <p:nvSpPr>
          <p:cNvPr id="3" name="Shape 1"/>
          <p:cNvSpPr/>
          <p:nvPr/>
        </p:nvSpPr>
        <p:spPr>
          <a:xfrm>
            <a:off x="0" y="0"/>
            <a:ext cx="463296" cy="914400"/>
          </a:xfrm>
          <a:prstGeom prst="rect">
            <a:avLst/>
          </a:prstGeom>
          <a:solidFill>
            <a:srgbClr val="00B4D8"/>
          </a:solidFill>
          <a:ln w="12700">
            <a:solidFill>
              <a:srgbClr val="00B4D8"/>
            </a:solidFill>
            <a:prstDash val="solid"/>
          </a:ln>
        </p:spPr>
      </p:sp>
      <p:sp>
        <p:nvSpPr>
          <p:cNvPr id="4" name="Text 2"/>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1: COMPANY HISTORY — FROM YANDEX TO NEBIUS</a:t>
            </a:r>
            <a:endParaRPr lang="en-US" sz="2267" dirty="0"/>
          </a:p>
        </p:txBody>
      </p:sp>
      <p:sp>
        <p:nvSpPr>
          <p:cNvPr id="5" name="Text 3"/>
          <p:cNvSpPr/>
          <p:nvPr/>
        </p:nvSpPr>
        <p:spPr>
          <a:xfrm>
            <a:off x="426720" y="999743"/>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One of tech's most complex corporate reinventions</a:t>
            </a:r>
            <a:endParaRPr lang="en-US" sz="1600" dirty="0">
              <a:solidFill>
                <a:srgbClr val="002060"/>
              </a:solidFill>
            </a:endParaRPr>
          </a:p>
        </p:txBody>
      </p:sp>
      <p:sp>
        <p:nvSpPr>
          <p:cNvPr id="6" name="Shape 4"/>
          <p:cNvSpPr/>
          <p:nvPr/>
        </p:nvSpPr>
        <p:spPr>
          <a:xfrm>
            <a:off x="487680" y="1950720"/>
            <a:ext cx="11216640" cy="0"/>
          </a:xfrm>
          <a:prstGeom prst="line">
            <a:avLst/>
          </a:prstGeom>
          <a:noFill/>
          <a:ln w="22860">
            <a:solidFill>
              <a:srgbClr val="00B4D8"/>
            </a:solidFill>
            <a:prstDash val="solid"/>
          </a:ln>
        </p:spPr>
      </p:sp>
      <p:sp>
        <p:nvSpPr>
          <p:cNvPr id="7" name="Shape 5"/>
          <p:cNvSpPr/>
          <p:nvPr/>
        </p:nvSpPr>
        <p:spPr>
          <a:xfrm>
            <a:off x="316992" y="1780032"/>
            <a:ext cx="341376" cy="341376"/>
          </a:xfrm>
          <a:prstGeom prst="ellipse">
            <a:avLst/>
          </a:prstGeom>
          <a:solidFill>
            <a:srgbClr val="00B4D8"/>
          </a:solidFill>
          <a:ln w="12700">
            <a:solidFill>
              <a:srgbClr val="00B4D8"/>
            </a:solidFill>
            <a:prstDash val="solid"/>
          </a:ln>
        </p:spPr>
      </p:sp>
      <p:sp>
        <p:nvSpPr>
          <p:cNvPr id="8" name="Text 6"/>
          <p:cNvSpPr/>
          <p:nvPr/>
        </p:nvSpPr>
        <p:spPr>
          <a:xfrm>
            <a:off x="0" y="2170176"/>
            <a:ext cx="975360" cy="268224"/>
          </a:xfrm>
          <a:prstGeom prst="rect">
            <a:avLst/>
          </a:prstGeom>
          <a:noFill/>
          <a:ln/>
        </p:spPr>
        <p:txBody>
          <a:bodyPr wrap="square" rtlCol="0" anchor="ctr"/>
          <a:lstStyle/>
          <a:p>
            <a:pPr algn="ctr"/>
            <a:r>
              <a:rPr lang="en-US" sz="1133" b="1" dirty="0">
                <a:solidFill>
                  <a:srgbClr val="0077A8"/>
                </a:solidFill>
                <a:latin typeface="Calibri" pitchFamily="34" charset="0"/>
                <a:ea typeface="Calibri" pitchFamily="34" charset="-122"/>
                <a:cs typeface="Calibri" pitchFamily="34" charset="-120"/>
              </a:rPr>
              <a:t>1989</a:t>
            </a:r>
            <a:endParaRPr lang="en-US" sz="1133" dirty="0"/>
          </a:p>
        </p:txBody>
      </p:sp>
      <p:sp>
        <p:nvSpPr>
          <p:cNvPr id="10" name="Shape 8"/>
          <p:cNvSpPr/>
          <p:nvPr/>
        </p:nvSpPr>
        <p:spPr>
          <a:xfrm>
            <a:off x="2023872" y="1780032"/>
            <a:ext cx="341376" cy="341376"/>
          </a:xfrm>
          <a:prstGeom prst="ellipse">
            <a:avLst/>
          </a:prstGeom>
          <a:solidFill>
            <a:srgbClr val="00B4D8"/>
          </a:solidFill>
          <a:ln w="12700">
            <a:solidFill>
              <a:srgbClr val="00B4D8"/>
            </a:solidFill>
            <a:prstDash val="solid"/>
          </a:ln>
        </p:spPr>
      </p:sp>
      <p:sp>
        <p:nvSpPr>
          <p:cNvPr id="11" name="Text 9"/>
          <p:cNvSpPr/>
          <p:nvPr/>
        </p:nvSpPr>
        <p:spPr>
          <a:xfrm>
            <a:off x="1706880" y="2170176"/>
            <a:ext cx="975360" cy="268224"/>
          </a:xfrm>
          <a:prstGeom prst="rect">
            <a:avLst/>
          </a:prstGeom>
          <a:noFill/>
          <a:ln/>
        </p:spPr>
        <p:txBody>
          <a:bodyPr wrap="square" rtlCol="0" anchor="ctr"/>
          <a:lstStyle/>
          <a:p>
            <a:pPr algn="ctr"/>
            <a:r>
              <a:rPr lang="en-US" sz="1133" b="1" dirty="0">
                <a:solidFill>
                  <a:srgbClr val="0077A8"/>
                </a:solidFill>
                <a:latin typeface="Calibri" pitchFamily="34" charset="0"/>
                <a:ea typeface="Calibri" pitchFamily="34" charset="-122"/>
                <a:cs typeface="Calibri" pitchFamily="34" charset="-120"/>
              </a:rPr>
              <a:t>2011</a:t>
            </a:r>
            <a:endParaRPr lang="en-US" sz="1133" dirty="0"/>
          </a:p>
        </p:txBody>
      </p:sp>
      <p:sp>
        <p:nvSpPr>
          <p:cNvPr id="13" name="Shape 11"/>
          <p:cNvSpPr/>
          <p:nvPr/>
        </p:nvSpPr>
        <p:spPr>
          <a:xfrm>
            <a:off x="3730752" y="1780032"/>
            <a:ext cx="341376" cy="341376"/>
          </a:xfrm>
          <a:prstGeom prst="ellipse">
            <a:avLst/>
          </a:prstGeom>
          <a:solidFill>
            <a:srgbClr val="00B4D8"/>
          </a:solidFill>
          <a:ln w="12700">
            <a:solidFill>
              <a:srgbClr val="00B4D8"/>
            </a:solidFill>
            <a:prstDash val="solid"/>
          </a:ln>
        </p:spPr>
      </p:sp>
      <p:sp>
        <p:nvSpPr>
          <p:cNvPr id="14" name="Text 12"/>
          <p:cNvSpPr/>
          <p:nvPr/>
        </p:nvSpPr>
        <p:spPr>
          <a:xfrm>
            <a:off x="3413760" y="2170176"/>
            <a:ext cx="975360" cy="268224"/>
          </a:xfrm>
          <a:prstGeom prst="rect">
            <a:avLst/>
          </a:prstGeom>
          <a:noFill/>
          <a:ln/>
        </p:spPr>
        <p:txBody>
          <a:bodyPr wrap="square" rtlCol="0" anchor="ctr"/>
          <a:lstStyle/>
          <a:p>
            <a:pPr algn="ctr"/>
            <a:r>
              <a:rPr lang="en-US" sz="1133" b="1" dirty="0">
                <a:solidFill>
                  <a:srgbClr val="0077A8"/>
                </a:solidFill>
                <a:latin typeface="Calibri" pitchFamily="34" charset="0"/>
                <a:ea typeface="Calibri" pitchFamily="34" charset="-122"/>
                <a:cs typeface="Calibri" pitchFamily="34" charset="-120"/>
              </a:rPr>
              <a:t>2022</a:t>
            </a:r>
            <a:endParaRPr lang="en-US" sz="1133" dirty="0"/>
          </a:p>
        </p:txBody>
      </p:sp>
      <p:sp>
        <p:nvSpPr>
          <p:cNvPr id="16" name="Shape 14"/>
          <p:cNvSpPr/>
          <p:nvPr/>
        </p:nvSpPr>
        <p:spPr>
          <a:xfrm>
            <a:off x="5437632" y="1780032"/>
            <a:ext cx="341376" cy="341376"/>
          </a:xfrm>
          <a:prstGeom prst="ellipse">
            <a:avLst/>
          </a:prstGeom>
          <a:solidFill>
            <a:srgbClr val="00B4D8"/>
          </a:solidFill>
          <a:ln w="12700">
            <a:solidFill>
              <a:srgbClr val="00B4D8"/>
            </a:solidFill>
            <a:prstDash val="solid"/>
          </a:ln>
        </p:spPr>
      </p:sp>
      <p:sp>
        <p:nvSpPr>
          <p:cNvPr id="17" name="Text 15"/>
          <p:cNvSpPr/>
          <p:nvPr/>
        </p:nvSpPr>
        <p:spPr>
          <a:xfrm>
            <a:off x="5120640" y="2170176"/>
            <a:ext cx="975360" cy="268224"/>
          </a:xfrm>
          <a:prstGeom prst="rect">
            <a:avLst/>
          </a:prstGeom>
          <a:noFill/>
          <a:ln/>
        </p:spPr>
        <p:txBody>
          <a:bodyPr wrap="square" rtlCol="0" anchor="ctr"/>
          <a:lstStyle/>
          <a:p>
            <a:pPr algn="ctr"/>
            <a:r>
              <a:rPr lang="en-US" sz="1133" b="1" dirty="0">
                <a:solidFill>
                  <a:srgbClr val="0077A8"/>
                </a:solidFill>
                <a:latin typeface="Calibri" pitchFamily="34" charset="0"/>
                <a:ea typeface="Calibri" pitchFamily="34" charset="-122"/>
                <a:cs typeface="Calibri" pitchFamily="34" charset="-120"/>
              </a:rPr>
              <a:t>2023</a:t>
            </a:r>
            <a:endParaRPr lang="en-US" sz="1133" dirty="0"/>
          </a:p>
        </p:txBody>
      </p:sp>
      <p:sp>
        <p:nvSpPr>
          <p:cNvPr id="19" name="Shape 17"/>
          <p:cNvSpPr/>
          <p:nvPr/>
        </p:nvSpPr>
        <p:spPr>
          <a:xfrm>
            <a:off x="7144512" y="1780032"/>
            <a:ext cx="341376" cy="341376"/>
          </a:xfrm>
          <a:prstGeom prst="ellipse">
            <a:avLst/>
          </a:prstGeom>
          <a:solidFill>
            <a:srgbClr val="00B4D8"/>
          </a:solidFill>
          <a:ln w="12700">
            <a:solidFill>
              <a:srgbClr val="00B4D8"/>
            </a:solidFill>
            <a:prstDash val="solid"/>
          </a:ln>
        </p:spPr>
      </p:sp>
      <p:sp>
        <p:nvSpPr>
          <p:cNvPr id="20" name="Text 18"/>
          <p:cNvSpPr/>
          <p:nvPr/>
        </p:nvSpPr>
        <p:spPr>
          <a:xfrm>
            <a:off x="6827520" y="2170176"/>
            <a:ext cx="975360" cy="268224"/>
          </a:xfrm>
          <a:prstGeom prst="rect">
            <a:avLst/>
          </a:prstGeom>
          <a:noFill/>
          <a:ln/>
        </p:spPr>
        <p:txBody>
          <a:bodyPr wrap="square" rtlCol="0" anchor="ctr"/>
          <a:lstStyle/>
          <a:p>
            <a:pPr algn="ctr"/>
            <a:r>
              <a:rPr lang="en-US" sz="1133" b="1" dirty="0">
                <a:solidFill>
                  <a:srgbClr val="0077A8"/>
                </a:solidFill>
                <a:latin typeface="Calibri" pitchFamily="34" charset="0"/>
                <a:ea typeface="Calibri" pitchFamily="34" charset="-122"/>
                <a:cs typeface="Calibri" pitchFamily="34" charset="-120"/>
              </a:rPr>
              <a:t>Jul'24</a:t>
            </a:r>
            <a:endParaRPr lang="en-US" sz="1133" dirty="0"/>
          </a:p>
        </p:txBody>
      </p:sp>
      <p:sp>
        <p:nvSpPr>
          <p:cNvPr id="22" name="Shape 20"/>
          <p:cNvSpPr/>
          <p:nvPr/>
        </p:nvSpPr>
        <p:spPr>
          <a:xfrm>
            <a:off x="8851392" y="1780032"/>
            <a:ext cx="341376" cy="341376"/>
          </a:xfrm>
          <a:prstGeom prst="ellipse">
            <a:avLst/>
          </a:prstGeom>
          <a:solidFill>
            <a:srgbClr val="00B4D8"/>
          </a:solidFill>
          <a:ln w="12700">
            <a:solidFill>
              <a:srgbClr val="00B4D8"/>
            </a:solidFill>
            <a:prstDash val="solid"/>
          </a:ln>
        </p:spPr>
      </p:sp>
      <p:sp>
        <p:nvSpPr>
          <p:cNvPr id="23" name="Text 21"/>
          <p:cNvSpPr/>
          <p:nvPr/>
        </p:nvSpPr>
        <p:spPr>
          <a:xfrm>
            <a:off x="8534400" y="2170176"/>
            <a:ext cx="975360" cy="268224"/>
          </a:xfrm>
          <a:prstGeom prst="rect">
            <a:avLst/>
          </a:prstGeom>
          <a:noFill/>
          <a:ln/>
        </p:spPr>
        <p:txBody>
          <a:bodyPr wrap="square" rtlCol="0" anchor="ctr"/>
          <a:lstStyle/>
          <a:p>
            <a:pPr algn="ctr"/>
            <a:r>
              <a:rPr lang="en-US" sz="1133" b="1" dirty="0">
                <a:solidFill>
                  <a:srgbClr val="0077A8"/>
                </a:solidFill>
                <a:latin typeface="Calibri" pitchFamily="34" charset="0"/>
                <a:ea typeface="Calibri" pitchFamily="34" charset="-122"/>
                <a:cs typeface="Calibri" pitchFamily="34" charset="-120"/>
              </a:rPr>
              <a:t>Aug'24</a:t>
            </a:r>
            <a:endParaRPr lang="en-US" sz="1133" dirty="0"/>
          </a:p>
        </p:txBody>
      </p:sp>
      <p:sp>
        <p:nvSpPr>
          <p:cNvPr id="25" name="Shape 23"/>
          <p:cNvSpPr/>
          <p:nvPr/>
        </p:nvSpPr>
        <p:spPr>
          <a:xfrm>
            <a:off x="10558272" y="1780032"/>
            <a:ext cx="341376" cy="341376"/>
          </a:xfrm>
          <a:prstGeom prst="ellipse">
            <a:avLst/>
          </a:prstGeom>
          <a:solidFill>
            <a:srgbClr val="00B4D8"/>
          </a:solidFill>
          <a:ln w="12700">
            <a:solidFill>
              <a:srgbClr val="00B4D8"/>
            </a:solidFill>
            <a:prstDash val="solid"/>
          </a:ln>
        </p:spPr>
      </p:sp>
      <p:sp>
        <p:nvSpPr>
          <p:cNvPr id="26" name="Text 24"/>
          <p:cNvSpPr/>
          <p:nvPr/>
        </p:nvSpPr>
        <p:spPr>
          <a:xfrm>
            <a:off x="10241280" y="2170176"/>
            <a:ext cx="975360" cy="268224"/>
          </a:xfrm>
          <a:prstGeom prst="rect">
            <a:avLst/>
          </a:prstGeom>
          <a:noFill/>
          <a:ln/>
        </p:spPr>
        <p:txBody>
          <a:bodyPr wrap="square" rtlCol="0" anchor="ctr"/>
          <a:lstStyle/>
          <a:p>
            <a:pPr algn="ctr"/>
            <a:r>
              <a:rPr lang="en-US" sz="1133" b="1" dirty="0">
                <a:solidFill>
                  <a:srgbClr val="0077A8"/>
                </a:solidFill>
                <a:latin typeface="Calibri" pitchFamily="34" charset="0"/>
                <a:ea typeface="Calibri" pitchFamily="34" charset="-122"/>
                <a:cs typeface="Calibri" pitchFamily="34" charset="-120"/>
              </a:rPr>
              <a:t>Oct'24</a:t>
            </a:r>
            <a:endParaRPr lang="en-US" sz="1133" dirty="0"/>
          </a:p>
        </p:txBody>
      </p:sp>
      <p:grpSp>
        <p:nvGrpSpPr>
          <p:cNvPr id="48" name="Group 47">
            <a:extLst>
              <a:ext uri="{FF2B5EF4-FFF2-40B4-BE49-F238E27FC236}">
                <a16:creationId xmlns:a16="http://schemas.microsoft.com/office/drawing/2014/main" id="{0C875FB9-D210-9E01-EAAC-601406A594E6}"/>
              </a:ext>
            </a:extLst>
          </p:cNvPr>
          <p:cNvGrpSpPr/>
          <p:nvPr/>
        </p:nvGrpSpPr>
        <p:grpSpPr>
          <a:xfrm>
            <a:off x="0" y="2450593"/>
            <a:ext cx="11424471" cy="633984"/>
            <a:chOff x="0" y="2450593"/>
            <a:chExt cx="11424471" cy="633984"/>
          </a:xfrm>
        </p:grpSpPr>
        <p:sp>
          <p:nvSpPr>
            <p:cNvPr id="9" name="Text 7"/>
            <p:cNvSpPr/>
            <p:nvPr/>
          </p:nvSpPr>
          <p:spPr>
            <a:xfrm>
              <a:off x="0" y="2450593"/>
              <a:ext cx="1341120" cy="633984"/>
            </a:xfrm>
            <a:prstGeom prst="rect">
              <a:avLst/>
            </a:prstGeom>
            <a:noFill/>
            <a:ln/>
          </p:spPr>
          <p:txBody>
            <a:bodyPr wrap="square" rtlCol="0" anchor="ctr"/>
            <a:lstStyle/>
            <a:p>
              <a:pPr algn="ctr"/>
              <a:r>
                <a:rPr lang="en-US" sz="1200" b="1" dirty="0">
                  <a:solidFill>
                    <a:srgbClr val="1E293B"/>
                  </a:solidFill>
                  <a:latin typeface="Calibri" pitchFamily="34" charset="0"/>
                  <a:ea typeface="Calibri" pitchFamily="34" charset="-122"/>
                  <a:cs typeface="Calibri" pitchFamily="34" charset="-120"/>
                </a:rPr>
                <a:t>Yandex founded</a:t>
              </a:r>
              <a:endParaRPr lang="en-US" sz="1200" b="1" dirty="0"/>
            </a:p>
          </p:txBody>
        </p:sp>
        <p:sp>
          <p:nvSpPr>
            <p:cNvPr id="12" name="Text 10"/>
            <p:cNvSpPr/>
            <p:nvPr/>
          </p:nvSpPr>
          <p:spPr>
            <a:xfrm>
              <a:off x="1548951" y="2450593"/>
              <a:ext cx="1341120" cy="633984"/>
            </a:xfrm>
            <a:prstGeom prst="rect">
              <a:avLst/>
            </a:prstGeom>
            <a:noFill/>
            <a:ln/>
          </p:spPr>
          <p:txBody>
            <a:bodyPr wrap="square" rtlCol="0" anchor="ctr"/>
            <a:lstStyle/>
            <a:p>
              <a:pPr algn="ctr"/>
              <a:r>
                <a:rPr lang="en-US" sz="1200" b="1" dirty="0">
                  <a:solidFill>
                    <a:srgbClr val="1E293B"/>
                  </a:solidFill>
                  <a:latin typeface="Calibri" pitchFamily="34" charset="0"/>
                  <a:ea typeface="Calibri" pitchFamily="34" charset="-122"/>
                  <a:cs typeface="Calibri" pitchFamily="34" charset="-120"/>
                </a:rPr>
                <a:t>Yandex N.V. IPO on Nasdaq</a:t>
              </a:r>
              <a:endParaRPr lang="en-US" sz="1200" b="1" dirty="0"/>
            </a:p>
          </p:txBody>
        </p:sp>
        <p:sp>
          <p:nvSpPr>
            <p:cNvPr id="15" name="Text 13"/>
            <p:cNvSpPr/>
            <p:nvPr/>
          </p:nvSpPr>
          <p:spPr>
            <a:xfrm>
              <a:off x="3255831" y="2450593"/>
              <a:ext cx="1341120" cy="633984"/>
            </a:xfrm>
            <a:prstGeom prst="rect">
              <a:avLst/>
            </a:prstGeom>
            <a:noFill/>
            <a:ln/>
          </p:spPr>
          <p:txBody>
            <a:bodyPr wrap="square" rtlCol="0" anchor="ctr"/>
            <a:lstStyle/>
            <a:p>
              <a:pPr algn="ctr"/>
              <a:r>
                <a:rPr lang="en-US" sz="1200" b="1" dirty="0">
                  <a:solidFill>
                    <a:srgbClr val="1E293B"/>
                  </a:solidFill>
                  <a:latin typeface="Calibri" pitchFamily="34" charset="0"/>
                  <a:ea typeface="Calibri" pitchFamily="34" charset="-122"/>
                  <a:cs typeface="Calibri" pitchFamily="34" charset="-120"/>
                </a:rPr>
                <a:t>Ukraine war — Russian assets sanctioned</a:t>
              </a:r>
              <a:endParaRPr lang="en-US" sz="1200" b="1" dirty="0"/>
            </a:p>
          </p:txBody>
        </p:sp>
        <p:sp>
          <p:nvSpPr>
            <p:cNvPr id="18" name="Text 16"/>
            <p:cNvSpPr/>
            <p:nvPr/>
          </p:nvSpPr>
          <p:spPr>
            <a:xfrm>
              <a:off x="4962711" y="2450593"/>
              <a:ext cx="1341120" cy="633984"/>
            </a:xfrm>
            <a:prstGeom prst="rect">
              <a:avLst/>
            </a:prstGeom>
            <a:noFill/>
            <a:ln/>
          </p:spPr>
          <p:txBody>
            <a:bodyPr wrap="square" rtlCol="0" anchor="ctr"/>
            <a:lstStyle/>
            <a:p>
              <a:pPr algn="ctr"/>
              <a:r>
                <a:rPr lang="en-US" sz="1200" b="1" dirty="0">
                  <a:solidFill>
                    <a:srgbClr val="1E293B"/>
                  </a:solidFill>
                  <a:latin typeface="Calibri" pitchFamily="34" charset="0"/>
                  <a:ea typeface="Calibri" pitchFamily="34" charset="-122"/>
                  <a:cs typeface="Calibri" pitchFamily="34" charset="-120"/>
                </a:rPr>
                <a:t>Restructuring begins; European business separated</a:t>
              </a:r>
              <a:endParaRPr lang="en-US" sz="1200" b="1" dirty="0"/>
            </a:p>
          </p:txBody>
        </p:sp>
        <p:sp>
          <p:nvSpPr>
            <p:cNvPr id="21" name="Text 19"/>
            <p:cNvSpPr/>
            <p:nvPr/>
          </p:nvSpPr>
          <p:spPr>
            <a:xfrm>
              <a:off x="6669591" y="2450593"/>
              <a:ext cx="1341120" cy="633984"/>
            </a:xfrm>
            <a:prstGeom prst="rect">
              <a:avLst/>
            </a:prstGeom>
            <a:noFill/>
            <a:ln/>
          </p:spPr>
          <p:txBody>
            <a:bodyPr wrap="square" rtlCol="0" anchor="ctr"/>
            <a:lstStyle/>
            <a:p>
              <a:pPr algn="ctr"/>
              <a:r>
                <a:rPr lang="en-US" sz="1200" b="1" dirty="0">
                  <a:solidFill>
                    <a:srgbClr val="1E293B"/>
                  </a:solidFill>
                  <a:latin typeface="Calibri" pitchFamily="34" charset="0"/>
                  <a:ea typeface="Calibri" pitchFamily="34" charset="-122"/>
                  <a:cs typeface="Calibri" pitchFamily="34" charset="-120"/>
                </a:rPr>
                <a:t>$5.4B Russian asset sale complete</a:t>
              </a:r>
              <a:endParaRPr lang="en-US" sz="1200" b="1" dirty="0"/>
            </a:p>
          </p:txBody>
        </p:sp>
        <p:sp>
          <p:nvSpPr>
            <p:cNvPr id="24" name="Text 22"/>
            <p:cNvSpPr/>
            <p:nvPr/>
          </p:nvSpPr>
          <p:spPr>
            <a:xfrm>
              <a:off x="8376471" y="2450593"/>
              <a:ext cx="1341120" cy="633984"/>
            </a:xfrm>
            <a:prstGeom prst="rect">
              <a:avLst/>
            </a:prstGeom>
            <a:noFill/>
            <a:ln/>
          </p:spPr>
          <p:txBody>
            <a:bodyPr wrap="square" rtlCol="0" anchor="ctr"/>
            <a:lstStyle/>
            <a:p>
              <a:pPr algn="ctr"/>
              <a:r>
                <a:rPr lang="en-US" sz="1200" b="1" dirty="0">
                  <a:solidFill>
                    <a:srgbClr val="1E293B"/>
                  </a:solidFill>
                  <a:latin typeface="Calibri" pitchFamily="34" charset="0"/>
                  <a:ea typeface="Calibri" pitchFamily="34" charset="-122"/>
                  <a:cs typeface="Calibri" pitchFamily="34" charset="-120"/>
                </a:rPr>
                <a:t>Rebranded as Nebius Group N.V.</a:t>
              </a:r>
              <a:endParaRPr lang="en-US" sz="1200" b="1" dirty="0"/>
            </a:p>
          </p:txBody>
        </p:sp>
        <p:sp>
          <p:nvSpPr>
            <p:cNvPr id="27" name="Text 25"/>
            <p:cNvSpPr/>
            <p:nvPr/>
          </p:nvSpPr>
          <p:spPr>
            <a:xfrm>
              <a:off x="10083351" y="2450593"/>
              <a:ext cx="1341120" cy="633984"/>
            </a:xfrm>
            <a:prstGeom prst="rect">
              <a:avLst/>
            </a:prstGeom>
            <a:noFill/>
            <a:ln/>
          </p:spPr>
          <p:txBody>
            <a:bodyPr wrap="square" rtlCol="0" anchor="ctr"/>
            <a:lstStyle/>
            <a:p>
              <a:pPr algn="ctr"/>
              <a:r>
                <a:rPr lang="en-US" sz="1200" b="1" dirty="0">
                  <a:solidFill>
                    <a:srgbClr val="1E293B"/>
                  </a:solidFill>
                  <a:latin typeface="Calibri" pitchFamily="34" charset="0"/>
                  <a:ea typeface="Calibri" pitchFamily="34" charset="-122"/>
                  <a:cs typeface="Calibri" pitchFamily="34" charset="-120"/>
                </a:rPr>
                <a:t>Nasdaq trading resumes; $700M raise</a:t>
              </a:r>
              <a:endParaRPr lang="en-US" sz="1200" b="1" dirty="0"/>
            </a:p>
          </p:txBody>
        </p:sp>
      </p:grpSp>
      <p:sp>
        <p:nvSpPr>
          <p:cNvPr id="28" name="Text 26"/>
          <p:cNvSpPr/>
          <p:nvPr/>
        </p:nvSpPr>
        <p:spPr>
          <a:xfrm>
            <a:off x="487680" y="3316224"/>
            <a:ext cx="11216640" cy="341376"/>
          </a:xfrm>
          <a:prstGeom prst="rect">
            <a:avLst/>
          </a:prstGeom>
          <a:noFill/>
          <a:ln/>
        </p:spPr>
        <p:txBody>
          <a:bodyPr wrap="square" rtlCol="0" anchor="ctr"/>
          <a:lstStyle/>
          <a:p>
            <a:r>
              <a:rPr lang="en-US" sz="1333" b="1" dirty="0">
                <a:solidFill>
                  <a:srgbClr val="1E293B"/>
                </a:solidFill>
                <a:latin typeface="Calibri" pitchFamily="34" charset="0"/>
                <a:ea typeface="Calibri" pitchFamily="34" charset="-122"/>
                <a:cs typeface="Calibri" pitchFamily="34" charset="-120"/>
              </a:rPr>
              <a:t>What Nebius Inherited From Yandex — Startup Advantages Typically Reserved for Hyperscalers</a:t>
            </a:r>
            <a:endParaRPr lang="en-US" sz="1333" dirty="0"/>
          </a:p>
        </p:txBody>
      </p:sp>
      <p:sp>
        <p:nvSpPr>
          <p:cNvPr id="29" name="Shape 27"/>
          <p:cNvSpPr/>
          <p:nvPr/>
        </p:nvSpPr>
        <p:spPr>
          <a:xfrm>
            <a:off x="360231" y="3718560"/>
            <a:ext cx="3718560" cy="2901696"/>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30" name="Shape 28"/>
          <p:cNvSpPr/>
          <p:nvPr/>
        </p:nvSpPr>
        <p:spPr>
          <a:xfrm>
            <a:off x="426720" y="3718560"/>
            <a:ext cx="85344" cy="2901696"/>
          </a:xfrm>
          <a:prstGeom prst="rect">
            <a:avLst/>
          </a:prstGeom>
          <a:solidFill>
            <a:srgbClr val="00B4D8"/>
          </a:solidFill>
          <a:ln w="12700">
            <a:solidFill>
              <a:srgbClr val="00B4D8"/>
            </a:solidFill>
            <a:prstDash val="solid"/>
          </a:ln>
        </p:spPr>
      </p:sp>
      <p:sp>
        <p:nvSpPr>
          <p:cNvPr id="31" name="Text 29"/>
          <p:cNvSpPr/>
          <p:nvPr/>
        </p:nvSpPr>
        <p:spPr>
          <a:xfrm>
            <a:off x="646176" y="3864864"/>
            <a:ext cx="337718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~1,300 World-Class Engineers</a:t>
            </a:r>
            <a:endParaRPr lang="en-US" sz="1467" dirty="0"/>
          </a:p>
        </p:txBody>
      </p:sp>
      <p:sp>
        <p:nvSpPr>
          <p:cNvPr id="32" name="Text 30"/>
          <p:cNvSpPr/>
          <p:nvPr/>
        </p:nvSpPr>
        <p:spPr>
          <a:xfrm>
            <a:off x="530919" y="4230624"/>
            <a:ext cx="3377184" cy="2194560"/>
          </a:xfrm>
          <a:prstGeom prst="rect">
            <a:avLst/>
          </a:prstGeom>
          <a:noFill/>
          <a:ln/>
        </p:spPr>
        <p:txBody>
          <a:bodyPr wrap="square" rtlCol="0" anchor="ctr"/>
          <a:lstStyle/>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Yandex called the 'Russian Google' — elite technical talent</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Deep expertise: datacenter HW, networking, AI research, software</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Amsterdam &amp; Israel R&amp;D hubs retained post-restructuring</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Many chose to stay and build something new — high loyalty</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Avoids the #1 startup killer: talent acquisition cost</a:t>
            </a:r>
            <a:endParaRPr lang="en-US" sz="1400" dirty="0"/>
          </a:p>
        </p:txBody>
      </p:sp>
      <p:sp>
        <p:nvSpPr>
          <p:cNvPr id="33" name="Shape 31"/>
          <p:cNvSpPr/>
          <p:nvPr/>
        </p:nvSpPr>
        <p:spPr>
          <a:xfrm>
            <a:off x="4352544" y="3718560"/>
            <a:ext cx="3718560" cy="2901696"/>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34" name="Shape 32"/>
          <p:cNvSpPr/>
          <p:nvPr/>
        </p:nvSpPr>
        <p:spPr>
          <a:xfrm>
            <a:off x="4352544" y="3718560"/>
            <a:ext cx="85344" cy="2901696"/>
          </a:xfrm>
          <a:prstGeom prst="rect">
            <a:avLst/>
          </a:prstGeom>
          <a:solidFill>
            <a:srgbClr val="22C55E"/>
          </a:solidFill>
          <a:ln w="12700">
            <a:solidFill>
              <a:srgbClr val="22C55E"/>
            </a:solidFill>
            <a:prstDash val="solid"/>
          </a:ln>
        </p:spPr>
      </p:sp>
      <p:sp>
        <p:nvSpPr>
          <p:cNvPr id="35" name="Text 33"/>
          <p:cNvSpPr/>
          <p:nvPr/>
        </p:nvSpPr>
        <p:spPr>
          <a:xfrm>
            <a:off x="4572000" y="3864864"/>
            <a:ext cx="337718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$2.8 Billion in Cash</a:t>
            </a:r>
            <a:endParaRPr lang="en-US" sz="1467" dirty="0"/>
          </a:p>
        </p:txBody>
      </p:sp>
      <p:sp>
        <p:nvSpPr>
          <p:cNvPr id="36" name="Text 34"/>
          <p:cNvSpPr/>
          <p:nvPr/>
        </p:nvSpPr>
        <p:spPr>
          <a:xfrm>
            <a:off x="4511607" y="4072128"/>
            <a:ext cx="3499104" cy="2194560"/>
          </a:xfrm>
          <a:prstGeom prst="rect">
            <a:avLst/>
          </a:prstGeom>
          <a:noFill/>
          <a:ln/>
        </p:spPr>
        <p:txBody>
          <a:bodyPr wrap="square" rtlCol="0" anchor="ctr"/>
          <a:lstStyle/>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Proceeds from $5.4B Russian asset sale</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Cash position at Dec 2024: $2,449.6M</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No debt at inception — unlike CoreWeave's leveraged model</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Self-funded initial datacenter buildout without VC dilution</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Enabled $700M oversubscribed capital raise at re-listing</a:t>
            </a:r>
            <a:endParaRPr lang="en-US" sz="1400" dirty="0"/>
          </a:p>
        </p:txBody>
      </p:sp>
      <p:sp>
        <p:nvSpPr>
          <p:cNvPr id="37" name="Shape 35"/>
          <p:cNvSpPr/>
          <p:nvPr/>
        </p:nvSpPr>
        <p:spPr>
          <a:xfrm>
            <a:off x="8278368" y="3718560"/>
            <a:ext cx="3718560" cy="2901696"/>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38" name="Shape 36"/>
          <p:cNvSpPr/>
          <p:nvPr/>
        </p:nvSpPr>
        <p:spPr>
          <a:xfrm>
            <a:off x="8278368" y="3718560"/>
            <a:ext cx="85344" cy="2901696"/>
          </a:xfrm>
          <a:prstGeom prst="rect">
            <a:avLst/>
          </a:prstGeom>
          <a:solidFill>
            <a:srgbClr val="7C3AED"/>
          </a:solidFill>
          <a:ln w="12700">
            <a:solidFill>
              <a:srgbClr val="7C3AED"/>
            </a:solidFill>
            <a:prstDash val="solid"/>
          </a:ln>
        </p:spPr>
      </p:sp>
      <p:sp>
        <p:nvSpPr>
          <p:cNvPr id="39" name="Text 37"/>
          <p:cNvSpPr/>
          <p:nvPr/>
        </p:nvSpPr>
        <p:spPr>
          <a:xfrm>
            <a:off x="8497824" y="3864864"/>
            <a:ext cx="337718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Finnish Datacenter + IP Portfolio</a:t>
            </a:r>
            <a:endParaRPr lang="en-US" sz="1467" dirty="0"/>
          </a:p>
        </p:txBody>
      </p:sp>
      <p:sp>
        <p:nvSpPr>
          <p:cNvPr id="40" name="Text 38"/>
          <p:cNvSpPr/>
          <p:nvPr/>
        </p:nvSpPr>
        <p:spPr>
          <a:xfrm>
            <a:off x="8454585" y="4167825"/>
            <a:ext cx="3377184" cy="2194560"/>
          </a:xfrm>
          <a:prstGeom prst="rect">
            <a:avLst/>
          </a:prstGeom>
          <a:noFill/>
          <a:ln/>
        </p:spPr>
        <p:txBody>
          <a:bodyPr wrap="square" rtlCol="0" anchor="ctr"/>
          <a:lstStyle/>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State-of-the-art facility in Mäntsälä, Finland</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Houses the 16th most powerful supercomputer in the world</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Optimized for energy efficiency — critical moat vs US rivals</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Retained: ClickHouse (DB), Toloka AI, TripleTen, Avride</a:t>
            </a:r>
            <a:endParaRPr lang="en-US" sz="1400" dirty="0"/>
          </a:p>
          <a:p>
            <a:pPr marL="457189" indent="-457189">
              <a:buSzPct val="100000"/>
              <a:buChar char="•"/>
            </a:pPr>
            <a:r>
              <a:rPr lang="en-US" sz="1400" dirty="0">
                <a:solidFill>
                  <a:srgbClr val="1E293B"/>
                </a:solidFill>
                <a:latin typeface="Calibri" pitchFamily="34" charset="0"/>
                <a:ea typeface="Calibri" pitchFamily="34" charset="-122"/>
                <a:cs typeface="Calibri" pitchFamily="34" charset="-120"/>
              </a:rPr>
              <a:t>Intellectual property in inference optimization from Yandex search</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293B"/>
          </a:solidFill>
          <a:ln w="12700">
            <a:solidFill>
              <a:srgbClr val="1E293B"/>
            </a:solidFill>
            <a:prstDash val="solid"/>
          </a:ln>
        </p:spPr>
      </p:sp>
      <p:sp>
        <p:nvSpPr>
          <p:cNvPr id="3" name="Shape 1"/>
          <p:cNvSpPr/>
          <p:nvPr/>
        </p:nvSpPr>
        <p:spPr>
          <a:xfrm>
            <a:off x="0" y="0"/>
            <a:ext cx="463296" cy="914400"/>
          </a:xfrm>
          <a:prstGeom prst="rect">
            <a:avLst/>
          </a:prstGeom>
          <a:solidFill>
            <a:srgbClr val="00B4D8"/>
          </a:solidFill>
          <a:ln w="12700">
            <a:solidFill>
              <a:srgbClr val="00B4D8"/>
            </a:solidFill>
            <a:prstDash val="solid"/>
          </a:ln>
        </p:spPr>
      </p:sp>
      <p:sp>
        <p:nvSpPr>
          <p:cNvPr id="4" name="Text 2"/>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2: BUSINESS MODEL — FULL-STACK AI INFRASTRUCTURE</a:t>
            </a:r>
            <a:endParaRPr lang="en-US" sz="2267" dirty="0"/>
          </a:p>
        </p:txBody>
      </p:sp>
      <p:sp>
        <p:nvSpPr>
          <p:cNvPr id="5" name="Text 3"/>
          <p:cNvSpPr/>
          <p:nvPr/>
        </p:nvSpPr>
        <p:spPr>
          <a:xfrm>
            <a:off x="3434308" y="920496"/>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GPU-as-a-Service + AI Cloud Platform + Inference Optimization</a:t>
            </a:r>
          </a:p>
        </p:txBody>
      </p:sp>
      <p:sp>
        <p:nvSpPr>
          <p:cNvPr id="6" name="Text 4"/>
          <p:cNvSpPr/>
          <p:nvPr/>
        </p:nvSpPr>
        <p:spPr>
          <a:xfrm>
            <a:off x="487680" y="1072896"/>
            <a:ext cx="4876800" cy="341376"/>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What is a Neocloud?</a:t>
            </a:r>
            <a:endParaRPr lang="en-US" sz="1467" dirty="0"/>
          </a:p>
        </p:txBody>
      </p:sp>
      <p:sp>
        <p:nvSpPr>
          <p:cNvPr id="7" name="Shape 5"/>
          <p:cNvSpPr/>
          <p:nvPr/>
        </p:nvSpPr>
        <p:spPr>
          <a:xfrm>
            <a:off x="487679" y="1438656"/>
            <a:ext cx="11584455" cy="670560"/>
          </a:xfrm>
          <a:prstGeom prst="rect">
            <a:avLst/>
          </a:prstGeom>
          <a:solidFill>
            <a:srgbClr val="1E293B"/>
          </a:solidFill>
          <a:ln w="12700">
            <a:solidFill>
              <a:srgbClr val="1E293B"/>
            </a:solidFill>
            <a:prstDash val="solid"/>
          </a:ln>
        </p:spPr>
      </p:sp>
      <p:sp>
        <p:nvSpPr>
          <p:cNvPr id="8" name="Shape 6"/>
          <p:cNvSpPr/>
          <p:nvPr/>
        </p:nvSpPr>
        <p:spPr>
          <a:xfrm>
            <a:off x="548640" y="1463040"/>
            <a:ext cx="3657600" cy="609600"/>
          </a:xfrm>
          <a:prstGeom prst="rect">
            <a:avLst/>
          </a:prstGeom>
          <a:solidFill>
            <a:srgbClr val="64748B"/>
          </a:solidFill>
          <a:ln w="12700">
            <a:solidFill>
              <a:srgbClr val="64748B"/>
            </a:solidFill>
            <a:prstDash val="solid"/>
          </a:ln>
        </p:spPr>
      </p:sp>
      <p:sp>
        <p:nvSpPr>
          <p:cNvPr id="9" name="Text 7"/>
          <p:cNvSpPr/>
          <p:nvPr/>
        </p:nvSpPr>
        <p:spPr>
          <a:xfrm>
            <a:off x="633984" y="1487424"/>
            <a:ext cx="3511296" cy="304800"/>
          </a:xfrm>
          <a:prstGeom prst="rect">
            <a:avLst/>
          </a:prstGeom>
          <a:noFill/>
          <a:ln/>
        </p:spPr>
        <p:txBody>
          <a:bodyPr wrap="square" rtlCol="0" anchor="ctr"/>
          <a:lstStyle/>
          <a:p>
            <a:r>
              <a:rPr lang="en-US" sz="1133" b="1" dirty="0">
                <a:solidFill>
                  <a:srgbClr val="FFFFFF"/>
                </a:solidFill>
                <a:latin typeface="Calibri" pitchFamily="34" charset="0"/>
                <a:ea typeface="Calibri" pitchFamily="34" charset="-122"/>
                <a:cs typeface="Calibri" pitchFamily="34" charset="-120"/>
              </a:rPr>
              <a:t>Hyperscalers (AWS / Azure / GCP)</a:t>
            </a:r>
            <a:endParaRPr lang="en-US" sz="1133" dirty="0"/>
          </a:p>
        </p:txBody>
      </p:sp>
      <p:sp>
        <p:nvSpPr>
          <p:cNvPr id="10" name="Text 8"/>
          <p:cNvSpPr/>
          <p:nvPr/>
        </p:nvSpPr>
        <p:spPr>
          <a:xfrm>
            <a:off x="646176" y="1767840"/>
            <a:ext cx="3657599" cy="256032"/>
          </a:xfrm>
          <a:prstGeom prst="rect">
            <a:avLst/>
          </a:prstGeom>
          <a:noFill/>
          <a:ln/>
        </p:spPr>
        <p:txBody>
          <a:bodyPr wrap="square" rtlCol="0" anchor="ctr"/>
          <a:lstStyle/>
          <a:p>
            <a:r>
              <a:rPr lang="en-US" sz="1100" dirty="0">
                <a:solidFill>
                  <a:schemeClr val="bg1"/>
                </a:solidFill>
                <a:latin typeface="Calibri" pitchFamily="34" charset="0"/>
                <a:ea typeface="Calibri" pitchFamily="34" charset="-122"/>
                <a:cs typeface="Calibri" pitchFamily="34" charset="-120"/>
              </a:rPr>
              <a:t>General-purpose, massive scale, broad services, high volume</a:t>
            </a:r>
            <a:endParaRPr lang="en-US" sz="1100" dirty="0">
              <a:solidFill>
                <a:schemeClr val="bg1"/>
              </a:solidFill>
            </a:endParaRPr>
          </a:p>
        </p:txBody>
      </p:sp>
      <p:sp>
        <p:nvSpPr>
          <p:cNvPr id="11" name="Shape 9"/>
          <p:cNvSpPr/>
          <p:nvPr/>
        </p:nvSpPr>
        <p:spPr>
          <a:xfrm>
            <a:off x="4425696" y="1463040"/>
            <a:ext cx="3657600" cy="609600"/>
          </a:xfrm>
          <a:prstGeom prst="rect">
            <a:avLst/>
          </a:prstGeom>
          <a:solidFill>
            <a:srgbClr val="00B4D8"/>
          </a:solidFill>
          <a:ln w="12700">
            <a:solidFill>
              <a:srgbClr val="00B4D8"/>
            </a:solidFill>
            <a:prstDash val="solid"/>
          </a:ln>
        </p:spPr>
      </p:sp>
      <p:sp>
        <p:nvSpPr>
          <p:cNvPr id="12" name="Text 10"/>
          <p:cNvSpPr/>
          <p:nvPr/>
        </p:nvSpPr>
        <p:spPr>
          <a:xfrm>
            <a:off x="4511040" y="1487424"/>
            <a:ext cx="3511296" cy="304800"/>
          </a:xfrm>
          <a:prstGeom prst="rect">
            <a:avLst/>
          </a:prstGeom>
          <a:noFill/>
          <a:ln/>
        </p:spPr>
        <p:txBody>
          <a:bodyPr wrap="square" rtlCol="0" anchor="ctr"/>
          <a:lstStyle/>
          <a:p>
            <a:r>
              <a:rPr lang="en-US" sz="1133" b="1" dirty="0">
                <a:solidFill>
                  <a:srgbClr val="FFFFFF"/>
                </a:solidFill>
                <a:latin typeface="Calibri" pitchFamily="34" charset="0"/>
                <a:ea typeface="Calibri" pitchFamily="34" charset="-122"/>
                <a:cs typeface="Calibri" pitchFamily="34" charset="-120"/>
              </a:rPr>
              <a:t>Nebius &amp; CoreWeave (Neoclouds)</a:t>
            </a:r>
            <a:endParaRPr lang="en-US" sz="1133" dirty="0"/>
          </a:p>
        </p:txBody>
      </p:sp>
      <p:sp>
        <p:nvSpPr>
          <p:cNvPr id="13" name="Text 11"/>
          <p:cNvSpPr/>
          <p:nvPr/>
        </p:nvSpPr>
        <p:spPr>
          <a:xfrm>
            <a:off x="4511040" y="1743456"/>
            <a:ext cx="3511296" cy="268224"/>
          </a:xfrm>
          <a:prstGeom prst="rect">
            <a:avLst/>
          </a:prstGeom>
          <a:noFill/>
          <a:ln/>
        </p:spPr>
        <p:txBody>
          <a:bodyPr wrap="square" rtlCol="0" anchor="ctr"/>
          <a:lstStyle/>
          <a:p>
            <a:r>
              <a:rPr lang="en-US" sz="1100" dirty="0">
                <a:solidFill>
                  <a:schemeClr val="bg1"/>
                </a:solidFill>
                <a:latin typeface="Calibri" pitchFamily="34" charset="0"/>
                <a:ea typeface="Calibri" pitchFamily="34" charset="-122"/>
                <a:cs typeface="Calibri" pitchFamily="34" charset="-120"/>
              </a:rPr>
              <a:t>AI-specialized, GPU-first, optimized clusters, custom config</a:t>
            </a:r>
            <a:endParaRPr lang="en-US" sz="1100" dirty="0">
              <a:solidFill>
                <a:schemeClr val="bg1"/>
              </a:solidFill>
            </a:endParaRPr>
          </a:p>
        </p:txBody>
      </p:sp>
      <p:sp>
        <p:nvSpPr>
          <p:cNvPr id="14" name="Shape 12"/>
          <p:cNvSpPr/>
          <p:nvPr/>
        </p:nvSpPr>
        <p:spPr>
          <a:xfrm>
            <a:off x="8302752" y="1463040"/>
            <a:ext cx="3657600" cy="609600"/>
          </a:xfrm>
          <a:prstGeom prst="rect">
            <a:avLst/>
          </a:prstGeom>
          <a:solidFill>
            <a:srgbClr val="64748B"/>
          </a:solidFill>
          <a:ln w="12700">
            <a:solidFill>
              <a:srgbClr val="64748B"/>
            </a:solidFill>
            <a:prstDash val="solid"/>
          </a:ln>
        </p:spPr>
      </p:sp>
      <p:sp>
        <p:nvSpPr>
          <p:cNvPr id="15" name="Text 13"/>
          <p:cNvSpPr/>
          <p:nvPr/>
        </p:nvSpPr>
        <p:spPr>
          <a:xfrm>
            <a:off x="8388096" y="1487424"/>
            <a:ext cx="3511296" cy="304800"/>
          </a:xfrm>
          <a:prstGeom prst="rect">
            <a:avLst/>
          </a:prstGeom>
          <a:noFill/>
          <a:ln/>
        </p:spPr>
        <p:txBody>
          <a:bodyPr wrap="square" rtlCol="0" anchor="ctr"/>
          <a:lstStyle/>
          <a:p>
            <a:r>
              <a:rPr lang="en-US" sz="1133" b="1" dirty="0">
                <a:solidFill>
                  <a:srgbClr val="FFFFFF"/>
                </a:solidFill>
                <a:latin typeface="Calibri" pitchFamily="34" charset="0"/>
                <a:ea typeface="Calibri" pitchFamily="34" charset="-122"/>
                <a:cs typeface="Calibri" pitchFamily="34" charset="-120"/>
              </a:rPr>
              <a:t>Market Gap Nebius Fills</a:t>
            </a:r>
            <a:endParaRPr lang="en-US" sz="1133" dirty="0"/>
          </a:p>
        </p:txBody>
      </p:sp>
      <p:sp>
        <p:nvSpPr>
          <p:cNvPr id="16" name="Text 14"/>
          <p:cNvSpPr/>
          <p:nvPr/>
        </p:nvSpPr>
        <p:spPr>
          <a:xfrm>
            <a:off x="8388096" y="1743456"/>
            <a:ext cx="3511296" cy="268224"/>
          </a:xfrm>
          <a:prstGeom prst="rect">
            <a:avLst/>
          </a:prstGeom>
          <a:noFill/>
          <a:ln/>
        </p:spPr>
        <p:txBody>
          <a:bodyPr wrap="square" rtlCol="0" anchor="ctr"/>
          <a:lstStyle/>
          <a:p>
            <a:r>
              <a:rPr lang="en-US" sz="1100" dirty="0">
                <a:solidFill>
                  <a:schemeClr val="bg1"/>
                </a:solidFill>
                <a:latin typeface="Calibri" pitchFamily="34" charset="0"/>
                <a:ea typeface="Calibri" pitchFamily="34" charset="-122"/>
                <a:cs typeface="Calibri" pitchFamily="34" charset="-120"/>
              </a:rPr>
              <a:t>Flexibility, optimization, no hyperscaler lock-in or conflict</a:t>
            </a:r>
            <a:endParaRPr lang="en-US" sz="1100" dirty="0">
              <a:solidFill>
                <a:schemeClr val="bg1"/>
              </a:solidFill>
            </a:endParaRPr>
          </a:p>
        </p:txBody>
      </p:sp>
      <p:sp>
        <p:nvSpPr>
          <p:cNvPr id="17" name="Shape 15"/>
          <p:cNvSpPr/>
          <p:nvPr/>
        </p:nvSpPr>
        <p:spPr>
          <a:xfrm>
            <a:off x="426720" y="2255520"/>
            <a:ext cx="5669280" cy="2170176"/>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18" name="Shape 16"/>
          <p:cNvSpPr/>
          <p:nvPr/>
        </p:nvSpPr>
        <p:spPr>
          <a:xfrm>
            <a:off x="426720" y="2255520"/>
            <a:ext cx="85344" cy="2170176"/>
          </a:xfrm>
          <a:prstGeom prst="rect">
            <a:avLst/>
          </a:prstGeom>
          <a:solidFill>
            <a:srgbClr val="00B4D8"/>
          </a:solidFill>
          <a:ln w="12700">
            <a:solidFill>
              <a:srgbClr val="00B4D8"/>
            </a:solidFill>
            <a:prstDash val="solid"/>
          </a:ln>
        </p:spPr>
      </p:sp>
      <p:sp>
        <p:nvSpPr>
          <p:cNvPr id="21" name="Shape 19"/>
          <p:cNvSpPr/>
          <p:nvPr/>
        </p:nvSpPr>
        <p:spPr>
          <a:xfrm>
            <a:off x="6230112" y="2243328"/>
            <a:ext cx="5669280" cy="2170176"/>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22" name="Shape 20"/>
          <p:cNvSpPr/>
          <p:nvPr/>
        </p:nvSpPr>
        <p:spPr>
          <a:xfrm>
            <a:off x="6303264" y="2255520"/>
            <a:ext cx="85344" cy="2170176"/>
          </a:xfrm>
          <a:prstGeom prst="rect">
            <a:avLst/>
          </a:prstGeom>
          <a:solidFill>
            <a:srgbClr val="0077A8"/>
          </a:solidFill>
          <a:ln w="12700">
            <a:solidFill>
              <a:srgbClr val="0077A8"/>
            </a:solidFill>
            <a:prstDash val="solid"/>
          </a:ln>
        </p:spPr>
      </p:sp>
      <p:sp>
        <p:nvSpPr>
          <p:cNvPr id="25" name="Shape 23"/>
          <p:cNvSpPr/>
          <p:nvPr/>
        </p:nvSpPr>
        <p:spPr>
          <a:xfrm>
            <a:off x="426720" y="4511040"/>
            <a:ext cx="5669280" cy="2170176"/>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26" name="Shape 24"/>
          <p:cNvSpPr/>
          <p:nvPr/>
        </p:nvSpPr>
        <p:spPr>
          <a:xfrm>
            <a:off x="426720" y="4511040"/>
            <a:ext cx="85344" cy="2170176"/>
          </a:xfrm>
          <a:prstGeom prst="rect">
            <a:avLst/>
          </a:prstGeom>
          <a:solidFill>
            <a:srgbClr val="7C3AED"/>
          </a:solidFill>
          <a:ln w="12700">
            <a:solidFill>
              <a:srgbClr val="7C3AED"/>
            </a:solidFill>
            <a:prstDash val="solid"/>
          </a:ln>
        </p:spPr>
      </p:sp>
      <p:sp>
        <p:nvSpPr>
          <p:cNvPr id="29" name="Shape 27"/>
          <p:cNvSpPr/>
          <p:nvPr/>
        </p:nvSpPr>
        <p:spPr>
          <a:xfrm>
            <a:off x="6303264" y="4511040"/>
            <a:ext cx="5669280" cy="2170176"/>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30" name="Shape 28"/>
          <p:cNvSpPr/>
          <p:nvPr/>
        </p:nvSpPr>
        <p:spPr>
          <a:xfrm>
            <a:off x="6303264" y="4511040"/>
            <a:ext cx="85344" cy="2170176"/>
          </a:xfrm>
          <a:prstGeom prst="rect">
            <a:avLst/>
          </a:prstGeom>
          <a:solidFill>
            <a:srgbClr val="22C55E"/>
          </a:solidFill>
          <a:ln w="12700">
            <a:solidFill>
              <a:srgbClr val="22C55E"/>
            </a:solidFill>
            <a:prstDash val="solid"/>
          </a:ln>
        </p:spPr>
      </p:sp>
      <p:grpSp>
        <p:nvGrpSpPr>
          <p:cNvPr id="33" name="Group 32">
            <a:extLst>
              <a:ext uri="{FF2B5EF4-FFF2-40B4-BE49-F238E27FC236}">
                <a16:creationId xmlns:a16="http://schemas.microsoft.com/office/drawing/2014/main" id="{3654B5A8-8322-8F35-1890-875DF0C81CE5}"/>
              </a:ext>
            </a:extLst>
          </p:cNvPr>
          <p:cNvGrpSpPr/>
          <p:nvPr/>
        </p:nvGrpSpPr>
        <p:grpSpPr>
          <a:xfrm>
            <a:off x="548640" y="2401824"/>
            <a:ext cx="11301984" cy="4133088"/>
            <a:chOff x="548640" y="2401824"/>
            <a:chExt cx="11301984" cy="4133088"/>
          </a:xfrm>
        </p:grpSpPr>
        <p:sp>
          <p:nvSpPr>
            <p:cNvPr id="19" name="Text 17"/>
            <p:cNvSpPr/>
            <p:nvPr/>
          </p:nvSpPr>
          <p:spPr>
            <a:xfrm>
              <a:off x="646176" y="2401824"/>
              <a:ext cx="532790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AI Cloud — GPU Rental</a:t>
              </a:r>
              <a:endParaRPr lang="en-US" sz="1467" dirty="0"/>
            </a:p>
          </p:txBody>
        </p:sp>
        <p:sp>
          <p:nvSpPr>
            <p:cNvPr id="20" name="Text 18"/>
            <p:cNvSpPr/>
            <p:nvPr/>
          </p:nvSpPr>
          <p:spPr>
            <a:xfrm>
              <a:off x="548640" y="2816352"/>
              <a:ext cx="5547360" cy="1463040"/>
            </a:xfrm>
            <a:prstGeom prst="rect">
              <a:avLst/>
            </a:prstGeom>
            <a:noFill/>
            <a:ln/>
          </p:spPr>
          <p:txBody>
            <a:bodyPr wrap="square" rtlCol="0" anchor="ctr"/>
            <a:lstStyle/>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Rent NVIDIA H100/H200/Blackwell/Vera Rubin GPUs by the hour</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No minimum contracts — pay-per-use flexibility</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Custom cluster configuration: networking, storage, priority</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API-managed; clients need zero direct interaction with Nebius team</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Higher customization = higher hourly rate</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Targets: AI startups, research labs, hyperscalers needing overflow</a:t>
              </a:r>
              <a:endParaRPr lang="en-US" sz="1400" dirty="0"/>
            </a:p>
          </p:txBody>
        </p:sp>
        <p:sp>
          <p:nvSpPr>
            <p:cNvPr id="23" name="Text 21"/>
            <p:cNvSpPr/>
            <p:nvPr/>
          </p:nvSpPr>
          <p:spPr>
            <a:xfrm>
              <a:off x="6522720" y="2401824"/>
              <a:ext cx="532790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AI Studio — Inference Platform</a:t>
              </a:r>
              <a:endParaRPr lang="en-US" sz="1467" dirty="0"/>
            </a:p>
          </p:txBody>
        </p:sp>
        <p:sp>
          <p:nvSpPr>
            <p:cNvPr id="24" name="Text 22"/>
            <p:cNvSpPr/>
            <p:nvPr/>
          </p:nvSpPr>
          <p:spPr>
            <a:xfrm>
              <a:off x="6400800" y="2761146"/>
              <a:ext cx="5327904" cy="1463040"/>
            </a:xfrm>
            <a:prstGeom prst="rect">
              <a:avLst/>
            </a:prstGeom>
            <a:noFill/>
            <a:ln/>
          </p:spPr>
          <p:txBody>
            <a:bodyPr wrap="square" rtlCol="0" anchor="ctr"/>
            <a:lstStyle/>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Open-source model serving (LLMs, image gen, multimodal)</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Fine-tuning, model customization, deployment pipelines</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Token Factory: proprietary high-speed inference engine</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Tavily acquisition: adds real-time agentic web search to platform</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Per-token pricing — not per-GPU; better for inference workloads</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Supports: text, image, video, audio generation models</a:t>
              </a:r>
              <a:endParaRPr lang="en-US" sz="1400" dirty="0"/>
            </a:p>
          </p:txBody>
        </p:sp>
        <p:sp>
          <p:nvSpPr>
            <p:cNvPr id="27" name="Text 25"/>
            <p:cNvSpPr/>
            <p:nvPr/>
          </p:nvSpPr>
          <p:spPr>
            <a:xfrm>
              <a:off x="646176" y="4657344"/>
              <a:ext cx="532790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Enterprise Dedicated Clusters</a:t>
              </a:r>
              <a:endParaRPr lang="en-US" sz="1467" dirty="0"/>
            </a:p>
          </p:txBody>
        </p:sp>
        <p:sp>
          <p:nvSpPr>
            <p:cNvPr id="28" name="Text 26"/>
            <p:cNvSpPr/>
            <p:nvPr/>
          </p:nvSpPr>
          <p:spPr>
            <a:xfrm>
              <a:off x="548640" y="5071872"/>
              <a:ext cx="5669280" cy="1463040"/>
            </a:xfrm>
            <a:prstGeom prst="rect">
              <a:avLst/>
            </a:prstGeom>
            <a:noFill/>
            <a:ln/>
          </p:spPr>
          <p:txBody>
            <a:bodyPr wrap="square" rtlCol="0" anchor="ctr"/>
            <a:lstStyle/>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Reserved compute for large enterprises with long-term contracts</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5-year deals: Meta $3B (Nov 2025), Microsoft deal, expanded Meta $27B (Mar 2026)</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Fully managed infrastructure with SLAs and L2/L3 support</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Pricing premium over on-demand GPU rental</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Customer concentrates risk but validates technical capabilities</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First two tranches for Meta: Dec 2025 &amp; Feb 2026 — on schedule</a:t>
              </a:r>
              <a:endParaRPr lang="en-US" sz="1400" dirty="0"/>
            </a:p>
          </p:txBody>
        </p:sp>
        <p:sp>
          <p:nvSpPr>
            <p:cNvPr id="31" name="Text 29"/>
            <p:cNvSpPr/>
            <p:nvPr/>
          </p:nvSpPr>
          <p:spPr>
            <a:xfrm>
              <a:off x="6522720" y="4657344"/>
              <a:ext cx="532790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Sovereign AI &amp; European Cloud</a:t>
              </a:r>
              <a:endParaRPr lang="en-US" sz="1467" dirty="0"/>
            </a:p>
          </p:txBody>
        </p:sp>
        <p:sp>
          <p:nvSpPr>
            <p:cNvPr id="32" name="Text 30"/>
            <p:cNvSpPr/>
            <p:nvPr/>
          </p:nvSpPr>
          <p:spPr>
            <a:xfrm>
              <a:off x="6522720" y="5071872"/>
              <a:ext cx="5327904" cy="1463040"/>
            </a:xfrm>
            <a:prstGeom prst="rect">
              <a:avLst/>
            </a:prstGeom>
            <a:noFill/>
            <a:ln/>
          </p:spPr>
          <p:txBody>
            <a:bodyPr wrap="square" rtlCol="0" anchor="ctr"/>
            <a:lstStyle/>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European data residency — EU AI Act compliance ready</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Finnish DC uses hydro/nuclear — low PUE, low carbon footprint</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Israeli national supercomputer project ($140M, govt-backed)</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Strategic for EU regulators: Nebius as European AI alternative</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'Neutral AI cloud' — no competing AI products or models</a:t>
              </a:r>
              <a:endParaRPr lang="en-US" sz="1400" dirty="0"/>
            </a:p>
            <a:p>
              <a:pPr marL="457189" indent="-457189" algn="just">
                <a:buSzPct val="100000"/>
                <a:buChar char="•"/>
              </a:pPr>
              <a:r>
                <a:rPr lang="en-US" sz="1400" dirty="0">
                  <a:solidFill>
                    <a:srgbClr val="1E293B"/>
                  </a:solidFill>
                  <a:latin typeface="Calibri" pitchFamily="34" charset="0"/>
                  <a:ea typeface="Calibri" pitchFamily="34" charset="-122"/>
                  <a:cs typeface="Calibri" pitchFamily="34" charset="-120"/>
                </a:rPr>
                <a:t>Data does not touch AWS / Azure / GCP infrastructure</a:t>
              </a:r>
              <a:endParaRPr lang="en-US" sz="14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293B"/>
          </a:solidFill>
          <a:ln w="12700">
            <a:solidFill>
              <a:srgbClr val="1E293B"/>
            </a:solidFill>
            <a:prstDash val="solid"/>
          </a:ln>
        </p:spPr>
      </p:sp>
      <p:sp>
        <p:nvSpPr>
          <p:cNvPr id="3" name="Shape 1"/>
          <p:cNvSpPr/>
          <p:nvPr/>
        </p:nvSpPr>
        <p:spPr>
          <a:xfrm>
            <a:off x="0" y="0"/>
            <a:ext cx="463296" cy="914400"/>
          </a:xfrm>
          <a:prstGeom prst="rect">
            <a:avLst/>
          </a:prstGeom>
          <a:solidFill>
            <a:srgbClr val="00B4D8"/>
          </a:solidFill>
          <a:ln w="12700">
            <a:solidFill>
              <a:srgbClr val="00B4D8"/>
            </a:solidFill>
            <a:prstDash val="solid"/>
          </a:ln>
        </p:spPr>
      </p:sp>
      <p:sp>
        <p:nvSpPr>
          <p:cNvPr id="4" name="Text 2"/>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3: FINANCIAL ANALYSIS</a:t>
            </a:r>
            <a:endParaRPr lang="en-US" sz="2267" dirty="0"/>
          </a:p>
        </p:txBody>
      </p:sp>
      <p:sp>
        <p:nvSpPr>
          <p:cNvPr id="5" name="Text 3"/>
          <p:cNvSpPr/>
          <p:nvPr/>
        </p:nvSpPr>
        <p:spPr>
          <a:xfrm>
            <a:off x="426720" y="914400"/>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From $21M (FY2023) to $530M (FY2025) — 479% YoY growth in FY2025</a:t>
            </a:r>
          </a:p>
        </p:txBody>
      </p:sp>
      <p:grpSp>
        <p:nvGrpSpPr>
          <p:cNvPr id="39" name="Group 38">
            <a:extLst>
              <a:ext uri="{FF2B5EF4-FFF2-40B4-BE49-F238E27FC236}">
                <a16:creationId xmlns:a16="http://schemas.microsoft.com/office/drawing/2014/main" id="{A3C5A0EB-3505-8559-84F4-64DED2EB1BC7}"/>
              </a:ext>
            </a:extLst>
          </p:cNvPr>
          <p:cNvGrpSpPr/>
          <p:nvPr/>
        </p:nvGrpSpPr>
        <p:grpSpPr>
          <a:xfrm>
            <a:off x="426720" y="1267968"/>
            <a:ext cx="11521440" cy="1365504"/>
            <a:chOff x="426720" y="1072896"/>
            <a:chExt cx="11521440" cy="1365504"/>
          </a:xfrm>
        </p:grpSpPr>
        <p:sp>
          <p:nvSpPr>
            <p:cNvPr id="6" name="Shape 4"/>
            <p:cNvSpPr/>
            <p:nvPr/>
          </p:nvSpPr>
          <p:spPr>
            <a:xfrm>
              <a:off x="426720"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7" name="Shape 5"/>
            <p:cNvSpPr/>
            <p:nvPr/>
          </p:nvSpPr>
          <p:spPr>
            <a:xfrm>
              <a:off x="426720" y="1072896"/>
              <a:ext cx="1828800" cy="85344"/>
            </a:xfrm>
            <a:prstGeom prst="rect">
              <a:avLst/>
            </a:prstGeom>
            <a:solidFill>
              <a:srgbClr val="00B4D8"/>
            </a:solidFill>
            <a:ln w="12700">
              <a:solidFill>
                <a:srgbClr val="00B4D8"/>
              </a:solidFill>
              <a:prstDash val="solid"/>
            </a:ln>
          </p:spPr>
        </p:sp>
        <p:sp>
          <p:nvSpPr>
            <p:cNvPr id="8" name="Text 6"/>
            <p:cNvSpPr/>
            <p:nvPr/>
          </p:nvSpPr>
          <p:spPr>
            <a:xfrm>
              <a:off x="573024" y="1243584"/>
              <a:ext cx="1536192" cy="341376"/>
            </a:xfrm>
            <a:prstGeom prst="rect">
              <a:avLst/>
            </a:prstGeom>
            <a:noFill/>
            <a:ln/>
          </p:spPr>
          <p:txBody>
            <a:bodyPr wrap="square" rtlCol="0" anchor="ctr"/>
            <a:lstStyle/>
            <a:p>
              <a:r>
                <a:rPr lang="en-US" sz="1200" dirty="0">
                  <a:latin typeface="Calibri" pitchFamily="34" charset="0"/>
                  <a:ea typeface="Calibri" pitchFamily="34" charset="-122"/>
                  <a:cs typeface="Calibri" pitchFamily="34" charset="-120"/>
                </a:rPr>
                <a:t>FY2025 Revenue</a:t>
              </a:r>
              <a:endParaRPr lang="en-US" sz="1200" dirty="0"/>
            </a:p>
          </p:txBody>
        </p:sp>
        <p:sp>
          <p:nvSpPr>
            <p:cNvPr id="9" name="Text 7"/>
            <p:cNvSpPr/>
            <p:nvPr/>
          </p:nvSpPr>
          <p:spPr>
            <a:xfrm>
              <a:off x="573024" y="1560576"/>
              <a:ext cx="1536192" cy="609600"/>
            </a:xfrm>
            <a:prstGeom prst="rect">
              <a:avLst/>
            </a:prstGeom>
            <a:noFill/>
            <a:ln/>
          </p:spPr>
          <p:txBody>
            <a:bodyPr wrap="square" rtlCol="0" anchor="ctr">
              <a:normAutofit/>
            </a:bodyPr>
            <a:lstStyle/>
            <a:p>
              <a:r>
                <a:rPr lang="en-US" sz="2400" b="1" dirty="0">
                  <a:latin typeface="Calibri" pitchFamily="34" charset="0"/>
                  <a:ea typeface="Calibri" pitchFamily="34" charset="-122"/>
                  <a:cs typeface="Calibri" pitchFamily="34" charset="-120"/>
                </a:rPr>
                <a:t>$529.8M</a:t>
              </a:r>
              <a:endParaRPr lang="en-US" sz="2400" dirty="0"/>
            </a:p>
          </p:txBody>
        </p:sp>
        <p:sp>
          <p:nvSpPr>
            <p:cNvPr id="10" name="Text 8"/>
            <p:cNvSpPr/>
            <p:nvPr/>
          </p:nvSpPr>
          <p:spPr>
            <a:xfrm>
              <a:off x="573024" y="2145792"/>
              <a:ext cx="1536192" cy="292608"/>
            </a:xfrm>
            <a:prstGeom prst="rect">
              <a:avLst/>
            </a:prstGeom>
            <a:noFill/>
            <a:ln/>
          </p:spPr>
          <p:txBody>
            <a:bodyPr wrap="square" rtlCol="0" anchor="ctr"/>
            <a:lstStyle/>
            <a:p>
              <a:r>
                <a:rPr lang="en-US" sz="1100" dirty="0">
                  <a:latin typeface="Calibri" pitchFamily="34" charset="0"/>
                  <a:ea typeface="Calibri" pitchFamily="34" charset="-122"/>
                  <a:cs typeface="Calibri" pitchFamily="34" charset="-120"/>
                </a:rPr>
                <a:t>479% YoY</a:t>
              </a:r>
              <a:endParaRPr lang="en-US" sz="1100" dirty="0"/>
            </a:p>
          </p:txBody>
        </p:sp>
        <p:sp>
          <p:nvSpPr>
            <p:cNvPr id="11" name="Shape 9"/>
            <p:cNvSpPr/>
            <p:nvPr/>
          </p:nvSpPr>
          <p:spPr>
            <a:xfrm>
              <a:off x="2365248"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12" name="Shape 10"/>
            <p:cNvSpPr/>
            <p:nvPr/>
          </p:nvSpPr>
          <p:spPr>
            <a:xfrm>
              <a:off x="2365248" y="1072896"/>
              <a:ext cx="1828800" cy="85344"/>
            </a:xfrm>
            <a:prstGeom prst="rect">
              <a:avLst/>
            </a:prstGeom>
            <a:solidFill>
              <a:srgbClr val="00B4D8"/>
            </a:solidFill>
            <a:ln w="12700">
              <a:solidFill>
                <a:srgbClr val="00B4D8"/>
              </a:solidFill>
              <a:prstDash val="solid"/>
            </a:ln>
          </p:spPr>
        </p:sp>
        <p:sp>
          <p:nvSpPr>
            <p:cNvPr id="13" name="Text 11"/>
            <p:cNvSpPr/>
            <p:nvPr/>
          </p:nvSpPr>
          <p:spPr>
            <a:xfrm>
              <a:off x="2511552" y="1243584"/>
              <a:ext cx="1536192" cy="341376"/>
            </a:xfrm>
            <a:prstGeom prst="rect">
              <a:avLst/>
            </a:prstGeom>
            <a:noFill/>
            <a:ln/>
          </p:spPr>
          <p:txBody>
            <a:bodyPr wrap="square" rtlCol="0" anchor="ctr"/>
            <a:lstStyle/>
            <a:p>
              <a:r>
                <a:rPr lang="en-US" sz="1200" dirty="0">
                  <a:latin typeface="Calibri" pitchFamily="34" charset="0"/>
                  <a:ea typeface="Calibri" pitchFamily="34" charset="-122"/>
                  <a:cs typeface="Calibri" pitchFamily="34" charset="-120"/>
                </a:rPr>
                <a:t>Q4 2025 Revenue</a:t>
              </a:r>
              <a:endParaRPr lang="en-US" sz="1200" dirty="0"/>
            </a:p>
          </p:txBody>
        </p:sp>
        <p:sp>
          <p:nvSpPr>
            <p:cNvPr id="14" name="Text 12"/>
            <p:cNvSpPr/>
            <p:nvPr/>
          </p:nvSpPr>
          <p:spPr>
            <a:xfrm>
              <a:off x="2511552" y="1560576"/>
              <a:ext cx="1536192" cy="609600"/>
            </a:xfrm>
            <a:prstGeom prst="rect">
              <a:avLst/>
            </a:prstGeom>
            <a:noFill/>
            <a:ln/>
          </p:spPr>
          <p:txBody>
            <a:bodyPr wrap="square" rtlCol="0" anchor="ctr">
              <a:normAutofit/>
            </a:bodyPr>
            <a:lstStyle/>
            <a:p>
              <a:r>
                <a:rPr lang="en-US" sz="2400" b="1" dirty="0">
                  <a:latin typeface="Calibri" pitchFamily="34" charset="0"/>
                  <a:ea typeface="Calibri" pitchFamily="34" charset="-122"/>
                  <a:cs typeface="Calibri" pitchFamily="34" charset="-120"/>
                </a:rPr>
                <a:t>$227.7M</a:t>
              </a:r>
              <a:endParaRPr lang="en-US" sz="2400" dirty="0"/>
            </a:p>
          </p:txBody>
        </p:sp>
        <p:sp>
          <p:nvSpPr>
            <p:cNvPr id="15" name="Text 13"/>
            <p:cNvSpPr/>
            <p:nvPr/>
          </p:nvSpPr>
          <p:spPr>
            <a:xfrm>
              <a:off x="2511552" y="2145792"/>
              <a:ext cx="1536192" cy="292608"/>
            </a:xfrm>
            <a:prstGeom prst="rect">
              <a:avLst/>
            </a:prstGeom>
            <a:noFill/>
            <a:ln/>
          </p:spPr>
          <p:txBody>
            <a:bodyPr wrap="square" rtlCol="0" anchor="ctr"/>
            <a:lstStyle/>
            <a:p>
              <a:r>
                <a:rPr lang="en-US" sz="1100" dirty="0">
                  <a:latin typeface="Calibri" pitchFamily="34" charset="0"/>
                  <a:ea typeface="Calibri" pitchFamily="34" charset="-122"/>
                  <a:cs typeface="Calibri" pitchFamily="34" charset="-120"/>
                </a:rPr>
                <a:t>547% YoY; 56% QoQ</a:t>
              </a:r>
              <a:endParaRPr lang="en-US" sz="1100" dirty="0"/>
            </a:p>
          </p:txBody>
        </p:sp>
        <p:sp>
          <p:nvSpPr>
            <p:cNvPr id="16" name="Shape 14"/>
            <p:cNvSpPr/>
            <p:nvPr/>
          </p:nvSpPr>
          <p:spPr>
            <a:xfrm>
              <a:off x="4303776"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17" name="Shape 15"/>
            <p:cNvSpPr/>
            <p:nvPr/>
          </p:nvSpPr>
          <p:spPr>
            <a:xfrm>
              <a:off x="4303776" y="1072896"/>
              <a:ext cx="1828800" cy="85344"/>
            </a:xfrm>
            <a:prstGeom prst="rect">
              <a:avLst/>
            </a:prstGeom>
            <a:solidFill>
              <a:srgbClr val="22C55E"/>
            </a:solidFill>
            <a:ln w="12700">
              <a:solidFill>
                <a:srgbClr val="22C55E"/>
              </a:solidFill>
              <a:prstDash val="solid"/>
            </a:ln>
          </p:spPr>
        </p:sp>
        <p:sp>
          <p:nvSpPr>
            <p:cNvPr id="18" name="Text 16"/>
            <p:cNvSpPr/>
            <p:nvPr/>
          </p:nvSpPr>
          <p:spPr>
            <a:xfrm>
              <a:off x="4450080" y="1243584"/>
              <a:ext cx="1536192" cy="341376"/>
            </a:xfrm>
            <a:prstGeom prst="rect">
              <a:avLst/>
            </a:prstGeom>
            <a:noFill/>
            <a:ln/>
          </p:spPr>
          <p:txBody>
            <a:bodyPr wrap="square" rtlCol="0" anchor="ctr"/>
            <a:lstStyle/>
            <a:p>
              <a:r>
                <a:rPr lang="en-US" sz="1200" dirty="0">
                  <a:latin typeface="Calibri" pitchFamily="34" charset="0"/>
                  <a:ea typeface="Calibri" pitchFamily="34" charset="-122"/>
                  <a:cs typeface="Calibri" pitchFamily="34" charset="-120"/>
                </a:rPr>
                <a:t>FY2025 Net Income</a:t>
              </a:r>
              <a:endParaRPr lang="en-US" sz="1200" dirty="0"/>
            </a:p>
          </p:txBody>
        </p:sp>
        <p:sp>
          <p:nvSpPr>
            <p:cNvPr id="19" name="Text 17"/>
            <p:cNvSpPr/>
            <p:nvPr/>
          </p:nvSpPr>
          <p:spPr>
            <a:xfrm>
              <a:off x="4450080" y="1560576"/>
              <a:ext cx="1536192" cy="609600"/>
            </a:xfrm>
            <a:prstGeom prst="rect">
              <a:avLst/>
            </a:prstGeom>
            <a:noFill/>
            <a:ln/>
          </p:spPr>
          <p:txBody>
            <a:bodyPr wrap="square" rtlCol="0" anchor="ctr">
              <a:normAutofit/>
            </a:bodyPr>
            <a:lstStyle/>
            <a:p>
              <a:r>
                <a:rPr lang="en-US" sz="2400" b="1" dirty="0">
                  <a:latin typeface="Calibri" pitchFamily="34" charset="0"/>
                  <a:ea typeface="Calibri" pitchFamily="34" charset="-122"/>
                  <a:cs typeface="Calibri" pitchFamily="34" charset="-120"/>
                </a:rPr>
                <a:t>$82.5M</a:t>
              </a:r>
              <a:endParaRPr lang="en-US" sz="2400" dirty="0"/>
            </a:p>
          </p:txBody>
        </p:sp>
        <p:sp>
          <p:nvSpPr>
            <p:cNvPr id="20" name="Text 18"/>
            <p:cNvSpPr/>
            <p:nvPr/>
          </p:nvSpPr>
          <p:spPr>
            <a:xfrm>
              <a:off x="4450080" y="2145792"/>
              <a:ext cx="1536192" cy="292608"/>
            </a:xfrm>
            <a:prstGeom prst="rect">
              <a:avLst/>
            </a:prstGeom>
            <a:noFill/>
            <a:ln/>
          </p:spPr>
          <p:txBody>
            <a:bodyPr wrap="square" rtlCol="0" anchor="ctr"/>
            <a:lstStyle/>
            <a:p>
              <a:r>
                <a:rPr lang="en-US" sz="1100" dirty="0">
                  <a:latin typeface="Calibri" pitchFamily="34" charset="0"/>
                  <a:ea typeface="Calibri" pitchFamily="34" charset="-122"/>
                  <a:cs typeface="Calibri" pitchFamily="34" charset="-120"/>
                </a:rPr>
                <a:t>vs −$641M in FY2024</a:t>
              </a:r>
              <a:endParaRPr lang="en-US" sz="1100" dirty="0"/>
            </a:p>
          </p:txBody>
        </p:sp>
        <p:sp>
          <p:nvSpPr>
            <p:cNvPr id="21" name="Shape 19"/>
            <p:cNvSpPr/>
            <p:nvPr/>
          </p:nvSpPr>
          <p:spPr>
            <a:xfrm>
              <a:off x="6242304"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22" name="Shape 20"/>
            <p:cNvSpPr/>
            <p:nvPr/>
          </p:nvSpPr>
          <p:spPr>
            <a:xfrm>
              <a:off x="6242304" y="1072896"/>
              <a:ext cx="1828800" cy="85344"/>
            </a:xfrm>
            <a:prstGeom prst="rect">
              <a:avLst/>
            </a:prstGeom>
            <a:solidFill>
              <a:srgbClr val="F59E0B"/>
            </a:solidFill>
            <a:ln w="12700">
              <a:solidFill>
                <a:srgbClr val="F59E0B"/>
              </a:solidFill>
              <a:prstDash val="solid"/>
            </a:ln>
          </p:spPr>
        </p:sp>
        <p:sp>
          <p:nvSpPr>
            <p:cNvPr id="23" name="Text 21"/>
            <p:cNvSpPr/>
            <p:nvPr/>
          </p:nvSpPr>
          <p:spPr>
            <a:xfrm>
              <a:off x="6388608" y="1243584"/>
              <a:ext cx="1536192" cy="341376"/>
            </a:xfrm>
            <a:prstGeom prst="rect">
              <a:avLst/>
            </a:prstGeom>
            <a:noFill/>
            <a:ln/>
          </p:spPr>
          <p:txBody>
            <a:bodyPr wrap="square" rtlCol="0" anchor="ctr"/>
            <a:lstStyle/>
            <a:p>
              <a:r>
                <a:rPr lang="en-US" sz="1200" dirty="0">
                  <a:latin typeface="Calibri" pitchFamily="34" charset="0"/>
                  <a:ea typeface="Calibri" pitchFamily="34" charset="-122"/>
                  <a:cs typeface="Calibri" pitchFamily="34" charset="-120"/>
                </a:rPr>
                <a:t>Adj. EBITDA Loss FY25</a:t>
              </a:r>
              <a:endParaRPr lang="en-US" sz="1200" dirty="0"/>
            </a:p>
          </p:txBody>
        </p:sp>
        <p:sp>
          <p:nvSpPr>
            <p:cNvPr id="24" name="Text 22"/>
            <p:cNvSpPr/>
            <p:nvPr/>
          </p:nvSpPr>
          <p:spPr>
            <a:xfrm>
              <a:off x="6388608" y="1560576"/>
              <a:ext cx="1536192" cy="609600"/>
            </a:xfrm>
            <a:prstGeom prst="rect">
              <a:avLst/>
            </a:prstGeom>
            <a:noFill/>
            <a:ln/>
          </p:spPr>
          <p:txBody>
            <a:bodyPr wrap="square" rtlCol="0" anchor="ctr">
              <a:normAutofit/>
            </a:bodyPr>
            <a:lstStyle/>
            <a:p>
              <a:r>
                <a:rPr lang="en-US" sz="2400" b="1" dirty="0">
                  <a:latin typeface="Calibri" pitchFamily="34" charset="0"/>
                  <a:ea typeface="Calibri" pitchFamily="34" charset="-122"/>
                  <a:cs typeface="Calibri" pitchFamily="34" charset="-120"/>
                </a:rPr>
                <a:t>−$143.2M</a:t>
              </a:r>
              <a:endParaRPr lang="en-US" sz="2400" dirty="0"/>
            </a:p>
          </p:txBody>
        </p:sp>
        <p:sp>
          <p:nvSpPr>
            <p:cNvPr id="25" name="Text 23"/>
            <p:cNvSpPr/>
            <p:nvPr/>
          </p:nvSpPr>
          <p:spPr>
            <a:xfrm>
              <a:off x="6388608" y="2145792"/>
              <a:ext cx="1536192" cy="292608"/>
            </a:xfrm>
            <a:prstGeom prst="rect">
              <a:avLst/>
            </a:prstGeom>
            <a:noFill/>
            <a:ln/>
          </p:spPr>
          <p:txBody>
            <a:bodyPr wrap="square" rtlCol="0" anchor="ctr"/>
            <a:lstStyle/>
            <a:p>
              <a:r>
                <a:rPr lang="en-US" sz="1100" dirty="0">
                  <a:latin typeface="Calibri" pitchFamily="34" charset="0"/>
                  <a:ea typeface="Calibri" pitchFamily="34" charset="-122"/>
                  <a:cs typeface="Calibri" pitchFamily="34" charset="-120"/>
                </a:rPr>
                <a:t>↑ from −$314M FY24</a:t>
              </a:r>
              <a:endParaRPr lang="en-US" sz="1100" dirty="0"/>
            </a:p>
          </p:txBody>
        </p:sp>
        <p:sp>
          <p:nvSpPr>
            <p:cNvPr id="26" name="Shape 24"/>
            <p:cNvSpPr/>
            <p:nvPr/>
          </p:nvSpPr>
          <p:spPr>
            <a:xfrm>
              <a:off x="8180832"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27" name="Shape 25"/>
            <p:cNvSpPr/>
            <p:nvPr/>
          </p:nvSpPr>
          <p:spPr>
            <a:xfrm>
              <a:off x="8180832" y="1072896"/>
              <a:ext cx="1828800" cy="85344"/>
            </a:xfrm>
            <a:prstGeom prst="rect">
              <a:avLst/>
            </a:prstGeom>
            <a:solidFill>
              <a:srgbClr val="0077A8"/>
            </a:solidFill>
            <a:ln w="12700">
              <a:solidFill>
                <a:srgbClr val="0077A8"/>
              </a:solidFill>
              <a:prstDash val="solid"/>
            </a:ln>
          </p:spPr>
        </p:sp>
        <p:sp>
          <p:nvSpPr>
            <p:cNvPr id="28" name="Text 26"/>
            <p:cNvSpPr/>
            <p:nvPr/>
          </p:nvSpPr>
          <p:spPr>
            <a:xfrm>
              <a:off x="8327136" y="1243584"/>
              <a:ext cx="1536192" cy="341376"/>
            </a:xfrm>
            <a:prstGeom prst="rect">
              <a:avLst/>
            </a:prstGeom>
            <a:noFill/>
            <a:ln/>
          </p:spPr>
          <p:txBody>
            <a:bodyPr wrap="square" rtlCol="0" anchor="ctr"/>
            <a:lstStyle/>
            <a:p>
              <a:r>
                <a:rPr lang="en-US" sz="1200" dirty="0">
                  <a:latin typeface="Calibri" pitchFamily="34" charset="0"/>
                  <a:ea typeface="Calibri" pitchFamily="34" charset="-122"/>
                  <a:cs typeface="Calibri" pitchFamily="34" charset="-120"/>
                </a:rPr>
                <a:t>Cash &amp; Equivalents</a:t>
              </a:r>
              <a:endParaRPr lang="en-US" sz="1200" dirty="0"/>
            </a:p>
          </p:txBody>
        </p:sp>
        <p:sp>
          <p:nvSpPr>
            <p:cNvPr id="29" name="Text 27"/>
            <p:cNvSpPr/>
            <p:nvPr/>
          </p:nvSpPr>
          <p:spPr>
            <a:xfrm>
              <a:off x="8327136" y="1560576"/>
              <a:ext cx="1536192" cy="609600"/>
            </a:xfrm>
            <a:prstGeom prst="rect">
              <a:avLst/>
            </a:prstGeom>
            <a:noFill/>
            <a:ln/>
          </p:spPr>
          <p:txBody>
            <a:bodyPr wrap="square" rtlCol="0" anchor="ctr">
              <a:normAutofit/>
            </a:bodyPr>
            <a:lstStyle/>
            <a:p>
              <a:r>
                <a:rPr lang="en-US" sz="2400" b="1" dirty="0">
                  <a:latin typeface="Calibri" pitchFamily="34" charset="0"/>
                  <a:ea typeface="Calibri" pitchFamily="34" charset="-122"/>
                  <a:cs typeface="Calibri" pitchFamily="34" charset="-120"/>
                </a:rPr>
                <a:t>$3.67B</a:t>
              </a:r>
              <a:endParaRPr lang="en-US" sz="2400" dirty="0"/>
            </a:p>
          </p:txBody>
        </p:sp>
        <p:sp>
          <p:nvSpPr>
            <p:cNvPr id="30" name="Text 28"/>
            <p:cNvSpPr/>
            <p:nvPr/>
          </p:nvSpPr>
          <p:spPr>
            <a:xfrm>
              <a:off x="8327136" y="2145792"/>
              <a:ext cx="1536192" cy="292608"/>
            </a:xfrm>
            <a:prstGeom prst="rect">
              <a:avLst/>
            </a:prstGeom>
            <a:noFill/>
            <a:ln/>
          </p:spPr>
          <p:txBody>
            <a:bodyPr wrap="square" rtlCol="0" anchor="ctr"/>
            <a:lstStyle/>
            <a:p>
              <a:r>
                <a:rPr lang="en-US" sz="1100" dirty="0">
                  <a:latin typeface="Calibri" pitchFamily="34" charset="0"/>
                  <a:ea typeface="Calibri" pitchFamily="34" charset="-122"/>
                  <a:cs typeface="Calibri" pitchFamily="34" charset="-120"/>
                </a:rPr>
                <a:t>As of Dec 2025</a:t>
              </a:r>
              <a:endParaRPr lang="en-US" sz="1100" dirty="0"/>
            </a:p>
          </p:txBody>
        </p:sp>
        <p:sp>
          <p:nvSpPr>
            <p:cNvPr id="31" name="Shape 29"/>
            <p:cNvSpPr/>
            <p:nvPr/>
          </p:nvSpPr>
          <p:spPr>
            <a:xfrm>
              <a:off x="10119360"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32" name="Shape 30"/>
            <p:cNvSpPr/>
            <p:nvPr/>
          </p:nvSpPr>
          <p:spPr>
            <a:xfrm>
              <a:off x="10119360" y="1072896"/>
              <a:ext cx="1828800" cy="85344"/>
            </a:xfrm>
            <a:prstGeom prst="rect">
              <a:avLst/>
            </a:prstGeom>
            <a:solidFill>
              <a:srgbClr val="7C3AED"/>
            </a:solidFill>
            <a:ln w="12700">
              <a:solidFill>
                <a:srgbClr val="7C3AED"/>
              </a:solidFill>
              <a:prstDash val="solid"/>
            </a:ln>
          </p:spPr>
        </p:sp>
        <p:sp>
          <p:nvSpPr>
            <p:cNvPr id="33" name="Text 31"/>
            <p:cNvSpPr/>
            <p:nvPr/>
          </p:nvSpPr>
          <p:spPr>
            <a:xfrm>
              <a:off x="10265664" y="1243584"/>
              <a:ext cx="1536192" cy="341376"/>
            </a:xfrm>
            <a:prstGeom prst="rect">
              <a:avLst/>
            </a:prstGeom>
            <a:noFill/>
            <a:ln/>
          </p:spPr>
          <p:txBody>
            <a:bodyPr wrap="square" rtlCol="0" anchor="ctr"/>
            <a:lstStyle/>
            <a:p>
              <a:r>
                <a:rPr lang="en-US" sz="1200" dirty="0">
                  <a:latin typeface="Calibri" pitchFamily="34" charset="0"/>
                  <a:ea typeface="Calibri" pitchFamily="34" charset="-122"/>
                  <a:cs typeface="Calibri" pitchFamily="34" charset="-120"/>
                </a:rPr>
                <a:t>FY2026 ARR Target</a:t>
              </a:r>
              <a:endParaRPr lang="en-US" sz="1200" dirty="0"/>
            </a:p>
          </p:txBody>
        </p:sp>
        <p:sp>
          <p:nvSpPr>
            <p:cNvPr id="34" name="Text 32"/>
            <p:cNvSpPr/>
            <p:nvPr/>
          </p:nvSpPr>
          <p:spPr>
            <a:xfrm>
              <a:off x="10265664" y="1560576"/>
              <a:ext cx="1536192" cy="609600"/>
            </a:xfrm>
            <a:prstGeom prst="rect">
              <a:avLst/>
            </a:prstGeom>
            <a:noFill/>
            <a:ln/>
          </p:spPr>
          <p:txBody>
            <a:bodyPr wrap="square" rtlCol="0" anchor="ctr">
              <a:normAutofit/>
            </a:bodyPr>
            <a:lstStyle/>
            <a:p>
              <a:r>
                <a:rPr lang="en-US" sz="2400" b="1" dirty="0">
                  <a:latin typeface="Calibri" pitchFamily="34" charset="0"/>
                  <a:ea typeface="Calibri" pitchFamily="34" charset="-122"/>
                  <a:cs typeface="Calibri" pitchFamily="34" charset="-120"/>
                </a:rPr>
                <a:t>$7–9B</a:t>
              </a:r>
              <a:endParaRPr lang="en-US" sz="2400" dirty="0"/>
            </a:p>
          </p:txBody>
        </p:sp>
        <p:sp>
          <p:nvSpPr>
            <p:cNvPr id="35" name="Text 33"/>
            <p:cNvSpPr/>
            <p:nvPr/>
          </p:nvSpPr>
          <p:spPr>
            <a:xfrm>
              <a:off x="10265664" y="2145792"/>
              <a:ext cx="1536192" cy="292608"/>
            </a:xfrm>
            <a:prstGeom prst="rect">
              <a:avLst/>
            </a:prstGeom>
            <a:noFill/>
            <a:ln/>
          </p:spPr>
          <p:txBody>
            <a:bodyPr wrap="square" rtlCol="0" anchor="ctr"/>
            <a:lstStyle/>
            <a:p>
              <a:r>
                <a:rPr lang="en-US" sz="1100" dirty="0">
                  <a:latin typeface="Calibri" pitchFamily="34" charset="0"/>
                  <a:ea typeface="Calibri" pitchFamily="34" charset="-122"/>
                  <a:cs typeface="Calibri" pitchFamily="34" charset="-120"/>
                </a:rPr>
                <a:t>Management guidance</a:t>
              </a:r>
              <a:endParaRPr lang="en-US" sz="1100" dirty="0"/>
            </a:p>
          </p:txBody>
        </p:sp>
      </p:grpSp>
      <p:graphicFrame>
        <p:nvGraphicFramePr>
          <p:cNvPr id="36" name="Chart 0"/>
          <p:cNvGraphicFramePr/>
          <p:nvPr>
            <p:extLst>
              <p:ext uri="{D42A27DB-BD31-4B8C-83A1-F6EECF244321}">
                <p14:modId xmlns:p14="http://schemas.microsoft.com/office/powerpoint/2010/main" val="2218468577"/>
              </p:ext>
            </p:extLst>
          </p:nvPr>
        </p:nvGraphicFramePr>
        <p:xfrm>
          <a:off x="573024" y="2926080"/>
          <a:ext cx="5553799" cy="31943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7" name="Table 0"/>
          <p:cNvGraphicFramePr>
            <a:graphicFrameLocks noGrp="1"/>
          </p:cNvGraphicFramePr>
          <p:nvPr>
            <p:extLst>
              <p:ext uri="{D42A27DB-BD31-4B8C-83A1-F6EECF244321}">
                <p14:modId xmlns:p14="http://schemas.microsoft.com/office/powerpoint/2010/main" val="4014612951"/>
              </p:ext>
            </p:extLst>
          </p:nvPr>
        </p:nvGraphicFramePr>
        <p:xfrm>
          <a:off x="6242304" y="2760692"/>
          <a:ext cx="5825449" cy="3707960"/>
        </p:xfrm>
        <a:graphic>
          <a:graphicData uri="http://schemas.openxmlformats.org/drawingml/2006/table">
            <a:tbl>
              <a:tblPr/>
              <a:tblGrid>
                <a:gridCol w="1398594">
                  <a:extLst>
                    <a:ext uri="{9D8B030D-6E8A-4147-A177-3AD203B41FA5}">
                      <a16:colId xmlns:a16="http://schemas.microsoft.com/office/drawing/2014/main" val="20000"/>
                    </a:ext>
                  </a:extLst>
                </a:gridCol>
                <a:gridCol w="924288">
                  <a:extLst>
                    <a:ext uri="{9D8B030D-6E8A-4147-A177-3AD203B41FA5}">
                      <a16:colId xmlns:a16="http://schemas.microsoft.com/office/drawing/2014/main" val="20001"/>
                    </a:ext>
                  </a:extLst>
                </a:gridCol>
                <a:gridCol w="1143199">
                  <a:extLst>
                    <a:ext uri="{9D8B030D-6E8A-4147-A177-3AD203B41FA5}">
                      <a16:colId xmlns:a16="http://schemas.microsoft.com/office/drawing/2014/main" val="20002"/>
                    </a:ext>
                  </a:extLst>
                </a:gridCol>
                <a:gridCol w="1070227">
                  <a:extLst>
                    <a:ext uri="{9D8B030D-6E8A-4147-A177-3AD203B41FA5}">
                      <a16:colId xmlns:a16="http://schemas.microsoft.com/office/drawing/2014/main" val="20003"/>
                    </a:ext>
                  </a:extLst>
                </a:gridCol>
                <a:gridCol w="1289141">
                  <a:extLst>
                    <a:ext uri="{9D8B030D-6E8A-4147-A177-3AD203B41FA5}">
                      <a16:colId xmlns:a16="http://schemas.microsoft.com/office/drawing/2014/main" val="20004"/>
                    </a:ext>
                  </a:extLst>
                </a:gridCol>
              </a:tblGrid>
              <a:tr h="275252">
                <a:tc>
                  <a:txBody>
                    <a:bodyPr/>
                    <a:lstStyle/>
                    <a:p>
                      <a:pPr marL="0" indent="0">
                        <a:buNone/>
                      </a:pPr>
                      <a:r>
                        <a:rPr lang="en-US" sz="1200" b="1" dirty="0">
                          <a:solidFill>
                            <a:srgbClr val="FFFFFF"/>
                          </a:solidFill>
                        </a:rPr>
                        <a:t>Metric</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200" b="1" dirty="0">
                          <a:solidFill>
                            <a:srgbClr val="FFFFFF"/>
                          </a:solidFill>
                        </a:rPr>
                        <a:t>FY2023</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200" b="1" dirty="0">
                          <a:solidFill>
                            <a:srgbClr val="FFFFFF"/>
                          </a:solidFill>
                        </a:rPr>
                        <a:t>FY2024</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200" b="1" dirty="0">
                          <a:solidFill>
                            <a:srgbClr val="FFFFFF"/>
                          </a:solidFill>
                        </a:rPr>
                        <a:t>FY2025</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200" b="1" dirty="0">
                          <a:solidFill>
                            <a:srgbClr val="FFFFFF"/>
                          </a:solidFill>
                        </a:rPr>
                        <a:t>Trend</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39315">
                <a:tc>
                  <a:txBody>
                    <a:bodyPr/>
                    <a:lstStyle/>
                    <a:p>
                      <a:pPr marL="0" indent="0">
                        <a:buNone/>
                      </a:pPr>
                      <a:r>
                        <a:rPr lang="en-US" sz="1100" b="1" dirty="0">
                          <a:solidFill>
                            <a:srgbClr val="1E293B"/>
                          </a:solidFill>
                        </a:rPr>
                        <a:t>Revenue ($M)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$9.8</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$91.5</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$529.8</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22C55E"/>
                          </a:solidFill>
                        </a:rPr>
                        <a:t>↑↑↑ 479% YoY</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9315">
                <a:tc>
                  <a:txBody>
                    <a:bodyPr/>
                    <a:lstStyle/>
                    <a:p>
                      <a:pPr marL="0" indent="0">
                        <a:buNone/>
                      </a:pPr>
                      <a:r>
                        <a:rPr lang="en-US" sz="1100" b="1" dirty="0">
                          <a:solidFill>
                            <a:srgbClr val="1E293B"/>
                          </a:solidFill>
                        </a:rPr>
                        <a:t>Core AI Infra Rev.</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$68.3M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$480M+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b="1" dirty="0">
                          <a:solidFill>
                            <a:srgbClr val="22C55E"/>
                          </a:solidFill>
                        </a:rPr>
                        <a:t>↑↑↑ ~600% YoY</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extLst>
                  <a:ext uri="{0D108BD9-81ED-4DB2-BD59-A6C34878D82A}">
                    <a16:rowId xmlns:a16="http://schemas.microsoft.com/office/drawing/2014/main" val="10002"/>
                  </a:ext>
                </a:extLst>
              </a:tr>
              <a:tr h="557180">
                <a:tc>
                  <a:txBody>
                    <a:bodyPr/>
                    <a:lstStyle/>
                    <a:p>
                      <a:pPr marL="0" indent="0">
                        <a:buNone/>
                      </a:pPr>
                      <a:r>
                        <a:rPr lang="en-US" sz="1100" b="1" dirty="0">
                          <a:solidFill>
                            <a:srgbClr val="1E293B"/>
                          </a:solidFill>
                        </a:rPr>
                        <a:t>Adj. EBITDA ($M)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−$82M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−$266M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−$64.9M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0077A8"/>
                          </a:solidFill>
                        </a:rPr>
                        <a:t>↑ Rapidly improving</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0272">
                <a:tc>
                  <a:txBody>
                    <a:bodyPr/>
                    <a:lstStyle/>
                    <a:p>
                      <a:pPr marL="0" indent="0">
                        <a:buNone/>
                      </a:pPr>
                      <a:r>
                        <a:rPr lang="en-US" sz="1100" b="1" dirty="0">
                          <a:solidFill>
                            <a:srgbClr val="1E293B"/>
                          </a:solidFill>
                        </a:rPr>
                        <a:t>Net Income ($M)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−$396.9M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$29.0M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b="1" dirty="0">
                          <a:solidFill>
                            <a:srgbClr val="1E293B"/>
                          </a:solidFill>
                        </a:rPr>
                        <a:t>Turned positive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extLst>
                  <a:ext uri="{0D108BD9-81ED-4DB2-BD59-A6C34878D82A}">
                    <a16:rowId xmlns:a16="http://schemas.microsoft.com/office/drawing/2014/main" val="10004"/>
                  </a:ext>
                </a:extLst>
              </a:tr>
              <a:tr h="390272">
                <a:tc>
                  <a:txBody>
                    <a:bodyPr/>
                    <a:lstStyle/>
                    <a:p>
                      <a:pPr marL="0" indent="0">
                        <a:buNone/>
                      </a:pPr>
                      <a:r>
                        <a:rPr lang="en-US" sz="1100" b="1" dirty="0">
                          <a:solidFill>
                            <a:srgbClr val="1E293B"/>
                          </a:solidFill>
                        </a:rPr>
                        <a:t>Op. Cash Flow</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Negative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$401.9M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1E293B"/>
                          </a:solidFill>
                        </a:rPr>
                        <a:t>Turned positive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2878">
                <a:tc>
                  <a:txBody>
                    <a:bodyPr/>
                    <a:lstStyle/>
                    <a:p>
                      <a:pPr marL="0" indent="0">
                        <a:buNone/>
                      </a:pPr>
                      <a:r>
                        <a:rPr lang="en-US" sz="1100" b="1" dirty="0">
                          <a:solidFill>
                            <a:srgbClr val="1E293B"/>
                          </a:solidFill>
                        </a:rPr>
                        <a:t>Q4 Revenue Run-rate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$37.9M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$227.7M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b="1" dirty="0">
                          <a:solidFill>
                            <a:srgbClr val="1E293B"/>
                          </a:solidFill>
                        </a:rPr>
                        <a:t>$910M ARR</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extLst>
                  <a:ext uri="{0D108BD9-81ED-4DB2-BD59-A6C34878D82A}">
                    <a16:rowId xmlns:a16="http://schemas.microsoft.com/office/drawing/2014/main" val="10006"/>
                  </a:ext>
                </a:extLst>
              </a:tr>
              <a:tr h="321449">
                <a:tc>
                  <a:txBody>
                    <a:bodyPr/>
                    <a:lstStyle/>
                    <a:p>
                      <a:pPr marL="0" indent="0">
                        <a:buNone/>
                      </a:pPr>
                      <a:r>
                        <a:rPr lang="en-US" sz="1100" b="1" dirty="0">
                          <a:solidFill>
                            <a:srgbClr val="1E293B"/>
                          </a:solidFill>
                        </a:rPr>
                        <a:t>Capex (Q3'25)</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$172M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$955.5M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1E293B"/>
                          </a:solidFill>
                        </a:rPr>
                        <a:t>Scaling rapidly</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90272">
                <a:tc>
                  <a:txBody>
                    <a:bodyPr/>
                    <a:lstStyle/>
                    <a:p>
                      <a:pPr marL="0" indent="0">
                        <a:buNone/>
                      </a:pPr>
                      <a:r>
                        <a:rPr lang="en-US" sz="1100" b="1" dirty="0">
                          <a:solidFill>
                            <a:srgbClr val="1E293B"/>
                          </a:solidFill>
                        </a:rPr>
                        <a:t>Cash Balance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$2,449M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~$1,800M est.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b="1" dirty="0">
                          <a:solidFill>
                            <a:srgbClr val="1E293B"/>
                          </a:solidFill>
                        </a:rPr>
                        <a:t>Being deployed</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extLst>
                  <a:ext uri="{0D108BD9-81ED-4DB2-BD59-A6C34878D82A}">
                    <a16:rowId xmlns:a16="http://schemas.microsoft.com/office/drawing/2014/main" val="10008"/>
                  </a:ext>
                </a:extLst>
              </a:tr>
            </a:tbl>
          </a:graphicData>
        </a:graphic>
      </p:graphicFrame>
      <p:sp>
        <p:nvSpPr>
          <p:cNvPr id="38" name="Text 34"/>
          <p:cNvSpPr/>
          <p:nvPr/>
        </p:nvSpPr>
        <p:spPr>
          <a:xfrm>
            <a:off x="487680" y="6644640"/>
            <a:ext cx="11216640" cy="219456"/>
          </a:xfrm>
          <a:prstGeom prst="rect">
            <a:avLst/>
          </a:prstGeom>
          <a:noFill/>
          <a:ln/>
        </p:spPr>
        <p:txBody>
          <a:bodyPr wrap="square" rtlCol="0" anchor="ctr"/>
          <a:lstStyle/>
          <a:p>
            <a:r>
              <a:rPr lang="en-US" sz="1000" i="1" dirty="0">
                <a:solidFill>
                  <a:srgbClr val="64748B"/>
                </a:solidFill>
                <a:latin typeface="Calibri" pitchFamily="34" charset="0"/>
                <a:ea typeface="Calibri" pitchFamily="34" charset="-122"/>
                <a:cs typeface="Calibri" pitchFamily="34" charset="-120"/>
              </a:rPr>
              <a:t>Sources: Nebius SEC filings (6-K), Feb 2026 earnings release, Q3 2025 results.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293B"/>
          </a:solidFill>
          <a:ln w="12700">
            <a:solidFill>
              <a:srgbClr val="1E293B"/>
            </a:solidFill>
            <a:prstDash val="solid"/>
          </a:ln>
        </p:spPr>
      </p:sp>
      <p:sp>
        <p:nvSpPr>
          <p:cNvPr id="3" name="Shape 1"/>
          <p:cNvSpPr/>
          <p:nvPr/>
        </p:nvSpPr>
        <p:spPr>
          <a:xfrm>
            <a:off x="0" y="0"/>
            <a:ext cx="463296" cy="914400"/>
          </a:xfrm>
          <a:prstGeom prst="rect">
            <a:avLst/>
          </a:prstGeom>
          <a:solidFill>
            <a:srgbClr val="00B4D8"/>
          </a:solidFill>
          <a:ln w="12700">
            <a:solidFill>
              <a:srgbClr val="00B4D8"/>
            </a:solidFill>
            <a:prstDash val="solid"/>
          </a:ln>
        </p:spPr>
      </p:sp>
      <p:sp>
        <p:nvSpPr>
          <p:cNvPr id="4" name="Text 2"/>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4: STRATEGIC PARTNERSHIPS &amp; CONTRACT BACKLOG</a:t>
            </a:r>
            <a:endParaRPr lang="en-US" sz="2267" dirty="0"/>
          </a:p>
        </p:txBody>
      </p:sp>
      <p:sp>
        <p:nvSpPr>
          <p:cNvPr id="5" name="Text 3"/>
          <p:cNvSpPr/>
          <p:nvPr/>
        </p:nvSpPr>
        <p:spPr>
          <a:xfrm>
            <a:off x="463296" y="977486"/>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Hyperscaler validation + $45B+ contract backlog anchors 2026–2030</a:t>
            </a:r>
          </a:p>
        </p:txBody>
      </p:sp>
      <p:grpSp>
        <p:nvGrpSpPr>
          <p:cNvPr id="47" name="Group 46">
            <a:extLst>
              <a:ext uri="{FF2B5EF4-FFF2-40B4-BE49-F238E27FC236}">
                <a16:creationId xmlns:a16="http://schemas.microsoft.com/office/drawing/2014/main" id="{966E8B43-BAC6-9C19-74BA-30AB3A3483BD}"/>
              </a:ext>
            </a:extLst>
          </p:cNvPr>
          <p:cNvGrpSpPr/>
          <p:nvPr/>
        </p:nvGrpSpPr>
        <p:grpSpPr>
          <a:xfrm>
            <a:off x="396240" y="1467561"/>
            <a:ext cx="11521440" cy="4689399"/>
            <a:chOff x="426720" y="1121664"/>
            <a:chExt cx="11521440" cy="5437632"/>
          </a:xfrm>
        </p:grpSpPr>
        <p:sp>
          <p:nvSpPr>
            <p:cNvPr id="6" name="Shape 4"/>
            <p:cNvSpPr/>
            <p:nvPr/>
          </p:nvSpPr>
          <p:spPr>
            <a:xfrm>
              <a:off x="426720" y="1121664"/>
              <a:ext cx="5669280" cy="1731264"/>
            </a:xfrm>
            <a:prstGeom prst="rect">
              <a:avLst/>
            </a:prstGeom>
            <a:solidFill>
              <a:srgbClr val="FFFFFF"/>
            </a:solidFill>
            <a:ln w="12700">
              <a:solidFill>
                <a:srgbClr val="22C55E"/>
              </a:solidFill>
              <a:prstDash val="solid"/>
            </a:ln>
            <a:effectLst>
              <a:outerShdw blurRad="127000" dist="50800" dir="8100000" algn="bl" rotWithShape="0">
                <a:srgbClr val="000000">
                  <a:alpha val="18000"/>
                </a:srgbClr>
              </a:outerShdw>
            </a:effectLst>
          </p:spPr>
        </p:sp>
        <p:sp>
          <p:nvSpPr>
            <p:cNvPr id="12" name="Shape 10"/>
            <p:cNvSpPr/>
            <p:nvPr/>
          </p:nvSpPr>
          <p:spPr>
            <a:xfrm>
              <a:off x="6278880" y="1121664"/>
              <a:ext cx="5669280" cy="1731264"/>
            </a:xfrm>
            <a:prstGeom prst="rect">
              <a:avLst/>
            </a:prstGeom>
            <a:solidFill>
              <a:srgbClr val="FFFFFF"/>
            </a:solidFill>
            <a:ln w="12700">
              <a:solidFill>
                <a:srgbClr val="22C55E"/>
              </a:solidFill>
              <a:prstDash val="solid"/>
            </a:ln>
            <a:effectLst>
              <a:outerShdw blurRad="127000" dist="50800" dir="8100000" algn="bl" rotWithShape="0">
                <a:srgbClr val="000000">
                  <a:alpha val="18000"/>
                </a:srgbClr>
              </a:outerShdw>
            </a:effectLst>
          </p:spPr>
        </p:sp>
        <p:grpSp>
          <p:nvGrpSpPr>
            <p:cNvPr id="46" name="Group 45">
              <a:extLst>
                <a:ext uri="{FF2B5EF4-FFF2-40B4-BE49-F238E27FC236}">
                  <a16:creationId xmlns:a16="http://schemas.microsoft.com/office/drawing/2014/main" id="{E0DF8292-6C56-A1FC-6CD8-A67F16EC0541}"/>
                </a:ext>
              </a:extLst>
            </p:cNvPr>
            <p:cNvGrpSpPr/>
            <p:nvPr/>
          </p:nvGrpSpPr>
          <p:grpSpPr>
            <a:xfrm>
              <a:off x="426720" y="1121664"/>
              <a:ext cx="11521440" cy="5437632"/>
              <a:chOff x="426720" y="1121664"/>
              <a:chExt cx="11521440" cy="5437632"/>
            </a:xfrm>
          </p:grpSpPr>
          <p:sp>
            <p:nvSpPr>
              <p:cNvPr id="7" name="Shape 5"/>
              <p:cNvSpPr/>
              <p:nvPr/>
            </p:nvSpPr>
            <p:spPr>
              <a:xfrm>
                <a:off x="426720" y="1121664"/>
                <a:ext cx="85344" cy="1731264"/>
              </a:xfrm>
              <a:prstGeom prst="rect">
                <a:avLst/>
              </a:prstGeom>
              <a:solidFill>
                <a:srgbClr val="22C55E"/>
              </a:solidFill>
              <a:ln w="12700">
                <a:solidFill>
                  <a:srgbClr val="22C55E"/>
                </a:solidFill>
                <a:prstDash val="solid"/>
              </a:ln>
            </p:spPr>
          </p:sp>
          <p:sp>
            <p:nvSpPr>
              <p:cNvPr id="8" name="Shape 6"/>
              <p:cNvSpPr/>
              <p:nvPr/>
            </p:nvSpPr>
            <p:spPr>
              <a:xfrm>
                <a:off x="426720" y="1121664"/>
                <a:ext cx="5669280" cy="390144"/>
              </a:xfrm>
              <a:prstGeom prst="rect">
                <a:avLst/>
              </a:prstGeom>
              <a:solidFill>
                <a:srgbClr val="22C55E"/>
              </a:solidFill>
              <a:ln w="12700">
                <a:solidFill>
                  <a:srgbClr val="22C55E"/>
                </a:solidFill>
                <a:prstDash val="solid"/>
              </a:ln>
            </p:spPr>
          </p:sp>
          <p:sp>
            <p:nvSpPr>
              <p:cNvPr id="9" name="Text 7"/>
              <p:cNvSpPr/>
              <p:nvPr/>
            </p:nvSpPr>
            <p:spPr>
              <a:xfrm>
                <a:off x="548640" y="1170432"/>
                <a:ext cx="2926080" cy="292608"/>
              </a:xfrm>
              <a:prstGeom prst="rect">
                <a:avLst/>
              </a:prstGeom>
              <a:noFill/>
              <a:ln/>
            </p:spPr>
            <p:txBody>
              <a:bodyPr wrap="square" rtlCol="0" anchor="ctr"/>
              <a:lstStyle/>
              <a:p>
                <a:r>
                  <a:rPr lang="en-US" sz="1267" b="1" dirty="0">
                    <a:solidFill>
                      <a:srgbClr val="FFFFFF"/>
                    </a:solidFill>
                    <a:latin typeface="Calibri" pitchFamily="34" charset="0"/>
                    <a:ea typeface="Calibri" pitchFamily="34" charset="-122"/>
                    <a:cs typeface="Calibri" pitchFamily="34" charset="-120"/>
                  </a:rPr>
                  <a:t>Oct 2024  ·  NVIDIA</a:t>
                </a:r>
                <a:endParaRPr lang="en-US" sz="1267" dirty="0"/>
              </a:p>
            </p:txBody>
          </p:sp>
          <p:sp>
            <p:nvSpPr>
              <p:cNvPr id="10" name="Text 8"/>
              <p:cNvSpPr/>
              <p:nvPr/>
            </p:nvSpPr>
            <p:spPr>
              <a:xfrm>
                <a:off x="3718560" y="1170432"/>
                <a:ext cx="2194560" cy="292608"/>
              </a:xfrm>
              <a:prstGeom prst="rect">
                <a:avLst/>
              </a:prstGeom>
              <a:noFill/>
              <a:ln/>
            </p:spPr>
            <p:txBody>
              <a:bodyPr wrap="square" rtlCol="0" anchor="ctr"/>
              <a:lstStyle/>
              <a:p>
                <a:pPr algn="r"/>
                <a:r>
                  <a:rPr lang="en-US" sz="1333" b="1" dirty="0">
                    <a:solidFill>
                      <a:srgbClr val="FFFFFF"/>
                    </a:solidFill>
                    <a:latin typeface="Calibri" pitchFamily="34" charset="0"/>
                    <a:ea typeface="Calibri" pitchFamily="34" charset="-122"/>
                    <a:cs typeface="Calibri" pitchFamily="34" charset="-120"/>
                  </a:rPr>
                  <a:t>Equity Partner</a:t>
                </a:r>
                <a:endParaRPr lang="en-US" sz="1333" dirty="0"/>
              </a:p>
            </p:txBody>
          </p:sp>
          <p:sp>
            <p:nvSpPr>
              <p:cNvPr id="11" name="Text 9"/>
              <p:cNvSpPr/>
              <p:nvPr/>
            </p:nvSpPr>
            <p:spPr>
              <a:xfrm>
                <a:off x="597408" y="1584960"/>
                <a:ext cx="5364480" cy="1219200"/>
              </a:xfrm>
              <a:prstGeom prst="rect">
                <a:avLst/>
              </a:prstGeom>
              <a:noFill/>
              <a:ln/>
            </p:spPr>
            <p:txBody>
              <a:bodyPr wrap="square" rtlCol="0" anchor="ctr"/>
              <a:lstStyle/>
              <a:p>
                <a:r>
                  <a:rPr lang="en-US" sz="1600" dirty="0">
                    <a:solidFill>
                      <a:srgbClr val="1E293B"/>
                    </a:solidFill>
                    <a:latin typeface="Calibri" pitchFamily="34" charset="0"/>
                    <a:ea typeface="Calibri" pitchFamily="34" charset="-122"/>
                    <a:cs typeface="Calibri" pitchFamily="34" charset="-120"/>
                  </a:rPr>
                  <a:t>NVIDIA joins $700M capital raise at Nasdaq re-listing; early access to Hopper, Blackwell, Vera Rubin hardware</a:t>
                </a:r>
                <a:endParaRPr lang="en-US" sz="1600" dirty="0"/>
              </a:p>
            </p:txBody>
          </p:sp>
          <p:sp>
            <p:nvSpPr>
              <p:cNvPr id="13" name="Shape 11"/>
              <p:cNvSpPr/>
              <p:nvPr/>
            </p:nvSpPr>
            <p:spPr>
              <a:xfrm>
                <a:off x="6278880" y="1121664"/>
                <a:ext cx="85344" cy="1731264"/>
              </a:xfrm>
              <a:prstGeom prst="rect">
                <a:avLst/>
              </a:prstGeom>
              <a:solidFill>
                <a:srgbClr val="22C55E"/>
              </a:solidFill>
              <a:ln w="12700">
                <a:solidFill>
                  <a:srgbClr val="22C55E"/>
                </a:solidFill>
                <a:prstDash val="solid"/>
              </a:ln>
            </p:spPr>
          </p:sp>
          <p:sp>
            <p:nvSpPr>
              <p:cNvPr id="14" name="Shape 12"/>
              <p:cNvSpPr/>
              <p:nvPr/>
            </p:nvSpPr>
            <p:spPr>
              <a:xfrm>
                <a:off x="6278880" y="1121664"/>
                <a:ext cx="5669280" cy="390144"/>
              </a:xfrm>
              <a:prstGeom prst="rect">
                <a:avLst/>
              </a:prstGeom>
              <a:solidFill>
                <a:srgbClr val="22C55E"/>
              </a:solidFill>
              <a:ln w="12700">
                <a:solidFill>
                  <a:srgbClr val="22C55E"/>
                </a:solidFill>
                <a:prstDash val="solid"/>
              </a:ln>
            </p:spPr>
          </p:sp>
          <p:sp>
            <p:nvSpPr>
              <p:cNvPr id="15" name="Text 13"/>
              <p:cNvSpPr/>
              <p:nvPr/>
            </p:nvSpPr>
            <p:spPr>
              <a:xfrm>
                <a:off x="6400800" y="1170432"/>
                <a:ext cx="2926080" cy="292608"/>
              </a:xfrm>
              <a:prstGeom prst="rect">
                <a:avLst/>
              </a:prstGeom>
              <a:noFill/>
              <a:ln/>
            </p:spPr>
            <p:txBody>
              <a:bodyPr wrap="square" rtlCol="0" anchor="ctr"/>
              <a:lstStyle/>
              <a:p>
                <a:r>
                  <a:rPr lang="en-US" sz="1267" b="1" dirty="0">
                    <a:solidFill>
                      <a:srgbClr val="FFFFFF"/>
                    </a:solidFill>
                    <a:latin typeface="Calibri" pitchFamily="34" charset="0"/>
                    <a:ea typeface="Calibri" pitchFamily="34" charset="-122"/>
                    <a:cs typeface="Calibri" pitchFamily="34" charset="-120"/>
                  </a:rPr>
                  <a:t>Dec 2024  ·  NVIDIA</a:t>
                </a:r>
                <a:endParaRPr lang="en-US" sz="1267" dirty="0"/>
              </a:p>
            </p:txBody>
          </p:sp>
          <p:sp>
            <p:nvSpPr>
              <p:cNvPr id="16" name="Text 14"/>
              <p:cNvSpPr/>
              <p:nvPr/>
            </p:nvSpPr>
            <p:spPr>
              <a:xfrm>
                <a:off x="9570720" y="1170432"/>
                <a:ext cx="2194560" cy="292608"/>
              </a:xfrm>
              <a:prstGeom prst="rect">
                <a:avLst/>
              </a:prstGeom>
              <a:noFill/>
              <a:ln/>
            </p:spPr>
            <p:txBody>
              <a:bodyPr wrap="square" rtlCol="0" anchor="ctr"/>
              <a:lstStyle/>
              <a:p>
                <a:pPr algn="r"/>
                <a:r>
                  <a:rPr lang="en-US" sz="1333" b="1" dirty="0">
                    <a:solidFill>
                      <a:srgbClr val="FFFFFF"/>
                    </a:solidFill>
                    <a:latin typeface="Calibri" pitchFamily="34" charset="0"/>
                    <a:ea typeface="Calibri" pitchFamily="34" charset="-122"/>
                    <a:cs typeface="Calibri" pitchFamily="34" charset="-120"/>
                  </a:rPr>
                  <a:t>$2B Investment</a:t>
                </a:r>
                <a:endParaRPr lang="en-US" sz="1333" dirty="0"/>
              </a:p>
            </p:txBody>
          </p:sp>
          <p:sp>
            <p:nvSpPr>
              <p:cNvPr id="17" name="Text 15"/>
              <p:cNvSpPr/>
              <p:nvPr/>
            </p:nvSpPr>
            <p:spPr>
              <a:xfrm>
                <a:off x="6449568" y="1584960"/>
                <a:ext cx="5364480" cy="1219200"/>
              </a:xfrm>
              <a:prstGeom prst="rect">
                <a:avLst/>
              </a:prstGeom>
              <a:noFill/>
              <a:ln/>
            </p:spPr>
            <p:txBody>
              <a:bodyPr wrap="square" rtlCol="0" anchor="ctr"/>
              <a:lstStyle/>
              <a:p>
                <a:r>
                  <a:rPr lang="en-US" sz="1600" dirty="0">
                    <a:solidFill>
                      <a:srgbClr val="1E293B"/>
                    </a:solidFill>
                    <a:latin typeface="Calibri" pitchFamily="34" charset="0"/>
                    <a:ea typeface="Calibri" pitchFamily="34" charset="-122"/>
                    <a:cs typeface="Calibri" pitchFamily="34" charset="-120"/>
                  </a:rPr>
                  <a:t>NVIDIA invests $2B in Nebius — strategic validation of technical capabilities; Nebius gains preferred chip allocation</a:t>
                </a:r>
                <a:endParaRPr lang="en-US" sz="1600" dirty="0"/>
              </a:p>
            </p:txBody>
          </p:sp>
          <p:sp>
            <p:nvSpPr>
              <p:cNvPr id="18" name="Shape 16"/>
              <p:cNvSpPr/>
              <p:nvPr/>
            </p:nvSpPr>
            <p:spPr>
              <a:xfrm>
                <a:off x="426720" y="2974848"/>
                <a:ext cx="5669280" cy="1731264"/>
              </a:xfrm>
              <a:prstGeom prst="rect">
                <a:avLst/>
              </a:prstGeom>
              <a:solidFill>
                <a:srgbClr val="FFFFFF"/>
              </a:solidFill>
              <a:ln w="12700">
                <a:solidFill>
                  <a:srgbClr val="0078D4"/>
                </a:solidFill>
                <a:prstDash val="solid"/>
              </a:ln>
              <a:effectLst>
                <a:outerShdw blurRad="127000" dist="50800" dir="8100000" algn="bl" rotWithShape="0">
                  <a:srgbClr val="000000">
                    <a:alpha val="18000"/>
                  </a:srgbClr>
                </a:outerShdw>
              </a:effectLst>
            </p:spPr>
          </p:sp>
          <p:sp>
            <p:nvSpPr>
              <p:cNvPr id="19" name="Shape 17"/>
              <p:cNvSpPr/>
              <p:nvPr/>
            </p:nvSpPr>
            <p:spPr>
              <a:xfrm>
                <a:off x="426720" y="2974848"/>
                <a:ext cx="85344" cy="1731264"/>
              </a:xfrm>
              <a:prstGeom prst="rect">
                <a:avLst/>
              </a:prstGeom>
              <a:solidFill>
                <a:srgbClr val="0078D4"/>
              </a:solidFill>
              <a:ln w="12700">
                <a:solidFill>
                  <a:srgbClr val="0078D4"/>
                </a:solidFill>
                <a:prstDash val="solid"/>
              </a:ln>
            </p:spPr>
          </p:sp>
          <p:sp>
            <p:nvSpPr>
              <p:cNvPr id="20" name="Shape 18"/>
              <p:cNvSpPr/>
              <p:nvPr/>
            </p:nvSpPr>
            <p:spPr>
              <a:xfrm>
                <a:off x="426720" y="2974848"/>
                <a:ext cx="5669280" cy="390144"/>
              </a:xfrm>
              <a:prstGeom prst="rect">
                <a:avLst/>
              </a:prstGeom>
              <a:solidFill>
                <a:srgbClr val="0078D4"/>
              </a:solidFill>
              <a:ln w="12700">
                <a:solidFill>
                  <a:srgbClr val="0078D4"/>
                </a:solidFill>
                <a:prstDash val="solid"/>
              </a:ln>
            </p:spPr>
          </p:sp>
          <p:sp>
            <p:nvSpPr>
              <p:cNvPr id="21" name="Text 19"/>
              <p:cNvSpPr/>
              <p:nvPr/>
            </p:nvSpPr>
            <p:spPr>
              <a:xfrm>
                <a:off x="548640" y="3023616"/>
                <a:ext cx="2926080" cy="292608"/>
              </a:xfrm>
              <a:prstGeom prst="rect">
                <a:avLst/>
              </a:prstGeom>
              <a:noFill/>
              <a:ln/>
            </p:spPr>
            <p:txBody>
              <a:bodyPr wrap="square" rtlCol="0" anchor="ctr"/>
              <a:lstStyle/>
              <a:p>
                <a:r>
                  <a:rPr lang="en-US" sz="1267" b="1" dirty="0">
                    <a:solidFill>
                      <a:srgbClr val="FFFFFF"/>
                    </a:solidFill>
                    <a:latin typeface="Calibri" pitchFamily="34" charset="0"/>
                    <a:ea typeface="Calibri" pitchFamily="34" charset="-122"/>
                    <a:cs typeface="Calibri" pitchFamily="34" charset="-120"/>
                  </a:rPr>
                  <a:t>Q3 2025  ·  Microsoft</a:t>
                </a:r>
                <a:endParaRPr lang="en-US" sz="1267" dirty="0"/>
              </a:p>
            </p:txBody>
          </p:sp>
          <p:sp>
            <p:nvSpPr>
              <p:cNvPr id="22" name="Text 20"/>
              <p:cNvSpPr/>
              <p:nvPr/>
            </p:nvSpPr>
            <p:spPr>
              <a:xfrm>
                <a:off x="3718560" y="3023616"/>
                <a:ext cx="2194560" cy="292608"/>
              </a:xfrm>
              <a:prstGeom prst="rect">
                <a:avLst/>
              </a:prstGeom>
              <a:noFill/>
              <a:ln/>
            </p:spPr>
            <p:txBody>
              <a:bodyPr wrap="square" rtlCol="0" anchor="ctr"/>
              <a:lstStyle/>
              <a:p>
                <a:pPr algn="r"/>
                <a:r>
                  <a:rPr lang="en-US" sz="1333" b="1" dirty="0">
                    <a:solidFill>
                      <a:srgbClr val="FFFFFF"/>
                    </a:solidFill>
                    <a:latin typeface="Calibri" pitchFamily="34" charset="0"/>
                    <a:ea typeface="Calibri" pitchFamily="34" charset="-122"/>
                    <a:cs typeface="Calibri" pitchFamily="34" charset="-120"/>
                  </a:rPr>
                  <a:t>~$17.4B (5yr)</a:t>
                </a:r>
                <a:endParaRPr lang="en-US" sz="1333" dirty="0"/>
              </a:p>
            </p:txBody>
          </p:sp>
          <p:sp>
            <p:nvSpPr>
              <p:cNvPr id="23" name="Text 21"/>
              <p:cNvSpPr/>
              <p:nvPr/>
            </p:nvSpPr>
            <p:spPr>
              <a:xfrm>
                <a:off x="597408" y="3438144"/>
                <a:ext cx="5364480" cy="1219200"/>
              </a:xfrm>
              <a:prstGeom prst="rect">
                <a:avLst/>
              </a:prstGeom>
              <a:noFill/>
              <a:ln/>
            </p:spPr>
            <p:txBody>
              <a:bodyPr wrap="square" rtlCol="0" anchor="ctr"/>
              <a:lstStyle/>
              <a:p>
                <a:r>
                  <a:rPr lang="en-US" sz="1600" dirty="0">
                    <a:solidFill>
                      <a:srgbClr val="1E293B"/>
                    </a:solidFill>
                    <a:latin typeface="Calibri" pitchFamily="34" charset="0"/>
                    <a:ea typeface="Calibri" pitchFamily="34" charset="-122"/>
                    <a:cs typeface="Calibri" pitchFamily="34" charset="-120"/>
                  </a:rPr>
                  <a:t>Landmark deal for dedicated GPU capacity from new New Jersey facility; provides multi-year revenue visibility</a:t>
                </a:r>
                <a:endParaRPr lang="en-US" sz="1600" dirty="0"/>
              </a:p>
            </p:txBody>
          </p:sp>
          <p:sp>
            <p:nvSpPr>
              <p:cNvPr id="24" name="Shape 22"/>
              <p:cNvSpPr/>
              <p:nvPr/>
            </p:nvSpPr>
            <p:spPr>
              <a:xfrm>
                <a:off x="6278880" y="2974848"/>
                <a:ext cx="5669280" cy="1731264"/>
              </a:xfrm>
              <a:prstGeom prst="rect">
                <a:avLst/>
              </a:prstGeom>
              <a:solidFill>
                <a:srgbClr val="FFFFFF"/>
              </a:solidFill>
              <a:ln w="12700">
                <a:solidFill>
                  <a:srgbClr val="1877F2"/>
                </a:solidFill>
                <a:prstDash val="solid"/>
              </a:ln>
              <a:effectLst>
                <a:outerShdw blurRad="127000" dist="50800" dir="8100000" algn="bl" rotWithShape="0">
                  <a:srgbClr val="000000">
                    <a:alpha val="18000"/>
                  </a:srgbClr>
                </a:outerShdw>
              </a:effectLst>
            </p:spPr>
          </p:sp>
          <p:sp>
            <p:nvSpPr>
              <p:cNvPr id="25" name="Shape 23"/>
              <p:cNvSpPr/>
              <p:nvPr/>
            </p:nvSpPr>
            <p:spPr>
              <a:xfrm>
                <a:off x="6278880" y="2974848"/>
                <a:ext cx="85344" cy="1731264"/>
              </a:xfrm>
              <a:prstGeom prst="rect">
                <a:avLst/>
              </a:prstGeom>
              <a:solidFill>
                <a:srgbClr val="1877F2"/>
              </a:solidFill>
              <a:ln w="12700">
                <a:solidFill>
                  <a:srgbClr val="1877F2"/>
                </a:solidFill>
                <a:prstDash val="solid"/>
              </a:ln>
            </p:spPr>
          </p:sp>
          <p:sp>
            <p:nvSpPr>
              <p:cNvPr id="26" name="Shape 24"/>
              <p:cNvSpPr/>
              <p:nvPr/>
            </p:nvSpPr>
            <p:spPr>
              <a:xfrm>
                <a:off x="6278880" y="2974848"/>
                <a:ext cx="5669280" cy="390144"/>
              </a:xfrm>
              <a:prstGeom prst="rect">
                <a:avLst/>
              </a:prstGeom>
              <a:solidFill>
                <a:srgbClr val="1877F2"/>
              </a:solidFill>
              <a:ln w="12700">
                <a:solidFill>
                  <a:srgbClr val="1877F2"/>
                </a:solidFill>
                <a:prstDash val="solid"/>
              </a:ln>
            </p:spPr>
          </p:sp>
          <p:sp>
            <p:nvSpPr>
              <p:cNvPr id="27" name="Text 25"/>
              <p:cNvSpPr/>
              <p:nvPr/>
            </p:nvSpPr>
            <p:spPr>
              <a:xfrm>
                <a:off x="6400800" y="3023616"/>
                <a:ext cx="2926080" cy="292608"/>
              </a:xfrm>
              <a:prstGeom prst="rect">
                <a:avLst/>
              </a:prstGeom>
              <a:noFill/>
              <a:ln/>
            </p:spPr>
            <p:txBody>
              <a:bodyPr wrap="square" rtlCol="0" anchor="ctr"/>
              <a:lstStyle/>
              <a:p>
                <a:r>
                  <a:rPr lang="en-US" sz="1267" b="1" dirty="0">
                    <a:solidFill>
                      <a:srgbClr val="FFFFFF"/>
                    </a:solidFill>
                    <a:latin typeface="Calibri" pitchFamily="34" charset="0"/>
                    <a:ea typeface="Calibri" pitchFamily="34" charset="-122"/>
                    <a:cs typeface="Calibri" pitchFamily="34" charset="-120"/>
                  </a:rPr>
                  <a:t>Nov 2025  ·  Meta (initial)</a:t>
                </a:r>
                <a:endParaRPr lang="en-US" sz="1267" dirty="0"/>
              </a:p>
            </p:txBody>
          </p:sp>
          <p:sp>
            <p:nvSpPr>
              <p:cNvPr id="28" name="Text 26"/>
              <p:cNvSpPr/>
              <p:nvPr/>
            </p:nvSpPr>
            <p:spPr>
              <a:xfrm>
                <a:off x="9570720" y="3023616"/>
                <a:ext cx="2194560" cy="292608"/>
              </a:xfrm>
              <a:prstGeom prst="rect">
                <a:avLst/>
              </a:prstGeom>
              <a:noFill/>
              <a:ln/>
            </p:spPr>
            <p:txBody>
              <a:bodyPr wrap="square" rtlCol="0" anchor="ctr"/>
              <a:lstStyle/>
              <a:p>
                <a:pPr algn="r"/>
                <a:r>
                  <a:rPr lang="en-US" sz="1333" b="1" dirty="0">
                    <a:solidFill>
                      <a:srgbClr val="FFFFFF"/>
                    </a:solidFill>
                    <a:latin typeface="Calibri" pitchFamily="34" charset="0"/>
                    <a:ea typeface="Calibri" pitchFamily="34" charset="-122"/>
                    <a:cs typeface="Calibri" pitchFamily="34" charset="-120"/>
                  </a:rPr>
                  <a:t>$2.9B (5yr)</a:t>
                </a:r>
                <a:endParaRPr lang="en-US" sz="1333" dirty="0"/>
              </a:p>
            </p:txBody>
          </p:sp>
          <p:sp>
            <p:nvSpPr>
              <p:cNvPr id="29" name="Text 27"/>
              <p:cNvSpPr/>
              <p:nvPr/>
            </p:nvSpPr>
            <p:spPr>
              <a:xfrm>
                <a:off x="6449568" y="3438144"/>
                <a:ext cx="5364480" cy="1219200"/>
              </a:xfrm>
              <a:prstGeom prst="rect">
                <a:avLst/>
              </a:prstGeom>
              <a:noFill/>
              <a:ln/>
            </p:spPr>
            <p:txBody>
              <a:bodyPr wrap="square" rtlCol="0" anchor="ctr"/>
              <a:lstStyle/>
              <a:p>
                <a:r>
                  <a:rPr lang="en-US" sz="1600" dirty="0">
                    <a:solidFill>
                      <a:srgbClr val="1E293B"/>
                    </a:solidFill>
                    <a:latin typeface="Calibri" pitchFamily="34" charset="0"/>
                    <a:ea typeface="Calibri" pitchFamily="34" charset="-122"/>
                    <a:cs typeface="Calibri" pitchFamily="34" charset="-120"/>
                  </a:rPr>
                  <a:t>Two dedicated GPU clusters for Meta's Llama LLM training; first tranche Dec 2025, second Feb 2026</a:t>
                </a:r>
                <a:endParaRPr lang="en-US" sz="1600" dirty="0"/>
              </a:p>
            </p:txBody>
          </p:sp>
          <p:sp>
            <p:nvSpPr>
              <p:cNvPr id="30" name="Shape 28"/>
              <p:cNvSpPr/>
              <p:nvPr/>
            </p:nvSpPr>
            <p:spPr>
              <a:xfrm>
                <a:off x="426720" y="4828032"/>
                <a:ext cx="5669280" cy="1731264"/>
              </a:xfrm>
              <a:prstGeom prst="rect">
                <a:avLst/>
              </a:prstGeom>
              <a:solidFill>
                <a:srgbClr val="FFFFFF"/>
              </a:solidFill>
              <a:ln w="12700">
                <a:solidFill>
                  <a:srgbClr val="1877F2"/>
                </a:solidFill>
                <a:prstDash val="solid"/>
              </a:ln>
              <a:effectLst>
                <a:outerShdw blurRad="127000" dist="50800" dir="8100000" algn="bl" rotWithShape="0">
                  <a:srgbClr val="000000">
                    <a:alpha val="18000"/>
                  </a:srgbClr>
                </a:outerShdw>
              </a:effectLst>
            </p:spPr>
          </p:sp>
          <p:sp>
            <p:nvSpPr>
              <p:cNvPr id="31" name="Shape 29"/>
              <p:cNvSpPr/>
              <p:nvPr/>
            </p:nvSpPr>
            <p:spPr>
              <a:xfrm>
                <a:off x="426720" y="4828032"/>
                <a:ext cx="85344" cy="1731264"/>
              </a:xfrm>
              <a:prstGeom prst="rect">
                <a:avLst/>
              </a:prstGeom>
              <a:solidFill>
                <a:srgbClr val="1877F2"/>
              </a:solidFill>
              <a:ln w="12700">
                <a:solidFill>
                  <a:srgbClr val="1877F2"/>
                </a:solidFill>
                <a:prstDash val="solid"/>
              </a:ln>
            </p:spPr>
          </p:sp>
          <p:sp>
            <p:nvSpPr>
              <p:cNvPr id="32" name="Shape 30"/>
              <p:cNvSpPr/>
              <p:nvPr/>
            </p:nvSpPr>
            <p:spPr>
              <a:xfrm>
                <a:off x="426720" y="4828032"/>
                <a:ext cx="5669280" cy="390144"/>
              </a:xfrm>
              <a:prstGeom prst="rect">
                <a:avLst/>
              </a:prstGeom>
              <a:solidFill>
                <a:srgbClr val="1877F2"/>
              </a:solidFill>
              <a:ln w="12700">
                <a:solidFill>
                  <a:srgbClr val="1877F2"/>
                </a:solidFill>
                <a:prstDash val="solid"/>
              </a:ln>
            </p:spPr>
          </p:sp>
          <p:sp>
            <p:nvSpPr>
              <p:cNvPr id="33" name="Text 31"/>
              <p:cNvSpPr/>
              <p:nvPr/>
            </p:nvSpPr>
            <p:spPr>
              <a:xfrm>
                <a:off x="548640" y="4876800"/>
                <a:ext cx="2926080" cy="292608"/>
              </a:xfrm>
              <a:prstGeom prst="rect">
                <a:avLst/>
              </a:prstGeom>
              <a:noFill/>
              <a:ln/>
            </p:spPr>
            <p:txBody>
              <a:bodyPr wrap="square" rtlCol="0" anchor="ctr"/>
              <a:lstStyle/>
              <a:p>
                <a:r>
                  <a:rPr lang="en-US" sz="1267" b="1" dirty="0">
                    <a:solidFill>
                      <a:srgbClr val="FFFFFF"/>
                    </a:solidFill>
                    <a:latin typeface="Calibri" pitchFamily="34" charset="0"/>
                    <a:ea typeface="Calibri" pitchFamily="34" charset="-122"/>
                    <a:cs typeface="Calibri" pitchFamily="34" charset="-120"/>
                  </a:rPr>
                  <a:t>Mar 2026  ·  Meta (expanded)</a:t>
                </a:r>
                <a:endParaRPr lang="en-US" sz="1267" dirty="0"/>
              </a:p>
            </p:txBody>
          </p:sp>
          <p:sp>
            <p:nvSpPr>
              <p:cNvPr id="34" name="Text 32"/>
              <p:cNvSpPr/>
              <p:nvPr/>
            </p:nvSpPr>
            <p:spPr>
              <a:xfrm>
                <a:off x="3718560" y="4876800"/>
                <a:ext cx="2194560" cy="292608"/>
              </a:xfrm>
              <a:prstGeom prst="rect">
                <a:avLst/>
              </a:prstGeom>
              <a:noFill/>
              <a:ln/>
            </p:spPr>
            <p:txBody>
              <a:bodyPr wrap="square" rtlCol="0" anchor="ctr"/>
              <a:lstStyle/>
              <a:p>
                <a:pPr algn="r"/>
                <a:r>
                  <a:rPr lang="en-US" sz="1333" b="1" dirty="0">
                    <a:solidFill>
                      <a:srgbClr val="FFFFFF"/>
                    </a:solidFill>
                    <a:latin typeface="Calibri" pitchFamily="34" charset="0"/>
                    <a:ea typeface="Calibri" pitchFamily="34" charset="-122"/>
                    <a:cs typeface="Calibri" pitchFamily="34" charset="-120"/>
                  </a:rPr>
                  <a:t>$27B (5yr)</a:t>
                </a:r>
                <a:endParaRPr lang="en-US" sz="1333" dirty="0"/>
              </a:p>
            </p:txBody>
          </p:sp>
          <p:sp>
            <p:nvSpPr>
              <p:cNvPr id="35" name="Text 33"/>
              <p:cNvSpPr/>
              <p:nvPr/>
            </p:nvSpPr>
            <p:spPr>
              <a:xfrm>
                <a:off x="597408" y="5291328"/>
                <a:ext cx="5364480" cy="1219200"/>
              </a:xfrm>
              <a:prstGeom prst="rect">
                <a:avLst/>
              </a:prstGeom>
              <a:noFill/>
              <a:ln/>
            </p:spPr>
            <p:txBody>
              <a:bodyPr wrap="square" rtlCol="0" anchor="ctr"/>
              <a:lstStyle/>
              <a:p>
                <a:r>
                  <a:rPr lang="en-US" sz="1600" dirty="0">
                    <a:solidFill>
                      <a:srgbClr val="1E293B"/>
                    </a:solidFill>
                    <a:latin typeface="Calibri" pitchFamily="34" charset="0"/>
                    <a:ea typeface="Calibri" pitchFamily="34" charset="-122"/>
                    <a:cs typeface="Calibri" pitchFamily="34" charset="-120"/>
                  </a:rPr>
                  <a:t>$12B dedicated capacity (NVIDIA Vera Rubin) + up to $15B additional compute rights; starts early 2027</a:t>
                </a:r>
                <a:endParaRPr lang="en-US" sz="1600" dirty="0"/>
              </a:p>
            </p:txBody>
          </p:sp>
          <p:sp>
            <p:nvSpPr>
              <p:cNvPr id="36" name="Shape 34"/>
              <p:cNvSpPr/>
              <p:nvPr/>
            </p:nvSpPr>
            <p:spPr>
              <a:xfrm>
                <a:off x="6278880" y="4828032"/>
                <a:ext cx="5669280" cy="1731264"/>
              </a:xfrm>
              <a:prstGeom prst="rect">
                <a:avLst/>
              </a:prstGeom>
              <a:solidFill>
                <a:srgbClr val="FFFFFF"/>
              </a:solidFill>
              <a:ln w="12700">
                <a:solidFill>
                  <a:srgbClr val="7C3AED"/>
                </a:solidFill>
                <a:prstDash val="solid"/>
              </a:ln>
              <a:effectLst>
                <a:outerShdw blurRad="127000" dist="50800" dir="8100000" algn="bl" rotWithShape="0">
                  <a:srgbClr val="000000">
                    <a:alpha val="18000"/>
                  </a:srgbClr>
                </a:outerShdw>
              </a:effectLst>
            </p:spPr>
          </p:sp>
          <p:sp>
            <p:nvSpPr>
              <p:cNvPr id="37" name="Shape 35"/>
              <p:cNvSpPr/>
              <p:nvPr/>
            </p:nvSpPr>
            <p:spPr>
              <a:xfrm>
                <a:off x="6278880" y="4828032"/>
                <a:ext cx="85344" cy="1731264"/>
              </a:xfrm>
              <a:prstGeom prst="rect">
                <a:avLst/>
              </a:prstGeom>
              <a:solidFill>
                <a:srgbClr val="7C3AED"/>
              </a:solidFill>
              <a:ln w="12700">
                <a:solidFill>
                  <a:srgbClr val="7C3AED"/>
                </a:solidFill>
                <a:prstDash val="solid"/>
              </a:ln>
            </p:spPr>
          </p:sp>
          <p:sp>
            <p:nvSpPr>
              <p:cNvPr id="38" name="Shape 36"/>
              <p:cNvSpPr/>
              <p:nvPr/>
            </p:nvSpPr>
            <p:spPr>
              <a:xfrm>
                <a:off x="6278880" y="4828032"/>
                <a:ext cx="5669280" cy="390144"/>
              </a:xfrm>
              <a:prstGeom prst="rect">
                <a:avLst/>
              </a:prstGeom>
              <a:solidFill>
                <a:srgbClr val="7C3AED"/>
              </a:solidFill>
              <a:ln w="12700">
                <a:solidFill>
                  <a:srgbClr val="7C3AED"/>
                </a:solidFill>
                <a:prstDash val="solid"/>
              </a:ln>
            </p:spPr>
          </p:sp>
          <p:sp>
            <p:nvSpPr>
              <p:cNvPr id="39" name="Text 37"/>
              <p:cNvSpPr/>
              <p:nvPr/>
            </p:nvSpPr>
            <p:spPr>
              <a:xfrm>
                <a:off x="6400800" y="4876800"/>
                <a:ext cx="2926080" cy="292608"/>
              </a:xfrm>
              <a:prstGeom prst="rect">
                <a:avLst/>
              </a:prstGeom>
              <a:noFill/>
              <a:ln/>
            </p:spPr>
            <p:txBody>
              <a:bodyPr wrap="square" rtlCol="0" anchor="ctr"/>
              <a:lstStyle/>
              <a:p>
                <a:r>
                  <a:rPr lang="en-US" sz="1267" b="1" dirty="0">
                    <a:solidFill>
                      <a:srgbClr val="FFFFFF"/>
                    </a:solidFill>
                    <a:latin typeface="Calibri" pitchFamily="34" charset="0"/>
                    <a:ea typeface="Calibri" pitchFamily="34" charset="-122"/>
                    <a:cs typeface="Calibri" pitchFamily="34" charset="-120"/>
                  </a:rPr>
                  <a:t>2026E  ·  Tavily (Acquired)</a:t>
                </a:r>
                <a:endParaRPr lang="en-US" sz="1267" dirty="0"/>
              </a:p>
            </p:txBody>
          </p:sp>
          <p:sp>
            <p:nvSpPr>
              <p:cNvPr id="40" name="Text 38"/>
              <p:cNvSpPr/>
              <p:nvPr/>
            </p:nvSpPr>
            <p:spPr>
              <a:xfrm>
                <a:off x="9570720" y="4876800"/>
                <a:ext cx="2194560" cy="292608"/>
              </a:xfrm>
              <a:prstGeom prst="rect">
                <a:avLst/>
              </a:prstGeom>
              <a:noFill/>
              <a:ln/>
            </p:spPr>
            <p:txBody>
              <a:bodyPr wrap="square" rtlCol="0" anchor="ctr"/>
              <a:lstStyle/>
              <a:p>
                <a:pPr algn="r"/>
                <a:r>
                  <a:rPr lang="en-US" sz="1333" b="1" dirty="0">
                    <a:solidFill>
                      <a:srgbClr val="FFFFFF"/>
                    </a:solidFill>
                    <a:latin typeface="Calibri" pitchFamily="34" charset="0"/>
                    <a:ea typeface="Calibri" pitchFamily="34" charset="-122"/>
                    <a:cs typeface="Calibri" pitchFamily="34" charset="-120"/>
                  </a:rPr>
                  <a:t>M&amp;A</a:t>
                </a:r>
                <a:endParaRPr lang="en-US" sz="1333" dirty="0"/>
              </a:p>
            </p:txBody>
          </p:sp>
          <p:sp>
            <p:nvSpPr>
              <p:cNvPr id="41" name="Text 39"/>
              <p:cNvSpPr/>
              <p:nvPr/>
            </p:nvSpPr>
            <p:spPr>
              <a:xfrm>
                <a:off x="6449568" y="5291328"/>
                <a:ext cx="5364480" cy="1219200"/>
              </a:xfrm>
              <a:prstGeom prst="rect">
                <a:avLst/>
              </a:prstGeom>
              <a:noFill/>
              <a:ln/>
            </p:spPr>
            <p:txBody>
              <a:bodyPr wrap="square" rtlCol="0" anchor="ctr"/>
              <a:lstStyle/>
              <a:p>
                <a:r>
                  <a:rPr lang="en-US" sz="1600" dirty="0">
                    <a:solidFill>
                      <a:srgbClr val="1E293B"/>
                    </a:solidFill>
                    <a:latin typeface="Calibri" pitchFamily="34" charset="0"/>
                    <a:ea typeface="Calibri" pitchFamily="34" charset="-122"/>
                    <a:cs typeface="Calibri" pitchFamily="34" charset="-120"/>
                  </a:rPr>
                  <a:t>Adds agentic search to AI cloud platform; real-time web access integrated with Token Factory high-performance inference</a:t>
                </a:r>
                <a:endParaRPr lang="en-US" sz="1600" dirty="0"/>
              </a:p>
            </p:txBody>
          </p:sp>
        </p:grpSp>
      </p:grpSp>
      <p:grpSp>
        <p:nvGrpSpPr>
          <p:cNvPr id="48" name="Group 47">
            <a:extLst>
              <a:ext uri="{FF2B5EF4-FFF2-40B4-BE49-F238E27FC236}">
                <a16:creationId xmlns:a16="http://schemas.microsoft.com/office/drawing/2014/main" id="{C7381CA3-E6B5-63B3-6CA0-649376811EB4}"/>
              </a:ext>
            </a:extLst>
          </p:cNvPr>
          <p:cNvGrpSpPr/>
          <p:nvPr/>
        </p:nvGrpSpPr>
        <p:grpSpPr>
          <a:xfrm>
            <a:off x="396240" y="6262104"/>
            <a:ext cx="12401935" cy="268224"/>
            <a:chOff x="396240" y="6262104"/>
            <a:chExt cx="12401935" cy="268224"/>
          </a:xfrm>
        </p:grpSpPr>
        <p:sp>
          <p:nvSpPr>
            <p:cNvPr id="42" name="Shape 40"/>
            <p:cNvSpPr/>
            <p:nvPr/>
          </p:nvSpPr>
          <p:spPr>
            <a:xfrm>
              <a:off x="396240" y="6262104"/>
              <a:ext cx="11338560" cy="268224"/>
            </a:xfrm>
            <a:prstGeom prst="rect">
              <a:avLst/>
            </a:prstGeom>
            <a:solidFill>
              <a:srgbClr val="E0F7FA"/>
            </a:solidFill>
            <a:ln w="12700">
              <a:solidFill>
                <a:srgbClr val="00B4D8"/>
              </a:solidFill>
              <a:prstDash val="solid"/>
            </a:ln>
          </p:spPr>
        </p:sp>
        <p:sp>
          <p:nvSpPr>
            <p:cNvPr id="43" name="Text 41"/>
            <p:cNvSpPr/>
            <p:nvPr/>
          </p:nvSpPr>
          <p:spPr>
            <a:xfrm>
              <a:off x="1703455" y="6286488"/>
              <a:ext cx="11094720" cy="243840"/>
            </a:xfrm>
            <a:prstGeom prst="rect">
              <a:avLst/>
            </a:prstGeom>
            <a:noFill/>
            <a:ln/>
          </p:spPr>
          <p:txBody>
            <a:bodyPr wrap="square" rtlCol="0" anchor="ctr"/>
            <a:lstStyle/>
            <a:p>
              <a:r>
                <a:rPr lang="en-US" sz="1067" b="1" dirty="0">
                  <a:solidFill>
                    <a:srgbClr val="0077A8"/>
                  </a:solidFill>
                  <a:latin typeface="Calibri" pitchFamily="34" charset="0"/>
                  <a:ea typeface="Calibri" pitchFamily="34" charset="-122"/>
                  <a:cs typeface="Calibri" pitchFamily="34" charset="-120"/>
                </a:rPr>
                <a:t>CONTRACT BACKLOG SUMMARY: ~$45B+ total backlog (Meta $30B+ · Microsoft ~$17.4B). FY2026 ARR Target: $7–9B. Currently sold out of all available capacity.</a:t>
              </a:r>
              <a:endParaRPr lang="en-US" sz="1067"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293B"/>
          </a:solidFill>
          <a:ln w="12700">
            <a:solidFill>
              <a:srgbClr val="1E293B"/>
            </a:solidFill>
            <a:prstDash val="solid"/>
          </a:ln>
        </p:spPr>
      </p:sp>
      <p:sp>
        <p:nvSpPr>
          <p:cNvPr id="3" name="Shape 1"/>
          <p:cNvSpPr/>
          <p:nvPr/>
        </p:nvSpPr>
        <p:spPr>
          <a:xfrm>
            <a:off x="0" y="0"/>
            <a:ext cx="463296" cy="914400"/>
          </a:xfrm>
          <a:prstGeom prst="rect">
            <a:avLst/>
          </a:prstGeom>
          <a:solidFill>
            <a:srgbClr val="00B4D8"/>
          </a:solidFill>
          <a:ln w="12700">
            <a:solidFill>
              <a:srgbClr val="00B4D8"/>
            </a:solidFill>
            <a:prstDash val="solid"/>
          </a:ln>
        </p:spPr>
      </p:sp>
      <p:sp>
        <p:nvSpPr>
          <p:cNvPr id="4" name="Text 2"/>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5: INFRASTRUCTURE FOOTPRINT &amp; HARDWARE STRATEGY</a:t>
            </a:r>
            <a:endParaRPr lang="en-US" sz="2267" dirty="0"/>
          </a:p>
        </p:txBody>
      </p:sp>
      <p:sp>
        <p:nvSpPr>
          <p:cNvPr id="5" name="Text 3"/>
          <p:cNvSpPr/>
          <p:nvPr/>
        </p:nvSpPr>
        <p:spPr>
          <a:xfrm>
            <a:off x="415281" y="969195"/>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From 75MW (2024) → 1GW connected (2026E) → 2.5GW contracted (end of 2026)</a:t>
            </a:r>
          </a:p>
        </p:txBody>
      </p:sp>
      <p:grpSp>
        <p:nvGrpSpPr>
          <p:cNvPr id="55" name="Group 54">
            <a:extLst>
              <a:ext uri="{FF2B5EF4-FFF2-40B4-BE49-F238E27FC236}">
                <a16:creationId xmlns:a16="http://schemas.microsoft.com/office/drawing/2014/main" id="{1698B5BB-DE9D-8207-9A80-C2636F284D90}"/>
              </a:ext>
            </a:extLst>
          </p:cNvPr>
          <p:cNvGrpSpPr/>
          <p:nvPr/>
        </p:nvGrpSpPr>
        <p:grpSpPr>
          <a:xfrm>
            <a:off x="426720" y="1328928"/>
            <a:ext cx="11521440" cy="1341120"/>
            <a:chOff x="426720" y="1072896"/>
            <a:chExt cx="11521440" cy="1341120"/>
          </a:xfrm>
        </p:grpSpPr>
        <p:sp>
          <p:nvSpPr>
            <p:cNvPr id="6" name="Shape 4"/>
            <p:cNvSpPr/>
            <p:nvPr/>
          </p:nvSpPr>
          <p:spPr>
            <a:xfrm>
              <a:off x="426720"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7" name="Shape 5"/>
            <p:cNvSpPr/>
            <p:nvPr/>
          </p:nvSpPr>
          <p:spPr>
            <a:xfrm>
              <a:off x="426720" y="1072896"/>
              <a:ext cx="1828800" cy="85344"/>
            </a:xfrm>
            <a:prstGeom prst="rect">
              <a:avLst/>
            </a:prstGeom>
            <a:solidFill>
              <a:srgbClr val="00B4D8"/>
            </a:solidFill>
            <a:ln w="12700">
              <a:solidFill>
                <a:srgbClr val="00B4D8"/>
              </a:solidFill>
              <a:prstDash val="solid"/>
            </a:ln>
          </p:spPr>
        </p:sp>
        <p:sp>
          <p:nvSpPr>
            <p:cNvPr id="8" name="Text 6"/>
            <p:cNvSpPr/>
            <p:nvPr/>
          </p:nvSpPr>
          <p:spPr>
            <a:xfrm>
              <a:off x="573024" y="1243584"/>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Finland (Mäntsälä — legacy)</a:t>
              </a:r>
              <a:endParaRPr lang="en-US" sz="1133" dirty="0"/>
            </a:p>
          </p:txBody>
        </p:sp>
        <p:sp>
          <p:nvSpPr>
            <p:cNvPr id="9" name="Text 7"/>
            <p:cNvSpPr/>
            <p:nvPr/>
          </p:nvSpPr>
          <p:spPr>
            <a:xfrm>
              <a:off x="573024" y="1499616"/>
              <a:ext cx="1536192" cy="609600"/>
            </a:xfrm>
            <a:prstGeom prst="rect">
              <a:avLst/>
            </a:prstGeom>
            <a:noFill/>
            <a:ln/>
          </p:spPr>
          <p:txBody>
            <a:bodyPr wrap="square" rtlCol="0" anchor="ctr">
              <a:normAutofit/>
            </a:bodyPr>
            <a:lstStyle/>
            <a:p>
              <a:r>
                <a:rPr lang="en-US" sz="2000" b="1" dirty="0">
                  <a:latin typeface="Calibri" pitchFamily="34" charset="0"/>
                  <a:ea typeface="Calibri" pitchFamily="34" charset="-122"/>
                  <a:cs typeface="Calibri" pitchFamily="34" charset="-120"/>
                </a:rPr>
                <a:t>75 MW</a:t>
              </a:r>
              <a:endParaRPr lang="en-US" sz="2000" dirty="0"/>
            </a:p>
          </p:txBody>
        </p:sp>
        <p:sp>
          <p:nvSpPr>
            <p:cNvPr id="10" name="Text 8"/>
            <p:cNvSpPr/>
            <p:nvPr/>
          </p:nvSpPr>
          <p:spPr>
            <a:xfrm>
              <a:off x="487680" y="2090928"/>
              <a:ext cx="1755648" cy="243840"/>
            </a:xfrm>
            <a:prstGeom prst="rect">
              <a:avLst/>
            </a:prstGeom>
            <a:noFill/>
            <a:ln/>
          </p:spPr>
          <p:txBody>
            <a:bodyPr wrap="square" rtlCol="0" anchor="ctr"/>
            <a:lstStyle/>
            <a:p>
              <a:r>
                <a:rPr lang="en-US" sz="1067" dirty="0">
                  <a:latin typeface="Calibri" pitchFamily="34" charset="0"/>
                  <a:ea typeface="Calibri" pitchFamily="34" charset="-122"/>
                  <a:cs typeface="Calibri" pitchFamily="34" charset="-120"/>
                </a:rPr>
                <a:t>Flagship; 16th most powerful supercomputer</a:t>
              </a:r>
              <a:endParaRPr lang="en-US" sz="1067" dirty="0"/>
            </a:p>
          </p:txBody>
        </p:sp>
        <p:sp>
          <p:nvSpPr>
            <p:cNvPr id="11" name="Shape 9"/>
            <p:cNvSpPr/>
            <p:nvPr/>
          </p:nvSpPr>
          <p:spPr>
            <a:xfrm>
              <a:off x="2365248"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12" name="Shape 10"/>
            <p:cNvSpPr/>
            <p:nvPr/>
          </p:nvSpPr>
          <p:spPr>
            <a:xfrm>
              <a:off x="2365248" y="1072896"/>
              <a:ext cx="1828800" cy="85344"/>
            </a:xfrm>
            <a:prstGeom prst="rect">
              <a:avLst/>
            </a:prstGeom>
            <a:solidFill>
              <a:srgbClr val="0077A8"/>
            </a:solidFill>
            <a:ln w="12700">
              <a:solidFill>
                <a:srgbClr val="0077A8"/>
              </a:solidFill>
              <a:prstDash val="solid"/>
            </a:ln>
          </p:spPr>
        </p:sp>
        <p:sp>
          <p:nvSpPr>
            <p:cNvPr id="13" name="Text 11"/>
            <p:cNvSpPr/>
            <p:nvPr/>
          </p:nvSpPr>
          <p:spPr>
            <a:xfrm>
              <a:off x="2511552" y="1243584"/>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Kansas City, US</a:t>
              </a:r>
              <a:endParaRPr lang="en-US" sz="1133" dirty="0"/>
            </a:p>
          </p:txBody>
        </p:sp>
        <p:sp>
          <p:nvSpPr>
            <p:cNvPr id="14" name="Text 12"/>
            <p:cNvSpPr/>
            <p:nvPr/>
          </p:nvSpPr>
          <p:spPr>
            <a:xfrm>
              <a:off x="2511004" y="1481328"/>
              <a:ext cx="1536192" cy="609600"/>
            </a:xfrm>
            <a:prstGeom prst="rect">
              <a:avLst/>
            </a:prstGeom>
            <a:noFill/>
            <a:ln/>
          </p:spPr>
          <p:txBody>
            <a:bodyPr wrap="square" rtlCol="0" anchor="ctr">
              <a:normAutofit/>
            </a:bodyPr>
            <a:lstStyle/>
            <a:p>
              <a:r>
                <a:rPr lang="en-US" sz="2000" b="1" dirty="0">
                  <a:latin typeface="Calibri" pitchFamily="34" charset="0"/>
                  <a:ea typeface="Calibri" pitchFamily="34" charset="-122"/>
                  <a:cs typeface="Calibri" pitchFamily="34" charset="-120"/>
                </a:rPr>
                <a:t>300 MW</a:t>
              </a:r>
              <a:endParaRPr lang="en-US" sz="2000" dirty="0"/>
            </a:p>
          </p:txBody>
        </p:sp>
        <p:sp>
          <p:nvSpPr>
            <p:cNvPr id="15" name="Text 13"/>
            <p:cNvSpPr/>
            <p:nvPr/>
          </p:nvSpPr>
          <p:spPr>
            <a:xfrm>
              <a:off x="2511004" y="2055653"/>
              <a:ext cx="1536192" cy="292608"/>
            </a:xfrm>
            <a:prstGeom prst="rect">
              <a:avLst/>
            </a:prstGeom>
            <a:noFill/>
            <a:ln/>
          </p:spPr>
          <p:txBody>
            <a:bodyPr wrap="square" rtlCol="0" anchor="ctr"/>
            <a:lstStyle/>
            <a:p>
              <a:r>
                <a:rPr lang="en-US" sz="1067" dirty="0">
                  <a:latin typeface="Calibri" pitchFamily="34" charset="0"/>
                  <a:ea typeface="Calibri" pitchFamily="34" charset="-122"/>
                  <a:cs typeface="Calibri" pitchFamily="34" charset="-120"/>
                </a:rPr>
                <a:t>Phase 1 live Q1 2025; expandable to 300MW+</a:t>
              </a:r>
              <a:endParaRPr lang="en-US" sz="1067" dirty="0"/>
            </a:p>
          </p:txBody>
        </p:sp>
        <p:sp>
          <p:nvSpPr>
            <p:cNvPr id="16" name="Shape 14"/>
            <p:cNvSpPr/>
            <p:nvPr/>
          </p:nvSpPr>
          <p:spPr>
            <a:xfrm>
              <a:off x="4303776"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17" name="Shape 15"/>
            <p:cNvSpPr/>
            <p:nvPr/>
          </p:nvSpPr>
          <p:spPr>
            <a:xfrm>
              <a:off x="4303776" y="1072896"/>
              <a:ext cx="1828800" cy="85344"/>
            </a:xfrm>
            <a:prstGeom prst="rect">
              <a:avLst/>
            </a:prstGeom>
            <a:solidFill>
              <a:srgbClr val="0077A8"/>
            </a:solidFill>
            <a:ln w="12700">
              <a:solidFill>
                <a:srgbClr val="0077A8"/>
              </a:solidFill>
              <a:prstDash val="solid"/>
            </a:ln>
          </p:spPr>
        </p:sp>
        <p:sp>
          <p:nvSpPr>
            <p:cNvPr id="18" name="Text 16"/>
            <p:cNvSpPr/>
            <p:nvPr/>
          </p:nvSpPr>
          <p:spPr>
            <a:xfrm>
              <a:off x="4450080" y="1243584"/>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New Jersey (DataOne)</a:t>
              </a:r>
              <a:endParaRPr lang="en-US" sz="1133" dirty="0"/>
            </a:p>
          </p:txBody>
        </p:sp>
        <p:sp>
          <p:nvSpPr>
            <p:cNvPr id="19" name="Text 17"/>
            <p:cNvSpPr/>
            <p:nvPr/>
          </p:nvSpPr>
          <p:spPr>
            <a:xfrm>
              <a:off x="4523232" y="1499616"/>
              <a:ext cx="1536192" cy="609600"/>
            </a:xfrm>
            <a:prstGeom prst="rect">
              <a:avLst/>
            </a:prstGeom>
            <a:noFill/>
            <a:ln/>
          </p:spPr>
          <p:txBody>
            <a:bodyPr wrap="square" rtlCol="0" anchor="ctr">
              <a:normAutofit/>
            </a:bodyPr>
            <a:lstStyle/>
            <a:p>
              <a:r>
                <a:rPr lang="en-US" sz="2000" b="1" dirty="0">
                  <a:latin typeface="Calibri" pitchFamily="34" charset="0"/>
                  <a:ea typeface="Calibri" pitchFamily="34" charset="-122"/>
                  <a:cs typeface="Calibri" pitchFamily="34" charset="-120"/>
                </a:rPr>
                <a:t>300 MW</a:t>
              </a:r>
              <a:endParaRPr lang="en-US" sz="2000" dirty="0"/>
            </a:p>
          </p:txBody>
        </p:sp>
        <p:sp>
          <p:nvSpPr>
            <p:cNvPr id="20" name="Text 18"/>
            <p:cNvSpPr/>
            <p:nvPr/>
          </p:nvSpPr>
          <p:spPr>
            <a:xfrm>
              <a:off x="4450080" y="2084832"/>
              <a:ext cx="1536192" cy="292608"/>
            </a:xfrm>
            <a:prstGeom prst="rect">
              <a:avLst/>
            </a:prstGeom>
            <a:noFill/>
            <a:ln/>
          </p:spPr>
          <p:txBody>
            <a:bodyPr wrap="square" rtlCol="0" anchor="ctr"/>
            <a:lstStyle/>
            <a:p>
              <a:r>
                <a:rPr lang="en-US" sz="1067" dirty="0">
                  <a:latin typeface="Calibri" pitchFamily="34" charset="0"/>
                  <a:ea typeface="Calibri" pitchFamily="34" charset="-122"/>
                  <a:cs typeface="Calibri" pitchFamily="34" charset="-120"/>
                </a:rPr>
                <a:t>Large US facility; online mid-2025</a:t>
              </a:r>
              <a:endParaRPr lang="en-US" sz="1067" dirty="0"/>
            </a:p>
          </p:txBody>
        </p:sp>
        <p:sp>
          <p:nvSpPr>
            <p:cNvPr id="21" name="Shape 19"/>
            <p:cNvSpPr/>
            <p:nvPr/>
          </p:nvSpPr>
          <p:spPr>
            <a:xfrm>
              <a:off x="6242304"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22" name="Shape 20"/>
            <p:cNvSpPr/>
            <p:nvPr/>
          </p:nvSpPr>
          <p:spPr>
            <a:xfrm>
              <a:off x="6242304" y="1072896"/>
              <a:ext cx="1828800" cy="85344"/>
            </a:xfrm>
            <a:prstGeom prst="rect">
              <a:avLst/>
            </a:prstGeom>
            <a:solidFill>
              <a:srgbClr val="7C3AED"/>
            </a:solidFill>
            <a:ln w="12700">
              <a:solidFill>
                <a:srgbClr val="7C3AED"/>
              </a:solidFill>
              <a:prstDash val="solid"/>
            </a:ln>
          </p:spPr>
        </p:sp>
        <p:sp>
          <p:nvSpPr>
            <p:cNvPr id="23" name="Text 21"/>
            <p:cNvSpPr/>
            <p:nvPr/>
          </p:nvSpPr>
          <p:spPr>
            <a:xfrm>
              <a:off x="6388608" y="1243584"/>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Paris, France (Equinix)</a:t>
              </a:r>
              <a:endParaRPr lang="en-US" sz="1133" dirty="0"/>
            </a:p>
          </p:txBody>
        </p:sp>
        <p:sp>
          <p:nvSpPr>
            <p:cNvPr id="24" name="Text 22"/>
            <p:cNvSpPr/>
            <p:nvPr/>
          </p:nvSpPr>
          <p:spPr>
            <a:xfrm>
              <a:off x="6388608" y="1458656"/>
              <a:ext cx="1536192" cy="609600"/>
            </a:xfrm>
            <a:prstGeom prst="rect">
              <a:avLst/>
            </a:prstGeom>
            <a:noFill/>
            <a:ln/>
          </p:spPr>
          <p:txBody>
            <a:bodyPr wrap="square" rtlCol="0" anchor="ctr">
              <a:normAutofit/>
            </a:bodyPr>
            <a:lstStyle/>
            <a:p>
              <a:r>
                <a:rPr lang="en-US" sz="2000" b="1" dirty="0">
                  <a:latin typeface="Calibri" pitchFamily="34" charset="0"/>
                  <a:ea typeface="Calibri" pitchFamily="34" charset="-122"/>
                  <a:cs typeface="Calibri" pitchFamily="34" charset="-120"/>
                </a:rPr>
                <a:t>Active</a:t>
              </a:r>
              <a:endParaRPr lang="en-US" sz="2000" dirty="0"/>
            </a:p>
          </p:txBody>
        </p:sp>
        <p:sp>
          <p:nvSpPr>
            <p:cNvPr id="25" name="Text 23"/>
            <p:cNvSpPr/>
            <p:nvPr/>
          </p:nvSpPr>
          <p:spPr>
            <a:xfrm>
              <a:off x="6388608" y="2054352"/>
              <a:ext cx="1536192" cy="292608"/>
            </a:xfrm>
            <a:prstGeom prst="rect">
              <a:avLst/>
            </a:prstGeom>
            <a:noFill/>
            <a:ln/>
          </p:spPr>
          <p:txBody>
            <a:bodyPr wrap="square" rtlCol="0" anchor="ctr"/>
            <a:lstStyle/>
            <a:p>
              <a:r>
                <a:rPr lang="en-US" sz="1067" dirty="0">
                  <a:latin typeface="Calibri" pitchFamily="34" charset="0"/>
                  <a:ea typeface="Calibri" pitchFamily="34" charset="-122"/>
                  <a:cs typeface="Calibri" pitchFamily="34" charset="-120"/>
                </a:rPr>
                <a:t>NVIDIA H200 cluster live Nov 2024</a:t>
              </a:r>
              <a:endParaRPr lang="en-US" sz="1067" dirty="0"/>
            </a:p>
          </p:txBody>
        </p:sp>
        <p:sp>
          <p:nvSpPr>
            <p:cNvPr id="26" name="Shape 24"/>
            <p:cNvSpPr/>
            <p:nvPr/>
          </p:nvSpPr>
          <p:spPr>
            <a:xfrm>
              <a:off x="8180832"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27" name="Shape 25"/>
            <p:cNvSpPr/>
            <p:nvPr/>
          </p:nvSpPr>
          <p:spPr>
            <a:xfrm>
              <a:off x="8180832" y="1072896"/>
              <a:ext cx="1828800" cy="85344"/>
            </a:xfrm>
            <a:prstGeom prst="rect">
              <a:avLst/>
            </a:prstGeom>
            <a:solidFill>
              <a:srgbClr val="22C55E"/>
            </a:solidFill>
            <a:ln w="12700">
              <a:solidFill>
                <a:srgbClr val="22C55E"/>
              </a:solidFill>
              <a:prstDash val="solid"/>
            </a:ln>
          </p:spPr>
        </p:sp>
        <p:sp>
          <p:nvSpPr>
            <p:cNvPr id="28" name="Text 26"/>
            <p:cNvSpPr/>
            <p:nvPr/>
          </p:nvSpPr>
          <p:spPr>
            <a:xfrm>
              <a:off x="8327136" y="1243584"/>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Iceland Colocation</a:t>
              </a:r>
              <a:endParaRPr lang="en-US" sz="1133" dirty="0"/>
            </a:p>
          </p:txBody>
        </p:sp>
        <p:sp>
          <p:nvSpPr>
            <p:cNvPr id="29" name="Text 27"/>
            <p:cNvSpPr/>
            <p:nvPr/>
          </p:nvSpPr>
          <p:spPr>
            <a:xfrm>
              <a:off x="8436864" y="1425916"/>
              <a:ext cx="1536192" cy="609600"/>
            </a:xfrm>
            <a:prstGeom prst="rect">
              <a:avLst/>
            </a:prstGeom>
            <a:noFill/>
            <a:ln/>
          </p:spPr>
          <p:txBody>
            <a:bodyPr wrap="square" rtlCol="0" anchor="ctr">
              <a:normAutofit/>
            </a:bodyPr>
            <a:lstStyle/>
            <a:p>
              <a:r>
                <a:rPr lang="en-US" sz="2000" b="1" dirty="0">
                  <a:latin typeface="Calibri" pitchFamily="34" charset="0"/>
                  <a:ea typeface="Calibri" pitchFamily="34" charset="-122"/>
                  <a:cs typeface="Calibri" pitchFamily="34" charset="-120"/>
                </a:rPr>
                <a:t>Active</a:t>
              </a:r>
              <a:endParaRPr lang="en-US" sz="2000" dirty="0"/>
            </a:p>
          </p:txBody>
        </p:sp>
        <p:sp>
          <p:nvSpPr>
            <p:cNvPr id="30" name="Text 28"/>
            <p:cNvSpPr/>
            <p:nvPr/>
          </p:nvSpPr>
          <p:spPr>
            <a:xfrm>
              <a:off x="8327136" y="2077777"/>
              <a:ext cx="1536192" cy="292608"/>
            </a:xfrm>
            <a:prstGeom prst="rect">
              <a:avLst/>
            </a:prstGeom>
            <a:noFill/>
            <a:ln/>
          </p:spPr>
          <p:txBody>
            <a:bodyPr wrap="square" rtlCol="0" anchor="ctr"/>
            <a:lstStyle/>
            <a:p>
              <a:r>
                <a:rPr lang="en-US" sz="1067" dirty="0">
                  <a:latin typeface="Calibri" pitchFamily="34" charset="0"/>
                  <a:ea typeface="Calibri" pitchFamily="34" charset="-122"/>
                  <a:cs typeface="Calibri" pitchFamily="34" charset="-120"/>
                </a:rPr>
                <a:t>Additional EU presence</a:t>
              </a:r>
              <a:endParaRPr lang="en-US" sz="1067" dirty="0"/>
            </a:p>
          </p:txBody>
        </p:sp>
        <p:sp>
          <p:nvSpPr>
            <p:cNvPr id="31" name="Shape 29"/>
            <p:cNvSpPr/>
            <p:nvPr/>
          </p:nvSpPr>
          <p:spPr>
            <a:xfrm>
              <a:off x="10119360" y="1072896"/>
              <a:ext cx="1828800" cy="134112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32" name="Shape 30"/>
            <p:cNvSpPr/>
            <p:nvPr/>
          </p:nvSpPr>
          <p:spPr>
            <a:xfrm>
              <a:off x="10119360" y="1072896"/>
              <a:ext cx="1828800" cy="85344"/>
            </a:xfrm>
            <a:prstGeom prst="rect">
              <a:avLst/>
            </a:prstGeom>
            <a:solidFill>
              <a:srgbClr val="F59E0B"/>
            </a:solidFill>
            <a:ln w="12700">
              <a:solidFill>
                <a:srgbClr val="F59E0B"/>
              </a:solidFill>
              <a:prstDash val="solid"/>
            </a:ln>
          </p:spPr>
        </p:sp>
        <p:sp>
          <p:nvSpPr>
            <p:cNvPr id="33" name="Text 31"/>
            <p:cNvSpPr/>
            <p:nvPr/>
          </p:nvSpPr>
          <p:spPr>
            <a:xfrm>
              <a:off x="10265664" y="1243584"/>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Lappeenranta, Finland (NEW)</a:t>
              </a:r>
              <a:endParaRPr lang="en-US" sz="1133" dirty="0"/>
            </a:p>
          </p:txBody>
        </p:sp>
        <p:sp>
          <p:nvSpPr>
            <p:cNvPr id="34" name="Text 32"/>
            <p:cNvSpPr/>
            <p:nvPr/>
          </p:nvSpPr>
          <p:spPr>
            <a:xfrm>
              <a:off x="10265664" y="1499616"/>
              <a:ext cx="1536192" cy="609600"/>
            </a:xfrm>
            <a:prstGeom prst="rect">
              <a:avLst/>
            </a:prstGeom>
            <a:noFill/>
            <a:ln/>
          </p:spPr>
          <p:txBody>
            <a:bodyPr wrap="square" rtlCol="0" anchor="ctr">
              <a:normAutofit/>
            </a:bodyPr>
            <a:lstStyle/>
            <a:p>
              <a:r>
                <a:rPr lang="en-US" sz="2000" b="1" dirty="0">
                  <a:latin typeface="Calibri" pitchFamily="34" charset="0"/>
                  <a:ea typeface="Calibri" pitchFamily="34" charset="-122"/>
                  <a:cs typeface="Calibri" pitchFamily="34" charset="-120"/>
                </a:rPr>
                <a:t>310 MW</a:t>
              </a:r>
              <a:endParaRPr lang="en-US" sz="2000" dirty="0"/>
            </a:p>
          </p:txBody>
        </p:sp>
        <p:sp>
          <p:nvSpPr>
            <p:cNvPr id="35" name="Text 33"/>
            <p:cNvSpPr/>
            <p:nvPr/>
          </p:nvSpPr>
          <p:spPr>
            <a:xfrm>
              <a:off x="10229088" y="2076202"/>
              <a:ext cx="1536192" cy="292608"/>
            </a:xfrm>
            <a:prstGeom prst="rect">
              <a:avLst/>
            </a:prstGeom>
            <a:noFill/>
            <a:ln/>
          </p:spPr>
          <p:txBody>
            <a:bodyPr wrap="square" rtlCol="0" anchor="ctr"/>
            <a:lstStyle/>
            <a:p>
              <a:r>
                <a:rPr lang="en-US" sz="1067" dirty="0">
                  <a:latin typeface="Calibri" pitchFamily="34" charset="0"/>
                  <a:ea typeface="Calibri" pitchFamily="34" charset="-122"/>
                  <a:cs typeface="Calibri" pitchFamily="34" charset="-120"/>
                </a:rPr>
                <a:t>$10B AI Factory; phases from late 2026</a:t>
              </a:r>
              <a:endParaRPr lang="en-US" sz="1067" dirty="0"/>
            </a:p>
          </p:txBody>
        </p:sp>
      </p:grpSp>
      <p:sp>
        <p:nvSpPr>
          <p:cNvPr id="36" name="Text 34"/>
          <p:cNvSpPr/>
          <p:nvPr/>
        </p:nvSpPr>
        <p:spPr>
          <a:xfrm>
            <a:off x="406377" y="2761488"/>
            <a:ext cx="6096000" cy="341376"/>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NVIDIA GPU Hardware Roadmap — Nebius Access</a:t>
            </a:r>
            <a:endParaRPr lang="en-US" sz="1467" dirty="0"/>
          </a:p>
        </p:txBody>
      </p:sp>
      <p:graphicFrame>
        <p:nvGraphicFramePr>
          <p:cNvPr id="37" name="Table 0"/>
          <p:cNvGraphicFramePr>
            <a:graphicFrameLocks noGrp="1"/>
          </p:cNvGraphicFramePr>
          <p:nvPr>
            <p:extLst>
              <p:ext uri="{D42A27DB-BD31-4B8C-83A1-F6EECF244321}">
                <p14:modId xmlns:p14="http://schemas.microsoft.com/office/powerpoint/2010/main" val="931362029"/>
              </p:ext>
            </p:extLst>
          </p:nvPr>
        </p:nvGraphicFramePr>
        <p:xfrm>
          <a:off x="457200" y="3094713"/>
          <a:ext cx="11399520" cy="2255520"/>
        </p:xfrm>
        <a:graphic>
          <a:graphicData uri="http://schemas.openxmlformats.org/drawingml/2006/table">
            <a:tbl>
              <a:tblPr/>
              <a:tblGrid>
                <a:gridCol w="2682240">
                  <a:extLst>
                    <a:ext uri="{9D8B030D-6E8A-4147-A177-3AD203B41FA5}">
                      <a16:colId xmlns:a16="http://schemas.microsoft.com/office/drawing/2014/main" val="20000"/>
                    </a:ext>
                  </a:extLst>
                </a:gridCol>
                <a:gridCol w="1158240">
                  <a:extLst>
                    <a:ext uri="{9D8B030D-6E8A-4147-A177-3AD203B41FA5}">
                      <a16:colId xmlns:a16="http://schemas.microsoft.com/office/drawing/2014/main" val="20001"/>
                    </a:ext>
                  </a:extLst>
                </a:gridCol>
                <a:gridCol w="66446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451104">
                <a:tc>
                  <a:txBody>
                    <a:bodyPr/>
                    <a:lstStyle/>
                    <a:p>
                      <a:pPr marL="0" indent="0">
                        <a:buNone/>
                      </a:pPr>
                      <a:r>
                        <a:rPr lang="en-US" sz="1600" b="1" dirty="0">
                          <a:solidFill>
                            <a:srgbClr val="FFFFFF"/>
                          </a:solidFill>
                        </a:rPr>
                        <a:t>Generation</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600" b="1" dirty="0">
                          <a:solidFill>
                            <a:srgbClr val="FFFFFF"/>
                          </a:solidFill>
                        </a:rPr>
                        <a:t>Timeline</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600" b="1" dirty="0">
                          <a:solidFill>
                            <a:srgbClr val="FFFFFF"/>
                          </a:solidFill>
                        </a:rPr>
                        <a:t>Deployment Detail</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600" b="1" dirty="0">
                          <a:solidFill>
                            <a:srgbClr val="FFFFFF"/>
                          </a:solidFill>
                        </a:rPr>
                        <a:t>Status</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51104">
                <a:tc>
                  <a:txBody>
                    <a:bodyPr/>
                    <a:lstStyle/>
                    <a:p>
                      <a:pPr marL="0" indent="0">
                        <a:buNone/>
                      </a:pPr>
                      <a:r>
                        <a:rPr lang="en-US" sz="1200" b="1" dirty="0">
                          <a:solidFill>
                            <a:srgbClr val="0077A8"/>
                          </a:solidFill>
                        </a:rPr>
                        <a:t>Hopper (H100/H200)</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2023–2024</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Initial cluster deployments; Finland &amp; Paris; doubled QoQ by end Q4 2024</a:t>
                      </a:r>
                      <a:endParaRPr lang="en-US" sz="11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kern="1200" dirty="0">
                          <a:solidFill>
                            <a:srgbClr val="00B4D8"/>
                          </a:solidFill>
                          <a:latin typeface="+mn-lt"/>
                          <a:ea typeface="+mn-ea"/>
                          <a:cs typeface="+mn-cs"/>
                        </a:rPr>
                        <a:t>Deployed</a:t>
                      </a:r>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1104">
                <a:tc>
                  <a:txBody>
                    <a:bodyPr/>
                    <a:lstStyle/>
                    <a:p>
                      <a:pPr marL="0" indent="0">
                        <a:buNone/>
                      </a:pPr>
                      <a:r>
                        <a:rPr lang="en-US" sz="1200" b="1" dirty="0">
                          <a:solidFill>
                            <a:srgbClr val="0077A8"/>
                          </a:solidFill>
                        </a:rPr>
                        <a:t>Blackwell (B200/GB200 NVL72)</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200" dirty="0">
                          <a:solidFill>
                            <a:srgbClr val="1E293B"/>
                          </a:solidFill>
                        </a:rPr>
                        <a:t>2025</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22,000+ units deployed; US &amp; Finland; MLPerf benchmark leader; NVLink5 scale-up fabric</a:t>
                      </a:r>
                      <a:endParaRPr lang="en-US" sz="11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200" b="1" dirty="0">
                          <a:solidFill>
                            <a:srgbClr val="00B4D8"/>
                          </a:solidFill>
                        </a:rPr>
                        <a:t>Deployed</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extLst>
                  <a:ext uri="{0D108BD9-81ED-4DB2-BD59-A6C34878D82A}">
                    <a16:rowId xmlns:a16="http://schemas.microsoft.com/office/drawing/2014/main" val="10002"/>
                  </a:ext>
                </a:extLst>
              </a:tr>
              <a:tr h="451104">
                <a:tc>
                  <a:txBody>
                    <a:bodyPr/>
                    <a:lstStyle/>
                    <a:p>
                      <a:pPr marL="0" indent="0">
                        <a:buNone/>
                      </a:pPr>
                      <a:r>
                        <a:rPr lang="en-US" sz="1200" b="1" dirty="0">
                          <a:solidFill>
                            <a:srgbClr val="0077A8"/>
                          </a:solidFill>
                        </a:rPr>
                        <a:t>Blackwell Ultra</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2025–2026</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London launch (first Blackwell Ultra cluster in UK); Token Factory optimized for Blackwell Ultra inference</a:t>
                      </a:r>
                      <a:endParaRPr lang="en-US" sz="11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kern="1200" dirty="0">
                          <a:solidFill>
                            <a:srgbClr val="F59E0B"/>
                          </a:solidFill>
                          <a:latin typeface="+mn-lt"/>
                          <a:ea typeface="+mn-ea"/>
                          <a:cs typeface="+mn-cs"/>
                        </a:rPr>
                        <a:t>Deploying</a:t>
                      </a:r>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1104">
                <a:tc>
                  <a:txBody>
                    <a:bodyPr/>
                    <a:lstStyle/>
                    <a:p>
                      <a:pPr marL="0" indent="0">
                        <a:buNone/>
                      </a:pPr>
                      <a:r>
                        <a:rPr lang="en-US" sz="1200" b="1" dirty="0">
                          <a:solidFill>
                            <a:srgbClr val="0077A8"/>
                          </a:solidFill>
                        </a:rPr>
                        <a:t>Vera Rubin NVL72</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200" dirty="0">
                          <a:solidFill>
                            <a:srgbClr val="1E293B"/>
                          </a:solidFill>
                        </a:rPr>
                        <a:t>H2 2026</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100" dirty="0">
                          <a:solidFill>
                            <a:srgbClr val="1E293B"/>
                          </a:solidFill>
                        </a:rPr>
                        <a:t>First large-scale deployment for Meta $12B contract; early NVIDIA partner; orders placed Jan 2026</a:t>
                      </a:r>
                      <a:endParaRPr lang="en-US" sz="11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tc>
                  <a:txBody>
                    <a:bodyPr/>
                    <a:lstStyle/>
                    <a:p>
                      <a:pPr marL="0" indent="0">
                        <a:buNone/>
                      </a:pPr>
                      <a:r>
                        <a:rPr lang="en-US" sz="1200" b="1" dirty="0">
                          <a:solidFill>
                            <a:srgbClr val="F59E0B"/>
                          </a:solidFill>
                        </a:rPr>
                        <a:t>Ordered</a:t>
                      </a:r>
                      <a:endParaRPr lang="en-US" sz="12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7FA"/>
                    </a:solidFill>
                  </a:tcPr>
                </a:tc>
                <a:extLst>
                  <a:ext uri="{0D108BD9-81ED-4DB2-BD59-A6C34878D82A}">
                    <a16:rowId xmlns:a16="http://schemas.microsoft.com/office/drawing/2014/main" val="10004"/>
                  </a:ext>
                </a:extLst>
              </a:tr>
            </a:tbl>
          </a:graphicData>
        </a:graphic>
      </p:graphicFrame>
      <p:sp>
        <p:nvSpPr>
          <p:cNvPr id="38" name="Text 35"/>
          <p:cNvSpPr/>
          <p:nvPr/>
        </p:nvSpPr>
        <p:spPr>
          <a:xfrm>
            <a:off x="487680" y="5388864"/>
            <a:ext cx="6096000" cy="341376"/>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Energy Strategy — The Hidden Moat</a:t>
            </a:r>
            <a:endParaRPr lang="en-US" sz="1467" dirty="0"/>
          </a:p>
        </p:txBody>
      </p:sp>
      <p:sp>
        <p:nvSpPr>
          <p:cNvPr id="39" name="Shape 36"/>
          <p:cNvSpPr/>
          <p:nvPr/>
        </p:nvSpPr>
        <p:spPr>
          <a:xfrm>
            <a:off x="426720" y="5766816"/>
            <a:ext cx="2779776" cy="999744"/>
          </a:xfrm>
          <a:prstGeom prst="rect">
            <a:avLst/>
          </a:prstGeom>
          <a:solidFill>
            <a:srgbClr val="FFFFFF"/>
          </a:solidFill>
          <a:ln w="12700">
            <a:solidFill>
              <a:srgbClr val="22C55E"/>
            </a:solidFill>
            <a:prstDash val="solid"/>
          </a:ln>
          <a:effectLst>
            <a:outerShdw blurRad="127000" dist="50800" dir="8100000" algn="bl" rotWithShape="0">
              <a:srgbClr val="000000">
                <a:alpha val="18000"/>
              </a:srgbClr>
            </a:outerShdw>
          </a:effectLst>
        </p:spPr>
      </p:sp>
      <p:sp>
        <p:nvSpPr>
          <p:cNvPr id="40" name="Shape 37"/>
          <p:cNvSpPr/>
          <p:nvPr/>
        </p:nvSpPr>
        <p:spPr>
          <a:xfrm>
            <a:off x="426720" y="5766816"/>
            <a:ext cx="2779776" cy="73152"/>
          </a:xfrm>
          <a:prstGeom prst="rect">
            <a:avLst/>
          </a:prstGeom>
          <a:solidFill>
            <a:srgbClr val="22C55E"/>
          </a:solidFill>
          <a:ln w="12700">
            <a:solidFill>
              <a:srgbClr val="22C55E"/>
            </a:solidFill>
            <a:prstDash val="solid"/>
          </a:ln>
        </p:spPr>
      </p:sp>
      <p:sp>
        <p:nvSpPr>
          <p:cNvPr id="41" name="Text 38"/>
          <p:cNvSpPr/>
          <p:nvPr/>
        </p:nvSpPr>
        <p:spPr>
          <a:xfrm>
            <a:off x="573024" y="5852160"/>
            <a:ext cx="2560320" cy="316992"/>
          </a:xfrm>
          <a:prstGeom prst="rect">
            <a:avLst/>
          </a:prstGeom>
          <a:noFill/>
          <a:ln/>
        </p:spPr>
        <p:txBody>
          <a:bodyPr wrap="square" rtlCol="0" anchor="ctr"/>
          <a:lstStyle/>
          <a:p>
            <a:r>
              <a:rPr lang="en-US" sz="1133" b="1" dirty="0">
                <a:solidFill>
                  <a:srgbClr val="1E293B"/>
                </a:solidFill>
                <a:latin typeface="Calibri" pitchFamily="34" charset="0"/>
                <a:ea typeface="Calibri" pitchFamily="34" charset="-122"/>
                <a:cs typeface="Calibri" pitchFamily="34" charset="-120"/>
              </a:rPr>
              <a:t>Finland: Hydro + Nuclear</a:t>
            </a:r>
            <a:endParaRPr lang="en-US" sz="1133" dirty="0"/>
          </a:p>
        </p:txBody>
      </p:sp>
      <p:sp>
        <p:nvSpPr>
          <p:cNvPr id="42" name="Text 39"/>
          <p:cNvSpPr/>
          <p:nvPr/>
        </p:nvSpPr>
        <p:spPr>
          <a:xfrm>
            <a:off x="573024" y="6156960"/>
            <a:ext cx="2560320" cy="573024"/>
          </a:xfrm>
          <a:prstGeom prst="rect">
            <a:avLst/>
          </a:prstGeom>
          <a:noFill/>
          <a:ln/>
        </p:spPr>
        <p:txBody>
          <a:bodyPr wrap="square" rtlCol="0" anchor="ctr"/>
          <a:lstStyle/>
          <a:p>
            <a:r>
              <a:rPr lang="en-US" sz="1000" dirty="0">
                <a:solidFill>
                  <a:srgbClr val="1E293B"/>
                </a:solidFill>
                <a:latin typeface="Calibri" pitchFamily="34" charset="0"/>
                <a:ea typeface="Calibri" pitchFamily="34" charset="-122"/>
                <a:cs typeface="Calibri" pitchFamily="34" charset="-120"/>
              </a:rPr>
              <a:t>Low PUE, low cost, renewable. Finland's grid is one of Europe's greenest. Nebius' legacy DC is energy-efficient by design — 2022 vintage architecture.</a:t>
            </a:r>
            <a:endParaRPr lang="en-US" sz="1000" dirty="0"/>
          </a:p>
        </p:txBody>
      </p:sp>
      <p:sp>
        <p:nvSpPr>
          <p:cNvPr id="43" name="Shape 40"/>
          <p:cNvSpPr/>
          <p:nvPr/>
        </p:nvSpPr>
        <p:spPr>
          <a:xfrm>
            <a:off x="3377184" y="5766816"/>
            <a:ext cx="2779776" cy="999744"/>
          </a:xfrm>
          <a:prstGeom prst="rect">
            <a:avLst/>
          </a:prstGeom>
          <a:solidFill>
            <a:srgbClr val="FFFFFF"/>
          </a:solidFill>
          <a:ln w="12700">
            <a:solidFill>
              <a:srgbClr val="00B4D8"/>
            </a:solidFill>
            <a:prstDash val="solid"/>
          </a:ln>
          <a:effectLst>
            <a:outerShdw blurRad="127000" dist="50800" dir="8100000" algn="bl" rotWithShape="0">
              <a:srgbClr val="000000">
                <a:alpha val="18000"/>
              </a:srgbClr>
            </a:outerShdw>
          </a:effectLst>
        </p:spPr>
      </p:sp>
      <p:sp>
        <p:nvSpPr>
          <p:cNvPr id="44" name="Shape 41"/>
          <p:cNvSpPr/>
          <p:nvPr/>
        </p:nvSpPr>
        <p:spPr>
          <a:xfrm>
            <a:off x="3377184" y="5766816"/>
            <a:ext cx="2779776" cy="73152"/>
          </a:xfrm>
          <a:prstGeom prst="rect">
            <a:avLst/>
          </a:prstGeom>
          <a:solidFill>
            <a:srgbClr val="00B4D8"/>
          </a:solidFill>
          <a:ln w="12700">
            <a:solidFill>
              <a:srgbClr val="00B4D8"/>
            </a:solidFill>
            <a:prstDash val="solid"/>
          </a:ln>
        </p:spPr>
      </p:sp>
      <p:sp>
        <p:nvSpPr>
          <p:cNvPr id="45" name="Text 42"/>
          <p:cNvSpPr/>
          <p:nvPr/>
        </p:nvSpPr>
        <p:spPr>
          <a:xfrm>
            <a:off x="3523488" y="5852160"/>
            <a:ext cx="2560320" cy="316992"/>
          </a:xfrm>
          <a:prstGeom prst="rect">
            <a:avLst/>
          </a:prstGeom>
          <a:noFill/>
          <a:ln/>
        </p:spPr>
        <p:txBody>
          <a:bodyPr wrap="square" rtlCol="0" anchor="ctr"/>
          <a:lstStyle/>
          <a:p>
            <a:r>
              <a:rPr lang="en-US" sz="1133" b="1" dirty="0">
                <a:solidFill>
                  <a:srgbClr val="1E293B"/>
                </a:solidFill>
                <a:latin typeface="Calibri" pitchFamily="34" charset="0"/>
                <a:ea typeface="Calibri" pitchFamily="34" charset="-122"/>
                <a:cs typeface="Calibri" pitchFamily="34" charset="-120"/>
              </a:rPr>
              <a:t>2.5 GW Contracted by End 2026</a:t>
            </a:r>
            <a:endParaRPr lang="en-US" sz="1133" dirty="0"/>
          </a:p>
        </p:txBody>
      </p:sp>
      <p:sp>
        <p:nvSpPr>
          <p:cNvPr id="46" name="Text 43"/>
          <p:cNvSpPr/>
          <p:nvPr/>
        </p:nvSpPr>
        <p:spPr>
          <a:xfrm>
            <a:off x="3461980" y="6156960"/>
            <a:ext cx="2560320" cy="573024"/>
          </a:xfrm>
          <a:prstGeom prst="rect">
            <a:avLst/>
          </a:prstGeom>
          <a:noFill/>
          <a:ln/>
        </p:spPr>
        <p:txBody>
          <a:bodyPr wrap="square" rtlCol="0" anchor="ctr"/>
          <a:lstStyle/>
          <a:p>
            <a:r>
              <a:rPr lang="en-US" sz="1000" dirty="0">
                <a:solidFill>
                  <a:srgbClr val="1E293B"/>
                </a:solidFill>
                <a:latin typeface="Calibri" pitchFamily="34" charset="0"/>
                <a:ea typeface="Calibri" pitchFamily="34" charset="-122"/>
                <a:cs typeface="Calibri" pitchFamily="34" charset="-120"/>
              </a:rPr>
              <a:t>Aggressive capacity contracting across EU + US. Power supply, not GPU supply, is the binding constraint — Nebius is securing both.</a:t>
            </a:r>
            <a:endParaRPr lang="en-US" sz="1000" dirty="0"/>
          </a:p>
        </p:txBody>
      </p:sp>
      <p:sp>
        <p:nvSpPr>
          <p:cNvPr id="47" name="Shape 44"/>
          <p:cNvSpPr/>
          <p:nvPr/>
        </p:nvSpPr>
        <p:spPr>
          <a:xfrm>
            <a:off x="6327648" y="5766816"/>
            <a:ext cx="2779776" cy="999744"/>
          </a:xfrm>
          <a:prstGeom prst="rect">
            <a:avLst/>
          </a:prstGeom>
          <a:solidFill>
            <a:srgbClr val="FFFFFF"/>
          </a:solidFill>
          <a:ln w="12700">
            <a:solidFill>
              <a:srgbClr val="48CAE4"/>
            </a:solidFill>
            <a:prstDash val="solid"/>
          </a:ln>
          <a:effectLst>
            <a:outerShdw blurRad="127000" dist="50800" dir="8100000" algn="bl" rotWithShape="0">
              <a:srgbClr val="000000">
                <a:alpha val="18000"/>
              </a:srgbClr>
            </a:outerShdw>
          </a:effectLst>
        </p:spPr>
      </p:sp>
      <p:sp>
        <p:nvSpPr>
          <p:cNvPr id="48" name="Shape 45"/>
          <p:cNvSpPr/>
          <p:nvPr/>
        </p:nvSpPr>
        <p:spPr>
          <a:xfrm>
            <a:off x="6327648" y="5766816"/>
            <a:ext cx="2779776" cy="73152"/>
          </a:xfrm>
          <a:prstGeom prst="rect">
            <a:avLst/>
          </a:prstGeom>
          <a:solidFill>
            <a:srgbClr val="48CAE4"/>
          </a:solidFill>
          <a:ln w="12700">
            <a:solidFill>
              <a:srgbClr val="48CAE4"/>
            </a:solidFill>
            <a:prstDash val="solid"/>
          </a:ln>
        </p:spPr>
      </p:sp>
      <p:sp>
        <p:nvSpPr>
          <p:cNvPr id="49" name="Text 46"/>
          <p:cNvSpPr/>
          <p:nvPr/>
        </p:nvSpPr>
        <p:spPr>
          <a:xfrm>
            <a:off x="6473952" y="5852160"/>
            <a:ext cx="2560320" cy="316992"/>
          </a:xfrm>
          <a:prstGeom prst="rect">
            <a:avLst/>
          </a:prstGeom>
          <a:noFill/>
          <a:ln/>
        </p:spPr>
        <p:txBody>
          <a:bodyPr wrap="square" rtlCol="0" anchor="ctr"/>
          <a:lstStyle/>
          <a:p>
            <a:r>
              <a:rPr lang="en-US" sz="1133" b="1" dirty="0">
                <a:solidFill>
                  <a:srgbClr val="1E293B"/>
                </a:solidFill>
                <a:latin typeface="Calibri" pitchFamily="34" charset="0"/>
                <a:ea typeface="Calibri" pitchFamily="34" charset="-122"/>
                <a:cs typeface="Calibri" pitchFamily="34" charset="-120"/>
              </a:rPr>
              <a:t>Waste Heat Recycling</a:t>
            </a:r>
            <a:endParaRPr lang="en-US" sz="1133" dirty="0"/>
          </a:p>
        </p:txBody>
      </p:sp>
      <p:sp>
        <p:nvSpPr>
          <p:cNvPr id="50" name="Text 47"/>
          <p:cNvSpPr/>
          <p:nvPr/>
        </p:nvSpPr>
        <p:spPr>
          <a:xfrm>
            <a:off x="6473952" y="6146686"/>
            <a:ext cx="2560320" cy="573024"/>
          </a:xfrm>
          <a:prstGeom prst="rect">
            <a:avLst/>
          </a:prstGeom>
          <a:noFill/>
          <a:ln/>
        </p:spPr>
        <p:txBody>
          <a:bodyPr wrap="square" rtlCol="0" anchor="ctr"/>
          <a:lstStyle/>
          <a:p>
            <a:r>
              <a:rPr lang="en-US" sz="1000" dirty="0">
                <a:solidFill>
                  <a:srgbClr val="1E293B"/>
                </a:solidFill>
                <a:latin typeface="Calibri" pitchFamily="34" charset="0"/>
                <a:ea typeface="Calibri" pitchFamily="34" charset="-122"/>
                <a:cs typeface="Calibri" pitchFamily="34" charset="-120"/>
              </a:rPr>
              <a:t>Finnish DCs use waste heat for district heating — operational cost advantage + ESG credential for European enterprise clients.</a:t>
            </a:r>
            <a:endParaRPr lang="en-US" sz="1000" dirty="0"/>
          </a:p>
        </p:txBody>
      </p:sp>
      <p:sp>
        <p:nvSpPr>
          <p:cNvPr id="51" name="Shape 48"/>
          <p:cNvSpPr/>
          <p:nvPr/>
        </p:nvSpPr>
        <p:spPr>
          <a:xfrm>
            <a:off x="9278112" y="5766816"/>
            <a:ext cx="2779776" cy="999744"/>
          </a:xfrm>
          <a:prstGeom prst="rect">
            <a:avLst/>
          </a:prstGeom>
          <a:solidFill>
            <a:srgbClr val="FFFFFF"/>
          </a:solidFill>
          <a:ln w="12700">
            <a:solidFill>
              <a:srgbClr val="F59E0B"/>
            </a:solidFill>
            <a:prstDash val="solid"/>
          </a:ln>
          <a:effectLst>
            <a:outerShdw blurRad="127000" dist="50800" dir="8100000" algn="bl" rotWithShape="0">
              <a:srgbClr val="000000">
                <a:alpha val="18000"/>
              </a:srgbClr>
            </a:outerShdw>
          </a:effectLst>
        </p:spPr>
      </p:sp>
      <p:sp>
        <p:nvSpPr>
          <p:cNvPr id="52" name="Shape 49"/>
          <p:cNvSpPr/>
          <p:nvPr/>
        </p:nvSpPr>
        <p:spPr>
          <a:xfrm>
            <a:off x="9278112" y="5766816"/>
            <a:ext cx="2779776" cy="73152"/>
          </a:xfrm>
          <a:prstGeom prst="rect">
            <a:avLst/>
          </a:prstGeom>
          <a:solidFill>
            <a:srgbClr val="F59E0B"/>
          </a:solidFill>
          <a:ln w="12700">
            <a:solidFill>
              <a:srgbClr val="F59E0B"/>
            </a:solidFill>
            <a:prstDash val="solid"/>
          </a:ln>
        </p:spPr>
      </p:sp>
      <p:sp>
        <p:nvSpPr>
          <p:cNvPr id="53" name="Text 50"/>
          <p:cNvSpPr/>
          <p:nvPr/>
        </p:nvSpPr>
        <p:spPr>
          <a:xfrm>
            <a:off x="9424416" y="5852160"/>
            <a:ext cx="2560320" cy="316992"/>
          </a:xfrm>
          <a:prstGeom prst="rect">
            <a:avLst/>
          </a:prstGeom>
          <a:noFill/>
          <a:ln/>
        </p:spPr>
        <p:txBody>
          <a:bodyPr wrap="square" rtlCol="0" anchor="ctr"/>
          <a:lstStyle/>
          <a:p>
            <a:r>
              <a:rPr lang="en-US" sz="1133" b="1" dirty="0">
                <a:solidFill>
                  <a:srgbClr val="1E293B"/>
                </a:solidFill>
                <a:latin typeface="Calibri" pitchFamily="34" charset="0"/>
                <a:ea typeface="Calibri" pitchFamily="34" charset="-122"/>
                <a:cs typeface="Calibri" pitchFamily="34" charset="-120"/>
              </a:rPr>
              <a:t>Targeting 1GW Connected by 2026</a:t>
            </a:r>
            <a:endParaRPr lang="en-US" sz="1133" dirty="0"/>
          </a:p>
        </p:txBody>
      </p:sp>
      <p:sp>
        <p:nvSpPr>
          <p:cNvPr id="54" name="Text 51"/>
          <p:cNvSpPr/>
          <p:nvPr/>
        </p:nvSpPr>
        <p:spPr>
          <a:xfrm>
            <a:off x="9424416" y="6156960"/>
            <a:ext cx="2560320" cy="573024"/>
          </a:xfrm>
          <a:prstGeom prst="rect">
            <a:avLst/>
          </a:prstGeom>
          <a:noFill/>
          <a:ln/>
        </p:spPr>
        <p:txBody>
          <a:bodyPr wrap="square" rtlCol="0" anchor="ctr"/>
          <a:lstStyle/>
          <a:p>
            <a:r>
              <a:rPr lang="en-US" sz="1000" dirty="0">
                <a:solidFill>
                  <a:srgbClr val="1E293B"/>
                </a:solidFill>
                <a:latin typeface="Calibri" pitchFamily="34" charset="0"/>
                <a:ea typeface="Calibri" pitchFamily="34" charset="-122"/>
                <a:cs typeface="Calibri" pitchFamily="34" charset="-120"/>
              </a:rPr>
              <a:t>Current connected = ~75–300MW range. New Jersey + Lappeenranta phases will push connected toward 1GW. Supply unlock = revenue unlock.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293B"/>
          </a:solidFill>
          <a:ln w="12700">
            <a:solidFill>
              <a:srgbClr val="1E293B"/>
            </a:solidFill>
            <a:prstDash val="solid"/>
          </a:ln>
        </p:spPr>
      </p:sp>
      <p:sp>
        <p:nvSpPr>
          <p:cNvPr id="3" name="Shape 1"/>
          <p:cNvSpPr/>
          <p:nvPr/>
        </p:nvSpPr>
        <p:spPr>
          <a:xfrm>
            <a:off x="0" y="0"/>
            <a:ext cx="463296" cy="914400"/>
          </a:xfrm>
          <a:prstGeom prst="rect">
            <a:avLst/>
          </a:prstGeom>
          <a:solidFill>
            <a:srgbClr val="00B4D8"/>
          </a:solidFill>
          <a:ln w="12700">
            <a:solidFill>
              <a:srgbClr val="00B4D8"/>
            </a:solidFill>
            <a:prstDash val="solid"/>
          </a:ln>
        </p:spPr>
      </p:sp>
      <p:sp>
        <p:nvSpPr>
          <p:cNvPr id="4" name="Text 2"/>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6: SUBSIDIARIES, INVESTMENTS &amp; PORTFOLIO COMPANIES</a:t>
            </a:r>
            <a:endParaRPr lang="en-US" sz="2267" dirty="0"/>
          </a:p>
        </p:txBody>
      </p:sp>
      <p:sp>
        <p:nvSpPr>
          <p:cNvPr id="5" name="Text 3"/>
          <p:cNvSpPr/>
          <p:nvPr/>
        </p:nvSpPr>
        <p:spPr>
          <a:xfrm>
            <a:off x="670560" y="976113"/>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Nebius is more than a GPU renter — a portfolio of AI-adjacent assets</a:t>
            </a:r>
          </a:p>
        </p:txBody>
      </p:sp>
      <p:grpSp>
        <p:nvGrpSpPr>
          <p:cNvPr id="42" name="Group 41">
            <a:extLst>
              <a:ext uri="{FF2B5EF4-FFF2-40B4-BE49-F238E27FC236}">
                <a16:creationId xmlns:a16="http://schemas.microsoft.com/office/drawing/2014/main" id="{408A9ED3-D7C6-2E6A-3F25-44CFA68180F4}"/>
              </a:ext>
            </a:extLst>
          </p:cNvPr>
          <p:cNvGrpSpPr/>
          <p:nvPr/>
        </p:nvGrpSpPr>
        <p:grpSpPr>
          <a:xfrm>
            <a:off x="310896" y="1463793"/>
            <a:ext cx="11570208" cy="5242560"/>
            <a:chOff x="310896" y="1463793"/>
            <a:chExt cx="11570208" cy="5242560"/>
          </a:xfrm>
        </p:grpSpPr>
        <p:sp>
          <p:nvSpPr>
            <p:cNvPr id="6" name="Shape 4"/>
            <p:cNvSpPr/>
            <p:nvPr/>
          </p:nvSpPr>
          <p:spPr>
            <a:xfrm>
              <a:off x="310896" y="1463793"/>
              <a:ext cx="3718560" cy="2560320"/>
            </a:xfrm>
            <a:prstGeom prst="rect">
              <a:avLst/>
            </a:prstGeom>
            <a:solidFill>
              <a:srgbClr val="FFFFFF"/>
            </a:solidFill>
            <a:ln w="12700">
              <a:solidFill>
                <a:srgbClr val="00B4D8"/>
              </a:solidFill>
              <a:prstDash val="solid"/>
            </a:ln>
            <a:effectLst>
              <a:outerShdw blurRad="127000" dist="50800" dir="8100000" algn="bl" rotWithShape="0">
                <a:srgbClr val="000000">
                  <a:alpha val="18000"/>
                </a:srgbClr>
              </a:outerShdw>
            </a:effectLst>
          </p:spPr>
        </p:sp>
        <p:sp>
          <p:nvSpPr>
            <p:cNvPr id="7" name="Shape 5"/>
            <p:cNvSpPr/>
            <p:nvPr/>
          </p:nvSpPr>
          <p:spPr>
            <a:xfrm>
              <a:off x="310896" y="1463793"/>
              <a:ext cx="3718560" cy="85344"/>
            </a:xfrm>
            <a:prstGeom prst="rect">
              <a:avLst/>
            </a:prstGeom>
            <a:solidFill>
              <a:srgbClr val="00B4D8"/>
            </a:solidFill>
            <a:ln w="12700">
              <a:solidFill>
                <a:srgbClr val="00B4D8"/>
              </a:solidFill>
              <a:prstDash val="solid"/>
            </a:ln>
          </p:spPr>
        </p:sp>
        <p:sp>
          <p:nvSpPr>
            <p:cNvPr id="8" name="Text 6"/>
            <p:cNvSpPr/>
            <p:nvPr/>
          </p:nvSpPr>
          <p:spPr>
            <a:xfrm>
              <a:off x="457200" y="1610097"/>
              <a:ext cx="3413760" cy="316992"/>
            </a:xfrm>
            <a:prstGeom prst="rect">
              <a:avLst/>
            </a:prstGeom>
            <a:noFill/>
            <a:ln/>
          </p:spPr>
          <p:txBody>
            <a:bodyPr wrap="square" rtlCol="0" anchor="ctr"/>
            <a:lstStyle/>
            <a:p>
              <a:r>
                <a:rPr lang="en-US" b="1" dirty="0">
                  <a:solidFill>
                    <a:srgbClr val="00B4D8"/>
                  </a:solidFill>
                  <a:latin typeface="Calibri" pitchFamily="34" charset="0"/>
                  <a:ea typeface="Calibri" pitchFamily="34" charset="-122"/>
                  <a:cs typeface="Calibri" pitchFamily="34" charset="-120"/>
                </a:rPr>
                <a:t>Nebius AI Cloud (Core)</a:t>
              </a:r>
              <a:endParaRPr lang="en-US" dirty="0"/>
            </a:p>
          </p:txBody>
        </p:sp>
        <p:sp>
          <p:nvSpPr>
            <p:cNvPr id="9" name="Text 7"/>
            <p:cNvSpPr/>
            <p:nvPr/>
          </p:nvSpPr>
          <p:spPr>
            <a:xfrm>
              <a:off x="457200" y="1902705"/>
              <a:ext cx="3413760" cy="243840"/>
            </a:xfrm>
            <a:prstGeom prst="rect">
              <a:avLst/>
            </a:prstGeom>
            <a:noFill/>
            <a:ln/>
          </p:spPr>
          <p:txBody>
            <a:bodyPr wrap="square" rtlCol="0" anchor="ctr"/>
            <a:lstStyle/>
            <a:p>
              <a:r>
                <a:rPr lang="en-US" sz="1400" i="1" dirty="0">
                  <a:solidFill>
                    <a:srgbClr val="64748B"/>
                  </a:solidFill>
                  <a:latin typeface="Calibri" pitchFamily="34" charset="0"/>
                  <a:ea typeface="Calibri" pitchFamily="34" charset="-122"/>
                  <a:cs typeface="Calibri" pitchFamily="34" charset="-120"/>
                </a:rPr>
                <a:t>Operational — Primary revenue</a:t>
              </a:r>
              <a:endParaRPr lang="en-US" sz="1400" dirty="0"/>
            </a:p>
          </p:txBody>
        </p:sp>
        <p:sp>
          <p:nvSpPr>
            <p:cNvPr id="10" name="Text 8"/>
            <p:cNvSpPr/>
            <p:nvPr/>
          </p:nvSpPr>
          <p:spPr>
            <a:xfrm>
              <a:off x="457200" y="2170929"/>
              <a:ext cx="3413760" cy="877824"/>
            </a:xfrm>
            <a:prstGeom prst="rect">
              <a:avLst/>
            </a:prstGeom>
            <a:noFill/>
            <a:ln/>
          </p:spPr>
          <p:txBody>
            <a:bodyPr wrap="square" rtlCol="0" anchor="ctr"/>
            <a:lstStyle/>
            <a:p>
              <a:r>
                <a:rPr lang="en-US" sz="1200" dirty="0">
                  <a:solidFill>
                    <a:srgbClr val="1E293B"/>
                  </a:solidFill>
                  <a:latin typeface="Calibri" pitchFamily="34" charset="0"/>
                  <a:ea typeface="Calibri" pitchFamily="34" charset="-122"/>
                  <a:cs typeface="Calibri" pitchFamily="34" charset="-120"/>
                </a:rPr>
                <a:t>The central business. GPU-as-a-Service + AI Studio inference platform. $529.8M revenue in FY2025. Meta &amp; Microsoft anchor customers. 479% YoY growth.</a:t>
              </a:r>
              <a:endParaRPr lang="en-US" sz="1200" dirty="0"/>
            </a:p>
          </p:txBody>
        </p:sp>
        <p:sp>
          <p:nvSpPr>
            <p:cNvPr id="11" name="Text 9"/>
            <p:cNvSpPr/>
            <p:nvPr/>
          </p:nvSpPr>
          <p:spPr>
            <a:xfrm>
              <a:off x="457200" y="3048753"/>
              <a:ext cx="3413760" cy="914400"/>
            </a:xfrm>
            <a:prstGeom prst="rect">
              <a:avLst/>
            </a:prstGeom>
            <a:noFill/>
            <a:ln/>
          </p:spPr>
          <p:txBody>
            <a:bodyPr wrap="square" rtlCol="0" anchor="ctr"/>
            <a:lstStyle/>
            <a:p>
              <a:pPr marL="457189" indent="-457189">
                <a:buSzPct val="100000"/>
                <a:buChar char="•"/>
              </a:pPr>
              <a:r>
                <a:rPr lang="en-US" sz="1100" dirty="0">
                  <a:solidFill>
                    <a:srgbClr val="00B4D8"/>
                  </a:solidFill>
                  <a:latin typeface="Calibri" pitchFamily="34" charset="0"/>
                  <a:ea typeface="Calibri" pitchFamily="34" charset="-122"/>
                  <a:cs typeface="Calibri" pitchFamily="34" charset="-120"/>
                </a:rPr>
                <a:t>FY2025 Rev: $529.8M</a:t>
              </a:r>
              <a:endParaRPr lang="en-US" sz="1100" dirty="0"/>
            </a:p>
            <a:p>
              <a:pPr marL="457189" indent="-457189">
                <a:buSzPct val="100000"/>
                <a:buChar char="•"/>
              </a:pPr>
              <a:r>
                <a:rPr lang="en-US" sz="1100" dirty="0">
                  <a:solidFill>
                    <a:srgbClr val="00B4D8"/>
                  </a:solidFill>
                  <a:latin typeface="Calibri" pitchFamily="34" charset="0"/>
                  <a:ea typeface="Calibri" pitchFamily="34" charset="-122"/>
                  <a:cs typeface="Calibri" pitchFamily="34" charset="-120"/>
                </a:rPr>
                <a:t>Q4 ARR: ~$910M</a:t>
              </a:r>
              <a:endParaRPr lang="en-US" sz="1100" dirty="0"/>
            </a:p>
            <a:p>
              <a:pPr marL="457189" indent="-457189">
                <a:buSzPct val="100000"/>
                <a:buChar char="•"/>
              </a:pPr>
              <a:r>
                <a:rPr lang="en-US" sz="1100" dirty="0">
                  <a:solidFill>
                    <a:srgbClr val="00B4D8"/>
                  </a:solidFill>
                  <a:latin typeface="Calibri" pitchFamily="34" charset="0"/>
                  <a:ea typeface="Calibri" pitchFamily="34" charset="-122"/>
                  <a:cs typeface="Calibri" pitchFamily="34" charset="-120"/>
                </a:rPr>
                <a:t>Sold out of all capacity</a:t>
              </a:r>
              <a:endParaRPr lang="en-US" sz="1100" dirty="0"/>
            </a:p>
            <a:p>
              <a:pPr marL="457189" indent="-457189">
                <a:buSzPct val="100000"/>
                <a:buChar char="•"/>
              </a:pPr>
              <a:r>
                <a:rPr lang="en-US" sz="1100" dirty="0">
                  <a:solidFill>
                    <a:srgbClr val="00B4D8"/>
                  </a:solidFill>
                  <a:latin typeface="Calibri" pitchFamily="34" charset="0"/>
                  <a:ea typeface="Calibri" pitchFamily="34" charset="-122"/>
                  <a:cs typeface="Calibri" pitchFamily="34" charset="-120"/>
                </a:rPr>
                <a:t>ARR Target 2026: $7–9B</a:t>
              </a:r>
              <a:endParaRPr lang="en-US" sz="1100" dirty="0"/>
            </a:p>
          </p:txBody>
        </p:sp>
        <p:sp>
          <p:nvSpPr>
            <p:cNvPr id="12" name="Shape 10"/>
            <p:cNvSpPr/>
            <p:nvPr/>
          </p:nvSpPr>
          <p:spPr>
            <a:xfrm>
              <a:off x="4236720" y="1463793"/>
              <a:ext cx="3718560" cy="2560320"/>
            </a:xfrm>
            <a:prstGeom prst="rect">
              <a:avLst/>
            </a:prstGeom>
            <a:solidFill>
              <a:srgbClr val="FFFFFF"/>
            </a:solidFill>
            <a:ln w="12700">
              <a:solidFill>
                <a:srgbClr val="7C3AED"/>
              </a:solidFill>
              <a:prstDash val="solid"/>
            </a:ln>
            <a:effectLst>
              <a:outerShdw blurRad="127000" dist="50800" dir="8100000" algn="bl" rotWithShape="0">
                <a:srgbClr val="000000">
                  <a:alpha val="18000"/>
                </a:srgbClr>
              </a:outerShdw>
            </a:effectLst>
          </p:spPr>
        </p:sp>
        <p:sp>
          <p:nvSpPr>
            <p:cNvPr id="13" name="Shape 11"/>
            <p:cNvSpPr/>
            <p:nvPr/>
          </p:nvSpPr>
          <p:spPr>
            <a:xfrm>
              <a:off x="4236720" y="1463793"/>
              <a:ext cx="3718560" cy="85344"/>
            </a:xfrm>
            <a:prstGeom prst="rect">
              <a:avLst/>
            </a:prstGeom>
            <a:solidFill>
              <a:srgbClr val="7C3AED"/>
            </a:solidFill>
            <a:ln w="12700">
              <a:solidFill>
                <a:srgbClr val="7C3AED"/>
              </a:solidFill>
              <a:prstDash val="solid"/>
            </a:ln>
          </p:spPr>
        </p:sp>
        <p:sp>
          <p:nvSpPr>
            <p:cNvPr id="14" name="Text 12"/>
            <p:cNvSpPr/>
            <p:nvPr/>
          </p:nvSpPr>
          <p:spPr>
            <a:xfrm>
              <a:off x="4383024" y="1610097"/>
              <a:ext cx="3413760" cy="316992"/>
            </a:xfrm>
            <a:prstGeom prst="rect">
              <a:avLst/>
            </a:prstGeom>
            <a:noFill/>
            <a:ln/>
          </p:spPr>
          <p:txBody>
            <a:bodyPr wrap="square" rtlCol="0" anchor="ctr"/>
            <a:lstStyle/>
            <a:p>
              <a:r>
                <a:rPr lang="en-US" b="1" dirty="0">
                  <a:solidFill>
                    <a:srgbClr val="7C3AED"/>
                  </a:solidFill>
                  <a:latin typeface="Calibri" pitchFamily="34" charset="0"/>
                  <a:ea typeface="Calibri" pitchFamily="34" charset="-122"/>
                  <a:cs typeface="Calibri" pitchFamily="34" charset="-120"/>
                </a:rPr>
                <a:t>Toloka AI</a:t>
              </a:r>
              <a:endParaRPr lang="en-US" dirty="0"/>
            </a:p>
          </p:txBody>
        </p:sp>
        <p:sp>
          <p:nvSpPr>
            <p:cNvPr id="15" name="Text 13"/>
            <p:cNvSpPr/>
            <p:nvPr/>
          </p:nvSpPr>
          <p:spPr>
            <a:xfrm>
              <a:off x="4383024" y="1902705"/>
              <a:ext cx="3413760" cy="243840"/>
            </a:xfrm>
            <a:prstGeom prst="rect">
              <a:avLst/>
            </a:prstGeom>
            <a:noFill/>
            <a:ln/>
          </p:spPr>
          <p:txBody>
            <a:bodyPr wrap="square" rtlCol="0" anchor="ctr"/>
            <a:lstStyle/>
            <a:p>
              <a:r>
                <a:rPr lang="en-US" sz="1400" i="1" dirty="0">
                  <a:solidFill>
                    <a:srgbClr val="64748B"/>
                  </a:solidFill>
                  <a:latin typeface="Calibri" pitchFamily="34" charset="0"/>
                  <a:ea typeface="Calibri" pitchFamily="34" charset="-122"/>
                  <a:cs typeface="Calibri" pitchFamily="34" charset="-120"/>
                </a:rPr>
                <a:t>B2B SaaS — Data labeling</a:t>
              </a:r>
              <a:endParaRPr lang="en-US" sz="1400" dirty="0"/>
            </a:p>
          </p:txBody>
        </p:sp>
        <p:sp>
          <p:nvSpPr>
            <p:cNvPr id="16" name="Text 14"/>
            <p:cNvSpPr/>
            <p:nvPr/>
          </p:nvSpPr>
          <p:spPr>
            <a:xfrm>
              <a:off x="4383024" y="2170929"/>
              <a:ext cx="3413760" cy="877824"/>
            </a:xfrm>
            <a:prstGeom prst="rect">
              <a:avLst/>
            </a:prstGeom>
            <a:noFill/>
            <a:ln/>
          </p:spPr>
          <p:txBody>
            <a:bodyPr wrap="square" rtlCol="0" anchor="ctr"/>
            <a:lstStyle/>
            <a:p>
              <a:r>
                <a:rPr lang="en-US" sz="1200" dirty="0">
                  <a:solidFill>
                    <a:srgbClr val="1E293B"/>
                  </a:solidFill>
                  <a:latin typeface="Calibri" pitchFamily="34" charset="0"/>
                  <a:ea typeface="Calibri" pitchFamily="34" charset="-122"/>
                  <a:cs typeface="Calibri" pitchFamily="34" charset="-120"/>
                </a:rPr>
                <a:t>Crowdsourced data annotation platform for AI training. Clients include major AI labs needing RLHF data, domain-specific labeled datasets, and evaluation benchmarks.</a:t>
              </a:r>
              <a:endParaRPr lang="en-US" sz="1200" dirty="0"/>
            </a:p>
          </p:txBody>
        </p:sp>
        <p:sp>
          <p:nvSpPr>
            <p:cNvPr id="17" name="Text 15"/>
            <p:cNvSpPr/>
            <p:nvPr/>
          </p:nvSpPr>
          <p:spPr>
            <a:xfrm>
              <a:off x="4383024" y="3048753"/>
              <a:ext cx="3413760" cy="914400"/>
            </a:xfrm>
            <a:prstGeom prst="rect">
              <a:avLst/>
            </a:prstGeom>
            <a:noFill/>
            <a:ln/>
          </p:spPr>
          <p:txBody>
            <a:bodyPr wrap="square" rtlCol="0" anchor="ctr"/>
            <a:lstStyle/>
            <a:p>
              <a:pPr marL="457189" indent="-457189">
                <a:buSzPct val="100000"/>
                <a:buChar char="•"/>
              </a:pPr>
              <a:r>
                <a:rPr lang="en-US" sz="1100" dirty="0">
                  <a:solidFill>
                    <a:srgbClr val="7C3AED"/>
                  </a:solidFill>
                  <a:latin typeface="Calibri" pitchFamily="34" charset="0"/>
                  <a:ea typeface="Calibri" pitchFamily="34" charset="-122"/>
                  <a:cs typeface="Calibri" pitchFamily="34" charset="-120"/>
                </a:rPr>
                <a:t>Data partner for generative AI dev</a:t>
              </a:r>
              <a:endParaRPr lang="en-US" sz="1100" dirty="0"/>
            </a:p>
            <a:p>
              <a:pPr marL="457189" indent="-457189">
                <a:buSzPct val="100000"/>
                <a:buChar char="•"/>
              </a:pPr>
              <a:r>
                <a:rPr lang="en-US" sz="1100" dirty="0">
                  <a:solidFill>
                    <a:srgbClr val="7C3AED"/>
                  </a:solidFill>
                  <a:latin typeface="Calibri" pitchFamily="34" charset="0"/>
                  <a:ea typeface="Calibri" pitchFamily="34" charset="-122"/>
                  <a:cs typeface="Calibri" pitchFamily="34" charset="-120"/>
                </a:rPr>
                <a:t>Revenue: undisclosed</a:t>
              </a:r>
              <a:endParaRPr lang="en-US" sz="1100" dirty="0"/>
            </a:p>
            <a:p>
              <a:pPr marL="457189" indent="-457189">
                <a:buSzPct val="100000"/>
                <a:buChar char="•"/>
              </a:pPr>
              <a:r>
                <a:rPr lang="en-US" sz="1100" dirty="0">
                  <a:solidFill>
                    <a:srgbClr val="7C3AED"/>
                  </a:solidFill>
                  <a:latin typeface="Calibri" pitchFamily="34" charset="0"/>
                  <a:ea typeface="Calibri" pitchFamily="34" charset="-122"/>
                  <a:cs typeface="Calibri" pitchFamily="34" charset="-120"/>
                </a:rPr>
                <a:t>Retained from Yandex portfolio</a:t>
              </a:r>
              <a:endParaRPr lang="en-US" sz="1100" dirty="0"/>
            </a:p>
            <a:p>
              <a:pPr marL="457189" indent="-457189">
                <a:buSzPct val="100000"/>
                <a:buChar char="•"/>
              </a:pPr>
              <a:r>
                <a:rPr lang="en-US" sz="1100" dirty="0">
                  <a:solidFill>
                    <a:srgbClr val="7C3AED"/>
                  </a:solidFill>
                  <a:latin typeface="Calibri" pitchFamily="34" charset="0"/>
                  <a:ea typeface="Calibri" pitchFamily="34" charset="-122"/>
                  <a:cs typeface="Calibri" pitchFamily="34" charset="-120"/>
                </a:rPr>
                <a:t>Synergistic with Nebius AI Cloud</a:t>
              </a:r>
              <a:endParaRPr lang="en-US" sz="1100" dirty="0"/>
            </a:p>
          </p:txBody>
        </p:sp>
        <p:sp>
          <p:nvSpPr>
            <p:cNvPr id="18" name="Shape 16"/>
            <p:cNvSpPr/>
            <p:nvPr/>
          </p:nvSpPr>
          <p:spPr>
            <a:xfrm>
              <a:off x="8162544" y="1463793"/>
              <a:ext cx="3718560" cy="2560320"/>
            </a:xfrm>
            <a:prstGeom prst="rect">
              <a:avLst/>
            </a:prstGeom>
            <a:solidFill>
              <a:srgbClr val="FFFFFF"/>
            </a:solidFill>
            <a:ln w="12700">
              <a:solidFill>
                <a:srgbClr val="F59E0B"/>
              </a:solidFill>
              <a:prstDash val="solid"/>
            </a:ln>
            <a:effectLst>
              <a:outerShdw blurRad="127000" dist="50800" dir="8100000" algn="bl" rotWithShape="0">
                <a:srgbClr val="000000">
                  <a:alpha val="18000"/>
                </a:srgbClr>
              </a:outerShdw>
            </a:effectLst>
          </p:spPr>
        </p:sp>
        <p:sp>
          <p:nvSpPr>
            <p:cNvPr id="19" name="Shape 17"/>
            <p:cNvSpPr/>
            <p:nvPr/>
          </p:nvSpPr>
          <p:spPr>
            <a:xfrm>
              <a:off x="8162544" y="1463793"/>
              <a:ext cx="3718560" cy="85344"/>
            </a:xfrm>
            <a:prstGeom prst="rect">
              <a:avLst/>
            </a:prstGeom>
            <a:solidFill>
              <a:srgbClr val="F59E0B"/>
            </a:solidFill>
            <a:ln w="12700">
              <a:solidFill>
                <a:srgbClr val="F59E0B"/>
              </a:solidFill>
              <a:prstDash val="solid"/>
            </a:ln>
          </p:spPr>
        </p:sp>
        <p:sp>
          <p:nvSpPr>
            <p:cNvPr id="20" name="Text 18"/>
            <p:cNvSpPr/>
            <p:nvPr/>
          </p:nvSpPr>
          <p:spPr>
            <a:xfrm>
              <a:off x="8308848" y="1610097"/>
              <a:ext cx="3413760" cy="316992"/>
            </a:xfrm>
            <a:prstGeom prst="rect">
              <a:avLst/>
            </a:prstGeom>
            <a:noFill/>
            <a:ln/>
          </p:spPr>
          <p:txBody>
            <a:bodyPr wrap="square" rtlCol="0" anchor="ctr"/>
            <a:lstStyle/>
            <a:p>
              <a:r>
                <a:rPr lang="en-US" b="1" dirty="0">
                  <a:solidFill>
                    <a:srgbClr val="F59E0B"/>
                  </a:solidFill>
                  <a:latin typeface="Calibri" pitchFamily="34" charset="0"/>
                  <a:ea typeface="Calibri" pitchFamily="34" charset="-122"/>
                  <a:cs typeface="Calibri" pitchFamily="34" charset="-120"/>
                </a:rPr>
                <a:t>TripleTen</a:t>
              </a:r>
              <a:endParaRPr lang="en-US" dirty="0"/>
            </a:p>
          </p:txBody>
        </p:sp>
        <p:sp>
          <p:nvSpPr>
            <p:cNvPr id="21" name="Text 19"/>
            <p:cNvSpPr/>
            <p:nvPr/>
          </p:nvSpPr>
          <p:spPr>
            <a:xfrm>
              <a:off x="8308848" y="1902705"/>
              <a:ext cx="3413760" cy="243840"/>
            </a:xfrm>
            <a:prstGeom prst="rect">
              <a:avLst/>
            </a:prstGeom>
            <a:noFill/>
            <a:ln/>
          </p:spPr>
          <p:txBody>
            <a:bodyPr wrap="square" rtlCol="0" anchor="ctr"/>
            <a:lstStyle/>
            <a:p>
              <a:r>
                <a:rPr lang="en-US" sz="1400" i="1" dirty="0">
                  <a:solidFill>
                    <a:srgbClr val="64748B"/>
                  </a:solidFill>
                  <a:latin typeface="Calibri" pitchFamily="34" charset="0"/>
                  <a:ea typeface="Calibri" pitchFamily="34" charset="-122"/>
                  <a:cs typeface="Calibri" pitchFamily="34" charset="-120"/>
                </a:rPr>
                <a:t>EdTech — Re-skilling</a:t>
              </a:r>
              <a:endParaRPr lang="en-US" sz="1400" dirty="0"/>
            </a:p>
          </p:txBody>
        </p:sp>
        <p:sp>
          <p:nvSpPr>
            <p:cNvPr id="22" name="Text 20"/>
            <p:cNvSpPr/>
            <p:nvPr/>
          </p:nvSpPr>
          <p:spPr>
            <a:xfrm>
              <a:off x="8308848" y="2170929"/>
              <a:ext cx="3413760" cy="877824"/>
            </a:xfrm>
            <a:prstGeom prst="rect">
              <a:avLst/>
            </a:prstGeom>
            <a:noFill/>
            <a:ln/>
          </p:spPr>
          <p:txBody>
            <a:bodyPr wrap="square" rtlCol="0" anchor="ctr"/>
            <a:lstStyle/>
            <a:p>
              <a:r>
                <a:rPr lang="en-US" sz="1200" dirty="0">
                  <a:solidFill>
                    <a:srgbClr val="1E293B"/>
                  </a:solidFill>
                  <a:latin typeface="Calibri" pitchFamily="34" charset="0"/>
                  <a:ea typeface="Calibri" pitchFamily="34" charset="-122"/>
                  <a:cs typeface="Calibri" pitchFamily="34" charset="-120"/>
                </a:rPr>
                <a:t>Online education platform for reskilling workers into tech careers (data science, software engineering, ML). Operates globally. Produces talent pipeline for the AI economy.</a:t>
              </a:r>
              <a:endParaRPr lang="en-US" sz="1200" dirty="0"/>
            </a:p>
          </p:txBody>
        </p:sp>
        <p:sp>
          <p:nvSpPr>
            <p:cNvPr id="23" name="Text 21"/>
            <p:cNvSpPr/>
            <p:nvPr/>
          </p:nvSpPr>
          <p:spPr>
            <a:xfrm>
              <a:off x="8308848" y="3048753"/>
              <a:ext cx="3413760" cy="914400"/>
            </a:xfrm>
            <a:prstGeom prst="rect">
              <a:avLst/>
            </a:prstGeom>
            <a:noFill/>
            <a:ln/>
          </p:spPr>
          <p:txBody>
            <a:bodyPr wrap="square" rtlCol="0" anchor="ctr"/>
            <a:lstStyle/>
            <a:p>
              <a:pPr marL="457189" indent="-457189">
                <a:buSzPct val="100000"/>
                <a:buChar char="•"/>
              </a:pPr>
              <a:r>
                <a:rPr lang="en-US" sz="1100" dirty="0">
                  <a:solidFill>
                    <a:srgbClr val="F59E0B"/>
                  </a:solidFill>
                  <a:latin typeface="Calibri" pitchFamily="34" charset="0"/>
                  <a:ea typeface="Calibri" pitchFamily="34" charset="-122"/>
                  <a:cs typeface="Calibri" pitchFamily="34" charset="-120"/>
                </a:rPr>
                <a:t>Edtech platform — 15+ countries</a:t>
              </a:r>
              <a:endParaRPr lang="en-US" sz="1100" dirty="0"/>
            </a:p>
            <a:p>
              <a:pPr marL="457189" indent="-457189">
                <a:buSzPct val="100000"/>
                <a:buChar char="•"/>
              </a:pPr>
              <a:r>
                <a:rPr lang="en-US" sz="1100" dirty="0">
                  <a:solidFill>
                    <a:srgbClr val="F59E0B"/>
                  </a:solidFill>
                  <a:latin typeface="Calibri" pitchFamily="34" charset="0"/>
                  <a:ea typeface="Calibri" pitchFamily="34" charset="-122"/>
                  <a:cs typeface="Calibri" pitchFamily="34" charset="-120"/>
                </a:rPr>
                <a:t>Revenue: undisclosed</a:t>
              </a:r>
              <a:endParaRPr lang="en-US" sz="1100" dirty="0"/>
            </a:p>
            <a:p>
              <a:pPr marL="457189" indent="-457189">
                <a:buSzPct val="100000"/>
                <a:buChar char="•"/>
              </a:pPr>
              <a:r>
                <a:rPr lang="en-US" sz="1100" dirty="0">
                  <a:solidFill>
                    <a:srgbClr val="F59E0B"/>
                  </a:solidFill>
                  <a:latin typeface="Calibri" pitchFamily="34" charset="0"/>
                  <a:ea typeface="Calibri" pitchFamily="34" charset="-122"/>
                  <a:cs typeface="Calibri" pitchFamily="34" charset="-120"/>
                </a:rPr>
                <a:t>Retained from Yandex portfolio</a:t>
              </a:r>
              <a:endParaRPr lang="en-US" sz="1100" dirty="0"/>
            </a:p>
            <a:p>
              <a:pPr marL="457189" indent="-457189">
                <a:buSzPct val="100000"/>
                <a:buChar char="•"/>
              </a:pPr>
              <a:r>
                <a:rPr lang="en-US" sz="1100" dirty="0">
                  <a:solidFill>
                    <a:srgbClr val="F59E0B"/>
                  </a:solidFill>
                  <a:latin typeface="Calibri" pitchFamily="34" charset="0"/>
                  <a:ea typeface="Calibri" pitchFamily="34" charset="-122"/>
                  <a:cs typeface="Calibri" pitchFamily="34" charset="-120"/>
                </a:rPr>
                <a:t>Indirect AI economy beneficiary</a:t>
              </a:r>
              <a:endParaRPr lang="en-US" sz="1100" dirty="0"/>
            </a:p>
          </p:txBody>
        </p:sp>
        <p:sp>
          <p:nvSpPr>
            <p:cNvPr id="24" name="Shape 22"/>
            <p:cNvSpPr/>
            <p:nvPr/>
          </p:nvSpPr>
          <p:spPr>
            <a:xfrm>
              <a:off x="310896" y="4146033"/>
              <a:ext cx="3718560" cy="2560320"/>
            </a:xfrm>
            <a:prstGeom prst="rect">
              <a:avLst/>
            </a:prstGeom>
            <a:solidFill>
              <a:srgbClr val="FFFFFF"/>
            </a:solidFill>
            <a:ln w="12700">
              <a:solidFill>
                <a:srgbClr val="22C55E"/>
              </a:solidFill>
              <a:prstDash val="solid"/>
            </a:ln>
            <a:effectLst>
              <a:outerShdw blurRad="127000" dist="50800" dir="8100000" algn="bl" rotWithShape="0">
                <a:srgbClr val="000000">
                  <a:alpha val="18000"/>
                </a:srgbClr>
              </a:outerShdw>
            </a:effectLst>
          </p:spPr>
        </p:sp>
        <p:sp>
          <p:nvSpPr>
            <p:cNvPr id="25" name="Shape 23"/>
            <p:cNvSpPr/>
            <p:nvPr/>
          </p:nvSpPr>
          <p:spPr>
            <a:xfrm>
              <a:off x="310896" y="4146033"/>
              <a:ext cx="3718560" cy="85344"/>
            </a:xfrm>
            <a:prstGeom prst="rect">
              <a:avLst/>
            </a:prstGeom>
            <a:solidFill>
              <a:srgbClr val="22C55E"/>
            </a:solidFill>
            <a:ln w="12700">
              <a:solidFill>
                <a:srgbClr val="22C55E"/>
              </a:solidFill>
              <a:prstDash val="solid"/>
            </a:ln>
          </p:spPr>
        </p:sp>
        <p:sp>
          <p:nvSpPr>
            <p:cNvPr id="26" name="Text 24"/>
            <p:cNvSpPr/>
            <p:nvPr/>
          </p:nvSpPr>
          <p:spPr>
            <a:xfrm>
              <a:off x="457200" y="4292337"/>
              <a:ext cx="3413760" cy="316992"/>
            </a:xfrm>
            <a:prstGeom prst="rect">
              <a:avLst/>
            </a:prstGeom>
            <a:noFill/>
            <a:ln/>
          </p:spPr>
          <p:txBody>
            <a:bodyPr wrap="square" rtlCol="0" anchor="ctr"/>
            <a:lstStyle/>
            <a:p>
              <a:r>
                <a:rPr lang="en-US" b="1" dirty="0">
                  <a:solidFill>
                    <a:srgbClr val="22C55E"/>
                  </a:solidFill>
                  <a:latin typeface="Calibri" pitchFamily="34" charset="0"/>
                  <a:ea typeface="Calibri" pitchFamily="34" charset="-122"/>
                  <a:cs typeface="Calibri" pitchFamily="34" charset="-120"/>
                </a:rPr>
                <a:t>Avride</a:t>
              </a:r>
              <a:endParaRPr lang="en-US" dirty="0"/>
            </a:p>
          </p:txBody>
        </p:sp>
        <p:sp>
          <p:nvSpPr>
            <p:cNvPr id="27" name="Text 25"/>
            <p:cNvSpPr/>
            <p:nvPr/>
          </p:nvSpPr>
          <p:spPr>
            <a:xfrm>
              <a:off x="457200" y="4584945"/>
              <a:ext cx="3413760" cy="243840"/>
            </a:xfrm>
            <a:prstGeom prst="rect">
              <a:avLst/>
            </a:prstGeom>
            <a:noFill/>
            <a:ln/>
          </p:spPr>
          <p:txBody>
            <a:bodyPr wrap="square" rtlCol="0" anchor="ctr"/>
            <a:lstStyle/>
            <a:p>
              <a:r>
                <a:rPr lang="en-US" sz="1400" i="1" dirty="0">
                  <a:solidFill>
                    <a:srgbClr val="64748B"/>
                  </a:solidFill>
                  <a:latin typeface="Calibri" pitchFamily="34" charset="0"/>
                  <a:ea typeface="Calibri" pitchFamily="34" charset="-122"/>
                  <a:cs typeface="Calibri" pitchFamily="34" charset="-120"/>
                </a:rPr>
                <a:t>Deep Tech — Autonomous vehicles</a:t>
              </a:r>
              <a:endParaRPr lang="en-US" sz="1400" dirty="0"/>
            </a:p>
          </p:txBody>
        </p:sp>
        <p:sp>
          <p:nvSpPr>
            <p:cNvPr id="28" name="Text 26"/>
            <p:cNvSpPr/>
            <p:nvPr/>
          </p:nvSpPr>
          <p:spPr>
            <a:xfrm>
              <a:off x="457200" y="4853169"/>
              <a:ext cx="3413760" cy="877824"/>
            </a:xfrm>
            <a:prstGeom prst="rect">
              <a:avLst/>
            </a:prstGeom>
            <a:noFill/>
            <a:ln/>
          </p:spPr>
          <p:txBody>
            <a:bodyPr wrap="square" rtlCol="0" anchor="ctr"/>
            <a:lstStyle/>
            <a:p>
              <a:r>
                <a:rPr lang="en-US" sz="1200" dirty="0">
                  <a:solidFill>
                    <a:srgbClr val="1E293B"/>
                  </a:solidFill>
                  <a:latin typeface="Calibri" pitchFamily="34" charset="0"/>
                  <a:ea typeface="Calibri" pitchFamily="34" charset="-122"/>
                  <a:cs typeface="Calibri" pitchFamily="34" charset="-120"/>
                </a:rPr>
                <a:t>Develops autonomous driving technology for self-driving cars and last-mile delivery robots. Spun out of Yandex's world-class AV research program. Has real-world deployments.</a:t>
              </a:r>
              <a:endParaRPr lang="en-US" sz="1200" dirty="0"/>
            </a:p>
          </p:txBody>
        </p:sp>
        <p:sp>
          <p:nvSpPr>
            <p:cNvPr id="29" name="Text 27"/>
            <p:cNvSpPr/>
            <p:nvPr/>
          </p:nvSpPr>
          <p:spPr>
            <a:xfrm>
              <a:off x="457200" y="5730993"/>
              <a:ext cx="3413760" cy="914400"/>
            </a:xfrm>
            <a:prstGeom prst="rect">
              <a:avLst/>
            </a:prstGeom>
            <a:noFill/>
            <a:ln/>
          </p:spPr>
          <p:txBody>
            <a:bodyPr wrap="square" rtlCol="0" anchor="ctr"/>
            <a:lstStyle/>
            <a:p>
              <a:pPr marL="457189" indent="-457189">
                <a:buSzPct val="100000"/>
                <a:buChar char="•"/>
              </a:pPr>
              <a:r>
                <a:rPr lang="en-US" sz="1100" dirty="0">
                  <a:solidFill>
                    <a:srgbClr val="22C55E"/>
                  </a:solidFill>
                  <a:latin typeface="Calibri" pitchFamily="34" charset="0"/>
                  <a:ea typeface="Calibri" pitchFamily="34" charset="-122"/>
                  <a:cs typeface="Calibri" pitchFamily="34" charset="-120"/>
                </a:rPr>
                <a:t>NVIDIA strategic alliance for Physical AI</a:t>
              </a:r>
              <a:endParaRPr lang="en-US" sz="1100" dirty="0"/>
            </a:p>
            <a:p>
              <a:pPr marL="457189" indent="-457189">
                <a:buSzPct val="100000"/>
                <a:buChar char="•"/>
              </a:pPr>
              <a:r>
                <a:rPr lang="en-US" sz="1100" dirty="0">
                  <a:solidFill>
                    <a:srgbClr val="22C55E"/>
                  </a:solidFill>
                  <a:latin typeface="Calibri" pitchFamily="34" charset="0"/>
                  <a:ea typeface="Calibri" pitchFamily="34" charset="-122"/>
                  <a:cs typeface="Calibri" pitchFamily="34" charset="-120"/>
                </a:rPr>
                <a:t>Robotics &amp; Physical AI Summit sponsor</a:t>
              </a:r>
              <a:endParaRPr lang="en-US" sz="1100" dirty="0"/>
            </a:p>
            <a:p>
              <a:pPr marL="457189" indent="-457189">
                <a:buSzPct val="100000"/>
                <a:buChar char="•"/>
              </a:pPr>
              <a:r>
                <a:rPr lang="en-US" sz="1100" dirty="0">
                  <a:solidFill>
                    <a:srgbClr val="22C55E"/>
                  </a:solidFill>
                  <a:latin typeface="Calibri" pitchFamily="34" charset="0"/>
                  <a:ea typeface="Calibri" pitchFamily="34" charset="-122"/>
                  <a:cs typeface="Calibri" pitchFamily="34" charset="-120"/>
                </a:rPr>
                <a:t>Real-world delivery robot deployments</a:t>
              </a:r>
              <a:endParaRPr lang="en-US" sz="1100" dirty="0"/>
            </a:p>
            <a:p>
              <a:pPr marL="457189" indent="-457189">
                <a:buSzPct val="100000"/>
                <a:buChar char="•"/>
              </a:pPr>
              <a:r>
                <a:rPr lang="en-US" sz="1100" dirty="0">
                  <a:solidFill>
                    <a:srgbClr val="22C55E"/>
                  </a:solidFill>
                  <a:latin typeface="Calibri" pitchFamily="34" charset="0"/>
                  <a:ea typeface="Calibri" pitchFamily="34" charset="-122"/>
                  <a:cs typeface="Calibri" pitchFamily="34" charset="-120"/>
                </a:rPr>
                <a:t>Could spin off or be separately valued</a:t>
              </a:r>
              <a:endParaRPr lang="en-US" sz="1100" dirty="0"/>
            </a:p>
          </p:txBody>
        </p:sp>
        <p:sp>
          <p:nvSpPr>
            <p:cNvPr id="30" name="Shape 28"/>
            <p:cNvSpPr/>
            <p:nvPr/>
          </p:nvSpPr>
          <p:spPr>
            <a:xfrm>
              <a:off x="4236720" y="4146033"/>
              <a:ext cx="3718560" cy="2560320"/>
            </a:xfrm>
            <a:prstGeom prst="rect">
              <a:avLst/>
            </a:prstGeom>
            <a:solidFill>
              <a:srgbClr val="FFFFFF"/>
            </a:solidFill>
            <a:ln w="12700">
              <a:solidFill>
                <a:srgbClr val="0077A8"/>
              </a:solidFill>
              <a:prstDash val="solid"/>
            </a:ln>
            <a:effectLst>
              <a:outerShdw blurRad="127000" dist="50800" dir="8100000" algn="bl" rotWithShape="0">
                <a:srgbClr val="000000">
                  <a:alpha val="18000"/>
                </a:srgbClr>
              </a:outerShdw>
            </a:effectLst>
          </p:spPr>
        </p:sp>
        <p:sp>
          <p:nvSpPr>
            <p:cNvPr id="31" name="Shape 29"/>
            <p:cNvSpPr/>
            <p:nvPr/>
          </p:nvSpPr>
          <p:spPr>
            <a:xfrm>
              <a:off x="4236720" y="4146033"/>
              <a:ext cx="3718560" cy="85344"/>
            </a:xfrm>
            <a:prstGeom prst="rect">
              <a:avLst/>
            </a:prstGeom>
            <a:solidFill>
              <a:srgbClr val="0077A8"/>
            </a:solidFill>
            <a:ln w="12700">
              <a:solidFill>
                <a:srgbClr val="0077A8"/>
              </a:solidFill>
              <a:prstDash val="solid"/>
            </a:ln>
          </p:spPr>
        </p:sp>
        <p:sp>
          <p:nvSpPr>
            <p:cNvPr id="32" name="Text 30"/>
            <p:cNvSpPr/>
            <p:nvPr/>
          </p:nvSpPr>
          <p:spPr>
            <a:xfrm>
              <a:off x="4383024" y="4292337"/>
              <a:ext cx="3413760" cy="316992"/>
            </a:xfrm>
            <a:prstGeom prst="rect">
              <a:avLst/>
            </a:prstGeom>
            <a:noFill/>
            <a:ln/>
          </p:spPr>
          <p:txBody>
            <a:bodyPr wrap="square" rtlCol="0" anchor="ctr"/>
            <a:lstStyle/>
            <a:p>
              <a:r>
                <a:rPr lang="en-US" b="1" dirty="0">
                  <a:solidFill>
                    <a:srgbClr val="0077A8"/>
                  </a:solidFill>
                  <a:latin typeface="Calibri" pitchFamily="34" charset="0"/>
                  <a:ea typeface="Calibri" pitchFamily="34" charset="-122"/>
                  <a:cs typeface="Calibri" pitchFamily="34" charset="-120"/>
                </a:rPr>
                <a:t>ClickHouse (Investment)</a:t>
              </a:r>
              <a:endParaRPr lang="en-US" dirty="0"/>
            </a:p>
          </p:txBody>
        </p:sp>
        <p:sp>
          <p:nvSpPr>
            <p:cNvPr id="33" name="Text 31"/>
            <p:cNvSpPr/>
            <p:nvPr/>
          </p:nvSpPr>
          <p:spPr>
            <a:xfrm>
              <a:off x="4383024" y="4584945"/>
              <a:ext cx="3413760" cy="243840"/>
            </a:xfrm>
            <a:prstGeom prst="rect">
              <a:avLst/>
            </a:prstGeom>
            <a:noFill/>
            <a:ln/>
          </p:spPr>
          <p:txBody>
            <a:bodyPr wrap="square" rtlCol="0" anchor="ctr"/>
            <a:lstStyle/>
            <a:p>
              <a:r>
                <a:rPr lang="en-US" sz="1400" i="1" dirty="0">
                  <a:solidFill>
                    <a:srgbClr val="64748B"/>
                  </a:solidFill>
                  <a:latin typeface="Calibri" pitchFamily="34" charset="0"/>
                  <a:ea typeface="Calibri" pitchFamily="34" charset="-122"/>
                  <a:cs typeface="Calibri" pitchFamily="34" charset="-120"/>
                </a:rPr>
                <a:t>Retained equity investment</a:t>
              </a:r>
              <a:endParaRPr lang="en-US" sz="1400" dirty="0"/>
            </a:p>
          </p:txBody>
        </p:sp>
        <p:sp>
          <p:nvSpPr>
            <p:cNvPr id="34" name="Text 32"/>
            <p:cNvSpPr/>
            <p:nvPr/>
          </p:nvSpPr>
          <p:spPr>
            <a:xfrm>
              <a:off x="4383024" y="4853169"/>
              <a:ext cx="3413760" cy="877824"/>
            </a:xfrm>
            <a:prstGeom prst="rect">
              <a:avLst/>
            </a:prstGeom>
            <a:noFill/>
            <a:ln/>
          </p:spPr>
          <p:txBody>
            <a:bodyPr wrap="square" rtlCol="0" anchor="ctr"/>
            <a:lstStyle/>
            <a:p>
              <a:r>
                <a:rPr lang="en-US" sz="1200" dirty="0">
                  <a:solidFill>
                    <a:srgbClr val="1E293B"/>
                  </a:solidFill>
                  <a:latin typeface="Calibri" pitchFamily="34" charset="0"/>
                  <a:ea typeface="Calibri" pitchFamily="34" charset="-122"/>
                  <a:cs typeface="Calibri" pitchFamily="34" charset="-120"/>
                </a:rPr>
                <a:t>ClickHouse is the world's fastest open-source OLAP database. Nebius retains equity from Yandex's investment. ClickHouse has raised &gt;$300M+ and is used by major enterprises globally.</a:t>
              </a:r>
              <a:endParaRPr lang="en-US" sz="1200" dirty="0"/>
            </a:p>
          </p:txBody>
        </p:sp>
        <p:sp>
          <p:nvSpPr>
            <p:cNvPr id="35" name="Text 33"/>
            <p:cNvSpPr/>
            <p:nvPr/>
          </p:nvSpPr>
          <p:spPr>
            <a:xfrm>
              <a:off x="4383024" y="5730993"/>
              <a:ext cx="3413760" cy="914400"/>
            </a:xfrm>
            <a:prstGeom prst="rect">
              <a:avLst/>
            </a:prstGeom>
            <a:noFill/>
            <a:ln/>
          </p:spPr>
          <p:txBody>
            <a:bodyPr wrap="square" rtlCol="0" anchor="ctr"/>
            <a:lstStyle/>
            <a:p>
              <a:pPr marL="457189" indent="-457189">
                <a:buSzPct val="100000"/>
                <a:buChar char="•"/>
              </a:pPr>
              <a:r>
                <a:rPr lang="en-US" sz="1100" dirty="0">
                  <a:solidFill>
                    <a:srgbClr val="0077A8"/>
                  </a:solidFill>
                  <a:latin typeface="Calibri" pitchFamily="34" charset="0"/>
                  <a:ea typeface="Calibri" pitchFamily="34" charset="-122"/>
                  <a:cs typeface="Calibri" pitchFamily="34" charset="-120"/>
                </a:rPr>
                <a:t>Open-source analytics database</a:t>
              </a:r>
              <a:endParaRPr lang="en-US" sz="1100" dirty="0"/>
            </a:p>
            <a:p>
              <a:pPr marL="457189" indent="-457189">
                <a:buSzPct val="100000"/>
                <a:buChar char="•"/>
              </a:pPr>
              <a:r>
                <a:rPr lang="en-US" sz="1100" dirty="0">
                  <a:solidFill>
                    <a:srgbClr val="0077A8"/>
                  </a:solidFill>
                  <a:latin typeface="Calibri" pitchFamily="34" charset="0"/>
                  <a:ea typeface="Calibri" pitchFamily="34" charset="-122"/>
                  <a:cs typeface="Calibri" pitchFamily="34" charset="-120"/>
                </a:rPr>
                <a:t>Used by Cloudflare, ByteDance, Uber</a:t>
              </a:r>
              <a:endParaRPr lang="en-US" sz="1100" dirty="0"/>
            </a:p>
            <a:p>
              <a:pPr marL="457189" indent="-457189">
                <a:buSzPct val="100000"/>
                <a:buChar char="•"/>
              </a:pPr>
              <a:r>
                <a:rPr lang="en-US" sz="1100" dirty="0">
                  <a:solidFill>
                    <a:srgbClr val="0077A8"/>
                  </a:solidFill>
                  <a:latin typeface="Calibri" pitchFamily="34" charset="0"/>
                  <a:ea typeface="Calibri" pitchFamily="34" charset="-122"/>
                  <a:cs typeface="Calibri" pitchFamily="34" charset="-120"/>
                </a:rPr>
                <a:t>Nebius retains equity stake</a:t>
              </a:r>
              <a:endParaRPr lang="en-US" sz="1100" dirty="0"/>
            </a:p>
            <a:p>
              <a:pPr marL="457189" indent="-457189">
                <a:buSzPct val="100000"/>
                <a:buChar char="•"/>
              </a:pPr>
              <a:r>
                <a:rPr lang="en-US" sz="1100" dirty="0">
                  <a:solidFill>
                    <a:srgbClr val="0077A8"/>
                  </a:solidFill>
                  <a:latin typeface="Calibri" pitchFamily="34" charset="0"/>
                  <a:ea typeface="Calibri" pitchFamily="34" charset="-122"/>
                  <a:cs typeface="Calibri" pitchFamily="34" charset="-120"/>
                </a:rPr>
                <a:t>Potential liquidity event value</a:t>
              </a:r>
              <a:endParaRPr lang="en-US" sz="1100" dirty="0"/>
            </a:p>
          </p:txBody>
        </p:sp>
        <p:sp>
          <p:nvSpPr>
            <p:cNvPr id="36" name="Shape 34"/>
            <p:cNvSpPr/>
            <p:nvPr/>
          </p:nvSpPr>
          <p:spPr>
            <a:xfrm>
              <a:off x="8162544" y="4146033"/>
              <a:ext cx="3718560" cy="2560320"/>
            </a:xfrm>
            <a:prstGeom prst="rect">
              <a:avLst/>
            </a:prstGeom>
            <a:solidFill>
              <a:srgbClr val="FFFFFF"/>
            </a:solidFill>
            <a:ln w="12700">
              <a:solidFill>
                <a:srgbClr val="0038B8"/>
              </a:solidFill>
              <a:prstDash val="solid"/>
            </a:ln>
            <a:effectLst>
              <a:outerShdw blurRad="127000" dist="50800" dir="8100000" algn="bl" rotWithShape="0">
                <a:srgbClr val="000000">
                  <a:alpha val="18000"/>
                </a:srgbClr>
              </a:outerShdw>
            </a:effectLst>
          </p:spPr>
        </p:sp>
        <p:sp>
          <p:nvSpPr>
            <p:cNvPr id="37" name="Shape 35"/>
            <p:cNvSpPr/>
            <p:nvPr/>
          </p:nvSpPr>
          <p:spPr>
            <a:xfrm>
              <a:off x="8162544" y="4146033"/>
              <a:ext cx="3718560" cy="85344"/>
            </a:xfrm>
            <a:prstGeom prst="rect">
              <a:avLst/>
            </a:prstGeom>
            <a:solidFill>
              <a:srgbClr val="0038B8"/>
            </a:solidFill>
            <a:ln w="12700">
              <a:solidFill>
                <a:srgbClr val="0038B8"/>
              </a:solidFill>
              <a:prstDash val="solid"/>
            </a:ln>
          </p:spPr>
        </p:sp>
        <p:sp>
          <p:nvSpPr>
            <p:cNvPr id="38" name="Text 36"/>
            <p:cNvSpPr/>
            <p:nvPr/>
          </p:nvSpPr>
          <p:spPr>
            <a:xfrm>
              <a:off x="8308848" y="4292337"/>
              <a:ext cx="3413760" cy="316992"/>
            </a:xfrm>
            <a:prstGeom prst="rect">
              <a:avLst/>
            </a:prstGeom>
            <a:noFill/>
            <a:ln/>
          </p:spPr>
          <p:txBody>
            <a:bodyPr wrap="square" rtlCol="0" anchor="ctr"/>
            <a:lstStyle/>
            <a:p>
              <a:r>
                <a:rPr lang="en-US" b="1" dirty="0">
                  <a:solidFill>
                    <a:srgbClr val="0038B8"/>
                  </a:solidFill>
                  <a:latin typeface="Calibri" pitchFamily="34" charset="0"/>
                  <a:ea typeface="Calibri" pitchFamily="34" charset="-122"/>
                  <a:cs typeface="Calibri" pitchFamily="34" charset="-120"/>
                </a:rPr>
                <a:t>Israeli National Supercomputer</a:t>
              </a:r>
              <a:endParaRPr lang="en-US" dirty="0"/>
            </a:p>
          </p:txBody>
        </p:sp>
        <p:sp>
          <p:nvSpPr>
            <p:cNvPr id="39" name="Text 37"/>
            <p:cNvSpPr/>
            <p:nvPr/>
          </p:nvSpPr>
          <p:spPr>
            <a:xfrm>
              <a:off x="8308848" y="4584945"/>
              <a:ext cx="3413760" cy="243840"/>
            </a:xfrm>
            <a:prstGeom prst="rect">
              <a:avLst/>
            </a:prstGeom>
            <a:noFill/>
            <a:ln/>
          </p:spPr>
          <p:txBody>
            <a:bodyPr wrap="square" rtlCol="0" anchor="ctr"/>
            <a:lstStyle/>
            <a:p>
              <a:r>
                <a:rPr lang="en-US" sz="1400" i="1" dirty="0">
                  <a:solidFill>
                    <a:srgbClr val="64748B"/>
                  </a:solidFill>
                  <a:latin typeface="Calibri" pitchFamily="34" charset="0"/>
                  <a:ea typeface="Calibri" pitchFamily="34" charset="-122"/>
                  <a:cs typeface="Calibri" pitchFamily="34" charset="-120"/>
                </a:rPr>
                <a:t>Govt-backed project 2025</a:t>
              </a:r>
              <a:endParaRPr lang="en-US" sz="1400" dirty="0"/>
            </a:p>
          </p:txBody>
        </p:sp>
        <p:sp>
          <p:nvSpPr>
            <p:cNvPr id="40" name="Text 38"/>
            <p:cNvSpPr/>
            <p:nvPr/>
          </p:nvSpPr>
          <p:spPr>
            <a:xfrm>
              <a:off x="8308848" y="4853169"/>
              <a:ext cx="3413760" cy="877824"/>
            </a:xfrm>
            <a:prstGeom prst="rect">
              <a:avLst/>
            </a:prstGeom>
            <a:noFill/>
            <a:ln/>
          </p:spPr>
          <p:txBody>
            <a:bodyPr wrap="square" rtlCol="0" anchor="ctr"/>
            <a:lstStyle/>
            <a:p>
              <a:r>
                <a:rPr lang="en-US" sz="1200" dirty="0">
                  <a:solidFill>
                    <a:srgbClr val="1E293B"/>
                  </a:solidFill>
                  <a:latin typeface="Calibri" pitchFamily="34" charset="0"/>
                  <a:ea typeface="Calibri" pitchFamily="34" charset="-122"/>
                  <a:cs typeface="Calibri" pitchFamily="34" charset="-120"/>
                </a:rPr>
                <a:t>Nebius agreed to build and operate a $140M national supercomputer in Israel, co-funded by the Israeli Innovation Authority. Demonstrates sovereign AI strategy.</a:t>
              </a:r>
              <a:endParaRPr lang="en-US" sz="1200" dirty="0"/>
            </a:p>
          </p:txBody>
        </p:sp>
        <p:sp>
          <p:nvSpPr>
            <p:cNvPr id="41" name="Text 39"/>
            <p:cNvSpPr/>
            <p:nvPr/>
          </p:nvSpPr>
          <p:spPr>
            <a:xfrm>
              <a:off x="8308848" y="5730993"/>
              <a:ext cx="3413760" cy="914400"/>
            </a:xfrm>
            <a:prstGeom prst="rect">
              <a:avLst/>
            </a:prstGeom>
            <a:noFill/>
            <a:ln/>
          </p:spPr>
          <p:txBody>
            <a:bodyPr wrap="square" rtlCol="0" anchor="ctr"/>
            <a:lstStyle/>
            <a:p>
              <a:pPr marL="457189" indent="-457189">
                <a:buSzPct val="100000"/>
                <a:buChar char="•"/>
              </a:pPr>
              <a:r>
                <a:rPr lang="en-US" sz="1100" dirty="0">
                  <a:solidFill>
                    <a:srgbClr val="0038B8"/>
                  </a:solidFill>
                  <a:latin typeface="Calibri" pitchFamily="34" charset="0"/>
                  <a:ea typeface="Calibri" pitchFamily="34" charset="-122"/>
                  <a:cs typeface="Calibri" pitchFamily="34" charset="-120"/>
                </a:rPr>
                <a:t>$140M project value</a:t>
              </a:r>
              <a:endParaRPr lang="en-US" sz="1100" dirty="0"/>
            </a:p>
            <a:p>
              <a:pPr marL="457189" indent="-457189">
                <a:buSzPct val="100000"/>
                <a:buChar char="•"/>
              </a:pPr>
              <a:r>
                <a:rPr lang="en-US" sz="1100" dirty="0">
                  <a:solidFill>
                    <a:srgbClr val="0038B8"/>
                  </a:solidFill>
                  <a:latin typeface="Calibri" pitchFamily="34" charset="0"/>
                  <a:ea typeface="Calibri" pitchFamily="34" charset="-122"/>
                  <a:cs typeface="Calibri" pitchFamily="34" charset="-120"/>
                </a:rPr>
                <a:t>Govt-backed — Israel Innovation Auth.</a:t>
              </a:r>
              <a:endParaRPr lang="en-US" sz="1100" dirty="0"/>
            </a:p>
            <a:p>
              <a:pPr marL="457189" indent="-457189">
                <a:buSzPct val="100000"/>
                <a:buChar char="•"/>
              </a:pPr>
              <a:r>
                <a:rPr lang="en-US" sz="1100" dirty="0">
                  <a:solidFill>
                    <a:srgbClr val="0038B8"/>
                  </a:solidFill>
                  <a:latin typeface="Calibri" pitchFamily="34" charset="0"/>
                  <a:ea typeface="Calibri" pitchFamily="34" charset="-122"/>
                  <a:cs typeface="Calibri" pitchFamily="34" charset="-120"/>
                </a:rPr>
                <a:t>Builds sovereign AI credentials</a:t>
              </a:r>
              <a:endParaRPr lang="en-US" sz="1100" dirty="0"/>
            </a:p>
            <a:p>
              <a:pPr marL="457189" indent="-457189">
                <a:buSzPct val="100000"/>
                <a:buChar char="•"/>
              </a:pPr>
              <a:r>
                <a:rPr lang="en-US" sz="1100" dirty="0">
                  <a:solidFill>
                    <a:srgbClr val="0038B8"/>
                  </a:solidFill>
                  <a:latin typeface="Calibri" pitchFamily="34" charset="0"/>
                  <a:ea typeface="Calibri" pitchFamily="34" charset="-122"/>
                  <a:cs typeface="Calibri" pitchFamily="34" charset="-120"/>
                </a:rPr>
                <a:t>Template for more EU/govt deals</a:t>
              </a:r>
              <a:endParaRPr lang="en-US" sz="1100"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293B"/>
          </a:solidFill>
          <a:ln w="12700">
            <a:solidFill>
              <a:srgbClr val="1E293B"/>
            </a:solidFill>
            <a:prstDash val="solid"/>
          </a:ln>
        </p:spPr>
      </p:sp>
      <p:sp>
        <p:nvSpPr>
          <p:cNvPr id="3" name="Shape 1"/>
          <p:cNvSpPr/>
          <p:nvPr/>
        </p:nvSpPr>
        <p:spPr>
          <a:xfrm>
            <a:off x="0" y="0"/>
            <a:ext cx="463296" cy="914400"/>
          </a:xfrm>
          <a:prstGeom prst="rect">
            <a:avLst/>
          </a:prstGeom>
          <a:solidFill>
            <a:srgbClr val="00B4D8"/>
          </a:solidFill>
          <a:ln w="12700">
            <a:solidFill>
              <a:srgbClr val="00B4D8"/>
            </a:solidFill>
            <a:prstDash val="solid"/>
          </a:ln>
        </p:spPr>
      </p:sp>
      <p:sp>
        <p:nvSpPr>
          <p:cNvPr id="4" name="Text 2"/>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7: COMPETITIVE LANDSCAPE</a:t>
            </a:r>
            <a:endParaRPr lang="en-US" sz="2267" dirty="0"/>
          </a:p>
        </p:txBody>
      </p:sp>
      <p:sp>
        <p:nvSpPr>
          <p:cNvPr id="5" name="Text 3"/>
          <p:cNvSpPr/>
          <p:nvPr/>
        </p:nvSpPr>
        <p:spPr>
          <a:xfrm>
            <a:off x="609600" y="914400"/>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Nebius vs CoreWeave vs Hyperscalers — who wins the AI compute war?</a:t>
            </a:r>
          </a:p>
        </p:txBody>
      </p:sp>
      <p:graphicFrame>
        <p:nvGraphicFramePr>
          <p:cNvPr id="9" name="Table 0"/>
          <p:cNvGraphicFramePr>
            <a:graphicFrameLocks noGrp="1"/>
          </p:cNvGraphicFramePr>
          <p:nvPr>
            <p:extLst>
              <p:ext uri="{D42A27DB-BD31-4B8C-83A1-F6EECF244321}">
                <p14:modId xmlns:p14="http://schemas.microsoft.com/office/powerpoint/2010/main" val="2939435194"/>
              </p:ext>
            </p:extLst>
          </p:nvPr>
        </p:nvGraphicFramePr>
        <p:xfrm>
          <a:off x="487680" y="1341120"/>
          <a:ext cx="11338560" cy="4591549"/>
        </p:xfrm>
        <a:graphic>
          <a:graphicData uri="http://schemas.openxmlformats.org/drawingml/2006/table">
            <a:tbl>
              <a:tblPr/>
              <a:tblGrid>
                <a:gridCol w="1793813">
                  <a:extLst>
                    <a:ext uri="{9D8B030D-6E8A-4147-A177-3AD203B41FA5}">
                      <a16:colId xmlns:a16="http://schemas.microsoft.com/office/drawing/2014/main" val="20000"/>
                    </a:ext>
                  </a:extLst>
                </a:gridCol>
                <a:gridCol w="2534365">
                  <a:extLst>
                    <a:ext uri="{9D8B030D-6E8A-4147-A177-3AD203B41FA5}">
                      <a16:colId xmlns:a16="http://schemas.microsoft.com/office/drawing/2014/main" val="20001"/>
                    </a:ext>
                  </a:extLst>
                </a:gridCol>
                <a:gridCol w="2350419">
                  <a:extLst>
                    <a:ext uri="{9D8B030D-6E8A-4147-A177-3AD203B41FA5}">
                      <a16:colId xmlns:a16="http://schemas.microsoft.com/office/drawing/2014/main" val="20002"/>
                    </a:ext>
                  </a:extLst>
                </a:gridCol>
                <a:gridCol w="2248228">
                  <a:extLst>
                    <a:ext uri="{9D8B030D-6E8A-4147-A177-3AD203B41FA5}">
                      <a16:colId xmlns:a16="http://schemas.microsoft.com/office/drawing/2014/main" val="20003"/>
                    </a:ext>
                  </a:extLst>
                </a:gridCol>
                <a:gridCol w="2411735">
                  <a:extLst>
                    <a:ext uri="{9D8B030D-6E8A-4147-A177-3AD203B41FA5}">
                      <a16:colId xmlns:a16="http://schemas.microsoft.com/office/drawing/2014/main" val="20004"/>
                    </a:ext>
                  </a:extLst>
                </a:gridCol>
              </a:tblGrid>
              <a:tr h="424988">
                <a:tc>
                  <a:txBody>
                    <a:bodyPr/>
                    <a:lstStyle/>
                    <a:p>
                      <a:pPr marL="0" indent="0">
                        <a:buNone/>
                      </a:pPr>
                      <a:r>
                        <a:rPr lang="en-US" sz="1800" b="1" dirty="0">
                          <a:solidFill>
                            <a:srgbClr val="FFFFFF"/>
                          </a:solidFill>
                        </a:rPr>
                        <a:t>Dimension</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800" b="1" dirty="0">
                          <a:solidFill>
                            <a:srgbClr val="FFFFFF"/>
                          </a:solidFill>
                        </a:rPr>
                        <a:t>Nebius (NBIS)</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800" b="1" dirty="0">
                          <a:solidFill>
                            <a:srgbClr val="FFFFFF"/>
                          </a:solidFill>
                        </a:rPr>
                        <a:t>CoreWeave (CRWV)</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800" b="1" dirty="0">
                          <a:solidFill>
                            <a:srgbClr val="FFFFFF"/>
                          </a:solidFill>
                        </a:rPr>
                        <a:t>AWS / Azure / GCP</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800" b="1" dirty="0">
                          <a:solidFill>
                            <a:srgbClr val="FFFFFF"/>
                          </a:solidFill>
                        </a:rPr>
                        <a:t>Lambda Labs</a:t>
                      </a:r>
                      <a:endParaRPr lang="en-US" sz="18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362959">
                <a:tc>
                  <a:txBody>
                    <a:bodyPr/>
                    <a:lstStyle/>
                    <a:p>
                      <a:pPr marL="0" indent="0">
                        <a:buNone/>
                      </a:pPr>
                      <a:r>
                        <a:rPr lang="en-US" sz="1200" b="1" dirty="0">
                          <a:solidFill>
                            <a:srgbClr val="1E293B"/>
                          </a:solidFill>
                        </a:rPr>
                        <a:t>Listed On</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077A8"/>
                          </a:solidFill>
                        </a:rPr>
                        <a:t>Nasdaq (NBIS)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Nasdaq (CRWV)</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Parent companies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Private</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2959">
                <a:tc>
                  <a:txBody>
                    <a:bodyPr/>
                    <a:lstStyle/>
                    <a:p>
                      <a:pPr marL="0" indent="0">
                        <a:buNone/>
                      </a:pPr>
                      <a:r>
                        <a:rPr lang="en-US" sz="1200" b="1" dirty="0">
                          <a:solidFill>
                            <a:srgbClr val="1E293B"/>
                          </a:solidFill>
                        </a:rPr>
                        <a:t>Market Cap</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b="1" dirty="0">
                          <a:solidFill>
                            <a:srgbClr val="0077A8"/>
                          </a:solidFill>
                        </a:rPr>
                        <a:t>~$26B</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~$35B+</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dirty="0">
                          <a:solidFill>
                            <a:srgbClr val="1E293B"/>
                          </a:solidFill>
                        </a:rPr>
                        <a:t>Multi-trillion</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dirty="0">
                          <a:solidFill>
                            <a:srgbClr val="1E293B"/>
                          </a:solidFill>
                        </a:rPr>
                        <a:t>~$1B est.</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extLst>
                  <a:ext uri="{0D108BD9-81ED-4DB2-BD59-A6C34878D82A}">
                    <a16:rowId xmlns:a16="http://schemas.microsoft.com/office/drawing/2014/main" val="10002"/>
                  </a:ext>
                </a:extLst>
              </a:tr>
              <a:tr h="412250">
                <a:tc>
                  <a:txBody>
                    <a:bodyPr/>
                    <a:lstStyle/>
                    <a:p>
                      <a:pPr marL="0" indent="0">
                        <a:buNone/>
                      </a:pPr>
                      <a:r>
                        <a:rPr lang="en-US" sz="1200" b="1" dirty="0">
                          <a:solidFill>
                            <a:srgbClr val="1E293B"/>
                          </a:solidFill>
                        </a:rPr>
                        <a:t>Business Model</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077A8"/>
                          </a:solidFill>
                        </a:rPr>
                        <a:t>GPU cloud + AI Studio</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GPU rental (debt-funded)</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General cloud + AI</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GPU rental (indie labs)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2959">
                <a:tc>
                  <a:txBody>
                    <a:bodyPr/>
                    <a:lstStyle/>
                    <a:p>
                      <a:pPr marL="0" indent="0">
                        <a:buNone/>
                      </a:pPr>
                      <a:r>
                        <a:rPr lang="en-US" sz="1200" b="1" dirty="0">
                          <a:solidFill>
                            <a:srgbClr val="1E293B"/>
                          </a:solidFill>
                        </a:rPr>
                        <a:t>Capital Structure</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b="1" dirty="0">
                          <a:solidFill>
                            <a:srgbClr val="0077A8"/>
                          </a:solidFill>
                        </a:rPr>
                        <a:t>Low debt; self-funded</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Highly leveraged</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dirty="0">
                          <a:solidFill>
                            <a:srgbClr val="1E293B"/>
                          </a:solidFill>
                        </a:rPr>
                        <a:t>Vast balance sheets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dirty="0">
                          <a:solidFill>
                            <a:srgbClr val="1E293B"/>
                          </a:solidFill>
                        </a:rPr>
                        <a:t>VC-backed</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extLst>
                  <a:ext uri="{0D108BD9-81ED-4DB2-BD59-A6C34878D82A}">
                    <a16:rowId xmlns:a16="http://schemas.microsoft.com/office/drawing/2014/main" val="10004"/>
                  </a:ext>
                </a:extLst>
              </a:tr>
              <a:tr h="412250">
                <a:tc>
                  <a:txBody>
                    <a:bodyPr/>
                    <a:lstStyle/>
                    <a:p>
                      <a:pPr marL="0" indent="0">
                        <a:buNone/>
                      </a:pPr>
                      <a:r>
                        <a:rPr lang="en-US" sz="1200" b="1" dirty="0">
                          <a:solidFill>
                            <a:srgbClr val="1E293B"/>
                          </a:solidFill>
                        </a:rPr>
                        <a:t>GPU Access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077A8"/>
                          </a:solidFill>
                        </a:rPr>
                        <a:t>NVIDIA strategic partner; early access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NVIDIA anchor customer</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Large allocation</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Spot market access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2959">
                <a:tc>
                  <a:txBody>
                    <a:bodyPr/>
                    <a:lstStyle/>
                    <a:p>
                      <a:pPr marL="0" indent="0">
                        <a:buNone/>
                      </a:pPr>
                      <a:r>
                        <a:rPr lang="en-US" sz="1200" b="1" dirty="0">
                          <a:solidFill>
                            <a:srgbClr val="1E293B"/>
                          </a:solidFill>
                        </a:rPr>
                        <a:t>Differentiation</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b="1" dirty="0">
                          <a:solidFill>
                            <a:srgbClr val="0077A8"/>
                          </a:solidFill>
                        </a:rPr>
                        <a:t>Optimization + EU sovereign cloud</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Scale + execution speed</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dirty="0">
                          <a:solidFill>
                            <a:srgbClr val="1E293B"/>
                          </a:solidFill>
                        </a:rPr>
                        <a:t>Breadth + ecosystem</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dirty="0">
                          <a:solidFill>
                            <a:srgbClr val="1E293B"/>
                          </a:solidFill>
                        </a:rPr>
                        <a:t>Price + flexibility</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extLst>
                  <a:ext uri="{0D108BD9-81ED-4DB2-BD59-A6C34878D82A}">
                    <a16:rowId xmlns:a16="http://schemas.microsoft.com/office/drawing/2014/main" val="10006"/>
                  </a:ext>
                </a:extLst>
              </a:tr>
              <a:tr h="362959">
                <a:tc>
                  <a:txBody>
                    <a:bodyPr/>
                    <a:lstStyle/>
                    <a:p>
                      <a:pPr marL="0" indent="0">
                        <a:buNone/>
                      </a:pPr>
                      <a:r>
                        <a:rPr lang="en-US" sz="1200" b="1" dirty="0">
                          <a:solidFill>
                            <a:srgbClr val="1E293B"/>
                          </a:solidFill>
                        </a:rPr>
                        <a:t>Anchor Customers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077A8"/>
                          </a:solidFill>
                        </a:rPr>
                        <a:t>Meta, Microsoft</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Microsoft, Cohere, others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Millions (SMB→Enterprise)</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AI research labs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2959">
                <a:tc>
                  <a:txBody>
                    <a:bodyPr/>
                    <a:lstStyle/>
                    <a:p>
                      <a:pPr marL="0" indent="0">
                        <a:buNone/>
                      </a:pPr>
                      <a:r>
                        <a:rPr lang="en-US" sz="1200" b="1" dirty="0">
                          <a:solidFill>
                            <a:srgbClr val="1E293B"/>
                          </a:solidFill>
                        </a:rPr>
                        <a:t>Geographic Focus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b="1" dirty="0">
                          <a:solidFill>
                            <a:srgbClr val="0077A8"/>
                          </a:solidFill>
                        </a:rPr>
                        <a:t>EU + US + Israel</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Primarily US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dirty="0">
                          <a:solidFill>
                            <a:srgbClr val="1E293B"/>
                          </a:solidFill>
                        </a:rPr>
                        <a:t>Global</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dirty="0">
                          <a:solidFill>
                            <a:srgbClr val="1E293B"/>
                          </a:solidFill>
                        </a:rPr>
                        <a:t>Primarily US</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extLst>
                  <a:ext uri="{0D108BD9-81ED-4DB2-BD59-A6C34878D82A}">
                    <a16:rowId xmlns:a16="http://schemas.microsoft.com/office/drawing/2014/main" val="10008"/>
                  </a:ext>
                </a:extLst>
              </a:tr>
              <a:tr h="362959">
                <a:tc>
                  <a:txBody>
                    <a:bodyPr/>
                    <a:lstStyle/>
                    <a:p>
                      <a:pPr marL="0" indent="0">
                        <a:buNone/>
                      </a:pPr>
                      <a:r>
                        <a:rPr lang="en-US" sz="1200" b="1" dirty="0">
                          <a:solidFill>
                            <a:srgbClr val="1E293B"/>
                          </a:solidFill>
                        </a:rPr>
                        <a:t>Revenue FY2025</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077A8"/>
                          </a:solidFill>
                        </a:rPr>
                        <a:t>$529.8M (+479%)</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~$1.9B</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Dominant</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~$300M est.</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2959">
                <a:tc>
                  <a:txBody>
                    <a:bodyPr/>
                    <a:lstStyle/>
                    <a:p>
                      <a:pPr marL="0" indent="0">
                        <a:buNone/>
                      </a:pPr>
                      <a:r>
                        <a:rPr lang="en-US" sz="1200" b="1" dirty="0">
                          <a:solidFill>
                            <a:srgbClr val="1E293B"/>
                          </a:solidFill>
                        </a:rPr>
                        <a:t>EBITDA Trajectory</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b="1" dirty="0">
                          <a:solidFill>
                            <a:srgbClr val="0077A8"/>
                          </a:solidFill>
                        </a:rPr>
                        <a:t>Adj. EBITDA positive Q2'25</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Still negative</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dirty="0">
                          <a:solidFill>
                            <a:srgbClr val="1E293B"/>
                          </a:solidFill>
                        </a:rPr>
                        <a:t>Highly profitable</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200" dirty="0">
                          <a:solidFill>
                            <a:srgbClr val="1E293B"/>
                          </a:solidFill>
                        </a:rPr>
                        <a:t>Negative</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extLst>
                  <a:ext uri="{0D108BD9-81ED-4DB2-BD59-A6C34878D82A}">
                    <a16:rowId xmlns:a16="http://schemas.microsoft.com/office/drawing/2014/main" val="10010"/>
                  </a:ext>
                </a:extLst>
              </a:tr>
              <a:tr h="362959">
                <a:tc>
                  <a:txBody>
                    <a:bodyPr/>
                    <a:lstStyle/>
                    <a:p>
                      <a:pPr marL="0" indent="0">
                        <a:buNone/>
                      </a:pPr>
                      <a:r>
                        <a:rPr lang="en-US" sz="1200" b="1" dirty="0">
                          <a:solidFill>
                            <a:srgbClr val="1E293B"/>
                          </a:solidFill>
                        </a:rPr>
                        <a:t>Key Risk</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b="1" dirty="0">
                          <a:solidFill>
                            <a:srgbClr val="0077A8"/>
                          </a:solidFill>
                        </a:rPr>
                        <a:t>Customer concentration</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200" dirty="0">
                          <a:solidFill>
                            <a:srgbClr val="1E293B"/>
                          </a:solidFill>
                        </a:rPr>
                        <a:t>Debt load + competition</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AI commoditizing own revenue</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rPr>
                        <a:t>Scale / capital</a:t>
                      </a:r>
                      <a:endParaRPr lang="en-US" sz="12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7" name="Shape 4"/>
          <p:cNvSpPr/>
          <p:nvPr/>
        </p:nvSpPr>
        <p:spPr>
          <a:xfrm>
            <a:off x="487680" y="6072877"/>
            <a:ext cx="11338560" cy="573024"/>
          </a:xfrm>
          <a:prstGeom prst="rect">
            <a:avLst/>
          </a:prstGeom>
          <a:solidFill>
            <a:srgbClr val="E0F7FA"/>
          </a:solidFill>
          <a:ln w="12700">
            <a:solidFill>
              <a:srgbClr val="00B4D8"/>
            </a:solidFill>
            <a:prstDash val="solid"/>
          </a:ln>
        </p:spPr>
      </p:sp>
      <p:sp>
        <p:nvSpPr>
          <p:cNvPr id="8" name="Text 5"/>
          <p:cNvSpPr/>
          <p:nvPr/>
        </p:nvSpPr>
        <p:spPr>
          <a:xfrm>
            <a:off x="670560" y="6097261"/>
            <a:ext cx="11094720" cy="524256"/>
          </a:xfrm>
          <a:prstGeom prst="rect">
            <a:avLst/>
          </a:prstGeom>
          <a:noFill/>
          <a:ln/>
        </p:spPr>
        <p:txBody>
          <a:bodyPr wrap="square" rtlCol="0" anchor="ctr"/>
          <a:lstStyle/>
          <a:p>
            <a:r>
              <a:rPr lang="en-US" sz="1200" dirty="0">
                <a:solidFill>
                  <a:srgbClr val="1E293B"/>
                </a:solidFill>
                <a:latin typeface="Calibri" pitchFamily="34" charset="0"/>
                <a:ea typeface="Calibri" pitchFamily="34" charset="-122"/>
                <a:cs typeface="Calibri" pitchFamily="34" charset="-120"/>
              </a:rPr>
              <a:t>NEBIUS vs COREWEAVE KEY DIFFERENCE: CoreWeave funded its GPU buildout with ~$15B+ in debt secured against NVIDIA hardware. Nebius started debt-free with $2.8B cash from Yandex sale, only now taking on convertible debt ($4.34B) after securing $45B+ in contracted revenue. Fundamentally different risk profiles.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4A1A1A"/>
          </a:solidFill>
          <a:ln w="12700">
            <a:solidFill>
              <a:srgbClr val="4A1A1A"/>
            </a:solidFill>
            <a:prstDash val="solid"/>
          </a:ln>
        </p:spPr>
      </p:sp>
      <p:sp>
        <p:nvSpPr>
          <p:cNvPr id="3" name="Shape 1"/>
          <p:cNvSpPr/>
          <p:nvPr/>
        </p:nvSpPr>
        <p:spPr>
          <a:xfrm>
            <a:off x="0" y="0"/>
            <a:ext cx="463296" cy="914400"/>
          </a:xfrm>
          <a:prstGeom prst="rect">
            <a:avLst/>
          </a:prstGeom>
          <a:solidFill>
            <a:srgbClr val="EF4444"/>
          </a:solidFill>
          <a:ln w="12700">
            <a:solidFill>
              <a:srgbClr val="EF4444"/>
            </a:solidFill>
            <a:prstDash val="solid"/>
          </a:ln>
        </p:spPr>
      </p:sp>
      <p:sp>
        <p:nvSpPr>
          <p:cNvPr id="4" name="Text 2"/>
          <p:cNvSpPr/>
          <p:nvPr/>
        </p:nvSpPr>
        <p:spPr>
          <a:xfrm>
            <a:off x="670560" y="121920"/>
            <a:ext cx="109728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8: RED FLAGS &amp; INVESTMENT RISKS</a:t>
            </a:r>
            <a:endParaRPr lang="en-US" sz="2267" dirty="0"/>
          </a:p>
        </p:txBody>
      </p:sp>
      <p:grpSp>
        <p:nvGrpSpPr>
          <p:cNvPr id="53" name="Group 52">
            <a:extLst>
              <a:ext uri="{FF2B5EF4-FFF2-40B4-BE49-F238E27FC236}">
                <a16:creationId xmlns:a16="http://schemas.microsoft.com/office/drawing/2014/main" id="{2835AAB6-64F7-EB08-0D6A-16A7A6D8804D}"/>
              </a:ext>
            </a:extLst>
          </p:cNvPr>
          <p:cNvGrpSpPr/>
          <p:nvPr/>
        </p:nvGrpSpPr>
        <p:grpSpPr>
          <a:xfrm>
            <a:off x="426720" y="1097280"/>
            <a:ext cx="11216640" cy="5292286"/>
            <a:chOff x="426720" y="1097280"/>
            <a:chExt cx="5669280" cy="5292286"/>
          </a:xfrm>
        </p:grpSpPr>
        <p:sp>
          <p:nvSpPr>
            <p:cNvPr id="5" name="Shape 3"/>
            <p:cNvSpPr/>
            <p:nvPr/>
          </p:nvSpPr>
          <p:spPr>
            <a:xfrm>
              <a:off x="426720" y="1097280"/>
              <a:ext cx="5669280" cy="1219200"/>
            </a:xfrm>
            <a:prstGeom prst="rect">
              <a:avLst/>
            </a:prstGeom>
            <a:solidFill>
              <a:srgbClr val="FEE2E2"/>
            </a:solidFill>
            <a:ln w="12700">
              <a:solidFill>
                <a:srgbClr val="EF4444"/>
              </a:solidFill>
              <a:prstDash val="solid"/>
            </a:ln>
          </p:spPr>
        </p:sp>
        <p:sp>
          <p:nvSpPr>
            <p:cNvPr id="6" name="Shape 4"/>
            <p:cNvSpPr/>
            <p:nvPr/>
          </p:nvSpPr>
          <p:spPr>
            <a:xfrm>
              <a:off x="426720" y="1097280"/>
              <a:ext cx="73152" cy="1219200"/>
            </a:xfrm>
            <a:prstGeom prst="rect">
              <a:avLst/>
            </a:prstGeom>
            <a:solidFill>
              <a:srgbClr val="EF4444"/>
            </a:solidFill>
            <a:ln w="12700">
              <a:solidFill>
                <a:srgbClr val="EF4444"/>
              </a:solidFill>
              <a:prstDash val="solid"/>
            </a:ln>
          </p:spPr>
        </p:sp>
        <p:sp>
          <p:nvSpPr>
            <p:cNvPr id="7" name="Text 5"/>
            <p:cNvSpPr/>
            <p:nvPr/>
          </p:nvSpPr>
          <p:spPr>
            <a:xfrm>
              <a:off x="597408" y="1182624"/>
              <a:ext cx="5425440" cy="243840"/>
            </a:xfrm>
            <a:prstGeom prst="rect">
              <a:avLst/>
            </a:prstGeom>
            <a:noFill/>
            <a:ln/>
          </p:spPr>
          <p:txBody>
            <a:bodyPr wrap="square" rtlCol="0" anchor="ctr"/>
            <a:lstStyle/>
            <a:p>
              <a:r>
                <a:rPr lang="en-US" sz="1200" b="1" dirty="0">
                  <a:solidFill>
                    <a:srgbClr val="EF4444"/>
                  </a:solidFill>
                  <a:latin typeface="Calibri" pitchFamily="34" charset="0"/>
                  <a:ea typeface="Calibri" pitchFamily="34" charset="-122"/>
                  <a:cs typeface="Calibri" pitchFamily="34" charset="-120"/>
                </a:rPr>
                <a:t>CRITICAL</a:t>
              </a:r>
              <a:endParaRPr lang="en-US" sz="1200" dirty="0"/>
            </a:p>
          </p:txBody>
        </p:sp>
        <p:sp>
          <p:nvSpPr>
            <p:cNvPr id="8" name="Text 6"/>
            <p:cNvSpPr/>
            <p:nvPr/>
          </p:nvSpPr>
          <p:spPr>
            <a:xfrm>
              <a:off x="597408" y="1426464"/>
              <a:ext cx="5425440" cy="316992"/>
            </a:xfrm>
            <a:prstGeom prst="rect">
              <a:avLst/>
            </a:prstGeom>
            <a:noFill/>
            <a:ln/>
          </p:spPr>
          <p:txBody>
            <a:bodyPr wrap="square" rtlCol="0" anchor="ctr"/>
            <a:lstStyle/>
            <a:p>
              <a:r>
                <a:rPr lang="en-US" b="1" dirty="0">
                  <a:solidFill>
                    <a:srgbClr val="1E293B"/>
                  </a:solidFill>
                  <a:latin typeface="Calibri" pitchFamily="34" charset="0"/>
                  <a:ea typeface="Calibri" pitchFamily="34" charset="-122"/>
                  <a:cs typeface="Calibri" pitchFamily="34" charset="-120"/>
                </a:rPr>
                <a:t>Customer Concentration Risk</a:t>
              </a:r>
              <a:endParaRPr lang="en-US" dirty="0"/>
            </a:p>
          </p:txBody>
        </p:sp>
        <p:sp>
          <p:nvSpPr>
            <p:cNvPr id="9" name="Text 7"/>
            <p:cNvSpPr/>
            <p:nvPr/>
          </p:nvSpPr>
          <p:spPr>
            <a:xfrm>
              <a:off x="597408" y="1731264"/>
              <a:ext cx="5425440" cy="487680"/>
            </a:xfrm>
            <a:prstGeom prst="rect">
              <a:avLst/>
            </a:prstGeom>
            <a:noFill/>
            <a:ln/>
          </p:spPr>
          <p:txBody>
            <a:bodyPr wrap="square" rtlCol="0" anchor="ctr"/>
            <a:lstStyle/>
            <a:p>
              <a:r>
                <a:rPr lang="en-US" sz="1400" dirty="0">
                  <a:solidFill>
                    <a:srgbClr val="1E293B"/>
                  </a:solidFill>
                  <a:latin typeface="Calibri" pitchFamily="34" charset="0"/>
                  <a:ea typeface="Calibri" pitchFamily="34" charset="-122"/>
                  <a:cs typeface="Calibri" pitchFamily="34" charset="-120"/>
                </a:rPr>
                <a:t>Meta alone represents ~$30B+ of contracted backlog. Microsoft ~$17B+. Losing one anchor customer due to delivery failure, geopolitical shift, or competitive pivot could destroy revenue visibility overnight.</a:t>
              </a:r>
              <a:endParaRPr lang="en-US" sz="1400" dirty="0"/>
            </a:p>
          </p:txBody>
        </p:sp>
        <p:sp>
          <p:nvSpPr>
            <p:cNvPr id="12" name="Text 10"/>
            <p:cNvSpPr/>
            <p:nvPr/>
          </p:nvSpPr>
          <p:spPr>
            <a:xfrm>
              <a:off x="597408" y="2530182"/>
              <a:ext cx="5425440" cy="243840"/>
            </a:xfrm>
            <a:prstGeom prst="rect">
              <a:avLst/>
            </a:prstGeom>
            <a:noFill/>
            <a:ln/>
          </p:spPr>
          <p:txBody>
            <a:bodyPr wrap="square" rtlCol="0" anchor="ctr"/>
            <a:lstStyle/>
            <a:p>
              <a:r>
                <a:rPr lang="en-US" sz="1200" b="1" dirty="0">
                  <a:solidFill>
                    <a:srgbClr val="EF4444"/>
                  </a:solidFill>
                  <a:latin typeface="Calibri" pitchFamily="34" charset="0"/>
                  <a:ea typeface="Calibri" pitchFamily="34" charset="-122"/>
                  <a:cs typeface="Calibri" pitchFamily="34" charset="-120"/>
                </a:rPr>
                <a:t>CRITICAL</a:t>
              </a:r>
              <a:endParaRPr lang="en-US" sz="1200" dirty="0"/>
            </a:p>
          </p:txBody>
        </p:sp>
        <p:sp>
          <p:nvSpPr>
            <p:cNvPr id="13" name="Text 11"/>
            <p:cNvSpPr/>
            <p:nvPr/>
          </p:nvSpPr>
          <p:spPr>
            <a:xfrm>
              <a:off x="597408" y="2774022"/>
              <a:ext cx="5425440" cy="316992"/>
            </a:xfrm>
            <a:prstGeom prst="rect">
              <a:avLst/>
            </a:prstGeom>
            <a:noFill/>
            <a:ln/>
          </p:spPr>
          <p:txBody>
            <a:bodyPr wrap="square" rtlCol="0" anchor="ctr"/>
            <a:lstStyle/>
            <a:p>
              <a:r>
                <a:rPr lang="en-US" b="1" dirty="0">
                  <a:solidFill>
                    <a:srgbClr val="1E293B"/>
                  </a:solidFill>
                  <a:latin typeface="Calibri" pitchFamily="34" charset="0"/>
                  <a:ea typeface="Calibri" pitchFamily="34" charset="-122"/>
                  <a:cs typeface="Calibri" pitchFamily="34" charset="-120"/>
                </a:rPr>
                <a:t>Russia / Yandex Geopolitical Overhang</a:t>
              </a:r>
              <a:endParaRPr lang="en-US" dirty="0"/>
            </a:p>
          </p:txBody>
        </p:sp>
        <p:sp>
          <p:nvSpPr>
            <p:cNvPr id="14" name="Text 12"/>
            <p:cNvSpPr/>
            <p:nvPr/>
          </p:nvSpPr>
          <p:spPr>
            <a:xfrm>
              <a:off x="597408" y="3078822"/>
              <a:ext cx="5425440" cy="487680"/>
            </a:xfrm>
            <a:prstGeom prst="rect">
              <a:avLst/>
            </a:prstGeom>
            <a:noFill/>
            <a:ln/>
          </p:spPr>
          <p:txBody>
            <a:bodyPr wrap="square" rtlCol="0" anchor="ctr"/>
            <a:lstStyle/>
            <a:p>
              <a:r>
                <a:rPr lang="en-US" sz="1400" dirty="0">
                  <a:solidFill>
                    <a:srgbClr val="1E293B"/>
                  </a:solidFill>
                  <a:latin typeface="Calibri" pitchFamily="34" charset="0"/>
                  <a:ea typeface="Calibri" pitchFamily="34" charset="-122"/>
                  <a:cs typeface="Calibri" pitchFamily="34" charset="-120"/>
                </a:rPr>
                <a:t>Despite thorough regulatory inspections confirming separation from Russian assets, some institutional investors maintain sanctions compliance concerns. This perception risk, even if unfounded, can depress valuations.</a:t>
              </a:r>
              <a:endParaRPr lang="en-US" sz="1400" dirty="0"/>
            </a:p>
          </p:txBody>
        </p:sp>
        <p:sp>
          <p:nvSpPr>
            <p:cNvPr id="15" name="Shape 13"/>
            <p:cNvSpPr/>
            <p:nvPr/>
          </p:nvSpPr>
          <p:spPr>
            <a:xfrm>
              <a:off x="426720" y="3810342"/>
              <a:ext cx="5669280" cy="1219200"/>
            </a:xfrm>
            <a:prstGeom prst="rect">
              <a:avLst/>
            </a:prstGeom>
            <a:solidFill>
              <a:srgbClr val="FEE2E2"/>
            </a:solidFill>
            <a:ln w="12700">
              <a:solidFill>
                <a:srgbClr val="EF4444"/>
              </a:solidFill>
              <a:prstDash val="solid"/>
            </a:ln>
          </p:spPr>
        </p:sp>
        <p:sp>
          <p:nvSpPr>
            <p:cNvPr id="16" name="Shape 14"/>
            <p:cNvSpPr/>
            <p:nvPr/>
          </p:nvSpPr>
          <p:spPr>
            <a:xfrm>
              <a:off x="426720" y="3810342"/>
              <a:ext cx="73152" cy="1219200"/>
            </a:xfrm>
            <a:prstGeom prst="rect">
              <a:avLst/>
            </a:prstGeom>
            <a:solidFill>
              <a:srgbClr val="EF4444"/>
            </a:solidFill>
            <a:ln w="12700">
              <a:solidFill>
                <a:srgbClr val="EF4444"/>
              </a:solidFill>
              <a:prstDash val="solid"/>
            </a:ln>
          </p:spPr>
        </p:sp>
        <p:sp>
          <p:nvSpPr>
            <p:cNvPr id="17" name="Text 15"/>
            <p:cNvSpPr/>
            <p:nvPr/>
          </p:nvSpPr>
          <p:spPr>
            <a:xfrm>
              <a:off x="597408" y="3895686"/>
              <a:ext cx="5425440" cy="243840"/>
            </a:xfrm>
            <a:prstGeom prst="rect">
              <a:avLst/>
            </a:prstGeom>
            <a:noFill/>
            <a:ln/>
          </p:spPr>
          <p:txBody>
            <a:bodyPr wrap="square" rtlCol="0" anchor="ctr"/>
            <a:lstStyle/>
            <a:p>
              <a:r>
                <a:rPr lang="en-US" sz="1200" b="1" dirty="0">
                  <a:solidFill>
                    <a:srgbClr val="EF4444"/>
                  </a:solidFill>
                  <a:latin typeface="Calibri" pitchFamily="34" charset="0"/>
                  <a:ea typeface="Calibri" pitchFamily="34" charset="-122"/>
                  <a:cs typeface="Calibri" pitchFamily="34" charset="-120"/>
                </a:rPr>
                <a:t>HIGH</a:t>
              </a:r>
              <a:endParaRPr lang="en-US" sz="1200" dirty="0"/>
            </a:p>
          </p:txBody>
        </p:sp>
        <p:sp>
          <p:nvSpPr>
            <p:cNvPr id="18" name="Text 16"/>
            <p:cNvSpPr/>
            <p:nvPr/>
          </p:nvSpPr>
          <p:spPr>
            <a:xfrm>
              <a:off x="597408" y="4139526"/>
              <a:ext cx="5425440" cy="316992"/>
            </a:xfrm>
            <a:prstGeom prst="rect">
              <a:avLst/>
            </a:prstGeom>
            <a:noFill/>
            <a:ln/>
          </p:spPr>
          <p:txBody>
            <a:bodyPr wrap="square" rtlCol="0" anchor="ctr"/>
            <a:lstStyle/>
            <a:p>
              <a:r>
                <a:rPr lang="en-US" b="1" dirty="0">
                  <a:solidFill>
                    <a:srgbClr val="1E293B"/>
                  </a:solidFill>
                  <a:latin typeface="Calibri" pitchFamily="34" charset="0"/>
                  <a:ea typeface="Calibri" pitchFamily="34" charset="-122"/>
                  <a:cs typeface="Calibri" pitchFamily="34" charset="-120"/>
                </a:rPr>
                <a:t>$16–20B CapEx Need in 2026</a:t>
              </a:r>
              <a:endParaRPr lang="en-US" dirty="0"/>
            </a:p>
          </p:txBody>
        </p:sp>
        <p:sp>
          <p:nvSpPr>
            <p:cNvPr id="19" name="Text 17"/>
            <p:cNvSpPr/>
            <p:nvPr/>
          </p:nvSpPr>
          <p:spPr>
            <a:xfrm>
              <a:off x="597408" y="4444326"/>
              <a:ext cx="5425440" cy="487680"/>
            </a:xfrm>
            <a:prstGeom prst="rect">
              <a:avLst/>
            </a:prstGeom>
            <a:noFill/>
            <a:ln/>
          </p:spPr>
          <p:txBody>
            <a:bodyPr wrap="square" rtlCol="0" anchor="ctr"/>
            <a:lstStyle/>
            <a:p>
              <a:r>
                <a:rPr lang="en-US" sz="1400" dirty="0">
                  <a:solidFill>
                    <a:srgbClr val="1E293B"/>
                  </a:solidFill>
                  <a:latin typeface="Calibri" pitchFamily="34" charset="0"/>
                  <a:ea typeface="Calibri" pitchFamily="34" charset="-122"/>
                  <a:cs typeface="Calibri" pitchFamily="34" charset="-120"/>
                </a:rPr>
                <a:t>Nebius needs $16–20B capex to build out Vera Rubin clusters for Meta's $27B contract. This requires debt ($4.34B convertibles raised Mar 2026) + equity ATM + asset-backed financing. Execution risk is high.</a:t>
              </a:r>
              <a:endParaRPr lang="en-US" sz="1400" dirty="0"/>
            </a:p>
          </p:txBody>
        </p:sp>
        <p:sp>
          <p:nvSpPr>
            <p:cNvPr id="20" name="Shape 18"/>
            <p:cNvSpPr/>
            <p:nvPr/>
          </p:nvSpPr>
          <p:spPr>
            <a:xfrm>
              <a:off x="426720" y="5170366"/>
              <a:ext cx="5669280" cy="1219200"/>
            </a:xfrm>
            <a:prstGeom prst="rect">
              <a:avLst/>
            </a:prstGeom>
            <a:solidFill>
              <a:srgbClr val="FEF3C7"/>
            </a:solidFill>
            <a:ln w="12700">
              <a:solidFill>
                <a:srgbClr val="F59E0B"/>
              </a:solidFill>
              <a:prstDash val="solid"/>
            </a:ln>
          </p:spPr>
        </p:sp>
        <p:sp>
          <p:nvSpPr>
            <p:cNvPr id="21" name="Shape 19"/>
            <p:cNvSpPr/>
            <p:nvPr/>
          </p:nvSpPr>
          <p:spPr>
            <a:xfrm>
              <a:off x="426720" y="5170366"/>
              <a:ext cx="73152" cy="1219200"/>
            </a:xfrm>
            <a:prstGeom prst="rect">
              <a:avLst/>
            </a:prstGeom>
            <a:solidFill>
              <a:srgbClr val="F59E0B"/>
            </a:solidFill>
            <a:ln w="12700">
              <a:solidFill>
                <a:srgbClr val="F59E0B"/>
              </a:solidFill>
              <a:prstDash val="solid"/>
            </a:ln>
          </p:spPr>
        </p:sp>
        <p:sp>
          <p:nvSpPr>
            <p:cNvPr id="22" name="Text 20"/>
            <p:cNvSpPr/>
            <p:nvPr/>
          </p:nvSpPr>
          <p:spPr>
            <a:xfrm>
              <a:off x="597408" y="5255710"/>
              <a:ext cx="5425440" cy="243840"/>
            </a:xfrm>
            <a:prstGeom prst="rect">
              <a:avLst/>
            </a:prstGeom>
            <a:noFill/>
            <a:ln/>
          </p:spPr>
          <p:txBody>
            <a:bodyPr wrap="square" rtlCol="0" anchor="ctr"/>
            <a:lstStyle/>
            <a:p>
              <a:r>
                <a:rPr lang="en-US" sz="1200" b="1" dirty="0">
                  <a:solidFill>
                    <a:srgbClr val="F59E0B"/>
                  </a:solidFill>
                  <a:latin typeface="Calibri" pitchFamily="34" charset="0"/>
                  <a:ea typeface="Calibri" pitchFamily="34" charset="-122"/>
                  <a:cs typeface="Calibri" pitchFamily="34" charset="-120"/>
                </a:rPr>
                <a:t>HIGH</a:t>
              </a:r>
              <a:endParaRPr lang="en-US" sz="1200" dirty="0"/>
            </a:p>
          </p:txBody>
        </p:sp>
        <p:sp>
          <p:nvSpPr>
            <p:cNvPr id="23" name="Text 21"/>
            <p:cNvSpPr/>
            <p:nvPr/>
          </p:nvSpPr>
          <p:spPr>
            <a:xfrm>
              <a:off x="597408" y="5499550"/>
              <a:ext cx="5425440" cy="316992"/>
            </a:xfrm>
            <a:prstGeom prst="rect">
              <a:avLst/>
            </a:prstGeom>
            <a:noFill/>
            <a:ln/>
          </p:spPr>
          <p:txBody>
            <a:bodyPr wrap="square" rtlCol="0" anchor="ctr"/>
            <a:lstStyle/>
            <a:p>
              <a:r>
                <a:rPr lang="en-US" b="1" dirty="0">
                  <a:solidFill>
                    <a:srgbClr val="1E293B"/>
                  </a:solidFill>
                  <a:latin typeface="Calibri" pitchFamily="34" charset="0"/>
                  <a:ea typeface="Calibri" pitchFamily="34" charset="-122"/>
                  <a:cs typeface="Calibri" pitchFamily="34" charset="-120"/>
                </a:rPr>
                <a:t>Delivery Deadline Risk (Meta Tranche 1 &amp; 2)</a:t>
              </a:r>
              <a:endParaRPr lang="en-US" dirty="0"/>
            </a:p>
          </p:txBody>
        </p:sp>
        <p:sp>
          <p:nvSpPr>
            <p:cNvPr id="24" name="Text 22"/>
            <p:cNvSpPr/>
            <p:nvPr/>
          </p:nvSpPr>
          <p:spPr>
            <a:xfrm>
              <a:off x="597408" y="5804350"/>
              <a:ext cx="5425440" cy="487680"/>
            </a:xfrm>
            <a:prstGeom prst="rect">
              <a:avLst/>
            </a:prstGeom>
            <a:noFill/>
            <a:ln/>
          </p:spPr>
          <p:txBody>
            <a:bodyPr wrap="square" rtlCol="0" anchor="ctr"/>
            <a:lstStyle/>
            <a:p>
              <a:r>
                <a:rPr lang="en-US" sz="1400" dirty="0">
                  <a:solidFill>
                    <a:srgbClr val="1E293B"/>
                  </a:solidFill>
                  <a:latin typeface="Calibri" pitchFamily="34" charset="0"/>
                  <a:ea typeface="Calibri" pitchFamily="34" charset="-122"/>
                  <a:cs typeface="Calibri" pitchFamily="34" charset="-120"/>
                </a:rPr>
                <a:t>Meta's $2.9B initial contract allows termination if Nebius misses deployment deadlines (after grace period). First tranche: Dec 2025. Second: Feb 2026. Any execution slip on Vera Rubin (2027) risks $12B.</a:t>
              </a:r>
              <a:endParaRPr lang="en-US" sz="1400" dirty="0"/>
            </a:p>
          </p:txBody>
        </p:sp>
        <p:sp>
          <p:nvSpPr>
            <p:cNvPr id="25" name="Shape 23"/>
            <p:cNvSpPr/>
            <p:nvPr/>
          </p:nvSpPr>
          <p:spPr>
            <a:xfrm>
              <a:off x="426720" y="1097280"/>
              <a:ext cx="5669280" cy="1219200"/>
            </a:xfrm>
            <a:prstGeom prst="rect">
              <a:avLst/>
            </a:prstGeom>
            <a:solidFill>
              <a:srgbClr val="FEF3C7"/>
            </a:solidFill>
            <a:ln w="12700">
              <a:solidFill>
                <a:srgbClr val="F59E0B"/>
              </a:solidFill>
              <a:prstDash val="solid"/>
            </a:ln>
          </p:spPr>
        </p:sp>
        <p:sp>
          <p:nvSpPr>
            <p:cNvPr id="26" name="Shape 24"/>
            <p:cNvSpPr/>
            <p:nvPr/>
          </p:nvSpPr>
          <p:spPr>
            <a:xfrm>
              <a:off x="426720" y="1097280"/>
              <a:ext cx="73152" cy="1219200"/>
            </a:xfrm>
            <a:prstGeom prst="rect">
              <a:avLst/>
            </a:prstGeom>
            <a:solidFill>
              <a:srgbClr val="F59E0B"/>
            </a:solidFill>
            <a:ln w="12700">
              <a:solidFill>
                <a:srgbClr val="F59E0B"/>
              </a:solidFill>
              <a:prstDash val="solid"/>
            </a:ln>
          </p:spPr>
        </p:sp>
        <p:sp>
          <p:nvSpPr>
            <p:cNvPr id="27" name="Text 25"/>
            <p:cNvSpPr/>
            <p:nvPr/>
          </p:nvSpPr>
          <p:spPr>
            <a:xfrm>
              <a:off x="597408" y="1182624"/>
              <a:ext cx="5425440" cy="243840"/>
            </a:xfrm>
            <a:prstGeom prst="rect">
              <a:avLst/>
            </a:prstGeom>
            <a:noFill/>
            <a:ln/>
          </p:spPr>
          <p:txBody>
            <a:bodyPr wrap="square" rtlCol="0" anchor="ctr"/>
            <a:lstStyle/>
            <a:p>
              <a:r>
                <a:rPr lang="en-US" sz="1400" b="1" dirty="0">
                  <a:solidFill>
                    <a:srgbClr val="F59E0B"/>
                  </a:solidFill>
                  <a:latin typeface="Calibri" pitchFamily="34" charset="0"/>
                  <a:ea typeface="Calibri" pitchFamily="34" charset="-122"/>
                  <a:cs typeface="Calibri" pitchFamily="34" charset="-120"/>
                </a:rPr>
                <a:t>HIGH</a:t>
              </a:r>
              <a:endParaRPr lang="en-US" sz="1400" dirty="0"/>
            </a:p>
          </p:txBody>
        </p:sp>
        <p:sp>
          <p:nvSpPr>
            <p:cNvPr id="28" name="Text 26"/>
            <p:cNvSpPr/>
            <p:nvPr/>
          </p:nvSpPr>
          <p:spPr>
            <a:xfrm>
              <a:off x="597408" y="1426464"/>
              <a:ext cx="5425440" cy="316992"/>
            </a:xfrm>
            <a:prstGeom prst="rect">
              <a:avLst/>
            </a:prstGeom>
            <a:noFill/>
            <a:ln/>
          </p:spPr>
          <p:txBody>
            <a:bodyPr wrap="square" rtlCol="0" anchor="ctr"/>
            <a:lstStyle/>
            <a:p>
              <a:r>
                <a:rPr lang="en-US" b="1" dirty="0">
                  <a:solidFill>
                    <a:srgbClr val="1E293B"/>
                  </a:solidFill>
                  <a:latin typeface="Calibri" pitchFamily="34" charset="0"/>
                  <a:ea typeface="Calibri" pitchFamily="34" charset="-122"/>
                  <a:cs typeface="Calibri" pitchFamily="34" charset="-120"/>
                </a:rPr>
                <a:t>Commoditization of GPU Rental</a:t>
              </a:r>
              <a:endParaRPr lang="en-US" dirty="0"/>
            </a:p>
          </p:txBody>
        </p:sp>
        <p:sp>
          <p:nvSpPr>
            <p:cNvPr id="29" name="Text 27"/>
            <p:cNvSpPr/>
            <p:nvPr/>
          </p:nvSpPr>
          <p:spPr>
            <a:xfrm>
              <a:off x="597408" y="1731264"/>
              <a:ext cx="5425440" cy="487680"/>
            </a:xfrm>
            <a:prstGeom prst="rect">
              <a:avLst/>
            </a:prstGeom>
            <a:noFill/>
            <a:ln/>
          </p:spPr>
          <p:txBody>
            <a:bodyPr wrap="square" rtlCol="0" anchor="ctr"/>
            <a:lstStyle/>
            <a:p>
              <a:pPr algn="just"/>
              <a:r>
                <a:rPr lang="en-US" sz="1600" dirty="0">
                  <a:solidFill>
                    <a:srgbClr val="1E293B"/>
                  </a:solidFill>
                  <a:latin typeface="Calibri" pitchFamily="34" charset="0"/>
                  <a:ea typeface="Calibri" pitchFamily="34" charset="-122"/>
                  <a:cs typeface="Calibri" pitchFamily="34" charset="-120"/>
                </a:rPr>
                <a:t>As Nvidia Blackwell &amp; Vera Rubin become more broadly available, hyperscalers (AWS, Azure, GCP) will offer equivalent compute at scale. Nebius must differentiate on optimization, speed, flexibility — not just hardware.</a:t>
              </a:r>
              <a:endParaRPr lang="en-US" sz="1600" dirty="0"/>
            </a:p>
          </p:txBody>
        </p:sp>
        <p:sp>
          <p:nvSpPr>
            <p:cNvPr id="30" name="Shape 28"/>
            <p:cNvSpPr/>
            <p:nvPr/>
          </p:nvSpPr>
          <p:spPr>
            <a:xfrm>
              <a:off x="426720" y="2444838"/>
              <a:ext cx="5669280" cy="1219200"/>
            </a:xfrm>
            <a:prstGeom prst="rect">
              <a:avLst/>
            </a:prstGeom>
            <a:solidFill>
              <a:srgbClr val="FEF3C7"/>
            </a:solidFill>
            <a:ln w="12700">
              <a:solidFill>
                <a:srgbClr val="F59E0B"/>
              </a:solidFill>
              <a:prstDash val="solid"/>
            </a:ln>
          </p:spPr>
        </p:sp>
        <p:sp>
          <p:nvSpPr>
            <p:cNvPr id="31" name="Shape 29"/>
            <p:cNvSpPr/>
            <p:nvPr/>
          </p:nvSpPr>
          <p:spPr>
            <a:xfrm>
              <a:off x="426720" y="2444838"/>
              <a:ext cx="73152" cy="1219200"/>
            </a:xfrm>
            <a:prstGeom prst="rect">
              <a:avLst/>
            </a:prstGeom>
            <a:solidFill>
              <a:srgbClr val="F59E0B"/>
            </a:solidFill>
            <a:ln w="12700">
              <a:solidFill>
                <a:srgbClr val="F59E0B"/>
              </a:solidFill>
              <a:prstDash val="solid"/>
            </a:ln>
          </p:spPr>
        </p:sp>
        <p:sp>
          <p:nvSpPr>
            <p:cNvPr id="32" name="Text 30"/>
            <p:cNvSpPr/>
            <p:nvPr/>
          </p:nvSpPr>
          <p:spPr>
            <a:xfrm>
              <a:off x="597408" y="2530182"/>
              <a:ext cx="5425440" cy="243840"/>
            </a:xfrm>
            <a:prstGeom prst="rect">
              <a:avLst/>
            </a:prstGeom>
            <a:noFill/>
            <a:ln/>
          </p:spPr>
          <p:txBody>
            <a:bodyPr wrap="square" rtlCol="0" anchor="ctr"/>
            <a:lstStyle/>
            <a:p>
              <a:r>
                <a:rPr lang="en-US" sz="1400" b="1" dirty="0">
                  <a:solidFill>
                    <a:srgbClr val="F59E0B"/>
                  </a:solidFill>
                  <a:latin typeface="Calibri" pitchFamily="34" charset="0"/>
                  <a:ea typeface="Calibri" pitchFamily="34" charset="-122"/>
                  <a:cs typeface="Calibri" pitchFamily="34" charset="-120"/>
                </a:rPr>
                <a:t>MEDIUM</a:t>
              </a:r>
              <a:endParaRPr lang="en-US" sz="1400" dirty="0"/>
            </a:p>
          </p:txBody>
        </p:sp>
        <p:sp>
          <p:nvSpPr>
            <p:cNvPr id="33" name="Text 31"/>
            <p:cNvSpPr/>
            <p:nvPr/>
          </p:nvSpPr>
          <p:spPr>
            <a:xfrm>
              <a:off x="597408" y="2774022"/>
              <a:ext cx="5425440" cy="316992"/>
            </a:xfrm>
            <a:prstGeom prst="rect">
              <a:avLst/>
            </a:prstGeom>
            <a:noFill/>
            <a:ln/>
          </p:spPr>
          <p:txBody>
            <a:bodyPr wrap="square" rtlCol="0" anchor="ctr"/>
            <a:lstStyle/>
            <a:p>
              <a:r>
                <a:rPr lang="en-US" b="1" dirty="0">
                  <a:solidFill>
                    <a:srgbClr val="1E293B"/>
                  </a:solidFill>
                  <a:latin typeface="Calibri" pitchFamily="34" charset="0"/>
                  <a:ea typeface="Calibri" pitchFamily="34" charset="-122"/>
                  <a:cs typeface="Calibri" pitchFamily="34" charset="-120"/>
                </a:rPr>
                <a:t>Revenue H2 2026 Concentration</a:t>
              </a:r>
              <a:endParaRPr lang="en-US" dirty="0"/>
            </a:p>
          </p:txBody>
        </p:sp>
        <p:sp>
          <p:nvSpPr>
            <p:cNvPr id="34" name="Text 32"/>
            <p:cNvSpPr/>
            <p:nvPr/>
          </p:nvSpPr>
          <p:spPr>
            <a:xfrm>
              <a:off x="597408" y="3078822"/>
              <a:ext cx="5425440" cy="487680"/>
            </a:xfrm>
            <a:prstGeom prst="rect">
              <a:avLst/>
            </a:prstGeom>
            <a:noFill/>
            <a:ln/>
          </p:spPr>
          <p:txBody>
            <a:bodyPr wrap="square" rtlCol="0" anchor="ctr"/>
            <a:lstStyle/>
            <a:p>
              <a:pPr algn="just"/>
              <a:r>
                <a:rPr lang="en-US" sz="1600" dirty="0">
                  <a:solidFill>
                    <a:srgbClr val="1E293B"/>
                  </a:solidFill>
                  <a:latin typeface="Calibri" pitchFamily="34" charset="0"/>
                  <a:ea typeface="Calibri" pitchFamily="34" charset="-122"/>
                  <a:cs typeface="Calibri" pitchFamily="34" charset="-120"/>
                </a:rPr>
                <a:t>Management guidance implies heavy revenue skew to H2 2026 when Vera Rubin clusters come online. Q1/Q2 2026 may disappoint vs Street estimates — creating vol around earnings beats/misses.</a:t>
              </a:r>
              <a:endParaRPr lang="en-US" sz="1600" dirty="0"/>
            </a:p>
          </p:txBody>
        </p:sp>
        <p:sp>
          <p:nvSpPr>
            <p:cNvPr id="35" name="Shape 33"/>
            <p:cNvSpPr/>
            <p:nvPr/>
          </p:nvSpPr>
          <p:spPr>
            <a:xfrm>
              <a:off x="426720" y="3810342"/>
              <a:ext cx="5669280" cy="1219200"/>
            </a:xfrm>
            <a:prstGeom prst="rect">
              <a:avLst/>
            </a:prstGeom>
            <a:solidFill>
              <a:srgbClr val="EDE9FE"/>
            </a:solidFill>
            <a:ln w="12700">
              <a:solidFill>
                <a:srgbClr val="5B21B6"/>
              </a:solidFill>
              <a:prstDash val="solid"/>
            </a:ln>
          </p:spPr>
        </p:sp>
        <p:sp>
          <p:nvSpPr>
            <p:cNvPr id="36" name="Shape 34"/>
            <p:cNvSpPr/>
            <p:nvPr/>
          </p:nvSpPr>
          <p:spPr>
            <a:xfrm>
              <a:off x="426720" y="3810342"/>
              <a:ext cx="73152" cy="1219200"/>
            </a:xfrm>
            <a:prstGeom prst="rect">
              <a:avLst/>
            </a:prstGeom>
            <a:solidFill>
              <a:srgbClr val="5B21B6"/>
            </a:solidFill>
            <a:ln w="12700">
              <a:solidFill>
                <a:srgbClr val="5B21B6"/>
              </a:solidFill>
              <a:prstDash val="solid"/>
            </a:ln>
          </p:spPr>
        </p:sp>
        <p:sp>
          <p:nvSpPr>
            <p:cNvPr id="37" name="Text 35"/>
            <p:cNvSpPr/>
            <p:nvPr/>
          </p:nvSpPr>
          <p:spPr>
            <a:xfrm>
              <a:off x="597408" y="3895686"/>
              <a:ext cx="5425440" cy="243840"/>
            </a:xfrm>
            <a:prstGeom prst="rect">
              <a:avLst/>
            </a:prstGeom>
            <a:noFill/>
            <a:ln/>
          </p:spPr>
          <p:txBody>
            <a:bodyPr wrap="square" rtlCol="0" anchor="ctr"/>
            <a:lstStyle/>
            <a:p>
              <a:r>
                <a:rPr lang="en-US" sz="1400" b="1" dirty="0">
                  <a:solidFill>
                    <a:srgbClr val="5B21B6"/>
                  </a:solidFill>
                  <a:latin typeface="Calibri" pitchFamily="34" charset="0"/>
                  <a:ea typeface="Calibri" pitchFamily="34" charset="-122"/>
                  <a:cs typeface="Calibri" pitchFamily="34" charset="-120"/>
                </a:rPr>
                <a:t>MEDIUM</a:t>
              </a:r>
              <a:endParaRPr lang="en-US" sz="1400" dirty="0"/>
            </a:p>
          </p:txBody>
        </p:sp>
        <p:sp>
          <p:nvSpPr>
            <p:cNvPr id="38" name="Text 36"/>
            <p:cNvSpPr/>
            <p:nvPr/>
          </p:nvSpPr>
          <p:spPr>
            <a:xfrm>
              <a:off x="597408" y="4139526"/>
              <a:ext cx="5425440" cy="316992"/>
            </a:xfrm>
            <a:prstGeom prst="rect">
              <a:avLst/>
            </a:prstGeom>
            <a:noFill/>
            <a:ln/>
          </p:spPr>
          <p:txBody>
            <a:bodyPr wrap="square" rtlCol="0" anchor="ctr"/>
            <a:lstStyle/>
            <a:p>
              <a:r>
                <a:rPr lang="en-US" b="1" dirty="0">
                  <a:solidFill>
                    <a:srgbClr val="1E293B"/>
                  </a:solidFill>
                  <a:latin typeface="Calibri" pitchFamily="34" charset="0"/>
                  <a:ea typeface="Calibri" pitchFamily="34" charset="-122"/>
                  <a:cs typeface="Calibri" pitchFamily="34" charset="-120"/>
                </a:rPr>
                <a:t>EPS Negative; Net Losses Expected to Continue</a:t>
              </a:r>
              <a:endParaRPr lang="en-US" dirty="0"/>
            </a:p>
          </p:txBody>
        </p:sp>
        <p:sp>
          <p:nvSpPr>
            <p:cNvPr id="39" name="Text 37"/>
            <p:cNvSpPr/>
            <p:nvPr/>
          </p:nvSpPr>
          <p:spPr>
            <a:xfrm>
              <a:off x="597408" y="4444326"/>
              <a:ext cx="5425440" cy="487680"/>
            </a:xfrm>
            <a:prstGeom prst="rect">
              <a:avLst/>
            </a:prstGeom>
            <a:noFill/>
            <a:ln/>
          </p:spPr>
          <p:txBody>
            <a:bodyPr wrap="square" rtlCol="0" anchor="ctr"/>
            <a:lstStyle/>
            <a:p>
              <a:pPr algn="just"/>
              <a:r>
                <a:rPr lang="en-US" sz="1600" dirty="0">
                  <a:solidFill>
                    <a:srgbClr val="1E293B"/>
                  </a:solidFill>
                  <a:latin typeface="Calibri" pitchFamily="34" charset="0"/>
                  <a:ea typeface="Calibri" pitchFamily="34" charset="-122"/>
                  <a:cs typeface="Calibri" pitchFamily="34" charset="-120"/>
                </a:rPr>
                <a:t>Despite EBITDA improvement, large depreciation on GPU assets and convertible debt interest will keep GAAP EPS negative through 2026. Not suitable for value-oriented or dividend investors.</a:t>
              </a:r>
              <a:endParaRPr lang="en-US" sz="1600" dirty="0"/>
            </a:p>
          </p:txBody>
        </p:sp>
        <p:sp>
          <p:nvSpPr>
            <p:cNvPr id="40" name="Shape 38"/>
            <p:cNvSpPr/>
            <p:nvPr/>
          </p:nvSpPr>
          <p:spPr>
            <a:xfrm>
              <a:off x="426720" y="5170366"/>
              <a:ext cx="5669280" cy="1219200"/>
            </a:xfrm>
            <a:prstGeom prst="rect">
              <a:avLst/>
            </a:prstGeom>
            <a:solidFill>
              <a:srgbClr val="EDE9FE"/>
            </a:solidFill>
            <a:ln w="12700">
              <a:solidFill>
                <a:srgbClr val="5B21B6"/>
              </a:solidFill>
              <a:prstDash val="solid"/>
            </a:ln>
          </p:spPr>
        </p:sp>
        <p:sp>
          <p:nvSpPr>
            <p:cNvPr id="41" name="Shape 39"/>
            <p:cNvSpPr/>
            <p:nvPr/>
          </p:nvSpPr>
          <p:spPr>
            <a:xfrm>
              <a:off x="426720" y="5170366"/>
              <a:ext cx="73152" cy="1219200"/>
            </a:xfrm>
            <a:prstGeom prst="rect">
              <a:avLst/>
            </a:prstGeom>
            <a:solidFill>
              <a:srgbClr val="5B21B6"/>
            </a:solidFill>
            <a:ln w="12700">
              <a:solidFill>
                <a:srgbClr val="5B21B6"/>
              </a:solidFill>
              <a:prstDash val="solid"/>
            </a:ln>
          </p:spPr>
        </p:sp>
        <p:sp>
          <p:nvSpPr>
            <p:cNvPr id="42" name="Text 40"/>
            <p:cNvSpPr/>
            <p:nvPr/>
          </p:nvSpPr>
          <p:spPr>
            <a:xfrm>
              <a:off x="597408" y="5255710"/>
              <a:ext cx="5425440" cy="243840"/>
            </a:xfrm>
            <a:prstGeom prst="rect">
              <a:avLst/>
            </a:prstGeom>
            <a:noFill/>
            <a:ln/>
          </p:spPr>
          <p:txBody>
            <a:bodyPr wrap="square" rtlCol="0" anchor="ctr"/>
            <a:lstStyle/>
            <a:p>
              <a:r>
                <a:rPr lang="en-US" sz="1400" b="1" dirty="0">
                  <a:solidFill>
                    <a:srgbClr val="5B21B6"/>
                  </a:solidFill>
                  <a:latin typeface="Calibri" pitchFamily="34" charset="0"/>
                  <a:ea typeface="Calibri" pitchFamily="34" charset="-122"/>
                  <a:cs typeface="Calibri" pitchFamily="34" charset="-120"/>
                </a:rPr>
                <a:t>WATCH</a:t>
              </a:r>
              <a:endParaRPr lang="en-US" sz="1400" dirty="0"/>
            </a:p>
          </p:txBody>
        </p:sp>
        <p:sp>
          <p:nvSpPr>
            <p:cNvPr id="43" name="Text 41"/>
            <p:cNvSpPr/>
            <p:nvPr/>
          </p:nvSpPr>
          <p:spPr>
            <a:xfrm>
              <a:off x="597408" y="5499550"/>
              <a:ext cx="5425440" cy="316992"/>
            </a:xfrm>
            <a:prstGeom prst="rect">
              <a:avLst/>
            </a:prstGeom>
            <a:noFill/>
            <a:ln/>
          </p:spPr>
          <p:txBody>
            <a:bodyPr wrap="square" rtlCol="0" anchor="ctr"/>
            <a:lstStyle/>
            <a:p>
              <a:r>
                <a:rPr lang="en-US" b="1" dirty="0">
                  <a:solidFill>
                    <a:srgbClr val="1E293B"/>
                  </a:solidFill>
                  <a:latin typeface="Calibri" pitchFamily="34" charset="0"/>
                  <a:ea typeface="Calibri" pitchFamily="34" charset="-122"/>
                  <a:cs typeface="Calibri" pitchFamily="34" charset="-120"/>
                </a:rPr>
                <a:t>ATM Equity Program — Ongoing Dilution</a:t>
              </a:r>
              <a:endParaRPr lang="en-US" dirty="0"/>
            </a:p>
          </p:txBody>
        </p:sp>
        <p:sp>
          <p:nvSpPr>
            <p:cNvPr id="44" name="Text 42"/>
            <p:cNvSpPr/>
            <p:nvPr/>
          </p:nvSpPr>
          <p:spPr>
            <a:xfrm>
              <a:off x="597408" y="5804350"/>
              <a:ext cx="5425440" cy="487680"/>
            </a:xfrm>
            <a:prstGeom prst="rect">
              <a:avLst/>
            </a:prstGeom>
            <a:noFill/>
            <a:ln/>
          </p:spPr>
          <p:txBody>
            <a:bodyPr wrap="square" rtlCol="0" anchor="ctr"/>
            <a:lstStyle/>
            <a:p>
              <a:pPr algn="just"/>
              <a:r>
                <a:rPr lang="en-US" sz="1600" dirty="0">
                  <a:solidFill>
                    <a:srgbClr val="1E293B"/>
                  </a:solidFill>
                  <a:latin typeface="Calibri" pitchFamily="34" charset="0"/>
                  <a:ea typeface="Calibri" pitchFamily="34" charset="-122"/>
                  <a:cs typeface="Calibri" pitchFamily="34" charset="-120"/>
                </a:rPr>
                <a:t>Nebius filed for an at-the-market equity program of up to 25M Class A shares. Combined with convertible notes, equity dilution is a real headwind as shares outstanding rise toward 280–300M.</a:t>
              </a:r>
              <a:endParaRPr lang="en-US" sz="160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293B"/>
          </a:solidFill>
          <a:ln w="12700">
            <a:solidFill>
              <a:srgbClr val="1E293B"/>
            </a:solidFill>
            <a:prstDash val="solid"/>
          </a:ln>
        </p:spPr>
      </p:sp>
      <p:sp>
        <p:nvSpPr>
          <p:cNvPr id="3" name="Shape 1"/>
          <p:cNvSpPr/>
          <p:nvPr/>
        </p:nvSpPr>
        <p:spPr>
          <a:xfrm>
            <a:off x="0" y="0"/>
            <a:ext cx="463296" cy="914400"/>
          </a:xfrm>
          <a:prstGeom prst="rect">
            <a:avLst/>
          </a:prstGeom>
          <a:solidFill>
            <a:srgbClr val="00B4D8"/>
          </a:solidFill>
          <a:ln w="12700">
            <a:solidFill>
              <a:srgbClr val="00B4D8"/>
            </a:solidFill>
            <a:prstDash val="solid"/>
          </a:ln>
        </p:spPr>
      </p:sp>
      <p:sp>
        <p:nvSpPr>
          <p:cNvPr id="4" name="Text 2"/>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9: INVESTMENT THESIS — THREE CORE BELIEFS</a:t>
            </a:r>
            <a:endParaRPr lang="en-US" sz="2267" dirty="0"/>
          </a:p>
        </p:txBody>
      </p:sp>
      <p:sp>
        <p:nvSpPr>
          <p:cNvPr id="5" name="Text 3"/>
          <p:cNvSpPr/>
          <p:nvPr/>
        </p:nvSpPr>
        <p:spPr>
          <a:xfrm>
            <a:off x="620559" y="896112"/>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From WealthyReadings thesis + independent analysis</a:t>
            </a:r>
          </a:p>
        </p:txBody>
      </p:sp>
      <p:sp>
        <p:nvSpPr>
          <p:cNvPr id="6" name="Text 4"/>
          <p:cNvSpPr/>
          <p:nvPr/>
        </p:nvSpPr>
        <p:spPr>
          <a:xfrm>
            <a:off x="609600" y="1170432"/>
            <a:ext cx="11216640" cy="36576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Nebius' investment thesis rests on three beliefs that must ALL hold simultaneously:</a:t>
            </a:r>
          </a:p>
        </p:txBody>
      </p:sp>
      <p:sp>
        <p:nvSpPr>
          <p:cNvPr id="7" name="Shape 5"/>
          <p:cNvSpPr/>
          <p:nvPr/>
        </p:nvSpPr>
        <p:spPr>
          <a:xfrm>
            <a:off x="426720" y="1584960"/>
            <a:ext cx="11338560" cy="1511808"/>
          </a:xfrm>
          <a:prstGeom prst="rect">
            <a:avLst/>
          </a:prstGeom>
          <a:solidFill>
            <a:srgbClr val="FFFFFF"/>
          </a:solidFill>
          <a:ln w="12700">
            <a:solidFill>
              <a:srgbClr val="00B4D8"/>
            </a:solidFill>
            <a:prstDash val="solid"/>
          </a:ln>
          <a:effectLst>
            <a:outerShdw blurRad="127000" dist="50800" dir="8100000" algn="bl" rotWithShape="0">
              <a:srgbClr val="000000">
                <a:alpha val="18000"/>
              </a:srgbClr>
            </a:outerShdw>
          </a:effectLst>
        </p:spPr>
      </p:sp>
      <p:sp>
        <p:nvSpPr>
          <p:cNvPr id="8" name="Shape 6"/>
          <p:cNvSpPr/>
          <p:nvPr/>
        </p:nvSpPr>
        <p:spPr>
          <a:xfrm>
            <a:off x="426720" y="1584960"/>
            <a:ext cx="85344" cy="1511808"/>
          </a:xfrm>
          <a:prstGeom prst="rect">
            <a:avLst/>
          </a:prstGeom>
          <a:solidFill>
            <a:srgbClr val="00B4D8"/>
          </a:solidFill>
          <a:ln w="12700">
            <a:solidFill>
              <a:srgbClr val="00B4D8"/>
            </a:solidFill>
            <a:prstDash val="solid"/>
          </a:ln>
        </p:spPr>
      </p:sp>
      <p:sp>
        <p:nvSpPr>
          <p:cNvPr id="9" name="Text 7"/>
          <p:cNvSpPr/>
          <p:nvPr/>
        </p:nvSpPr>
        <p:spPr>
          <a:xfrm>
            <a:off x="609600" y="1682496"/>
            <a:ext cx="670560" cy="609600"/>
          </a:xfrm>
          <a:prstGeom prst="rect">
            <a:avLst/>
          </a:prstGeom>
          <a:noFill/>
          <a:ln/>
        </p:spPr>
        <p:txBody>
          <a:bodyPr wrap="square" rtlCol="0" anchor="ctr"/>
          <a:lstStyle/>
          <a:p>
            <a:r>
              <a:rPr lang="en-US" sz="2933" b="1" dirty="0">
                <a:solidFill>
                  <a:srgbClr val="00B4D8"/>
                </a:solidFill>
                <a:latin typeface="Calibri" pitchFamily="34" charset="0"/>
                <a:ea typeface="Calibri" pitchFamily="34" charset="-122"/>
                <a:cs typeface="Calibri" pitchFamily="34" charset="-120"/>
              </a:rPr>
              <a:t>01</a:t>
            </a:r>
            <a:endParaRPr lang="en-US" sz="2933" dirty="0"/>
          </a:p>
        </p:txBody>
      </p:sp>
      <p:sp>
        <p:nvSpPr>
          <p:cNvPr id="10" name="Text 8"/>
          <p:cNvSpPr/>
          <p:nvPr/>
        </p:nvSpPr>
        <p:spPr>
          <a:xfrm>
            <a:off x="1280160" y="1706880"/>
            <a:ext cx="10241280" cy="365760"/>
          </a:xfrm>
          <a:prstGeom prst="rect">
            <a:avLst/>
          </a:prstGeom>
          <a:noFill/>
          <a:ln/>
        </p:spPr>
        <p:txBody>
          <a:bodyPr wrap="square" rtlCol="0" anchor="ctr"/>
          <a:lstStyle/>
          <a:p>
            <a:r>
              <a:rPr lang="en-US" sz="1600" b="1" dirty="0">
                <a:solidFill>
                  <a:srgbClr val="1E293B"/>
                </a:solidFill>
                <a:latin typeface="Calibri" pitchFamily="34" charset="0"/>
                <a:ea typeface="Calibri" pitchFamily="34" charset="-122"/>
                <a:cs typeface="Calibri" pitchFamily="34" charset="-120"/>
              </a:rPr>
              <a:t>AI is Real &amp; Will Create Economic Value</a:t>
            </a:r>
            <a:endParaRPr lang="en-US" sz="1600" dirty="0"/>
          </a:p>
        </p:txBody>
      </p:sp>
      <p:sp>
        <p:nvSpPr>
          <p:cNvPr id="11" name="Shape 9"/>
          <p:cNvSpPr/>
          <p:nvPr/>
        </p:nvSpPr>
        <p:spPr>
          <a:xfrm>
            <a:off x="1280160" y="2121408"/>
            <a:ext cx="426720" cy="219456"/>
          </a:xfrm>
          <a:prstGeom prst="rect">
            <a:avLst/>
          </a:prstGeom>
          <a:solidFill>
            <a:srgbClr val="22C55E"/>
          </a:solidFill>
          <a:ln w="12700">
            <a:solidFill>
              <a:srgbClr val="22C55E"/>
            </a:solidFill>
            <a:prstDash val="solid"/>
          </a:ln>
        </p:spPr>
      </p:sp>
      <p:sp>
        <p:nvSpPr>
          <p:cNvPr id="12" name="Text 10"/>
          <p:cNvSpPr/>
          <p:nvPr/>
        </p:nvSpPr>
        <p:spPr>
          <a:xfrm>
            <a:off x="1828800" y="2121408"/>
            <a:ext cx="853440" cy="219456"/>
          </a:xfrm>
          <a:prstGeom prst="rect">
            <a:avLst/>
          </a:prstGeom>
          <a:noFill/>
          <a:ln/>
        </p:spPr>
        <p:txBody>
          <a:bodyPr wrap="square" rtlCol="0" anchor="ctr"/>
          <a:lstStyle/>
          <a:p>
            <a:r>
              <a:rPr lang="en-US" sz="1000" b="1" dirty="0">
                <a:solidFill>
                  <a:srgbClr val="22C55E"/>
                </a:solidFill>
                <a:latin typeface="Calibri" pitchFamily="34" charset="0"/>
                <a:ea typeface="Calibri" pitchFamily="34" charset="-122"/>
                <a:cs typeface="Calibri" pitchFamily="34" charset="-120"/>
              </a:rPr>
              <a:t>IF TRUE:</a:t>
            </a:r>
            <a:endParaRPr lang="en-US" sz="1000" dirty="0"/>
          </a:p>
        </p:txBody>
      </p:sp>
      <p:sp>
        <p:nvSpPr>
          <p:cNvPr id="13" name="Text 11"/>
          <p:cNvSpPr/>
          <p:nvPr/>
        </p:nvSpPr>
        <p:spPr>
          <a:xfrm>
            <a:off x="2743200" y="2121408"/>
            <a:ext cx="8900160" cy="390144"/>
          </a:xfrm>
          <a:prstGeom prst="rect">
            <a:avLst/>
          </a:prstGeom>
          <a:noFill/>
          <a:ln/>
        </p:spPr>
        <p:txBody>
          <a:bodyPr wrap="square" rtlCol="0" anchor="ctr"/>
          <a:lstStyle/>
          <a:p>
            <a:r>
              <a:rPr lang="en-US" sz="1400" dirty="0">
                <a:solidFill>
                  <a:srgbClr val="1E293B"/>
                </a:solidFill>
                <a:latin typeface="Calibri" pitchFamily="34" charset="0"/>
                <a:ea typeface="Calibri" pitchFamily="34" charset="-122"/>
                <a:cs typeface="Calibri" pitchFamily="34" charset="-120"/>
              </a:rPr>
              <a:t>Validated by $45B+ in hyperscaler commitments to Nebius alone. Meta &amp; Microsoft are paying to secure specialized compute — they would not do this if ROI were unclear.</a:t>
            </a:r>
            <a:endParaRPr lang="en-US" sz="1400" dirty="0"/>
          </a:p>
        </p:txBody>
      </p:sp>
      <p:sp>
        <p:nvSpPr>
          <p:cNvPr id="14" name="Shape 12"/>
          <p:cNvSpPr/>
          <p:nvPr/>
        </p:nvSpPr>
        <p:spPr>
          <a:xfrm>
            <a:off x="1280160" y="2584704"/>
            <a:ext cx="426720" cy="219456"/>
          </a:xfrm>
          <a:prstGeom prst="rect">
            <a:avLst/>
          </a:prstGeom>
          <a:solidFill>
            <a:srgbClr val="EF4444"/>
          </a:solidFill>
          <a:ln w="12700">
            <a:solidFill>
              <a:srgbClr val="EF4444"/>
            </a:solidFill>
            <a:prstDash val="solid"/>
          </a:ln>
        </p:spPr>
      </p:sp>
      <p:sp>
        <p:nvSpPr>
          <p:cNvPr id="15" name="Text 13"/>
          <p:cNvSpPr/>
          <p:nvPr/>
        </p:nvSpPr>
        <p:spPr>
          <a:xfrm>
            <a:off x="1828800" y="2584704"/>
            <a:ext cx="975360" cy="219456"/>
          </a:xfrm>
          <a:prstGeom prst="rect">
            <a:avLst/>
          </a:prstGeom>
          <a:noFill/>
          <a:ln/>
        </p:spPr>
        <p:txBody>
          <a:bodyPr wrap="square" rtlCol="0" anchor="ctr"/>
          <a:lstStyle/>
          <a:p>
            <a:r>
              <a:rPr lang="en-US" sz="1000" b="1" dirty="0">
                <a:solidFill>
                  <a:srgbClr val="EF4444"/>
                </a:solidFill>
                <a:latin typeface="Calibri" pitchFamily="34" charset="0"/>
                <a:ea typeface="Calibri" pitchFamily="34" charset="-122"/>
                <a:cs typeface="Calibri" pitchFamily="34" charset="-120"/>
              </a:rPr>
              <a:t>IF FALSE:</a:t>
            </a:r>
            <a:endParaRPr lang="en-US" sz="1000" dirty="0"/>
          </a:p>
        </p:txBody>
      </p:sp>
      <p:sp>
        <p:nvSpPr>
          <p:cNvPr id="16" name="Text 14"/>
          <p:cNvSpPr/>
          <p:nvPr/>
        </p:nvSpPr>
        <p:spPr>
          <a:xfrm>
            <a:off x="2743200" y="2584704"/>
            <a:ext cx="8900160" cy="390144"/>
          </a:xfrm>
          <a:prstGeom prst="rect">
            <a:avLst/>
          </a:prstGeom>
          <a:noFill/>
          <a:ln/>
        </p:spPr>
        <p:txBody>
          <a:bodyPr wrap="square" rtlCol="0" anchor="ctr"/>
          <a:lstStyle/>
          <a:p>
            <a:r>
              <a:rPr lang="en-US" sz="1400" dirty="0">
                <a:solidFill>
                  <a:srgbClr val="1E293B"/>
                </a:solidFill>
                <a:latin typeface="Calibri" pitchFamily="34" charset="0"/>
                <a:ea typeface="Calibri" pitchFamily="34" charset="-122"/>
                <a:cs typeface="Calibri" pitchFamily="34" charset="-120"/>
              </a:rPr>
              <a:t>DeepSeek-style efficiency gains (compute-cheap models) could reduce total compute demand, shrinking the market Nebius is targeting.</a:t>
            </a:r>
            <a:endParaRPr lang="en-US" sz="1400" dirty="0"/>
          </a:p>
        </p:txBody>
      </p:sp>
      <p:sp>
        <p:nvSpPr>
          <p:cNvPr id="17" name="Shape 15"/>
          <p:cNvSpPr/>
          <p:nvPr/>
        </p:nvSpPr>
        <p:spPr>
          <a:xfrm>
            <a:off x="426720" y="3194304"/>
            <a:ext cx="11338560" cy="1511808"/>
          </a:xfrm>
          <a:prstGeom prst="rect">
            <a:avLst/>
          </a:prstGeom>
          <a:solidFill>
            <a:srgbClr val="FFFFFF"/>
          </a:solidFill>
          <a:ln w="12700">
            <a:solidFill>
              <a:srgbClr val="7C3AED"/>
            </a:solidFill>
            <a:prstDash val="solid"/>
          </a:ln>
          <a:effectLst>
            <a:outerShdw blurRad="127000" dist="50800" dir="8100000" algn="bl" rotWithShape="0">
              <a:srgbClr val="000000">
                <a:alpha val="18000"/>
              </a:srgbClr>
            </a:outerShdw>
          </a:effectLst>
        </p:spPr>
      </p:sp>
      <p:sp>
        <p:nvSpPr>
          <p:cNvPr id="18" name="Shape 16"/>
          <p:cNvSpPr/>
          <p:nvPr/>
        </p:nvSpPr>
        <p:spPr>
          <a:xfrm>
            <a:off x="426720" y="3194304"/>
            <a:ext cx="85344" cy="1511808"/>
          </a:xfrm>
          <a:prstGeom prst="rect">
            <a:avLst/>
          </a:prstGeom>
          <a:solidFill>
            <a:srgbClr val="7C3AED"/>
          </a:solidFill>
          <a:ln w="12700">
            <a:solidFill>
              <a:srgbClr val="7C3AED"/>
            </a:solidFill>
            <a:prstDash val="solid"/>
          </a:ln>
        </p:spPr>
      </p:sp>
      <p:sp>
        <p:nvSpPr>
          <p:cNvPr id="19" name="Text 17"/>
          <p:cNvSpPr/>
          <p:nvPr/>
        </p:nvSpPr>
        <p:spPr>
          <a:xfrm>
            <a:off x="609600" y="3291840"/>
            <a:ext cx="670560" cy="609600"/>
          </a:xfrm>
          <a:prstGeom prst="rect">
            <a:avLst/>
          </a:prstGeom>
          <a:noFill/>
          <a:ln/>
        </p:spPr>
        <p:txBody>
          <a:bodyPr wrap="square" rtlCol="0" anchor="ctr"/>
          <a:lstStyle/>
          <a:p>
            <a:r>
              <a:rPr lang="en-US" sz="2933" b="1" dirty="0">
                <a:solidFill>
                  <a:srgbClr val="7C3AED"/>
                </a:solidFill>
                <a:latin typeface="Calibri" pitchFamily="34" charset="0"/>
                <a:ea typeface="Calibri" pitchFamily="34" charset="-122"/>
                <a:cs typeface="Calibri" pitchFamily="34" charset="-120"/>
              </a:rPr>
              <a:t>02</a:t>
            </a:r>
            <a:endParaRPr lang="en-US" sz="2933" dirty="0"/>
          </a:p>
        </p:txBody>
      </p:sp>
      <p:sp>
        <p:nvSpPr>
          <p:cNvPr id="20" name="Text 18"/>
          <p:cNvSpPr/>
          <p:nvPr/>
        </p:nvSpPr>
        <p:spPr>
          <a:xfrm>
            <a:off x="1280160" y="3316224"/>
            <a:ext cx="10241280" cy="365760"/>
          </a:xfrm>
          <a:prstGeom prst="rect">
            <a:avLst/>
          </a:prstGeom>
          <a:noFill/>
          <a:ln/>
        </p:spPr>
        <p:txBody>
          <a:bodyPr wrap="square" rtlCol="0" anchor="ctr"/>
          <a:lstStyle/>
          <a:p>
            <a:r>
              <a:rPr lang="en-US" sz="1600" b="1" dirty="0">
                <a:solidFill>
                  <a:srgbClr val="1E293B"/>
                </a:solidFill>
                <a:latin typeface="Calibri" pitchFamily="34" charset="0"/>
                <a:ea typeface="Calibri" pitchFamily="34" charset="-122"/>
                <a:cs typeface="Calibri" pitchFamily="34" charset="-120"/>
              </a:rPr>
              <a:t>The Market Will Stay Fragmented</a:t>
            </a:r>
            <a:endParaRPr lang="en-US" sz="1600" dirty="0"/>
          </a:p>
        </p:txBody>
      </p:sp>
      <p:sp>
        <p:nvSpPr>
          <p:cNvPr id="21" name="Shape 19"/>
          <p:cNvSpPr/>
          <p:nvPr/>
        </p:nvSpPr>
        <p:spPr>
          <a:xfrm>
            <a:off x="1280160" y="3730752"/>
            <a:ext cx="426720" cy="219456"/>
          </a:xfrm>
          <a:prstGeom prst="rect">
            <a:avLst/>
          </a:prstGeom>
          <a:solidFill>
            <a:srgbClr val="22C55E"/>
          </a:solidFill>
          <a:ln w="12700">
            <a:solidFill>
              <a:srgbClr val="22C55E"/>
            </a:solidFill>
            <a:prstDash val="solid"/>
          </a:ln>
        </p:spPr>
      </p:sp>
      <p:sp>
        <p:nvSpPr>
          <p:cNvPr id="22" name="Text 20"/>
          <p:cNvSpPr/>
          <p:nvPr/>
        </p:nvSpPr>
        <p:spPr>
          <a:xfrm>
            <a:off x="1828800" y="3730752"/>
            <a:ext cx="853440" cy="219456"/>
          </a:xfrm>
          <a:prstGeom prst="rect">
            <a:avLst/>
          </a:prstGeom>
          <a:noFill/>
          <a:ln/>
        </p:spPr>
        <p:txBody>
          <a:bodyPr wrap="square" rtlCol="0" anchor="ctr"/>
          <a:lstStyle/>
          <a:p>
            <a:r>
              <a:rPr lang="en-US" sz="1000" b="1" dirty="0">
                <a:solidFill>
                  <a:srgbClr val="22C55E"/>
                </a:solidFill>
                <a:latin typeface="Calibri" pitchFamily="34" charset="0"/>
                <a:ea typeface="Calibri" pitchFamily="34" charset="-122"/>
                <a:cs typeface="Calibri" pitchFamily="34" charset="-120"/>
              </a:rPr>
              <a:t>IF TRUE:</a:t>
            </a:r>
            <a:endParaRPr lang="en-US" sz="1000" dirty="0"/>
          </a:p>
        </p:txBody>
      </p:sp>
      <p:sp>
        <p:nvSpPr>
          <p:cNvPr id="23" name="Text 21"/>
          <p:cNvSpPr/>
          <p:nvPr/>
        </p:nvSpPr>
        <p:spPr>
          <a:xfrm>
            <a:off x="2743200" y="3730752"/>
            <a:ext cx="8900160" cy="390144"/>
          </a:xfrm>
          <a:prstGeom prst="rect">
            <a:avLst/>
          </a:prstGeom>
          <a:noFill/>
          <a:ln/>
        </p:spPr>
        <p:txBody>
          <a:bodyPr wrap="square" rtlCol="0" anchor="ctr"/>
          <a:lstStyle/>
          <a:p>
            <a:r>
              <a:rPr lang="en-US" sz="1400" dirty="0">
                <a:solidFill>
                  <a:srgbClr val="1E293B"/>
                </a:solidFill>
                <a:latin typeface="Calibri" pitchFamily="34" charset="0"/>
                <a:ea typeface="Calibri" pitchFamily="34" charset="-122"/>
                <a:cs typeface="Calibri" pitchFamily="34" charset="-120"/>
              </a:rPr>
              <a:t>Thousands of AI use cases = thousands of models. No single hyperscaler can optimize for all. Enterprise data residency laws (EU AI Act) force local/specialized providers.</a:t>
            </a:r>
            <a:endParaRPr lang="en-US" sz="1400" dirty="0"/>
          </a:p>
        </p:txBody>
      </p:sp>
      <p:sp>
        <p:nvSpPr>
          <p:cNvPr id="24" name="Shape 22"/>
          <p:cNvSpPr/>
          <p:nvPr/>
        </p:nvSpPr>
        <p:spPr>
          <a:xfrm>
            <a:off x="1280160" y="4194048"/>
            <a:ext cx="426720" cy="219456"/>
          </a:xfrm>
          <a:prstGeom prst="rect">
            <a:avLst/>
          </a:prstGeom>
          <a:solidFill>
            <a:srgbClr val="EF4444"/>
          </a:solidFill>
          <a:ln w="12700">
            <a:solidFill>
              <a:srgbClr val="EF4444"/>
            </a:solidFill>
            <a:prstDash val="solid"/>
          </a:ln>
        </p:spPr>
      </p:sp>
      <p:sp>
        <p:nvSpPr>
          <p:cNvPr id="25" name="Text 23"/>
          <p:cNvSpPr/>
          <p:nvPr/>
        </p:nvSpPr>
        <p:spPr>
          <a:xfrm>
            <a:off x="1828800" y="4194048"/>
            <a:ext cx="975360" cy="219456"/>
          </a:xfrm>
          <a:prstGeom prst="rect">
            <a:avLst/>
          </a:prstGeom>
          <a:noFill/>
          <a:ln/>
        </p:spPr>
        <p:txBody>
          <a:bodyPr wrap="square" rtlCol="0" anchor="ctr"/>
          <a:lstStyle/>
          <a:p>
            <a:r>
              <a:rPr lang="en-US" sz="1000" b="1" dirty="0">
                <a:solidFill>
                  <a:srgbClr val="EF4444"/>
                </a:solidFill>
                <a:latin typeface="Calibri" pitchFamily="34" charset="0"/>
                <a:ea typeface="Calibri" pitchFamily="34" charset="-122"/>
                <a:cs typeface="Calibri" pitchFamily="34" charset="-120"/>
              </a:rPr>
              <a:t>IF FALSE:</a:t>
            </a:r>
            <a:endParaRPr lang="en-US" sz="1000" dirty="0"/>
          </a:p>
        </p:txBody>
      </p:sp>
      <p:sp>
        <p:nvSpPr>
          <p:cNvPr id="26" name="Text 24"/>
          <p:cNvSpPr/>
          <p:nvPr/>
        </p:nvSpPr>
        <p:spPr>
          <a:xfrm>
            <a:off x="2743200" y="4194048"/>
            <a:ext cx="8900160" cy="390144"/>
          </a:xfrm>
          <a:prstGeom prst="rect">
            <a:avLst/>
          </a:prstGeom>
          <a:noFill/>
          <a:ln/>
        </p:spPr>
        <p:txBody>
          <a:bodyPr wrap="square" rtlCol="0" anchor="ctr"/>
          <a:lstStyle/>
          <a:p>
            <a:r>
              <a:rPr lang="en-US" sz="1400" dirty="0">
                <a:solidFill>
                  <a:srgbClr val="1E293B"/>
                </a:solidFill>
                <a:latin typeface="Calibri" pitchFamily="34" charset="0"/>
                <a:ea typeface="Calibri" pitchFamily="34" charset="-122"/>
                <a:cs typeface="Calibri" pitchFamily="34" charset="-120"/>
              </a:rPr>
              <a:t>Model consolidation around 2–3 winners (ChatGPT, Gemini, Claude) could standardize compute and reduce fragmentation, benefiting hyperscalers at neoclouds' expense.</a:t>
            </a:r>
            <a:endParaRPr lang="en-US" sz="1400" dirty="0"/>
          </a:p>
        </p:txBody>
      </p:sp>
      <p:sp>
        <p:nvSpPr>
          <p:cNvPr id="27" name="Shape 25"/>
          <p:cNvSpPr/>
          <p:nvPr/>
        </p:nvSpPr>
        <p:spPr>
          <a:xfrm>
            <a:off x="426720" y="4803648"/>
            <a:ext cx="11338560" cy="1511808"/>
          </a:xfrm>
          <a:prstGeom prst="rect">
            <a:avLst/>
          </a:prstGeom>
          <a:solidFill>
            <a:srgbClr val="FFFFFF"/>
          </a:solidFill>
          <a:ln w="12700">
            <a:solidFill>
              <a:srgbClr val="22C55E"/>
            </a:solidFill>
            <a:prstDash val="solid"/>
          </a:ln>
          <a:effectLst>
            <a:outerShdw blurRad="127000" dist="50800" dir="8100000" algn="bl" rotWithShape="0">
              <a:srgbClr val="000000">
                <a:alpha val="18000"/>
              </a:srgbClr>
            </a:outerShdw>
          </a:effectLst>
        </p:spPr>
      </p:sp>
      <p:sp>
        <p:nvSpPr>
          <p:cNvPr id="28" name="Shape 26"/>
          <p:cNvSpPr/>
          <p:nvPr/>
        </p:nvSpPr>
        <p:spPr>
          <a:xfrm>
            <a:off x="426720" y="4803648"/>
            <a:ext cx="85344" cy="1511808"/>
          </a:xfrm>
          <a:prstGeom prst="rect">
            <a:avLst/>
          </a:prstGeom>
          <a:solidFill>
            <a:srgbClr val="22C55E"/>
          </a:solidFill>
          <a:ln w="12700">
            <a:solidFill>
              <a:srgbClr val="22C55E"/>
            </a:solidFill>
            <a:prstDash val="solid"/>
          </a:ln>
        </p:spPr>
      </p:sp>
      <p:sp>
        <p:nvSpPr>
          <p:cNvPr id="29" name="Text 27"/>
          <p:cNvSpPr/>
          <p:nvPr/>
        </p:nvSpPr>
        <p:spPr>
          <a:xfrm>
            <a:off x="609600" y="4901184"/>
            <a:ext cx="670560" cy="609600"/>
          </a:xfrm>
          <a:prstGeom prst="rect">
            <a:avLst/>
          </a:prstGeom>
          <a:noFill/>
          <a:ln/>
        </p:spPr>
        <p:txBody>
          <a:bodyPr wrap="square" rtlCol="0" anchor="ctr"/>
          <a:lstStyle/>
          <a:p>
            <a:r>
              <a:rPr lang="en-US" sz="2933" b="1" dirty="0">
                <a:solidFill>
                  <a:srgbClr val="22C55E"/>
                </a:solidFill>
                <a:latin typeface="Calibri" pitchFamily="34" charset="0"/>
                <a:ea typeface="Calibri" pitchFamily="34" charset="-122"/>
                <a:cs typeface="Calibri" pitchFamily="34" charset="-120"/>
              </a:rPr>
              <a:t>03</a:t>
            </a:r>
            <a:endParaRPr lang="en-US" sz="2933" dirty="0"/>
          </a:p>
        </p:txBody>
      </p:sp>
      <p:sp>
        <p:nvSpPr>
          <p:cNvPr id="30" name="Text 28"/>
          <p:cNvSpPr/>
          <p:nvPr/>
        </p:nvSpPr>
        <p:spPr>
          <a:xfrm>
            <a:off x="1280160" y="4925568"/>
            <a:ext cx="10241280" cy="365760"/>
          </a:xfrm>
          <a:prstGeom prst="rect">
            <a:avLst/>
          </a:prstGeom>
          <a:noFill/>
          <a:ln/>
        </p:spPr>
        <p:txBody>
          <a:bodyPr wrap="square" rtlCol="0" anchor="ctr"/>
          <a:lstStyle/>
          <a:p>
            <a:r>
              <a:rPr lang="en-US" sz="1600" b="1" dirty="0">
                <a:solidFill>
                  <a:srgbClr val="1E293B"/>
                </a:solidFill>
                <a:latin typeface="Calibri" pitchFamily="34" charset="0"/>
                <a:ea typeface="Calibri" pitchFamily="34" charset="-122"/>
                <a:cs typeface="Calibri" pitchFamily="34" charset="-120"/>
              </a:rPr>
              <a:t>Optimization = Sustainable Differentiation</a:t>
            </a:r>
            <a:endParaRPr lang="en-US" sz="1600" dirty="0"/>
          </a:p>
        </p:txBody>
      </p:sp>
      <p:sp>
        <p:nvSpPr>
          <p:cNvPr id="31" name="Shape 29"/>
          <p:cNvSpPr/>
          <p:nvPr/>
        </p:nvSpPr>
        <p:spPr>
          <a:xfrm>
            <a:off x="1280160" y="5340096"/>
            <a:ext cx="426720" cy="219456"/>
          </a:xfrm>
          <a:prstGeom prst="rect">
            <a:avLst/>
          </a:prstGeom>
          <a:solidFill>
            <a:srgbClr val="22C55E"/>
          </a:solidFill>
          <a:ln w="12700">
            <a:solidFill>
              <a:srgbClr val="22C55E"/>
            </a:solidFill>
            <a:prstDash val="solid"/>
          </a:ln>
        </p:spPr>
      </p:sp>
      <p:sp>
        <p:nvSpPr>
          <p:cNvPr id="32" name="Text 30"/>
          <p:cNvSpPr/>
          <p:nvPr/>
        </p:nvSpPr>
        <p:spPr>
          <a:xfrm>
            <a:off x="1828800" y="5340096"/>
            <a:ext cx="853440" cy="219456"/>
          </a:xfrm>
          <a:prstGeom prst="rect">
            <a:avLst/>
          </a:prstGeom>
          <a:noFill/>
          <a:ln/>
        </p:spPr>
        <p:txBody>
          <a:bodyPr wrap="square" rtlCol="0" anchor="ctr"/>
          <a:lstStyle/>
          <a:p>
            <a:r>
              <a:rPr lang="en-US" sz="1000" b="1" dirty="0">
                <a:solidFill>
                  <a:srgbClr val="22C55E"/>
                </a:solidFill>
                <a:latin typeface="Calibri" pitchFamily="34" charset="0"/>
                <a:ea typeface="Calibri" pitchFamily="34" charset="-122"/>
                <a:cs typeface="Calibri" pitchFamily="34" charset="-120"/>
              </a:rPr>
              <a:t>IF TRUE:</a:t>
            </a:r>
            <a:endParaRPr lang="en-US" sz="1000" dirty="0"/>
          </a:p>
        </p:txBody>
      </p:sp>
      <p:sp>
        <p:nvSpPr>
          <p:cNvPr id="33" name="Text 31"/>
          <p:cNvSpPr/>
          <p:nvPr/>
        </p:nvSpPr>
        <p:spPr>
          <a:xfrm>
            <a:off x="2743200" y="5340096"/>
            <a:ext cx="8900160" cy="390144"/>
          </a:xfrm>
          <a:prstGeom prst="rect">
            <a:avLst/>
          </a:prstGeom>
          <a:noFill/>
          <a:ln/>
        </p:spPr>
        <p:txBody>
          <a:bodyPr wrap="square" rtlCol="0" anchor="ctr"/>
          <a:lstStyle/>
          <a:p>
            <a:r>
              <a:rPr lang="en-US" sz="1400" dirty="0">
                <a:solidFill>
                  <a:srgbClr val="1E293B"/>
                </a:solidFill>
                <a:latin typeface="Calibri" pitchFamily="34" charset="0"/>
                <a:ea typeface="Calibri" pitchFamily="34" charset="-122"/>
                <a:cs typeface="Calibri" pitchFamily="34" charset="-120"/>
              </a:rPr>
              <a:t>Nebius co-founder Chernin: 'One extra second of compute per task can make the difference between economically viable and failure.' Custom cluster tuning = real, measurable moat.</a:t>
            </a:r>
            <a:endParaRPr lang="en-US" sz="1400" dirty="0"/>
          </a:p>
        </p:txBody>
      </p:sp>
      <p:sp>
        <p:nvSpPr>
          <p:cNvPr id="34" name="Shape 32"/>
          <p:cNvSpPr/>
          <p:nvPr/>
        </p:nvSpPr>
        <p:spPr>
          <a:xfrm>
            <a:off x="1280160" y="5803392"/>
            <a:ext cx="426720" cy="219456"/>
          </a:xfrm>
          <a:prstGeom prst="rect">
            <a:avLst/>
          </a:prstGeom>
          <a:solidFill>
            <a:srgbClr val="EF4444"/>
          </a:solidFill>
          <a:ln w="12700">
            <a:solidFill>
              <a:srgbClr val="EF4444"/>
            </a:solidFill>
            <a:prstDash val="solid"/>
          </a:ln>
        </p:spPr>
      </p:sp>
      <p:sp>
        <p:nvSpPr>
          <p:cNvPr id="35" name="Text 33"/>
          <p:cNvSpPr/>
          <p:nvPr/>
        </p:nvSpPr>
        <p:spPr>
          <a:xfrm>
            <a:off x="1828800" y="5803392"/>
            <a:ext cx="975360" cy="219456"/>
          </a:xfrm>
          <a:prstGeom prst="rect">
            <a:avLst/>
          </a:prstGeom>
          <a:noFill/>
          <a:ln/>
        </p:spPr>
        <p:txBody>
          <a:bodyPr wrap="square" rtlCol="0" anchor="ctr"/>
          <a:lstStyle/>
          <a:p>
            <a:r>
              <a:rPr lang="en-US" sz="1000" b="1" dirty="0">
                <a:solidFill>
                  <a:srgbClr val="EF4444"/>
                </a:solidFill>
                <a:latin typeface="Calibri" pitchFamily="34" charset="0"/>
                <a:ea typeface="Calibri" pitchFamily="34" charset="-122"/>
                <a:cs typeface="Calibri" pitchFamily="34" charset="-120"/>
              </a:rPr>
              <a:t>IF FALSE:</a:t>
            </a:r>
            <a:endParaRPr lang="en-US" sz="1000" dirty="0"/>
          </a:p>
        </p:txBody>
      </p:sp>
      <p:sp>
        <p:nvSpPr>
          <p:cNvPr id="36" name="Text 34"/>
          <p:cNvSpPr/>
          <p:nvPr/>
        </p:nvSpPr>
        <p:spPr>
          <a:xfrm>
            <a:off x="2743200" y="5803392"/>
            <a:ext cx="8900160" cy="390144"/>
          </a:xfrm>
          <a:prstGeom prst="rect">
            <a:avLst/>
          </a:prstGeom>
          <a:noFill/>
          <a:ln/>
        </p:spPr>
        <p:txBody>
          <a:bodyPr wrap="square" rtlCol="0" anchor="ctr"/>
          <a:lstStyle/>
          <a:p>
            <a:r>
              <a:rPr lang="en-US" sz="1400" dirty="0">
                <a:solidFill>
                  <a:srgbClr val="1E293B"/>
                </a:solidFill>
                <a:latin typeface="Calibri" pitchFamily="34" charset="0"/>
                <a:ea typeface="Calibri" pitchFamily="34" charset="-122"/>
                <a:cs typeface="Calibri" pitchFamily="34" charset="-120"/>
              </a:rPr>
              <a:t>As Nebius itself acknowledges, 'if we just provide GPUs, it's a commodity anyway.' If optimization fails to delight enterprise clients, hyperscalers win on price and breadth.</a:t>
            </a:r>
            <a:endParaRPr lang="en-US" sz="1400" dirty="0"/>
          </a:p>
        </p:txBody>
      </p:sp>
      <p:sp>
        <p:nvSpPr>
          <p:cNvPr id="37" name="Text 35"/>
          <p:cNvSpPr/>
          <p:nvPr/>
        </p:nvSpPr>
        <p:spPr>
          <a:xfrm>
            <a:off x="487680" y="6608064"/>
            <a:ext cx="11216640" cy="219456"/>
          </a:xfrm>
          <a:prstGeom prst="rect">
            <a:avLst/>
          </a:prstGeom>
          <a:noFill/>
          <a:ln/>
        </p:spPr>
        <p:txBody>
          <a:bodyPr wrap="square" rtlCol="0" anchor="ctr"/>
          <a:lstStyle/>
          <a:p>
            <a:r>
              <a:rPr lang="en-US" sz="1000" i="1" dirty="0">
                <a:solidFill>
                  <a:srgbClr val="64748B"/>
                </a:solidFill>
                <a:latin typeface="Calibri" pitchFamily="34" charset="0"/>
                <a:ea typeface="Calibri" pitchFamily="34" charset="-122"/>
                <a:cs typeface="Calibri" pitchFamily="34" charset="-120"/>
              </a:rPr>
              <a:t>Thesis source: WealthyReadings (Aug 2025) + independent fundamental analysis. Not investment advice.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121920"/>
            <a:ext cx="11216640" cy="512064"/>
          </a:xfrm>
          <a:prstGeom prst="rect">
            <a:avLst/>
          </a:prstGeom>
          <a:noFill/>
          <a:ln/>
        </p:spPr>
        <p:txBody>
          <a:bodyPr wrap="square" rtlCol="0" anchor="ctr"/>
          <a:lstStyle/>
          <a:p>
            <a:r>
              <a:rPr lang="en-US" sz="2267" b="1" dirty="0">
                <a:solidFill>
                  <a:srgbClr val="00B4D8"/>
                </a:solidFill>
                <a:latin typeface="Calibri" pitchFamily="34" charset="0"/>
                <a:ea typeface="Calibri" pitchFamily="34" charset="-122"/>
                <a:cs typeface="Calibri" pitchFamily="34" charset="-120"/>
              </a:rPr>
              <a:t>SECTION 10: PRICE PROJECTION — BULL / BASE / BEAR</a:t>
            </a:r>
            <a:endParaRPr lang="en-US" sz="2267" dirty="0"/>
          </a:p>
        </p:txBody>
      </p:sp>
      <p:sp>
        <p:nvSpPr>
          <p:cNvPr id="3" name="Text 1"/>
          <p:cNvSpPr/>
          <p:nvPr/>
        </p:nvSpPr>
        <p:spPr>
          <a:xfrm>
            <a:off x="487680" y="542544"/>
            <a:ext cx="11216640" cy="292608"/>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CMP: ~$106  ·  52-Wk High: $141.10  ·  52-Wk Low: $18.31  ·  Market Cap: ~$26B  ·  Shares: ~253M  ·  Next Earnings: Apr 29, 2026</a:t>
            </a:r>
          </a:p>
        </p:txBody>
      </p:sp>
      <p:sp>
        <p:nvSpPr>
          <p:cNvPr id="4" name="Shape 2"/>
          <p:cNvSpPr/>
          <p:nvPr/>
        </p:nvSpPr>
        <p:spPr>
          <a:xfrm>
            <a:off x="134112" y="975360"/>
            <a:ext cx="3840480" cy="5669280"/>
          </a:xfrm>
          <a:prstGeom prst="rect">
            <a:avLst/>
          </a:prstGeom>
          <a:solidFill>
            <a:srgbClr val="200000"/>
          </a:solidFill>
          <a:ln w="12700">
            <a:solidFill>
              <a:srgbClr val="EF4444"/>
            </a:solidFill>
            <a:prstDash val="solid"/>
          </a:ln>
        </p:spPr>
      </p:sp>
      <p:sp>
        <p:nvSpPr>
          <p:cNvPr id="5" name="Shape 3"/>
          <p:cNvSpPr/>
          <p:nvPr/>
        </p:nvSpPr>
        <p:spPr>
          <a:xfrm>
            <a:off x="134112" y="975360"/>
            <a:ext cx="3840480" cy="609600"/>
          </a:xfrm>
          <a:prstGeom prst="rect">
            <a:avLst/>
          </a:prstGeom>
          <a:solidFill>
            <a:srgbClr val="EF4444"/>
          </a:solidFill>
          <a:ln w="12700">
            <a:solidFill>
              <a:srgbClr val="EF4444"/>
            </a:solidFill>
            <a:prstDash val="solid"/>
          </a:ln>
        </p:spPr>
      </p:sp>
      <p:sp>
        <p:nvSpPr>
          <p:cNvPr id="6" name="Text 4"/>
          <p:cNvSpPr/>
          <p:nvPr/>
        </p:nvSpPr>
        <p:spPr>
          <a:xfrm>
            <a:off x="256032" y="999744"/>
            <a:ext cx="3596640" cy="560832"/>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  BEAR CASE</a:t>
            </a:r>
            <a:endParaRPr lang="en-US" sz="1600" dirty="0"/>
          </a:p>
        </p:txBody>
      </p:sp>
      <p:sp>
        <p:nvSpPr>
          <p:cNvPr id="7" name="Text 5"/>
          <p:cNvSpPr/>
          <p:nvPr/>
        </p:nvSpPr>
        <p:spPr>
          <a:xfrm>
            <a:off x="316992" y="1694688"/>
            <a:ext cx="3474720" cy="292608"/>
          </a:xfrm>
          <a:prstGeom prst="rect">
            <a:avLst/>
          </a:prstGeom>
          <a:noFill/>
          <a:ln/>
        </p:spPr>
        <p:txBody>
          <a:bodyPr wrap="square" rtlCol="0" anchor="ctr"/>
          <a:lstStyle/>
          <a:p>
            <a:r>
              <a:rPr lang="en-US" sz="1133" dirty="0">
                <a:solidFill>
                  <a:srgbClr val="94A3B8"/>
                </a:solidFill>
                <a:latin typeface="Calibri" pitchFamily="34" charset="0"/>
                <a:ea typeface="Calibri" pitchFamily="34" charset="-122"/>
                <a:cs typeface="Calibri" pitchFamily="34" charset="-120"/>
              </a:rPr>
              <a:t>12-Month Target</a:t>
            </a:r>
            <a:endParaRPr lang="en-US" sz="1133" dirty="0"/>
          </a:p>
        </p:txBody>
      </p:sp>
      <p:sp>
        <p:nvSpPr>
          <p:cNvPr id="8" name="Text 6"/>
          <p:cNvSpPr/>
          <p:nvPr/>
        </p:nvSpPr>
        <p:spPr>
          <a:xfrm>
            <a:off x="316992" y="1962912"/>
            <a:ext cx="3474720" cy="633984"/>
          </a:xfrm>
          <a:prstGeom prst="rect">
            <a:avLst/>
          </a:prstGeom>
          <a:noFill/>
          <a:ln/>
        </p:spPr>
        <p:txBody>
          <a:bodyPr wrap="square" rtlCol="0" anchor="ctr"/>
          <a:lstStyle/>
          <a:p>
            <a:r>
              <a:rPr lang="en-US" sz="3200" b="1" dirty="0">
                <a:solidFill>
                  <a:srgbClr val="EF4444"/>
                </a:solidFill>
                <a:latin typeface="Calibri" pitchFamily="34" charset="0"/>
                <a:ea typeface="Calibri" pitchFamily="34" charset="-122"/>
                <a:cs typeface="Calibri" pitchFamily="34" charset="-120"/>
              </a:rPr>
              <a:t>$45–65</a:t>
            </a:r>
            <a:endParaRPr lang="en-US" sz="3200" dirty="0"/>
          </a:p>
        </p:txBody>
      </p:sp>
      <p:sp>
        <p:nvSpPr>
          <p:cNvPr id="9" name="Text 7"/>
          <p:cNvSpPr/>
          <p:nvPr/>
        </p:nvSpPr>
        <p:spPr>
          <a:xfrm>
            <a:off x="316992" y="2572512"/>
            <a:ext cx="3474720" cy="292608"/>
          </a:xfrm>
          <a:prstGeom prst="rect">
            <a:avLst/>
          </a:prstGeom>
          <a:noFill/>
          <a:ln/>
        </p:spPr>
        <p:txBody>
          <a:bodyPr wrap="square" rtlCol="0" anchor="ctr"/>
          <a:lstStyle/>
          <a:p>
            <a:r>
              <a:rPr lang="en-US" sz="1267" dirty="0">
                <a:solidFill>
                  <a:srgbClr val="EF4444"/>
                </a:solidFill>
                <a:latin typeface="Calibri" pitchFamily="34" charset="0"/>
                <a:ea typeface="Calibri" pitchFamily="34" charset="-122"/>
                <a:cs typeface="Calibri" pitchFamily="34" charset="-120"/>
              </a:rPr>
              <a:t>−39% to −58% vs CMP</a:t>
            </a:r>
            <a:endParaRPr lang="en-US" sz="1267" dirty="0"/>
          </a:p>
        </p:txBody>
      </p:sp>
      <p:sp>
        <p:nvSpPr>
          <p:cNvPr id="10" name="Shape 8"/>
          <p:cNvSpPr/>
          <p:nvPr/>
        </p:nvSpPr>
        <p:spPr>
          <a:xfrm>
            <a:off x="316992" y="2950464"/>
            <a:ext cx="3438144" cy="0"/>
          </a:xfrm>
          <a:prstGeom prst="line">
            <a:avLst/>
          </a:prstGeom>
          <a:noFill/>
          <a:ln w="5080">
            <a:solidFill>
              <a:srgbClr val="EF4444">
                <a:alpha val="40000"/>
              </a:srgbClr>
            </a:solidFill>
            <a:prstDash val="solid"/>
          </a:ln>
        </p:spPr>
      </p:sp>
      <p:sp>
        <p:nvSpPr>
          <p:cNvPr id="11" name="Text 9"/>
          <p:cNvSpPr/>
          <p:nvPr/>
        </p:nvSpPr>
        <p:spPr>
          <a:xfrm>
            <a:off x="316992" y="3011424"/>
            <a:ext cx="1950720" cy="268224"/>
          </a:xfrm>
          <a:prstGeom prst="rect">
            <a:avLst/>
          </a:prstGeom>
          <a:noFill/>
          <a:ln/>
        </p:spPr>
        <p:txBody>
          <a:bodyPr wrap="square" rtlCol="0" anchor="ctr"/>
          <a:lstStyle/>
          <a:p>
            <a:r>
              <a:rPr lang="en-US" sz="1200" dirty="0">
                <a:solidFill>
                  <a:schemeClr val="bg1"/>
                </a:solidFill>
                <a:latin typeface="Calibri" pitchFamily="34" charset="0"/>
                <a:ea typeface="Calibri" pitchFamily="34" charset="-122"/>
                <a:cs typeface="Calibri" pitchFamily="34" charset="-120"/>
              </a:rPr>
              <a:t>2026E FY Rev</a:t>
            </a:r>
            <a:endParaRPr lang="en-US" sz="1200" dirty="0">
              <a:solidFill>
                <a:schemeClr val="bg1"/>
              </a:solidFill>
            </a:endParaRPr>
          </a:p>
        </p:txBody>
      </p:sp>
      <p:sp>
        <p:nvSpPr>
          <p:cNvPr id="12" name="Text 10"/>
          <p:cNvSpPr/>
          <p:nvPr/>
        </p:nvSpPr>
        <p:spPr>
          <a:xfrm>
            <a:off x="2206752" y="3011424"/>
            <a:ext cx="1584960" cy="268224"/>
          </a:xfrm>
          <a:prstGeom prst="rect">
            <a:avLst/>
          </a:prstGeom>
          <a:noFill/>
          <a:ln/>
        </p:spPr>
        <p:txBody>
          <a:bodyPr wrap="square" rtlCol="0" anchor="ctr"/>
          <a:lstStyle/>
          <a:p>
            <a:pPr algn="r"/>
            <a:r>
              <a:rPr lang="en-US" sz="1133" b="1" dirty="0">
                <a:solidFill>
                  <a:srgbClr val="FFFFFF"/>
                </a:solidFill>
                <a:latin typeface="Calibri" pitchFamily="34" charset="0"/>
                <a:ea typeface="Calibri" pitchFamily="34" charset="-122"/>
                <a:cs typeface="Calibri" pitchFamily="34" charset="-120"/>
              </a:rPr>
              <a:t>$1.5B</a:t>
            </a:r>
            <a:endParaRPr lang="en-US" sz="1133" dirty="0"/>
          </a:p>
        </p:txBody>
      </p:sp>
      <p:sp>
        <p:nvSpPr>
          <p:cNvPr id="13" name="Text 11"/>
          <p:cNvSpPr/>
          <p:nvPr/>
        </p:nvSpPr>
        <p:spPr>
          <a:xfrm>
            <a:off x="316992" y="3279648"/>
            <a:ext cx="1950720" cy="268224"/>
          </a:xfrm>
          <a:prstGeom prst="rect">
            <a:avLst/>
          </a:prstGeom>
          <a:noFill/>
          <a:ln/>
        </p:spPr>
        <p:txBody>
          <a:bodyPr wrap="square" rtlCol="0" anchor="ctr"/>
          <a:lstStyle/>
          <a:p>
            <a:r>
              <a:rPr lang="en-US" sz="1200" dirty="0">
                <a:solidFill>
                  <a:schemeClr val="bg1"/>
                </a:solidFill>
                <a:latin typeface="Calibri" pitchFamily="34" charset="0"/>
                <a:ea typeface="Calibri" pitchFamily="34" charset="-122"/>
                <a:cs typeface="Calibri" pitchFamily="34" charset="-120"/>
              </a:rPr>
              <a:t>Implied Multiple</a:t>
            </a:r>
            <a:endParaRPr lang="en-US" sz="1200" dirty="0">
              <a:solidFill>
                <a:schemeClr val="bg1"/>
              </a:solidFill>
            </a:endParaRPr>
          </a:p>
        </p:txBody>
      </p:sp>
      <p:sp>
        <p:nvSpPr>
          <p:cNvPr id="14" name="Text 12"/>
          <p:cNvSpPr/>
          <p:nvPr/>
        </p:nvSpPr>
        <p:spPr>
          <a:xfrm>
            <a:off x="2206752" y="3279648"/>
            <a:ext cx="1584960" cy="268224"/>
          </a:xfrm>
          <a:prstGeom prst="rect">
            <a:avLst/>
          </a:prstGeom>
          <a:noFill/>
          <a:ln/>
        </p:spPr>
        <p:txBody>
          <a:bodyPr wrap="square" rtlCol="0" anchor="ctr"/>
          <a:lstStyle/>
          <a:p>
            <a:pPr algn="r"/>
            <a:r>
              <a:rPr lang="en-US" sz="1067" b="1" dirty="0">
                <a:solidFill>
                  <a:srgbClr val="EF4444"/>
                </a:solidFill>
                <a:latin typeface="Calibri" pitchFamily="34" charset="0"/>
                <a:ea typeface="Calibri" pitchFamily="34" charset="-122"/>
                <a:cs typeface="Calibri" pitchFamily="34" charset="-120"/>
              </a:rPr>
              <a:t>7–9x EV/Rev</a:t>
            </a:r>
            <a:endParaRPr lang="en-US" sz="1067" dirty="0"/>
          </a:p>
        </p:txBody>
      </p:sp>
      <p:sp>
        <p:nvSpPr>
          <p:cNvPr id="15" name="Shape 13"/>
          <p:cNvSpPr/>
          <p:nvPr/>
        </p:nvSpPr>
        <p:spPr>
          <a:xfrm>
            <a:off x="316992" y="3621024"/>
            <a:ext cx="3438144" cy="0"/>
          </a:xfrm>
          <a:prstGeom prst="line">
            <a:avLst/>
          </a:prstGeom>
          <a:noFill/>
          <a:ln w="5080">
            <a:solidFill>
              <a:srgbClr val="EF4444">
                <a:alpha val="40000"/>
              </a:srgbClr>
            </a:solidFill>
            <a:prstDash val="solid"/>
          </a:ln>
        </p:spPr>
      </p:sp>
      <p:sp>
        <p:nvSpPr>
          <p:cNvPr id="16" name="Text 14"/>
          <p:cNvSpPr/>
          <p:nvPr/>
        </p:nvSpPr>
        <p:spPr>
          <a:xfrm>
            <a:off x="316992" y="3669792"/>
            <a:ext cx="3474720" cy="268224"/>
          </a:xfrm>
          <a:prstGeom prst="rect">
            <a:avLst/>
          </a:prstGeom>
          <a:noFill/>
          <a:ln/>
        </p:spPr>
        <p:txBody>
          <a:bodyPr wrap="square" rtlCol="0" anchor="ctr"/>
          <a:lstStyle/>
          <a:p>
            <a:r>
              <a:rPr lang="en-US" sz="1067" b="1" dirty="0">
                <a:solidFill>
                  <a:srgbClr val="EF4444"/>
                </a:solidFill>
                <a:latin typeface="Calibri" pitchFamily="34" charset="0"/>
                <a:ea typeface="Calibri" pitchFamily="34" charset="-122"/>
                <a:cs typeface="Calibri" pitchFamily="34" charset="-120"/>
              </a:rPr>
              <a:t>Key triggers</a:t>
            </a:r>
            <a:endParaRPr lang="en-US" sz="1067" dirty="0"/>
          </a:p>
        </p:txBody>
      </p:sp>
      <p:sp>
        <p:nvSpPr>
          <p:cNvPr id="17" name="Text 15"/>
          <p:cNvSpPr/>
          <p:nvPr/>
        </p:nvSpPr>
        <p:spPr>
          <a:xfrm>
            <a:off x="316992" y="3962400"/>
            <a:ext cx="3535680" cy="2584704"/>
          </a:xfrm>
          <a:prstGeom prst="rect">
            <a:avLst/>
          </a:prstGeom>
          <a:noFill/>
          <a:ln/>
        </p:spPr>
        <p:txBody>
          <a:bodyPr wrap="square" rtlCol="0" anchor="ctr"/>
          <a:lstStyle/>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Meta or Microsoft downgrades/terminates delivery contracts</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Delivery timeline slips on Vera Rubin — Meta invokes termination rights</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Russian geopolitical risk resurfaces — institutional selling</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Commoditization accelerates — hyperscalers price match neocloud</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DeepSeek-style model efficiency reduces total compute demand</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Convertible debt terms restrict growth; equity dilution pressure</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Recession reduces AI capex from tech giants</a:t>
            </a:r>
            <a:endParaRPr lang="en-US" sz="1200" dirty="0">
              <a:solidFill>
                <a:schemeClr val="bg1"/>
              </a:solidFill>
            </a:endParaRPr>
          </a:p>
        </p:txBody>
      </p:sp>
      <p:sp>
        <p:nvSpPr>
          <p:cNvPr id="18" name="Shape 16"/>
          <p:cNvSpPr/>
          <p:nvPr/>
        </p:nvSpPr>
        <p:spPr>
          <a:xfrm>
            <a:off x="4181856" y="975360"/>
            <a:ext cx="3840480" cy="5669280"/>
          </a:xfrm>
          <a:prstGeom prst="rect">
            <a:avLst/>
          </a:prstGeom>
          <a:solidFill>
            <a:srgbClr val="001A22"/>
          </a:solidFill>
          <a:ln w="12700">
            <a:solidFill>
              <a:srgbClr val="00B4D8"/>
            </a:solidFill>
            <a:prstDash val="solid"/>
          </a:ln>
        </p:spPr>
      </p:sp>
      <p:sp>
        <p:nvSpPr>
          <p:cNvPr id="19" name="Shape 17"/>
          <p:cNvSpPr/>
          <p:nvPr/>
        </p:nvSpPr>
        <p:spPr>
          <a:xfrm>
            <a:off x="4181856" y="975360"/>
            <a:ext cx="3840480" cy="609600"/>
          </a:xfrm>
          <a:prstGeom prst="rect">
            <a:avLst/>
          </a:prstGeom>
          <a:solidFill>
            <a:srgbClr val="00B4D8"/>
          </a:solidFill>
          <a:ln w="12700">
            <a:solidFill>
              <a:srgbClr val="00B4D8"/>
            </a:solidFill>
            <a:prstDash val="solid"/>
          </a:ln>
        </p:spPr>
      </p:sp>
      <p:sp>
        <p:nvSpPr>
          <p:cNvPr id="20" name="Text 18"/>
          <p:cNvSpPr/>
          <p:nvPr/>
        </p:nvSpPr>
        <p:spPr>
          <a:xfrm>
            <a:off x="4303776" y="999744"/>
            <a:ext cx="3596640" cy="560832"/>
          </a:xfrm>
          <a:prstGeom prst="rect">
            <a:avLst/>
          </a:prstGeom>
          <a:noFill/>
          <a:ln/>
        </p:spPr>
        <p:txBody>
          <a:bodyPr wrap="square" rtlCol="0" anchor="ctr"/>
          <a:lstStyle/>
          <a:p>
            <a:pPr algn="ctr"/>
            <a:r>
              <a:rPr lang="en-US" sz="1600" b="1" dirty="0">
                <a:solidFill>
                  <a:srgbClr val="0A0F1E"/>
                </a:solidFill>
                <a:latin typeface="Calibri" pitchFamily="34" charset="0"/>
                <a:ea typeface="Calibri" pitchFamily="34" charset="-122"/>
                <a:cs typeface="Calibri" pitchFamily="34" charset="-120"/>
              </a:rPr>
              <a:t>→  BASE CASE</a:t>
            </a:r>
            <a:endParaRPr lang="en-US" sz="1600" dirty="0"/>
          </a:p>
        </p:txBody>
      </p:sp>
      <p:sp>
        <p:nvSpPr>
          <p:cNvPr id="21" name="Text 19"/>
          <p:cNvSpPr/>
          <p:nvPr/>
        </p:nvSpPr>
        <p:spPr>
          <a:xfrm>
            <a:off x="4364736" y="1694688"/>
            <a:ext cx="3474720" cy="292608"/>
          </a:xfrm>
          <a:prstGeom prst="rect">
            <a:avLst/>
          </a:prstGeom>
          <a:noFill/>
          <a:ln/>
        </p:spPr>
        <p:txBody>
          <a:bodyPr wrap="square" rtlCol="0" anchor="ctr"/>
          <a:lstStyle/>
          <a:p>
            <a:r>
              <a:rPr lang="en-US" sz="1133" dirty="0">
                <a:solidFill>
                  <a:srgbClr val="94A3B8"/>
                </a:solidFill>
                <a:latin typeface="Calibri" pitchFamily="34" charset="0"/>
                <a:ea typeface="Calibri" pitchFamily="34" charset="-122"/>
                <a:cs typeface="Calibri" pitchFamily="34" charset="-120"/>
              </a:rPr>
              <a:t>12-Month Target</a:t>
            </a:r>
            <a:endParaRPr lang="en-US" sz="1133" dirty="0"/>
          </a:p>
        </p:txBody>
      </p:sp>
      <p:sp>
        <p:nvSpPr>
          <p:cNvPr id="22" name="Text 20"/>
          <p:cNvSpPr/>
          <p:nvPr/>
        </p:nvSpPr>
        <p:spPr>
          <a:xfrm>
            <a:off x="4364736" y="1962912"/>
            <a:ext cx="3474720" cy="633984"/>
          </a:xfrm>
          <a:prstGeom prst="rect">
            <a:avLst/>
          </a:prstGeom>
          <a:noFill/>
          <a:ln/>
        </p:spPr>
        <p:txBody>
          <a:bodyPr wrap="square" rtlCol="0" anchor="ctr"/>
          <a:lstStyle/>
          <a:p>
            <a:r>
              <a:rPr lang="en-US" sz="3200" b="1" dirty="0">
                <a:solidFill>
                  <a:srgbClr val="00B4D8"/>
                </a:solidFill>
                <a:latin typeface="Calibri" pitchFamily="34" charset="0"/>
                <a:ea typeface="Calibri" pitchFamily="34" charset="-122"/>
                <a:cs typeface="Calibri" pitchFamily="34" charset="-120"/>
              </a:rPr>
              <a:t>$120–160</a:t>
            </a:r>
            <a:endParaRPr lang="en-US" sz="3200" dirty="0"/>
          </a:p>
        </p:txBody>
      </p:sp>
      <p:sp>
        <p:nvSpPr>
          <p:cNvPr id="23" name="Text 21"/>
          <p:cNvSpPr/>
          <p:nvPr/>
        </p:nvSpPr>
        <p:spPr>
          <a:xfrm>
            <a:off x="4364736" y="2572512"/>
            <a:ext cx="3474720" cy="292608"/>
          </a:xfrm>
          <a:prstGeom prst="rect">
            <a:avLst/>
          </a:prstGeom>
          <a:noFill/>
          <a:ln/>
        </p:spPr>
        <p:txBody>
          <a:bodyPr wrap="square" rtlCol="0" anchor="ctr"/>
          <a:lstStyle/>
          <a:p>
            <a:r>
              <a:rPr lang="en-US" sz="1267" dirty="0">
                <a:solidFill>
                  <a:srgbClr val="00B4D8"/>
                </a:solidFill>
                <a:latin typeface="Calibri" pitchFamily="34" charset="0"/>
                <a:ea typeface="Calibri" pitchFamily="34" charset="-122"/>
                <a:cs typeface="Calibri" pitchFamily="34" charset="-120"/>
              </a:rPr>
              <a:t>+13% to +51% vs CMP</a:t>
            </a:r>
            <a:endParaRPr lang="en-US" sz="1267" dirty="0"/>
          </a:p>
        </p:txBody>
      </p:sp>
      <p:sp>
        <p:nvSpPr>
          <p:cNvPr id="24" name="Shape 22"/>
          <p:cNvSpPr/>
          <p:nvPr/>
        </p:nvSpPr>
        <p:spPr>
          <a:xfrm>
            <a:off x="4364736" y="2950464"/>
            <a:ext cx="3438144" cy="0"/>
          </a:xfrm>
          <a:prstGeom prst="line">
            <a:avLst/>
          </a:prstGeom>
          <a:noFill/>
          <a:ln w="5080">
            <a:solidFill>
              <a:srgbClr val="00B4D8">
                <a:alpha val="40000"/>
              </a:srgbClr>
            </a:solidFill>
            <a:prstDash val="solid"/>
          </a:ln>
        </p:spPr>
      </p:sp>
      <p:sp>
        <p:nvSpPr>
          <p:cNvPr id="25" name="Text 23"/>
          <p:cNvSpPr/>
          <p:nvPr/>
        </p:nvSpPr>
        <p:spPr>
          <a:xfrm>
            <a:off x="4364736" y="3011424"/>
            <a:ext cx="1950720" cy="268224"/>
          </a:xfrm>
          <a:prstGeom prst="rect">
            <a:avLst/>
          </a:prstGeom>
          <a:noFill/>
          <a:ln/>
        </p:spPr>
        <p:txBody>
          <a:bodyPr wrap="square" rtlCol="0" anchor="ctr"/>
          <a:lstStyle/>
          <a:p>
            <a:r>
              <a:rPr lang="en-US" sz="1200" dirty="0">
                <a:solidFill>
                  <a:schemeClr val="bg1"/>
                </a:solidFill>
                <a:latin typeface="Calibri" pitchFamily="34" charset="0"/>
                <a:ea typeface="Calibri" pitchFamily="34" charset="-122"/>
                <a:cs typeface="Calibri" pitchFamily="34" charset="-120"/>
              </a:rPr>
              <a:t>2026E FY Rev</a:t>
            </a:r>
            <a:endParaRPr lang="en-US" sz="1200" dirty="0">
              <a:solidFill>
                <a:schemeClr val="bg1"/>
              </a:solidFill>
            </a:endParaRPr>
          </a:p>
        </p:txBody>
      </p:sp>
      <p:sp>
        <p:nvSpPr>
          <p:cNvPr id="26" name="Text 24"/>
          <p:cNvSpPr/>
          <p:nvPr/>
        </p:nvSpPr>
        <p:spPr>
          <a:xfrm>
            <a:off x="6254496" y="3011424"/>
            <a:ext cx="1584960" cy="268224"/>
          </a:xfrm>
          <a:prstGeom prst="rect">
            <a:avLst/>
          </a:prstGeom>
          <a:noFill/>
          <a:ln/>
        </p:spPr>
        <p:txBody>
          <a:bodyPr wrap="square" rtlCol="0" anchor="ctr"/>
          <a:lstStyle/>
          <a:p>
            <a:pPr algn="r"/>
            <a:r>
              <a:rPr lang="en-US" sz="1133" b="1" dirty="0">
                <a:solidFill>
                  <a:srgbClr val="FFFFFF"/>
                </a:solidFill>
                <a:latin typeface="Calibri" pitchFamily="34" charset="0"/>
                <a:ea typeface="Calibri" pitchFamily="34" charset="-122"/>
                <a:cs typeface="Calibri" pitchFamily="34" charset="-120"/>
              </a:rPr>
              <a:t>$3.0–3.4B</a:t>
            </a:r>
            <a:endParaRPr lang="en-US" sz="1133" dirty="0"/>
          </a:p>
        </p:txBody>
      </p:sp>
      <p:sp>
        <p:nvSpPr>
          <p:cNvPr id="27" name="Text 25"/>
          <p:cNvSpPr/>
          <p:nvPr/>
        </p:nvSpPr>
        <p:spPr>
          <a:xfrm>
            <a:off x="4364736" y="3279648"/>
            <a:ext cx="1950720" cy="268224"/>
          </a:xfrm>
          <a:prstGeom prst="rect">
            <a:avLst/>
          </a:prstGeom>
          <a:noFill/>
          <a:ln/>
        </p:spPr>
        <p:txBody>
          <a:bodyPr wrap="square" rtlCol="0" anchor="ctr"/>
          <a:lstStyle/>
          <a:p>
            <a:r>
              <a:rPr lang="en-US" sz="1200" dirty="0">
                <a:solidFill>
                  <a:schemeClr val="bg1"/>
                </a:solidFill>
                <a:latin typeface="Calibri" pitchFamily="34" charset="0"/>
                <a:ea typeface="Calibri" pitchFamily="34" charset="-122"/>
                <a:cs typeface="Calibri" pitchFamily="34" charset="-120"/>
              </a:rPr>
              <a:t>Implied Multiple</a:t>
            </a:r>
            <a:endParaRPr lang="en-US" sz="1200" dirty="0">
              <a:solidFill>
                <a:schemeClr val="bg1"/>
              </a:solidFill>
            </a:endParaRPr>
          </a:p>
        </p:txBody>
      </p:sp>
      <p:sp>
        <p:nvSpPr>
          <p:cNvPr id="28" name="Text 26"/>
          <p:cNvSpPr/>
          <p:nvPr/>
        </p:nvSpPr>
        <p:spPr>
          <a:xfrm>
            <a:off x="6254496" y="3279648"/>
            <a:ext cx="1584960" cy="268224"/>
          </a:xfrm>
          <a:prstGeom prst="rect">
            <a:avLst/>
          </a:prstGeom>
          <a:noFill/>
          <a:ln/>
        </p:spPr>
        <p:txBody>
          <a:bodyPr wrap="square" rtlCol="0" anchor="ctr"/>
          <a:lstStyle/>
          <a:p>
            <a:pPr algn="r"/>
            <a:r>
              <a:rPr lang="en-US" sz="1067" b="1" dirty="0">
                <a:solidFill>
                  <a:srgbClr val="00B4D8"/>
                </a:solidFill>
                <a:latin typeface="Calibri" pitchFamily="34" charset="0"/>
                <a:ea typeface="Calibri" pitchFamily="34" charset="-122"/>
                <a:cs typeface="Calibri" pitchFamily="34" charset="-120"/>
              </a:rPr>
              <a:t>8–12x EV/Rev</a:t>
            </a:r>
            <a:endParaRPr lang="en-US" sz="1067" dirty="0"/>
          </a:p>
        </p:txBody>
      </p:sp>
      <p:sp>
        <p:nvSpPr>
          <p:cNvPr id="29" name="Shape 27"/>
          <p:cNvSpPr/>
          <p:nvPr/>
        </p:nvSpPr>
        <p:spPr>
          <a:xfrm>
            <a:off x="4364736" y="3621024"/>
            <a:ext cx="3438144" cy="0"/>
          </a:xfrm>
          <a:prstGeom prst="line">
            <a:avLst/>
          </a:prstGeom>
          <a:noFill/>
          <a:ln w="5080">
            <a:solidFill>
              <a:srgbClr val="00B4D8">
                <a:alpha val="40000"/>
              </a:srgbClr>
            </a:solidFill>
            <a:prstDash val="solid"/>
          </a:ln>
        </p:spPr>
      </p:sp>
      <p:sp>
        <p:nvSpPr>
          <p:cNvPr id="30" name="Text 28"/>
          <p:cNvSpPr/>
          <p:nvPr/>
        </p:nvSpPr>
        <p:spPr>
          <a:xfrm>
            <a:off x="4364736" y="3669792"/>
            <a:ext cx="3474720" cy="268224"/>
          </a:xfrm>
          <a:prstGeom prst="rect">
            <a:avLst/>
          </a:prstGeom>
          <a:noFill/>
          <a:ln/>
        </p:spPr>
        <p:txBody>
          <a:bodyPr wrap="square" rtlCol="0" anchor="ctr"/>
          <a:lstStyle/>
          <a:p>
            <a:r>
              <a:rPr lang="en-US" sz="1067" b="1" dirty="0">
                <a:solidFill>
                  <a:srgbClr val="00B4D8"/>
                </a:solidFill>
                <a:latin typeface="Calibri" pitchFamily="34" charset="0"/>
                <a:ea typeface="Calibri" pitchFamily="34" charset="-122"/>
                <a:cs typeface="Calibri" pitchFamily="34" charset="-120"/>
              </a:rPr>
              <a:t>Key triggers</a:t>
            </a:r>
            <a:endParaRPr lang="en-US" sz="1067" dirty="0"/>
          </a:p>
        </p:txBody>
      </p:sp>
      <p:sp>
        <p:nvSpPr>
          <p:cNvPr id="31" name="Text 29"/>
          <p:cNvSpPr/>
          <p:nvPr/>
        </p:nvSpPr>
        <p:spPr>
          <a:xfrm>
            <a:off x="4364736" y="3962400"/>
            <a:ext cx="3535680" cy="2584704"/>
          </a:xfrm>
          <a:prstGeom prst="rect">
            <a:avLst/>
          </a:prstGeom>
          <a:noFill/>
          <a:ln/>
        </p:spPr>
        <p:txBody>
          <a:bodyPr wrap="square" rtlCol="0" anchor="ctr"/>
          <a:lstStyle/>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FY2026 revenue hits $3.0–3.4B (management guidance range)</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Meta Vera Rubin contract delivers on time — $12B anchor secured</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ARR reaches $5–7B by end of 2026 vs $7–9B target</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Adj. EBITDA turns positive on a full-year basis</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NVIDIA Vera Rubin deployment proves optimization moat</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More enterprise clients diversify from Meta/Microsoft concentration</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Stock re-rates from early-stage to growth infrastructure (8–12x Rev)</a:t>
            </a:r>
            <a:endParaRPr lang="en-US" sz="1200" dirty="0">
              <a:solidFill>
                <a:schemeClr val="bg1"/>
              </a:solidFill>
            </a:endParaRPr>
          </a:p>
        </p:txBody>
      </p:sp>
      <p:sp>
        <p:nvSpPr>
          <p:cNvPr id="32" name="Shape 30"/>
          <p:cNvSpPr/>
          <p:nvPr/>
        </p:nvSpPr>
        <p:spPr>
          <a:xfrm>
            <a:off x="8229600" y="975360"/>
            <a:ext cx="3840480" cy="5669280"/>
          </a:xfrm>
          <a:prstGeom prst="rect">
            <a:avLst/>
          </a:prstGeom>
          <a:solidFill>
            <a:srgbClr val="002010"/>
          </a:solidFill>
          <a:ln w="12700">
            <a:solidFill>
              <a:srgbClr val="22C55E"/>
            </a:solidFill>
            <a:prstDash val="solid"/>
          </a:ln>
        </p:spPr>
      </p:sp>
      <p:sp>
        <p:nvSpPr>
          <p:cNvPr id="33" name="Shape 31"/>
          <p:cNvSpPr/>
          <p:nvPr/>
        </p:nvSpPr>
        <p:spPr>
          <a:xfrm>
            <a:off x="8229600" y="975360"/>
            <a:ext cx="3840480" cy="609600"/>
          </a:xfrm>
          <a:prstGeom prst="rect">
            <a:avLst/>
          </a:prstGeom>
          <a:solidFill>
            <a:srgbClr val="22C55E"/>
          </a:solidFill>
          <a:ln w="12700">
            <a:solidFill>
              <a:srgbClr val="22C55E"/>
            </a:solidFill>
            <a:prstDash val="solid"/>
          </a:ln>
        </p:spPr>
      </p:sp>
      <p:sp>
        <p:nvSpPr>
          <p:cNvPr id="34" name="Text 32"/>
          <p:cNvSpPr/>
          <p:nvPr/>
        </p:nvSpPr>
        <p:spPr>
          <a:xfrm>
            <a:off x="8351520" y="999744"/>
            <a:ext cx="3596640" cy="560832"/>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  BULL CASE</a:t>
            </a:r>
            <a:endParaRPr lang="en-US" sz="1600" dirty="0"/>
          </a:p>
        </p:txBody>
      </p:sp>
      <p:sp>
        <p:nvSpPr>
          <p:cNvPr id="35" name="Text 33"/>
          <p:cNvSpPr/>
          <p:nvPr/>
        </p:nvSpPr>
        <p:spPr>
          <a:xfrm>
            <a:off x="8412480" y="1694688"/>
            <a:ext cx="3474720" cy="292608"/>
          </a:xfrm>
          <a:prstGeom prst="rect">
            <a:avLst/>
          </a:prstGeom>
          <a:noFill/>
          <a:ln/>
        </p:spPr>
        <p:txBody>
          <a:bodyPr wrap="square" rtlCol="0" anchor="ctr"/>
          <a:lstStyle/>
          <a:p>
            <a:r>
              <a:rPr lang="en-US" sz="1133" dirty="0">
                <a:solidFill>
                  <a:srgbClr val="94A3B8"/>
                </a:solidFill>
                <a:latin typeface="Calibri" pitchFamily="34" charset="0"/>
                <a:ea typeface="Calibri" pitchFamily="34" charset="-122"/>
                <a:cs typeface="Calibri" pitchFamily="34" charset="-120"/>
              </a:rPr>
              <a:t>12-Month Target</a:t>
            </a:r>
            <a:endParaRPr lang="en-US" sz="1133" dirty="0"/>
          </a:p>
        </p:txBody>
      </p:sp>
      <p:sp>
        <p:nvSpPr>
          <p:cNvPr id="36" name="Text 34"/>
          <p:cNvSpPr/>
          <p:nvPr/>
        </p:nvSpPr>
        <p:spPr>
          <a:xfrm>
            <a:off x="8412480" y="1962912"/>
            <a:ext cx="3474720" cy="633984"/>
          </a:xfrm>
          <a:prstGeom prst="rect">
            <a:avLst/>
          </a:prstGeom>
          <a:noFill/>
          <a:ln/>
        </p:spPr>
        <p:txBody>
          <a:bodyPr wrap="square" rtlCol="0" anchor="ctr"/>
          <a:lstStyle/>
          <a:p>
            <a:r>
              <a:rPr lang="en-US" sz="3200" b="1" dirty="0">
                <a:solidFill>
                  <a:srgbClr val="22C55E"/>
                </a:solidFill>
                <a:latin typeface="Calibri" pitchFamily="34" charset="0"/>
                <a:ea typeface="Calibri" pitchFamily="34" charset="-122"/>
                <a:cs typeface="Calibri" pitchFamily="34" charset="-120"/>
              </a:rPr>
              <a:t>$200–250</a:t>
            </a:r>
            <a:endParaRPr lang="en-US" sz="3200" dirty="0"/>
          </a:p>
        </p:txBody>
      </p:sp>
      <p:sp>
        <p:nvSpPr>
          <p:cNvPr id="37" name="Text 35"/>
          <p:cNvSpPr/>
          <p:nvPr/>
        </p:nvSpPr>
        <p:spPr>
          <a:xfrm>
            <a:off x="8412480" y="2572512"/>
            <a:ext cx="3474720" cy="292608"/>
          </a:xfrm>
          <a:prstGeom prst="rect">
            <a:avLst/>
          </a:prstGeom>
          <a:noFill/>
          <a:ln/>
        </p:spPr>
        <p:txBody>
          <a:bodyPr wrap="square" rtlCol="0" anchor="ctr"/>
          <a:lstStyle/>
          <a:p>
            <a:r>
              <a:rPr lang="en-US" sz="1267" dirty="0">
                <a:solidFill>
                  <a:srgbClr val="22C55E"/>
                </a:solidFill>
                <a:latin typeface="Calibri" pitchFamily="34" charset="0"/>
                <a:ea typeface="Calibri" pitchFamily="34" charset="-122"/>
                <a:cs typeface="Calibri" pitchFamily="34" charset="-120"/>
              </a:rPr>
              <a:t>+89% to +136% vs CMP</a:t>
            </a:r>
            <a:endParaRPr lang="en-US" sz="1267" dirty="0"/>
          </a:p>
        </p:txBody>
      </p:sp>
      <p:sp>
        <p:nvSpPr>
          <p:cNvPr id="38" name="Shape 36"/>
          <p:cNvSpPr/>
          <p:nvPr/>
        </p:nvSpPr>
        <p:spPr>
          <a:xfrm>
            <a:off x="8412480" y="2950464"/>
            <a:ext cx="3438144" cy="0"/>
          </a:xfrm>
          <a:prstGeom prst="line">
            <a:avLst/>
          </a:prstGeom>
          <a:noFill/>
          <a:ln w="5080">
            <a:solidFill>
              <a:srgbClr val="22C55E">
                <a:alpha val="40000"/>
              </a:srgbClr>
            </a:solidFill>
            <a:prstDash val="solid"/>
          </a:ln>
        </p:spPr>
      </p:sp>
      <p:sp>
        <p:nvSpPr>
          <p:cNvPr id="39" name="Text 37"/>
          <p:cNvSpPr/>
          <p:nvPr/>
        </p:nvSpPr>
        <p:spPr>
          <a:xfrm>
            <a:off x="8412480" y="3011424"/>
            <a:ext cx="1950720" cy="268224"/>
          </a:xfrm>
          <a:prstGeom prst="rect">
            <a:avLst/>
          </a:prstGeom>
          <a:noFill/>
          <a:ln/>
        </p:spPr>
        <p:txBody>
          <a:bodyPr wrap="square" rtlCol="0" anchor="ctr"/>
          <a:lstStyle/>
          <a:p>
            <a:r>
              <a:rPr lang="en-US" sz="1200" dirty="0">
                <a:solidFill>
                  <a:schemeClr val="bg1"/>
                </a:solidFill>
                <a:latin typeface="Calibri" pitchFamily="34" charset="0"/>
                <a:ea typeface="Calibri" pitchFamily="34" charset="-122"/>
                <a:cs typeface="Calibri" pitchFamily="34" charset="-120"/>
              </a:rPr>
              <a:t>2026E FY Rev</a:t>
            </a:r>
            <a:endParaRPr lang="en-US" sz="1200" dirty="0">
              <a:solidFill>
                <a:schemeClr val="bg1"/>
              </a:solidFill>
            </a:endParaRPr>
          </a:p>
        </p:txBody>
      </p:sp>
      <p:sp>
        <p:nvSpPr>
          <p:cNvPr id="40" name="Text 38"/>
          <p:cNvSpPr/>
          <p:nvPr/>
        </p:nvSpPr>
        <p:spPr>
          <a:xfrm>
            <a:off x="10302240" y="3011424"/>
            <a:ext cx="1584960" cy="268224"/>
          </a:xfrm>
          <a:prstGeom prst="rect">
            <a:avLst/>
          </a:prstGeom>
          <a:noFill/>
          <a:ln/>
        </p:spPr>
        <p:txBody>
          <a:bodyPr wrap="square" rtlCol="0" anchor="ctr"/>
          <a:lstStyle/>
          <a:p>
            <a:pPr algn="r"/>
            <a:r>
              <a:rPr lang="en-US" sz="1133" b="1" dirty="0">
                <a:solidFill>
                  <a:srgbClr val="FFFFFF"/>
                </a:solidFill>
                <a:latin typeface="Calibri" pitchFamily="34" charset="0"/>
                <a:ea typeface="Calibri" pitchFamily="34" charset="-122"/>
                <a:cs typeface="Calibri" pitchFamily="34" charset="-120"/>
              </a:rPr>
              <a:t>$5B+</a:t>
            </a:r>
            <a:endParaRPr lang="en-US" sz="1133" dirty="0"/>
          </a:p>
        </p:txBody>
      </p:sp>
      <p:sp>
        <p:nvSpPr>
          <p:cNvPr id="41" name="Text 39"/>
          <p:cNvSpPr/>
          <p:nvPr/>
        </p:nvSpPr>
        <p:spPr>
          <a:xfrm>
            <a:off x="8412480" y="3279648"/>
            <a:ext cx="1950720" cy="268224"/>
          </a:xfrm>
          <a:prstGeom prst="rect">
            <a:avLst/>
          </a:prstGeom>
          <a:noFill/>
          <a:ln/>
        </p:spPr>
        <p:txBody>
          <a:bodyPr wrap="square" rtlCol="0" anchor="ctr"/>
          <a:lstStyle/>
          <a:p>
            <a:r>
              <a:rPr lang="en-US" sz="1200" dirty="0">
                <a:solidFill>
                  <a:schemeClr val="bg1"/>
                </a:solidFill>
                <a:latin typeface="Calibri" pitchFamily="34" charset="0"/>
                <a:ea typeface="Calibri" pitchFamily="34" charset="-122"/>
                <a:cs typeface="Calibri" pitchFamily="34" charset="-120"/>
              </a:rPr>
              <a:t>Implied Multiple</a:t>
            </a:r>
            <a:endParaRPr lang="en-US" sz="1200" dirty="0">
              <a:solidFill>
                <a:schemeClr val="bg1"/>
              </a:solidFill>
            </a:endParaRPr>
          </a:p>
        </p:txBody>
      </p:sp>
      <p:sp>
        <p:nvSpPr>
          <p:cNvPr id="42" name="Text 40"/>
          <p:cNvSpPr/>
          <p:nvPr/>
        </p:nvSpPr>
        <p:spPr>
          <a:xfrm>
            <a:off x="10302240" y="3279648"/>
            <a:ext cx="1584960" cy="268224"/>
          </a:xfrm>
          <a:prstGeom prst="rect">
            <a:avLst/>
          </a:prstGeom>
          <a:noFill/>
          <a:ln/>
        </p:spPr>
        <p:txBody>
          <a:bodyPr wrap="square" rtlCol="0" anchor="ctr"/>
          <a:lstStyle/>
          <a:p>
            <a:pPr algn="r"/>
            <a:r>
              <a:rPr lang="en-US" sz="1067" b="1" dirty="0">
                <a:solidFill>
                  <a:srgbClr val="22C55E"/>
                </a:solidFill>
                <a:latin typeface="Calibri" pitchFamily="34" charset="0"/>
                <a:ea typeface="Calibri" pitchFamily="34" charset="-122"/>
                <a:cs typeface="Calibri" pitchFamily="34" charset="-120"/>
              </a:rPr>
              <a:t>15–20x EV/Rev</a:t>
            </a:r>
            <a:endParaRPr lang="en-US" sz="1067" dirty="0"/>
          </a:p>
        </p:txBody>
      </p:sp>
      <p:sp>
        <p:nvSpPr>
          <p:cNvPr id="43" name="Shape 41"/>
          <p:cNvSpPr/>
          <p:nvPr/>
        </p:nvSpPr>
        <p:spPr>
          <a:xfrm>
            <a:off x="8412480" y="3621024"/>
            <a:ext cx="3438144" cy="0"/>
          </a:xfrm>
          <a:prstGeom prst="line">
            <a:avLst/>
          </a:prstGeom>
          <a:noFill/>
          <a:ln w="5080">
            <a:solidFill>
              <a:srgbClr val="22C55E">
                <a:alpha val="40000"/>
              </a:srgbClr>
            </a:solidFill>
            <a:prstDash val="solid"/>
          </a:ln>
        </p:spPr>
      </p:sp>
      <p:sp>
        <p:nvSpPr>
          <p:cNvPr id="44" name="Text 42"/>
          <p:cNvSpPr/>
          <p:nvPr/>
        </p:nvSpPr>
        <p:spPr>
          <a:xfrm>
            <a:off x="8412480" y="3669792"/>
            <a:ext cx="3474720" cy="268224"/>
          </a:xfrm>
          <a:prstGeom prst="rect">
            <a:avLst/>
          </a:prstGeom>
          <a:noFill/>
          <a:ln/>
        </p:spPr>
        <p:txBody>
          <a:bodyPr wrap="square" rtlCol="0" anchor="ctr"/>
          <a:lstStyle/>
          <a:p>
            <a:r>
              <a:rPr lang="en-US" sz="1067" b="1" dirty="0">
                <a:solidFill>
                  <a:srgbClr val="22C55E"/>
                </a:solidFill>
                <a:latin typeface="Calibri" pitchFamily="34" charset="0"/>
                <a:ea typeface="Calibri" pitchFamily="34" charset="-122"/>
                <a:cs typeface="Calibri" pitchFamily="34" charset="-120"/>
              </a:rPr>
              <a:t>Key triggers</a:t>
            </a:r>
            <a:endParaRPr lang="en-US" sz="1067" dirty="0"/>
          </a:p>
        </p:txBody>
      </p:sp>
      <p:sp>
        <p:nvSpPr>
          <p:cNvPr id="45" name="Text 43"/>
          <p:cNvSpPr/>
          <p:nvPr/>
        </p:nvSpPr>
        <p:spPr>
          <a:xfrm>
            <a:off x="8412480" y="3962400"/>
            <a:ext cx="3535680" cy="2584704"/>
          </a:xfrm>
          <a:prstGeom prst="rect">
            <a:avLst/>
          </a:prstGeom>
          <a:noFill/>
          <a:ln/>
        </p:spPr>
        <p:txBody>
          <a:bodyPr wrap="square" rtlCol="0" anchor="ctr"/>
          <a:lstStyle/>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ARR hits or exceeds $9B by end of 2026 — top of guidance</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Full $27B Meta contract executes flawlessly; more expansions announced</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Nebius emerges as de facto European Sovereign AI cloud champion</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EBITDA turns strongly positive mid-2026; FCF positive by year-end</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Avride or ClickHouse generates significant liquidity events</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Institutional coverage expands; 10+ analyst Buy ratings</a:t>
            </a:r>
            <a:endParaRPr lang="en-US" sz="1200" dirty="0">
              <a:solidFill>
                <a:schemeClr val="bg1"/>
              </a:solidFill>
            </a:endParaRPr>
          </a:p>
          <a:p>
            <a:pPr marL="457189" indent="-457189">
              <a:buSzPct val="100000"/>
              <a:buChar char="•"/>
            </a:pPr>
            <a:r>
              <a:rPr lang="en-US" sz="1200" dirty="0">
                <a:solidFill>
                  <a:schemeClr val="bg1"/>
                </a:solidFill>
                <a:latin typeface="Calibri" pitchFamily="34" charset="0"/>
                <a:ea typeface="Calibri" pitchFamily="34" charset="-122"/>
                <a:cs typeface="Calibri" pitchFamily="34" charset="-120"/>
              </a:rPr>
              <a:t>More hyperscaler anchor deals (Google, Apple, OpenAI) announced</a:t>
            </a:r>
            <a:endParaRPr lang="en-US" sz="1200" dirty="0">
              <a:solidFill>
                <a:schemeClr val="bg1"/>
              </a:solidFill>
            </a:endParaRPr>
          </a:p>
        </p:txBody>
      </p:sp>
      <p:sp>
        <p:nvSpPr>
          <p:cNvPr id="46" name="Text 44"/>
          <p:cNvSpPr/>
          <p:nvPr/>
        </p:nvSpPr>
        <p:spPr>
          <a:xfrm>
            <a:off x="243840" y="6644640"/>
            <a:ext cx="11704320" cy="219456"/>
          </a:xfrm>
          <a:prstGeom prst="rect">
            <a:avLst/>
          </a:prstGeom>
          <a:noFill/>
          <a:ln/>
        </p:spPr>
        <p:txBody>
          <a:bodyPr wrap="square" rtlCol="0" anchor="ctr"/>
          <a:lstStyle/>
          <a:p>
            <a:pPr algn="ctr"/>
            <a:r>
              <a:rPr lang="en-US" sz="933" i="1" dirty="0">
                <a:solidFill>
                  <a:srgbClr val="64748B"/>
                </a:solidFill>
                <a:latin typeface="Calibri" pitchFamily="34" charset="0"/>
                <a:ea typeface="Calibri" pitchFamily="34" charset="-122"/>
                <a:cs typeface="Calibri" pitchFamily="34" charset="-120"/>
              </a:rPr>
              <a:t>Analyst consensus (10 analysts): Strong Buy | Avg 12m target: $157–$166 | Highest: $211 | Bank of America initiation: Buy, $150 target (Mar 2026). Not investment advice.</a:t>
            </a:r>
            <a:endParaRPr lang="en-US" sz="933"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293B"/>
          </a:solidFill>
          <a:ln w="12700">
            <a:solidFill>
              <a:srgbClr val="1E293B"/>
            </a:solidFill>
            <a:prstDash val="solid"/>
          </a:ln>
        </p:spPr>
      </p:sp>
      <p:sp>
        <p:nvSpPr>
          <p:cNvPr id="3" name="Shape 1"/>
          <p:cNvSpPr/>
          <p:nvPr/>
        </p:nvSpPr>
        <p:spPr>
          <a:xfrm>
            <a:off x="0" y="0"/>
            <a:ext cx="463296" cy="914400"/>
          </a:xfrm>
          <a:prstGeom prst="rect">
            <a:avLst/>
          </a:prstGeom>
          <a:solidFill>
            <a:srgbClr val="00B4D8"/>
          </a:solidFill>
          <a:ln w="12700">
            <a:solidFill>
              <a:srgbClr val="00B4D8"/>
            </a:solidFill>
            <a:prstDash val="solid"/>
          </a:ln>
        </p:spPr>
      </p:sp>
      <p:sp>
        <p:nvSpPr>
          <p:cNvPr id="4" name="Text 2"/>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10B: VALUATION FRAMEWORK &amp; PEER COMPARISON</a:t>
            </a:r>
            <a:endParaRPr lang="en-US" sz="2267" dirty="0"/>
          </a:p>
        </p:txBody>
      </p:sp>
      <p:sp>
        <p:nvSpPr>
          <p:cNvPr id="5" name="Text 3"/>
          <p:cNvSpPr/>
          <p:nvPr/>
        </p:nvSpPr>
        <p:spPr>
          <a:xfrm>
            <a:off x="463296" y="898253"/>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Nebius trades at a discount to CoreWeave on forward revenue multiples</a:t>
            </a:r>
          </a:p>
        </p:txBody>
      </p:sp>
      <p:sp>
        <p:nvSpPr>
          <p:cNvPr id="6" name="Shape 4"/>
          <p:cNvSpPr/>
          <p:nvPr/>
        </p:nvSpPr>
        <p:spPr>
          <a:xfrm>
            <a:off x="426720" y="1249680"/>
            <a:ext cx="1828800" cy="128016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7" name="Shape 5"/>
          <p:cNvSpPr/>
          <p:nvPr/>
        </p:nvSpPr>
        <p:spPr>
          <a:xfrm>
            <a:off x="426720" y="1249680"/>
            <a:ext cx="1828800" cy="85344"/>
          </a:xfrm>
          <a:prstGeom prst="rect">
            <a:avLst/>
          </a:prstGeom>
          <a:solidFill>
            <a:srgbClr val="1E293B"/>
          </a:solidFill>
          <a:ln w="12700">
            <a:solidFill>
              <a:srgbClr val="1E293B"/>
            </a:solidFill>
            <a:prstDash val="solid"/>
          </a:ln>
        </p:spPr>
      </p:sp>
      <p:sp>
        <p:nvSpPr>
          <p:cNvPr id="11" name="Shape 9"/>
          <p:cNvSpPr/>
          <p:nvPr/>
        </p:nvSpPr>
        <p:spPr>
          <a:xfrm>
            <a:off x="2365248" y="1249680"/>
            <a:ext cx="1828800" cy="128016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12" name="Shape 10"/>
          <p:cNvSpPr/>
          <p:nvPr/>
        </p:nvSpPr>
        <p:spPr>
          <a:xfrm>
            <a:off x="2365248" y="1249680"/>
            <a:ext cx="1828800" cy="85344"/>
          </a:xfrm>
          <a:prstGeom prst="rect">
            <a:avLst/>
          </a:prstGeom>
          <a:solidFill>
            <a:srgbClr val="1E293B"/>
          </a:solidFill>
          <a:ln w="12700">
            <a:solidFill>
              <a:srgbClr val="1E293B"/>
            </a:solidFill>
            <a:prstDash val="solid"/>
          </a:ln>
        </p:spPr>
      </p:sp>
      <p:sp>
        <p:nvSpPr>
          <p:cNvPr id="16" name="Shape 14"/>
          <p:cNvSpPr/>
          <p:nvPr/>
        </p:nvSpPr>
        <p:spPr>
          <a:xfrm>
            <a:off x="4303776" y="1249680"/>
            <a:ext cx="1828800" cy="128016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17" name="Shape 15"/>
          <p:cNvSpPr/>
          <p:nvPr/>
        </p:nvSpPr>
        <p:spPr>
          <a:xfrm>
            <a:off x="4303776" y="1249680"/>
            <a:ext cx="1828800" cy="85344"/>
          </a:xfrm>
          <a:prstGeom prst="rect">
            <a:avLst/>
          </a:prstGeom>
          <a:solidFill>
            <a:srgbClr val="EF4444"/>
          </a:solidFill>
          <a:ln w="12700">
            <a:solidFill>
              <a:srgbClr val="EF4444"/>
            </a:solidFill>
            <a:prstDash val="solid"/>
          </a:ln>
        </p:spPr>
      </p:sp>
      <p:sp>
        <p:nvSpPr>
          <p:cNvPr id="21" name="Shape 19"/>
          <p:cNvSpPr/>
          <p:nvPr/>
        </p:nvSpPr>
        <p:spPr>
          <a:xfrm>
            <a:off x="6242304" y="1249680"/>
            <a:ext cx="1828800" cy="128016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22" name="Shape 20"/>
          <p:cNvSpPr/>
          <p:nvPr/>
        </p:nvSpPr>
        <p:spPr>
          <a:xfrm>
            <a:off x="6242304" y="1249680"/>
            <a:ext cx="1828800" cy="85344"/>
          </a:xfrm>
          <a:prstGeom prst="rect">
            <a:avLst/>
          </a:prstGeom>
          <a:solidFill>
            <a:srgbClr val="22C55E"/>
          </a:solidFill>
          <a:ln w="12700">
            <a:solidFill>
              <a:srgbClr val="22C55E"/>
            </a:solidFill>
            <a:prstDash val="solid"/>
          </a:ln>
        </p:spPr>
      </p:sp>
      <p:sp>
        <p:nvSpPr>
          <p:cNvPr id="26" name="Shape 24"/>
          <p:cNvSpPr/>
          <p:nvPr/>
        </p:nvSpPr>
        <p:spPr>
          <a:xfrm>
            <a:off x="8180832" y="1249680"/>
            <a:ext cx="1828800" cy="128016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27" name="Shape 25"/>
          <p:cNvSpPr/>
          <p:nvPr/>
        </p:nvSpPr>
        <p:spPr>
          <a:xfrm>
            <a:off x="8180832" y="1249680"/>
            <a:ext cx="1828800" cy="85344"/>
          </a:xfrm>
          <a:prstGeom prst="rect">
            <a:avLst/>
          </a:prstGeom>
          <a:solidFill>
            <a:srgbClr val="00B4D8"/>
          </a:solidFill>
          <a:ln w="12700">
            <a:solidFill>
              <a:srgbClr val="00B4D8"/>
            </a:solidFill>
            <a:prstDash val="solid"/>
          </a:ln>
        </p:spPr>
      </p:sp>
      <p:sp>
        <p:nvSpPr>
          <p:cNvPr id="31" name="Shape 29"/>
          <p:cNvSpPr/>
          <p:nvPr/>
        </p:nvSpPr>
        <p:spPr>
          <a:xfrm>
            <a:off x="10119360" y="1249680"/>
            <a:ext cx="1828800" cy="128016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32" name="Shape 30"/>
          <p:cNvSpPr/>
          <p:nvPr/>
        </p:nvSpPr>
        <p:spPr>
          <a:xfrm>
            <a:off x="10119360" y="1249680"/>
            <a:ext cx="1828800" cy="85344"/>
          </a:xfrm>
          <a:prstGeom prst="rect">
            <a:avLst/>
          </a:prstGeom>
          <a:solidFill>
            <a:srgbClr val="7C3AED"/>
          </a:solidFill>
          <a:ln w="12700">
            <a:solidFill>
              <a:srgbClr val="7C3AED"/>
            </a:solidFill>
            <a:prstDash val="solid"/>
          </a:ln>
        </p:spPr>
      </p:sp>
      <p:grpSp>
        <p:nvGrpSpPr>
          <p:cNvPr id="41" name="Group 40">
            <a:extLst>
              <a:ext uri="{FF2B5EF4-FFF2-40B4-BE49-F238E27FC236}">
                <a16:creationId xmlns:a16="http://schemas.microsoft.com/office/drawing/2014/main" id="{74351167-86F4-F6F3-1B6A-6D7815AC6C83}"/>
              </a:ext>
            </a:extLst>
          </p:cNvPr>
          <p:cNvGrpSpPr/>
          <p:nvPr/>
        </p:nvGrpSpPr>
        <p:grpSpPr>
          <a:xfrm>
            <a:off x="609600" y="1357216"/>
            <a:ext cx="11448288" cy="351478"/>
            <a:chOff x="609600" y="1357216"/>
            <a:chExt cx="11448288" cy="351478"/>
          </a:xfrm>
        </p:grpSpPr>
        <p:sp>
          <p:nvSpPr>
            <p:cNvPr id="8" name="Text 6"/>
            <p:cNvSpPr/>
            <p:nvPr/>
          </p:nvSpPr>
          <p:spPr>
            <a:xfrm>
              <a:off x="609600" y="1357216"/>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CMP (Apr 2026)</a:t>
              </a:r>
              <a:endParaRPr lang="en-US" sz="1133" dirty="0"/>
            </a:p>
          </p:txBody>
        </p:sp>
        <p:sp>
          <p:nvSpPr>
            <p:cNvPr id="13" name="Text 11"/>
            <p:cNvSpPr/>
            <p:nvPr/>
          </p:nvSpPr>
          <p:spPr>
            <a:xfrm>
              <a:off x="2548128" y="1357216"/>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Market Cap</a:t>
              </a:r>
              <a:endParaRPr lang="en-US" sz="1133" dirty="0"/>
            </a:p>
          </p:txBody>
        </p:sp>
        <p:sp>
          <p:nvSpPr>
            <p:cNvPr id="18" name="Text 16"/>
            <p:cNvSpPr/>
            <p:nvPr/>
          </p:nvSpPr>
          <p:spPr>
            <a:xfrm>
              <a:off x="4486656" y="1357216"/>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EV/Revenue (FY2025)</a:t>
              </a:r>
              <a:endParaRPr lang="en-US" sz="1133" dirty="0"/>
            </a:p>
          </p:txBody>
        </p:sp>
        <p:sp>
          <p:nvSpPr>
            <p:cNvPr id="23" name="Text 21"/>
            <p:cNvSpPr/>
            <p:nvPr/>
          </p:nvSpPr>
          <p:spPr>
            <a:xfrm>
              <a:off x="6425184" y="1357216"/>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EV/Revenue (FY2026E)</a:t>
              </a:r>
              <a:endParaRPr lang="en-US" sz="1133" dirty="0"/>
            </a:p>
          </p:txBody>
        </p:sp>
        <p:sp>
          <p:nvSpPr>
            <p:cNvPr id="28" name="Text 26"/>
            <p:cNvSpPr/>
            <p:nvPr/>
          </p:nvSpPr>
          <p:spPr>
            <a:xfrm>
              <a:off x="8528304" y="1367318"/>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Consensus PT</a:t>
              </a:r>
              <a:endParaRPr lang="en-US" sz="1133" dirty="0"/>
            </a:p>
          </p:txBody>
        </p:sp>
        <p:sp>
          <p:nvSpPr>
            <p:cNvPr id="33" name="Text 31"/>
            <p:cNvSpPr/>
            <p:nvPr/>
          </p:nvSpPr>
          <p:spPr>
            <a:xfrm>
              <a:off x="10521696" y="1367011"/>
              <a:ext cx="1536192" cy="341376"/>
            </a:xfrm>
            <a:prstGeom prst="rect">
              <a:avLst/>
            </a:prstGeom>
            <a:noFill/>
            <a:ln/>
          </p:spPr>
          <p:txBody>
            <a:bodyPr wrap="square" rtlCol="0" anchor="ctr"/>
            <a:lstStyle/>
            <a:p>
              <a:r>
                <a:rPr lang="en-US" sz="1133" dirty="0">
                  <a:latin typeface="Calibri" pitchFamily="34" charset="0"/>
                  <a:ea typeface="Calibri" pitchFamily="34" charset="-122"/>
                  <a:cs typeface="Calibri" pitchFamily="34" charset="-120"/>
                </a:rPr>
                <a:t>Highest PT</a:t>
              </a:r>
              <a:endParaRPr lang="en-US" sz="1133" dirty="0"/>
            </a:p>
          </p:txBody>
        </p:sp>
      </p:grpSp>
      <p:grpSp>
        <p:nvGrpSpPr>
          <p:cNvPr id="48" name="Group 47">
            <a:extLst>
              <a:ext uri="{FF2B5EF4-FFF2-40B4-BE49-F238E27FC236}">
                <a16:creationId xmlns:a16="http://schemas.microsoft.com/office/drawing/2014/main" id="{0F2CE05A-199E-4B35-B380-2D6CDD369082}"/>
              </a:ext>
            </a:extLst>
          </p:cNvPr>
          <p:cNvGrpSpPr/>
          <p:nvPr/>
        </p:nvGrpSpPr>
        <p:grpSpPr>
          <a:xfrm>
            <a:off x="573024" y="1562083"/>
            <a:ext cx="11484864" cy="890016"/>
            <a:chOff x="573024" y="1562083"/>
            <a:chExt cx="11484864" cy="890016"/>
          </a:xfrm>
        </p:grpSpPr>
        <p:sp>
          <p:nvSpPr>
            <p:cNvPr id="10" name="Text 8"/>
            <p:cNvSpPr/>
            <p:nvPr/>
          </p:nvSpPr>
          <p:spPr>
            <a:xfrm>
              <a:off x="573024" y="2159491"/>
              <a:ext cx="1536192" cy="292608"/>
            </a:xfrm>
            <a:prstGeom prst="rect">
              <a:avLst/>
            </a:prstGeom>
            <a:noFill/>
            <a:ln/>
          </p:spPr>
          <p:txBody>
            <a:bodyPr wrap="square" rtlCol="0" anchor="ctr"/>
            <a:lstStyle/>
            <a:p>
              <a:pPr algn="ctr"/>
              <a:r>
                <a:rPr lang="en-US" sz="1067" dirty="0">
                  <a:latin typeface="Calibri" pitchFamily="34" charset="0"/>
                  <a:ea typeface="Calibri" pitchFamily="34" charset="-122"/>
                  <a:cs typeface="Calibri" pitchFamily="34" charset="-120"/>
                </a:rPr>
                <a:t>Range: $85–$115 (recent consolidation)</a:t>
              </a:r>
              <a:endParaRPr lang="en-US" sz="1067" dirty="0"/>
            </a:p>
          </p:txBody>
        </p:sp>
        <p:sp>
          <p:nvSpPr>
            <p:cNvPr id="15" name="Text 13"/>
            <p:cNvSpPr/>
            <p:nvPr/>
          </p:nvSpPr>
          <p:spPr>
            <a:xfrm>
              <a:off x="2511552" y="2159491"/>
              <a:ext cx="1536192" cy="292608"/>
            </a:xfrm>
            <a:prstGeom prst="rect">
              <a:avLst/>
            </a:prstGeom>
            <a:noFill/>
            <a:ln/>
          </p:spPr>
          <p:txBody>
            <a:bodyPr wrap="square" rtlCol="0" anchor="ctr"/>
            <a:lstStyle/>
            <a:p>
              <a:pPr algn="ctr"/>
              <a:r>
                <a:rPr lang="en-US" sz="1067" dirty="0">
                  <a:latin typeface="Calibri" pitchFamily="34" charset="0"/>
                  <a:ea typeface="Calibri" pitchFamily="34" charset="-122"/>
                  <a:cs typeface="Calibri" pitchFamily="34" charset="-120"/>
                </a:rPr>
                <a:t>253M shares outstanding</a:t>
              </a:r>
              <a:endParaRPr lang="en-US" sz="1067" dirty="0"/>
            </a:p>
          </p:txBody>
        </p:sp>
        <p:sp>
          <p:nvSpPr>
            <p:cNvPr id="20" name="Text 18"/>
            <p:cNvSpPr/>
            <p:nvPr/>
          </p:nvSpPr>
          <p:spPr>
            <a:xfrm>
              <a:off x="4450080" y="2159491"/>
              <a:ext cx="1536192" cy="292608"/>
            </a:xfrm>
            <a:prstGeom prst="rect">
              <a:avLst/>
            </a:prstGeom>
            <a:noFill/>
            <a:ln/>
          </p:spPr>
          <p:txBody>
            <a:bodyPr wrap="square" rtlCol="0" anchor="ctr"/>
            <a:lstStyle/>
            <a:p>
              <a:pPr algn="ctr"/>
              <a:r>
                <a:rPr lang="en-US" sz="1067" dirty="0">
                  <a:latin typeface="Calibri" pitchFamily="34" charset="0"/>
                  <a:ea typeface="Calibri" pitchFamily="34" charset="-122"/>
                  <a:cs typeface="Calibri" pitchFamily="34" charset="-120"/>
                </a:rPr>
                <a:t>Based on $529.8M revenue</a:t>
              </a:r>
              <a:endParaRPr lang="en-US" sz="1067" dirty="0"/>
            </a:p>
          </p:txBody>
        </p:sp>
        <p:sp>
          <p:nvSpPr>
            <p:cNvPr id="25" name="Text 23"/>
            <p:cNvSpPr/>
            <p:nvPr/>
          </p:nvSpPr>
          <p:spPr>
            <a:xfrm>
              <a:off x="6388608" y="2159491"/>
              <a:ext cx="1536192" cy="292608"/>
            </a:xfrm>
            <a:prstGeom prst="rect">
              <a:avLst/>
            </a:prstGeom>
            <a:noFill/>
            <a:ln/>
          </p:spPr>
          <p:txBody>
            <a:bodyPr wrap="square" rtlCol="0" anchor="ctr"/>
            <a:lstStyle/>
            <a:p>
              <a:pPr algn="ctr"/>
              <a:r>
                <a:rPr lang="en-US" sz="1067" dirty="0">
                  <a:latin typeface="Calibri" pitchFamily="34" charset="0"/>
                  <a:ea typeface="Calibri" pitchFamily="34" charset="-122"/>
                  <a:cs typeface="Calibri" pitchFamily="34" charset="-120"/>
                </a:rPr>
                <a:t>If $3.0–3.4B guidance met</a:t>
              </a:r>
              <a:endParaRPr lang="en-US" sz="1067" dirty="0"/>
            </a:p>
          </p:txBody>
        </p:sp>
        <p:sp>
          <p:nvSpPr>
            <p:cNvPr id="30" name="Text 28"/>
            <p:cNvSpPr/>
            <p:nvPr/>
          </p:nvSpPr>
          <p:spPr>
            <a:xfrm>
              <a:off x="8327136" y="2159491"/>
              <a:ext cx="1536192" cy="292608"/>
            </a:xfrm>
            <a:prstGeom prst="rect">
              <a:avLst/>
            </a:prstGeom>
            <a:noFill/>
            <a:ln/>
          </p:spPr>
          <p:txBody>
            <a:bodyPr wrap="square" rtlCol="0" anchor="ctr"/>
            <a:lstStyle/>
            <a:p>
              <a:pPr algn="ctr"/>
              <a:r>
                <a:rPr lang="en-US" sz="1067" dirty="0">
                  <a:latin typeface="Calibri" pitchFamily="34" charset="0"/>
                  <a:ea typeface="Calibri" pitchFamily="34" charset="-122"/>
                  <a:cs typeface="Calibri" pitchFamily="34" charset="-120"/>
                </a:rPr>
                <a:t>10 analysts; avg Strong Buy</a:t>
              </a:r>
              <a:endParaRPr lang="en-US" sz="1067" dirty="0"/>
            </a:p>
          </p:txBody>
        </p:sp>
        <p:grpSp>
          <p:nvGrpSpPr>
            <p:cNvPr id="47" name="Group 46">
              <a:extLst>
                <a:ext uri="{FF2B5EF4-FFF2-40B4-BE49-F238E27FC236}">
                  <a16:creationId xmlns:a16="http://schemas.microsoft.com/office/drawing/2014/main" id="{979EEC20-A41B-433F-0C09-81101A18AB86}"/>
                </a:ext>
              </a:extLst>
            </p:cNvPr>
            <p:cNvGrpSpPr/>
            <p:nvPr/>
          </p:nvGrpSpPr>
          <p:grpSpPr>
            <a:xfrm>
              <a:off x="719328" y="1562083"/>
              <a:ext cx="11338560" cy="644669"/>
              <a:chOff x="573024" y="1737360"/>
              <a:chExt cx="11338560" cy="644669"/>
            </a:xfrm>
          </p:grpSpPr>
          <p:sp>
            <p:nvSpPr>
              <p:cNvPr id="9" name="Text 7"/>
              <p:cNvSpPr/>
              <p:nvPr/>
            </p:nvSpPr>
            <p:spPr>
              <a:xfrm>
                <a:off x="573024" y="1737360"/>
                <a:ext cx="1536192" cy="609600"/>
              </a:xfrm>
              <a:prstGeom prst="rect">
                <a:avLst/>
              </a:prstGeom>
              <a:noFill/>
              <a:ln/>
            </p:spPr>
            <p:txBody>
              <a:bodyPr wrap="square" rtlCol="0" anchor="ctr">
                <a:normAutofit/>
              </a:bodyPr>
              <a:lstStyle/>
              <a:p>
                <a:r>
                  <a:rPr lang="en-US" sz="2000" b="1" dirty="0">
                    <a:solidFill>
                      <a:srgbClr val="1E293B"/>
                    </a:solidFill>
                    <a:latin typeface="Calibri" pitchFamily="34" charset="0"/>
                    <a:ea typeface="Calibri" pitchFamily="34" charset="-122"/>
                    <a:cs typeface="Calibri" pitchFamily="34" charset="-120"/>
                  </a:rPr>
                  <a:t>~$106</a:t>
                </a:r>
                <a:endParaRPr lang="en-US" sz="2000" dirty="0"/>
              </a:p>
            </p:txBody>
          </p:sp>
          <p:sp>
            <p:nvSpPr>
              <p:cNvPr id="14" name="Text 12"/>
              <p:cNvSpPr/>
              <p:nvPr/>
            </p:nvSpPr>
            <p:spPr>
              <a:xfrm>
                <a:off x="2511552" y="1737360"/>
                <a:ext cx="1536192" cy="609600"/>
              </a:xfrm>
              <a:prstGeom prst="rect">
                <a:avLst/>
              </a:prstGeom>
              <a:noFill/>
              <a:ln/>
            </p:spPr>
            <p:txBody>
              <a:bodyPr wrap="square" rtlCol="0" anchor="ctr">
                <a:normAutofit/>
              </a:bodyPr>
              <a:lstStyle/>
              <a:p>
                <a:r>
                  <a:rPr lang="en-US" sz="2000" b="1" dirty="0">
                    <a:solidFill>
                      <a:srgbClr val="1E293B"/>
                    </a:solidFill>
                    <a:latin typeface="Calibri" pitchFamily="34" charset="0"/>
                    <a:ea typeface="Calibri" pitchFamily="34" charset="-122"/>
                    <a:cs typeface="Calibri" pitchFamily="34" charset="-120"/>
                  </a:rPr>
                  <a:t>~$26B</a:t>
                </a:r>
                <a:endParaRPr lang="en-US" sz="2000" dirty="0"/>
              </a:p>
            </p:txBody>
          </p:sp>
          <p:sp>
            <p:nvSpPr>
              <p:cNvPr id="19" name="Text 17"/>
              <p:cNvSpPr/>
              <p:nvPr/>
            </p:nvSpPr>
            <p:spPr>
              <a:xfrm>
                <a:off x="4651248" y="1755716"/>
                <a:ext cx="1536192" cy="609600"/>
              </a:xfrm>
              <a:prstGeom prst="rect">
                <a:avLst/>
              </a:prstGeom>
              <a:noFill/>
              <a:ln/>
            </p:spPr>
            <p:txBody>
              <a:bodyPr wrap="square" rtlCol="0" anchor="ctr">
                <a:normAutofit/>
              </a:bodyPr>
              <a:lstStyle/>
              <a:p>
                <a:r>
                  <a:rPr lang="en-US" sz="2000" b="1" dirty="0">
                    <a:solidFill>
                      <a:srgbClr val="1E293B"/>
                    </a:solidFill>
                    <a:latin typeface="Calibri" pitchFamily="34" charset="0"/>
                    <a:ea typeface="Calibri" pitchFamily="34" charset="-122"/>
                    <a:cs typeface="Calibri" pitchFamily="34" charset="-120"/>
                  </a:rPr>
                  <a:t>~49x</a:t>
                </a:r>
                <a:endParaRPr lang="en-US" sz="2000" dirty="0"/>
              </a:p>
            </p:txBody>
          </p:sp>
          <p:sp>
            <p:nvSpPr>
              <p:cNvPr id="24" name="Text 22"/>
              <p:cNvSpPr/>
              <p:nvPr/>
            </p:nvSpPr>
            <p:spPr>
              <a:xfrm>
                <a:off x="6644640" y="1772429"/>
                <a:ext cx="1536192" cy="609600"/>
              </a:xfrm>
              <a:prstGeom prst="rect">
                <a:avLst/>
              </a:prstGeom>
              <a:noFill/>
              <a:ln/>
            </p:spPr>
            <p:txBody>
              <a:bodyPr wrap="square" rtlCol="0" anchor="ctr">
                <a:normAutofit/>
              </a:bodyPr>
              <a:lstStyle/>
              <a:p>
                <a:r>
                  <a:rPr lang="en-US" sz="2000" b="1" dirty="0">
                    <a:solidFill>
                      <a:srgbClr val="1E293B"/>
                    </a:solidFill>
                    <a:latin typeface="Calibri" pitchFamily="34" charset="0"/>
                    <a:ea typeface="Calibri" pitchFamily="34" charset="-122"/>
                    <a:cs typeface="Calibri" pitchFamily="34" charset="-120"/>
                  </a:rPr>
                  <a:t>~8x</a:t>
                </a:r>
                <a:endParaRPr lang="en-US" sz="2000" dirty="0"/>
              </a:p>
            </p:txBody>
          </p:sp>
          <p:sp>
            <p:nvSpPr>
              <p:cNvPr id="29" name="Text 27"/>
              <p:cNvSpPr/>
              <p:nvPr/>
            </p:nvSpPr>
            <p:spPr>
              <a:xfrm>
                <a:off x="8327136" y="1737360"/>
                <a:ext cx="1536192" cy="609600"/>
              </a:xfrm>
              <a:prstGeom prst="rect">
                <a:avLst/>
              </a:prstGeom>
              <a:noFill/>
              <a:ln/>
            </p:spPr>
            <p:txBody>
              <a:bodyPr wrap="square" rtlCol="0" anchor="ctr">
                <a:normAutofit/>
              </a:bodyPr>
              <a:lstStyle/>
              <a:p>
                <a:r>
                  <a:rPr lang="en-US" sz="2000" b="1" dirty="0">
                    <a:solidFill>
                      <a:srgbClr val="1E293B"/>
                    </a:solidFill>
                    <a:latin typeface="Calibri" pitchFamily="34" charset="0"/>
                    <a:ea typeface="Calibri" pitchFamily="34" charset="-122"/>
                    <a:cs typeface="Calibri" pitchFamily="34" charset="-120"/>
                  </a:rPr>
                  <a:t>$157–167</a:t>
                </a:r>
                <a:endParaRPr lang="en-US" sz="2000" dirty="0"/>
              </a:p>
            </p:txBody>
          </p:sp>
          <p:sp>
            <p:nvSpPr>
              <p:cNvPr id="34" name="Text 32"/>
              <p:cNvSpPr/>
              <p:nvPr/>
            </p:nvSpPr>
            <p:spPr>
              <a:xfrm>
                <a:off x="10375392" y="1755716"/>
                <a:ext cx="1536192" cy="609600"/>
              </a:xfrm>
              <a:prstGeom prst="rect">
                <a:avLst/>
              </a:prstGeom>
              <a:noFill/>
              <a:ln/>
            </p:spPr>
            <p:txBody>
              <a:bodyPr wrap="square" rtlCol="0" anchor="ctr">
                <a:normAutofit/>
              </a:bodyPr>
              <a:lstStyle/>
              <a:p>
                <a:r>
                  <a:rPr lang="en-US" sz="2000" b="1" dirty="0">
                    <a:solidFill>
                      <a:srgbClr val="1E293B"/>
                    </a:solidFill>
                    <a:latin typeface="Calibri" pitchFamily="34" charset="0"/>
                    <a:ea typeface="Calibri" pitchFamily="34" charset="-122"/>
                    <a:cs typeface="Calibri" pitchFamily="34" charset="-120"/>
                  </a:rPr>
                  <a:t>$211</a:t>
                </a:r>
                <a:endParaRPr lang="en-US" sz="2000" dirty="0"/>
              </a:p>
            </p:txBody>
          </p:sp>
        </p:grpSp>
        <p:sp>
          <p:nvSpPr>
            <p:cNvPr id="35" name="Text 33"/>
            <p:cNvSpPr/>
            <p:nvPr/>
          </p:nvSpPr>
          <p:spPr>
            <a:xfrm>
              <a:off x="10265664" y="2159491"/>
              <a:ext cx="1536192" cy="292608"/>
            </a:xfrm>
            <a:prstGeom prst="rect">
              <a:avLst/>
            </a:prstGeom>
            <a:noFill/>
            <a:ln/>
          </p:spPr>
          <p:txBody>
            <a:bodyPr wrap="square" rtlCol="0" anchor="ctr"/>
            <a:lstStyle/>
            <a:p>
              <a:pPr algn="ctr"/>
              <a:r>
                <a:rPr lang="en-US" sz="1067" dirty="0">
                  <a:latin typeface="Calibri" pitchFamily="34" charset="0"/>
                  <a:ea typeface="Calibri" pitchFamily="34" charset="-122"/>
                  <a:cs typeface="Calibri" pitchFamily="34" charset="-120"/>
                </a:rPr>
                <a:t>Most bullish analyst estimate</a:t>
              </a:r>
              <a:endParaRPr lang="en-US" sz="1067" dirty="0"/>
            </a:p>
          </p:txBody>
        </p:sp>
      </p:grpSp>
      <p:sp>
        <p:nvSpPr>
          <p:cNvPr id="36" name="Text 34"/>
          <p:cNvSpPr/>
          <p:nvPr/>
        </p:nvSpPr>
        <p:spPr>
          <a:xfrm>
            <a:off x="487680" y="2560320"/>
            <a:ext cx="6096000" cy="341376"/>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Peer Valuation Comparison</a:t>
            </a:r>
            <a:endParaRPr lang="en-US" sz="1467" dirty="0"/>
          </a:p>
        </p:txBody>
      </p:sp>
      <p:graphicFrame>
        <p:nvGraphicFramePr>
          <p:cNvPr id="37" name="Table 0"/>
          <p:cNvGraphicFramePr>
            <a:graphicFrameLocks noGrp="1"/>
          </p:cNvGraphicFramePr>
          <p:nvPr/>
        </p:nvGraphicFramePr>
        <p:xfrm>
          <a:off x="426720" y="2950464"/>
          <a:ext cx="11399520" cy="2702560"/>
        </p:xfrm>
        <a:graphic>
          <a:graphicData uri="http://schemas.openxmlformats.org/drawingml/2006/table">
            <a:tbl>
              <a:tblPr/>
              <a:tblGrid>
                <a:gridCol w="2072640">
                  <a:extLst>
                    <a:ext uri="{9D8B030D-6E8A-4147-A177-3AD203B41FA5}">
                      <a16:colId xmlns:a16="http://schemas.microsoft.com/office/drawing/2014/main" val="20000"/>
                    </a:ext>
                  </a:extLst>
                </a:gridCol>
                <a:gridCol w="97536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34112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3474720">
                  <a:extLst>
                    <a:ext uri="{9D8B030D-6E8A-4147-A177-3AD203B41FA5}">
                      <a16:colId xmlns:a16="http://schemas.microsoft.com/office/drawing/2014/main" val="20006"/>
                    </a:ext>
                  </a:extLst>
                </a:gridCol>
              </a:tblGrid>
              <a:tr h="609600">
                <a:tc>
                  <a:txBody>
                    <a:bodyPr/>
                    <a:lstStyle/>
                    <a:p>
                      <a:pPr marL="0" indent="0">
                        <a:buNone/>
                      </a:pPr>
                      <a:r>
                        <a:rPr lang="en-US" sz="1600" b="1" dirty="0">
                          <a:solidFill>
                            <a:srgbClr val="FFFFFF"/>
                          </a:solidFill>
                        </a:rPr>
                        <a:t>Company</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600" b="1" dirty="0">
                          <a:solidFill>
                            <a:srgbClr val="FFFFFF"/>
                          </a:solidFill>
                        </a:rPr>
                        <a:t>Ticker</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600" b="1" dirty="0">
                          <a:solidFill>
                            <a:srgbClr val="FFFFFF"/>
                          </a:solidFill>
                        </a:rPr>
                        <a:t>FY2025 Rev</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600" b="1" dirty="0">
                          <a:solidFill>
                            <a:srgbClr val="FFFFFF"/>
                          </a:solidFill>
                        </a:rPr>
                        <a:t>FY2026E Rev</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600" b="1" dirty="0">
                          <a:solidFill>
                            <a:srgbClr val="FFFFFF"/>
                          </a:solidFill>
                        </a:rPr>
                        <a:t>EV/Rev (2026E)</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600" b="1" dirty="0">
                          <a:solidFill>
                            <a:srgbClr val="FFFFFF"/>
                          </a:solidFill>
                        </a:rPr>
                        <a:t>Rating</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buNone/>
                      </a:pPr>
                      <a:r>
                        <a:rPr lang="en-US" sz="1600" b="1" dirty="0">
                          <a:solidFill>
                            <a:srgbClr val="FFFFFF"/>
                          </a:solidFill>
                        </a:rPr>
                        <a:t>Moat</a:t>
                      </a:r>
                      <a:endParaRPr lang="en-US" sz="1600" dirty="0"/>
                    </a:p>
                  </a:txBody>
                  <a:tcPr marL="121920" marR="121920" marT="60960" marB="6096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406400">
                <a:tc>
                  <a:txBody>
                    <a:bodyPr/>
                    <a:lstStyle/>
                    <a:p>
                      <a:pPr marL="0" indent="0">
                        <a:buNone/>
                      </a:pPr>
                      <a:r>
                        <a:rPr lang="en-US" sz="1100" b="1" dirty="0">
                          <a:solidFill>
                            <a:srgbClr val="0077A8"/>
                          </a:solidFill>
                        </a:rPr>
                        <a:t>Nebius Group</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100" dirty="0">
                          <a:solidFill>
                            <a:srgbClr val="1E293B"/>
                          </a:solidFill>
                        </a:rPr>
                        <a:t>NBIS</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100" dirty="0">
                          <a:solidFill>
                            <a:srgbClr val="1E293B"/>
                          </a:solidFill>
                        </a:rPr>
                        <a:t>$530M</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100" dirty="0">
                          <a:solidFill>
                            <a:srgbClr val="1E293B"/>
                          </a:solidFill>
                        </a:rPr>
                        <a:t>$3.0–3.4B</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100" dirty="0">
                          <a:solidFill>
                            <a:srgbClr val="1E293B"/>
                          </a:solidFill>
                        </a:rPr>
                        <a:t>~8x (guidance)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100" dirty="0">
                          <a:solidFill>
                            <a:srgbClr val="1E293B"/>
                          </a:solidFill>
                        </a:rPr>
                        <a:t>Strong Buy</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tc>
                  <a:txBody>
                    <a:bodyPr/>
                    <a:lstStyle/>
                    <a:p>
                      <a:pPr marL="0" indent="0">
                        <a:buNone/>
                      </a:pPr>
                      <a:r>
                        <a:rPr lang="en-US" sz="1100" dirty="0">
                          <a:solidFill>
                            <a:srgbClr val="1E293B"/>
                          </a:solidFill>
                        </a:rPr>
                        <a:t>Optimization + EU sovereign cloud</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7FA"/>
                    </a:solidFill>
                  </a:tcPr>
                </a:tc>
                <a:extLst>
                  <a:ext uri="{0D108BD9-81ED-4DB2-BD59-A6C34878D82A}">
                    <a16:rowId xmlns:a16="http://schemas.microsoft.com/office/drawing/2014/main" val="10001"/>
                  </a:ext>
                </a:extLst>
              </a:tr>
              <a:tr h="406400">
                <a:tc>
                  <a:txBody>
                    <a:bodyPr/>
                    <a:lstStyle/>
                    <a:p>
                      <a:pPr marL="0" indent="0">
                        <a:buNone/>
                      </a:pPr>
                      <a:r>
                        <a:rPr lang="en-US" sz="1100" b="1" dirty="0">
                          <a:solidFill>
                            <a:srgbClr val="1E293B"/>
                          </a:solidFill>
                        </a:rPr>
                        <a:t>CoreWeave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CRWV</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~$1.9B</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~$5B+</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~15x</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Buy</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Scale + MSFT anchor + US infrastructure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extLst>
                  <a:ext uri="{0D108BD9-81ED-4DB2-BD59-A6C34878D82A}">
                    <a16:rowId xmlns:a16="http://schemas.microsoft.com/office/drawing/2014/main" val="10002"/>
                  </a:ext>
                </a:extLst>
              </a:tr>
              <a:tr h="467360">
                <a:tc>
                  <a:txBody>
                    <a:bodyPr/>
                    <a:lstStyle/>
                    <a:p>
                      <a:pPr marL="0" indent="0">
                        <a:buNone/>
                      </a:pPr>
                      <a:r>
                        <a:rPr lang="en-US" sz="1100" b="1" dirty="0">
                          <a:solidFill>
                            <a:srgbClr val="1E293B"/>
                          </a:solidFill>
                        </a:rPr>
                        <a:t>Amazon AWS</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AMZN</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AI portion undisclosed</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N/A</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Breadth + ecosystem + pricing power</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6400">
                <a:tc>
                  <a:txBody>
                    <a:bodyPr/>
                    <a:lstStyle/>
                    <a:p>
                      <a:pPr marL="0" indent="0">
                        <a:buNone/>
                      </a:pPr>
                      <a:r>
                        <a:rPr lang="en-US" sz="1100" b="1" dirty="0">
                          <a:solidFill>
                            <a:srgbClr val="1E293B"/>
                          </a:solidFill>
                        </a:rPr>
                        <a:t>Lambda Labs</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Private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~$300M est.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~$600M est.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N/A (private)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N/A</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tc>
                  <a:txBody>
                    <a:bodyPr/>
                    <a:lstStyle/>
                    <a:p>
                      <a:pPr marL="0" indent="0">
                        <a:buNone/>
                      </a:pPr>
                      <a:r>
                        <a:rPr lang="en-US" sz="1100" dirty="0">
                          <a:solidFill>
                            <a:srgbClr val="1E293B"/>
                          </a:solidFill>
                        </a:rPr>
                        <a:t>Price + flexibility for research labs</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8F8"/>
                    </a:solidFill>
                  </a:tcPr>
                </a:tc>
                <a:extLst>
                  <a:ext uri="{0D108BD9-81ED-4DB2-BD59-A6C34878D82A}">
                    <a16:rowId xmlns:a16="http://schemas.microsoft.com/office/drawing/2014/main" val="10004"/>
                  </a:ext>
                </a:extLst>
              </a:tr>
              <a:tr h="406400">
                <a:tc>
                  <a:txBody>
                    <a:bodyPr/>
                    <a:lstStyle/>
                    <a:p>
                      <a:pPr marL="0" indent="0">
                        <a:buNone/>
                      </a:pPr>
                      <a:r>
                        <a:rPr lang="en-US" sz="1100" b="1" dirty="0">
                          <a:solidFill>
                            <a:srgbClr val="1E293B"/>
                          </a:solidFill>
                        </a:rPr>
                        <a:t>Crusoe Energy</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Private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Undisclosed</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rPr>
                        <a:t>Stranded energy cheap compute niche</a:t>
                      </a:r>
                      <a:endParaRPr lang="en-US" sz="1100" dirty="0"/>
                    </a:p>
                  </a:txBody>
                  <a:tcPr marL="121920" marR="121920" marT="60960" marB="6096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pSp>
        <p:nvGrpSpPr>
          <p:cNvPr id="49" name="Group 48">
            <a:extLst>
              <a:ext uri="{FF2B5EF4-FFF2-40B4-BE49-F238E27FC236}">
                <a16:creationId xmlns:a16="http://schemas.microsoft.com/office/drawing/2014/main" id="{73AE7EC2-468E-6D23-4E2F-754783E9547E}"/>
              </a:ext>
            </a:extLst>
          </p:cNvPr>
          <p:cNvGrpSpPr/>
          <p:nvPr/>
        </p:nvGrpSpPr>
        <p:grpSpPr>
          <a:xfrm>
            <a:off x="487680" y="5765674"/>
            <a:ext cx="11338560" cy="937054"/>
            <a:chOff x="426720" y="5701792"/>
            <a:chExt cx="11338560" cy="937054"/>
          </a:xfrm>
        </p:grpSpPr>
        <p:sp>
          <p:nvSpPr>
            <p:cNvPr id="38" name="Shape 35"/>
            <p:cNvSpPr/>
            <p:nvPr/>
          </p:nvSpPr>
          <p:spPr>
            <a:xfrm>
              <a:off x="426720" y="5701792"/>
              <a:ext cx="11338560" cy="937054"/>
            </a:xfrm>
            <a:prstGeom prst="rect">
              <a:avLst/>
            </a:prstGeom>
            <a:solidFill>
              <a:srgbClr val="E0F7FA"/>
            </a:solidFill>
            <a:ln w="12700">
              <a:solidFill>
                <a:srgbClr val="00B4D8"/>
              </a:solidFill>
              <a:prstDash val="solid"/>
            </a:ln>
          </p:spPr>
        </p:sp>
        <p:sp>
          <p:nvSpPr>
            <p:cNvPr id="39" name="Text 36"/>
            <p:cNvSpPr/>
            <p:nvPr/>
          </p:nvSpPr>
          <p:spPr>
            <a:xfrm>
              <a:off x="609600" y="5737272"/>
              <a:ext cx="10972800" cy="292608"/>
            </a:xfrm>
            <a:prstGeom prst="rect">
              <a:avLst/>
            </a:prstGeom>
            <a:noFill/>
            <a:ln/>
          </p:spPr>
          <p:txBody>
            <a:bodyPr wrap="square" rtlCol="0" anchor="ctr"/>
            <a:lstStyle/>
            <a:p>
              <a:r>
                <a:rPr lang="en-US" sz="1200" b="1" dirty="0">
                  <a:solidFill>
                    <a:srgbClr val="0077A8"/>
                  </a:solidFill>
                  <a:latin typeface="Calibri" pitchFamily="34" charset="0"/>
                  <a:ea typeface="Calibri" pitchFamily="34" charset="-122"/>
                  <a:cs typeface="Calibri" pitchFamily="34" charset="-120"/>
                </a:rPr>
                <a:t>KEY VALUATION INSIGHT</a:t>
              </a:r>
              <a:endParaRPr lang="en-US" sz="1200" dirty="0"/>
            </a:p>
          </p:txBody>
        </p:sp>
        <p:sp>
          <p:nvSpPr>
            <p:cNvPr id="40" name="Text 37"/>
            <p:cNvSpPr/>
            <p:nvPr/>
          </p:nvSpPr>
          <p:spPr>
            <a:xfrm>
              <a:off x="640080" y="5907326"/>
              <a:ext cx="10972800" cy="731520"/>
            </a:xfrm>
            <a:prstGeom prst="rect">
              <a:avLst/>
            </a:prstGeom>
            <a:noFill/>
            <a:ln/>
          </p:spPr>
          <p:txBody>
            <a:bodyPr wrap="square" rtlCol="0" anchor="ctr"/>
            <a:lstStyle/>
            <a:p>
              <a:r>
                <a:rPr lang="en-US" sz="1133" dirty="0">
                  <a:solidFill>
                    <a:srgbClr val="1E293B"/>
                  </a:solidFill>
                  <a:latin typeface="Calibri" pitchFamily="34" charset="0"/>
                  <a:ea typeface="Calibri" pitchFamily="34" charset="-122"/>
                  <a:cs typeface="Calibri" pitchFamily="34" charset="-120"/>
                </a:rPr>
                <a:t>At $106/share, Nebius trades at ~8x 2026E revenue IF guidance is met. CoreWeave trades at ~15x 2026E. The discount reflects execution risk on Vera Rubin delivery, Meta concentration, and H2-2026 revenue skew. If Nebius executes ($3–3.4B FY26 rev + positive EBITDA), a re-rate to 12–15x implies $150–190. The risk is binary: execution delivers, or H2 misses cascade. Q1/Q2 2026 earnings (April 29 release) will be the first major proving ground.</a:t>
              </a:r>
              <a:endParaRPr lang="en-US" sz="1133"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14400"/>
          </a:xfrm>
          <a:prstGeom prst="rect">
            <a:avLst/>
          </a:prstGeom>
          <a:solidFill>
            <a:srgbClr val="1E293B"/>
          </a:solidFill>
          <a:ln w="12700">
            <a:solidFill>
              <a:srgbClr val="1E293B"/>
            </a:solidFill>
            <a:prstDash val="solid"/>
          </a:ln>
        </p:spPr>
      </p:sp>
      <p:sp>
        <p:nvSpPr>
          <p:cNvPr id="3" name="Shape 1"/>
          <p:cNvSpPr/>
          <p:nvPr/>
        </p:nvSpPr>
        <p:spPr>
          <a:xfrm>
            <a:off x="0" y="0"/>
            <a:ext cx="463296" cy="914400"/>
          </a:xfrm>
          <a:prstGeom prst="rect">
            <a:avLst/>
          </a:prstGeom>
          <a:solidFill>
            <a:srgbClr val="00B4D8"/>
          </a:solidFill>
          <a:ln w="12700">
            <a:solidFill>
              <a:srgbClr val="00B4D8"/>
            </a:solidFill>
            <a:prstDash val="solid"/>
          </a:ln>
        </p:spPr>
      </p:sp>
      <p:sp>
        <p:nvSpPr>
          <p:cNvPr id="4" name="Text 2"/>
          <p:cNvSpPr/>
          <p:nvPr/>
        </p:nvSpPr>
        <p:spPr>
          <a:xfrm>
            <a:off x="670560" y="121920"/>
            <a:ext cx="10363200" cy="670560"/>
          </a:xfrm>
          <a:prstGeom prst="rect">
            <a:avLst/>
          </a:prstGeom>
          <a:noFill/>
          <a:ln/>
        </p:spPr>
        <p:txBody>
          <a:bodyPr wrap="square" rtlCol="0" anchor="ctr"/>
          <a:lstStyle/>
          <a:p>
            <a:r>
              <a:rPr lang="en-US" sz="2267" b="1" dirty="0">
                <a:solidFill>
                  <a:srgbClr val="FFFFFF"/>
                </a:solidFill>
                <a:latin typeface="Calibri" pitchFamily="34" charset="0"/>
                <a:ea typeface="Calibri" pitchFamily="34" charset="-122"/>
                <a:cs typeface="Calibri" pitchFamily="34" charset="-120"/>
              </a:rPr>
              <a:t>SECTION 11: INVESTOR RESEARCH CHECKLIST &amp; KEY MONITORING ITEMS</a:t>
            </a:r>
            <a:endParaRPr lang="en-US" sz="2267" dirty="0"/>
          </a:p>
        </p:txBody>
      </p:sp>
      <p:sp>
        <p:nvSpPr>
          <p:cNvPr id="5" name="Text 3"/>
          <p:cNvSpPr/>
          <p:nvPr/>
        </p:nvSpPr>
        <p:spPr>
          <a:xfrm>
            <a:off x="670560" y="877824"/>
            <a:ext cx="10972800" cy="304800"/>
          </a:xfrm>
          <a:prstGeom prst="rect">
            <a:avLst/>
          </a:prstGeom>
          <a:noFill/>
          <a:ln/>
        </p:spPr>
        <p:txBody>
          <a:bodyPr wrap="square" rtlCol="0" anchor="ctr"/>
          <a:lstStyle/>
          <a:p>
            <a:r>
              <a:rPr lang="en-US" sz="1600" dirty="0">
                <a:solidFill>
                  <a:srgbClr val="002060"/>
                </a:solidFill>
                <a:latin typeface="Calibri" pitchFamily="34" charset="0"/>
                <a:ea typeface="Calibri" pitchFamily="34" charset="-122"/>
                <a:cs typeface="Calibri" pitchFamily="34" charset="-120"/>
              </a:rPr>
              <a:t>What to track every quarter before conviction can be built</a:t>
            </a:r>
          </a:p>
        </p:txBody>
      </p:sp>
      <p:grpSp>
        <p:nvGrpSpPr>
          <p:cNvPr id="24" name="Group 23">
            <a:extLst>
              <a:ext uri="{FF2B5EF4-FFF2-40B4-BE49-F238E27FC236}">
                <a16:creationId xmlns:a16="http://schemas.microsoft.com/office/drawing/2014/main" id="{FE77C2F1-080F-0BC1-6286-79CDD309184E}"/>
              </a:ext>
            </a:extLst>
          </p:cNvPr>
          <p:cNvGrpSpPr/>
          <p:nvPr/>
        </p:nvGrpSpPr>
        <p:grpSpPr>
          <a:xfrm>
            <a:off x="434734" y="1247056"/>
            <a:ext cx="11444452" cy="4740016"/>
            <a:chOff x="426720" y="1267968"/>
            <a:chExt cx="11545824" cy="5608320"/>
          </a:xfrm>
        </p:grpSpPr>
        <p:sp>
          <p:nvSpPr>
            <p:cNvPr id="6" name="Shape 4"/>
            <p:cNvSpPr/>
            <p:nvPr/>
          </p:nvSpPr>
          <p:spPr>
            <a:xfrm>
              <a:off x="426720" y="1267968"/>
              <a:ext cx="5669280" cy="274320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7" name="Shape 5"/>
            <p:cNvSpPr/>
            <p:nvPr/>
          </p:nvSpPr>
          <p:spPr>
            <a:xfrm>
              <a:off x="426720" y="1267968"/>
              <a:ext cx="85344" cy="2743200"/>
            </a:xfrm>
            <a:prstGeom prst="rect">
              <a:avLst/>
            </a:prstGeom>
            <a:solidFill>
              <a:srgbClr val="00B4D8"/>
            </a:solidFill>
            <a:ln w="12700">
              <a:solidFill>
                <a:srgbClr val="00B4D8"/>
              </a:solidFill>
              <a:prstDash val="solid"/>
            </a:ln>
          </p:spPr>
        </p:sp>
        <p:sp>
          <p:nvSpPr>
            <p:cNvPr id="8" name="Text 6"/>
            <p:cNvSpPr/>
            <p:nvPr/>
          </p:nvSpPr>
          <p:spPr>
            <a:xfrm>
              <a:off x="646176" y="1414272"/>
              <a:ext cx="532790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Q1 / Q2 2026 Earnings (Apr 29 &amp; ~Aug 2026)</a:t>
              </a:r>
              <a:endParaRPr lang="en-US" sz="1467" dirty="0"/>
            </a:p>
          </p:txBody>
        </p:sp>
        <p:sp>
          <p:nvSpPr>
            <p:cNvPr id="9" name="Text 7"/>
            <p:cNvSpPr/>
            <p:nvPr/>
          </p:nvSpPr>
          <p:spPr>
            <a:xfrm>
              <a:off x="646176" y="1828800"/>
              <a:ext cx="5449824" cy="2036064"/>
            </a:xfrm>
            <a:prstGeom prst="rect">
              <a:avLst/>
            </a:prstGeom>
            <a:noFill/>
            <a:ln/>
          </p:spPr>
          <p:txBody>
            <a:bodyPr wrap="square" rtlCol="0" anchor="ctr"/>
            <a:lstStyle/>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Revenue vs $750M–$950M Q1 consensus — is H1 on track?</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ARR trajectory: targeting $7–9B by year-end — where is the runway?</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Vera Rubin cluster deployment status — on time for H2 Meta revenue</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Gross margin trend: &gt;50% = healthy; &lt;40% = hardware margin squeeze</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Adj. EBITDA turning positive on full-year basis vs quarterly</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New customer wins announced beyond Meta and Microsoft</a:t>
              </a:r>
              <a:endParaRPr lang="en-US" sz="1300" dirty="0"/>
            </a:p>
          </p:txBody>
        </p:sp>
        <p:sp>
          <p:nvSpPr>
            <p:cNvPr id="10" name="Shape 8"/>
            <p:cNvSpPr/>
            <p:nvPr/>
          </p:nvSpPr>
          <p:spPr>
            <a:xfrm>
              <a:off x="6303264" y="1267968"/>
              <a:ext cx="5669280" cy="274320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11" name="Shape 9"/>
            <p:cNvSpPr/>
            <p:nvPr/>
          </p:nvSpPr>
          <p:spPr>
            <a:xfrm>
              <a:off x="6303264" y="1267968"/>
              <a:ext cx="85344" cy="2743200"/>
            </a:xfrm>
            <a:prstGeom prst="rect">
              <a:avLst/>
            </a:prstGeom>
            <a:solidFill>
              <a:srgbClr val="7C3AED"/>
            </a:solidFill>
            <a:ln w="12700">
              <a:solidFill>
                <a:srgbClr val="7C3AED"/>
              </a:solidFill>
              <a:prstDash val="solid"/>
            </a:ln>
          </p:spPr>
        </p:sp>
        <p:sp>
          <p:nvSpPr>
            <p:cNvPr id="12" name="Text 10"/>
            <p:cNvSpPr/>
            <p:nvPr/>
          </p:nvSpPr>
          <p:spPr>
            <a:xfrm>
              <a:off x="6522720" y="1414272"/>
              <a:ext cx="532790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Contract Execution Monitoring</a:t>
              </a:r>
              <a:endParaRPr lang="en-US" sz="1467" dirty="0"/>
            </a:p>
          </p:txBody>
        </p:sp>
        <p:sp>
          <p:nvSpPr>
            <p:cNvPr id="13" name="Text 11"/>
            <p:cNvSpPr/>
            <p:nvPr/>
          </p:nvSpPr>
          <p:spPr>
            <a:xfrm>
              <a:off x="6388608" y="1828800"/>
              <a:ext cx="5583936" cy="2036064"/>
            </a:xfrm>
            <a:prstGeom prst="rect">
              <a:avLst/>
            </a:prstGeom>
            <a:noFill/>
            <a:ln/>
          </p:spPr>
          <p:txBody>
            <a:bodyPr wrap="square" rtlCol="0" anchor="ctr"/>
            <a:lstStyle/>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Meta $12B Vera Rubin — first capacity delivery announced for early 2027</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Meta $2.9B initial clusters — Q1 2026 confirmation of live status</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Microsoft deal revenue recognition beginning — confirm timing</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Any contract modification or term renegotiation disclosed in 6-K filings</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Tranche delivery dates — monitor for any grace period notices</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New enterprise customer additions (pipeline target: &gt;$4B per Q4 2025 earnings)</a:t>
              </a:r>
              <a:endParaRPr lang="en-US" sz="1300" dirty="0"/>
            </a:p>
          </p:txBody>
        </p:sp>
        <p:sp>
          <p:nvSpPr>
            <p:cNvPr id="14" name="Shape 12"/>
            <p:cNvSpPr/>
            <p:nvPr/>
          </p:nvSpPr>
          <p:spPr>
            <a:xfrm>
              <a:off x="426720" y="4133088"/>
              <a:ext cx="5669280" cy="274320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15" name="Shape 13"/>
            <p:cNvSpPr/>
            <p:nvPr/>
          </p:nvSpPr>
          <p:spPr>
            <a:xfrm>
              <a:off x="426720" y="4133088"/>
              <a:ext cx="85344" cy="2743200"/>
            </a:xfrm>
            <a:prstGeom prst="rect">
              <a:avLst/>
            </a:prstGeom>
            <a:solidFill>
              <a:srgbClr val="F59E0B"/>
            </a:solidFill>
            <a:ln w="12700">
              <a:solidFill>
                <a:srgbClr val="F59E0B"/>
              </a:solidFill>
              <a:prstDash val="solid"/>
            </a:ln>
          </p:spPr>
        </p:sp>
        <p:sp>
          <p:nvSpPr>
            <p:cNvPr id="16" name="Text 14"/>
            <p:cNvSpPr/>
            <p:nvPr/>
          </p:nvSpPr>
          <p:spPr>
            <a:xfrm>
              <a:off x="646176" y="4279392"/>
              <a:ext cx="532790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Capital Structure &amp; Dilution</a:t>
              </a:r>
              <a:endParaRPr lang="en-US" sz="1467" dirty="0"/>
            </a:p>
          </p:txBody>
        </p:sp>
        <p:sp>
          <p:nvSpPr>
            <p:cNvPr id="17" name="Text 15"/>
            <p:cNvSpPr/>
            <p:nvPr/>
          </p:nvSpPr>
          <p:spPr>
            <a:xfrm>
              <a:off x="512064" y="4693920"/>
              <a:ext cx="5462015" cy="2036064"/>
            </a:xfrm>
            <a:prstGeom prst="rect">
              <a:avLst/>
            </a:prstGeom>
            <a:noFill/>
            <a:ln/>
          </p:spPr>
          <p:txBody>
            <a:bodyPr wrap="square" rtlCol="0" anchor="ctr"/>
            <a:lstStyle/>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ATM equity program: how many shares issued? Track paid-up capital</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Convertible notes ($4.34B, Mar 2026): conversion price and dilution math</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CapEx vs revenue: $16–20B 2026 need — how is it financed quarter by quarter?</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Asset-backed financing: any new GPU-secured debt facilities announced?</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Cash burn rate — at what quarter does cash become a constraint?</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NVIDIA $2B equity stake: any lock-up expiry / potential selling pressure</a:t>
              </a:r>
              <a:endParaRPr lang="en-US" sz="1300" dirty="0"/>
            </a:p>
          </p:txBody>
        </p:sp>
        <p:sp>
          <p:nvSpPr>
            <p:cNvPr id="18" name="Shape 16"/>
            <p:cNvSpPr/>
            <p:nvPr/>
          </p:nvSpPr>
          <p:spPr>
            <a:xfrm>
              <a:off x="6303264" y="4133088"/>
              <a:ext cx="5669280" cy="2743200"/>
            </a:xfrm>
            <a:prstGeom prst="rect">
              <a:avLst/>
            </a:prstGeom>
            <a:solidFill>
              <a:srgbClr val="FFFFFF"/>
            </a:solidFill>
            <a:ln w="12700">
              <a:solidFill>
                <a:srgbClr val="E2E8F0"/>
              </a:solidFill>
              <a:prstDash val="solid"/>
            </a:ln>
            <a:effectLst>
              <a:outerShdw blurRad="127000" dist="50800" dir="8100000" algn="bl" rotWithShape="0">
                <a:srgbClr val="000000">
                  <a:alpha val="18000"/>
                </a:srgbClr>
              </a:outerShdw>
            </a:effectLst>
          </p:spPr>
        </p:sp>
        <p:sp>
          <p:nvSpPr>
            <p:cNvPr id="19" name="Shape 17"/>
            <p:cNvSpPr/>
            <p:nvPr/>
          </p:nvSpPr>
          <p:spPr>
            <a:xfrm>
              <a:off x="6303264" y="4133088"/>
              <a:ext cx="85344" cy="2743200"/>
            </a:xfrm>
            <a:prstGeom prst="rect">
              <a:avLst/>
            </a:prstGeom>
            <a:solidFill>
              <a:srgbClr val="EF4444"/>
            </a:solidFill>
            <a:ln w="12700">
              <a:solidFill>
                <a:srgbClr val="EF4444"/>
              </a:solidFill>
              <a:prstDash val="solid"/>
            </a:ln>
          </p:spPr>
        </p:sp>
        <p:sp>
          <p:nvSpPr>
            <p:cNvPr id="20" name="Text 18"/>
            <p:cNvSpPr/>
            <p:nvPr/>
          </p:nvSpPr>
          <p:spPr>
            <a:xfrm>
              <a:off x="6522720" y="4279392"/>
              <a:ext cx="5327904" cy="365760"/>
            </a:xfrm>
            <a:prstGeom prst="rect">
              <a:avLst/>
            </a:prstGeom>
            <a:noFill/>
            <a:ln/>
          </p:spPr>
          <p:txBody>
            <a:bodyPr wrap="square" rtlCol="0" anchor="ctr"/>
            <a:lstStyle/>
            <a:p>
              <a:r>
                <a:rPr lang="en-US" sz="1467" b="1" dirty="0">
                  <a:solidFill>
                    <a:srgbClr val="1E293B"/>
                  </a:solidFill>
                  <a:latin typeface="Calibri" pitchFamily="34" charset="0"/>
                  <a:ea typeface="Calibri" pitchFamily="34" charset="-122"/>
                  <a:cs typeface="Calibri" pitchFamily="34" charset="-120"/>
                </a:rPr>
                <a:t>Geopolitical &amp; Regulatory Watchlist</a:t>
              </a:r>
              <a:endParaRPr lang="en-US" sz="1467" dirty="0"/>
            </a:p>
          </p:txBody>
        </p:sp>
        <p:sp>
          <p:nvSpPr>
            <p:cNvPr id="21" name="Text 19"/>
            <p:cNvSpPr/>
            <p:nvPr/>
          </p:nvSpPr>
          <p:spPr>
            <a:xfrm>
              <a:off x="6449568" y="4685788"/>
              <a:ext cx="5462015" cy="2036064"/>
            </a:xfrm>
            <a:prstGeom prst="rect">
              <a:avLst/>
            </a:prstGeom>
            <a:noFill/>
            <a:ln/>
          </p:spPr>
          <p:txBody>
            <a:bodyPr wrap="square" rtlCol="0" anchor="ctr"/>
            <a:lstStyle/>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EU AI Act implementation timeline — does it help or hurt Nebius?</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Any renewed sanctions scrutiny related to founders or team members</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Israeli operations: geopolitical stability affecting R&amp;D hub continuity</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US-China trade tensions: GPU export rules affecting NVIDIA supply chain</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Finland datacenter: EU sovereign AI funding opportunities</a:t>
              </a:r>
              <a:endParaRPr lang="en-US" sz="1300" dirty="0"/>
            </a:p>
            <a:p>
              <a:pPr marL="457189" indent="-457189">
                <a:buSzPct val="100000"/>
                <a:buChar char="•"/>
              </a:pPr>
              <a:r>
                <a:rPr lang="en-US" sz="1300" dirty="0">
                  <a:solidFill>
                    <a:srgbClr val="1E293B"/>
                  </a:solidFill>
                  <a:latin typeface="Calibri" pitchFamily="34" charset="0"/>
                  <a:ea typeface="Calibri" pitchFamily="34" charset="-122"/>
                  <a:cs typeface="Calibri" pitchFamily="34" charset="-120"/>
                </a:rPr>
                <a:t>GDPR compliance of AI Studio inference — data residency verification</a:t>
              </a:r>
              <a:endParaRPr lang="en-US" sz="1300" dirty="0"/>
            </a:p>
          </p:txBody>
        </p:sp>
      </p:grpSp>
      <p:grpSp>
        <p:nvGrpSpPr>
          <p:cNvPr id="25" name="Group 24">
            <a:extLst>
              <a:ext uri="{FF2B5EF4-FFF2-40B4-BE49-F238E27FC236}">
                <a16:creationId xmlns:a16="http://schemas.microsoft.com/office/drawing/2014/main" id="{17206D71-C38F-4AFD-C822-BFE67EEAE4AA}"/>
              </a:ext>
            </a:extLst>
          </p:cNvPr>
          <p:cNvGrpSpPr/>
          <p:nvPr/>
        </p:nvGrpSpPr>
        <p:grpSpPr>
          <a:xfrm>
            <a:off x="463296" y="6205118"/>
            <a:ext cx="11338560" cy="498166"/>
            <a:chOff x="463296" y="6319728"/>
            <a:chExt cx="11338560" cy="498166"/>
          </a:xfrm>
        </p:grpSpPr>
        <p:sp>
          <p:nvSpPr>
            <p:cNvPr id="22" name="Shape 20"/>
            <p:cNvSpPr/>
            <p:nvPr/>
          </p:nvSpPr>
          <p:spPr>
            <a:xfrm>
              <a:off x="463296" y="6319728"/>
              <a:ext cx="11338560" cy="498166"/>
            </a:xfrm>
            <a:prstGeom prst="rect">
              <a:avLst/>
            </a:prstGeom>
            <a:solidFill>
              <a:srgbClr val="FEF3C7"/>
            </a:solidFill>
            <a:ln w="12700">
              <a:solidFill>
                <a:srgbClr val="F59E0B"/>
              </a:solidFill>
              <a:prstDash val="solid"/>
            </a:ln>
          </p:spPr>
        </p:sp>
        <p:sp>
          <p:nvSpPr>
            <p:cNvPr id="23" name="Text 21"/>
            <p:cNvSpPr/>
            <p:nvPr/>
          </p:nvSpPr>
          <p:spPr>
            <a:xfrm>
              <a:off x="570258" y="6406306"/>
              <a:ext cx="11094720" cy="314817"/>
            </a:xfrm>
            <a:prstGeom prst="rect">
              <a:avLst/>
            </a:prstGeom>
            <a:noFill/>
            <a:ln/>
          </p:spPr>
          <p:txBody>
            <a:bodyPr wrap="square" rtlCol="0" anchor="ctr"/>
            <a:lstStyle/>
            <a:p>
              <a:r>
                <a:rPr lang="en-US" sz="1067" b="1" dirty="0">
                  <a:solidFill>
                    <a:srgbClr val="1E293B"/>
                  </a:solidFill>
                  <a:latin typeface="Calibri" pitchFamily="34" charset="0"/>
                  <a:ea typeface="Calibri" pitchFamily="34" charset="-122"/>
                  <a:cs typeface="Calibri" pitchFamily="34" charset="-120"/>
                </a:rPr>
                <a:t>CRITICAL NEAR-TERM CATALYST: April 29, 2026 Q1 earnings. This is the first major test of whether H2-2026 guidance is achievable. Any delivery delay on Vera Rubin = stock down 20%+. On-time delivery = significant re-rating catalyst.</a:t>
              </a:r>
              <a:endParaRPr lang="en-US" sz="1067"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12064" cy="6858000"/>
          </a:xfrm>
          <a:prstGeom prst="rect">
            <a:avLst/>
          </a:prstGeom>
          <a:solidFill>
            <a:srgbClr val="00B4D8"/>
          </a:solidFill>
          <a:ln w="12700">
            <a:solidFill>
              <a:srgbClr val="00B4D8"/>
            </a:solidFill>
            <a:prstDash val="solid"/>
          </a:ln>
        </p:spPr>
      </p:sp>
      <p:sp>
        <p:nvSpPr>
          <p:cNvPr id="3" name="Text 1"/>
          <p:cNvSpPr/>
          <p:nvPr/>
        </p:nvSpPr>
        <p:spPr>
          <a:xfrm>
            <a:off x="877824" y="140208"/>
            <a:ext cx="10728960" cy="609600"/>
          </a:xfrm>
          <a:prstGeom prst="rect">
            <a:avLst/>
          </a:prstGeom>
          <a:noFill/>
          <a:ln/>
        </p:spPr>
        <p:txBody>
          <a:bodyPr wrap="square" rtlCol="0" anchor="ctr"/>
          <a:lstStyle/>
          <a:p>
            <a:r>
              <a:rPr lang="en-US" sz="3200" b="1" dirty="0">
                <a:solidFill>
                  <a:srgbClr val="FFFFFF"/>
                </a:solidFill>
                <a:latin typeface="Calibri" pitchFamily="34" charset="0"/>
                <a:ea typeface="Calibri" pitchFamily="34" charset="-122"/>
                <a:cs typeface="Calibri" pitchFamily="34" charset="-120"/>
              </a:rPr>
              <a:t>NEBIUS GROUP — Summary View</a:t>
            </a:r>
            <a:endParaRPr lang="en-US" sz="3200" dirty="0"/>
          </a:p>
        </p:txBody>
      </p:sp>
      <p:grpSp>
        <p:nvGrpSpPr>
          <p:cNvPr id="25" name="Group 24">
            <a:extLst>
              <a:ext uri="{FF2B5EF4-FFF2-40B4-BE49-F238E27FC236}">
                <a16:creationId xmlns:a16="http://schemas.microsoft.com/office/drawing/2014/main" id="{F3E8F812-4A92-8FE5-7138-709C18E0958F}"/>
              </a:ext>
            </a:extLst>
          </p:cNvPr>
          <p:cNvGrpSpPr/>
          <p:nvPr/>
        </p:nvGrpSpPr>
        <p:grpSpPr>
          <a:xfrm>
            <a:off x="877824" y="1076389"/>
            <a:ext cx="10972800" cy="5266944"/>
            <a:chOff x="877824" y="1243584"/>
            <a:chExt cx="10972800" cy="5266944"/>
          </a:xfrm>
        </p:grpSpPr>
        <p:sp>
          <p:nvSpPr>
            <p:cNvPr id="4" name="Shape 2"/>
            <p:cNvSpPr/>
            <p:nvPr/>
          </p:nvSpPr>
          <p:spPr>
            <a:xfrm>
              <a:off x="877824" y="1243584"/>
              <a:ext cx="10972800" cy="975360"/>
            </a:xfrm>
            <a:prstGeom prst="rect">
              <a:avLst/>
            </a:prstGeom>
            <a:solidFill>
              <a:srgbClr val="0D1B2A"/>
            </a:solidFill>
            <a:ln w="12700">
              <a:solidFill>
                <a:srgbClr val="1E293B"/>
              </a:solidFill>
              <a:prstDash val="solid"/>
            </a:ln>
          </p:spPr>
        </p:sp>
        <p:sp>
          <p:nvSpPr>
            <p:cNvPr id="5" name="Shape 3"/>
            <p:cNvSpPr/>
            <p:nvPr/>
          </p:nvSpPr>
          <p:spPr>
            <a:xfrm>
              <a:off x="877824" y="1243584"/>
              <a:ext cx="73152" cy="975360"/>
            </a:xfrm>
            <a:prstGeom prst="rect">
              <a:avLst/>
            </a:prstGeom>
            <a:solidFill>
              <a:srgbClr val="00B4D8"/>
            </a:solidFill>
            <a:ln w="12700">
              <a:solidFill>
                <a:srgbClr val="00B4D8"/>
              </a:solidFill>
              <a:prstDash val="solid"/>
            </a:ln>
          </p:spPr>
        </p:sp>
        <p:sp>
          <p:nvSpPr>
            <p:cNvPr id="6" name="Text 4"/>
            <p:cNvSpPr/>
            <p:nvPr/>
          </p:nvSpPr>
          <p:spPr>
            <a:xfrm>
              <a:off x="1072896" y="1280160"/>
              <a:ext cx="2682240" cy="292608"/>
            </a:xfrm>
            <a:prstGeom prst="rect">
              <a:avLst/>
            </a:prstGeom>
            <a:noFill/>
            <a:ln/>
          </p:spPr>
          <p:txBody>
            <a:bodyPr wrap="square" rtlCol="0" anchor="ctr"/>
            <a:lstStyle/>
            <a:p>
              <a:r>
                <a:rPr lang="en-US" sz="1400" b="1" kern="0" spc="133" dirty="0">
                  <a:solidFill>
                    <a:srgbClr val="00B4D8"/>
                  </a:solidFill>
                  <a:latin typeface="Calibri" pitchFamily="34" charset="0"/>
                  <a:ea typeface="Calibri" pitchFamily="34" charset="-122"/>
                  <a:cs typeface="Calibri" pitchFamily="34" charset="-120"/>
                </a:rPr>
                <a:t>ONE-LINE THESIS</a:t>
              </a:r>
              <a:endParaRPr lang="en-US" sz="1400" dirty="0"/>
            </a:p>
          </p:txBody>
        </p:sp>
        <p:sp>
          <p:nvSpPr>
            <p:cNvPr id="7" name="Text 5"/>
            <p:cNvSpPr/>
            <p:nvPr/>
          </p:nvSpPr>
          <p:spPr>
            <a:xfrm>
              <a:off x="1072896" y="1572768"/>
              <a:ext cx="10607040" cy="609600"/>
            </a:xfrm>
            <a:prstGeom prst="rect">
              <a:avLst/>
            </a:prstGeom>
            <a:noFill/>
            <a:ln/>
          </p:spPr>
          <p:txBody>
            <a:bodyPr wrap="square" rtlCol="0" anchor="ctr"/>
            <a:lstStyle/>
            <a:p>
              <a:r>
                <a:rPr lang="en-US" sz="1600" dirty="0">
                  <a:solidFill>
                    <a:schemeClr val="bg1"/>
                  </a:solidFill>
                  <a:latin typeface="Calibri" pitchFamily="34" charset="0"/>
                  <a:ea typeface="Calibri" pitchFamily="34" charset="-122"/>
                  <a:cs typeface="Calibri" pitchFamily="34" charset="-120"/>
                </a:rPr>
                <a:t>Nebius is the best-capitalized neocloud with elite engineering DNA, Yandex-inherited optimization expertise, and the EU's most credible sovereign AI cloud — validating at hyperscaler scale through Meta and Microsoft contracts.</a:t>
              </a:r>
              <a:endParaRPr lang="en-US" sz="1600" dirty="0">
                <a:solidFill>
                  <a:schemeClr val="bg1"/>
                </a:solidFill>
              </a:endParaRPr>
            </a:p>
          </p:txBody>
        </p:sp>
        <p:sp>
          <p:nvSpPr>
            <p:cNvPr id="8" name="Shape 6"/>
            <p:cNvSpPr/>
            <p:nvPr/>
          </p:nvSpPr>
          <p:spPr>
            <a:xfrm>
              <a:off x="877824" y="2316480"/>
              <a:ext cx="10972800" cy="975360"/>
            </a:xfrm>
            <a:prstGeom prst="rect">
              <a:avLst/>
            </a:prstGeom>
            <a:solidFill>
              <a:srgbClr val="0D1B2A"/>
            </a:solidFill>
            <a:ln w="12700">
              <a:solidFill>
                <a:srgbClr val="1E293B"/>
              </a:solidFill>
              <a:prstDash val="solid"/>
            </a:ln>
          </p:spPr>
        </p:sp>
        <p:sp>
          <p:nvSpPr>
            <p:cNvPr id="9" name="Shape 7"/>
            <p:cNvSpPr/>
            <p:nvPr/>
          </p:nvSpPr>
          <p:spPr>
            <a:xfrm>
              <a:off x="877824" y="2316480"/>
              <a:ext cx="73152" cy="975360"/>
            </a:xfrm>
            <a:prstGeom prst="rect">
              <a:avLst/>
            </a:prstGeom>
            <a:solidFill>
              <a:srgbClr val="00B4D8"/>
            </a:solidFill>
            <a:ln w="12700">
              <a:solidFill>
                <a:srgbClr val="00B4D8"/>
              </a:solidFill>
              <a:prstDash val="solid"/>
            </a:ln>
          </p:spPr>
        </p:sp>
        <p:sp>
          <p:nvSpPr>
            <p:cNvPr id="10" name="Text 8"/>
            <p:cNvSpPr/>
            <p:nvPr/>
          </p:nvSpPr>
          <p:spPr>
            <a:xfrm>
              <a:off x="1072896" y="2353056"/>
              <a:ext cx="2682240" cy="292608"/>
            </a:xfrm>
            <a:prstGeom prst="rect">
              <a:avLst/>
            </a:prstGeom>
            <a:noFill/>
            <a:ln/>
          </p:spPr>
          <p:txBody>
            <a:bodyPr wrap="square" rtlCol="0" anchor="ctr"/>
            <a:lstStyle/>
            <a:p>
              <a:r>
                <a:rPr lang="en-US" sz="1400" b="1" kern="0" spc="133" dirty="0">
                  <a:solidFill>
                    <a:srgbClr val="00B4D8"/>
                  </a:solidFill>
                  <a:latin typeface="Calibri" pitchFamily="34" charset="0"/>
                  <a:ea typeface="Calibri" pitchFamily="34" charset="-122"/>
                  <a:cs typeface="Calibri" pitchFamily="34" charset="-120"/>
                </a:rPr>
                <a:t>WHY IT'S DIFFERENT</a:t>
              </a:r>
              <a:endParaRPr lang="en-US" sz="1400" dirty="0"/>
            </a:p>
          </p:txBody>
        </p:sp>
        <p:sp>
          <p:nvSpPr>
            <p:cNvPr id="11" name="Text 9"/>
            <p:cNvSpPr/>
            <p:nvPr/>
          </p:nvSpPr>
          <p:spPr>
            <a:xfrm>
              <a:off x="1072896" y="2645664"/>
              <a:ext cx="10607040" cy="609600"/>
            </a:xfrm>
            <a:prstGeom prst="rect">
              <a:avLst/>
            </a:prstGeom>
            <a:noFill/>
            <a:ln/>
          </p:spPr>
          <p:txBody>
            <a:bodyPr wrap="square" rtlCol="0" anchor="ctr"/>
            <a:lstStyle/>
            <a:p>
              <a:r>
                <a:rPr lang="en-US" sz="1600" dirty="0">
                  <a:solidFill>
                    <a:schemeClr val="bg1"/>
                  </a:solidFill>
                  <a:latin typeface="Calibri" pitchFamily="34" charset="0"/>
                  <a:ea typeface="Calibri" pitchFamily="34" charset="-122"/>
                  <a:cs typeface="Calibri" pitchFamily="34" charset="-120"/>
                </a:rPr>
                <a:t>Unlike CoreWeave (debt-funded), Nebius started with $2.8B cash, 1,300 engineers, and a live datacenter. Self-funded buildout until 2026 when first meaningful debt was raised — after $45B+ in contracted backlog was secured.</a:t>
              </a:r>
              <a:endParaRPr lang="en-US" sz="1600" dirty="0">
                <a:solidFill>
                  <a:schemeClr val="bg1"/>
                </a:solidFill>
              </a:endParaRPr>
            </a:p>
          </p:txBody>
        </p:sp>
        <p:sp>
          <p:nvSpPr>
            <p:cNvPr id="12" name="Shape 10"/>
            <p:cNvSpPr/>
            <p:nvPr/>
          </p:nvSpPr>
          <p:spPr>
            <a:xfrm>
              <a:off x="877824" y="3389376"/>
              <a:ext cx="10972800" cy="975360"/>
            </a:xfrm>
            <a:prstGeom prst="rect">
              <a:avLst/>
            </a:prstGeom>
            <a:solidFill>
              <a:srgbClr val="0D1B2A"/>
            </a:solidFill>
            <a:ln w="12700">
              <a:solidFill>
                <a:srgbClr val="1E293B"/>
              </a:solidFill>
              <a:prstDash val="solid"/>
            </a:ln>
          </p:spPr>
        </p:sp>
        <p:sp>
          <p:nvSpPr>
            <p:cNvPr id="13" name="Shape 11"/>
            <p:cNvSpPr/>
            <p:nvPr/>
          </p:nvSpPr>
          <p:spPr>
            <a:xfrm>
              <a:off x="877824" y="3389376"/>
              <a:ext cx="73152" cy="975360"/>
            </a:xfrm>
            <a:prstGeom prst="rect">
              <a:avLst/>
            </a:prstGeom>
            <a:solidFill>
              <a:srgbClr val="00B4D8"/>
            </a:solidFill>
            <a:ln w="12700">
              <a:solidFill>
                <a:srgbClr val="00B4D8"/>
              </a:solidFill>
              <a:prstDash val="solid"/>
            </a:ln>
          </p:spPr>
        </p:sp>
        <p:sp>
          <p:nvSpPr>
            <p:cNvPr id="14" name="Text 12"/>
            <p:cNvSpPr/>
            <p:nvPr/>
          </p:nvSpPr>
          <p:spPr>
            <a:xfrm>
              <a:off x="1072896" y="3425952"/>
              <a:ext cx="2682240" cy="292608"/>
            </a:xfrm>
            <a:prstGeom prst="rect">
              <a:avLst/>
            </a:prstGeom>
            <a:noFill/>
            <a:ln/>
          </p:spPr>
          <p:txBody>
            <a:bodyPr wrap="square" rtlCol="0" anchor="ctr"/>
            <a:lstStyle/>
            <a:p>
              <a:r>
                <a:rPr lang="en-US" sz="1400" b="1" kern="0" spc="133" dirty="0">
                  <a:solidFill>
                    <a:srgbClr val="00B4D8"/>
                  </a:solidFill>
                  <a:latin typeface="Calibri" pitchFamily="34" charset="0"/>
                  <a:ea typeface="Calibri" pitchFamily="34" charset="-122"/>
                  <a:cs typeface="Calibri" pitchFamily="34" charset="-120"/>
                </a:rPr>
                <a:t>WHAT WE LIKE</a:t>
              </a:r>
              <a:endParaRPr lang="en-US" sz="1400" dirty="0"/>
            </a:p>
          </p:txBody>
        </p:sp>
        <p:sp>
          <p:nvSpPr>
            <p:cNvPr id="15" name="Text 13"/>
            <p:cNvSpPr/>
            <p:nvPr/>
          </p:nvSpPr>
          <p:spPr>
            <a:xfrm>
              <a:off x="1072896" y="3718560"/>
              <a:ext cx="10607040" cy="609600"/>
            </a:xfrm>
            <a:prstGeom prst="rect">
              <a:avLst/>
            </a:prstGeom>
            <a:noFill/>
            <a:ln/>
          </p:spPr>
          <p:txBody>
            <a:bodyPr wrap="square" rtlCol="0" anchor="ctr"/>
            <a:lstStyle/>
            <a:p>
              <a:r>
                <a:rPr lang="en-US" sz="1600" dirty="0">
                  <a:solidFill>
                    <a:schemeClr val="bg1"/>
                  </a:solidFill>
                  <a:latin typeface="Calibri" pitchFamily="34" charset="0"/>
                  <a:ea typeface="Calibri" pitchFamily="34" charset="-122"/>
                  <a:cs typeface="Calibri" pitchFamily="34" charset="-120"/>
                </a:rPr>
                <a:t>479% FY2025 revenue growth, $29M net income in FY2025 (first ever), $45B+ backlog, NVIDIA strategic partner status, sold-out capacity, EU sovereign cloud positioning, positive Adj. EBITDA achieved in Q2 2025.</a:t>
              </a:r>
              <a:endParaRPr lang="en-US" sz="1600" dirty="0">
                <a:solidFill>
                  <a:schemeClr val="bg1"/>
                </a:solidFill>
              </a:endParaRPr>
            </a:p>
          </p:txBody>
        </p:sp>
        <p:sp>
          <p:nvSpPr>
            <p:cNvPr id="16" name="Shape 14"/>
            <p:cNvSpPr/>
            <p:nvPr/>
          </p:nvSpPr>
          <p:spPr>
            <a:xfrm>
              <a:off x="877824" y="4462272"/>
              <a:ext cx="10972800" cy="975360"/>
            </a:xfrm>
            <a:prstGeom prst="rect">
              <a:avLst/>
            </a:prstGeom>
            <a:solidFill>
              <a:srgbClr val="0D1B2A"/>
            </a:solidFill>
            <a:ln w="12700">
              <a:solidFill>
                <a:srgbClr val="1E293B"/>
              </a:solidFill>
              <a:prstDash val="solid"/>
            </a:ln>
          </p:spPr>
        </p:sp>
        <p:sp>
          <p:nvSpPr>
            <p:cNvPr id="17" name="Shape 15"/>
            <p:cNvSpPr/>
            <p:nvPr/>
          </p:nvSpPr>
          <p:spPr>
            <a:xfrm>
              <a:off x="877824" y="4462272"/>
              <a:ext cx="73152" cy="975360"/>
            </a:xfrm>
            <a:prstGeom prst="rect">
              <a:avLst/>
            </a:prstGeom>
            <a:solidFill>
              <a:srgbClr val="00B4D8"/>
            </a:solidFill>
            <a:ln w="12700">
              <a:solidFill>
                <a:srgbClr val="00B4D8"/>
              </a:solidFill>
              <a:prstDash val="solid"/>
            </a:ln>
          </p:spPr>
        </p:sp>
        <p:sp>
          <p:nvSpPr>
            <p:cNvPr id="18" name="Text 16"/>
            <p:cNvSpPr/>
            <p:nvPr/>
          </p:nvSpPr>
          <p:spPr>
            <a:xfrm>
              <a:off x="1072896" y="4498848"/>
              <a:ext cx="2682240" cy="292608"/>
            </a:xfrm>
            <a:prstGeom prst="rect">
              <a:avLst/>
            </a:prstGeom>
            <a:noFill/>
            <a:ln/>
          </p:spPr>
          <p:txBody>
            <a:bodyPr wrap="square" rtlCol="0" anchor="ctr"/>
            <a:lstStyle/>
            <a:p>
              <a:r>
                <a:rPr lang="en-US" sz="1400" b="1" kern="0" spc="133" dirty="0">
                  <a:solidFill>
                    <a:srgbClr val="00B4D8"/>
                  </a:solidFill>
                  <a:latin typeface="Calibri" pitchFamily="34" charset="0"/>
                  <a:ea typeface="Calibri" pitchFamily="34" charset="-122"/>
                  <a:cs typeface="Calibri" pitchFamily="34" charset="-120"/>
                </a:rPr>
                <a:t>WHAT WORRIES US</a:t>
              </a:r>
              <a:endParaRPr lang="en-US" sz="1400" dirty="0"/>
            </a:p>
          </p:txBody>
        </p:sp>
        <p:sp>
          <p:nvSpPr>
            <p:cNvPr id="19" name="Text 17"/>
            <p:cNvSpPr/>
            <p:nvPr/>
          </p:nvSpPr>
          <p:spPr>
            <a:xfrm>
              <a:off x="1072896" y="4791456"/>
              <a:ext cx="10607040" cy="609600"/>
            </a:xfrm>
            <a:prstGeom prst="rect">
              <a:avLst/>
            </a:prstGeom>
            <a:noFill/>
            <a:ln/>
          </p:spPr>
          <p:txBody>
            <a:bodyPr wrap="square" rtlCol="0" anchor="ctr"/>
            <a:lstStyle/>
            <a:p>
              <a:r>
                <a:rPr lang="en-US" sz="1600" dirty="0">
                  <a:solidFill>
                    <a:schemeClr val="bg1"/>
                  </a:solidFill>
                  <a:latin typeface="Calibri" pitchFamily="34" charset="0"/>
                  <a:ea typeface="Calibri" pitchFamily="34" charset="-122"/>
                  <a:cs typeface="Calibri" pitchFamily="34" charset="-120"/>
                </a:rPr>
                <a:t>Meta/Microsoft concentration (~$47B of $45B+ backlog), $16–20B capex burden in 2026, Vera Rubin delivery execution risk, convertible note dilution, H2-heavy revenue timing, Russia perception overhang.</a:t>
              </a:r>
              <a:endParaRPr lang="en-US" sz="1600" dirty="0">
                <a:solidFill>
                  <a:schemeClr val="bg1"/>
                </a:solidFill>
              </a:endParaRPr>
            </a:p>
          </p:txBody>
        </p:sp>
        <p:sp>
          <p:nvSpPr>
            <p:cNvPr id="20" name="Shape 18"/>
            <p:cNvSpPr/>
            <p:nvPr/>
          </p:nvSpPr>
          <p:spPr>
            <a:xfrm>
              <a:off x="877824" y="5535168"/>
              <a:ext cx="10972800" cy="975360"/>
            </a:xfrm>
            <a:prstGeom prst="rect">
              <a:avLst/>
            </a:prstGeom>
            <a:solidFill>
              <a:srgbClr val="0D1B2A"/>
            </a:solidFill>
            <a:ln w="12700">
              <a:solidFill>
                <a:srgbClr val="1E293B"/>
              </a:solidFill>
              <a:prstDash val="solid"/>
            </a:ln>
          </p:spPr>
        </p:sp>
        <p:sp>
          <p:nvSpPr>
            <p:cNvPr id="21" name="Shape 19"/>
            <p:cNvSpPr/>
            <p:nvPr/>
          </p:nvSpPr>
          <p:spPr>
            <a:xfrm>
              <a:off x="877824" y="5535168"/>
              <a:ext cx="73152" cy="975360"/>
            </a:xfrm>
            <a:prstGeom prst="rect">
              <a:avLst/>
            </a:prstGeom>
            <a:solidFill>
              <a:srgbClr val="00B4D8"/>
            </a:solidFill>
            <a:ln w="12700">
              <a:solidFill>
                <a:srgbClr val="00B4D8"/>
              </a:solidFill>
              <a:prstDash val="solid"/>
            </a:ln>
          </p:spPr>
        </p:sp>
        <p:sp>
          <p:nvSpPr>
            <p:cNvPr id="22" name="Text 20"/>
            <p:cNvSpPr/>
            <p:nvPr/>
          </p:nvSpPr>
          <p:spPr>
            <a:xfrm>
              <a:off x="1072896" y="5571744"/>
              <a:ext cx="2682240" cy="292608"/>
            </a:xfrm>
            <a:prstGeom prst="rect">
              <a:avLst/>
            </a:prstGeom>
            <a:noFill/>
            <a:ln/>
          </p:spPr>
          <p:txBody>
            <a:bodyPr wrap="square" rtlCol="0" anchor="ctr"/>
            <a:lstStyle/>
            <a:p>
              <a:r>
                <a:rPr lang="en-US" sz="1400" b="1" kern="0" spc="133" dirty="0">
                  <a:solidFill>
                    <a:srgbClr val="00B4D8"/>
                  </a:solidFill>
                  <a:latin typeface="Calibri" pitchFamily="34" charset="0"/>
                  <a:ea typeface="Calibri" pitchFamily="34" charset="-122"/>
                  <a:cs typeface="Calibri" pitchFamily="34" charset="-120"/>
                </a:rPr>
                <a:t>PRICE TARGET RANGE</a:t>
              </a:r>
              <a:endParaRPr lang="en-US" sz="1400" dirty="0"/>
            </a:p>
          </p:txBody>
        </p:sp>
        <p:sp>
          <p:nvSpPr>
            <p:cNvPr id="23" name="Text 21"/>
            <p:cNvSpPr/>
            <p:nvPr/>
          </p:nvSpPr>
          <p:spPr>
            <a:xfrm>
              <a:off x="1072896" y="5864352"/>
              <a:ext cx="10607040" cy="609600"/>
            </a:xfrm>
            <a:prstGeom prst="rect">
              <a:avLst/>
            </a:prstGeom>
            <a:noFill/>
            <a:ln/>
          </p:spPr>
          <p:txBody>
            <a:bodyPr wrap="square" rtlCol="0" anchor="ctr"/>
            <a:lstStyle/>
            <a:p>
              <a:r>
                <a:rPr lang="en-US" sz="1600" dirty="0">
                  <a:solidFill>
                    <a:schemeClr val="bg1"/>
                  </a:solidFill>
                  <a:latin typeface="Calibri" pitchFamily="34" charset="0"/>
                  <a:ea typeface="Calibri" pitchFamily="34" charset="-122"/>
                  <a:cs typeface="Calibri" pitchFamily="34" charset="-120"/>
                </a:rPr>
                <a:t>Bear: $45–65 (delivery failures or geopolitical shock) · Base: $120–160 (guidance execution, 8–12x EV/Rev) · Bull: $200–250 (hyperscaler-level re-rate at 15–20x if enterprise diversification confirms moat)</a:t>
              </a:r>
              <a:endParaRPr lang="en-US" sz="1600" dirty="0">
                <a:solidFill>
                  <a:schemeClr val="bg1"/>
                </a:solidFill>
              </a:endParaRPr>
            </a:p>
          </p:txBody>
        </p:sp>
      </p:grpSp>
      <p:sp>
        <p:nvSpPr>
          <p:cNvPr id="24" name="Text 22"/>
          <p:cNvSpPr/>
          <p:nvPr/>
        </p:nvSpPr>
        <p:spPr>
          <a:xfrm>
            <a:off x="877824" y="6559296"/>
            <a:ext cx="10972800" cy="243840"/>
          </a:xfrm>
          <a:prstGeom prst="rect">
            <a:avLst/>
          </a:prstGeom>
          <a:noFill/>
          <a:ln/>
        </p:spPr>
        <p:txBody>
          <a:bodyPr wrap="square" rtlCol="0" anchor="ctr"/>
          <a:lstStyle/>
          <a:p>
            <a:r>
              <a:rPr lang="en-US" sz="1000" i="1" dirty="0">
                <a:solidFill>
                  <a:schemeClr val="bg1"/>
                </a:solidFill>
                <a:latin typeface="Calibri" pitchFamily="34" charset="0"/>
                <a:ea typeface="Calibri" pitchFamily="34" charset="-122"/>
                <a:cs typeface="Calibri" pitchFamily="34" charset="-120"/>
              </a:rPr>
              <a:t>For Research &amp; Educational Purposes Only. Not Investment Advice. April 2026.</a:t>
            </a:r>
            <a:endParaRPr lang="en-US" sz="10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A8A1E5E-F0A6-BFF6-4BED-6A02878C635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6709"/>
            <a:ext cx="12192000" cy="6874709"/>
          </a:xfrm>
          <a:prstGeom prst="rect">
            <a:avLst/>
          </a:prstGeom>
        </p:spPr>
      </p:pic>
      <p:pic>
        <p:nvPicPr>
          <p:cNvPr id="26" name="Graphic 25" descr="Peacock with solid fill">
            <a:extLst>
              <a:ext uri="{FF2B5EF4-FFF2-40B4-BE49-F238E27FC236}">
                <a16:creationId xmlns:a16="http://schemas.microsoft.com/office/drawing/2014/main" id="{D51B320B-44D3-C018-F5E1-7D535FBF5E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9528" y="3420645"/>
            <a:ext cx="1333073" cy="1333073"/>
          </a:xfrm>
          <a:prstGeom prst="rect">
            <a:avLst/>
          </a:prstGeom>
        </p:spPr>
      </p:pic>
      <p:pic>
        <p:nvPicPr>
          <p:cNvPr id="3" name="Audio 2">
            <a:hlinkClick r:id="" action="ppaction://media"/>
            <a:extLst>
              <a:ext uri="{FF2B5EF4-FFF2-40B4-BE49-F238E27FC236}">
                <a16:creationId xmlns:a16="http://schemas.microsoft.com/office/drawing/2014/main" id="{36CFB779-4FFD-A359-1B63-154AE47D2810}"/>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325000" t="-160938" r="-325000" b="-160938"/>
          <a:stretch>
            <a:fillRect/>
          </a:stretch>
        </p:blipFill>
        <p:spPr>
          <a:xfrm>
            <a:off x="11412877" y="4642635"/>
            <a:ext cx="3048000" cy="1714500"/>
          </a:xfrm>
          <a:prstGeom prst="rect">
            <a:avLst/>
          </a:prstGeom>
        </p:spPr>
      </p:pic>
      <p:pic>
        <p:nvPicPr>
          <p:cNvPr id="5" name="Untitled (2)">
            <a:hlinkClick r:id="" action="ppaction://media"/>
            <a:extLst>
              <a:ext uri="{FF2B5EF4-FFF2-40B4-BE49-F238E27FC236}">
                <a16:creationId xmlns:a16="http://schemas.microsoft.com/office/drawing/2014/main" id="{7DB4B856-C49B-D335-E682-925244857C03}"/>
              </a:ext>
            </a:extLst>
          </p:cNvPr>
          <p:cNvPicPr>
            <a:picLocks noChangeAspect="1"/>
          </p:cNvPicPr>
          <p:nvPr>
            <a:audioFile r:link="rId3"/>
            <p:extLst>
              <p:ext uri="{DAA4B4D4-6D71-4841-9C94-3DE7FCFB9230}">
                <p14:media xmlns:p14="http://schemas.microsoft.com/office/powerpoint/2010/main" r:embed="rId4">
                  <p14:trim end="213320"/>
                </p14:media>
              </p:ext>
            </p:extLst>
          </p:nvPr>
        </p:nvPicPr>
        <p:blipFill>
          <a:blip r:embed="rId9"/>
          <a:stretch>
            <a:fillRect/>
          </a:stretch>
        </p:blipFill>
        <p:spPr>
          <a:xfrm>
            <a:off x="-1709827" y="3420645"/>
            <a:ext cx="406400" cy="406400"/>
          </a:xfrm>
          <a:prstGeom prst="rect">
            <a:avLst/>
          </a:prstGeom>
        </p:spPr>
      </p:pic>
      <p:sp>
        <p:nvSpPr>
          <p:cNvPr id="2" name="Title 7">
            <a:extLst>
              <a:ext uri="{FF2B5EF4-FFF2-40B4-BE49-F238E27FC236}">
                <a16:creationId xmlns:a16="http://schemas.microsoft.com/office/drawing/2014/main" id="{9F683854-5A65-FC59-BF07-C99F815DABE6}"/>
              </a:ext>
            </a:extLst>
          </p:cNvPr>
          <p:cNvSpPr txBox="1">
            <a:spLocks/>
          </p:cNvSpPr>
          <p:nvPr/>
        </p:nvSpPr>
        <p:spPr>
          <a:xfrm>
            <a:off x="2172129" y="3034762"/>
            <a:ext cx="10039565" cy="2104837"/>
          </a:xfrm>
          <a:prstGeom prst="rect">
            <a:avLst/>
          </a:prstGeom>
          <a:solidFill>
            <a:srgbClr val="FFFFFF">
              <a:alpha val="14902"/>
            </a:srgbClr>
          </a:solidFill>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bg1"/>
                </a:solidFill>
                <a:latin typeface="Aptos" panose="020B0004020202020204" pitchFamily="34" charset="0"/>
                <a:ea typeface="+mj-ea"/>
                <a:cs typeface="+mj-cs"/>
              </a:defRPr>
            </a:lvl1pPr>
          </a:lstStyle>
          <a:p>
            <a:pPr>
              <a:lnSpc>
                <a:spcPct val="120000"/>
              </a:lnSpc>
            </a:pPr>
            <a:r>
              <a:rPr lang="en-US" sz="9600" b="1" dirty="0" err="1">
                <a:latin typeface="FN Shyamol Bangla" panose="02000600000000000000" pitchFamily="2" charset="0"/>
                <a:cs typeface="FN Shyamol Bangla" panose="02000600000000000000" pitchFamily="2" charset="0"/>
              </a:rPr>
              <a:t>Nebius</a:t>
            </a:r>
            <a:r>
              <a:rPr lang="en-US" sz="9600" b="1" dirty="0">
                <a:latin typeface="FN Shyamol Bangla" panose="02000600000000000000" pitchFamily="2" charset="0"/>
                <a:cs typeface="FN Shyamol Bangla" panose="02000600000000000000" pitchFamily="2" charset="0"/>
              </a:rPr>
              <a:t> Group N.V.</a:t>
            </a:r>
          </a:p>
        </p:txBody>
      </p:sp>
    </p:spTree>
    <p:extLst>
      <p:ext uri="{BB962C8B-B14F-4D97-AF65-F5344CB8AC3E}">
        <p14:creationId xmlns:p14="http://schemas.microsoft.com/office/powerpoint/2010/main" val="984047693"/>
      </p:ext>
    </p:extLst>
  </p:cSld>
  <p:clrMapOvr>
    <a:masterClrMapping/>
  </p:clrMapOvr>
  <mc:AlternateContent xmlns:mc="http://schemas.openxmlformats.org/markup-compatibility/2006" xmlns:p14="http://schemas.microsoft.com/office/powerpoint/2010/main">
    <mc:Choice Requires="p14">
      <p:transition spd="slow" p14:dur="2000" advTm="12212"/>
    </mc:Choice>
    <mc:Fallback xmlns="">
      <p:transition spd="slow" advTm="122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1"/>
                            </p:stCondLst>
                            <p:childTnLst>
                              <p:par>
                                <p:cTn id="8" presetID="1" presetClass="mediacall" presetSubtype="0" fill="hold" nodeType="afterEffect">
                                  <p:stCondLst>
                                    <p:cond delay="0"/>
                                  </p:stCondLst>
                                  <p:childTnLst>
                                    <p:cmd type="call" cmd="playFrom(0.0)">
                                      <p:cBhvr>
                                        <p:cTn id="9" dur="10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3"/>
                </p:tgtEl>
              </p:cMediaNode>
            </p:audio>
            <p:audio>
              <p:cMediaNode vol="80000">
                <p:cTn id="11"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1298</TotalTime>
  <Words>10692</Words>
  <Application>Microsoft Office PowerPoint</Application>
  <PresentationFormat>Widescreen</PresentationFormat>
  <Paragraphs>754</Paragraphs>
  <Slides>17</Slides>
  <Notes>17</Notes>
  <HiddenSlides>0</HiddenSlides>
  <MMClips>6</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Calibri</vt:lpstr>
      <vt:lpstr>Calibri Light</vt:lpstr>
      <vt:lpstr>FN Shyamol Bangla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Swapan Masanta</dc:creator>
  <cp:lastModifiedBy>Swapan Masanta</cp:lastModifiedBy>
  <cp:revision>73</cp:revision>
  <dcterms:created xsi:type="dcterms:W3CDTF">2026-02-18T12:59:35Z</dcterms:created>
  <dcterms:modified xsi:type="dcterms:W3CDTF">2026-05-25T12:56:23Z</dcterms:modified>
</cp:coreProperties>
</file>