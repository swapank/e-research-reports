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image" Target="../media/image-11-2.png"/><Relationship Id="rId6" Type="http://schemas.openxmlformats.org/officeDocument/2006/relationships/image" Target="../media/image-11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108960"/>
            <a:ext cx="5943600" cy="5943600"/>
          </a:xfrm>
          <a:prstGeom prst="ellipse">
            <a:avLst/>
          </a:prstGeom>
          <a:solidFill>
            <a:srgbClr val="0075B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6FACD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658368" cy="658368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5" name="Image 0" descr="/home/claude/guide/icons/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136" y="948416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6FA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GALLAGHER RE  ·  PROPERTY RESEARCH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2316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Module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6FA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Guide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2960" y="42519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Shiny dashboard covering the full workflow — from building vendor input files to extracting loss results, testing sensitivity, and exporting a polished report.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5212080"/>
            <a:ext cx="7863840" cy="0"/>
          </a:xfrm>
          <a:prstGeom prst="line">
            <a:avLst/>
          </a:prstGeom>
          <a:noFill/>
          <a:ln w="15875">
            <a:solidFill>
              <a:srgbClr val="0075BC"/>
            </a:solidFill>
            <a:prstDash val="solid"/>
          </a:ln>
        </p:spPr>
      </p:sp>
      <p:pic>
        <p:nvPicPr>
          <p:cNvPr id="11" name="Image 1" descr="/home/claude/guide/icons/mai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532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07008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Nikil Pujari  /  Swapan Masanta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207008" y="5806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envelope icon in the app header to email the team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3" name="Image 0" descr="/home/claude/guide/icons/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Vulnerability Module?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5875">
            <a:solidFill>
              <a:srgbClr val="DD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50876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Shiny dashboard that takes you through the whole workflow for Vulnerability Sensitivity and Secondary Modifier (Secmod) testing on Moody's RMS and Verisk catastrophe models — from building vendor input files, through extracting loss results from a database, to analysing sensitivity and packaging findings into a shareable report.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48716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use every stage for every task — jump straight into Vulnerability Sensitivity with your own extracted file, or run Secondary Modifier on its own with sample or uploaded AAL data.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70332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F2F7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30452" y="3904488"/>
            <a:ext cx="585216" cy="585216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12" name="Image 1" descr="/home/claude/guide/icons/uplo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608" y="4056644"/>
            <a:ext cx="280904" cy="280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" y="46177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788920" y="41833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FA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3291840" y="370332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F2F7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165092" y="3904488"/>
            <a:ext cx="585216" cy="585216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17" name="Image 2" descr="/home/claude/guide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248" y="4056644"/>
            <a:ext cx="280904" cy="280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383280" y="46177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623560" y="41833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FA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5"/>
          <p:cNvSpPr/>
          <p:nvPr/>
        </p:nvSpPr>
        <p:spPr>
          <a:xfrm>
            <a:off x="6126480" y="370332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0075BC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999732" y="390448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home/claude/guide/icons/chart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1888" y="4056644"/>
            <a:ext cx="280904" cy="2809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17920" y="46177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Sensitivity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Modifier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458200" y="41833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FA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5" name="Shape 19"/>
          <p:cNvSpPr/>
          <p:nvPr/>
        </p:nvSpPr>
        <p:spPr>
          <a:xfrm>
            <a:off x="8961120" y="370332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F2F7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834372" y="3904488"/>
            <a:ext cx="585216" cy="585216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27" name="Image 4" descr="/home/claude/guide/icons/c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6528" y="4056644"/>
            <a:ext cx="280904" cy="28090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052560" y="46177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build in any module — plots and written commentary — can be sent to a shared Cart and exported together as one PowerPoint, Word, or HTML report.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Module — User Guide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3" name="Image 0" descr="/home/claude/guide/icons/gri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Around the App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5875">
            <a:solidFill>
              <a:srgbClr val="DDE6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536192"/>
            <a:ext cx="5486400" cy="941832"/>
          </a:xfrm>
          <a:prstGeom prst="roundRect">
            <a:avLst>
              <a:gd name="adj" fmla="val 5825"/>
            </a:avLst>
          </a:prstGeom>
          <a:solidFill>
            <a:srgbClr val="F2F7FB"/>
          </a:solidFill>
          <a:ln/>
        </p:spPr>
      </p:sp>
      <p:sp>
        <p:nvSpPr>
          <p:cNvPr id="8" name="Shape 5"/>
          <p:cNvSpPr/>
          <p:nvPr/>
        </p:nvSpPr>
        <p:spPr>
          <a:xfrm>
            <a:off x="621792" y="1751076"/>
            <a:ext cx="512064" cy="512064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9" name="Image 1" descr="/home/claude/guide/icons/gri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9" y="1884213"/>
            <a:ext cx="245791" cy="245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62763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(top bar)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80160" y="190195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name on the left. On the right: a cart icon with live count badge, a contact link, and the Gallagher Re logo. The cart icon jumps to the Cart page from anywhere.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2642616"/>
            <a:ext cx="5486400" cy="941832"/>
          </a:xfrm>
          <a:prstGeom prst="roundRect">
            <a:avLst>
              <a:gd name="adj" fmla="val 5825"/>
            </a:avLst>
          </a:prstGeom>
          <a:solidFill>
            <a:srgbClr val="F2F7FB"/>
          </a:solidFill>
          <a:ln/>
        </p:spPr>
      </p:sp>
      <p:sp>
        <p:nvSpPr>
          <p:cNvPr id="13" name="Shape 9"/>
          <p:cNvSpPr/>
          <p:nvPr/>
        </p:nvSpPr>
        <p:spPr>
          <a:xfrm>
            <a:off x="621792" y="2857500"/>
            <a:ext cx="512064" cy="512064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14" name="Image 2" descr="/home/claude/guide/icons/menu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29" y="2990637"/>
            <a:ext cx="245791" cy="2457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2734056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(hamburger icon)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80160" y="300837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navigation, listing every page in pipeline order: Home, Input File Creation, Result Extraction, Vulnerability Sensitivity, Secondary Modifier, Cart, and User Guide.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57200" y="3749040"/>
            <a:ext cx="5486400" cy="941832"/>
          </a:xfrm>
          <a:prstGeom prst="roundRect">
            <a:avLst>
              <a:gd name="adj" fmla="val 5825"/>
            </a:avLst>
          </a:prstGeom>
          <a:solidFill>
            <a:srgbClr val="F2F7FB"/>
          </a:solidFill>
          <a:ln/>
        </p:spPr>
      </p:sp>
      <p:sp>
        <p:nvSpPr>
          <p:cNvPr id="18" name="Shape 13"/>
          <p:cNvSpPr/>
          <p:nvPr/>
        </p:nvSpPr>
        <p:spPr>
          <a:xfrm>
            <a:off x="621792" y="3963924"/>
            <a:ext cx="512064" cy="512064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19" name="Image 3" descr="/home/claude/guid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29" y="4097061"/>
            <a:ext cx="245791" cy="24579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384048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/ status badges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280160" y="4114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section cards on the left of each module flip from Pending to Done as you complete a step; a progress stepper on the right mirrors this.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217920" y="1536192"/>
            <a:ext cx="5486400" cy="941832"/>
          </a:xfrm>
          <a:prstGeom prst="roundRect">
            <a:avLst>
              <a:gd name="adj" fmla="val 5825"/>
            </a:avLst>
          </a:prstGeom>
          <a:solidFill>
            <a:srgbClr val="F2F7FB"/>
          </a:solidFill>
          <a:ln/>
        </p:spPr>
      </p:sp>
      <p:sp>
        <p:nvSpPr>
          <p:cNvPr id="23" name="Shape 17"/>
          <p:cNvSpPr/>
          <p:nvPr/>
        </p:nvSpPr>
        <p:spPr>
          <a:xfrm>
            <a:off x="6382512" y="1751076"/>
            <a:ext cx="512064" cy="512064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24" name="Image 4" descr="/home/claude/guide/icons/lay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649" y="1884213"/>
            <a:ext cx="245791" cy="24579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040880" y="162763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Right-hand panel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7040880" y="190195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module’s right side holds an "About this section" info box, a progress stepper, and tabs with previews, tables, or plot galleries.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6217920" y="2642616"/>
            <a:ext cx="5486400" cy="941832"/>
          </a:xfrm>
          <a:prstGeom prst="roundRect">
            <a:avLst>
              <a:gd name="adj" fmla="val 5825"/>
            </a:avLst>
          </a:prstGeom>
          <a:solidFill>
            <a:srgbClr val="F2F7FB"/>
          </a:solidFill>
          <a:ln/>
        </p:spPr>
      </p:sp>
      <p:sp>
        <p:nvSpPr>
          <p:cNvPr id="28" name="Shape 21"/>
          <p:cNvSpPr/>
          <p:nvPr/>
        </p:nvSpPr>
        <p:spPr>
          <a:xfrm>
            <a:off x="6382512" y="2857500"/>
            <a:ext cx="512064" cy="512064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29" name="Image 5" descr="/home/claude/guide/icons/zap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649" y="2990637"/>
            <a:ext cx="245791" cy="245791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040880" y="2734056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Lightbulb hints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7040880" y="300837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hint boxes next to tricky fields explain what’s expected in plain language — read these first if a step is unclear.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Module — User Guide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3" name="Image 0" descr="/home/claude/guide/icons/hom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Page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5875">
            <a:solidFill>
              <a:srgbClr val="DD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4813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landing screen — a hero section with "Start a New Workflow" (jumps to Input File Creation) and "View Cart" (shows current item count), plus quick stats and five clickable module cards.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212848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003B5C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3225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FA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57200" y="2834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9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2212848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003B5C"/>
          </a:solidFill>
          <a:ln/>
        </p:spPr>
      </p:sp>
      <p:sp>
        <p:nvSpPr>
          <p:cNvPr id="12" name="Text 9"/>
          <p:cNvSpPr/>
          <p:nvPr/>
        </p:nvSpPr>
        <p:spPr>
          <a:xfrm>
            <a:off x="3291840" y="23225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FA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291840" y="2834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9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2212848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003B5C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23225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FA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126480" y="2834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9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961120" y="2212848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003B5C"/>
          </a:solidFill>
          <a:ln/>
        </p:spPr>
      </p:sp>
      <p:sp>
        <p:nvSpPr>
          <p:cNvPr id="18" name="Text 15"/>
          <p:cNvSpPr/>
          <p:nvPr/>
        </p:nvSpPr>
        <p:spPr>
          <a:xfrm>
            <a:off x="8961120" y="23225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FA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961120" y="2834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Item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9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MODULE CARDS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886200"/>
            <a:ext cx="2139696" cy="2331720"/>
          </a:xfrm>
          <a:prstGeom prst="roundRect">
            <a:avLst>
              <a:gd name="adj" fmla="val 2991"/>
            </a:avLst>
          </a:prstGeom>
          <a:solidFill>
            <a:srgbClr val="F2F7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261872" y="4087368"/>
            <a:ext cx="530352" cy="530352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23" name="Image 1" descr="/home/claude/guide/icons/uplo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764" y="4225260"/>
            <a:ext cx="254569" cy="254569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66928" y="4754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File Creation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85216" y="521208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standardized Location &amp; Account files for RMS or Verisk.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2770632" y="3886200"/>
            <a:ext cx="2139696" cy="2331720"/>
          </a:xfrm>
          <a:prstGeom prst="roundRect">
            <a:avLst>
              <a:gd name="adj" fmla="val 2991"/>
            </a:avLst>
          </a:prstGeom>
          <a:solidFill>
            <a:srgbClr val="F2F7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575304" y="4087368"/>
            <a:ext cx="530352" cy="530352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28" name="Image 2" descr="/home/claude/guide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3196" y="4225260"/>
            <a:ext cx="254569" cy="254569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2880360" y="4754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Extraction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2898648" y="521208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exposure/result databases and pull Location, State, County or Region outputs.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5084064" y="3886200"/>
            <a:ext cx="2139696" cy="2331720"/>
          </a:xfrm>
          <a:prstGeom prst="roundRect">
            <a:avLst>
              <a:gd name="adj" fmla="val 2991"/>
            </a:avLst>
          </a:prstGeom>
          <a:solidFill>
            <a:srgbClr val="F2F7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888736" y="4087368"/>
            <a:ext cx="530352" cy="530352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33" name="Image 3" descr="/home/claude/guide/icons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628" y="4225260"/>
            <a:ext cx="254569" cy="254569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193792" y="4754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Sensitivity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5212080" y="521208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RMS and Verisk curves with a configurable heatmap legend gallery.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7397496" y="3886200"/>
            <a:ext cx="2139696" cy="2331720"/>
          </a:xfrm>
          <a:prstGeom prst="roundRect">
            <a:avLst>
              <a:gd name="adj" fmla="val 2991"/>
            </a:avLst>
          </a:prstGeom>
          <a:solidFill>
            <a:srgbClr val="F2F7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8202168" y="4087368"/>
            <a:ext cx="530352" cy="530352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38" name="Image 4" descr="/home/claude/guide/icons/slid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0060" y="4225260"/>
            <a:ext cx="254569" cy="254569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507224" y="4754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Modifier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7525512" y="521208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sensitivity workflow and style every chart.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9710928" y="3886200"/>
            <a:ext cx="2139696" cy="2331720"/>
          </a:xfrm>
          <a:prstGeom prst="roundRect">
            <a:avLst>
              <a:gd name="adj" fmla="val 2991"/>
            </a:avLst>
          </a:prstGeom>
          <a:solidFill>
            <a:srgbClr val="F2F7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10515600" y="4087368"/>
            <a:ext cx="530352" cy="530352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43" name="Image 5" descr="/home/claude/guide/icons/car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3492" y="4225260"/>
            <a:ext cx="254569" cy="254569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820656" y="4754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Reports</a:t>
            </a:r>
            <a:endParaRPr lang="en-US" sz="1150" dirty="0"/>
          </a:p>
        </p:txBody>
      </p:sp>
      <p:sp>
        <p:nvSpPr>
          <p:cNvPr id="45" name="Text 37"/>
          <p:cNvSpPr/>
          <p:nvPr/>
        </p:nvSpPr>
        <p:spPr>
          <a:xfrm>
            <a:off x="9838944" y="521208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saved plots/commentary and export a PowerPoint, Word, or HTML report.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Module — User Guide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3" name="Image 0" descr="/home/claude/guide/icons/uplo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File Creation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5875">
            <a:solidFill>
              <a:srgbClr val="DDE6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46304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2F7FB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463040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standardized vendor Location and Account/Combination files that RMS and Verisk expect, for either Vulnerability Sensitivity or Secondary Modifier, from your own uploads or bundled sample data.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21284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PANEL — STEP BY STEP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542032"/>
            <a:ext cx="365760" cy="365760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11" name="Image 1" descr="/home/claude/guid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98" y="2637130"/>
            <a:ext cx="175565" cy="1755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5146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Model Selection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960120" y="278892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vendor model family (Moody’s or Verisk), model version, and module (Vulnerability Sensitivity or Secondary Modifiers).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429000"/>
            <a:ext cx="365760" cy="365760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15" name="Image 2" descr="/home/claude/guid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8" y="3524098"/>
            <a:ext cx="175565" cy="1755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340156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Exposure Settings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960120" y="367588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code, Peril and Subperil, output-name Suffix, plus Building, Contents, and BI values.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4315968"/>
            <a:ext cx="365760" cy="365760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19" name="Image 3" descr="/home/claude/guid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98" y="4411066"/>
            <a:ext cx="175565" cy="17556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4288536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Upload / Sample Files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960120" y="456285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Locations &amp; Combinations CSVs, or use included samples; download raw samples to check column layout. Click "Create Input Files".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2212848"/>
            <a:ext cx="4206240" cy="3977640"/>
          </a:xfrm>
          <a:prstGeom prst="roundRect">
            <a:avLst>
              <a:gd name="adj" fmla="val 1379"/>
            </a:avLst>
          </a:prstGeom>
          <a:solidFill>
            <a:srgbClr val="003B5C"/>
          </a:solidFill>
          <a:ln/>
        </p:spPr>
      </p:sp>
      <p:sp>
        <p:nvSpPr>
          <p:cNvPr id="23" name="Text 17"/>
          <p:cNvSpPr/>
          <p:nvPr/>
        </p:nvSpPr>
        <p:spPr>
          <a:xfrm>
            <a:off x="7726680" y="2395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FA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WORKFLOW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726680" y="2743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Pick platform and module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7726680" y="3200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Set exposure parameters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726680" y="3657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Upload files or use samples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726680" y="4114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Review the input preview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726680" y="4572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Click "Create Input Files"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726680" y="5029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Review generated output preview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7726680" y="5486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Download Location &amp; Account files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Module — User Guide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3" name="Image 0" descr="/home/claude/guide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Extraction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5875">
            <a:solidFill>
              <a:srgbClr val="DDE6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46304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2F7FB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463040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your RMS or Verisk SQL database (via ODBC), pulls ExposureSet/ResultSet AAL data for one or two model versions, and writes the comparison result files used downstream.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21284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PANEL — STEP BY STEP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542032"/>
            <a:ext cx="365760" cy="365760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11" name="Image 1" descr="/home/claude/guid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98" y="2637130"/>
            <a:ext cx="175565" cy="1755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5146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Model Selection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960120" y="278892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family, module, and number of versions to compare (2 unlocks a second connection panel).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15" name="Image 2" descr="/home/claude/guid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8" y="3478378"/>
            <a:ext cx="175565" cy="1755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335584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Exposure Settings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960120" y="363016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code, Peril, Subperil, Suffix — tag and organise the resulting output files.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4224528"/>
            <a:ext cx="365760" cy="365760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19" name="Image 3" descr="/home/claude/guid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98" y="4319626"/>
            <a:ext cx="175565" cy="17556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4197096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Upload / Sample Files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960120" y="447141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file (required); optional Region file for "byRegion" outputs; or use included samples.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57200" y="5065776"/>
            <a:ext cx="365760" cy="365760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23" name="Image 4" descr="/home/claude/guid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98" y="5160874"/>
            <a:ext cx="175565" cy="17556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0120" y="5038344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Version Database Settings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960120" y="5312664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each version, load ExposureSet (EDM/TSE) and ResultSet (RDM/TSR), enter PORTINFOID/ANLSID identifiers.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57200" y="5952744"/>
            <a:ext cx="365760" cy="365760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27" name="Image 5" descr="/home/claude/guide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298" y="6047842"/>
            <a:ext cx="175565" cy="17556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60120" y="5925312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Extract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960120" y="619963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"Create Result Files"; download individually or as a consolidated ZIP.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7498080" y="2212848"/>
            <a:ext cx="4206240" cy="4489704"/>
          </a:xfrm>
          <a:prstGeom prst="roundRect">
            <a:avLst>
              <a:gd name="adj" fmla="val 1304"/>
            </a:avLst>
          </a:prstGeom>
          <a:solidFill>
            <a:srgbClr val="003B5C"/>
          </a:solidFill>
          <a:ln/>
        </p:spPr>
      </p:sp>
      <p:sp>
        <p:nvSpPr>
          <p:cNvPr id="31" name="Text 23"/>
          <p:cNvSpPr/>
          <p:nvPr/>
        </p:nvSpPr>
        <p:spPr>
          <a:xfrm>
            <a:off x="7726680" y="2395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FA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PANEL TABS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7726680" y="2743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ExposureSet / ResultSet metadata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7726680" y="3200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Input Preview (Combination, Region)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7726680" y="3657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Output Preview: Location, State,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County, Region-level outputs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Module — User Guide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3" name="Image 0" descr="/home/claude/guide/icons/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Sensitivity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5875">
            <a:solidFill>
              <a:srgbClr val="DDE6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46304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2F7FB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463040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Moody's/Verisk vulnerability outputs as responsive heatmaps with hover values, a fully configurable legend, a processed-data preview, and downloadable outputs.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21284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PANEL — STEP BY STEP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542032"/>
            <a:ext cx="365760" cy="365760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11" name="Image 1" descr="/home/claude/guid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98" y="2637130"/>
            <a:ext cx="175565" cy="1755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5146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Model Configuration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960120" y="27889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family, number of versions, country code, suffix, peril and subperil.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291840"/>
            <a:ext cx="365760" cy="365760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15" name="Image 2" descr="/home/claude/guid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8" y="3386938"/>
            <a:ext cx="175565" cy="1755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326440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Input Data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960120" y="353872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or load included sample; optional Regional Mapping CSV unlocks Regionwise and Percentage Change galleries.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4178808"/>
            <a:ext cx="365760" cy="365760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19" name="Image 3" descr="/home/claude/guid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98" y="4273906"/>
            <a:ext cx="175565" cy="17556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4151376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Plot Options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960120" y="442569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"Create Plot" to build heatmap galleries; legend-bin edits then update plots live.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57200" y="5020056"/>
            <a:ext cx="365760" cy="365760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23" name="Image 4" descr="/home/claude/guid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98" y="5115154"/>
            <a:ext cx="175565" cy="17556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0120" y="4992624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Downloads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960120" y="5266944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Customized HTML, All Plots, Processed Data, or Everything (legend JSON + HTML).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7498080" y="2212848"/>
            <a:ext cx="4206240" cy="3977640"/>
          </a:xfrm>
          <a:prstGeom prst="roundRect">
            <a:avLst>
              <a:gd name="adj" fmla="val 1379"/>
            </a:avLst>
          </a:prstGeom>
          <a:solidFill>
            <a:srgbClr val="003B5C"/>
          </a:solidFill>
          <a:ln/>
        </p:spPr>
      </p:sp>
      <p:sp>
        <p:nvSpPr>
          <p:cNvPr id="27" name="Text 20"/>
          <p:cNvSpPr/>
          <p:nvPr/>
        </p:nvSpPr>
        <p:spPr>
          <a:xfrm>
            <a:off x="7726680" y="2395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FA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CONFIGURATION MANAGER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726680" y="2743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Hand-edit legend bins &amp; colours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7726680" y="3200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Auto-generate quantile bins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7726680" y="3657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Import/export legend as JSON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7726680" y="4114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Relative AAL &amp; % Change each have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independent legend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7726680" y="4572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Regionwise / Statewise / % Change tabs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Module — User Guide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3" name="Image 0" descr="/home/claude/guide/icons/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Modifier — Workflow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5875">
            <a:solidFill>
              <a:srgbClr val="DDE6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46304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2F7FB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463040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analytical core of the app: ingests extracted AAL data and computes relative loss-cost sensitivity by modifier, state, and line of business (SFD/COM), then renders a fully-customisable chart gallery.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14884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E9F5EF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" y="224028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A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  </a:t>
            </a:r>
            <a:pPr indent="0" marL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reduces AAL vs. the unknown/baseline case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200" y="2148840"/>
            <a:ext cx="5532120" cy="777240"/>
          </a:xfrm>
          <a:prstGeom prst="roundRect">
            <a:avLst>
              <a:gd name="adj" fmla="val 7059"/>
            </a:avLst>
          </a:prstGeom>
          <a:solidFill>
            <a:srgbClr val="FBEAEA"/>
          </a:solidFill>
          <a:ln/>
        </p:spPr>
      </p:sp>
      <p:sp>
        <p:nvSpPr>
          <p:cNvPr id="12" name="Text 9"/>
          <p:cNvSpPr/>
          <p:nvPr/>
        </p:nvSpPr>
        <p:spPr>
          <a:xfrm>
            <a:off x="6336792" y="22402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  </a:t>
            </a:r>
            <a:pPr indent="0" marL="0">
              <a:buNone/>
            </a:pPr>
            <a:r>
              <a:rPr lang="en-US" sz="10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increases AAL vs. the unknown/baseline case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108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SIX-STAGE WORKFLOW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456432"/>
            <a:ext cx="3657600" cy="1325880"/>
          </a:xfrm>
          <a:prstGeom prst="roundRect">
            <a:avLst>
              <a:gd name="adj" fmla="val 4138"/>
            </a:avLst>
          </a:prstGeom>
          <a:solidFill>
            <a:srgbClr val="F2F7FB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" y="3547872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Model &amp; Exposure Settings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03504" y="3931920"/>
            <a:ext cx="3364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family, Country, Peril, Subperil, Suffix.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261104" y="3456432"/>
            <a:ext cx="3657600" cy="1325880"/>
          </a:xfrm>
          <a:prstGeom prst="roundRect">
            <a:avLst>
              <a:gd name="adj" fmla="val 4138"/>
            </a:avLst>
          </a:prstGeom>
          <a:solidFill>
            <a:srgbClr val="F2F7FB"/>
          </a:solidFill>
          <a:ln/>
        </p:spPr>
      </p:sp>
      <p:sp>
        <p:nvSpPr>
          <p:cNvPr id="18" name="Text 15"/>
          <p:cNvSpPr/>
          <p:nvPr/>
        </p:nvSpPr>
        <p:spPr>
          <a:xfrm>
            <a:off x="4407408" y="3547872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Inputs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407408" y="3931920"/>
            <a:ext cx="3364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State AAL, Country AAL, SecMod mapping (.rds/.csv); samples or "Load Demo Data". Click "Analyse Input".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065008" y="3456432"/>
            <a:ext cx="3657600" cy="1325880"/>
          </a:xfrm>
          <a:prstGeom prst="roundRect">
            <a:avLst>
              <a:gd name="adj" fmla="val 4138"/>
            </a:avLst>
          </a:prstGeom>
          <a:solidFill>
            <a:srgbClr val="F2F7FB"/>
          </a:solidFill>
          <a:ln/>
        </p:spPr>
      </p:sp>
      <p:sp>
        <p:nvSpPr>
          <p:cNvPr id="21" name="Text 18"/>
          <p:cNvSpPr/>
          <p:nvPr/>
        </p:nvSpPr>
        <p:spPr>
          <a:xfrm>
            <a:off x="8211312" y="3547872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Credit / Penalty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211312" y="3931920"/>
            <a:ext cx="3364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country-wide chart of modifiers moving loss cost &gt;10%.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" y="4946904"/>
            <a:ext cx="3657600" cy="1325880"/>
          </a:xfrm>
          <a:prstGeom prst="roundRect">
            <a:avLst>
              <a:gd name="adj" fmla="val 4138"/>
            </a:avLst>
          </a:prstGeom>
          <a:solidFill>
            <a:srgbClr val="F2F7FB"/>
          </a:solidFill>
          <a:ln/>
        </p:spPr>
      </p:sp>
      <p:sp>
        <p:nvSpPr>
          <p:cNvPr id="24" name="Text 21"/>
          <p:cNvSpPr/>
          <p:nvPr/>
        </p:nvSpPr>
        <p:spPr>
          <a:xfrm>
            <a:off x="603504" y="5038344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State Sensitivity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03504" y="5422392"/>
            <a:ext cx="3364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one chart per state, SFD vs. COM (can take a little while).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261104" y="4946904"/>
            <a:ext cx="3657600" cy="1325880"/>
          </a:xfrm>
          <a:prstGeom prst="roundRect">
            <a:avLst>
              <a:gd name="adj" fmla="val 4138"/>
            </a:avLst>
          </a:prstGeom>
          <a:solidFill>
            <a:srgbClr val="F2F7FB"/>
          </a:solidFill>
          <a:ln/>
        </p:spPr>
      </p:sp>
      <p:sp>
        <p:nvSpPr>
          <p:cNvPr id="27" name="Text 24"/>
          <p:cNvSpPr/>
          <p:nvPr/>
        </p:nvSpPr>
        <p:spPr>
          <a:xfrm>
            <a:off x="4407408" y="5038344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Individual Modifier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407408" y="5422392"/>
            <a:ext cx="3364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chart per modifier category (roof, wall type…) across all states.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065008" y="4946904"/>
            <a:ext cx="3657600" cy="1325880"/>
          </a:xfrm>
          <a:prstGeom prst="roundRect">
            <a:avLst>
              <a:gd name="adj" fmla="val 4138"/>
            </a:avLst>
          </a:prstGeom>
          <a:solidFill>
            <a:srgbClr val="F2F7FB"/>
          </a:solidFill>
          <a:ln/>
        </p:spPr>
      </p:sp>
      <p:sp>
        <p:nvSpPr>
          <p:cNvPr id="30" name="Text 27"/>
          <p:cNvSpPr/>
          <p:nvPr/>
        </p:nvSpPr>
        <p:spPr>
          <a:xfrm>
            <a:off x="8211312" y="5038344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Report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211312" y="5422392"/>
            <a:ext cx="3364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3–5 look good, "Generate Report" then "Download Report" for a customized HTML report.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Module — User Guide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3" name="Image 0" descr="/home/claude/guide/icons/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Modifier — Customisation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5875">
            <a:solidFill>
              <a:srgbClr val="DD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463040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PER-PLOT CUSTOMISATION (every chart in Stages 3–5)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810512"/>
            <a:ext cx="329184" cy="329184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9" name="Image 1" descr="/home/claude/guid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88" y="1896100"/>
            <a:ext cx="158008" cy="1580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17922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Layout  —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Width, height, DPI, transparent background, title size, facet/state-label size.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2377440"/>
            <a:ext cx="329184" cy="329184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12" name="Image 2" descr="/home/claude/guid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88" y="2463028"/>
            <a:ext cx="158008" cy="1580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23591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Properties  —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text/title size, x-axis label angle and spacing.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57200" y="2944368"/>
            <a:ext cx="329184" cy="329184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15" name="Image 3" descr="/home/claude/guid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88" y="3029956"/>
            <a:ext cx="158008" cy="1580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&amp; Panel  —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Show/hide legend, legend text &amp; key size, panel spacing between facets.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457200" y="3511296"/>
            <a:ext cx="329184" cy="329184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18" name="Image 4" descr="/home/claude/guid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788" y="3596884"/>
            <a:ext cx="158008" cy="1580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14400" y="34930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Properties  —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SFD/COM colours, or Penalty/Credit colours, depending on chart type.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457200" y="4151376"/>
            <a:ext cx="6858000" cy="713232"/>
          </a:xfrm>
          <a:prstGeom prst="roundRect">
            <a:avLst>
              <a:gd name="adj" fmla="val 7692"/>
            </a:avLst>
          </a:prstGeom>
          <a:solidFill>
            <a:srgbClr val="F2F7FB"/>
          </a:solidFill>
          <a:ln/>
        </p:spPr>
      </p:sp>
      <p:sp>
        <p:nvSpPr>
          <p:cNvPr id="21" name="Text 14"/>
          <p:cNvSpPr/>
          <p:nvPr/>
        </p:nvSpPr>
        <p:spPr>
          <a:xfrm>
            <a:off x="621792" y="4206240"/>
            <a:ext cx="6537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gallery has a "Gallery Defaults" bar: set styling once, "Apply to all N plots", or "Add all N plots to Cart" in one click. Every plot card also has its own download and cart icon.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7571232" y="1463040"/>
            <a:ext cx="4160520" cy="3401568"/>
          </a:xfrm>
          <a:prstGeom prst="roundRect">
            <a:avLst>
              <a:gd name="adj" fmla="val 1613"/>
            </a:avLst>
          </a:prstGeom>
          <a:solidFill>
            <a:srgbClr val="003B5C"/>
          </a:solidFill>
          <a:ln/>
        </p:spPr>
      </p:sp>
      <p:sp>
        <p:nvSpPr>
          <p:cNvPr id="23" name="Text 16"/>
          <p:cNvSpPr/>
          <p:nvPr/>
        </p:nvSpPr>
        <p:spPr>
          <a:xfrm>
            <a:off x="7772400" y="1627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FA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WORKFLOW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772400" y="19933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Set model/exposure settings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7772400" y="250545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Upload (or demo) State AAL, Country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AAL, SecMod mapping; Analyse Input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7772400" y="3017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Generate the Credit/Penalty plot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7772400" y="352958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Generate State Sensitivity plots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7772400" y="40416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Generate Individual Modifier plots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7772400" y="45537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Style &amp; add the best plots to Cart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7772400" y="50657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Generate/download the Secmod report,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build a combined report in Cart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Module — User Guide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3" name="Image 0" descr="/home/claude/guide/icons/c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&amp; Reports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5875">
            <a:solidFill>
              <a:srgbClr val="DD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collection point for anything saved from any module, so you can review it all together and export one combined report.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20116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YOU’LL SEE   →   EXPORTING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Items summary with a running count; each item shows a plot thumbnail, its commentary, and a remove button. "Remove All" clears the cart (with confirmation). Choose a format, click "Generate Report" — the file downloads automatically once ready.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3200400"/>
            <a:ext cx="3630168" cy="2331720"/>
          </a:xfrm>
          <a:prstGeom prst="roundRect">
            <a:avLst>
              <a:gd name="adj" fmla="val 2745"/>
            </a:avLst>
          </a:prstGeom>
          <a:solidFill>
            <a:srgbClr val="0075BC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guide/icons/filetex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50215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" y="397764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(.pptx)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4389120"/>
            <a:ext cx="32644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3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widescreen (16:9) deck — title slide, chunked contents slides, then one plot slide and one commentary slide per cart item, with a progress indicator and item counter.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261104" y="3200400"/>
            <a:ext cx="3630168" cy="2331720"/>
          </a:xfrm>
          <a:prstGeom prst="roundRect">
            <a:avLst>
              <a:gd name="adj" fmla="val 2745"/>
            </a:avLst>
          </a:prstGeom>
          <a:solidFill>
            <a:srgbClr val="F2F7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443984" y="3383280"/>
            <a:ext cx="457200" cy="457200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17" name="Image 2" descr="/home/claude/guide/icons/filetex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56" y="350215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43984" y="397764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(.docx)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443984" y="4389120"/>
            <a:ext cx="32644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title page, an auto-updating table of contents, and one numbered section per cart item with a captioned figure and an indented commentary block.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065008" y="3200400"/>
            <a:ext cx="3630168" cy="2331720"/>
          </a:xfrm>
          <a:prstGeom prst="roundRect">
            <a:avLst>
              <a:gd name="adj" fmla="val 2745"/>
            </a:avLst>
          </a:prstGeom>
          <a:solidFill>
            <a:srgbClr val="F2F7FB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47888" y="3383280"/>
            <a:ext cx="457200" cy="457200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22" name="Image 3" descr="/home/claude/guide/icons/filetex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50215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47888" y="397764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(.html)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247888" y="4389120"/>
            <a:ext cx="32644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self-contained page with a masthead, a static left-hand table of contents, and each item’s plot and commentary in the same order as the other formats.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457200" y="568756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cart persists for your session (and, depending on configuration, may be saved to disk between sessions) — keep adding to it as you move between modules before generating your final report.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Module — User Guide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3" name="Image 0" descr="/home/claude/guide/icons/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&amp; General Tips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5875">
            <a:solidFill>
              <a:srgbClr val="DD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463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810512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F2F7FB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856232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AAL</a:t>
            </a:r>
            <a:pPr indent="0" marL="0">
              <a:lnSpc>
                <a:spcPct val="100000"/>
              </a:lnSpc>
              <a:buNone/>
            </a:pP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Annual Loss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F2F7FB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2514600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 / COM</a:t>
            </a:r>
            <a:pPr indent="0" marL="0">
              <a:lnSpc>
                <a:spcPct val="100000"/>
              </a:lnSpc>
              <a:buNone/>
            </a:pP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Single-Family Dwelling / Commercial occupancy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3127248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F2F7FB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" y="3172968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/ RDM</a:t>
            </a:r>
            <a:pPr indent="0" marL="0">
              <a:lnSpc>
                <a:spcPct val="100000"/>
              </a:lnSpc>
              <a:buNone/>
            </a:pP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/ Result Data Module (RMS database types)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785616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F2F7FB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3831336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 / TSR</a:t>
            </a:r>
            <a:pPr indent="0" marL="0">
              <a:lnSpc>
                <a:spcPct val="100000"/>
              </a:lnSpc>
              <a:buNone/>
            </a:pP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Verisk's equivalent exposure/result store naming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4443984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F2F7FB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" y="4489704"/>
            <a:ext cx="5074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/ Penalty</a:t>
            </a:r>
            <a:pPr indent="0" marL="0">
              <a:lnSpc>
                <a:spcPct val="100000"/>
              </a:lnSpc>
              <a:buNone/>
            </a:pP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modifier’s effect on AAL vs. the unknown case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263640" y="1463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TIPS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63640" y="1810512"/>
            <a:ext cx="292608" cy="292608"/>
          </a:xfrm>
          <a:prstGeom prst="ellipse">
            <a:avLst/>
          </a:prstGeom>
          <a:solidFill>
            <a:srgbClr val="4AA57F"/>
          </a:solidFill>
          <a:ln/>
        </p:spPr>
      </p:sp>
      <p:pic>
        <p:nvPicPr>
          <p:cNvPr id="20" name="Image 1" descr="/home/claude/guid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718" y="1886590"/>
            <a:ext cx="140452" cy="14045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656832" y="178308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numbered stage cards top to bottom — later stages usually depend on earlier ones being marked "Done".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6263640" y="2468880"/>
            <a:ext cx="292608" cy="292608"/>
          </a:xfrm>
          <a:prstGeom prst="ellipse">
            <a:avLst/>
          </a:prstGeom>
          <a:solidFill>
            <a:srgbClr val="4AA57F"/>
          </a:solidFill>
          <a:ln/>
        </p:spPr>
      </p:sp>
      <p:pic>
        <p:nvPicPr>
          <p:cNvPr id="23" name="Image 2" descr="/home/claude/guid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718" y="2544958"/>
            <a:ext cx="140452" cy="14045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56832" y="2441448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sample-data buttons first if you’re new to a module, to see the expected file format.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6263640" y="3127248"/>
            <a:ext cx="292608" cy="292608"/>
          </a:xfrm>
          <a:prstGeom prst="ellipse">
            <a:avLst/>
          </a:prstGeom>
          <a:solidFill>
            <a:srgbClr val="4AA57F"/>
          </a:solidFill>
          <a:ln/>
        </p:spPr>
      </p:sp>
      <p:pic>
        <p:nvPicPr>
          <p:cNvPr id="26" name="Image 3" descr="/home/claude/guid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718" y="3203326"/>
            <a:ext cx="140452" cy="14045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656832" y="3099816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lightbulb hint boxes next to form fields — they explain exactly what’s expected.</a:t>
            </a:r>
            <a:endParaRPr lang="en-US" sz="980" dirty="0"/>
          </a:p>
        </p:txBody>
      </p:sp>
      <p:sp>
        <p:nvSpPr>
          <p:cNvPr id="28" name="Shape 22"/>
          <p:cNvSpPr/>
          <p:nvPr/>
        </p:nvSpPr>
        <p:spPr>
          <a:xfrm>
            <a:off x="6263640" y="3785616"/>
            <a:ext cx="292608" cy="292608"/>
          </a:xfrm>
          <a:prstGeom prst="ellipse">
            <a:avLst/>
          </a:prstGeom>
          <a:solidFill>
            <a:srgbClr val="4AA57F"/>
          </a:solidFill>
          <a:ln/>
        </p:spPr>
      </p:sp>
      <p:pic>
        <p:nvPicPr>
          <p:cNvPr id="29" name="Image 4" descr="/home/claude/guid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718" y="3861694"/>
            <a:ext cx="140452" cy="14045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656832" y="375818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individual plots to the Cart as you go, rather than waiting until the end of a module.</a:t>
            </a:r>
            <a:endParaRPr lang="en-US" sz="980" dirty="0"/>
          </a:p>
        </p:txBody>
      </p:sp>
      <p:sp>
        <p:nvSpPr>
          <p:cNvPr id="31" name="Shape 24"/>
          <p:cNvSpPr/>
          <p:nvPr/>
        </p:nvSpPr>
        <p:spPr>
          <a:xfrm>
            <a:off x="6263640" y="4443984"/>
            <a:ext cx="292608" cy="292608"/>
          </a:xfrm>
          <a:prstGeom prst="ellipse">
            <a:avLst/>
          </a:prstGeom>
          <a:solidFill>
            <a:srgbClr val="4AA57F"/>
          </a:solidFill>
          <a:ln/>
        </p:spPr>
      </p:sp>
      <p:pic>
        <p:nvPicPr>
          <p:cNvPr id="32" name="Image 5" descr="/home/claude/guide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9718" y="4520062"/>
            <a:ext cx="140452" cy="14045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56832" y="4416552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Gallery-wide styling only takes effect after clicking "Apply to all N plots" in Gallery Defaults.</a:t>
            </a:r>
            <a:endParaRPr lang="en-US" sz="98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Module — User Guide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3" name="Image 0" descr="/home/claude/guide/icons/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70432" y="60350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11274552" cy="0"/>
          </a:xfrm>
          <a:prstGeom prst="line">
            <a:avLst/>
          </a:prstGeom>
          <a:noFill/>
          <a:ln w="15875">
            <a:solidFill>
              <a:srgbClr val="DDE6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536192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2F7FB"/>
          </a:solidFill>
          <a:ln/>
        </p:spPr>
      </p:sp>
      <p:sp>
        <p:nvSpPr>
          <p:cNvPr id="8" name="Shape 5"/>
          <p:cNvSpPr/>
          <p:nvPr/>
        </p:nvSpPr>
        <p:spPr>
          <a:xfrm>
            <a:off x="621792" y="1682496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9" name="Image 1" descr="/home/claude/guide/icons/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" y="1825142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1609344"/>
            <a:ext cx="10149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Plot" / "Analyse Input" seems to do nothing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316736" y="1920240"/>
            <a:ext cx="10149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 badges on earlier stage cards — a Pending badge usually means a required input or setting is still missing.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457200" y="2487168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2F7FB"/>
          </a:solidFill>
          <a:ln/>
        </p:spPr>
      </p:sp>
      <p:sp>
        <p:nvSpPr>
          <p:cNvPr id="13" name="Shape 9"/>
          <p:cNvSpPr/>
          <p:nvPr/>
        </p:nvSpPr>
        <p:spPr>
          <a:xfrm>
            <a:off x="621792" y="2633472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4" name="Image 2" descr="/home/claude/guide/icons/ale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" y="2776118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16736" y="2560320"/>
            <a:ext cx="10149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Legend/colour changes aren’t showing up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316736" y="2871216"/>
            <a:ext cx="10149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you’re editing the correct tab’s Legend Configuration Manager (Relative AAL and Percentage Change have separate legends) and that you’ve applied the change.</a:t>
            </a:r>
            <a:endParaRPr lang="en-US" sz="980" dirty="0"/>
          </a:p>
        </p:txBody>
      </p:sp>
      <p:sp>
        <p:nvSpPr>
          <p:cNvPr id="17" name="Shape 12"/>
          <p:cNvSpPr/>
          <p:nvPr/>
        </p:nvSpPr>
        <p:spPr>
          <a:xfrm>
            <a:off x="457200" y="3438144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2F7FB"/>
          </a:solidFill>
          <a:ln/>
        </p:spPr>
      </p:sp>
      <p:sp>
        <p:nvSpPr>
          <p:cNvPr id="18" name="Shape 13"/>
          <p:cNvSpPr/>
          <p:nvPr/>
        </p:nvSpPr>
        <p:spPr>
          <a:xfrm>
            <a:off x="621792" y="3584448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9" name="Image 3" descr="/home/claude/guide/icons/ale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" y="3727094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16736" y="3511296"/>
            <a:ext cx="10149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Regionwise or Percentage Change tabs aren’t appearing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316736" y="3822192"/>
            <a:ext cx="10149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need a Regional Mapping file uploaded (or loaded from sample) and, for Percentage Change, two model versions.</a:t>
            </a:r>
            <a:endParaRPr lang="en-US" sz="980" dirty="0"/>
          </a:p>
        </p:txBody>
      </p:sp>
      <p:sp>
        <p:nvSpPr>
          <p:cNvPr id="22" name="Shape 16"/>
          <p:cNvSpPr/>
          <p:nvPr/>
        </p:nvSpPr>
        <p:spPr>
          <a:xfrm>
            <a:off x="457200" y="4389120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2F7FB"/>
          </a:solidFill>
          <a:ln/>
        </p:spPr>
      </p:sp>
      <p:sp>
        <p:nvSpPr>
          <p:cNvPr id="23" name="Shape 17"/>
          <p:cNvSpPr/>
          <p:nvPr/>
        </p:nvSpPr>
        <p:spPr>
          <a:xfrm>
            <a:off x="621792" y="4535424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4" name="Image 4" descr="/home/claude/guide/icons/ale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438" y="4678070"/>
            <a:ext cx="263347" cy="26334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16736" y="4462272"/>
            <a:ext cx="10149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connection fails in Result Extraction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316736" y="4773168"/>
            <a:ext cx="10149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server name/credentials for the chosen vendor, and that the selected Exposure/Result databases actually contain the ExposureSet/ResultSet IDs entered.</a:t>
            </a:r>
            <a:endParaRPr lang="en-US" sz="980" dirty="0"/>
          </a:p>
        </p:txBody>
      </p:sp>
      <p:sp>
        <p:nvSpPr>
          <p:cNvPr id="27" name="Shape 20"/>
          <p:cNvSpPr/>
          <p:nvPr/>
        </p:nvSpPr>
        <p:spPr>
          <a:xfrm>
            <a:off x="457200" y="5340096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2F7FB"/>
          </a:solidFill>
          <a:ln/>
        </p:spPr>
      </p:sp>
      <p:sp>
        <p:nvSpPr>
          <p:cNvPr id="28" name="Shape 21"/>
          <p:cNvSpPr/>
          <p:nvPr/>
        </p:nvSpPr>
        <p:spPr>
          <a:xfrm>
            <a:off x="621792" y="548640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9" name="Image 5" descr="/home/claude/guide/icons/aler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438" y="5629046"/>
            <a:ext cx="263347" cy="26334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316736" y="5413248"/>
            <a:ext cx="10149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button stays greyed out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1316736" y="5724144"/>
            <a:ext cx="10149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downloads (e.g. the Secmod customized report) unlock only after clicking the matching "Generate" button first.</a:t>
            </a:r>
            <a:endParaRPr lang="en-US" sz="980" dirty="0"/>
          </a:p>
        </p:txBody>
      </p:sp>
      <p:sp>
        <p:nvSpPr>
          <p:cNvPr id="32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Module — User Guide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5120640" cy="5120640"/>
          </a:xfrm>
          <a:prstGeom prst="ellipse">
            <a:avLst/>
          </a:prstGeom>
          <a:solidFill>
            <a:srgbClr val="0075B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566928" cy="566928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4" name="Image 0" descr="/home/claude/guide/icons/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924641"/>
            <a:ext cx="272125" cy="272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6192" y="78638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36192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Guide Page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6459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9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Guide page in the sidebar displays this guide as a PDF directly in the app, with the PDF viewer’s own toolbar (zoom, page navigation, download, and print) — no separate download button is needed on the page itself.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10424160" cy="0"/>
          </a:xfrm>
          <a:prstGeom prst="line">
            <a:avLst/>
          </a:prstGeom>
          <a:noFill/>
          <a:ln w="12700">
            <a:solidFill>
              <a:srgbClr val="0075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2880360"/>
            <a:ext cx="566928" cy="566928"/>
          </a:xfrm>
          <a:prstGeom prst="ellipse">
            <a:avLst/>
          </a:prstGeom>
          <a:solidFill>
            <a:srgbClr val="0075BC"/>
          </a:solidFill>
          <a:ln/>
        </p:spPr>
      </p:sp>
      <p:pic>
        <p:nvPicPr>
          <p:cNvPr id="10" name="Image 1" descr="/home/claude/guide/icons/mai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61" y="302776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36192" y="28895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536192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Help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822960" y="37490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9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questions, feedback, or issues with the app, use the contact link in the app header (envelope icon next to the names) to email the Property Research team directly.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" y="4526280"/>
            <a:ext cx="6035040" cy="1051560"/>
          </a:xfrm>
          <a:prstGeom prst="roundRect">
            <a:avLst>
              <a:gd name="adj" fmla="val 6957"/>
            </a:avLst>
          </a:prstGeom>
          <a:solidFill>
            <a:srgbClr val="00507A"/>
          </a:solidFill>
          <a:ln/>
        </p:spPr>
      </p:sp>
      <p:sp>
        <p:nvSpPr>
          <p:cNvPr id="15" name="Text 11"/>
          <p:cNvSpPr/>
          <p:nvPr/>
        </p:nvSpPr>
        <p:spPr>
          <a:xfrm>
            <a:off x="1051560" y="46634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Nikil Pujari  /  Swapan Masanta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051560" y="501091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FA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Research  ·  Gallagher Re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22960" y="5943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FA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Module — User Guide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2026-07-28T12:57:11Z</dcterms:created>
  <dcterms:modified xsi:type="dcterms:W3CDTF">2026-07-28T12:57:11Z</dcterms:modified>
</cp:coreProperties>
</file>