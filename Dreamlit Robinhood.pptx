
<file path=[Content_Types].xml><?xml version="1.0" encoding="utf-8"?>
<Types xmlns="http://schemas.openxmlformats.org/package/2006/content-types">
  <Default Extension="jpeg" ContentType="image/jpeg"/>
  <Default Extension="m4a" ContentType="audio/mp4"/>
  <Default Extension="mp3" ContentType="audio/m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455" r:id="rId2"/>
    <p:sldId id="413" r:id="rId3"/>
    <p:sldId id="256" r:id="rId4"/>
    <p:sldId id="501" r:id="rId5"/>
    <p:sldId id="502" r:id="rId6"/>
    <p:sldId id="260" r:id="rId7"/>
    <p:sldId id="503" r:id="rId8"/>
    <p:sldId id="504" r:id="rId9"/>
    <p:sldId id="505" r:id="rId10"/>
    <p:sldId id="265" r:id="rId11"/>
    <p:sldId id="506" r:id="rId12"/>
    <p:sldId id="507" r:id="rId13"/>
    <p:sldId id="508" r:id="rId14"/>
    <p:sldId id="269" r:id="rId15"/>
    <p:sldId id="509" r:id="rId16"/>
    <p:sldId id="48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7FC2064-0C2D-429F-A4A3-4FEED3D9A4AE}">
          <p14:sldIdLst>
            <p14:sldId id="455"/>
            <p14:sldId id="413"/>
            <p14:sldId id="256"/>
            <p14:sldId id="501"/>
            <p14:sldId id="502"/>
            <p14:sldId id="260"/>
            <p14:sldId id="503"/>
            <p14:sldId id="504"/>
            <p14:sldId id="505"/>
            <p14:sldId id="265"/>
            <p14:sldId id="506"/>
            <p14:sldId id="507"/>
            <p14:sldId id="508"/>
            <p14:sldId id="269"/>
            <p14:sldId id="509"/>
            <p14:sldId id="4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FF"/>
    <a:srgbClr val="A80C2A"/>
    <a:srgbClr val="B1B0AE"/>
    <a:srgbClr val="F0EDE6"/>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2445" autoAdjust="0"/>
  </p:normalViewPr>
  <p:slideViewPr>
    <p:cSldViewPr snapToGrid="0">
      <p:cViewPr varScale="1">
        <p:scale>
          <a:sx n="47" d="100"/>
          <a:sy n="47" d="100"/>
        </p:scale>
        <p:origin x="1348" y="44"/>
      </p:cViewPr>
      <p:guideLst/>
    </p:cSldViewPr>
  </p:slideViewPr>
  <p:notesTextViewPr>
    <p:cViewPr>
      <p:scale>
        <a:sx n="75" d="100"/>
        <a:sy n="75" d="100"/>
      </p:scale>
      <p:origin x="0" y="-122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46ADD3-E4C9-4B15-B72E-7CE80015322E}" type="datetimeFigureOut">
              <a:rPr lang="en-IN" smtClean="0"/>
              <a:t>07-06-2026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F3E57C-F302-4DDA-9D05-13A296E43432}" type="slidenum">
              <a:rPr lang="en-IN" smtClean="0"/>
              <a:t>‹#›</a:t>
            </a:fld>
            <a:endParaRPr lang="en-IN"/>
          </a:p>
        </p:txBody>
      </p:sp>
    </p:spTree>
    <p:extLst>
      <p:ext uri="{BB962C8B-B14F-4D97-AF65-F5344CB8AC3E}">
        <p14:creationId xmlns:p14="http://schemas.microsoft.com/office/powerpoint/2010/main" val="1671851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 Welcome back to </a:t>
            </a:r>
            <a:r>
              <a:rPr lang="en-IN" sz="1200" b="0" i="0" kern="1200" dirty="0" err="1">
                <a:solidFill>
                  <a:schemeClr val="tx1"/>
                </a:solidFill>
                <a:effectLst/>
                <a:latin typeface="+mn-lt"/>
                <a:ea typeface="+mn-ea"/>
                <a:cs typeface="+mn-cs"/>
              </a:rPr>
              <a:t>Dreamlit</a:t>
            </a:r>
            <a:r>
              <a:rPr lang="en-IN" sz="1200" b="0" i="0" kern="1200" dirty="0">
                <a:solidFill>
                  <a:schemeClr val="tx1"/>
                </a:solidFill>
                <a:effectLst/>
                <a:latin typeface="+mn-lt"/>
                <a:ea typeface="+mn-ea"/>
                <a:cs typeface="+mn-cs"/>
              </a:rPr>
              <a:t> Equity Research.</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Today, we are going deep on a company that I believe is one of the most misunderstood on the entire NASDAQ. A company that was born in a Stanford dorm room on a single premise: that $7-per-trade commissions were a Wall Street tax on ordinary people. A company that ignited a retail revolution, nearly collapsed during a meme stock frenzy it helped create, and then — quietly, methodically — rebuilt itself into something far larger and far more interesting than most investors realise.</a:t>
            </a:r>
          </a:p>
          <a:p>
            <a:r>
              <a:rPr lang="en-IN" sz="1200" b="0" i="0" kern="1200" dirty="0">
                <a:solidFill>
                  <a:schemeClr val="tx1"/>
                </a:solidFill>
                <a:effectLst/>
                <a:latin typeface="+mn-lt"/>
                <a:ea typeface="+mn-ea"/>
                <a:cs typeface="+mn-cs"/>
              </a:rPr>
              <a:t>We are talking about Robinhood Markets. NASDAQ: HOOD.</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And I want to frame this right at the top — because this is not the story most people think it is. Most people know the 2021 version of Robinhood. The GameStop version. The app that froze trading on the most important trading day retail investors had ever seen. The company that was dragged before Congress. The stock that </a:t>
            </a:r>
            <a:r>
              <a:rPr lang="en-IN" sz="1200" b="0" i="0" kern="1200" dirty="0" err="1">
                <a:solidFill>
                  <a:schemeClr val="tx1"/>
                </a:solidFill>
                <a:effectLst/>
                <a:latin typeface="+mn-lt"/>
                <a:ea typeface="+mn-ea"/>
                <a:cs typeface="+mn-cs"/>
              </a:rPr>
              <a:t>IPO'd</a:t>
            </a:r>
            <a:r>
              <a:rPr lang="en-IN" sz="1200" b="0" i="0" kern="1200" dirty="0">
                <a:solidFill>
                  <a:schemeClr val="tx1"/>
                </a:solidFill>
                <a:effectLst/>
                <a:latin typeface="+mn-lt"/>
                <a:ea typeface="+mn-ea"/>
                <a:cs typeface="+mn-cs"/>
              </a:rPr>
              <a:t> at $38 and promptly lost two-thirds of its value in twelve months.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That is the version that stuck in most people's heads. And that version is dead.</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Here is what Robinhood actually is in June 2026.</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FY 2025 revenue: $4.5B. Growing at 52% year over year. First fully GAAP profitable year with $1.88B in net income. 27M funded accounts. 4.3M Gold subscribers. $68B in net new deposits during 2025 alone. Platform assets over $350B. Agentic AI trading launched before any incumbent broker. A Canadian crypto acquisition closed. A proprietary tokenisation layer on </a:t>
            </a:r>
            <a:r>
              <a:rPr lang="en-IN" sz="1200" b="0" i="0" kern="1200" dirty="0" err="1">
                <a:solidFill>
                  <a:schemeClr val="tx1"/>
                </a:solidFill>
                <a:effectLst/>
                <a:latin typeface="+mn-lt"/>
                <a:ea typeface="+mn-ea"/>
                <a:cs typeface="+mn-cs"/>
              </a:rPr>
              <a:t>Arbitrum</a:t>
            </a:r>
            <a:r>
              <a:rPr lang="en-IN" sz="1200" b="0" i="0" kern="1200" dirty="0">
                <a:solidFill>
                  <a:schemeClr val="tx1"/>
                </a:solidFill>
                <a:effectLst/>
                <a:latin typeface="+mn-lt"/>
                <a:ea typeface="+mn-ea"/>
                <a:cs typeface="+mn-cs"/>
              </a:rPr>
              <a:t> in development. And a US government partnership to onboard tens of millions of new investors through Trump Accounts at zero customer acquisition cost.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is not the same company. And the market, I would argue, has not fully caught up to that.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In this video — which will run approximately 40 to 60 minutes — we are going to go through this entire research report slide by slide, with full analyst-level commentary. Company history. Business model. Financial analysis. Product roadmap. M&amp;A strategy. Competitive landscape. Red flags. Investment thesis. Price projections. And a quarterly monitoring checklist.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is a research note, not a financial recommendation. I am not your financial advisor. This is education and entertainment. Do your own due diligence. Now — let us begin.</a:t>
            </a:r>
          </a:p>
          <a:p>
            <a:endParaRPr lang="en-IN"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49F3E57C-F302-4DDA-9D05-13A296E43432}" type="slidenum">
              <a:rPr lang="en-IN" smtClean="0"/>
              <a:t>1</a:t>
            </a:fld>
            <a:endParaRPr lang="en-IN"/>
          </a:p>
        </p:txBody>
      </p:sp>
    </p:spTree>
    <p:extLst>
      <p:ext uri="{BB962C8B-B14F-4D97-AF65-F5344CB8AC3E}">
        <p14:creationId xmlns:p14="http://schemas.microsoft.com/office/powerpoint/2010/main" val="21993362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[TRANSITION: "First, as always — the legal slide."]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SLIDE 2 — DISCLAIMER</a:t>
            </a:r>
          </a:p>
          <a:p>
            <a:r>
              <a:rPr lang="en-IN" sz="1200" b="0" i="0" kern="1200" dirty="0">
                <a:solidFill>
                  <a:schemeClr val="tx1"/>
                </a:solidFill>
                <a:effectLst/>
                <a:latin typeface="+mn-lt"/>
                <a:ea typeface="+mn-ea"/>
                <a:cs typeface="+mn-cs"/>
              </a:rPr>
              <a:t>"DISCLAIMER"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[MEASURED, CLEAR]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Thirty seconds on the disclaimer. Because it matters.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content is for educational and entertainment purposes only. I am not a licensed financial advisor. I am not registered with the SEC or SEBI. Nothing in this video constitutes financial, investment, legal, or tax advice.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The opinions you hear are mine and mine alone. They can change as new data arrives. Investing involves risk. You can lose principal. The companies we discuss may go up, may go down, or may do absolutely nothing for extended periods.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Perform your own research. Consult a qualified professional before making investment decisions.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Third-party data referenced in this report is used under fair use for commentary, criticism, and analysis. All data sourced from publicly available SEC filings, earnings releases, and public research.</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Legal house in order. Let us get into the data.</a:t>
            </a:r>
          </a:p>
        </p:txBody>
      </p:sp>
      <p:sp>
        <p:nvSpPr>
          <p:cNvPr id="4" name="Slide Number Placeholder 3"/>
          <p:cNvSpPr>
            <a:spLocks noGrp="1"/>
          </p:cNvSpPr>
          <p:nvPr>
            <p:ph type="sldNum" sz="quarter" idx="5"/>
          </p:nvPr>
        </p:nvSpPr>
        <p:spPr/>
        <p:txBody>
          <a:bodyPr/>
          <a:lstStyle/>
          <a:p>
            <a:fld id="{49F3E57C-F302-4DDA-9D05-13A296E43432}" type="slidenum">
              <a:rPr lang="en-IN" smtClean="0"/>
              <a:t>2</a:t>
            </a:fld>
            <a:endParaRPr lang="en-IN"/>
          </a:p>
        </p:txBody>
      </p:sp>
    </p:spTree>
    <p:extLst>
      <p:ext uri="{BB962C8B-B14F-4D97-AF65-F5344CB8AC3E}">
        <p14:creationId xmlns:p14="http://schemas.microsoft.com/office/powerpoint/2010/main" val="168640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[TRANSITION: "Let us start with the dashboard — the headline numbers that tell you exactly what kind of company Robinhood is right now."]</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SLIDE 3 — COMPANY SNAPSHOT / KPI DASHBOARD</a:t>
            </a:r>
          </a:p>
          <a:p>
            <a:r>
              <a:rPr lang="en-IN" sz="1200" b="0" i="0" kern="1200" dirty="0">
                <a:solidFill>
                  <a:schemeClr val="tx1"/>
                </a:solidFill>
                <a:effectLst/>
                <a:latin typeface="+mn-lt"/>
                <a:ea typeface="+mn-ea"/>
                <a:cs typeface="+mn-cs"/>
              </a:rPr>
              <a:t>"KEY METRICS (June 2026)"</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[AUTHORITATIVE, DATA-DRIVEN — SPEND 4-5 MINUTES HERE]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is the dashboard slide. And I want you to really sit with these numbers — because there is a striking disconnect embedded here. These are the metrics of a company that has undergone a genuine financial transformation. And yet the market cap of $82B — while substantial — has not re-rated to reflect how profoundly different this business is compared to the company that listed at $38 in July 2021.</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Let me walk you through each number.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FY 2025 Revenue: $4.5B. Growing at 52% year over year.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Let me give you context. 52% revenue growth is not the growth rate of a broker. Traditional brokers — Schwab, Fidelity, Interactive Brokers — they grow at 5 to 10% in a strong year. 52% is the kind of growth you expect from a hypergrowth SaaS company or a platform that has cracked a new market. And Robinhood is doing this while simultaneously running a regulated brokerage, a crypto exchange, and an emerging subscription business. That combination — 52% revenue growth plus full GAAP profitability plus a rapidly expanding product suite — is nearly unprecedented in US retail financial services.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FY 2025 Net Income: $1.88B. Versus negative $541M in FY 2022.</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That is a $2.4B swing in net income in three years. From a company losing half a billion dollars annually to one earning nearly two billion dollars in a single year. And to be clear — this is GAAP net income. Not adjusted. Not pro forma. Not before-we-count-the-things-we-prefer-not-to-count. GAAP.</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Diluted EPS: $2.05 for FY 2025. Record high.</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Q1 2026 Revenue: $1.07B.</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One important note here: Q1 2026 revenue was softer than Q4 2025 on a sequential basis, and crypto revenue in particular showed weakness in the quarter. We will come back to this in the red flags section. It is a data point that deserves honest attention.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Gold Subscribers: 4.3M. Growing 36% year over year.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is the metric I keep coming back to. 4.3M subscribers paying $6.99 per month for a recurring, sticky, margin-rich subscription product — on top of 27M funded customers who are not yet paying for Gold. The penetration rate is approximately 16%. There are 23M+ customers who have not yet subscribed. That is the growth runway.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Platform Assets: $350B+.</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Net Margin FY 2025: 41.1%. That is world-class fintech territory.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52-Week Price Range: $154 high to $63 low, with the current price around $90.</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Here is the central question of this investment case: Is Robinhood a reformed meme-stock app that has gotten financially lucky in a crypto bull cycle? Or is it a genuinely durable, multi-product financial platform executing one of the most impressive turnarounds in recent fintech history?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Today, our job is to equip you to answer that question for yourself.</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[TRANSITION: "To understand the company today, you have to understand where it came from. Because this is a story of failure, reinvention, and quiet execution."]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SLIDE 4 — COMPANY HISTORY</a:t>
            </a:r>
          </a:p>
          <a:p>
            <a:r>
              <a:rPr lang="en-IN" sz="1200" b="0" i="0" kern="1200" dirty="0">
                <a:solidFill>
                  <a:schemeClr val="tx1"/>
                </a:solidFill>
                <a:effectLst/>
                <a:latin typeface="+mn-lt"/>
                <a:ea typeface="+mn-ea"/>
                <a:cs typeface="+mn-cs"/>
              </a:rPr>
              <a:t>"SECTION 1: COMPANY HISTORY — FROM DORM ROOM TO FINANCIAL SUPERAPP"</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[STORYTELLING MODE — SPEND 5-6 MINUTES HERE]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2013. Vlad Tenev and Baiju Bhatt are Stanford roommates. They have worked at high-frequency trading firms in New York. They understand, better than almost anyone outside Wall Street, how market making actually works. They understand that the $7-per-trade commission charged by legacy brokers is not a cost of providing a service — it is a rent extraction mechanism. They believe that if you eliminate that friction, you can create a new market. An entirely new class of investor. People who never thought markets were for them.</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They are right. The waitlist before Robinhood's app even launches: over 1M people.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2015. The app goes live. The PFOF model — Payment for Order Flow, where market makers compensate Robinhood for routing orders to them — funds the zero-commission promise invisibly. This is the original Robinhood paradox: free trading, funded by Wall Street. The retail revolution is ignited.</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2018. Crypto trading added. Options trading launched. Robinhood reaches 6M accounts. Regulators begin paying attention.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2020. The COVID meme stock era. 13M accounts. Three million plus daily active users. A March platform outage sparks a $70M class action lawsuit. The app becomes cultural shorthand for retail investor power. And then January 2021 — GameStop. Robinhood restricts trading in GameStop and AMC at the exact moment retail investors are most activated. The backlash is historic. Congress summons Vlad Tenev. The brand is, for a period, genuinely at risk.</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July 2021. IPO at $38. And almost immediately, the stock craters. Lock-up expiry. PFOF regulatory scrutiny intensifies. The post-IPO period is brutal. By 2022, the stock is down 85% from the IPO price. Crypto winter hits. Revenue falls 25%. Layoffs of 23% of staff.</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is the bottom. And this is where the story gets interesting.</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Because what Vlad Tenev does next is not what most people expected. He does not diversify. He does not pivot into banking. He does not try to become SoFi. Instead, he doubles down on what Robinhood does best — designing the most intuitive, most engaging investing experience in the world — and systematically adds new revenue pillars on top of that foundation.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2023: Gold subscription launched. 24/7 market hours introduced. Focus shifts explicitly to ARPU — average revenue per user. Two strategic acquisitions: </a:t>
            </a:r>
            <a:r>
              <a:rPr lang="en-IN" sz="1200" b="0" i="0" kern="1200" dirty="0" err="1">
                <a:solidFill>
                  <a:schemeClr val="tx1"/>
                </a:solidFill>
                <a:effectLst/>
                <a:latin typeface="+mn-lt"/>
                <a:ea typeface="+mn-ea"/>
                <a:cs typeface="+mn-cs"/>
              </a:rPr>
              <a:t>Ziglu</a:t>
            </a:r>
            <a:r>
              <a:rPr lang="en-IN" sz="1200" b="0" i="0" kern="1200" dirty="0">
                <a:solidFill>
                  <a:schemeClr val="tx1"/>
                </a:solidFill>
                <a:effectLst/>
                <a:latin typeface="+mn-lt"/>
                <a:ea typeface="+mn-ea"/>
                <a:cs typeface="+mn-cs"/>
              </a:rPr>
              <a:t>, for UK crypto, and X1, a credit card startup, later rebranded as the Robinhood Gold Card.</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2024: Credit card launch. Index options and futures trading added. Robinhood Legend — an AI-powered desktop platform — introduced. </a:t>
            </a:r>
            <a:r>
              <a:rPr lang="en-IN" sz="1200" b="0" i="0" kern="1200" dirty="0" err="1">
                <a:solidFill>
                  <a:schemeClr val="tx1"/>
                </a:solidFill>
                <a:effectLst/>
                <a:latin typeface="+mn-lt"/>
                <a:ea typeface="+mn-ea"/>
                <a:cs typeface="+mn-cs"/>
              </a:rPr>
              <a:t>Bitstamp</a:t>
            </a:r>
            <a:r>
              <a:rPr lang="en-IN" sz="1200" b="0" i="0" kern="1200" dirty="0">
                <a:solidFill>
                  <a:schemeClr val="tx1"/>
                </a:solidFill>
                <a:effectLst/>
                <a:latin typeface="+mn-lt"/>
                <a:ea typeface="+mn-ea"/>
                <a:cs typeface="+mn-cs"/>
              </a:rPr>
              <a:t> acquired for $200M, bringing an EU crypto exchange licence and institutional custody capability.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2025: Robinhood's first fully GAAP profitable year. FY revenue $1.01B — wait, I should be precise — quarterly revenue hit $1.01B in Q1 2025, with full-year FY 2025 revenue reaching $4.47B. Gold subscribers hit 4.2M. Platform assets reach $218B. TradePMR, an RIA custody platform with $40B in assets under administration, acquired for approximately $300M.</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2026: Agentic trading launched — AI agents that can execute trades autonomously on behalf of customers, the first regulated broker to offer this. </a:t>
            </a:r>
            <a:r>
              <a:rPr lang="en-IN" sz="1200" b="0" i="0" kern="1200" dirty="0" err="1">
                <a:solidFill>
                  <a:schemeClr val="tx1"/>
                </a:solidFill>
                <a:effectLst/>
                <a:latin typeface="+mn-lt"/>
                <a:ea typeface="+mn-ea"/>
                <a:cs typeface="+mn-cs"/>
              </a:rPr>
              <a:t>WonderFi</a:t>
            </a:r>
            <a:r>
              <a:rPr lang="en-IN" sz="1200" b="0" i="0" kern="1200" dirty="0">
                <a:solidFill>
                  <a:schemeClr val="tx1"/>
                </a:solidFill>
                <a:effectLst/>
                <a:latin typeface="+mn-lt"/>
                <a:ea typeface="+mn-ea"/>
                <a:cs typeface="+mn-cs"/>
              </a:rPr>
              <a:t> acquired, giving Robinhood a Canadian crypto foothold. Tokenised stock trading on an </a:t>
            </a:r>
            <a:r>
              <a:rPr lang="en-IN" sz="1200" b="0" i="0" kern="1200" dirty="0" err="1">
                <a:solidFill>
                  <a:schemeClr val="tx1"/>
                </a:solidFill>
                <a:effectLst/>
                <a:latin typeface="+mn-lt"/>
                <a:ea typeface="+mn-ea"/>
                <a:cs typeface="+mn-cs"/>
              </a:rPr>
              <a:t>Arbitrum</a:t>
            </a:r>
            <a:r>
              <a:rPr lang="en-IN" sz="1200" b="0" i="0" kern="1200" dirty="0">
                <a:solidFill>
                  <a:schemeClr val="tx1"/>
                </a:solidFill>
                <a:effectLst/>
                <a:latin typeface="+mn-lt"/>
                <a:ea typeface="+mn-ea"/>
                <a:cs typeface="+mn-cs"/>
              </a:rPr>
              <a:t> Layer 2 blockchain in development. Trump Accounts partnership announced, potentially bringing millions of new customers at zero acquisition cost.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Three structural advantages this history produced:</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ONE: The Mobile-Native Moat. Legacy brokers built apps as afterthoughts to their desktop and advisor platforms. Robinhood built the app as the product. The UX is not just better — it is fundamentally different. It is the difference between a product built for mobile from day one versus a product retrofitted for mobile fifteen years later. You cannot close that gap with a software update.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TWO: First-Mover Agentic AI. Launching autonomous AI-agent trading in May 2026 puts Robinhood ahead of every major broker in what could be the next category-defining feature in retail investing. Just as zero-commission trading redefined the category in 2015, agentic trading may redefine it again in 2027.</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THREE: The Gold Flywheel. Gold subscribers at 4.3M are the highest-quality, highest-ARPU customers on the platform. Gold users use margin, trade options more, hold more cash, and are far less likely to churn. Building a paid subscription tier on top of a free brokerage — and growing it at 36% annually — is a masterclass in converting an engagement product into a durable revenue product.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[TRANSITION: "Now let us understand the business model — because Robinhood today has four distinct revenue pillars, and understanding all of them is essential to understanding the valuation."]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SLIDE 5 — BUSINESS MODEL</a:t>
            </a:r>
          </a:p>
          <a:p>
            <a:r>
              <a:rPr lang="en-IN" sz="1200" b="0" i="0" kern="1200" dirty="0">
                <a:solidFill>
                  <a:schemeClr val="tx1"/>
                </a:solidFill>
                <a:effectLst/>
                <a:latin typeface="+mn-lt"/>
                <a:ea typeface="+mn-ea"/>
                <a:cs typeface="+mn-cs"/>
              </a:rPr>
              <a:t>"SECTION 2: BUSINESS MODEL — MULTI-PRODUCT FINTECH PLATFORM"</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[ANALYTICAL, DETAILED — SPEND 5-6 MINUTES HERE]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Robinhood's business model has four revenue pillars. And I want you to understand each one, because they have very different risk profiles, very different growth trajectories, and very different implications for how you should think about the company's future earnings power.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PILLAR ONE: Transaction Revenue. Approximately 66% of FY 2025 revenue. $2.38B.</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is split three ways.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Options PFOF: roughly 53% of transaction revenue. Approximately $1.26B annually. This is the single largest revenue line in the business. Robinhood routes retail options orders to market makers, who pay Robinhood a rebate for each order. The more options activity on the platform, the more revenue. Options trading has grown dramatically as younger investors have embraced them as a tool for leveraged speculation and income strategies. This revenue line is also the single largest regulatory risk on the platform — a PFOF ban would hurt here more than anywhere else. We will come back to this.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Crypto: 35%+ of Q1 2026 net revenue, though it showed weakness in Q1 2026. Robinhood earns from the spread between the buy and sell price on crypto transactions. It is a beautifully simple model — no exchange fee, no commission, just spread. But it is dramatically cyclical. In 2022 crypto winter, this line collapsed 90%. In 2021 crypto boom, it was enormous. Owning Robinhood is partly owning a crypto exposure vehicle, whether you intend it that way or not.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Equities PFOF: approximately 12% of transaction revenue. The original Robinhood revenue model. The smallest pillar today, and the one facing the most regulatory uncertainty globally.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PILLAR TWO: Net Interest Revenue. Approximately 28% of FY 2025 revenue. $1.45B.</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Three components. Margin lending: customers borrow money from Robinhood to buy securities; Robinhood earns the spread between its borrowing cost and the rate it charges customers. Cash sweep: idle uninvested cash earns interest; Gold members earn 5% plus APY, and Robinhood earns more than it pays out. Securities lending: Robinhood lends customer-held shares to short sellers for a fee.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$1.45B is a rate-sensitive number. In a high-rate environment like 2023 through 2025, it is a tailwind. In a rate-cutting cycle — which the Federal Reserve is approaching, or at least discussing — this pillar compresses. A return to near-zero rates in a 2020-style scenario could reduce this line by 50 to 70%, which is $720M to over $1B of revenue at risk. That is the bear case in a single data point.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PILLAR THREE: Subscription Revenue — Gold. Approximately 6% of FY 2025 revenue. Roughly $270M annualised, growing fastest.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$6.99 per month. 4.3M subscribers. The Gold subscription unlocks: 5% APY on uninvested cash, Level 2 Nasdaq market data, margin borrowing at a discounted rate, and access to the Gold Credit Card.</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is the revenue line I am most bullish on. Not because of its current size — 6% of revenue is not yet material. But because of its trajectory. 36% year over year growth. 16% penetration of the total customer base. A product that increases ARPU by three to five times compared to a standard customer. And critically — it is rate-independent. Whether the Fed is at 5% or 1%, Gold subscribers keep paying $6.99 per month.</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By 2028, if Gold reaches 8M subscribers — which is not an unreasonable projection at the current growth rate — the subscription line alone could be a $670M annual business. Recurring. High-margin. Durable.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PILLAR FOUR: Emerging Products. The prediction markets, banking, and RIA custody businesses.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Prediction markets on elections and sports launched in 2024 under CFTC regulation. Monthly volume growing. This is speculative but potentially large — </a:t>
            </a:r>
            <a:r>
              <a:rPr lang="en-IN" sz="1200" b="0" i="0" kern="1200" dirty="0" err="1">
                <a:solidFill>
                  <a:schemeClr val="tx1"/>
                </a:solidFill>
                <a:effectLst/>
                <a:latin typeface="+mn-lt"/>
                <a:ea typeface="+mn-ea"/>
                <a:cs typeface="+mn-cs"/>
              </a:rPr>
              <a:t>Polymarket</a:t>
            </a:r>
            <a:r>
              <a:rPr lang="en-IN" sz="1200" b="0" i="0" kern="1200" dirty="0">
                <a:solidFill>
                  <a:schemeClr val="tx1"/>
                </a:solidFill>
                <a:effectLst/>
                <a:latin typeface="+mn-lt"/>
                <a:ea typeface="+mn-ea"/>
                <a:cs typeface="+mn-cs"/>
              </a:rPr>
              <a:t>, the decentralised prediction market, has shown that demand for event contracts is real and growing.</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Banking through Gold: FDIC-insured checking and savings, direct deposit, ATM reimbursements. Robinhood wants to replace Chase and Bank of America as the primary financial account for millennials and Gen Z. It has not yet done so at scale. But the infrastructure is being built.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TradePMR RIA custody: $40B in assets under administration from 350 advisor firms. This bridges Robinhood's retail app to institutional wealth management — and positions it for the $84 trillion Great Wealth Transfer.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[TRANSITION: "Now let us go to the financial analysis — because the numbers tell one of the most dramatic turnaround stories in recent fintech history."]</a:t>
            </a:r>
          </a:p>
          <a:p>
            <a:r>
              <a:rPr lang="en-IN" sz="1200" b="0" i="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SLIDE 6 — FINANCIAL ANALYSIS</a:t>
            </a:r>
          </a:p>
          <a:p>
            <a:r>
              <a:rPr lang="en-IN" sz="1200" b="0" i="0" kern="1200" dirty="0">
                <a:solidFill>
                  <a:schemeClr val="tx1"/>
                </a:solidFill>
                <a:effectLst/>
                <a:latin typeface="+mn-lt"/>
                <a:ea typeface="+mn-ea"/>
                <a:cs typeface="+mn-cs"/>
              </a:rPr>
              <a:t>"SECTION 3: FINANCIAL ANALYSIS"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[DATA-DENSE, AUTHORITATIVE — SPEND 5-6 MINUTES HERE]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slide is the financial spine of the entire thesis. And I want you to look at the trend, not just the numbers. Because the direction is unmistakably upward, and it is accelerating.</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Revenue trajectory:</a:t>
            </a:r>
          </a:p>
          <a:p>
            <a:r>
              <a:rPr lang="en-IN" sz="1200" b="0" i="0" kern="1200" dirty="0">
                <a:solidFill>
                  <a:schemeClr val="tx1"/>
                </a:solidFill>
                <a:effectLst/>
                <a:latin typeface="+mn-lt"/>
                <a:ea typeface="+mn-ea"/>
                <a:cs typeface="+mn-cs"/>
              </a:rPr>
              <a:t>FY 2022: $1.36B.</a:t>
            </a:r>
          </a:p>
          <a:p>
            <a:r>
              <a:rPr lang="en-IN" sz="1200" b="0" i="0" kern="1200" dirty="0">
                <a:solidFill>
                  <a:schemeClr val="tx1"/>
                </a:solidFill>
                <a:effectLst/>
                <a:latin typeface="+mn-lt"/>
                <a:ea typeface="+mn-ea"/>
                <a:cs typeface="+mn-cs"/>
              </a:rPr>
              <a:t>FY 2023: $1.87B.</a:t>
            </a:r>
          </a:p>
          <a:p>
            <a:r>
              <a:rPr lang="en-IN" sz="1200" b="0" i="0" kern="1200" dirty="0">
                <a:solidFill>
                  <a:schemeClr val="tx1"/>
                </a:solidFill>
                <a:effectLst/>
                <a:latin typeface="+mn-lt"/>
                <a:ea typeface="+mn-ea"/>
                <a:cs typeface="+mn-cs"/>
              </a:rPr>
              <a:t>FY 2024: $2.95B.</a:t>
            </a:r>
          </a:p>
          <a:p>
            <a:r>
              <a:rPr lang="en-IN" sz="1200" b="0" i="0" kern="1200" dirty="0">
                <a:solidFill>
                  <a:schemeClr val="tx1"/>
                </a:solidFill>
                <a:effectLst/>
                <a:latin typeface="+mn-lt"/>
                <a:ea typeface="+mn-ea"/>
                <a:cs typeface="+mn-cs"/>
              </a:rPr>
              <a:t>FY 2025: $4.47B.</a:t>
            </a:r>
          </a:p>
          <a:p>
            <a:r>
              <a:rPr lang="en-IN" sz="1200" b="0" i="0" kern="1200" dirty="0">
                <a:solidFill>
                  <a:schemeClr val="tx1"/>
                </a:solidFill>
                <a:effectLst/>
                <a:latin typeface="+mn-lt"/>
                <a:ea typeface="+mn-ea"/>
                <a:cs typeface="+mn-cs"/>
              </a:rPr>
              <a:t>FY 2026 estimate: approximately $5.1 to $5.5B.</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That is revenue growing at over 48% compounded annually over three years — and on the FY 2025 to FY 2026 step, the estimate implies 14 to 23% growth. The law of large numbers is beginning to matter. But $4.5B growing to $5.5B is still a $1B incremental revenue addition in a single year. That is not trivial.</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Let me walk the full multi-year table.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Net Income:</a:t>
            </a:r>
          </a:p>
          <a:p>
            <a:r>
              <a:rPr lang="en-IN" sz="1200" b="0" i="0" kern="1200" dirty="0">
                <a:solidFill>
                  <a:schemeClr val="tx1"/>
                </a:solidFill>
                <a:effectLst/>
                <a:latin typeface="+mn-lt"/>
                <a:ea typeface="+mn-ea"/>
                <a:cs typeface="+mn-cs"/>
              </a:rPr>
              <a:t>FY 2022: negative $541M.</a:t>
            </a:r>
          </a:p>
          <a:p>
            <a:r>
              <a:rPr lang="en-IN" sz="1200" b="0" i="0" kern="1200" dirty="0">
                <a:solidFill>
                  <a:schemeClr val="tx1"/>
                </a:solidFill>
                <a:effectLst/>
                <a:latin typeface="+mn-lt"/>
                <a:ea typeface="+mn-ea"/>
                <a:cs typeface="+mn-cs"/>
              </a:rPr>
              <a:t>FY 2023: negative $541M. Flat year-on-year losses, despite revenue growing.</a:t>
            </a:r>
          </a:p>
          <a:p>
            <a:r>
              <a:rPr lang="en-IN" sz="1200" b="0" i="0" kern="1200" dirty="0">
                <a:solidFill>
                  <a:schemeClr val="tx1"/>
                </a:solidFill>
                <a:effectLst/>
                <a:latin typeface="+mn-lt"/>
                <a:ea typeface="+mn-ea"/>
                <a:cs typeface="+mn-cs"/>
              </a:rPr>
              <a:t>FY 2024: positive $495M. The inflection year.</a:t>
            </a:r>
          </a:p>
          <a:p>
            <a:r>
              <a:rPr lang="en-IN" sz="1200" b="0" i="0" kern="1200" dirty="0">
                <a:solidFill>
                  <a:schemeClr val="tx1"/>
                </a:solidFill>
                <a:effectLst/>
                <a:latin typeface="+mn-lt"/>
                <a:ea typeface="+mn-ea"/>
                <a:cs typeface="+mn-cs"/>
              </a:rPr>
              <a:t>FY 2025: positive $1.88B. A $1.4B jump in a single year.</a:t>
            </a:r>
          </a:p>
          <a:p>
            <a:r>
              <a:rPr lang="en-IN" sz="1200" b="0" i="0" kern="1200" dirty="0">
                <a:solidFill>
                  <a:schemeClr val="tx1"/>
                </a:solidFill>
                <a:effectLst/>
                <a:latin typeface="+mn-lt"/>
                <a:ea typeface="+mn-ea"/>
                <a:cs typeface="+mn-cs"/>
              </a:rPr>
              <a:t>FY 2026 estimate: approximately $2.1B.</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That is the fastest net income scaling I have seen in US fintech in the past decade. Going from negative $541M to positive $1.88B in two years is not organic margin improvement — it reflects the operating leverage built into the platform. Revenue grew. The cost base barely moved. The incremental dollar of revenue in 2025 fell almost entirely to the bottom line.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Net Margin FY 2025: 41.1%. That is extraordinary. For reference, Coinbase's net margin in their best years was approximately 15–20%. Schwab runs at roughly 25–30%. Robinhood at 41% net margin is operating at a level that most financial companies never reach.</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Adjusted EBITDA:</a:t>
            </a:r>
          </a:p>
          <a:p>
            <a:r>
              <a:rPr lang="en-IN" sz="1200" b="0" i="0" kern="1200" dirty="0">
                <a:solidFill>
                  <a:schemeClr val="tx1"/>
                </a:solidFill>
                <a:effectLst/>
                <a:latin typeface="+mn-lt"/>
                <a:ea typeface="+mn-ea"/>
                <a:cs typeface="+mn-cs"/>
              </a:rPr>
              <a:t>FY 2022: $128M.</a:t>
            </a:r>
          </a:p>
          <a:p>
            <a:r>
              <a:rPr lang="en-IN" sz="1200" b="0" i="0" kern="1200" dirty="0">
                <a:solidFill>
                  <a:schemeClr val="tx1"/>
                </a:solidFill>
                <a:effectLst/>
                <a:latin typeface="+mn-lt"/>
                <a:ea typeface="+mn-ea"/>
                <a:cs typeface="+mn-cs"/>
              </a:rPr>
              <a:t>FY 2023: $571M.</a:t>
            </a:r>
          </a:p>
          <a:p>
            <a:r>
              <a:rPr lang="en-IN" sz="1200" b="0" i="0" kern="1200" dirty="0">
                <a:solidFill>
                  <a:schemeClr val="tx1"/>
                </a:solidFill>
                <a:effectLst/>
                <a:latin typeface="+mn-lt"/>
                <a:ea typeface="+mn-ea"/>
                <a:cs typeface="+mn-cs"/>
              </a:rPr>
              <a:t>FY 2024: $1.38B.</a:t>
            </a:r>
          </a:p>
          <a:p>
            <a:r>
              <a:rPr lang="en-IN" sz="1200" b="0" i="0" kern="1200" dirty="0">
                <a:solidFill>
                  <a:schemeClr val="tx1"/>
                </a:solidFill>
                <a:effectLst/>
                <a:latin typeface="+mn-lt"/>
                <a:ea typeface="+mn-ea"/>
                <a:cs typeface="+mn-cs"/>
              </a:rPr>
              <a:t>FY 2025: $2.19B.</a:t>
            </a:r>
          </a:p>
          <a:p>
            <a:r>
              <a:rPr lang="en-IN" sz="1200" b="0" i="0" kern="1200" dirty="0">
                <a:solidFill>
                  <a:schemeClr val="tx1"/>
                </a:solidFill>
                <a:effectLst/>
                <a:latin typeface="+mn-lt"/>
                <a:ea typeface="+mn-ea"/>
                <a:cs typeface="+mn-cs"/>
              </a:rPr>
              <a:t>FY 2026 estimate: approximately $2.5B.</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That is 17x EBITDA growth in three years.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Gold Subscribers:</a:t>
            </a:r>
          </a:p>
          <a:p>
            <a:r>
              <a:rPr lang="en-IN" sz="1200" b="0" i="0" kern="1200" dirty="0">
                <a:solidFill>
                  <a:schemeClr val="tx1"/>
                </a:solidFill>
                <a:effectLst/>
                <a:latin typeface="+mn-lt"/>
                <a:ea typeface="+mn-ea"/>
                <a:cs typeface="+mn-cs"/>
              </a:rPr>
              <a:t>FY 2022: 1.0M.</a:t>
            </a:r>
          </a:p>
          <a:p>
            <a:r>
              <a:rPr lang="en-IN" sz="1200" b="0" i="0" kern="1200" dirty="0">
                <a:solidFill>
                  <a:schemeClr val="tx1"/>
                </a:solidFill>
                <a:effectLst/>
                <a:latin typeface="+mn-lt"/>
                <a:ea typeface="+mn-ea"/>
                <a:cs typeface="+mn-cs"/>
              </a:rPr>
              <a:t>FY 2023: 1.5M.</a:t>
            </a:r>
          </a:p>
          <a:p>
            <a:r>
              <a:rPr lang="en-IN" sz="1200" b="0" i="0" kern="1200" dirty="0">
                <a:solidFill>
                  <a:schemeClr val="tx1"/>
                </a:solidFill>
                <a:effectLst/>
                <a:latin typeface="+mn-lt"/>
                <a:ea typeface="+mn-ea"/>
                <a:cs typeface="+mn-cs"/>
              </a:rPr>
              <a:t>FY 2024: 2.3M.</a:t>
            </a:r>
          </a:p>
          <a:p>
            <a:r>
              <a:rPr lang="en-IN" sz="1200" b="0" i="0" kern="1200" dirty="0">
                <a:solidFill>
                  <a:schemeClr val="tx1"/>
                </a:solidFill>
                <a:effectLst/>
                <a:latin typeface="+mn-lt"/>
                <a:ea typeface="+mn-ea"/>
                <a:cs typeface="+mn-cs"/>
              </a:rPr>
              <a:t>FY 2025: 4.2M.</a:t>
            </a:r>
          </a:p>
          <a:p>
            <a:r>
              <a:rPr lang="en-IN" sz="1200" b="0" i="0" kern="1200" dirty="0">
                <a:solidFill>
                  <a:schemeClr val="tx1"/>
                </a:solidFill>
                <a:effectLst/>
                <a:latin typeface="+mn-lt"/>
                <a:ea typeface="+mn-ea"/>
                <a:cs typeface="+mn-cs"/>
              </a:rPr>
              <a:t>FY 2026 estimate: approximately 5.5M.</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is the single metric I am watching most closely, because Gold subscribers are the leading indicator of Robinhood's transition from a free, transaction-dependent platform to a durable subscription business. Every Gold subscriber added is permanent, recurring revenue that does not disappear when crypto crashes or when the Fed cuts rates.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Platform Assets:</a:t>
            </a:r>
          </a:p>
          <a:p>
            <a:r>
              <a:rPr lang="en-IN" sz="1200" b="0" i="0" kern="1200" dirty="0">
                <a:solidFill>
                  <a:schemeClr val="tx1"/>
                </a:solidFill>
                <a:effectLst/>
                <a:latin typeface="+mn-lt"/>
                <a:ea typeface="+mn-ea"/>
                <a:cs typeface="+mn-cs"/>
              </a:rPr>
              <a:t>FY 2022: $62B.</a:t>
            </a:r>
          </a:p>
          <a:p>
            <a:r>
              <a:rPr lang="en-IN" sz="1200" b="0" i="0" kern="1200" dirty="0">
                <a:solidFill>
                  <a:schemeClr val="tx1"/>
                </a:solidFill>
                <a:effectLst/>
                <a:latin typeface="+mn-lt"/>
                <a:ea typeface="+mn-ea"/>
                <a:cs typeface="+mn-cs"/>
              </a:rPr>
              <a:t>FY 2023: $87B.</a:t>
            </a:r>
          </a:p>
          <a:p>
            <a:r>
              <a:rPr lang="en-IN" sz="1200" b="0" i="0" kern="1200" dirty="0">
                <a:solidFill>
                  <a:schemeClr val="tx1"/>
                </a:solidFill>
                <a:effectLst/>
                <a:latin typeface="+mn-lt"/>
                <a:ea typeface="+mn-ea"/>
                <a:cs typeface="+mn-cs"/>
              </a:rPr>
              <a:t>FY 2024: $152B.</a:t>
            </a:r>
          </a:p>
          <a:p>
            <a:r>
              <a:rPr lang="en-IN" sz="1200" b="0" i="0" kern="1200" dirty="0">
                <a:solidFill>
                  <a:schemeClr val="tx1"/>
                </a:solidFill>
                <a:effectLst/>
                <a:latin typeface="+mn-lt"/>
                <a:ea typeface="+mn-ea"/>
                <a:cs typeface="+mn-cs"/>
              </a:rPr>
              <a:t>FY 2025: $218B.</a:t>
            </a:r>
          </a:p>
          <a:p>
            <a:r>
              <a:rPr lang="en-IN" sz="1200" b="0" i="0" kern="1200" dirty="0">
                <a:solidFill>
                  <a:schemeClr val="tx1"/>
                </a:solidFill>
                <a:effectLst/>
                <a:latin typeface="+mn-lt"/>
                <a:ea typeface="+mn-ea"/>
                <a:cs typeface="+mn-cs"/>
              </a:rPr>
              <a:t>Q1 2026 and onward: $350B+.</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$350B in platform assets. Three years ago it was $62B. That is a 5.6x increase. These assets represent the float of deposits, margin balances, and invested securities sitting on the Robinhood platform. The larger the asset base, the more securities lending revenue, the more cash sweep revenue, and the more margin lending capacity.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And a critically important note on diluted EPS: $2.05 in FY 2025. With the stock trading around $90 in June 2026, that is a trailing P/E of approximately 44x. The forward P/E on FY 2026 estimated EPS of approximately $2.30 is approximately 39x. That is not cheap. It is a growth multiple. And it requires continued strong execution to be justified. We will come back to this in the valuation section.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[TRANSITION: "How is Robinhood building the next layer of this business? Let us walk the product roadmap."]</a:t>
            </a:r>
          </a:p>
          <a:p>
            <a:r>
              <a:rPr lang="en-IN" sz="1200" b="0" i="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SLIDE 7 — PRODUCT ROADMAP &amp; PLATFORM EXPANSION</a:t>
            </a:r>
          </a:p>
          <a:p>
            <a:r>
              <a:rPr lang="en-IN" sz="1200" b="0" i="0" kern="1200" dirty="0">
                <a:solidFill>
                  <a:schemeClr val="tx1"/>
                </a:solidFill>
                <a:effectLst/>
                <a:latin typeface="+mn-lt"/>
                <a:ea typeface="+mn-ea"/>
                <a:cs typeface="+mn-cs"/>
              </a:rPr>
              <a:t>"SECTION 4: PRODUCT ROADMAP &amp; PLATFORM EXPANSION"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[ENERGETIC, ANALYTICAL — SPEND 4-5 MINUTES HERE]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Eight products. Four live. Two expanding. Two in development. Let me take you through each one.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LIVE — Prediction Markets.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Event contracts on elections, sports, and macro events. CFTC-regulated. Launched in 2024 as an early mover in a space that most incumbent brokers are still debating internally. Monthly volume growing. The total addressable market for prediction markets is genuinely uncertain — but </a:t>
            </a:r>
            <a:r>
              <a:rPr lang="en-IN" sz="1200" b="0" i="0" kern="1200" dirty="0" err="1">
                <a:solidFill>
                  <a:schemeClr val="tx1"/>
                </a:solidFill>
                <a:effectLst/>
                <a:latin typeface="+mn-lt"/>
                <a:ea typeface="+mn-ea"/>
                <a:cs typeface="+mn-cs"/>
              </a:rPr>
              <a:t>Polymarket</a:t>
            </a:r>
            <a:r>
              <a:rPr lang="en-IN" sz="1200" b="0" i="0" kern="1200" dirty="0">
                <a:solidFill>
                  <a:schemeClr val="tx1"/>
                </a:solidFill>
                <a:effectLst/>
                <a:latin typeface="+mn-lt"/>
                <a:ea typeface="+mn-ea"/>
                <a:cs typeface="+mn-cs"/>
              </a:rPr>
              <a:t> and Kalshi have demonstrated that retail demand is real. Robinhood being the first regulated broker to offer this gives it brand leadership in a potentially large new product category.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LIVE — Robinhood Gold Card.</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3% unlimited cash back on all purchases. No annual fee for Gold members. 55,000 plus on the waitlist at launch. The credit card serves two functions: it is a standalone financial product that generates interchange revenue, and it is a sticky engagement mechanism that keeps Gold subscribers active. A credit card user is extremely unlikely to cancel their Gold subscription, because cancellation means losing the card. That is a powerful retention mechanism.</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LIVE — Retirement Accounts.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Roth IRA and Traditional IRA launched in 2023. 1% match on IRA contributions — a feature no other major broker offers at zero cost. This is the product that most directly repositions Robinhood from a speculative trading app to a long-term wealth building platform. If a 28-year-old opens an IRA on Robinhood and gets a 1% contribution match, they are building a 30-year relationship with the platform. That is not a trading customer. That is a wealth management customer in the making.</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LIVE — 24/7 Market Trading.</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Extended hours trading from 4 AM to 8 PM. First major broker to offer true 24/5 trading. This differentiates from Schwab, TD Ameritrade, and every other incumbent. Particularly useful during international macro events when overseas news moves US markets before the opening bell.</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EXPANDING — Crypto.</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25+ coins, on-chain wallet with self-custody, crypto gifting. Post-</a:t>
            </a:r>
            <a:r>
              <a:rPr lang="en-IN" sz="1200" b="0" i="0" kern="1200" dirty="0" err="1">
                <a:solidFill>
                  <a:schemeClr val="tx1"/>
                </a:solidFill>
                <a:effectLst/>
                <a:latin typeface="+mn-lt"/>
                <a:ea typeface="+mn-ea"/>
                <a:cs typeface="+mn-cs"/>
              </a:rPr>
              <a:t>Bitstamp</a:t>
            </a:r>
            <a:r>
              <a:rPr lang="en-IN" sz="1200" b="0" i="0" kern="1200" dirty="0">
                <a:solidFill>
                  <a:schemeClr val="tx1"/>
                </a:solidFill>
                <a:effectLst/>
                <a:latin typeface="+mn-lt"/>
                <a:ea typeface="+mn-ea"/>
                <a:cs typeface="+mn-cs"/>
              </a:rPr>
              <a:t> acquisition, Robinhood has EU crypto exchange licensing and institutional custody capability. </a:t>
            </a:r>
            <a:r>
              <a:rPr lang="en-IN" sz="1200" b="0" i="0" kern="1200" dirty="0" err="1">
                <a:solidFill>
                  <a:schemeClr val="tx1"/>
                </a:solidFill>
                <a:effectLst/>
                <a:latin typeface="+mn-lt"/>
                <a:ea typeface="+mn-ea"/>
                <a:cs typeface="+mn-cs"/>
              </a:rPr>
              <a:t>Bitstamp</a:t>
            </a:r>
            <a:r>
              <a:rPr lang="en-IN" sz="1200" b="0" i="0" kern="1200" dirty="0">
                <a:solidFill>
                  <a:schemeClr val="tx1"/>
                </a:solidFill>
                <a:effectLst/>
                <a:latin typeface="+mn-lt"/>
                <a:ea typeface="+mn-ea"/>
                <a:cs typeface="+mn-cs"/>
              </a:rPr>
              <a:t> is included in net deposits from Q2 2025. This is not just a retail crypto feature — it is a regulated institutional crypto infrastructure.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EXPANDING — UK and European Market.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UK brokerage app launched 2023. </a:t>
            </a:r>
            <a:r>
              <a:rPr lang="en-IN" sz="1200" b="0" i="0" kern="1200" dirty="0" err="1">
                <a:solidFill>
                  <a:schemeClr val="tx1"/>
                </a:solidFill>
                <a:effectLst/>
                <a:latin typeface="+mn-lt"/>
                <a:ea typeface="+mn-ea"/>
                <a:cs typeface="+mn-cs"/>
              </a:rPr>
              <a:t>Bitstamp</a:t>
            </a:r>
            <a:r>
              <a:rPr lang="en-IN" sz="1200" b="0" i="0" kern="1200" dirty="0">
                <a:solidFill>
                  <a:schemeClr val="tx1"/>
                </a:solidFill>
                <a:effectLst/>
                <a:latin typeface="+mn-lt"/>
                <a:ea typeface="+mn-ea"/>
                <a:cs typeface="+mn-cs"/>
              </a:rPr>
              <a:t> adds EU regulated crypto presence. International is still sub-5% of revenue, but the direction of travel is clearly toward greater global diversification. As US regulatory risk grows, having an established EU and UK regulatory presence becomes more valuable.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DEVELOPING — Banking and Checking.</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FDIC-insured checking and savings through Gold. ATM reimbursements. Direct deposit. Robinhood Banking is reportedly targeting a July 4, 2026 rollout. The strategic ambition here is clear: replace JPMorgan Chase and Bank of America as the primary financial account for the millennial and Gen Z generation. Robinhood has not yet accomplished this. But the infrastructure is being assembled product by product.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DEVELOPING — Sherwood Media.</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Robinhood acquired Sherwood Media in 2023 and is building integrated financial news and research within the app. The goal is to reduce customer churn and increase session time. A customer who reads financial news in the Robinhood app is a customer who is not opening a Schwab account. Content as retention is a proven strategy — it is what the Wall Street Journal does for traditional investors.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[TRANSITION: "Beyond products built internally, Robinhood has been extremely active on the M&amp;A front. Let us look at those acquisitions and what they mean."]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SLIDE 8 — ACQUISITIONS &amp; STRATEGIC MOVES</a:t>
            </a:r>
          </a:p>
          <a:p>
            <a:r>
              <a:rPr lang="en-IN" sz="1200" b="0" i="0" kern="1200" dirty="0">
                <a:solidFill>
                  <a:schemeClr val="tx1"/>
                </a:solidFill>
                <a:effectLst/>
                <a:latin typeface="+mn-lt"/>
                <a:ea typeface="+mn-ea"/>
                <a:cs typeface="+mn-cs"/>
              </a:rPr>
              <a:t>"SECTION 5: ACQUISITIONS &amp; STRATEGIC MOVES"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[STRATEGIC, ANALYTICAL — SPEND 4-5 MINUTES HERE]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Six strategic moves. Let me explain why each one matters.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FEBRUARY 2025 — TradePMR. Approximately $300M.</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TradePMR is an RIA custody platform: $40B in assets under administration, 350 registered investment advisor firms. Why does this matter? Because the biggest criticism of Robinhood's business model has always been: the average account size is about $8,000. Schwab's average account size is $350,000. As Robinhood customers age and accumulate wealth, they may leave for platforms that serve wealthy investors better.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TradePMR answers that directly. By acquiring an institutional-grade RIA custody platform, Robinhood can serve customers at every stage of the wealth journey — from the 22-year-old making their first $50 stock purchase to the 52-year-old who has accumulated $2M and wants a registered investment advisor to manage it. This is a critical strategic move, and at $300M, it may prove to be extraordinarily cheap.</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JUNE 2025 — </a:t>
            </a:r>
            <a:r>
              <a:rPr lang="en-IN" sz="1200" b="0" i="0" kern="1200" dirty="0" err="1">
                <a:solidFill>
                  <a:schemeClr val="tx1"/>
                </a:solidFill>
                <a:effectLst/>
                <a:latin typeface="+mn-lt"/>
                <a:ea typeface="+mn-ea"/>
                <a:cs typeface="+mn-cs"/>
              </a:rPr>
              <a:t>Bitstamp</a:t>
            </a:r>
            <a:r>
              <a:rPr lang="en-IN" sz="1200" b="0" i="0" kern="1200" dirty="0">
                <a:solidFill>
                  <a:schemeClr val="tx1"/>
                </a:solidFill>
                <a:effectLst/>
                <a:latin typeface="+mn-lt"/>
                <a:ea typeface="+mn-ea"/>
                <a:cs typeface="+mn-cs"/>
              </a:rPr>
              <a:t>. $200M.</a:t>
            </a:r>
          </a:p>
          <a:p>
            <a:r>
              <a:rPr lang="en-IN" sz="1200" b="0" i="0" kern="1200" dirty="0">
                <a:solidFill>
                  <a:schemeClr val="tx1"/>
                </a:solidFill>
                <a:effectLst/>
                <a:latin typeface="+mn-lt"/>
                <a:ea typeface="+mn-ea"/>
                <a:cs typeface="+mn-cs"/>
              </a:rPr>
              <a:t> </a:t>
            </a:r>
          </a:p>
          <a:p>
            <a:r>
              <a:rPr lang="en-IN" sz="1200" b="0" i="0" kern="1200" dirty="0" err="1">
                <a:solidFill>
                  <a:schemeClr val="tx1"/>
                </a:solidFill>
                <a:effectLst/>
                <a:latin typeface="+mn-lt"/>
                <a:ea typeface="+mn-ea"/>
                <a:cs typeface="+mn-cs"/>
              </a:rPr>
              <a:t>Bitstamp</a:t>
            </a:r>
            <a:r>
              <a:rPr lang="en-IN" sz="1200" b="0" i="0" kern="1200" dirty="0">
                <a:solidFill>
                  <a:schemeClr val="tx1"/>
                </a:solidFill>
                <a:effectLst/>
                <a:latin typeface="+mn-lt"/>
                <a:ea typeface="+mn-ea"/>
                <a:cs typeface="+mn-cs"/>
              </a:rPr>
              <a:t> is the oldest operational crypto exchange. What Robinhood bought for $200M: an EU crypto exchange licence, institutional custody capability, staking rewards infrastructure, and the regulatory approval to operate in European crypto markets. Post-</a:t>
            </a:r>
            <a:r>
              <a:rPr lang="en-IN" sz="1200" b="0" i="0" kern="1200" dirty="0" err="1">
                <a:solidFill>
                  <a:schemeClr val="tx1"/>
                </a:solidFill>
                <a:effectLst/>
                <a:latin typeface="+mn-lt"/>
                <a:ea typeface="+mn-ea"/>
                <a:cs typeface="+mn-cs"/>
              </a:rPr>
              <a:t>Bitstamp</a:t>
            </a:r>
            <a:r>
              <a:rPr lang="en-IN" sz="1200" b="0" i="0" kern="1200" dirty="0">
                <a:solidFill>
                  <a:schemeClr val="tx1"/>
                </a:solidFill>
                <a:effectLst/>
                <a:latin typeface="+mn-lt"/>
                <a:ea typeface="+mn-ea"/>
                <a:cs typeface="+mn-cs"/>
              </a:rPr>
              <a:t>, Robinhood has a credible institutional crypto offering. This matters because institutional crypto is where the real volume is. Coinbase built its institutional business to over half of its revenue base. Robinhood is now on the path to do the same.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MAY 2026 — Agentic Trading. Internal.</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is not an acquisition — it is a product launch. But it deserves this level of attention because it may be the most consequential product decision Robinhood has made since zero-commission trading in 2015.</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Agentic trading: AI agents that execute trades autonomously on behalf of customers. Third-party AI systems can also connect to the Robinhood brokerage via API and execute trades. Robinhood is the first regulated US broker to offer this capability.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Think about what this means. You could build an AI system on top of Robinhood's infrastructure that monitors markets 24 hours a day, responds to earnings releases at 3 AM, rebalances portfolios in real time, and executes strategies that would require a professional trader with three screens and a Bloomberg terminal to replicate manually. And you could do it through a Robinhood account.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If agentic trading drives even a 20% increase in trading frequency among active users, the revenue implication is significant. And if third-party AI developers start building on the Robinhood API the way developers built on Stripe or Twilio, Robinhood becomes a platform company — not just a broker.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JUNE 2026 — </a:t>
            </a:r>
            <a:r>
              <a:rPr lang="en-IN" sz="1200" b="0" i="0" kern="1200" dirty="0" err="1">
                <a:solidFill>
                  <a:schemeClr val="tx1"/>
                </a:solidFill>
                <a:effectLst/>
                <a:latin typeface="+mn-lt"/>
                <a:ea typeface="+mn-ea"/>
                <a:cs typeface="+mn-cs"/>
              </a:rPr>
              <a:t>WonderFi</a:t>
            </a:r>
            <a:r>
              <a:rPr lang="en-IN" sz="1200" b="0" i="0" kern="1200" dirty="0">
                <a:solidFill>
                  <a:schemeClr val="tx1"/>
                </a:solidFill>
                <a:effectLst/>
                <a:latin typeface="+mn-lt"/>
                <a:ea typeface="+mn-ea"/>
                <a:cs typeface="+mn-cs"/>
              </a:rPr>
              <a:t>. Approximately $250M Canadian.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Canadian-regulated crypto platform with over $500B in historical transaction volume heritage. Canadian regulatory approval received. This gives Robinhood a regulated crypto footprint in Canada to match its US, UK, and EU presence. International crypto is becoming an increasingly important revenue diversification lever.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2026 — Tokenisation on </a:t>
            </a:r>
            <a:r>
              <a:rPr lang="en-IN" sz="1200" b="0" i="0" kern="1200" dirty="0" err="1">
                <a:solidFill>
                  <a:schemeClr val="tx1"/>
                </a:solidFill>
                <a:effectLst/>
                <a:latin typeface="+mn-lt"/>
                <a:ea typeface="+mn-ea"/>
                <a:cs typeface="+mn-cs"/>
              </a:rPr>
              <a:t>Arbitrum</a:t>
            </a:r>
            <a:r>
              <a:rPr lang="en-IN" sz="1200" b="0" i="0" kern="1200" dirty="0">
                <a:solidFill>
                  <a:schemeClr val="tx1"/>
                </a:solidFill>
                <a:effectLst/>
                <a:latin typeface="+mn-lt"/>
                <a:ea typeface="+mn-ea"/>
                <a:cs typeface="+mn-cs"/>
              </a:rPr>
              <a:t> Layer 2. Internal.</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Robinhood is developing a proprietary Layer 2 blockchain on the </a:t>
            </a:r>
            <a:r>
              <a:rPr lang="en-IN" sz="1200" b="0" i="0" kern="1200" dirty="0" err="1">
                <a:solidFill>
                  <a:schemeClr val="tx1"/>
                </a:solidFill>
                <a:effectLst/>
                <a:latin typeface="+mn-lt"/>
                <a:ea typeface="+mn-ea"/>
                <a:cs typeface="+mn-cs"/>
              </a:rPr>
              <a:t>Arbitrum</a:t>
            </a:r>
            <a:r>
              <a:rPr lang="en-IN" sz="1200" b="0" i="0" kern="1200" dirty="0">
                <a:solidFill>
                  <a:schemeClr val="tx1"/>
                </a:solidFill>
                <a:effectLst/>
                <a:latin typeface="+mn-lt"/>
                <a:ea typeface="+mn-ea"/>
                <a:cs typeface="+mn-cs"/>
              </a:rPr>
              <a:t> network to tokenise US stocks and ETFs for 24/7 on-chain trading in Europe. CEO Vlad Tenev has called this, quote, the biggest innovation our industry has seen in a decade. I want to be sceptical here — that is a bold claim and it is not yet approved by the SEC. But the concept is genuine: if you can make US equities tradeable on a blockchain 24 hours a day, 7 days a week, across time zones, with instant settlement — you have fundamentally changed the structure of global equity markets. This is a big bet. Its probability of full execution is unclear. But the ambition is real.</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2026 — Trump Accounts.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Tax-advantaged investment accounts for eligible children, with a $1,000 initial US Treasury contribution. Robinhood is a key distribution partner. This could potentially add millions of new funded accounts — and critically, these are funded accounts at zero customer acquisition cost to Robinhood. The government is paying the acquisition cost. If this program scales, Robinhood gets to onboard a generation of first-time investors without spending a dollar on marketing.</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[TRANSITION: "Now let us look at who Robinhood is competing against — because this landscape is more complex than most people think."]</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SLIDE 9 — COMPETITIVE LANDSCAPE</a:t>
            </a:r>
          </a:p>
          <a:p>
            <a:r>
              <a:rPr lang="en-IN" sz="1200" b="0" i="0" kern="1200" dirty="0">
                <a:solidFill>
                  <a:schemeClr val="tx1"/>
                </a:solidFill>
                <a:effectLst/>
                <a:latin typeface="+mn-lt"/>
                <a:ea typeface="+mn-ea"/>
                <a:cs typeface="+mn-cs"/>
              </a:rPr>
              <a:t>"SECTION 6: COMPETITIVE LANDSCAPE"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[CONFIDENT, COMPARATIVE — SPEND 4-5 MINUTES HERE]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Six competitors. Let me go through each one quickly and tell you where Robinhood wins, where it loses, and where the match is genuinely uncertain.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ROBINHOOD vs CHARLES SCHWAB.</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Schwab has $140B in market cap. $19.6B in FY 2025 revenue. 35M+ customers. A nationwide branch network. An advisor platform. An institutional custody business. By almost every traditional brokerage metric, Schwab is larger.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But here is what Schwab does not have: a mobile-native UX built for 25-to-45 year-olds, a crypto offering, an agentic AI trading product, or 4.3M subscribers in a growing subscription tier. Schwab's app is an afterthought. It was designed for people who used desktops in 2005 and adapted to mobile reluctantly. When the Great Wealth Transfer begins in earnest — when trillions of dollars move from Boomer to Millennial hands — those Millennials are not going to log into a desktop portal. They are going to open an app. And if that app is Robinhood, with better UX, crypto, AI, and a Gold subscription, Schwab's incumbent advantage weakens with every passing year.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ROBINHOOD vs INTERACTIVE BROKERS.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Interactive Brokers is the platform of choice for professional traders and sophisticated retail investors. $55B market cap. $5.3B FY 2025 revenue. Global reach, extremely competitive margin rates, access to almost every asset class globally.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Robinhood cannot win the professional trader segment against Interactive Brokers. That is not the target market and it should not be. But Robinhood Legend — the AI-powered desktop platform launched in 2024 — and the Robinhood Cortex AI trading tools are specifically designed to move upmarket. The question is whether Robinhood can capture semi-professional traders who want sophisticated tools in a better user experience.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ROBINHOOD vs COINBASE.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is the most interesting competitive comparison. Coinbase is a $60B company with $6.6B in FY 2025 revenue. It is crypto-native. Institutional. Globally regulated. Coinbase's Base Layer 2 network is a genuine technological platform.</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But here is what Coinbase does not have: equities. Coinbase cannot let you buy Apple stock, sell covered calls on Tesla, or transfer your IRA into an index fund. Robinhood can do all of those things and crypto simultaneously. Post-</a:t>
            </a:r>
            <a:r>
              <a:rPr lang="en-IN" sz="1200" b="0" i="0" kern="1200" dirty="0" err="1">
                <a:solidFill>
                  <a:schemeClr val="tx1"/>
                </a:solidFill>
                <a:effectLst/>
                <a:latin typeface="+mn-lt"/>
                <a:ea typeface="+mn-ea"/>
                <a:cs typeface="+mn-cs"/>
              </a:rPr>
              <a:t>Bitstamp</a:t>
            </a:r>
            <a:r>
              <a:rPr lang="en-IN" sz="1200" b="0" i="0" kern="1200" dirty="0">
                <a:solidFill>
                  <a:schemeClr val="tx1"/>
                </a:solidFill>
                <a:effectLst/>
                <a:latin typeface="+mn-lt"/>
                <a:ea typeface="+mn-ea"/>
                <a:cs typeface="+mn-cs"/>
              </a:rPr>
              <a:t>, Robinhood has institutional crypto custody. Post-</a:t>
            </a:r>
            <a:r>
              <a:rPr lang="en-IN" sz="1200" b="0" i="0" kern="1200" dirty="0" err="1">
                <a:solidFill>
                  <a:schemeClr val="tx1"/>
                </a:solidFill>
                <a:effectLst/>
                <a:latin typeface="+mn-lt"/>
                <a:ea typeface="+mn-ea"/>
                <a:cs typeface="+mn-cs"/>
              </a:rPr>
              <a:t>Arbitrum</a:t>
            </a:r>
            <a:r>
              <a:rPr lang="en-IN" sz="1200" b="0" i="0" kern="1200" dirty="0">
                <a:solidFill>
                  <a:schemeClr val="tx1"/>
                </a:solidFill>
                <a:effectLst/>
                <a:latin typeface="+mn-lt"/>
                <a:ea typeface="+mn-ea"/>
                <a:cs typeface="+mn-cs"/>
              </a:rPr>
              <a:t> tokenisation, if it gets regulatory approval, Robinhood could let European customers trade tokenised US stocks around the clock. Coinbase does not have that capability.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The bundling advantage is real: if you want equities, crypto, retirement, a credit card, banking, and AI trading — all in one app — Robinhood is the only regulated US platform that can offer that. Coinbase offers a subset. Schwab offers a different subset. Nobody else offers the full stack.</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ROBINHOOD vs SOFI.</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SoFi — which we covered in our last research note — is a direct competitor in some product areas but a fundamentally different business. SoFi has a national bank charter that gives it 5.94% net interest margin on its deposit base. Robinhood does not have a bank charter yet. SoFi's Galileo B2B platform processes 128M accounts for competitors. SoFi has a lending business with $12.2B in quarterly loan originations.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Robinhood has none of those things. But Robinhood has something SoFi does not: crypto at genuine scale, an agentic AI first-mover position, 27M funded accounts versus SoFi's 14.7M members, and a subscription business growing at 36% annually. These are different bets. You could own both.</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ROBINHOOD vs WEBULL.</a:t>
            </a:r>
          </a:p>
          <a:p>
            <a:r>
              <a:rPr lang="en-IN" sz="1200" b="0" i="0" kern="1200" dirty="0">
                <a:solidFill>
                  <a:schemeClr val="tx1"/>
                </a:solidFill>
                <a:effectLst/>
                <a:latin typeface="+mn-lt"/>
                <a:ea typeface="+mn-ea"/>
                <a:cs typeface="+mn-cs"/>
              </a:rPr>
              <a:t> </a:t>
            </a:r>
          </a:p>
          <a:p>
            <a:r>
              <a:rPr lang="en-IN" sz="1200" b="0" i="0" kern="1200" dirty="0" err="1">
                <a:solidFill>
                  <a:schemeClr val="tx1"/>
                </a:solidFill>
                <a:effectLst/>
                <a:latin typeface="+mn-lt"/>
                <a:ea typeface="+mn-ea"/>
                <a:cs typeface="+mn-cs"/>
              </a:rPr>
              <a:t>Webull</a:t>
            </a:r>
            <a:r>
              <a:rPr lang="en-IN" sz="1200" b="0" i="0" kern="1200" dirty="0">
                <a:solidFill>
                  <a:schemeClr val="tx1"/>
                </a:solidFill>
                <a:effectLst/>
                <a:latin typeface="+mn-lt"/>
                <a:ea typeface="+mn-ea"/>
                <a:cs typeface="+mn-cs"/>
              </a:rPr>
              <a:t> is a $5B market cap company with approximately $600M in revenue. Its strength is in real-time data, paper trading, and a technically sophisticated interface that appeals to intermediate traders. </a:t>
            </a:r>
            <a:r>
              <a:rPr lang="en-IN" sz="1200" b="0" i="0" kern="1200" dirty="0" err="1">
                <a:solidFill>
                  <a:schemeClr val="tx1"/>
                </a:solidFill>
                <a:effectLst/>
                <a:latin typeface="+mn-lt"/>
                <a:ea typeface="+mn-ea"/>
                <a:cs typeface="+mn-cs"/>
              </a:rPr>
              <a:t>Webull</a:t>
            </a:r>
            <a:r>
              <a:rPr lang="en-IN" sz="1200" b="0" i="0" kern="1200" dirty="0">
                <a:solidFill>
                  <a:schemeClr val="tx1"/>
                </a:solidFill>
                <a:effectLst/>
                <a:latin typeface="+mn-lt"/>
                <a:ea typeface="+mn-ea"/>
                <a:cs typeface="+mn-cs"/>
              </a:rPr>
              <a:t> is building an AI offering. It is a credible competitor in the active trader segment. But it lacks Robinhood's brand, scale, crypto depth, and product breadth. This is not Robinhood's most threatening competitor.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The overall competitive conclusion: Robinhood's moat is not any single product. It is the combination of mobile-first UX, crypto integration, agentic AI first-mover positioning, and a growing subscription ecosystem — all targeting the demographic that is about to inherit the largest wealth transfer in American history. No single competitor has replicated that full stack.</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[TRANSITION: "Now we get to the part of every research note that I consider the most important. The red flags. Because there are real ones here, and serious investors need to understand them."]</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SLIDE 10 — RED FLAGS &amp; INVESTMENT RISKS</a:t>
            </a:r>
          </a:p>
          <a:p>
            <a:r>
              <a:rPr lang="en-IN" sz="1200" b="0" i="0" kern="1200" dirty="0">
                <a:solidFill>
                  <a:schemeClr val="tx1"/>
                </a:solidFill>
                <a:effectLst/>
                <a:latin typeface="+mn-lt"/>
                <a:ea typeface="+mn-ea"/>
                <a:cs typeface="+mn-cs"/>
              </a:rPr>
              <a:t>"SECTION 7: RED FLAGS &amp; INVESTMENT RISKS"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[SERIOUS, SOBER — SPEND 6-7 MINUTES HERE]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Eight risks. Two I classify as potentially existential. Let me be direct with you.</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CRITICAL — PFOF Ban or Severe Restriction.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Payment for Order Flow — the practice of routing retail orders to market makers in exchange for rebates — faces ongoing SEC and Congressional scrutiny. The EU and UK have already banned PFOF outright. In the US, the SEC under Chairman Gensler attempted to reform PFOF rules, though those efforts did not result in an outright ban. A future SEC could revisit this.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Here is the number you need to know: Options PFOF is approximately $1.26B in annual revenue for Robinhood in FY 2025. That is the single largest revenue line in the entire business. An outright PFOF ban does not just slow Robinhood — it removes approximately 28% of FY 2025 revenue overnight. There is no offsetting product that fills that gap immediately. Equities PFOF adds another $300M+ of revenue at risk.</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Could Robinhood survive a PFOF ban? Possibly, if it transitions to explicit trading fees. But that would require its millions of customers to suddenly pay for something they have always gotten for free — and that is an extremely difficult product transition. This is the single largest structural risk in the entire investment case.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CRITICAL — Crypto Revenue Volatility.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Crypto transaction revenue collapsed approximately 90% during the 2022 to 2023 crypto bear market. In that period, Robinhood came within a manageable distance of genuinely threatening circumstances. Today, crypto represents 35%+ of quarterly transaction revenue when markets are strong.</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Any sustained bear market in digital assets — a prolonged decline in Bitcoin and Ethereum prices — could crater 20% or more of total revenue with very limited variable cost offset. The fixed cost base does not go down when crypto volume disappears. The EPS swing in such a scenario would be dramatic. Q1 2026 already showed crypto weakness. Investors must price this cyclicality explicitly.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HIGH — Platform Concentration in the Millennial Cohort.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Robinhood's customer base skews heavily toward 25 to 45 year-olds. The average account size is approximately $8,000. Schwab's average account size is $350,000. As Robinhood's customers age and accumulate wealth, the fundamental question is: do they stay? Or do they graduate to Schwab, Fidelity, or a fee-only RIA as their financial complexity grows?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TradePMR partially addresses this. Retirement accounts partially address this. But customer retention as wealth grows remains unproven at scale. If Robinhood is a starter broker — a platform people use in their twenties and leave in their thirties — then the Great Wealth Transfer thesis does not hold.</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HIGH — Gamification and Regulatory Reputation.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The 2021 FINRA fine of $70M — the largest ever at the time — for gamification of trading and options approval failures is not ancient history. It is a regulatory record. A new 2026 CFTC or SEC posture on prediction markets, or a FINRA inquiry into agentic trading suitability standards, could restrict key growth products precisely at the moment they are gaining traction. Robinhood has a documented history of being faster to launch than regulators can review, and paying the fine afterward. That strategy has a finite number of applications before it becomes a significant liability.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HIGH — Interest Rate Sensitivity.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Net interest revenue of $1.45B in FY 2025 is heavily dependent on elevated interest rates. The cash sweep product — which earns Gold members 5% APY and earns Robinhood more than it pays out — works brilliantly when rates are at 5%. When rates fall to 2%, the spread compresses. When rates fall to near zero — as they did in 2020 — this pillar is essentially eliminated. A return to the 2020 rate environment could reduce net interest revenue by $700M to over $1B. That is not a rounding error.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MEDIUM — Customer Acquisition Cost and Churn.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Funded customer growth of plus 8% year over year in Q1 2025 is far slower than the COVID-era growth that built the 27M account base. The marketing incentives required to attract new customers — 3% IRA match, cash transfer bonuses, free stock offers — are genuinely expensive. Churn from inactive users who joined in 2020 and 2021 remains a real concern. Robinhood does not disclose retention rates for non-Gold users, which is a disclosure gap that every serious investor should notice.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MEDIUM — Agentic AI Execution and Regulatory Risk.</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Launching AI agents that execute trades autonomously is novel regulatory territory. FINRA suitability rules. SEC best-interest standards. Potential liability for AI-caused losses. These frameworks were built for human advisors making human decisions. An AI agent that executes 10,000 trades while a user is sleeping is a fundamentally different compliance challenge. One high-profile AI trading failure — a scenario where an AI agent makes an obviously wrong trade based on bad data and causes a customer significant losses — could trigger regulatory action that shuts down the entire product.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WATCH — IPO Class-Action Lawsuit at the Supreme Court.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The US Supreme Court in June 2026 is reviewing whether to hear Robinhood's appeal of an IPO class-action lawsuit alleging insufficient disclosure of business risks at the time of the 2021 IPO. If the Supreme Court decides to hear the case and ultimately rules against Robinhood, the financial liability exposure and management distraction could be material. This is a watch item, not yet a confirmed risk — but it should be on every investor's radar.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[TRANSITION: "All of those risks acknowledged — let us now turn to the investment thesis. Because there is a genuine bull case here, if and only if three core beliefs hold simultaneously."]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SLIDE 11 — INVESTMENT THESIS: THREE CORE BELIEFS</a:t>
            </a:r>
          </a:p>
          <a:p>
            <a:r>
              <a:rPr lang="en-IN" sz="1200" b="0" i="0" kern="1200" dirty="0">
                <a:solidFill>
                  <a:schemeClr val="tx1"/>
                </a:solidFill>
                <a:effectLst/>
                <a:latin typeface="+mn-lt"/>
                <a:ea typeface="+mn-ea"/>
                <a:cs typeface="+mn-cs"/>
              </a:rPr>
              <a:t>"SECTION 8: INVESTMENT THESIS — THREE CORE BELIEFS"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[STRUCTURED, ANALYTICAL — SPEND 4-5 MINUTES HERE]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is the framework slide. And I want to emphasise: all three of these beliefs must hold simultaneously for the long-term bull case to work. If even one breaks, the thesis weakens materially.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CORE BELIEF ONE: The Great Wealth Transfer Is Real and Robinhood Is Best-Positioned to Capture It.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IF TRUE: $84T in assets is expected to transfer from Boomers to Millennials and Gen Z over the next twenty years. Millennials already hold $9T in wealth, and it is growing fastest of any cohort. Robinhood's 27M funded accounts are approximately 80% aged 25 to 45 — the exact demographic about to receive this wealth. TradePMR gives Robinhood the institutional custody infrastructure to serve those customers as balances grow from $8,000 to $800,000. Gold subscribers monetise at three to five times the rate of standard users. As wealth grows, Gold penetration grows with it.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IF FALSE: If wealth transfer beneficiaries — newly enriched thirty and forty year-olds who inherited money from their parents — go to Schwab, Fidelity, or fee-only RIAs rather than staying on Robinhood, the platform remains a starter broker that users graduate out of. The average account size gap — $8,000 at Robinhood versus $350,000 at Schwab — reveals this risk acutely. This is the single most important long-term question about the business model.</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CORE BELIEF TWO: Robinhood Gold Creates a Durable, Rate-Independent Income Floor.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IF TRUE: 4.3M Gold subscribers generate approximately $360M in annualised subscription revenue — recurring, high-margin, growing at 36% year over year. Gold users are stickier, more active, and more profitable in every dimension. As Gold penetrates deeper into the 27M account base — currently at 16% penetration — this becomes a $700M to $1B annual revenue stream that is structurally uncorrelated to crypto cycles or interest rate cycles. That is a genuinely different kind of asset than Robinhood has ever had.</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IF FALSE: If the Federal Reserve cuts rates aggressively, the 5% APY on Gold cash sweep — the primary reason many people subscribe to Gold — loses its competitive advantage. Why pay $6.99 per month for 5% APY when traditional savings accounts are offering 4%? If rate compression causes Gold churn to accelerate, the subscription business thesis weakens. Subscription-only revenue without deep engagement — without the credit card, margin borrowing, and active trading that Gold enables — does not build the durable moat the thesis requires.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CORE BELIEF THREE: Agentic AI Plus Tokenisation Equals the Next Platform Cycle, a 2027 to 2030 Re-Rating Catalyst.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IF TRUE: First-mover in agentic trading as of May 2026. Proprietary </a:t>
            </a:r>
            <a:r>
              <a:rPr lang="en-IN" sz="1200" b="0" i="0" kern="1200" dirty="0" err="1">
                <a:solidFill>
                  <a:schemeClr val="tx1"/>
                </a:solidFill>
                <a:effectLst/>
                <a:latin typeface="+mn-lt"/>
                <a:ea typeface="+mn-ea"/>
                <a:cs typeface="+mn-cs"/>
              </a:rPr>
              <a:t>Arbitrum</a:t>
            </a:r>
            <a:r>
              <a:rPr lang="en-IN" sz="1200" b="0" i="0" kern="1200" dirty="0">
                <a:solidFill>
                  <a:schemeClr val="tx1"/>
                </a:solidFill>
                <a:effectLst/>
                <a:latin typeface="+mn-lt"/>
                <a:ea typeface="+mn-ea"/>
                <a:cs typeface="+mn-cs"/>
              </a:rPr>
              <a:t> Layer 2 tokenisation in development. Crypto-native platform post-</a:t>
            </a:r>
            <a:r>
              <a:rPr lang="en-IN" sz="1200" b="0" i="0" kern="1200" dirty="0" err="1">
                <a:solidFill>
                  <a:schemeClr val="tx1"/>
                </a:solidFill>
                <a:effectLst/>
                <a:latin typeface="+mn-lt"/>
                <a:ea typeface="+mn-ea"/>
                <a:cs typeface="+mn-cs"/>
              </a:rPr>
              <a:t>Bitstamp</a:t>
            </a:r>
            <a:r>
              <a:rPr lang="en-IN" sz="1200" b="0" i="0" kern="1200" dirty="0">
                <a:solidFill>
                  <a:schemeClr val="tx1"/>
                </a:solidFill>
                <a:effectLst/>
                <a:latin typeface="+mn-lt"/>
                <a:ea typeface="+mn-ea"/>
                <a:cs typeface="+mn-cs"/>
              </a:rPr>
              <a:t>. If agentic AI meaningfully increases trading frequency and engagement — driving ARPU from the current approximately $130 annually toward $300 plus — the revenue inflection changes the valuation conversation entirely. And if tokenised stock trading gets SEC or European regulatory approval, Robinhood could unlock 24/7 on-chain equity trading globally. That is a market structure disruption on the scale of the original zero-commission revolution.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IF FALSE: Agentic AI is genuinely novel regulatory territory. One high-profile failure or a FINRA ban erases the growth story before it starts. Tokenisation faces SEC opposition and may remain limited to non-US markets for years. And competitors — large technology companies with more AI engineering resources than any broker — could build competing AI trading assistants integrated into their existing financial products. First-mover advantages in fintech do not always compound the way they do in enterprise software.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[TRANSITION: "Given all of this — what does the stock look like in three scenarios? Let us build the price targets."]</a:t>
            </a:r>
          </a:p>
          <a:p>
            <a:r>
              <a:rPr lang="en-IN" sz="1200" b="0" i="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SLIDE 12 — PRICE PROJECTIONS: BULL / BASE / BEAR</a:t>
            </a:r>
          </a:p>
          <a:p>
            <a:r>
              <a:rPr lang="en-IN" sz="1200" b="0" i="0" kern="1200" dirty="0">
                <a:solidFill>
                  <a:schemeClr val="tx1"/>
                </a:solidFill>
                <a:effectLst/>
                <a:latin typeface="+mn-lt"/>
                <a:ea typeface="+mn-ea"/>
                <a:cs typeface="+mn-cs"/>
              </a:rPr>
              <a:t>"SECTION 9: PRICE PROJECTION — BULL / BASE / BEAR"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[QUANTITATIVE, PRECISE — SPEND 4-5 MINUTES HERE]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Current market price: approximately $90. Market cap approximately $82B. Shares outstanding approximately 908M. Next earnings: Q2 2026, expected in July or August. 52-week high: $153.86. 52-week low: $62.92.</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BEAR CASE — 12-Month Target: $45 to $60.</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That is negative 33% to negative 50% from current price.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2026 estimated revenue in bear: $4.5 to $5.0B — growth stalls at the low end.</a:t>
            </a:r>
          </a:p>
          <a:p>
            <a:r>
              <a:rPr lang="en-IN" sz="1200" b="0" i="0" kern="1200" dirty="0">
                <a:solidFill>
                  <a:schemeClr val="tx1"/>
                </a:solidFill>
                <a:effectLst/>
                <a:latin typeface="+mn-lt"/>
                <a:ea typeface="+mn-ea"/>
                <a:cs typeface="+mn-cs"/>
              </a:rPr>
              <a:t>Implied multiple: 18 to 22x forward P/E.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Triggers required for this scenario:</a:t>
            </a:r>
          </a:p>
          <a:p>
            <a:r>
              <a:rPr lang="en-IN" sz="1200" b="0" i="0" kern="1200" dirty="0">
                <a:solidFill>
                  <a:schemeClr val="tx1"/>
                </a:solidFill>
                <a:effectLst/>
                <a:latin typeface="+mn-lt"/>
                <a:ea typeface="+mn-ea"/>
                <a:cs typeface="+mn-cs"/>
              </a:rPr>
              <a:t>PFOF ban or severe restriction enacted by SEC or Congress — removes $1.5B+ in annual revenue.</a:t>
            </a:r>
          </a:p>
          <a:p>
            <a:r>
              <a:rPr lang="en-IN" sz="1200" b="0" i="0" kern="1200" dirty="0">
                <a:solidFill>
                  <a:schemeClr val="tx1"/>
                </a:solidFill>
                <a:effectLst/>
                <a:latin typeface="+mn-lt"/>
                <a:ea typeface="+mn-ea"/>
                <a:cs typeface="+mn-cs"/>
              </a:rPr>
              <a:t>Sustained crypto bear market — crypto revenue collapses 40%+, taking 15% of total revenue with it.</a:t>
            </a:r>
          </a:p>
          <a:p>
            <a:r>
              <a:rPr lang="en-IN" sz="1200" b="0" i="0" kern="1200" dirty="0">
                <a:solidFill>
                  <a:schemeClr val="tx1"/>
                </a:solidFill>
                <a:effectLst/>
                <a:latin typeface="+mn-lt"/>
                <a:ea typeface="+mn-ea"/>
                <a:cs typeface="+mn-cs"/>
              </a:rPr>
              <a:t>Multiple compression from the current 45x trailing P/E to approximately 18x as growth decelerates toward 10%.</a:t>
            </a:r>
          </a:p>
          <a:p>
            <a:r>
              <a:rPr lang="en-IN" sz="1200" b="0" i="0" kern="1200" dirty="0">
                <a:solidFill>
                  <a:schemeClr val="tx1"/>
                </a:solidFill>
                <a:effectLst/>
                <a:latin typeface="+mn-lt"/>
                <a:ea typeface="+mn-ea"/>
                <a:cs typeface="+mn-cs"/>
              </a:rPr>
              <a:t>Federal Reserve cuts rates aggressively — net interest revenue compressed 50%, eliminating $720M+ of revenue.</a:t>
            </a:r>
          </a:p>
          <a:p>
            <a:r>
              <a:rPr lang="en-IN" sz="1200" b="0" i="0" kern="1200" dirty="0">
                <a:solidFill>
                  <a:schemeClr val="tx1"/>
                </a:solidFill>
                <a:effectLst/>
                <a:latin typeface="+mn-lt"/>
                <a:ea typeface="+mn-ea"/>
                <a:cs typeface="+mn-cs"/>
              </a:rPr>
              <a:t>Agentic AI product banned or restricted by FINRA before it can scale.</a:t>
            </a:r>
          </a:p>
          <a:p>
            <a:r>
              <a:rPr lang="en-IN" sz="1200" b="0" i="0" kern="1200" dirty="0">
                <a:solidFill>
                  <a:schemeClr val="tx1"/>
                </a:solidFill>
                <a:effectLst/>
                <a:latin typeface="+mn-lt"/>
                <a:ea typeface="+mn-ea"/>
                <a:cs typeface="+mn-cs"/>
              </a:rPr>
              <a:t>TradePMR integration fails — RIA customer churn offsets new customer acquisition.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is not an impossible scenario. If three or four of these triggers activate simultaneously, $45 to $60 is the destination. This is the scenario where Robinhood's revenue model turns out to be fragile in ways that were not visible during the benign 2023 to 2025 operating environment.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BASE CASE — 12-Month Target: $100 to $130.</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That is positive 11% to positive 44% from current price.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2026 estimated revenue in base: $5.1 to $5.5B — guidance execution.</a:t>
            </a:r>
          </a:p>
          <a:p>
            <a:r>
              <a:rPr lang="en-IN" sz="1200" b="0" i="0" kern="1200" dirty="0">
                <a:solidFill>
                  <a:schemeClr val="tx1"/>
                </a:solidFill>
                <a:effectLst/>
                <a:latin typeface="+mn-lt"/>
                <a:ea typeface="+mn-ea"/>
                <a:cs typeface="+mn-cs"/>
              </a:rPr>
              <a:t>Implied multiple: 32 to 38x forward P/E.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Triggers required:</a:t>
            </a:r>
          </a:p>
          <a:p>
            <a:r>
              <a:rPr lang="en-IN" sz="1200" b="0" i="0" kern="1200" dirty="0">
                <a:solidFill>
                  <a:schemeClr val="tx1"/>
                </a:solidFill>
                <a:effectLst/>
                <a:latin typeface="+mn-lt"/>
                <a:ea typeface="+mn-ea"/>
                <a:cs typeface="+mn-cs"/>
              </a:rPr>
              <a:t>FY 2026 revenue hits the $5.1 to $5.5B range with EPS of $2.20 to $2.50.</a:t>
            </a:r>
          </a:p>
          <a:p>
            <a:r>
              <a:rPr lang="en-IN" sz="1200" b="0" i="0" kern="1200" dirty="0">
                <a:solidFill>
                  <a:schemeClr val="tx1"/>
                </a:solidFill>
                <a:effectLst/>
                <a:latin typeface="+mn-lt"/>
                <a:ea typeface="+mn-ea"/>
                <a:cs typeface="+mn-cs"/>
              </a:rPr>
              <a:t>Gold subscribers reach 5.5M+ by year-end 2026, confirming the subscription growth trajectory.</a:t>
            </a:r>
          </a:p>
          <a:p>
            <a:r>
              <a:rPr lang="en-IN" sz="1200" b="0" i="0" kern="1200" dirty="0">
                <a:solidFill>
                  <a:schemeClr val="tx1"/>
                </a:solidFill>
                <a:effectLst/>
                <a:latin typeface="+mn-lt"/>
                <a:ea typeface="+mn-ea"/>
                <a:cs typeface="+mn-cs"/>
              </a:rPr>
              <a:t>Net deposits sustain a $60 to $70B annual growth rate — platform assets continue compounding.</a:t>
            </a:r>
          </a:p>
          <a:p>
            <a:r>
              <a:rPr lang="en-IN" sz="1200" b="0" i="0" kern="1200" dirty="0">
                <a:solidFill>
                  <a:schemeClr val="tx1"/>
                </a:solidFill>
                <a:effectLst/>
                <a:latin typeface="+mn-lt"/>
                <a:ea typeface="+mn-ea"/>
                <a:cs typeface="+mn-cs"/>
              </a:rPr>
              <a:t>Crypto revenue moderates from Q1 weakness but does not collapse — stable in the second half.</a:t>
            </a:r>
          </a:p>
          <a:p>
            <a:r>
              <a:rPr lang="en-IN" sz="1200" b="0" i="0" kern="1200" dirty="0">
                <a:solidFill>
                  <a:schemeClr val="tx1"/>
                </a:solidFill>
                <a:effectLst/>
                <a:latin typeface="+mn-lt"/>
                <a:ea typeface="+mn-ea"/>
                <a:cs typeface="+mn-cs"/>
              </a:rPr>
              <a:t>Agentic trading grows engagement without triggering major regulatory headwinds.</a:t>
            </a:r>
          </a:p>
          <a:p>
            <a:r>
              <a:rPr lang="en-IN" sz="1200" b="0" i="0" kern="1200" dirty="0" err="1">
                <a:solidFill>
                  <a:schemeClr val="tx1"/>
                </a:solidFill>
                <a:effectLst/>
                <a:latin typeface="+mn-lt"/>
                <a:ea typeface="+mn-ea"/>
                <a:cs typeface="+mn-cs"/>
              </a:rPr>
              <a:t>WonderFi</a:t>
            </a:r>
            <a:r>
              <a:rPr lang="en-IN" sz="1200" b="0" i="0" kern="1200" dirty="0">
                <a:solidFill>
                  <a:schemeClr val="tx1"/>
                </a:solidFill>
                <a:effectLst/>
                <a:latin typeface="+mn-lt"/>
                <a:ea typeface="+mn-ea"/>
                <a:cs typeface="+mn-cs"/>
              </a:rPr>
              <a:t> Canada and international revenue begin contributing meaningfully to the story.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is the scenario where management delivers on what they have guided to, the macro environment cooperates, and the multiple re-rates modestly from 45x trailing toward 32 to 38x forward earnings. This is the most probable positive outcome.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BULL CASE — 12-Month Target: $160 to $200.</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That is positive 78% to positive 122% from current price.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2026 estimated revenue in bull: $6.5 to $8.0B — well above current consensus.</a:t>
            </a:r>
          </a:p>
          <a:p>
            <a:r>
              <a:rPr lang="en-IN" sz="1200" b="0" i="0" kern="1200" dirty="0">
                <a:solidFill>
                  <a:schemeClr val="tx1"/>
                </a:solidFill>
                <a:effectLst/>
                <a:latin typeface="+mn-lt"/>
                <a:ea typeface="+mn-ea"/>
                <a:cs typeface="+mn-cs"/>
              </a:rPr>
              <a:t>Implied multiple: 45 to 55x forward P/E.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Triggers required:</a:t>
            </a:r>
          </a:p>
          <a:p>
            <a:r>
              <a:rPr lang="en-IN" sz="1200" b="0" i="0" kern="1200" dirty="0">
                <a:solidFill>
                  <a:schemeClr val="tx1"/>
                </a:solidFill>
                <a:effectLst/>
                <a:latin typeface="+mn-lt"/>
                <a:ea typeface="+mn-ea"/>
                <a:cs typeface="+mn-cs"/>
              </a:rPr>
              <a:t>Agentic AI trading goes mainstream — ARPU inflects toward $300 from the current approximately $130.</a:t>
            </a:r>
          </a:p>
          <a:p>
            <a:r>
              <a:rPr lang="en-IN" sz="1200" b="0" i="0" kern="1200" dirty="0">
                <a:solidFill>
                  <a:schemeClr val="tx1"/>
                </a:solidFill>
                <a:effectLst/>
                <a:latin typeface="+mn-lt"/>
                <a:ea typeface="+mn-ea"/>
                <a:cs typeface="+mn-cs"/>
              </a:rPr>
              <a:t>Tokenised stock trading on </a:t>
            </a:r>
            <a:r>
              <a:rPr lang="en-IN" sz="1200" b="0" i="0" kern="1200" dirty="0" err="1">
                <a:solidFill>
                  <a:schemeClr val="tx1"/>
                </a:solidFill>
                <a:effectLst/>
                <a:latin typeface="+mn-lt"/>
                <a:ea typeface="+mn-ea"/>
                <a:cs typeface="+mn-cs"/>
              </a:rPr>
              <a:t>Arbitrum</a:t>
            </a:r>
            <a:r>
              <a:rPr lang="en-IN" sz="1200" b="0" i="0" kern="1200" dirty="0">
                <a:solidFill>
                  <a:schemeClr val="tx1"/>
                </a:solidFill>
                <a:effectLst/>
                <a:latin typeface="+mn-lt"/>
                <a:ea typeface="+mn-ea"/>
                <a:cs typeface="+mn-cs"/>
              </a:rPr>
              <a:t> Layer 2 gets regulatory approval — European launch creates a new revenue stream.</a:t>
            </a:r>
          </a:p>
          <a:p>
            <a:r>
              <a:rPr lang="en-IN" sz="1200" b="0" i="0" kern="1200" dirty="0">
                <a:solidFill>
                  <a:schemeClr val="tx1"/>
                </a:solidFill>
                <a:effectLst/>
                <a:latin typeface="+mn-lt"/>
                <a:ea typeface="+mn-ea"/>
                <a:cs typeface="+mn-cs"/>
              </a:rPr>
              <a:t>Gold hits 8M+ subscribers by end of 2026 — subscription run-rate exceeds $670M annually.</a:t>
            </a:r>
          </a:p>
          <a:p>
            <a:r>
              <a:rPr lang="en-IN" sz="1200" b="0" i="0" kern="1200" dirty="0">
                <a:solidFill>
                  <a:schemeClr val="tx1"/>
                </a:solidFill>
                <a:effectLst/>
                <a:latin typeface="+mn-lt"/>
                <a:ea typeface="+mn-ea"/>
                <a:cs typeface="+mn-cs"/>
              </a:rPr>
              <a:t>TradePMR grows its RIA asset base to $100B+ AUA — advisory fee revenue becomes meaningful.</a:t>
            </a:r>
          </a:p>
          <a:p>
            <a:r>
              <a:rPr lang="en-IN" sz="1200" b="0" i="0" kern="1200" dirty="0">
                <a:solidFill>
                  <a:schemeClr val="tx1"/>
                </a:solidFill>
                <a:effectLst/>
                <a:latin typeface="+mn-lt"/>
                <a:ea typeface="+mn-ea"/>
                <a:cs typeface="+mn-cs"/>
              </a:rPr>
              <a:t>Trump Accounts onboards 5M+ new funded customers at essentially zero customer acquisition cost.</a:t>
            </a:r>
          </a:p>
          <a:p>
            <a:r>
              <a:rPr lang="en-IN" sz="1200" b="0" i="0" kern="1200" dirty="0">
                <a:solidFill>
                  <a:schemeClr val="tx1"/>
                </a:solidFill>
                <a:effectLst/>
                <a:latin typeface="+mn-lt"/>
                <a:ea typeface="+mn-ea"/>
                <a:cs typeface="+mn-cs"/>
              </a:rPr>
              <a:t>Revenue is re-rated to a platform multiple of 45 to 55x forward P/E, similar to Coinbase at its peak.</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The 27 analysts covering Robinhood show a consensus 12-month target of approximately $98.77. Highest target: $155 from JMP Securities. Mizuho is Outperform at $115. Deutsche Bank is Buy at $88. Morningstar has a Fair Value estimate of $52 — a Hold — which represents the bear case analysis if agentic AI and tokenisation fail to materialise. That spread — $52 to $155 from a single broker — tells you something important about how wide the range of credible outcomes is for this business.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[TRANSITION: "Let us be more precise on valuation — how does Robinhood compare to peers, and what multiple does it deserve?"]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SLIDE 13 — VALUATION FRAMEWORK &amp; PEER COMPARISON</a:t>
            </a:r>
          </a:p>
          <a:p>
            <a:r>
              <a:rPr lang="en-IN" sz="1200" b="0" i="0" kern="1200" dirty="0">
                <a:solidFill>
                  <a:schemeClr val="tx1"/>
                </a:solidFill>
                <a:effectLst/>
                <a:latin typeface="+mn-lt"/>
                <a:ea typeface="+mn-ea"/>
                <a:cs typeface="+mn-cs"/>
              </a:rPr>
              <a:t>"SECTION 10: VALUATION FRAMEWORK &amp; PEER COMPARISON"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[TECHNICAL, PRECISE — SPEND 3-4 MINUTES HERE]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The current metrics:</a:t>
            </a:r>
          </a:p>
          <a:p>
            <a:r>
              <a:rPr lang="en-IN" sz="1200" b="0" i="0" kern="1200" dirty="0">
                <a:solidFill>
                  <a:schemeClr val="tx1"/>
                </a:solidFill>
                <a:effectLst/>
                <a:latin typeface="+mn-lt"/>
                <a:ea typeface="+mn-ea"/>
                <a:cs typeface="+mn-cs"/>
              </a:rPr>
              <a:t>Current price approximately $90. Market cap approximately $82B. Trailing P/E approximately 45x on FY 2025 earnings of $2.05. Forward P/E approximately 32 to 35x on FY 2026 estimated EPS of approximately $2.30. Analyst consensus price target: $98.77.</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The peer comparison is instructive.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Charles Schwab: $19.6B in FY 2025 revenue, FY 2026 estimated $20.5B, NTM P/E approximately 22x. Rated Hold in this analysis. The valuation gap between Robinhood at 32x and Schwab at 22x is the growth premium: Robinhood is growing at 50%+, Schwab at 5%. The premium is justified by the growth differential — as long as the growth holds.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Coinbase: $6.6B FY 2025 revenue, NTM P/E approximately 35x. Rated Buy in this analysis. Robinhood trades at a slight discount to Coinbase on earnings despite having equities, which Coinbase lacks. That discount should compress if agentic AI and tokenisation prove out.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Interactive Brokers: $5.3B FY 2025 revenue, NTM P/E approximately 24x. Rated Buy. IBKR's professional-trader moat is real and its global reach is an asset. But it is not growing at Robinhood's rate, and it does not have the consumer brand or the subscription product.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SoFi Technologies: $2.7B FY 2025 revenue, NTM P/E approximately 38x. Rated Hold in this analysis. SoFi trades at a higher P/E than Robinhood despite lower revenue and lower growth. That reflects the Muddy Waters uncertainty discount on Robinhood's bear case, and the market's optimism about SoFi's national bank charter NIM advantage.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The key valuation insight: at $90 per share, Robinhood trades at approximately 32x FY 2026 estimated earnings. That is a premium to Schwab and IBKR, justified IF Gold subscriber growth sustains 25 to 30% compounded annually, agentic AI meaningfully inflects ARPU above $200, and net deposits continue at a $60B+ annual pace.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The key risk: multiple compression. In 2025, Novo Nordisk's stock fell 50% in a single year on a combination of disappointing trial data and guidance revision. A company can have a genuinely good business and still see its stock cut in half if the multiple was priced for perfection and one quarter misses expectations. Robinhood at 32 to 45x earnings is not priced for failure. One guidance cut — one quarter where crypto is down 40%, PFOF is under new regulatory scrutiny, and Gold subscriber growth slows — could compress the multiple from 32x to 18 to 20x, implying 40% downside from current levels. HOOD is not a safe, large-cap stock. It is a high-octane growth bet with asymmetric payoffs in both directions.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[TRANSITION: "So how do you monitor this investment quarter by quarter? Let me give you the exact checklist."]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SLIDE 14 — INVESTOR RESEARCH CHECKLIST &amp; KEY MONITORING ITEMS</a:t>
            </a:r>
          </a:p>
          <a:p>
            <a:r>
              <a:rPr lang="en-IN" sz="1200" b="0" i="0" kern="1200" dirty="0">
                <a:solidFill>
                  <a:schemeClr val="tx1"/>
                </a:solidFill>
                <a:effectLst/>
                <a:latin typeface="+mn-lt"/>
                <a:ea typeface="+mn-ea"/>
                <a:cs typeface="+mn-cs"/>
              </a:rPr>
              <a:t>"SECTION 11: INVESTOR RESEARCH CHECKLIST &amp; KEY MONITORING ITEMS"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[PRACTICAL, ACTIONABLE — SPEND 3-4 MINUTES HERE]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Four monitoring categories. Watch these every quarter.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CATEGORY ONE: Q2 2026 Earnings Metrics.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Next earnings expected July or August 2026. Mark the calendar.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Revenue versus $1.25 to $1.35B Q2 consensus — is the full-year run rate on track?</a:t>
            </a:r>
          </a:p>
          <a:p>
            <a:r>
              <a:rPr lang="en-IN" sz="1200" b="0" i="0" kern="1200" dirty="0">
                <a:solidFill>
                  <a:schemeClr val="tx1"/>
                </a:solidFill>
                <a:effectLst/>
                <a:latin typeface="+mn-lt"/>
                <a:ea typeface="+mn-ea"/>
                <a:cs typeface="+mn-cs"/>
              </a:rPr>
              <a:t>Gold subscriber additions: is the 5M trajectory by year-end holding, or is growth decelerating?</a:t>
            </a:r>
          </a:p>
          <a:p>
            <a:r>
              <a:rPr lang="en-IN" sz="1200" b="0" i="0" kern="1200" dirty="0">
                <a:solidFill>
                  <a:schemeClr val="tx1"/>
                </a:solidFill>
                <a:effectLst/>
                <a:latin typeface="+mn-lt"/>
                <a:ea typeface="+mn-ea"/>
                <a:cs typeface="+mn-cs"/>
              </a:rPr>
              <a:t>Net deposits annualised rate: sustaining 25%+ of existing AUM growth?</a:t>
            </a:r>
          </a:p>
          <a:p>
            <a:r>
              <a:rPr lang="en-IN" sz="1200" b="0" i="0" kern="1200" dirty="0">
                <a:solidFill>
                  <a:schemeClr val="tx1"/>
                </a:solidFill>
                <a:effectLst/>
                <a:latin typeface="+mn-lt"/>
                <a:ea typeface="+mn-ea"/>
                <a:cs typeface="+mn-cs"/>
              </a:rPr>
              <a:t>ARPU trend: the base case requires $200+ ARPU by Q4 2026. Where are we tracking?</a:t>
            </a:r>
          </a:p>
          <a:p>
            <a:r>
              <a:rPr lang="en-IN" sz="1200" b="0" i="0" kern="1200" dirty="0">
                <a:solidFill>
                  <a:schemeClr val="tx1"/>
                </a:solidFill>
                <a:effectLst/>
                <a:latin typeface="+mn-lt"/>
                <a:ea typeface="+mn-ea"/>
                <a:cs typeface="+mn-cs"/>
              </a:rPr>
              <a:t>Full-year revenue guidance: any raise is a strong positive signal. Any cut or narrowing to the low end is a severe de-rating risk.</a:t>
            </a:r>
          </a:p>
          <a:p>
            <a:r>
              <a:rPr lang="en-IN" sz="1200" b="0" i="0" kern="1200" dirty="0">
                <a:solidFill>
                  <a:schemeClr val="tx1"/>
                </a:solidFill>
                <a:effectLst/>
                <a:latin typeface="+mn-lt"/>
                <a:ea typeface="+mn-ea"/>
                <a:cs typeface="+mn-cs"/>
              </a:rPr>
              <a:t>Agentic trading user adoption metrics: what is the timeline from private beta to general availability?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CATEGORY TWO: Platform and Product Monitoring.</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Robinhood Banking launch — July 4 rollout, early checking account adoption rate.</a:t>
            </a:r>
          </a:p>
          <a:p>
            <a:r>
              <a:rPr lang="en-IN" sz="1200" b="0" i="0" kern="1200" dirty="0">
                <a:solidFill>
                  <a:schemeClr val="tx1"/>
                </a:solidFill>
                <a:effectLst/>
                <a:latin typeface="+mn-lt"/>
                <a:ea typeface="+mn-ea"/>
                <a:cs typeface="+mn-cs"/>
              </a:rPr>
              <a:t>Tokenised stocks EU launch: what is the SEC and FINRA feedback timeline? Any approval commentary is material.</a:t>
            </a:r>
          </a:p>
          <a:p>
            <a:r>
              <a:rPr lang="en-IN" sz="1200" b="0" i="0" kern="1200" dirty="0">
                <a:solidFill>
                  <a:schemeClr val="tx1"/>
                </a:solidFill>
                <a:effectLst/>
                <a:latin typeface="+mn-lt"/>
                <a:ea typeface="+mn-ea"/>
                <a:cs typeface="+mn-cs"/>
              </a:rPr>
              <a:t>Trump Accounts partner metrics: how many funded accounts has the program generated?</a:t>
            </a:r>
          </a:p>
          <a:p>
            <a:r>
              <a:rPr lang="en-IN" sz="1200" b="0" i="0" kern="1200" dirty="0">
                <a:solidFill>
                  <a:schemeClr val="tx1"/>
                </a:solidFill>
                <a:effectLst/>
                <a:latin typeface="+mn-lt"/>
                <a:ea typeface="+mn-ea"/>
                <a:cs typeface="+mn-cs"/>
              </a:rPr>
              <a:t>TradePMR RIA assets under administration: targeting $60B+ by end of 2026. Any new advisor firm announcements.</a:t>
            </a:r>
          </a:p>
          <a:p>
            <a:r>
              <a:rPr lang="en-IN" sz="1200" b="0" i="0" kern="1200" dirty="0" err="1">
                <a:solidFill>
                  <a:schemeClr val="tx1"/>
                </a:solidFill>
                <a:effectLst/>
                <a:latin typeface="+mn-lt"/>
                <a:ea typeface="+mn-ea"/>
                <a:cs typeface="+mn-cs"/>
              </a:rPr>
              <a:t>Bitstamp</a:t>
            </a:r>
            <a:r>
              <a:rPr lang="en-IN" sz="1200" b="0" i="0" kern="1200" dirty="0">
                <a:solidFill>
                  <a:schemeClr val="tx1"/>
                </a:solidFill>
                <a:effectLst/>
                <a:latin typeface="+mn-lt"/>
                <a:ea typeface="+mn-ea"/>
                <a:cs typeface="+mn-cs"/>
              </a:rPr>
              <a:t> integration: what is the institutional trading volume contribution to total revenue?</a:t>
            </a:r>
          </a:p>
          <a:p>
            <a:r>
              <a:rPr lang="en-IN" sz="1200" b="0" i="0" kern="1200" dirty="0">
                <a:solidFill>
                  <a:schemeClr val="tx1"/>
                </a:solidFill>
                <a:effectLst/>
                <a:latin typeface="+mn-lt"/>
                <a:ea typeface="+mn-ea"/>
                <a:cs typeface="+mn-cs"/>
              </a:rPr>
              <a:t>Gold Credit Card: spend volume per card, credit quality data, charge-off metrics.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CATEGORY THREE: Regulatory and Policy Watchlist.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SEC PFOF rulemaking: any new proposals or enforcement actions. This is the single most important regulatory item to track.</a:t>
            </a:r>
          </a:p>
          <a:p>
            <a:r>
              <a:rPr lang="en-IN" sz="1200" b="0" i="0" kern="1200" dirty="0">
                <a:solidFill>
                  <a:schemeClr val="tx1"/>
                </a:solidFill>
                <a:effectLst/>
                <a:latin typeface="+mn-lt"/>
                <a:ea typeface="+mn-ea"/>
                <a:cs typeface="+mn-cs"/>
              </a:rPr>
              <a:t>FINRA agentic trading guidance: what is the liability framework for AI-executed orders? Any formal guidance publication.</a:t>
            </a:r>
          </a:p>
          <a:p>
            <a:r>
              <a:rPr lang="en-IN" sz="1200" b="0" i="0" kern="1200" dirty="0">
                <a:solidFill>
                  <a:schemeClr val="tx1"/>
                </a:solidFill>
                <a:effectLst/>
                <a:latin typeface="+mn-lt"/>
                <a:ea typeface="+mn-ea"/>
                <a:cs typeface="+mn-cs"/>
              </a:rPr>
              <a:t>Crypto regulation CLARITY Act implementation: does it help or hurt Robinhood's crypto business?</a:t>
            </a:r>
          </a:p>
          <a:p>
            <a:r>
              <a:rPr lang="en-IN" sz="1200" b="0" i="0" kern="1200" dirty="0">
                <a:solidFill>
                  <a:schemeClr val="tx1"/>
                </a:solidFill>
                <a:effectLst/>
                <a:latin typeface="+mn-lt"/>
                <a:ea typeface="+mn-ea"/>
                <a:cs typeface="+mn-cs"/>
              </a:rPr>
              <a:t>PDT rule elimination: if pattern day trader rules are relaxed, this drives significant active trader account flows to Robinhood.</a:t>
            </a:r>
          </a:p>
          <a:p>
            <a:r>
              <a:rPr lang="en-IN" sz="1200" b="0" i="0" kern="1200" dirty="0">
                <a:solidFill>
                  <a:schemeClr val="tx1"/>
                </a:solidFill>
                <a:effectLst/>
                <a:latin typeface="+mn-lt"/>
                <a:ea typeface="+mn-ea"/>
                <a:cs typeface="+mn-cs"/>
              </a:rPr>
              <a:t>Supreme Court IPO lawsuit ruling: potential financial liability and management distraction exposure.</a:t>
            </a:r>
          </a:p>
          <a:p>
            <a:r>
              <a:rPr lang="en-IN" sz="1200" b="0" i="0" kern="1200" dirty="0">
                <a:solidFill>
                  <a:schemeClr val="tx1"/>
                </a:solidFill>
                <a:effectLst/>
                <a:latin typeface="+mn-lt"/>
                <a:ea typeface="+mn-ea"/>
                <a:cs typeface="+mn-cs"/>
              </a:rPr>
              <a:t>Canada </a:t>
            </a:r>
            <a:r>
              <a:rPr lang="en-IN" sz="1200" b="0" i="0" kern="1200" dirty="0" err="1">
                <a:solidFill>
                  <a:schemeClr val="tx1"/>
                </a:solidFill>
                <a:effectLst/>
                <a:latin typeface="+mn-lt"/>
                <a:ea typeface="+mn-ea"/>
                <a:cs typeface="+mn-cs"/>
              </a:rPr>
              <a:t>WonderFi</a:t>
            </a:r>
            <a:r>
              <a:rPr lang="en-IN" sz="1200" b="0" i="0" kern="1200" dirty="0">
                <a:solidFill>
                  <a:schemeClr val="tx1"/>
                </a:solidFill>
                <a:effectLst/>
                <a:latin typeface="+mn-lt"/>
                <a:ea typeface="+mn-ea"/>
                <a:cs typeface="+mn-cs"/>
              </a:rPr>
              <a:t> integration: FINTRAC compliance clearance timeline.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CATEGORY FOUR: Capital Allocation and Balance Sheet.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Share buyback pace: Robinhood has authorised approximately $1B in annual buybacks. Is it being executed?</a:t>
            </a:r>
          </a:p>
          <a:p>
            <a:r>
              <a:rPr lang="en-IN" sz="1200" b="0" i="0" kern="1200" dirty="0">
                <a:solidFill>
                  <a:schemeClr val="tx1"/>
                </a:solidFill>
                <a:effectLst/>
                <a:latin typeface="+mn-lt"/>
                <a:ea typeface="+mn-ea"/>
                <a:cs typeface="+mn-cs"/>
              </a:rPr>
              <a:t>Cash position: $4.3B as of Q3 2025. Is cash being deployed toward M&amp;A or returned to shareholders?</a:t>
            </a:r>
          </a:p>
          <a:p>
            <a:r>
              <a:rPr lang="en-IN" sz="1200" b="0" i="0" kern="1200" dirty="0">
                <a:solidFill>
                  <a:schemeClr val="tx1"/>
                </a:solidFill>
                <a:effectLst/>
                <a:latin typeface="+mn-lt"/>
                <a:ea typeface="+mn-ea"/>
                <a:cs typeface="+mn-cs"/>
              </a:rPr>
              <a:t>Insider selling activity: Tenev and Bhatt selling is worth monitoring. Concentrated insider selling near share price highs is always worth noting.</a:t>
            </a:r>
          </a:p>
          <a:p>
            <a:r>
              <a:rPr lang="en-IN" sz="1200" b="0" i="0" kern="1200" dirty="0">
                <a:solidFill>
                  <a:schemeClr val="tx1"/>
                </a:solidFill>
                <a:effectLst/>
                <a:latin typeface="+mn-lt"/>
                <a:ea typeface="+mn-ea"/>
                <a:cs typeface="+mn-cs"/>
              </a:rPr>
              <a:t>Margin book quality: are there credit losses from margin lending in volatile markets?</a:t>
            </a:r>
          </a:p>
          <a:p>
            <a:r>
              <a:rPr lang="en-IN" sz="1200" b="0" i="0" kern="1200" dirty="0">
                <a:solidFill>
                  <a:schemeClr val="tx1"/>
                </a:solidFill>
                <a:effectLst/>
                <a:latin typeface="+mn-lt"/>
                <a:ea typeface="+mn-ea"/>
                <a:cs typeface="+mn-cs"/>
              </a:rPr>
              <a:t>Operating leverage: adjusted EBITDA margin should be expanding beyond 48% on a growing revenue base. Any compression is a warning sign.</a:t>
            </a:r>
          </a:p>
          <a:p>
            <a:r>
              <a:rPr lang="en-IN" sz="1200" b="0" i="0" kern="1200" dirty="0">
                <a:solidFill>
                  <a:schemeClr val="tx1"/>
                </a:solidFill>
                <a:effectLst/>
                <a:latin typeface="+mn-lt"/>
                <a:ea typeface="+mn-ea"/>
                <a:cs typeface="+mn-cs"/>
              </a:rPr>
              <a:t>New M&amp;A: any additional RIA, crypto, or international platform acquisitions.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The critical near-term catalyst: Q2 2026 earnings in July or August. Agentic trading general availability announcement plus Gold subscriber 5M milestone plus net deposit trajectory — if all three land positively simultaneously, this is a triple re-rating catalyst. If two of the three disappoint, the stock tests $70 to $75. That is the binary quality of this particular earnings cycle.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[TRANSITION: "Let me bring this all together."]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SLIDE 15 — ROBINHOOD MARKETS: SUMMARY VIEW</a:t>
            </a:r>
          </a:p>
          <a:p>
            <a:r>
              <a:rPr lang="en-IN" sz="1200" b="0" i="0" kern="1200" dirty="0">
                <a:solidFill>
                  <a:schemeClr val="tx1"/>
                </a:solidFill>
                <a:effectLst/>
                <a:latin typeface="+mn-lt"/>
                <a:ea typeface="+mn-ea"/>
                <a:cs typeface="+mn-cs"/>
              </a:rPr>
              <a:t>"ROBINHOOD MARKETS — Summary View"</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[REFLECTIVE, SYNTHESISING — SPEND 3-4 MINUTES HERE]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is the one-slide version. The complete argument, compressed to five paragraphs.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ONE-LINE THESIS:</a:t>
            </a:r>
          </a:p>
          <a:p>
            <a:r>
              <a:rPr lang="en-IN" sz="1200" b="0" i="0" kern="1200" dirty="0">
                <a:solidFill>
                  <a:schemeClr val="tx1"/>
                </a:solidFill>
                <a:effectLst/>
                <a:latin typeface="+mn-lt"/>
                <a:ea typeface="+mn-ea"/>
                <a:cs typeface="+mn-cs"/>
              </a:rPr>
              <a:t>Robinhood is the dominant mobile-first brokerage for the wealth-transfer generation, pivoting from a meme-stock platform to a full-stack Financial </a:t>
            </a:r>
            <a:r>
              <a:rPr lang="en-IN" sz="1200" b="0" i="0" kern="1200" dirty="0" err="1">
                <a:solidFill>
                  <a:schemeClr val="tx1"/>
                </a:solidFill>
                <a:effectLst/>
                <a:latin typeface="+mn-lt"/>
                <a:ea typeface="+mn-ea"/>
                <a:cs typeface="+mn-cs"/>
              </a:rPr>
              <a:t>SuperApp</a:t>
            </a:r>
            <a:r>
              <a:rPr lang="en-IN" sz="1200" b="0" i="0" kern="1200" dirty="0">
                <a:solidFill>
                  <a:schemeClr val="tx1"/>
                </a:solidFill>
                <a:effectLst/>
                <a:latin typeface="+mn-lt"/>
                <a:ea typeface="+mn-ea"/>
                <a:cs typeface="+mn-cs"/>
              </a:rPr>
              <a:t> — with Gold subscriptions, agentic AI, institutional crypto custody via </a:t>
            </a:r>
            <a:r>
              <a:rPr lang="en-IN" sz="1200" b="0" i="0" kern="1200" dirty="0" err="1">
                <a:solidFill>
                  <a:schemeClr val="tx1"/>
                </a:solidFill>
                <a:effectLst/>
                <a:latin typeface="+mn-lt"/>
                <a:ea typeface="+mn-ea"/>
                <a:cs typeface="+mn-cs"/>
              </a:rPr>
              <a:t>Bitstamp</a:t>
            </a:r>
            <a:r>
              <a:rPr lang="en-IN" sz="1200" b="0" i="0" kern="1200" dirty="0">
                <a:solidFill>
                  <a:schemeClr val="tx1"/>
                </a:solidFill>
                <a:effectLst/>
                <a:latin typeface="+mn-lt"/>
                <a:ea typeface="+mn-ea"/>
                <a:cs typeface="+mn-cs"/>
              </a:rPr>
              <a:t>, and RIA wealth management through TradePMR all converging on a single platform built for the 25-to-45 year-old demographic about to inherit the largest wealth transfer in American history.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WHY IT IS DIFFERENT:</a:t>
            </a:r>
          </a:p>
          <a:p>
            <a:r>
              <a:rPr lang="en-IN" sz="1200" b="0" i="0" kern="1200" dirty="0">
                <a:solidFill>
                  <a:schemeClr val="tx1"/>
                </a:solidFill>
                <a:effectLst/>
                <a:latin typeface="+mn-lt"/>
                <a:ea typeface="+mn-ea"/>
                <a:cs typeface="+mn-cs"/>
              </a:rPr>
              <a:t>Unlike Schwab and Fidelity — desktop-first, advisor-centric, legacy — Robinhood is the only platform with regulated equities plus crypto plus agentic AI plus 24/7 trading plus RIA custody in a mobile-native experience. Unlike Coinbase, it is also a full broker. Unlike SoFi, it has crypto-native scale, a real options business, and an agentic AI first-mover position. The combination does not exist elsewhere in a single, regulated US platform.</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WHAT WE LIKE:</a:t>
            </a:r>
          </a:p>
          <a:p>
            <a:r>
              <a:rPr lang="en-IN" sz="1200" b="0" i="0" kern="1200" dirty="0">
                <a:solidFill>
                  <a:schemeClr val="tx1"/>
                </a:solidFill>
                <a:effectLst/>
                <a:latin typeface="+mn-lt"/>
                <a:ea typeface="+mn-ea"/>
                <a:cs typeface="+mn-cs"/>
              </a:rPr>
              <a:t>$4.5B FY 2025 revenue growing 52% year over year. $1.88B net income — first fully GAAP profitable year. 41.1% net margin, world-class for fintech. 4.3M Gold subscribers growing 36% annually. $68B net deposits in FY 2025. First-mover agentic AI trading. TradePMR bridges retail to wealth management. </a:t>
            </a:r>
            <a:r>
              <a:rPr lang="en-IN" sz="1200" b="0" i="0" kern="1200" dirty="0" err="1">
                <a:solidFill>
                  <a:schemeClr val="tx1"/>
                </a:solidFill>
                <a:effectLst/>
                <a:latin typeface="+mn-lt"/>
                <a:ea typeface="+mn-ea"/>
                <a:cs typeface="+mn-cs"/>
              </a:rPr>
              <a:t>Bitstamp</a:t>
            </a:r>
            <a:r>
              <a:rPr lang="en-IN" sz="1200" b="0" i="0" kern="1200" dirty="0">
                <a:solidFill>
                  <a:schemeClr val="tx1"/>
                </a:solidFill>
                <a:effectLst/>
                <a:latin typeface="+mn-lt"/>
                <a:ea typeface="+mn-ea"/>
                <a:cs typeface="+mn-cs"/>
              </a:rPr>
              <a:t> gives EU crypto licence and institutional custody. Trump Accounts partnership potentially adds millions of funded customers at zero acquisition cost. Management executing on a credible long-term strategy after a genuine near-death experience in 2022.</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WHAT WORRIES US:</a:t>
            </a:r>
          </a:p>
          <a:p>
            <a:r>
              <a:rPr lang="en-IN" sz="1200" b="0" i="0" kern="1200" dirty="0">
                <a:solidFill>
                  <a:schemeClr val="tx1"/>
                </a:solidFill>
                <a:effectLst/>
                <a:latin typeface="+mn-lt"/>
                <a:ea typeface="+mn-ea"/>
                <a:cs typeface="+mn-cs"/>
              </a:rPr>
              <a:t>PFOF ban risk remains the single largest structural threat — $1.5B+ of revenue at risk. Crypto revenue highly volatile — collapsed 90% in 2022, showed weakness in Q1 2026. A 45x trailing P/E requires flawless execution — one quarter miss risks a significant de-rating. Average account size of $8,000 versus incumbents at $350,000 reveals retention risk as customers age and accumulate wealth. Agentic AI is novel regulatory territory — FINRA has not yet established a clear framework. Net interest revenue of $1.45B is sensitive to rate cuts. IPO class-action lawsuit at the Supreme Court is an unquantified liability.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PRICE TARGET RANGE:</a:t>
            </a:r>
          </a:p>
          <a:p>
            <a:r>
              <a:rPr lang="en-IN" sz="1200" b="0" i="0" kern="1200" dirty="0">
                <a:solidFill>
                  <a:schemeClr val="tx1"/>
                </a:solidFill>
                <a:effectLst/>
                <a:latin typeface="+mn-lt"/>
                <a:ea typeface="+mn-ea"/>
                <a:cs typeface="+mn-cs"/>
              </a:rPr>
              <a:t>Bear: $45 to $60 — PFOF ban plus crypto collapse plus rate cuts plus multiple compression to 18x forward earnings.</a:t>
            </a:r>
          </a:p>
          <a:p>
            <a:r>
              <a:rPr lang="en-IN" sz="1200" b="0" i="0" kern="1200" dirty="0">
                <a:solidFill>
                  <a:schemeClr val="tx1"/>
                </a:solidFill>
                <a:effectLst/>
                <a:latin typeface="+mn-lt"/>
                <a:ea typeface="+mn-ea"/>
                <a:cs typeface="+mn-cs"/>
              </a:rPr>
              <a:t>Base: $100 to $130 — guidance execution, Gold reaching 5.5M+ subscribers, agentic growth, 32 to 38x forward P/E.</a:t>
            </a:r>
          </a:p>
          <a:p>
            <a:r>
              <a:rPr lang="en-IN" sz="1200" b="0" i="0" kern="1200" dirty="0">
                <a:solidFill>
                  <a:schemeClr val="tx1"/>
                </a:solidFill>
                <a:effectLst/>
                <a:latin typeface="+mn-lt"/>
                <a:ea typeface="+mn-ea"/>
                <a:cs typeface="+mn-cs"/>
              </a:rPr>
              <a:t>Bull: $160 to $200 — agentic AI inflects ARPU to $300+, tokenisation gets greenlit, Gold reaches 8M, platform re-rates to 45 to 55x forward earnings.</a:t>
            </a:r>
          </a:p>
          <a:p>
            <a:r>
              <a:rPr lang="en-IN" sz="1200" b="0" i="0" kern="1200" dirty="0">
                <a:solidFill>
                  <a:schemeClr val="tx1"/>
                </a:solidFill>
                <a:effectLst/>
                <a:latin typeface="+mn-lt"/>
                <a:ea typeface="+mn-ea"/>
                <a:cs typeface="+mn-cs"/>
              </a:rPr>
              <a:t>Current price approximately $90 — sitting at the low end of the base case range, well above the bear case, and roughly half of the bull case.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For Research and Educational Purposes Only. Not Investment Advice. June 2026.</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[TRANSITION: "And that brings us to the close."]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SLIDE 16 — CLOSING SLIDE</a:t>
            </a:r>
          </a:p>
          <a:p>
            <a:r>
              <a:rPr lang="en-IN" sz="1200" b="0" i="0" kern="1200" dirty="0">
                <a:solidFill>
                  <a:schemeClr val="tx1"/>
                </a:solidFill>
                <a:effectLst/>
                <a:latin typeface="+mn-lt"/>
                <a:ea typeface="+mn-ea"/>
                <a:cs typeface="+mn-cs"/>
              </a:rPr>
              <a:t>"Robinhood Markets — From Commission-Free Pioneer to Financial </a:t>
            </a:r>
            <a:r>
              <a:rPr lang="en-IN" sz="1200" b="0" i="0" kern="1200" dirty="0" err="1">
                <a:solidFill>
                  <a:schemeClr val="tx1"/>
                </a:solidFill>
                <a:effectLst/>
                <a:latin typeface="+mn-lt"/>
                <a:ea typeface="+mn-ea"/>
                <a:cs typeface="+mn-cs"/>
              </a:rPr>
              <a:t>SuperApp</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[WARM, COMPELLING — SPEND 2-3 MINUTES — CLOSE STRONG]</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That is the full research note on Robinhood Markets. NASDAQ: HOOD.</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Let me give you the five-sentence version of everything we covered today.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ONE: Robinhood went from nearly bankrupt in 2022 — revenue down 25%, stock down 85% from IPO, 23% of staff laid off — to $4.5B in FY 2025 revenue, $1.88B in GAAP net income, and a 41.1% net margin. That is one of the fastest fundamental turnarounds in recent US fintech history. The company that critics wrote off as a meme-stock app is now a serious financial platform.</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TWO: The Gold subscription business is the most important thing happening at Robinhood that most investors are underestimating. 4.3M subscribers at 36% growth, 16% penetration of the base, three to five times the ARPU of a standard user, and structurally rate-independent. If Gold reaches 8M subscribers by 2028, the subscription line alone is a $670M recurring revenue business. That changes the entire durability profile of the company.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THREE: Agentic AI and tokenisation are the next chapter — and Robinhood is the first regulated US broker to write it. Whether that translates into durable competitive advantage or gets regulated away before it can scale is the central unknown of the next two years. The upside if it works is a platform re-rating from broker to technology company. The downside if it is restricted is a single failed product launch. That asymmetry is worth noting.</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FOUR: The risks are real and should be sized explicitly before any position. PFOF ban. Crypto cyclicality. Rate sensitivity. Customer retention as wealth grows. Regulatory uncertainty around agentic trading. These are not hypothetical risks — several of them are actively moving right now. Do not build a position in Robinhood based on the bull case alone. Price in at least the base case risks.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FIVE: At approximately $90 per share in June 2026, Robinhood sits at the low end of the base case range. For a long-term investor with a 3 to 5 year horizon, willing to hold through crypto cycles, regulatory uncertainty, and the inevitable quarters where one or two metrics disappoint, the base case return of $100 to $130 represents a meaningful gain from current levels. The bull case of $160 to $200 requires the three core beliefs — wealth transfer capture, Gold durability, and agentic AI re-rating — to all prove out simultaneously. That is a high bar. But if it clears, the return is significant.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is not a comfortable investment. It is a high-conviction bet that the company which disrupted brokerage in 2015 is capable of disrupting it again in 2026. History says that is possible. Execution will determine whether it actually happens.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Do your own research. Consult a qualified financial professional. If you found this analysis useful, please like the video, subscribe to </a:t>
            </a:r>
            <a:r>
              <a:rPr lang="en-IN" sz="1200" b="0" i="0" kern="1200" dirty="0" err="1">
                <a:solidFill>
                  <a:schemeClr val="tx1"/>
                </a:solidFill>
                <a:effectLst/>
                <a:latin typeface="+mn-lt"/>
                <a:ea typeface="+mn-ea"/>
                <a:cs typeface="+mn-cs"/>
              </a:rPr>
              <a:t>Dreamlit</a:t>
            </a:r>
            <a:r>
              <a:rPr lang="en-IN" sz="1200" b="0" i="0" kern="1200" dirty="0">
                <a:solidFill>
                  <a:schemeClr val="tx1"/>
                </a:solidFill>
                <a:effectLst/>
                <a:latin typeface="+mn-lt"/>
                <a:ea typeface="+mn-ea"/>
                <a:cs typeface="+mn-cs"/>
              </a:rPr>
              <a:t> Equity Research, and leave your perspective in the comments. What is your view on Robinhood? What risk am I underweighting? What catalyst am I missing? I genuinely want to know.</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Thank you for spending the time with </a:t>
            </a:r>
            <a:r>
              <a:rPr lang="en-IN" sz="1200" b="0" i="0" kern="1200" dirty="0" err="1">
                <a:solidFill>
                  <a:schemeClr val="tx1"/>
                </a:solidFill>
                <a:effectLst/>
                <a:latin typeface="+mn-lt"/>
                <a:ea typeface="+mn-ea"/>
                <a:cs typeface="+mn-cs"/>
              </a:rPr>
              <a:t>Dreamlit</a:t>
            </a:r>
            <a:r>
              <a:rPr lang="en-IN" sz="1200" b="0" i="0" kern="1200" dirty="0">
                <a:solidFill>
                  <a:schemeClr val="tx1"/>
                </a:solidFill>
                <a:effectLst/>
                <a:latin typeface="+mn-lt"/>
                <a:ea typeface="+mn-ea"/>
                <a:cs typeface="+mn-cs"/>
              </a:rPr>
              <a:t> Equity Research. We will see you in the next one.</a:t>
            </a:r>
          </a:p>
          <a:p>
            <a:r>
              <a:rPr lang="en-IN" sz="1200" b="0" i="0" kern="1200">
                <a:solidFill>
                  <a:schemeClr val="tx1"/>
                </a:solidFill>
                <a:effectLst/>
                <a:latin typeface="+mn-lt"/>
                <a:ea typeface="+mn-ea"/>
                <a:cs typeface="+mn-cs"/>
              </a:rPr>
              <a:t> </a:t>
            </a:r>
          </a:p>
        </p:txBody>
      </p:sp>
      <p:sp>
        <p:nvSpPr>
          <p:cNvPr id="4" name="Slide Number Placeholder 3"/>
          <p:cNvSpPr>
            <a:spLocks noGrp="1"/>
          </p:cNvSpPr>
          <p:nvPr>
            <p:ph type="sldNum" sz="quarter" idx="5"/>
          </p:nvPr>
        </p:nvSpPr>
        <p:spPr/>
        <p:txBody>
          <a:bodyPr/>
          <a:lstStyle/>
          <a:p>
            <a:fld id="{49F3E57C-F302-4DDA-9D05-13A296E43432}" type="slidenum">
              <a:rPr lang="en-IN" smtClean="0"/>
              <a:t>16</a:t>
            </a:fld>
            <a:endParaRPr lang="en-IN"/>
          </a:p>
        </p:txBody>
      </p:sp>
    </p:spTree>
    <p:extLst>
      <p:ext uri="{BB962C8B-B14F-4D97-AF65-F5344CB8AC3E}">
        <p14:creationId xmlns:p14="http://schemas.microsoft.com/office/powerpoint/2010/main" val="879862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75983-A03A-E0ED-34EE-A443E53A5B9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CB8837B-0727-E855-BFDD-B99EAE6AC1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426AC85-404D-9408-28CB-801E4A5933A0}"/>
              </a:ext>
            </a:extLst>
          </p:cNvPr>
          <p:cNvSpPr>
            <a:spLocks noGrp="1"/>
          </p:cNvSpPr>
          <p:nvPr>
            <p:ph type="dt" sz="half" idx="10"/>
          </p:nvPr>
        </p:nvSpPr>
        <p:spPr/>
        <p:txBody>
          <a:bodyPr/>
          <a:lstStyle/>
          <a:p>
            <a:fld id="{E943806E-8D21-43E4-9F2D-63F27C8E0326}" type="datetimeFigureOut">
              <a:rPr lang="en-IN" smtClean="0"/>
              <a:t>07-06-2026</a:t>
            </a:fld>
            <a:endParaRPr lang="en-IN" dirty="0"/>
          </a:p>
        </p:txBody>
      </p:sp>
      <p:sp>
        <p:nvSpPr>
          <p:cNvPr id="5" name="Footer Placeholder 4">
            <a:extLst>
              <a:ext uri="{FF2B5EF4-FFF2-40B4-BE49-F238E27FC236}">
                <a16:creationId xmlns:a16="http://schemas.microsoft.com/office/drawing/2014/main" id="{E179E98B-1AF9-4875-D5B3-88859CF85A7F}"/>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3334707E-798E-7C97-CD41-D775F7DE003F}"/>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598192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F60D9-2122-3ABA-5538-F0E27B89538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CBAA8A7-B1F4-5506-F776-AFB80FE75D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EB9D3E-D1AE-A90E-6D89-C8FD10F7B33E}"/>
              </a:ext>
            </a:extLst>
          </p:cNvPr>
          <p:cNvSpPr>
            <a:spLocks noGrp="1"/>
          </p:cNvSpPr>
          <p:nvPr>
            <p:ph type="dt" sz="half" idx="10"/>
          </p:nvPr>
        </p:nvSpPr>
        <p:spPr/>
        <p:txBody>
          <a:bodyPr/>
          <a:lstStyle/>
          <a:p>
            <a:fld id="{E943806E-8D21-43E4-9F2D-63F27C8E0326}" type="datetimeFigureOut">
              <a:rPr lang="en-IN" smtClean="0"/>
              <a:t>07-06-2026</a:t>
            </a:fld>
            <a:endParaRPr lang="en-IN" dirty="0"/>
          </a:p>
        </p:txBody>
      </p:sp>
      <p:sp>
        <p:nvSpPr>
          <p:cNvPr id="5" name="Footer Placeholder 4">
            <a:extLst>
              <a:ext uri="{FF2B5EF4-FFF2-40B4-BE49-F238E27FC236}">
                <a16:creationId xmlns:a16="http://schemas.microsoft.com/office/drawing/2014/main" id="{9BFA61B0-DE9D-6995-9E7A-69DC171A155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EBD05BF3-9CF1-FA8A-BB5A-ECD88C70FE30}"/>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2911536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EA982-AB85-98CC-C877-EA4E79FF1A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78BF187-D2E5-0B54-BD73-DA6895CBC01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9256B0-21BF-EA24-CBAB-9C7610C98BE4}"/>
              </a:ext>
            </a:extLst>
          </p:cNvPr>
          <p:cNvSpPr>
            <a:spLocks noGrp="1"/>
          </p:cNvSpPr>
          <p:nvPr>
            <p:ph type="dt" sz="half" idx="10"/>
          </p:nvPr>
        </p:nvSpPr>
        <p:spPr/>
        <p:txBody>
          <a:bodyPr/>
          <a:lstStyle/>
          <a:p>
            <a:fld id="{E943806E-8D21-43E4-9F2D-63F27C8E0326}" type="datetimeFigureOut">
              <a:rPr lang="en-IN" smtClean="0"/>
              <a:t>07-06-2026</a:t>
            </a:fld>
            <a:endParaRPr lang="en-IN" dirty="0"/>
          </a:p>
        </p:txBody>
      </p:sp>
      <p:sp>
        <p:nvSpPr>
          <p:cNvPr id="5" name="Footer Placeholder 4">
            <a:extLst>
              <a:ext uri="{FF2B5EF4-FFF2-40B4-BE49-F238E27FC236}">
                <a16:creationId xmlns:a16="http://schemas.microsoft.com/office/drawing/2014/main" id="{E5CEC522-0EF6-592F-545D-AEE789C84A5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E00FB6D0-D2F5-AE6E-DD18-51A6DEDDEAF3}"/>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4125936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2517B-C6E4-54A7-7DCA-3E1379C0CB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35F1E7-A809-88B3-92F7-00C015CBD0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41ADBF0-2118-931D-5DB1-3C63A2AD4D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E5254DA-B0D9-5A8E-1082-5B0B723969FD}"/>
              </a:ext>
            </a:extLst>
          </p:cNvPr>
          <p:cNvSpPr>
            <a:spLocks noGrp="1"/>
          </p:cNvSpPr>
          <p:nvPr>
            <p:ph type="dt" sz="half" idx="10"/>
          </p:nvPr>
        </p:nvSpPr>
        <p:spPr/>
        <p:txBody>
          <a:bodyPr/>
          <a:lstStyle/>
          <a:p>
            <a:fld id="{E943806E-8D21-43E4-9F2D-63F27C8E0326}" type="datetimeFigureOut">
              <a:rPr lang="en-IN" smtClean="0"/>
              <a:t>07-06-2026</a:t>
            </a:fld>
            <a:endParaRPr lang="en-IN" dirty="0"/>
          </a:p>
        </p:txBody>
      </p:sp>
      <p:sp>
        <p:nvSpPr>
          <p:cNvPr id="6" name="Footer Placeholder 5">
            <a:extLst>
              <a:ext uri="{FF2B5EF4-FFF2-40B4-BE49-F238E27FC236}">
                <a16:creationId xmlns:a16="http://schemas.microsoft.com/office/drawing/2014/main" id="{0900ABA4-B34D-DCA3-091C-C13AB7A448D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86306393-A259-9803-9EF7-0496F50DC205}"/>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962498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5897B-282E-F6A8-8744-CD4A496E4E6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9EB027-C5B8-9853-4985-41EE27B04D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98E21C-2E43-FD01-1A03-C5804DE469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D0475D7-194A-DD15-6D87-3F9FB1106C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291681-FED0-66A8-E134-9325C89A6A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60DA14E-B6D0-D657-0112-4DEAD5E3D031}"/>
              </a:ext>
            </a:extLst>
          </p:cNvPr>
          <p:cNvSpPr>
            <a:spLocks noGrp="1"/>
          </p:cNvSpPr>
          <p:nvPr>
            <p:ph type="dt" sz="half" idx="10"/>
          </p:nvPr>
        </p:nvSpPr>
        <p:spPr/>
        <p:txBody>
          <a:bodyPr/>
          <a:lstStyle/>
          <a:p>
            <a:fld id="{E943806E-8D21-43E4-9F2D-63F27C8E0326}" type="datetimeFigureOut">
              <a:rPr lang="en-IN" smtClean="0"/>
              <a:t>07-06-2026</a:t>
            </a:fld>
            <a:endParaRPr lang="en-IN" dirty="0"/>
          </a:p>
        </p:txBody>
      </p:sp>
      <p:sp>
        <p:nvSpPr>
          <p:cNvPr id="8" name="Footer Placeholder 7">
            <a:extLst>
              <a:ext uri="{FF2B5EF4-FFF2-40B4-BE49-F238E27FC236}">
                <a16:creationId xmlns:a16="http://schemas.microsoft.com/office/drawing/2014/main" id="{7AD2F618-DEC5-021D-936B-2FF3C5E635B4}"/>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445CFC53-2D51-EF01-8C48-624A5490CE13}"/>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27130361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C518E-EE2E-8AC8-37C3-AF264CD142A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0145FDC-5C6C-97EE-0FF0-55226E2D16FE}"/>
              </a:ext>
            </a:extLst>
          </p:cNvPr>
          <p:cNvSpPr>
            <a:spLocks noGrp="1"/>
          </p:cNvSpPr>
          <p:nvPr>
            <p:ph type="dt" sz="half" idx="10"/>
          </p:nvPr>
        </p:nvSpPr>
        <p:spPr/>
        <p:txBody>
          <a:bodyPr/>
          <a:lstStyle/>
          <a:p>
            <a:fld id="{E943806E-8D21-43E4-9F2D-63F27C8E0326}" type="datetimeFigureOut">
              <a:rPr lang="en-IN" smtClean="0"/>
              <a:t>07-06-2026</a:t>
            </a:fld>
            <a:endParaRPr lang="en-IN" dirty="0"/>
          </a:p>
        </p:txBody>
      </p:sp>
      <p:sp>
        <p:nvSpPr>
          <p:cNvPr id="4" name="Footer Placeholder 3">
            <a:extLst>
              <a:ext uri="{FF2B5EF4-FFF2-40B4-BE49-F238E27FC236}">
                <a16:creationId xmlns:a16="http://schemas.microsoft.com/office/drawing/2014/main" id="{DC1BC3E9-7E22-3E0E-B63A-CBC3D79FC536}"/>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83C8FB05-E8DF-761A-1B31-C54E391639D7}"/>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2128073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AFDF00-402F-50D5-D0D2-0C3684BF34CE}"/>
              </a:ext>
            </a:extLst>
          </p:cNvPr>
          <p:cNvSpPr>
            <a:spLocks noGrp="1"/>
          </p:cNvSpPr>
          <p:nvPr>
            <p:ph type="dt" sz="half" idx="10"/>
          </p:nvPr>
        </p:nvSpPr>
        <p:spPr/>
        <p:txBody>
          <a:bodyPr/>
          <a:lstStyle/>
          <a:p>
            <a:fld id="{E943806E-8D21-43E4-9F2D-63F27C8E0326}" type="datetimeFigureOut">
              <a:rPr lang="en-IN" smtClean="0"/>
              <a:t>07-06-2026</a:t>
            </a:fld>
            <a:endParaRPr lang="en-IN" dirty="0"/>
          </a:p>
        </p:txBody>
      </p:sp>
      <p:sp>
        <p:nvSpPr>
          <p:cNvPr id="3" name="Footer Placeholder 2">
            <a:extLst>
              <a:ext uri="{FF2B5EF4-FFF2-40B4-BE49-F238E27FC236}">
                <a16:creationId xmlns:a16="http://schemas.microsoft.com/office/drawing/2014/main" id="{2B6CDD23-4172-F46A-6F91-D81957C869A1}"/>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31972F11-3449-B30B-8F44-E9581B44778A}"/>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2884160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6E689-DD00-0642-53CC-961331092B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6A43E27-D3A3-C032-1B22-D4F0F4B508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9B389BD-C591-026B-4B42-F7CCBDB8FD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015E48-BF5E-3690-4515-E22FC82541FB}"/>
              </a:ext>
            </a:extLst>
          </p:cNvPr>
          <p:cNvSpPr>
            <a:spLocks noGrp="1"/>
          </p:cNvSpPr>
          <p:nvPr>
            <p:ph type="dt" sz="half" idx="10"/>
          </p:nvPr>
        </p:nvSpPr>
        <p:spPr/>
        <p:txBody>
          <a:bodyPr/>
          <a:lstStyle/>
          <a:p>
            <a:fld id="{E943806E-8D21-43E4-9F2D-63F27C8E0326}" type="datetimeFigureOut">
              <a:rPr lang="en-IN" smtClean="0"/>
              <a:t>07-06-2026</a:t>
            </a:fld>
            <a:endParaRPr lang="en-IN" dirty="0"/>
          </a:p>
        </p:txBody>
      </p:sp>
      <p:sp>
        <p:nvSpPr>
          <p:cNvPr id="6" name="Footer Placeholder 5">
            <a:extLst>
              <a:ext uri="{FF2B5EF4-FFF2-40B4-BE49-F238E27FC236}">
                <a16:creationId xmlns:a16="http://schemas.microsoft.com/office/drawing/2014/main" id="{447670F7-110C-F630-D868-1422C3DB18D4}"/>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61C1A669-A1D1-A9BA-89F6-B41C82B57C6A}"/>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1071485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C74BE-6B3D-5962-8251-90E88EE53E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CD01EBC-25BA-ED73-8D45-470E760805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C8358B04-6189-AACC-2093-A6FC280118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146FCE-ADFD-B0A8-6308-0087D4BB9FF4}"/>
              </a:ext>
            </a:extLst>
          </p:cNvPr>
          <p:cNvSpPr>
            <a:spLocks noGrp="1"/>
          </p:cNvSpPr>
          <p:nvPr>
            <p:ph type="dt" sz="half" idx="10"/>
          </p:nvPr>
        </p:nvSpPr>
        <p:spPr/>
        <p:txBody>
          <a:bodyPr/>
          <a:lstStyle/>
          <a:p>
            <a:fld id="{E943806E-8D21-43E4-9F2D-63F27C8E0326}" type="datetimeFigureOut">
              <a:rPr lang="en-IN" smtClean="0"/>
              <a:t>07-06-2026</a:t>
            </a:fld>
            <a:endParaRPr lang="en-IN" dirty="0"/>
          </a:p>
        </p:txBody>
      </p:sp>
      <p:sp>
        <p:nvSpPr>
          <p:cNvPr id="6" name="Footer Placeholder 5">
            <a:extLst>
              <a:ext uri="{FF2B5EF4-FFF2-40B4-BE49-F238E27FC236}">
                <a16:creationId xmlns:a16="http://schemas.microsoft.com/office/drawing/2014/main" id="{C55E3D00-5327-171C-E8C0-2ADE1133909D}"/>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C02B3EAE-9589-AF24-CEFA-E4A3C5D88F0E}"/>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21888118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3D716-0853-1E81-06FC-21F49A95E40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03F3CA1-4B67-CADA-F4B0-9642DFFEE9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EEA883-1B78-49FC-F4AF-9C948F985B0B}"/>
              </a:ext>
            </a:extLst>
          </p:cNvPr>
          <p:cNvSpPr>
            <a:spLocks noGrp="1"/>
          </p:cNvSpPr>
          <p:nvPr>
            <p:ph type="dt" sz="half" idx="10"/>
          </p:nvPr>
        </p:nvSpPr>
        <p:spPr/>
        <p:txBody>
          <a:bodyPr/>
          <a:lstStyle/>
          <a:p>
            <a:fld id="{E943806E-8D21-43E4-9F2D-63F27C8E0326}" type="datetimeFigureOut">
              <a:rPr lang="en-IN" smtClean="0"/>
              <a:t>07-06-2026</a:t>
            </a:fld>
            <a:endParaRPr lang="en-IN" dirty="0"/>
          </a:p>
        </p:txBody>
      </p:sp>
      <p:sp>
        <p:nvSpPr>
          <p:cNvPr id="5" name="Footer Placeholder 4">
            <a:extLst>
              <a:ext uri="{FF2B5EF4-FFF2-40B4-BE49-F238E27FC236}">
                <a16:creationId xmlns:a16="http://schemas.microsoft.com/office/drawing/2014/main" id="{52494C0C-745E-A49F-D6CC-F3E946B17CC7}"/>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9D4B3DA9-7B87-47CC-F674-ADE6B9DAE751}"/>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2658789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FDC632-C9C7-2DA9-D70F-0D06E9A2BD2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71DD888-DA2D-FD9D-2EE5-AB3305D589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11074A-B1D6-0A71-39E2-12157B251998}"/>
              </a:ext>
            </a:extLst>
          </p:cNvPr>
          <p:cNvSpPr>
            <a:spLocks noGrp="1"/>
          </p:cNvSpPr>
          <p:nvPr>
            <p:ph type="dt" sz="half" idx="10"/>
          </p:nvPr>
        </p:nvSpPr>
        <p:spPr/>
        <p:txBody>
          <a:bodyPr/>
          <a:lstStyle/>
          <a:p>
            <a:fld id="{E943806E-8D21-43E4-9F2D-63F27C8E0326}" type="datetimeFigureOut">
              <a:rPr lang="en-IN" smtClean="0"/>
              <a:t>07-06-2026</a:t>
            </a:fld>
            <a:endParaRPr lang="en-IN" dirty="0"/>
          </a:p>
        </p:txBody>
      </p:sp>
      <p:sp>
        <p:nvSpPr>
          <p:cNvPr id="5" name="Footer Placeholder 4">
            <a:extLst>
              <a:ext uri="{FF2B5EF4-FFF2-40B4-BE49-F238E27FC236}">
                <a16:creationId xmlns:a16="http://schemas.microsoft.com/office/drawing/2014/main" id="{2B2CAAF8-36C0-5205-12B3-8314DBBB701A}"/>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524CBA80-C5C7-6372-FE23-7E5AEA28C922}"/>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6686555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98375C-9BF8-44F5-8288-D9CD158117D1}"/>
              </a:ext>
            </a:extLst>
          </p:cNvPr>
          <p:cNvSpPr>
            <a:spLocks noGrp="1"/>
          </p:cNvSpPr>
          <p:nvPr>
            <p:ph idx="1"/>
          </p:nvPr>
        </p:nvSpPr>
        <p:spPr>
          <a:xfrm>
            <a:off x="838200" y="1426232"/>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6A17B0C0-2FB7-1404-61AE-3CF75D90DD02}"/>
              </a:ext>
            </a:extLst>
          </p:cNvPr>
          <p:cNvSpPr>
            <a:spLocks noGrp="1"/>
          </p:cNvSpPr>
          <p:nvPr>
            <p:ph type="title"/>
          </p:nvPr>
        </p:nvSpPr>
        <p:spPr>
          <a:xfrm>
            <a:off x="0" y="6045938"/>
            <a:ext cx="12192000" cy="812062"/>
          </a:xfrm>
          <a:solidFill>
            <a:srgbClr val="7900FF"/>
          </a:solidFill>
          <a:ln>
            <a:noFill/>
          </a:ln>
          <a:effectLst>
            <a:outerShdw blurRad="190500" dist="228600" dir="2700000" algn="ctr">
              <a:srgbClr val="000000">
                <a:alpha val="30000"/>
              </a:srgbClr>
            </a:outerShdw>
          </a:effectLst>
        </p:spPr>
        <p:txBody>
          <a:bodyPr>
            <a:normAutofit/>
          </a:bodyPr>
          <a:lstStyle>
            <a:lvl1pPr>
              <a:defRPr sz="3600" b="1">
                <a:solidFill>
                  <a:schemeClr val="bg1"/>
                </a:solidFill>
                <a:latin typeface="Aptos" panose="020B0004020202020204" pitchFamily="34" charset="0"/>
              </a:defRPr>
            </a:lvl1pPr>
          </a:lstStyle>
          <a:p>
            <a:r>
              <a:rPr lang="en-US" dirty="0"/>
              <a:t>Click to edit Master title style</a:t>
            </a:r>
          </a:p>
        </p:txBody>
      </p:sp>
      <p:sp>
        <p:nvSpPr>
          <p:cNvPr id="4" name="Slide Number Placeholder 5">
            <a:extLst>
              <a:ext uri="{FF2B5EF4-FFF2-40B4-BE49-F238E27FC236}">
                <a16:creationId xmlns:a16="http://schemas.microsoft.com/office/drawing/2014/main" id="{8B340062-B786-D72C-16AB-92EA3520AFEC}"/>
              </a:ext>
            </a:extLst>
          </p:cNvPr>
          <p:cNvSpPr>
            <a:spLocks noGrp="1"/>
          </p:cNvSpPr>
          <p:nvPr>
            <p:ph type="sldNum" sz="quarter" idx="12"/>
          </p:nvPr>
        </p:nvSpPr>
        <p:spPr>
          <a:xfrm>
            <a:off x="8242739" y="6356350"/>
            <a:ext cx="2743200" cy="365125"/>
          </a:xfrm>
        </p:spPr>
        <p:txBody>
          <a:bodyPr/>
          <a:lstStyle>
            <a:lvl1pPr>
              <a:defRPr sz="1800" b="1"/>
            </a:lvl1pPr>
          </a:lstStyle>
          <a:p>
            <a:fld id="{C2ABBCA0-D234-4812-975F-DB2C17A4DDDD}" type="slidenum">
              <a:rPr lang="en-US" smtClean="0"/>
              <a:pPr/>
              <a:t>‹#›</a:t>
            </a:fld>
            <a:endParaRPr lang="en-US" dirty="0"/>
          </a:p>
        </p:txBody>
      </p:sp>
    </p:spTree>
    <p:extLst>
      <p:ext uri="{BB962C8B-B14F-4D97-AF65-F5344CB8AC3E}">
        <p14:creationId xmlns:p14="http://schemas.microsoft.com/office/powerpoint/2010/main" val="1956302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92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A32478-7BE6-FD94-B1B3-1533CF2A06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CD9CED8-6854-0C73-DD84-5B9D8C9526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77F259-EFEC-5AD7-5C68-771A3AA6BF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43806E-8D21-43E4-9F2D-63F27C8E0326}" type="datetimeFigureOut">
              <a:rPr lang="en-IN" smtClean="0"/>
              <a:t>07-06-2026</a:t>
            </a:fld>
            <a:endParaRPr lang="en-IN" dirty="0"/>
          </a:p>
        </p:txBody>
      </p:sp>
      <p:sp>
        <p:nvSpPr>
          <p:cNvPr id="5" name="Footer Placeholder 4">
            <a:extLst>
              <a:ext uri="{FF2B5EF4-FFF2-40B4-BE49-F238E27FC236}">
                <a16:creationId xmlns:a16="http://schemas.microsoft.com/office/drawing/2014/main" id="{D3C4C6CB-8B77-4048-9007-4FC8E90286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192FFA66-CADE-8389-6472-9E7A47E216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731DD7-10D8-42F8-B738-27059AAF31FC}" type="slidenum">
              <a:rPr lang="en-IN" smtClean="0"/>
              <a:t>‹#›</a:t>
            </a:fld>
            <a:endParaRPr lang="en-IN" dirty="0"/>
          </a:p>
        </p:txBody>
      </p:sp>
    </p:spTree>
    <p:extLst>
      <p:ext uri="{BB962C8B-B14F-4D97-AF65-F5344CB8AC3E}">
        <p14:creationId xmlns:p14="http://schemas.microsoft.com/office/powerpoint/2010/main" val="23217682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png"/><Relationship Id="rId3" Type="http://schemas.microsoft.com/office/2007/relationships/media" Target="../media/media2.m4a"/><Relationship Id="rId7" Type="http://schemas.openxmlformats.org/officeDocument/2006/relationships/image" Target="../media/image1.png"/><Relationship Id="rId2" Type="http://schemas.microsoft.com/office/2007/relationships/media" Target="../media/media1.mp3"/><Relationship Id="rId1" Type="http://schemas.openxmlformats.org/officeDocument/2006/relationships/audio" Target="NULL" TargetMode="External"/><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audio" Target="../media/media2.m4a"/><Relationship Id="rId9" Type="http://schemas.openxmlformats.org/officeDocument/2006/relationships/image" Target="../media/image3.svg"/></Relationships>
</file>

<file path=ppt/slides/_rels/slide2.xml.rels><?xml version="1.0" encoding="UTF-8" standalone="yes"?>
<Relationships xmlns="http://schemas.openxmlformats.org/package/2006/relationships"><Relationship Id="rId8" Type="http://schemas.openxmlformats.org/officeDocument/2006/relationships/image" Target="../media/image4.svg"/><Relationship Id="rId3" Type="http://schemas.microsoft.com/office/2007/relationships/media" Target="../media/media3.m4a"/><Relationship Id="rId7" Type="http://schemas.openxmlformats.org/officeDocument/2006/relationships/image" Target="../media/image2.png"/><Relationship Id="rId2" Type="http://schemas.microsoft.com/office/2007/relationships/media" Target="../media/media1.mp3"/><Relationship Id="rId1" Type="http://schemas.openxmlformats.org/officeDocument/2006/relationships/audio" Target="NULL" TargetMode="External"/><Relationship Id="rId6" Type="http://schemas.openxmlformats.org/officeDocument/2006/relationships/notesSlide" Target="../notesSlides/notesSlide2.xml"/><Relationship Id="rId5" Type="http://schemas.openxmlformats.org/officeDocument/2006/relationships/slideLayout" Target="../slideLayouts/slideLayout12.xml"/><Relationship Id="rId4" Type="http://schemas.openxmlformats.org/officeDocument/2006/relationships/audio" Target="../media/media3.m4a"/></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audio" Target="NULL" TargetMode="External"/><Relationship Id="rId7" Type="http://schemas.openxmlformats.org/officeDocument/2006/relationships/image" Target="../media/image5.png"/><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notesSlide" Target="../notesSlides/notesSlide16.xml"/><Relationship Id="rId5" Type="http://schemas.openxmlformats.org/officeDocument/2006/relationships/slideLayout" Target="../slideLayouts/slideLayout1.xml"/><Relationship Id="rId4" Type="http://schemas.microsoft.com/office/2007/relationships/media" Target="../media/media1.mp3"/><Relationship Id="rId9"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A8A1E5E-F0A6-BFF6-4BED-6A02878C6352}"/>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3647" y="-10177"/>
            <a:ext cx="12184706" cy="6861645"/>
          </a:xfrm>
          <a:prstGeom prst="rect">
            <a:avLst/>
          </a:prstGeom>
        </p:spPr>
      </p:pic>
      <p:sp>
        <p:nvSpPr>
          <p:cNvPr id="4" name="Title 7">
            <a:extLst>
              <a:ext uri="{FF2B5EF4-FFF2-40B4-BE49-F238E27FC236}">
                <a16:creationId xmlns:a16="http://schemas.microsoft.com/office/drawing/2014/main" id="{B00ECB92-5091-43A0-3A50-D1D1ABDD48F6}"/>
              </a:ext>
            </a:extLst>
          </p:cNvPr>
          <p:cNvSpPr txBox="1">
            <a:spLocks/>
          </p:cNvSpPr>
          <p:nvPr/>
        </p:nvSpPr>
        <p:spPr>
          <a:xfrm>
            <a:off x="2168482" y="3269101"/>
            <a:ext cx="10019871" cy="1636159"/>
          </a:xfrm>
          <a:prstGeom prst="rect">
            <a:avLst/>
          </a:prstGeom>
          <a:solidFill>
            <a:srgbClr val="FFFFFF">
              <a:alpha val="14902"/>
            </a:srgbClr>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defTabSz="884238">
              <a:lnSpc>
                <a:spcPct val="120000"/>
              </a:lnSpc>
            </a:pPr>
            <a:r>
              <a:rPr lang="en-US" sz="4400" b="1" dirty="0" err="1">
                <a:solidFill>
                  <a:srgbClr val="FFFF00"/>
                </a:solidFill>
                <a:latin typeface="FN Shyamol Bangla" panose="02000600000000000000" pitchFamily="2" charset="0"/>
                <a:cs typeface="FN Shyamol Bangla" panose="02000600000000000000" pitchFamily="2" charset="0"/>
              </a:rPr>
              <a:t>Dreamlit</a:t>
            </a:r>
            <a:r>
              <a:rPr lang="en-US" sz="4400" b="1" dirty="0">
                <a:solidFill>
                  <a:srgbClr val="FFFF00"/>
                </a:solidFill>
                <a:latin typeface="FN Shyamol Bangla" panose="02000600000000000000" pitchFamily="2" charset="0"/>
                <a:cs typeface="FN Shyamol Bangla" panose="02000600000000000000" pitchFamily="2" charset="0"/>
              </a:rPr>
              <a:t> Equity Research: 4</a:t>
            </a:r>
          </a:p>
          <a:p>
            <a:pPr defTabSz="884238">
              <a:lnSpc>
                <a:spcPct val="120000"/>
              </a:lnSpc>
            </a:pPr>
            <a:r>
              <a:rPr lang="en-US" sz="3200" b="1" dirty="0">
                <a:latin typeface="FN Shyamol Bangla" panose="02000600000000000000" pitchFamily="2" charset="0"/>
                <a:cs typeface="FN Shyamol Bangla" panose="02000600000000000000" pitchFamily="2" charset="0"/>
              </a:rPr>
              <a:t>Commission-Free Pioneer  — App to Financial Ecosystem</a:t>
            </a:r>
          </a:p>
        </p:txBody>
      </p:sp>
      <p:pic>
        <p:nvPicPr>
          <p:cNvPr id="5" name="Untitled (2)">
            <a:hlinkClick r:id="" action="ppaction://media"/>
            <a:extLst>
              <a:ext uri="{FF2B5EF4-FFF2-40B4-BE49-F238E27FC236}">
                <a16:creationId xmlns:a16="http://schemas.microsoft.com/office/drawing/2014/main" id="{7DB4B856-C49B-D335-E682-925244857C03}"/>
              </a:ext>
            </a:extLst>
          </p:cNvPr>
          <p:cNvPicPr>
            <a:picLocks noChangeAspect="1"/>
          </p:cNvPicPr>
          <p:nvPr>
            <a:audioFile r:link="rId1"/>
            <p:extLst>
              <p:ext uri="{DAA4B4D4-6D71-4841-9C94-3DE7FCFB9230}">
                <p14:media xmlns:p14="http://schemas.microsoft.com/office/powerpoint/2010/main" r:embed="rId2">
                  <p14:trim end="213320"/>
                </p14:media>
              </p:ext>
            </p:extLst>
          </p:nvPr>
        </p:nvPicPr>
        <p:blipFill>
          <a:blip r:embed="rId8"/>
          <a:stretch>
            <a:fillRect/>
          </a:stretch>
        </p:blipFill>
        <p:spPr>
          <a:xfrm>
            <a:off x="-1709827" y="3420645"/>
            <a:ext cx="406400" cy="406400"/>
          </a:xfrm>
          <a:prstGeom prst="rect">
            <a:avLst/>
          </a:prstGeom>
        </p:spPr>
      </p:pic>
      <p:pic>
        <p:nvPicPr>
          <p:cNvPr id="3" name="Audio 2">
            <a:hlinkClick r:id="" action="ppaction://media"/>
            <a:extLst>
              <a:ext uri="{FF2B5EF4-FFF2-40B4-BE49-F238E27FC236}">
                <a16:creationId xmlns:a16="http://schemas.microsoft.com/office/drawing/2014/main" id="{DAD46E24-693D-B530-42BB-5910DB684EC4}"/>
              </a:ext>
            </a:extLst>
          </p:cNvPr>
          <p:cNvPicPr>
            <a:picLocks noChangeAspect="1"/>
          </p:cNvPicPr>
          <p:nvPr>
            <a:audioFile r:link="rId4"/>
            <p:extLst>
              <p:ext uri="{DAA4B4D4-6D71-4841-9C94-3DE7FCFB9230}">
                <p14:media xmlns:p14="http://schemas.microsoft.com/office/powerpoint/2010/main" r:embed="rId3"/>
              </p:ext>
            </p:extLst>
          </p:nvPr>
        </p:nvPicPr>
        <p:blipFill>
          <a:blip r:embed="rId8"/>
          <a:srcRect l="-325000" t="-160938" r="-325000" b="-160938"/>
          <a:stretch>
            <a:fillRect/>
          </a:stretch>
        </p:blipFill>
        <p:spPr>
          <a:xfrm>
            <a:off x="9144000" y="5143500"/>
            <a:ext cx="3048000" cy="1714500"/>
          </a:xfrm>
          <a:prstGeom prst="rect">
            <a:avLst/>
          </a:prstGeom>
        </p:spPr>
      </p:pic>
      <p:pic>
        <p:nvPicPr>
          <p:cNvPr id="26" name="Graphic 25" descr="Peacock with solid fill">
            <a:extLst>
              <a:ext uri="{FF2B5EF4-FFF2-40B4-BE49-F238E27FC236}">
                <a16:creationId xmlns:a16="http://schemas.microsoft.com/office/drawing/2014/main" id="{D51B320B-44D3-C018-F5E1-7D535FBF5E3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19528" y="3420645"/>
            <a:ext cx="1333073" cy="1333073"/>
          </a:xfrm>
          <a:prstGeom prst="rect">
            <a:avLst/>
          </a:prstGeom>
        </p:spPr>
      </p:pic>
    </p:spTree>
    <p:extLst>
      <p:ext uri="{BB962C8B-B14F-4D97-AF65-F5344CB8AC3E}">
        <p14:creationId xmlns:p14="http://schemas.microsoft.com/office/powerpoint/2010/main" val="2516154058"/>
      </p:ext>
    </p:extLst>
  </p:cSld>
  <p:clrMapOvr>
    <a:masterClrMapping/>
  </p:clrMapOvr>
  <mc:AlternateContent xmlns:mc="http://schemas.openxmlformats.org/markup-compatibility/2006" xmlns:p14="http://schemas.microsoft.com/office/powerpoint/2010/main">
    <mc:Choice Requires="p14">
      <p:transition spd="slow" p14:dur="2000" advTm="21535"/>
    </mc:Choice>
    <mc:Fallback xmlns="">
      <p:transition spd="slow" advTm="2153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par>
                          <p:cTn id="7" fill="hold">
                            <p:stCondLst>
                              <p:cond delay="1"/>
                            </p:stCondLst>
                            <p:childTnLst>
                              <p:par>
                                <p:cTn id="8" presetID="1" presetClass="mediacall" presetSubtype="0" fill="hold" nodeType="afterEffect">
                                  <p:stCondLst>
                                    <p:cond delay="0"/>
                                  </p:stCondLst>
                                  <p:childTnLst>
                                    <p:cmd type="call" cmd="playFrom(0.0)">
                                      <p:cBhvr>
                                        <p:cTn id="9" dur="10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0" fill="hold" display="0">
                  <p:stCondLst>
                    <p:cond delay="indefinite"/>
                  </p:stCondLst>
                  <p:endCondLst>
                    <p:cond evt="onStopAudio" delay="0">
                      <p:tgtEl>
                        <p:sldTgt/>
                      </p:tgtEl>
                    </p:cond>
                  </p:endCondLst>
                </p:cTn>
                <p:tgtEl>
                  <p:spTgt spid="5"/>
                </p:tgtEl>
              </p:cMediaNode>
            </p:audio>
            <p:audio isNarration="1">
              <p:cMediaNode vol="80000" showWhenStopped="0">
                <p:cTn id="11" fill="hold" display="0">
                  <p:stCondLst>
                    <p:cond delay="indefinite"/>
                  </p:stCondLst>
                  <p:endCondLst>
                    <p:cond evt="onStopAudio" delay="0">
                      <p:tgtEl>
                        <p:sldTgt/>
                      </p:tgtEl>
                    </p:cond>
                  </p:endCondLst>
                </p:cTn>
                <p:tgtEl>
                  <p:spTgt spid="3"/>
                </p:tgtEl>
              </p:cMediaNode>
            </p:audio>
          </p:childTnLst>
        </p:cTn>
      </p:par>
    </p:tnLst>
  </p:timing>
  <p:extLst>
    <p:ext uri="{E180D4A7-C9FB-4DFB-919C-405C955672EB}">
      <p14:showEvtLst xmlns:p14="http://schemas.microsoft.com/office/powerpoint/2010/main">
        <p14:playEvt time="165" objId="5"/>
        <p14:stopEvt time="10193" objId="5"/>
      </p14:showEvtLst>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32A6057-E419-E6D3-A61C-154F039901C1}"/>
              </a:ext>
            </a:extLst>
          </p:cNvPr>
          <p:cNvSpPr txBox="1">
            <a:spLocks/>
          </p:cNvSpPr>
          <p:nvPr/>
        </p:nvSpPr>
        <p:spPr>
          <a:xfrm>
            <a:off x="285949" y="237274"/>
            <a:ext cx="11906051" cy="812062"/>
          </a:xfrm>
          <a:prstGeom prst="rect">
            <a:avLst/>
          </a:prstGeom>
        </p:spPr>
        <p:txBody>
          <a:bodyPr/>
          <a:lstStyle>
            <a:lvl1pPr algn="l" defTabSz="914400" rtl="0" eaLnBrk="1" latinLnBrk="0" hangingPunct="1">
              <a:lnSpc>
                <a:spcPct val="90000"/>
              </a:lnSpc>
              <a:spcBef>
                <a:spcPct val="0"/>
              </a:spcBef>
              <a:buNone/>
              <a:defRPr sz="4400" kern="1200">
                <a:solidFill>
                  <a:schemeClr val="bg1"/>
                </a:solidFill>
                <a:latin typeface="Aptos" panose="020B0004020202020204" pitchFamily="34" charset="0"/>
                <a:ea typeface="+mj-ea"/>
                <a:cs typeface="+mj-cs"/>
              </a:defRPr>
            </a:lvl1pPr>
          </a:lstStyle>
          <a:p>
            <a:pPr algn="ctr"/>
            <a:r>
              <a:rPr lang="en-US" sz="3600" b="1" dirty="0">
                <a:solidFill>
                  <a:srgbClr val="A80C2A"/>
                </a:solidFill>
              </a:rPr>
              <a:t>DISCLAIMER</a:t>
            </a:r>
            <a:endParaRPr lang="en-IN" sz="3600" b="1" dirty="0">
              <a:solidFill>
                <a:srgbClr val="A80C2A"/>
              </a:solidFill>
            </a:endParaRPr>
          </a:p>
        </p:txBody>
      </p:sp>
      <p:pic>
        <p:nvPicPr>
          <p:cNvPr id="8" name="Untitled (2)">
            <a:hlinkClick r:id="" action="ppaction://media"/>
            <a:extLst>
              <a:ext uri="{FF2B5EF4-FFF2-40B4-BE49-F238E27FC236}">
                <a16:creationId xmlns:a16="http://schemas.microsoft.com/office/drawing/2014/main" id="{07A43B10-2FE9-CB71-0833-6F2E03897FE8}"/>
              </a:ext>
            </a:extLst>
          </p:cNvPr>
          <p:cNvPicPr>
            <a:picLocks noChangeAspect="1"/>
          </p:cNvPicPr>
          <p:nvPr>
            <a:audioFile r:link="rId1"/>
            <p:extLst>
              <p:ext uri="{DAA4B4D4-6D71-4841-9C94-3DE7FCFB9230}">
                <p14:media xmlns:p14="http://schemas.microsoft.com/office/powerpoint/2010/main" r:embed="rId2">
                  <p14:trim end="213320"/>
                </p14:media>
              </p:ext>
            </p:extLst>
          </p:nvPr>
        </p:nvPicPr>
        <p:blipFill>
          <a:blip r:embed="rId7"/>
          <a:stretch>
            <a:fillRect/>
          </a:stretch>
        </p:blipFill>
        <p:spPr>
          <a:xfrm>
            <a:off x="-1709827" y="3420645"/>
            <a:ext cx="406400" cy="406400"/>
          </a:xfrm>
          <a:prstGeom prst="rect">
            <a:avLst/>
          </a:prstGeom>
        </p:spPr>
      </p:pic>
      <p:grpSp>
        <p:nvGrpSpPr>
          <p:cNvPr id="19" name="Group 18">
            <a:extLst>
              <a:ext uri="{FF2B5EF4-FFF2-40B4-BE49-F238E27FC236}">
                <a16:creationId xmlns:a16="http://schemas.microsoft.com/office/drawing/2014/main" id="{2B399FE1-B268-5F1F-B1FA-F457719D724C}"/>
              </a:ext>
            </a:extLst>
          </p:cNvPr>
          <p:cNvGrpSpPr/>
          <p:nvPr/>
        </p:nvGrpSpPr>
        <p:grpSpPr>
          <a:xfrm>
            <a:off x="373345" y="1049336"/>
            <a:ext cx="2504610" cy="5368484"/>
            <a:chOff x="844642" y="1681136"/>
            <a:chExt cx="10502712" cy="5784908"/>
          </a:xfrm>
        </p:grpSpPr>
        <p:sp>
          <p:nvSpPr>
            <p:cNvPr id="13" name="Title 7">
              <a:extLst>
                <a:ext uri="{FF2B5EF4-FFF2-40B4-BE49-F238E27FC236}">
                  <a16:creationId xmlns:a16="http://schemas.microsoft.com/office/drawing/2014/main" id="{8DE03FF1-840A-2117-3004-C30E7555EFC9}"/>
                </a:ext>
              </a:extLst>
            </p:cNvPr>
            <p:cNvSpPr txBox="1">
              <a:spLocks/>
            </p:cNvSpPr>
            <p:nvPr/>
          </p:nvSpPr>
          <p:spPr>
            <a:xfrm>
              <a:off x="844645" y="1681136"/>
              <a:ext cx="10502709" cy="574456"/>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solidFill>
                    <a:schemeClr val="accent4">
                      <a:lumMod val="60000"/>
                      <a:lumOff val="40000"/>
                    </a:schemeClr>
                  </a:solidFill>
                </a:rPr>
                <a:t>Content Purpose</a:t>
              </a:r>
              <a:endParaRPr lang="en-US" sz="2000" b="1" dirty="0"/>
            </a:p>
          </p:txBody>
        </p:sp>
        <p:sp>
          <p:nvSpPr>
            <p:cNvPr id="14" name="Title 7">
              <a:extLst>
                <a:ext uri="{FF2B5EF4-FFF2-40B4-BE49-F238E27FC236}">
                  <a16:creationId xmlns:a16="http://schemas.microsoft.com/office/drawing/2014/main" id="{6C2201E5-3197-6603-0D94-D576950F083D}"/>
                </a:ext>
              </a:extLst>
            </p:cNvPr>
            <p:cNvSpPr txBox="1">
              <a:spLocks/>
            </p:cNvSpPr>
            <p:nvPr/>
          </p:nvSpPr>
          <p:spPr>
            <a:xfrm>
              <a:off x="844643" y="2353603"/>
              <a:ext cx="10502709" cy="840172"/>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solidFill>
                    <a:schemeClr val="accent4">
                      <a:lumMod val="60000"/>
                      <a:lumOff val="40000"/>
                    </a:schemeClr>
                  </a:solidFill>
                </a:rPr>
                <a:t>Advisory Status</a:t>
              </a:r>
              <a:endParaRPr lang="en-US" sz="2000" b="1" dirty="0"/>
            </a:p>
          </p:txBody>
        </p:sp>
        <p:sp>
          <p:nvSpPr>
            <p:cNvPr id="15" name="Title 7">
              <a:extLst>
                <a:ext uri="{FF2B5EF4-FFF2-40B4-BE49-F238E27FC236}">
                  <a16:creationId xmlns:a16="http://schemas.microsoft.com/office/drawing/2014/main" id="{CBCF57AE-277C-9FDC-099E-FC2CF48253C2}"/>
                </a:ext>
              </a:extLst>
            </p:cNvPr>
            <p:cNvSpPr txBox="1">
              <a:spLocks/>
            </p:cNvSpPr>
            <p:nvPr/>
          </p:nvSpPr>
          <p:spPr>
            <a:xfrm>
              <a:off x="844645" y="3298477"/>
              <a:ext cx="10502709" cy="574456"/>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solidFill>
                    <a:schemeClr val="accent4">
                      <a:lumMod val="60000"/>
                      <a:lumOff val="40000"/>
                    </a:schemeClr>
                  </a:solidFill>
                </a:rPr>
                <a:t>Content Purpose</a:t>
              </a:r>
              <a:endParaRPr lang="en-US" sz="2000" b="1" dirty="0"/>
            </a:p>
          </p:txBody>
        </p:sp>
        <p:sp>
          <p:nvSpPr>
            <p:cNvPr id="16" name="Title 7">
              <a:extLst>
                <a:ext uri="{FF2B5EF4-FFF2-40B4-BE49-F238E27FC236}">
                  <a16:creationId xmlns:a16="http://schemas.microsoft.com/office/drawing/2014/main" id="{6EA068E0-2144-5C7F-CBAF-17316AA3873D}"/>
                </a:ext>
              </a:extLst>
            </p:cNvPr>
            <p:cNvSpPr txBox="1">
              <a:spLocks/>
            </p:cNvSpPr>
            <p:nvPr/>
          </p:nvSpPr>
          <p:spPr>
            <a:xfrm>
              <a:off x="844644" y="3981227"/>
              <a:ext cx="10502709" cy="574456"/>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solidFill>
                    <a:schemeClr val="accent4">
                      <a:lumMod val="60000"/>
                      <a:lumOff val="40000"/>
                    </a:schemeClr>
                  </a:solidFill>
                </a:rPr>
                <a:t>Risk Warning</a:t>
              </a:r>
              <a:endParaRPr lang="en-US" sz="2000" b="1" dirty="0"/>
            </a:p>
          </p:txBody>
        </p:sp>
        <p:sp>
          <p:nvSpPr>
            <p:cNvPr id="17" name="Title 7">
              <a:extLst>
                <a:ext uri="{FF2B5EF4-FFF2-40B4-BE49-F238E27FC236}">
                  <a16:creationId xmlns:a16="http://schemas.microsoft.com/office/drawing/2014/main" id="{B527A497-5FEA-5A6B-3CD5-18080708ACA0}"/>
                </a:ext>
              </a:extLst>
            </p:cNvPr>
            <p:cNvSpPr txBox="1">
              <a:spLocks/>
            </p:cNvSpPr>
            <p:nvPr/>
          </p:nvSpPr>
          <p:spPr>
            <a:xfrm>
              <a:off x="844645" y="4655469"/>
              <a:ext cx="10502709" cy="908755"/>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solidFill>
                    <a:schemeClr val="accent4">
                      <a:lumMod val="60000"/>
                      <a:lumOff val="40000"/>
                    </a:schemeClr>
                  </a:solidFill>
                </a:rPr>
                <a:t>Liability</a:t>
              </a:r>
              <a:endParaRPr lang="en-US" sz="2000" b="1" dirty="0"/>
            </a:p>
          </p:txBody>
        </p:sp>
        <p:sp>
          <p:nvSpPr>
            <p:cNvPr id="18" name="Title 7">
              <a:extLst>
                <a:ext uri="{FF2B5EF4-FFF2-40B4-BE49-F238E27FC236}">
                  <a16:creationId xmlns:a16="http://schemas.microsoft.com/office/drawing/2014/main" id="{AFA7281D-4100-BA9E-C295-3AE289229A46}"/>
                </a:ext>
              </a:extLst>
            </p:cNvPr>
            <p:cNvSpPr txBox="1">
              <a:spLocks/>
            </p:cNvSpPr>
            <p:nvPr/>
          </p:nvSpPr>
          <p:spPr>
            <a:xfrm>
              <a:off x="844642" y="5677694"/>
              <a:ext cx="10502709" cy="831785"/>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solidFill>
                    <a:schemeClr val="accent4">
                      <a:lumMod val="60000"/>
                      <a:lumOff val="40000"/>
                    </a:schemeClr>
                  </a:solidFill>
                </a:rPr>
                <a:t>Recommendation</a:t>
              </a:r>
              <a:endParaRPr lang="en-US" sz="2000" b="1" dirty="0"/>
            </a:p>
          </p:txBody>
        </p:sp>
        <p:sp>
          <p:nvSpPr>
            <p:cNvPr id="20" name="Title 7">
              <a:extLst>
                <a:ext uri="{FF2B5EF4-FFF2-40B4-BE49-F238E27FC236}">
                  <a16:creationId xmlns:a16="http://schemas.microsoft.com/office/drawing/2014/main" id="{8F206109-CA70-7440-DD11-B9C108C33E8C}"/>
                </a:ext>
              </a:extLst>
            </p:cNvPr>
            <p:cNvSpPr txBox="1">
              <a:spLocks/>
            </p:cNvSpPr>
            <p:nvPr/>
          </p:nvSpPr>
          <p:spPr>
            <a:xfrm>
              <a:off x="844642" y="6634259"/>
              <a:ext cx="10502709" cy="831785"/>
            </a:xfrm>
            <a:prstGeom prst="rect">
              <a:avLst/>
            </a:prstGeom>
            <a:solidFill>
              <a:srgbClr val="FFFFFF">
                <a:alpha val="14902"/>
              </a:srgbClr>
            </a:solidFill>
          </p:spPr>
          <p:txBody>
            <a:bodyPr vert="horz" lIns="91440" tIns="45720" rIns="91440" bIns="45720" rtlCol="0" anchor="ctr">
              <a:noAutofit/>
            </a:bodyPr>
            <a:lstStyle>
              <a:defPPr>
                <a:defRPr lang="en-US"/>
              </a:defPPr>
              <a:lvl1pPr>
                <a:lnSpc>
                  <a:spcPct val="120000"/>
                </a:lnSpc>
                <a:spcBef>
                  <a:spcPct val="0"/>
                </a:spcBef>
                <a:buNone/>
                <a:defRPr sz="2200" b="1">
                  <a:solidFill>
                    <a:schemeClr val="accent4">
                      <a:lumMod val="60000"/>
                      <a:lumOff val="40000"/>
                    </a:schemeClr>
                  </a:solidFill>
                  <a:latin typeface="Aptos" panose="020B0004020202020204" pitchFamily="34" charset="0"/>
                  <a:ea typeface="+mj-ea"/>
                  <a:cs typeface="+mj-cs"/>
                </a:defRPr>
              </a:lvl1pPr>
            </a:lstStyle>
            <a:p>
              <a:r>
                <a:rPr lang="en-US" sz="2000" dirty="0"/>
                <a:t>Legal Basis</a:t>
              </a:r>
              <a:endParaRPr lang="en-IN" sz="2000" dirty="0">
                <a:solidFill>
                  <a:schemeClr val="bg1"/>
                </a:solidFill>
              </a:endParaRPr>
            </a:p>
          </p:txBody>
        </p:sp>
      </p:grpSp>
      <p:pic>
        <p:nvPicPr>
          <p:cNvPr id="21" name="Graphic 20" descr="Warning with solid fill">
            <a:extLst>
              <a:ext uri="{FF2B5EF4-FFF2-40B4-BE49-F238E27FC236}">
                <a16:creationId xmlns:a16="http://schemas.microsoft.com/office/drawing/2014/main" id="{37B056C0-10E4-097E-7914-158229F81B8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921328" y="156542"/>
            <a:ext cx="612172" cy="600511"/>
          </a:xfrm>
          <a:prstGeom prst="rect">
            <a:avLst/>
          </a:prstGeom>
        </p:spPr>
      </p:pic>
      <p:grpSp>
        <p:nvGrpSpPr>
          <p:cNvPr id="23" name="Group 22">
            <a:extLst>
              <a:ext uri="{FF2B5EF4-FFF2-40B4-BE49-F238E27FC236}">
                <a16:creationId xmlns:a16="http://schemas.microsoft.com/office/drawing/2014/main" id="{010CD110-D3C7-B489-05AC-78F16E8A2315}"/>
              </a:ext>
            </a:extLst>
          </p:cNvPr>
          <p:cNvGrpSpPr/>
          <p:nvPr/>
        </p:nvGrpSpPr>
        <p:grpSpPr>
          <a:xfrm>
            <a:off x="2955390" y="1032718"/>
            <a:ext cx="8787431" cy="5368484"/>
            <a:chOff x="844642" y="1681136"/>
            <a:chExt cx="10502712" cy="5784908"/>
          </a:xfrm>
        </p:grpSpPr>
        <p:sp>
          <p:nvSpPr>
            <p:cNvPr id="24" name="Title 7">
              <a:extLst>
                <a:ext uri="{FF2B5EF4-FFF2-40B4-BE49-F238E27FC236}">
                  <a16:creationId xmlns:a16="http://schemas.microsoft.com/office/drawing/2014/main" id="{2AD060FD-1461-559C-C0CB-682EC36EDC72}"/>
                </a:ext>
              </a:extLst>
            </p:cNvPr>
            <p:cNvSpPr txBox="1">
              <a:spLocks/>
            </p:cNvSpPr>
            <p:nvPr/>
          </p:nvSpPr>
          <p:spPr>
            <a:xfrm>
              <a:off x="844645" y="1681136"/>
              <a:ext cx="10502709" cy="574456"/>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t>Educational and entertainment purposes only.</a:t>
              </a:r>
            </a:p>
          </p:txBody>
        </p:sp>
        <p:sp>
          <p:nvSpPr>
            <p:cNvPr id="25" name="Title 7">
              <a:extLst>
                <a:ext uri="{FF2B5EF4-FFF2-40B4-BE49-F238E27FC236}">
                  <a16:creationId xmlns:a16="http://schemas.microsoft.com/office/drawing/2014/main" id="{EDF3456A-9EC2-21F5-1927-378B3F1FCD3D}"/>
                </a:ext>
              </a:extLst>
            </p:cNvPr>
            <p:cNvSpPr txBox="1">
              <a:spLocks/>
            </p:cNvSpPr>
            <p:nvPr/>
          </p:nvSpPr>
          <p:spPr>
            <a:xfrm>
              <a:off x="844643" y="2353603"/>
              <a:ext cx="10502709" cy="840172"/>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t>Not financial, investment, legal, or tax advice; creator is not a licensed financial advisor.</a:t>
              </a:r>
            </a:p>
          </p:txBody>
        </p:sp>
        <p:sp>
          <p:nvSpPr>
            <p:cNvPr id="26" name="Title 7">
              <a:extLst>
                <a:ext uri="{FF2B5EF4-FFF2-40B4-BE49-F238E27FC236}">
                  <a16:creationId xmlns:a16="http://schemas.microsoft.com/office/drawing/2014/main" id="{BFDFB7B4-DA49-AF99-67CC-F907E10A3F60}"/>
                </a:ext>
              </a:extLst>
            </p:cNvPr>
            <p:cNvSpPr txBox="1">
              <a:spLocks/>
            </p:cNvSpPr>
            <p:nvPr/>
          </p:nvSpPr>
          <p:spPr>
            <a:xfrm>
              <a:off x="844645" y="3298477"/>
              <a:ext cx="10502709" cy="574456"/>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t>Educational and entertainment purposes only.</a:t>
              </a:r>
            </a:p>
          </p:txBody>
        </p:sp>
        <p:sp>
          <p:nvSpPr>
            <p:cNvPr id="27" name="Title 7">
              <a:extLst>
                <a:ext uri="{FF2B5EF4-FFF2-40B4-BE49-F238E27FC236}">
                  <a16:creationId xmlns:a16="http://schemas.microsoft.com/office/drawing/2014/main" id="{5C56D47E-F7CE-6904-2C81-B17CD2143C82}"/>
                </a:ext>
              </a:extLst>
            </p:cNvPr>
            <p:cNvSpPr txBox="1">
              <a:spLocks/>
            </p:cNvSpPr>
            <p:nvPr/>
          </p:nvSpPr>
          <p:spPr>
            <a:xfrm>
              <a:off x="844644" y="3981227"/>
              <a:ext cx="10502709" cy="574456"/>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t>Investing involves risk, including potential loss of principal.</a:t>
              </a:r>
            </a:p>
          </p:txBody>
        </p:sp>
        <p:sp>
          <p:nvSpPr>
            <p:cNvPr id="28" name="Title 7">
              <a:extLst>
                <a:ext uri="{FF2B5EF4-FFF2-40B4-BE49-F238E27FC236}">
                  <a16:creationId xmlns:a16="http://schemas.microsoft.com/office/drawing/2014/main" id="{DFA0F27C-1198-6E1B-F6F9-1B056D0C167D}"/>
                </a:ext>
              </a:extLst>
            </p:cNvPr>
            <p:cNvSpPr txBox="1">
              <a:spLocks/>
            </p:cNvSpPr>
            <p:nvPr/>
          </p:nvSpPr>
          <p:spPr>
            <a:xfrm>
              <a:off x="844645" y="4655469"/>
              <a:ext cx="10502709" cy="908755"/>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t>Opinions are the creator's own and may change without notice; the individual is responsible for their own decisions.</a:t>
              </a:r>
            </a:p>
          </p:txBody>
        </p:sp>
        <p:sp>
          <p:nvSpPr>
            <p:cNvPr id="29" name="Title 7">
              <a:extLst>
                <a:ext uri="{FF2B5EF4-FFF2-40B4-BE49-F238E27FC236}">
                  <a16:creationId xmlns:a16="http://schemas.microsoft.com/office/drawing/2014/main" id="{A7FBD42C-8131-478B-B5EB-7A1329552A73}"/>
                </a:ext>
              </a:extLst>
            </p:cNvPr>
            <p:cNvSpPr txBox="1">
              <a:spLocks/>
            </p:cNvSpPr>
            <p:nvPr/>
          </p:nvSpPr>
          <p:spPr>
            <a:xfrm>
              <a:off x="844642" y="5677694"/>
              <a:ext cx="10502709" cy="831785"/>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t>Perform own research and consult a qualified professional before making investment decisions.</a:t>
              </a:r>
            </a:p>
          </p:txBody>
        </p:sp>
        <p:sp>
          <p:nvSpPr>
            <p:cNvPr id="30" name="Title 7">
              <a:extLst>
                <a:ext uri="{FF2B5EF4-FFF2-40B4-BE49-F238E27FC236}">
                  <a16:creationId xmlns:a16="http://schemas.microsoft.com/office/drawing/2014/main" id="{DB60985C-5D53-A6D2-4F49-292D5B01D5EF}"/>
                </a:ext>
              </a:extLst>
            </p:cNvPr>
            <p:cNvSpPr txBox="1">
              <a:spLocks/>
            </p:cNvSpPr>
            <p:nvPr/>
          </p:nvSpPr>
          <p:spPr>
            <a:xfrm>
              <a:off x="844642" y="6634259"/>
              <a:ext cx="10502709" cy="831785"/>
            </a:xfrm>
            <a:prstGeom prst="rect">
              <a:avLst/>
            </a:prstGeom>
            <a:solidFill>
              <a:srgbClr val="FFFFFF">
                <a:alpha val="14902"/>
              </a:srgbClr>
            </a:solidFill>
          </p:spPr>
          <p:txBody>
            <a:bodyPr vert="horz" lIns="91440" tIns="45720" rIns="91440" bIns="45720" rtlCol="0" anchor="ctr">
              <a:noAutofit/>
            </a:bodyPr>
            <a:lstStyle>
              <a:defPPr>
                <a:defRPr lang="en-US"/>
              </a:defPPr>
              <a:lvl1pPr>
                <a:lnSpc>
                  <a:spcPct val="120000"/>
                </a:lnSpc>
                <a:spcBef>
                  <a:spcPct val="0"/>
                </a:spcBef>
                <a:buNone/>
                <a:defRPr sz="2200" b="1">
                  <a:solidFill>
                    <a:schemeClr val="accent4">
                      <a:lumMod val="60000"/>
                      <a:lumOff val="40000"/>
                    </a:schemeClr>
                  </a:solidFill>
                  <a:latin typeface="Aptos" panose="020B0004020202020204" pitchFamily="34" charset="0"/>
                  <a:ea typeface="+mj-ea"/>
                  <a:cs typeface="+mj-cs"/>
                </a:defRPr>
              </a:lvl1pPr>
            </a:lstStyle>
            <a:p>
              <a:r>
                <a:rPr lang="en-US" sz="2000" dirty="0">
                  <a:solidFill>
                    <a:schemeClr val="bg1"/>
                  </a:solidFill>
                </a:rPr>
                <a:t>Third-party content is used under Fair Use for commentary, criticism, and analysis.</a:t>
              </a:r>
              <a:endParaRPr lang="en-IN" sz="2000" dirty="0">
                <a:solidFill>
                  <a:schemeClr val="bg1"/>
                </a:solidFill>
              </a:endParaRPr>
            </a:p>
          </p:txBody>
        </p:sp>
      </p:grpSp>
      <p:pic>
        <p:nvPicPr>
          <p:cNvPr id="3" name="Audio 2">
            <a:hlinkClick r:id="" action="ppaction://media"/>
            <a:extLst>
              <a:ext uri="{FF2B5EF4-FFF2-40B4-BE49-F238E27FC236}">
                <a16:creationId xmlns:a16="http://schemas.microsoft.com/office/drawing/2014/main" id="{4274AC6D-CBE0-DF60-2E0B-8B48F1D0CFB9}"/>
              </a:ext>
            </a:extLst>
          </p:cNvPr>
          <p:cNvPicPr>
            <a:picLocks noChangeAspect="1"/>
          </p:cNvPicPr>
          <p:nvPr>
            <a:audioFile r:link="rId4"/>
            <p:extLst>
              <p:ext uri="{DAA4B4D4-6D71-4841-9C94-3DE7FCFB9230}">
                <p14:media xmlns:p14="http://schemas.microsoft.com/office/powerpoint/2010/main" r:embed="rId3"/>
              </p:ext>
            </p:extLst>
          </p:nvPr>
        </p:nvPicPr>
        <p:blipFill>
          <a:blip r:embed="rId7"/>
          <a:srcRect l="-325000" t="-160938" r="-325000" b="-160938"/>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3726314589"/>
      </p:ext>
    </p:extLst>
  </p:cSld>
  <p:clrMapOvr>
    <a:masterClrMapping/>
  </p:clrMapOvr>
  <mc:AlternateContent xmlns:mc="http://schemas.openxmlformats.org/markup-compatibility/2006" xmlns:p14="http://schemas.microsoft.com/office/powerpoint/2010/main">
    <mc:Choice Requires="p14">
      <p:transition spd="slow" p14:dur="2000" advTm="77673"/>
    </mc:Choice>
    <mc:Fallback xmlns="">
      <p:transition spd="slow" advTm="776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par>
                          <p:cTn id="7" fill="hold">
                            <p:stCondLst>
                              <p:cond delay="0"/>
                            </p:stCondLst>
                            <p:childTnLst>
                              <p:par>
                                <p:cTn id="8" presetID="26" presetClass="emph" presetSubtype="0" fill="hold" nodeType="afterEffect">
                                  <p:stCondLst>
                                    <p:cond delay="0"/>
                                  </p:stCondLst>
                                  <p:childTnLst>
                                    <p:animEffect transition="out" filter="fade">
                                      <p:cBhvr>
                                        <p:cTn id="9" dur="500" tmFilter="0, 0; .2, .5; .8, .5; 1, 0"/>
                                        <p:tgtEl>
                                          <p:spTgt spid="5">
                                            <p:txEl>
                                              <p:pRg st="0" end="0"/>
                                            </p:txEl>
                                          </p:spTgt>
                                        </p:tgtEl>
                                      </p:cBhvr>
                                    </p:animEffect>
                                    <p:animScale>
                                      <p:cBhvr>
                                        <p:cTn id="10" dur="250" autoRev="1" fill="hold"/>
                                        <p:tgtEl>
                                          <p:spTgt spid="5">
                                            <p:txEl>
                                              <p:pRg st="0" end="0"/>
                                            </p:txEl>
                                          </p:spTgt>
                                        </p:tgtEl>
                                      </p:cBhvr>
                                      <p:by x="105000" y="105000"/>
                                    </p:animScale>
                                  </p:childTnLst>
                                </p:cTn>
                              </p:par>
                            </p:childTnLst>
                          </p:cTn>
                        </p:par>
                        <p:par>
                          <p:cTn id="11" fill="hold">
                            <p:stCondLst>
                              <p:cond delay="500"/>
                            </p:stCondLst>
                            <p:childTnLst>
                              <p:par>
                                <p:cTn id="12" presetID="1" presetClass="mediacall" presetSubtype="0" fill="hold" nodeType="afterEffect">
                                  <p:stCondLst>
                                    <p:cond delay="0"/>
                                  </p:stCondLst>
                                  <p:childTnLst>
                                    <p:cmd type="call" cmd="playFrom(0.0)">
                                      <p:cBhvr>
                                        <p:cTn id="13" dur="10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4" fill="hold" display="0">
                  <p:stCondLst>
                    <p:cond delay="indefinite"/>
                  </p:stCondLst>
                  <p:endCondLst>
                    <p:cond evt="onStopAudio" delay="0">
                      <p:tgtEl>
                        <p:sldTgt/>
                      </p:tgtEl>
                    </p:cond>
                  </p:endCondLst>
                </p:cTn>
                <p:tgtEl>
                  <p:spTgt spid="8"/>
                </p:tgtEl>
              </p:cMediaNode>
            </p:audio>
            <p:audio isNarration="1">
              <p:cMediaNode vol="80000" showWhenStopped="0">
                <p:cTn id="15" fill="hold" display="0">
                  <p:stCondLst>
                    <p:cond delay="indefinite"/>
                  </p:stCondLst>
                  <p:endCondLst>
                    <p:cond evt="onStopAudio" delay="0">
                      <p:tgtEl>
                        <p:sldTgt/>
                      </p:tgtEl>
                    </p:cond>
                  </p:endCondLst>
                </p:cTn>
                <p:tgtEl>
                  <p:spTgt spid="3"/>
                </p:tgtEl>
              </p:cMediaNode>
            </p:audio>
          </p:childTnLst>
        </p:cTn>
      </p:par>
    </p:tnLst>
  </p:timing>
  <p:extLst>
    <p:ext uri="{E180D4A7-C9FB-4DFB-919C-405C955672EB}">
      <p14:showEvtLst xmlns:p14="http://schemas.microsoft.com/office/powerpoint/2010/main">
        <p14:playEvt time="551" objId="8"/>
        <p14:stopEvt time="10577" objId="8"/>
      </p14:showEvtLst>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0C896"/>
          </a:solidFill>
          <a:ln/>
        </p:spPr>
      </p:sp>
      <p:sp>
        <p:nvSpPr>
          <p:cNvPr id="3" name="Shape 1"/>
          <p:cNvSpPr/>
          <p:nvPr/>
        </p:nvSpPr>
        <p:spPr>
          <a:xfrm>
            <a:off x="146304" y="12192"/>
            <a:ext cx="12045696" cy="426720"/>
          </a:xfrm>
          <a:prstGeom prst="rect">
            <a:avLst/>
          </a:prstGeom>
          <a:solidFill>
            <a:srgbClr val="1B3A5C"/>
          </a:solidFill>
          <a:ln/>
        </p:spPr>
      </p:sp>
      <p:sp>
        <p:nvSpPr>
          <p:cNvPr id="4" name="Text 2"/>
          <p:cNvSpPr/>
          <p:nvPr/>
        </p:nvSpPr>
        <p:spPr>
          <a:xfrm>
            <a:off x="-73793" y="-24384"/>
            <a:ext cx="2926080" cy="426720"/>
          </a:xfrm>
          <a:prstGeom prst="rect">
            <a:avLst/>
          </a:prstGeom>
          <a:noFill/>
          <a:ln/>
        </p:spPr>
        <p:txBody>
          <a:bodyPr wrap="square" lIns="0" tIns="0" rIns="0" bIns="0" rtlCol="0" anchor="ctr"/>
          <a:lstStyle/>
          <a:p>
            <a:pPr algn="ctr"/>
            <a:r>
              <a:rPr lang="en-US" sz="1200" b="1" dirty="0">
                <a:solidFill>
                  <a:srgbClr val="00C896"/>
                </a:solidFill>
              </a:rPr>
              <a:t>DREAMLIT EQUITY RESEARCH: 3</a:t>
            </a:r>
            <a:endParaRPr lang="en-US" sz="1200" dirty="0"/>
          </a:p>
        </p:txBody>
      </p:sp>
      <p:sp>
        <p:nvSpPr>
          <p:cNvPr id="5" name="Text 3"/>
          <p:cNvSpPr/>
          <p:nvPr/>
        </p:nvSpPr>
        <p:spPr>
          <a:xfrm>
            <a:off x="426720" y="950976"/>
            <a:ext cx="7924800" cy="1463040"/>
          </a:xfrm>
          <a:prstGeom prst="rect">
            <a:avLst/>
          </a:prstGeom>
          <a:noFill/>
          <a:ln/>
        </p:spPr>
        <p:txBody>
          <a:bodyPr wrap="square" lIns="0" tIns="0" rIns="0" bIns="0" rtlCol="0" anchor="ctr"/>
          <a:lstStyle/>
          <a:p>
            <a:r>
              <a:rPr lang="en-US" sz="9066" b="1" dirty="0">
                <a:solidFill>
                  <a:srgbClr val="FFFFFF"/>
                </a:solidFill>
                <a:latin typeface="Georgia" pitchFamily="34" charset="0"/>
                <a:ea typeface="Georgia" pitchFamily="34" charset="-122"/>
                <a:cs typeface="Georgia" pitchFamily="34" charset="-120"/>
              </a:rPr>
              <a:t>Robinhood</a:t>
            </a:r>
            <a:endParaRPr lang="en-US" sz="9066" dirty="0"/>
          </a:p>
        </p:txBody>
      </p:sp>
      <p:sp>
        <p:nvSpPr>
          <p:cNvPr id="6" name="Text 4"/>
          <p:cNvSpPr/>
          <p:nvPr/>
        </p:nvSpPr>
        <p:spPr>
          <a:xfrm>
            <a:off x="426720" y="2255520"/>
            <a:ext cx="7924800" cy="1097280"/>
          </a:xfrm>
          <a:prstGeom prst="rect">
            <a:avLst/>
          </a:prstGeom>
          <a:noFill/>
          <a:ln/>
        </p:spPr>
        <p:txBody>
          <a:bodyPr wrap="square" lIns="0" tIns="0" rIns="0" bIns="0" rtlCol="0" anchor="ctr"/>
          <a:lstStyle/>
          <a:p>
            <a:r>
              <a:rPr lang="en-US" sz="5600" dirty="0">
                <a:solidFill>
                  <a:srgbClr val="00C896"/>
                </a:solidFill>
                <a:latin typeface="Georgia" pitchFamily="34" charset="0"/>
                <a:ea typeface="Georgia" pitchFamily="34" charset="-122"/>
                <a:cs typeface="Georgia" pitchFamily="34" charset="-120"/>
              </a:rPr>
              <a:t>Markets, Inc.</a:t>
            </a:r>
            <a:endParaRPr lang="en-US" sz="5600" dirty="0"/>
          </a:p>
        </p:txBody>
      </p:sp>
      <p:sp>
        <p:nvSpPr>
          <p:cNvPr id="7" name="Text 5"/>
          <p:cNvSpPr/>
          <p:nvPr/>
        </p:nvSpPr>
        <p:spPr>
          <a:xfrm>
            <a:off x="426720" y="3389376"/>
            <a:ext cx="10363200" cy="426720"/>
          </a:xfrm>
          <a:prstGeom prst="rect">
            <a:avLst/>
          </a:prstGeom>
          <a:noFill/>
          <a:ln/>
        </p:spPr>
        <p:txBody>
          <a:bodyPr wrap="square" lIns="0" tIns="0" rIns="0" bIns="0" rtlCol="0" anchor="ctr"/>
          <a:lstStyle/>
          <a:p>
            <a:r>
              <a:rPr lang="en-US" sz="1467" dirty="0">
                <a:solidFill>
                  <a:srgbClr val="8AB8C8"/>
                </a:solidFill>
              </a:rPr>
              <a:t>NASDAQ: HOOD  |  Fintech / Retail Brokerage  |  Crypto &amp; Wealth Management</a:t>
            </a:r>
            <a:endParaRPr lang="en-US" sz="1467" dirty="0"/>
          </a:p>
        </p:txBody>
      </p:sp>
      <p:sp>
        <p:nvSpPr>
          <p:cNvPr id="8" name="Text 6"/>
          <p:cNvSpPr/>
          <p:nvPr/>
        </p:nvSpPr>
        <p:spPr>
          <a:xfrm>
            <a:off x="426720" y="3877056"/>
            <a:ext cx="9753600" cy="548640"/>
          </a:xfrm>
          <a:prstGeom prst="rect">
            <a:avLst/>
          </a:prstGeom>
          <a:noFill/>
          <a:ln/>
        </p:spPr>
        <p:txBody>
          <a:bodyPr wrap="square" lIns="0" tIns="0" rIns="0" bIns="0" rtlCol="0" anchor="ctr"/>
          <a:lstStyle/>
          <a:p>
            <a:r>
              <a:rPr lang="en-US" sz="2133" i="1" dirty="0">
                <a:solidFill>
                  <a:srgbClr val="00C896"/>
                </a:solidFill>
              </a:rPr>
              <a:t>From Meme Stock Catalyst to Financial SuperApp</a:t>
            </a:r>
            <a:endParaRPr lang="en-US" sz="2133" dirty="0"/>
          </a:p>
        </p:txBody>
      </p:sp>
      <p:sp>
        <p:nvSpPr>
          <p:cNvPr id="9" name="Text 7"/>
          <p:cNvSpPr/>
          <p:nvPr/>
        </p:nvSpPr>
        <p:spPr>
          <a:xfrm>
            <a:off x="426720" y="4486656"/>
            <a:ext cx="6715225" cy="792480"/>
          </a:xfrm>
          <a:prstGeom prst="rect">
            <a:avLst/>
          </a:prstGeom>
          <a:noFill/>
          <a:ln/>
        </p:spPr>
        <p:txBody>
          <a:bodyPr wrap="square" lIns="0" tIns="0" rIns="0" bIns="0" rtlCol="0" anchor="ctr"/>
          <a:lstStyle/>
          <a:p>
            <a:r>
              <a:rPr lang="en-US" sz="1467" dirty="0">
                <a:solidFill>
                  <a:srgbClr val="B0C8D4"/>
                </a:solidFill>
              </a:rPr>
              <a:t>Commission-free pioneer, 27M+ funded customers, 4.3M Gold subscribers, $4.5B FY2025 revenue, evolving into a full-stack financial platform powering the Great Wealth Transfer generation</a:t>
            </a:r>
            <a:endParaRPr lang="en-US" sz="1467" dirty="0"/>
          </a:p>
        </p:txBody>
      </p:sp>
      <p:sp>
        <p:nvSpPr>
          <p:cNvPr id="10" name="Text 8"/>
          <p:cNvSpPr/>
          <p:nvPr/>
        </p:nvSpPr>
        <p:spPr>
          <a:xfrm>
            <a:off x="426720" y="5388864"/>
            <a:ext cx="6096000" cy="365760"/>
          </a:xfrm>
          <a:prstGeom prst="rect">
            <a:avLst/>
          </a:prstGeom>
          <a:noFill/>
          <a:ln/>
        </p:spPr>
        <p:txBody>
          <a:bodyPr wrap="square" lIns="0" tIns="0" rIns="0" bIns="0" rtlCol="0" anchor="ctr"/>
          <a:lstStyle/>
          <a:p>
            <a:r>
              <a:rPr lang="en-US" sz="1333" dirty="0">
                <a:solidFill>
                  <a:srgbClr val="7090A0"/>
                </a:solidFill>
              </a:rPr>
              <a:t>Date: June 2026  |  Analyst: Dreamlit Quant Research</a:t>
            </a:r>
            <a:endParaRPr lang="en-US" sz="1333" dirty="0"/>
          </a:p>
        </p:txBody>
      </p:sp>
      <p:sp>
        <p:nvSpPr>
          <p:cNvPr id="11" name="Shape 9"/>
          <p:cNvSpPr/>
          <p:nvPr/>
        </p:nvSpPr>
        <p:spPr>
          <a:xfrm>
            <a:off x="8388096" y="1901952"/>
            <a:ext cx="1645920" cy="707136"/>
          </a:xfrm>
          <a:prstGeom prst="rect">
            <a:avLst/>
          </a:prstGeom>
          <a:solidFill>
            <a:srgbClr val="1B3A5C"/>
          </a:solidFill>
          <a:ln/>
        </p:spPr>
      </p:sp>
      <p:sp>
        <p:nvSpPr>
          <p:cNvPr id="12" name="Text 10"/>
          <p:cNvSpPr/>
          <p:nvPr/>
        </p:nvSpPr>
        <p:spPr>
          <a:xfrm>
            <a:off x="8388096" y="1926336"/>
            <a:ext cx="1645920" cy="268224"/>
          </a:xfrm>
          <a:prstGeom prst="rect">
            <a:avLst/>
          </a:prstGeom>
          <a:noFill/>
          <a:ln/>
        </p:spPr>
        <p:txBody>
          <a:bodyPr wrap="square" lIns="0" tIns="0" rIns="0" bIns="0" rtlCol="0" anchor="ctr"/>
          <a:lstStyle/>
          <a:p>
            <a:pPr algn="ctr"/>
            <a:r>
              <a:rPr lang="en-US" sz="1000" dirty="0">
                <a:solidFill>
                  <a:srgbClr val="8AB8C8"/>
                </a:solidFill>
              </a:rPr>
              <a:t>Market Cap</a:t>
            </a:r>
            <a:endParaRPr lang="en-US" sz="1000" dirty="0"/>
          </a:p>
        </p:txBody>
      </p:sp>
      <p:sp>
        <p:nvSpPr>
          <p:cNvPr id="13" name="Text 11"/>
          <p:cNvSpPr/>
          <p:nvPr/>
        </p:nvSpPr>
        <p:spPr>
          <a:xfrm>
            <a:off x="8388096" y="2194560"/>
            <a:ext cx="1645920" cy="365760"/>
          </a:xfrm>
          <a:prstGeom prst="rect">
            <a:avLst/>
          </a:prstGeom>
          <a:noFill/>
          <a:ln/>
        </p:spPr>
        <p:txBody>
          <a:bodyPr wrap="square" lIns="0" tIns="0" rIns="0" bIns="0" rtlCol="0" anchor="ctr"/>
          <a:lstStyle/>
          <a:p>
            <a:pPr algn="ctr"/>
            <a:r>
              <a:rPr lang="en-US" sz="1667" b="1" dirty="0">
                <a:solidFill>
                  <a:srgbClr val="00C896"/>
                </a:solidFill>
              </a:rPr>
              <a:t>~$82B</a:t>
            </a:r>
            <a:endParaRPr lang="en-US" sz="1667" dirty="0"/>
          </a:p>
        </p:txBody>
      </p:sp>
      <p:sp>
        <p:nvSpPr>
          <p:cNvPr id="14" name="Shape 12"/>
          <p:cNvSpPr/>
          <p:nvPr/>
        </p:nvSpPr>
        <p:spPr>
          <a:xfrm>
            <a:off x="10119360" y="1901952"/>
            <a:ext cx="1645920" cy="707136"/>
          </a:xfrm>
          <a:prstGeom prst="rect">
            <a:avLst/>
          </a:prstGeom>
          <a:solidFill>
            <a:srgbClr val="1B3A5C"/>
          </a:solidFill>
          <a:ln/>
        </p:spPr>
      </p:sp>
      <p:sp>
        <p:nvSpPr>
          <p:cNvPr id="15" name="Text 13"/>
          <p:cNvSpPr/>
          <p:nvPr/>
        </p:nvSpPr>
        <p:spPr>
          <a:xfrm>
            <a:off x="10119360" y="1926336"/>
            <a:ext cx="1645920" cy="268224"/>
          </a:xfrm>
          <a:prstGeom prst="rect">
            <a:avLst/>
          </a:prstGeom>
          <a:noFill/>
          <a:ln/>
        </p:spPr>
        <p:txBody>
          <a:bodyPr wrap="square" lIns="0" tIns="0" rIns="0" bIns="0" rtlCol="0" anchor="ctr"/>
          <a:lstStyle/>
          <a:p>
            <a:pPr algn="ctr"/>
            <a:r>
              <a:rPr lang="en-US" sz="1000" dirty="0">
                <a:solidFill>
                  <a:srgbClr val="8AB8C8"/>
                </a:solidFill>
              </a:rPr>
              <a:t>FY2025 Revenue</a:t>
            </a:r>
            <a:endParaRPr lang="en-US" sz="1000" dirty="0"/>
          </a:p>
        </p:txBody>
      </p:sp>
      <p:sp>
        <p:nvSpPr>
          <p:cNvPr id="16" name="Text 14"/>
          <p:cNvSpPr/>
          <p:nvPr/>
        </p:nvSpPr>
        <p:spPr>
          <a:xfrm>
            <a:off x="10119360" y="2194560"/>
            <a:ext cx="1645920" cy="365760"/>
          </a:xfrm>
          <a:prstGeom prst="rect">
            <a:avLst/>
          </a:prstGeom>
          <a:noFill/>
          <a:ln/>
        </p:spPr>
        <p:txBody>
          <a:bodyPr wrap="square" lIns="0" tIns="0" rIns="0" bIns="0" rtlCol="0" anchor="ctr"/>
          <a:lstStyle/>
          <a:p>
            <a:pPr algn="ctr"/>
            <a:r>
              <a:rPr lang="en-US" sz="1667" b="1" dirty="0">
                <a:solidFill>
                  <a:srgbClr val="00C896"/>
                </a:solidFill>
              </a:rPr>
              <a:t>$4.5B</a:t>
            </a:r>
            <a:endParaRPr lang="en-US" sz="1667" dirty="0"/>
          </a:p>
        </p:txBody>
      </p:sp>
      <p:sp>
        <p:nvSpPr>
          <p:cNvPr id="17" name="Shape 15"/>
          <p:cNvSpPr/>
          <p:nvPr/>
        </p:nvSpPr>
        <p:spPr>
          <a:xfrm>
            <a:off x="8388096" y="2694432"/>
            <a:ext cx="1645920" cy="707136"/>
          </a:xfrm>
          <a:prstGeom prst="rect">
            <a:avLst/>
          </a:prstGeom>
          <a:solidFill>
            <a:srgbClr val="1B3A5C"/>
          </a:solidFill>
          <a:ln/>
        </p:spPr>
      </p:sp>
      <p:sp>
        <p:nvSpPr>
          <p:cNvPr id="18" name="Text 16"/>
          <p:cNvSpPr/>
          <p:nvPr/>
        </p:nvSpPr>
        <p:spPr>
          <a:xfrm>
            <a:off x="8388096" y="2718816"/>
            <a:ext cx="1645920" cy="268224"/>
          </a:xfrm>
          <a:prstGeom prst="rect">
            <a:avLst/>
          </a:prstGeom>
          <a:noFill/>
          <a:ln/>
        </p:spPr>
        <p:txBody>
          <a:bodyPr wrap="square" lIns="0" tIns="0" rIns="0" bIns="0" rtlCol="0" anchor="ctr"/>
          <a:lstStyle/>
          <a:p>
            <a:pPr algn="ctr"/>
            <a:r>
              <a:rPr lang="en-US" sz="1000" dirty="0">
                <a:solidFill>
                  <a:srgbClr val="8AB8C8"/>
                </a:solidFill>
              </a:rPr>
              <a:t>Revenue Growth</a:t>
            </a:r>
            <a:endParaRPr lang="en-US" sz="1000" dirty="0"/>
          </a:p>
        </p:txBody>
      </p:sp>
      <p:sp>
        <p:nvSpPr>
          <p:cNvPr id="19" name="Text 17"/>
          <p:cNvSpPr/>
          <p:nvPr/>
        </p:nvSpPr>
        <p:spPr>
          <a:xfrm>
            <a:off x="8388096" y="2987040"/>
            <a:ext cx="1645920" cy="365760"/>
          </a:xfrm>
          <a:prstGeom prst="rect">
            <a:avLst/>
          </a:prstGeom>
          <a:noFill/>
          <a:ln/>
        </p:spPr>
        <p:txBody>
          <a:bodyPr wrap="square" lIns="0" tIns="0" rIns="0" bIns="0" rtlCol="0" anchor="ctr"/>
          <a:lstStyle/>
          <a:p>
            <a:pPr algn="ctr"/>
            <a:r>
              <a:rPr lang="en-US" sz="1667" b="1" dirty="0">
                <a:solidFill>
                  <a:srgbClr val="00C896"/>
                </a:solidFill>
              </a:rPr>
              <a:t>+52% YoY</a:t>
            </a:r>
            <a:endParaRPr lang="en-US" sz="1667" dirty="0"/>
          </a:p>
        </p:txBody>
      </p:sp>
      <p:sp>
        <p:nvSpPr>
          <p:cNvPr id="20" name="Shape 18"/>
          <p:cNvSpPr/>
          <p:nvPr/>
        </p:nvSpPr>
        <p:spPr>
          <a:xfrm>
            <a:off x="10119360" y="2694432"/>
            <a:ext cx="1645920" cy="707136"/>
          </a:xfrm>
          <a:prstGeom prst="rect">
            <a:avLst/>
          </a:prstGeom>
          <a:solidFill>
            <a:srgbClr val="1B3A5C"/>
          </a:solidFill>
          <a:ln/>
        </p:spPr>
      </p:sp>
      <p:sp>
        <p:nvSpPr>
          <p:cNvPr id="21" name="Text 19"/>
          <p:cNvSpPr/>
          <p:nvPr/>
        </p:nvSpPr>
        <p:spPr>
          <a:xfrm>
            <a:off x="10119360" y="2718816"/>
            <a:ext cx="1645920" cy="268224"/>
          </a:xfrm>
          <a:prstGeom prst="rect">
            <a:avLst/>
          </a:prstGeom>
          <a:noFill/>
          <a:ln/>
        </p:spPr>
        <p:txBody>
          <a:bodyPr wrap="square" lIns="0" tIns="0" rIns="0" bIns="0" rtlCol="0" anchor="ctr"/>
          <a:lstStyle/>
          <a:p>
            <a:pPr algn="ctr"/>
            <a:r>
              <a:rPr lang="en-US" sz="1000" dirty="0">
                <a:solidFill>
                  <a:srgbClr val="8AB8C8"/>
                </a:solidFill>
              </a:rPr>
              <a:t>Q1 2026 Revenue</a:t>
            </a:r>
            <a:endParaRPr lang="en-US" sz="1000" dirty="0"/>
          </a:p>
        </p:txBody>
      </p:sp>
      <p:sp>
        <p:nvSpPr>
          <p:cNvPr id="22" name="Text 20"/>
          <p:cNvSpPr/>
          <p:nvPr/>
        </p:nvSpPr>
        <p:spPr>
          <a:xfrm>
            <a:off x="10119360" y="2987040"/>
            <a:ext cx="1645920" cy="365760"/>
          </a:xfrm>
          <a:prstGeom prst="rect">
            <a:avLst/>
          </a:prstGeom>
          <a:noFill/>
          <a:ln/>
        </p:spPr>
        <p:txBody>
          <a:bodyPr wrap="square" lIns="0" tIns="0" rIns="0" bIns="0" rtlCol="0" anchor="ctr"/>
          <a:lstStyle/>
          <a:p>
            <a:pPr algn="ctr"/>
            <a:r>
              <a:rPr lang="en-US" sz="1667" b="1" dirty="0">
                <a:solidFill>
                  <a:srgbClr val="00C896"/>
                </a:solidFill>
              </a:rPr>
              <a:t>$1.07B</a:t>
            </a:r>
            <a:endParaRPr lang="en-US" sz="1667" dirty="0"/>
          </a:p>
        </p:txBody>
      </p:sp>
      <p:sp>
        <p:nvSpPr>
          <p:cNvPr id="23" name="Shape 21"/>
          <p:cNvSpPr/>
          <p:nvPr/>
        </p:nvSpPr>
        <p:spPr>
          <a:xfrm>
            <a:off x="8388096" y="3486912"/>
            <a:ext cx="1645920" cy="707136"/>
          </a:xfrm>
          <a:prstGeom prst="rect">
            <a:avLst/>
          </a:prstGeom>
          <a:solidFill>
            <a:srgbClr val="1B3A5C"/>
          </a:solidFill>
          <a:ln/>
        </p:spPr>
      </p:sp>
      <p:sp>
        <p:nvSpPr>
          <p:cNvPr id="24" name="Text 22"/>
          <p:cNvSpPr/>
          <p:nvPr/>
        </p:nvSpPr>
        <p:spPr>
          <a:xfrm>
            <a:off x="8388096" y="3511296"/>
            <a:ext cx="1645920" cy="268224"/>
          </a:xfrm>
          <a:prstGeom prst="rect">
            <a:avLst/>
          </a:prstGeom>
          <a:noFill/>
          <a:ln/>
        </p:spPr>
        <p:txBody>
          <a:bodyPr wrap="square" lIns="0" tIns="0" rIns="0" bIns="0" rtlCol="0" anchor="ctr"/>
          <a:lstStyle/>
          <a:p>
            <a:pPr algn="ctr"/>
            <a:r>
              <a:rPr lang="en-US" sz="1000" dirty="0">
                <a:solidFill>
                  <a:srgbClr val="8AB8C8"/>
                </a:solidFill>
              </a:rPr>
              <a:t>Net Income FY25</a:t>
            </a:r>
            <a:endParaRPr lang="en-US" sz="1000" dirty="0"/>
          </a:p>
        </p:txBody>
      </p:sp>
      <p:sp>
        <p:nvSpPr>
          <p:cNvPr id="25" name="Text 23"/>
          <p:cNvSpPr/>
          <p:nvPr/>
        </p:nvSpPr>
        <p:spPr>
          <a:xfrm>
            <a:off x="8388096" y="3779520"/>
            <a:ext cx="1645920" cy="365760"/>
          </a:xfrm>
          <a:prstGeom prst="rect">
            <a:avLst/>
          </a:prstGeom>
          <a:noFill/>
          <a:ln/>
        </p:spPr>
        <p:txBody>
          <a:bodyPr wrap="square" lIns="0" tIns="0" rIns="0" bIns="0" rtlCol="0" anchor="ctr"/>
          <a:lstStyle/>
          <a:p>
            <a:pPr algn="ctr"/>
            <a:r>
              <a:rPr lang="en-US" sz="1667" b="1" dirty="0">
                <a:solidFill>
                  <a:srgbClr val="00C896"/>
                </a:solidFill>
              </a:rPr>
              <a:t>$1.88B</a:t>
            </a:r>
            <a:endParaRPr lang="en-US" sz="1667" dirty="0"/>
          </a:p>
        </p:txBody>
      </p:sp>
      <p:sp>
        <p:nvSpPr>
          <p:cNvPr id="26" name="Shape 24"/>
          <p:cNvSpPr/>
          <p:nvPr/>
        </p:nvSpPr>
        <p:spPr>
          <a:xfrm>
            <a:off x="10119360" y="3486912"/>
            <a:ext cx="1645920" cy="707136"/>
          </a:xfrm>
          <a:prstGeom prst="rect">
            <a:avLst/>
          </a:prstGeom>
          <a:solidFill>
            <a:srgbClr val="1B3A5C"/>
          </a:solidFill>
          <a:ln/>
        </p:spPr>
      </p:sp>
      <p:sp>
        <p:nvSpPr>
          <p:cNvPr id="27" name="Text 25"/>
          <p:cNvSpPr/>
          <p:nvPr/>
        </p:nvSpPr>
        <p:spPr>
          <a:xfrm>
            <a:off x="10119360" y="3511296"/>
            <a:ext cx="1645920" cy="268224"/>
          </a:xfrm>
          <a:prstGeom prst="rect">
            <a:avLst/>
          </a:prstGeom>
          <a:noFill/>
          <a:ln/>
        </p:spPr>
        <p:txBody>
          <a:bodyPr wrap="square" lIns="0" tIns="0" rIns="0" bIns="0" rtlCol="0" anchor="ctr"/>
          <a:lstStyle/>
          <a:p>
            <a:pPr algn="ctr"/>
            <a:r>
              <a:rPr lang="en-US" sz="1000" dirty="0">
                <a:solidFill>
                  <a:srgbClr val="8AB8C8"/>
                </a:solidFill>
              </a:rPr>
              <a:t>Diluted EPS FY25</a:t>
            </a:r>
            <a:endParaRPr lang="en-US" sz="1000" dirty="0"/>
          </a:p>
        </p:txBody>
      </p:sp>
      <p:sp>
        <p:nvSpPr>
          <p:cNvPr id="28" name="Text 26"/>
          <p:cNvSpPr/>
          <p:nvPr/>
        </p:nvSpPr>
        <p:spPr>
          <a:xfrm>
            <a:off x="10119360" y="3779520"/>
            <a:ext cx="1645920" cy="365760"/>
          </a:xfrm>
          <a:prstGeom prst="rect">
            <a:avLst/>
          </a:prstGeom>
          <a:noFill/>
          <a:ln/>
        </p:spPr>
        <p:txBody>
          <a:bodyPr wrap="square" lIns="0" tIns="0" rIns="0" bIns="0" rtlCol="0" anchor="ctr"/>
          <a:lstStyle/>
          <a:p>
            <a:pPr algn="ctr"/>
            <a:r>
              <a:rPr lang="en-US" sz="1667" b="1" dirty="0">
                <a:solidFill>
                  <a:srgbClr val="00C896"/>
                </a:solidFill>
              </a:rPr>
              <a:t>$2.05</a:t>
            </a:r>
            <a:endParaRPr lang="en-US" sz="1667" dirty="0"/>
          </a:p>
        </p:txBody>
      </p:sp>
      <p:sp>
        <p:nvSpPr>
          <p:cNvPr id="29" name="Shape 27"/>
          <p:cNvSpPr/>
          <p:nvPr/>
        </p:nvSpPr>
        <p:spPr>
          <a:xfrm>
            <a:off x="8388096" y="4279392"/>
            <a:ext cx="1645920" cy="707136"/>
          </a:xfrm>
          <a:prstGeom prst="rect">
            <a:avLst/>
          </a:prstGeom>
          <a:solidFill>
            <a:srgbClr val="1B3A5C"/>
          </a:solidFill>
          <a:ln/>
        </p:spPr>
      </p:sp>
      <p:sp>
        <p:nvSpPr>
          <p:cNvPr id="30" name="Text 28"/>
          <p:cNvSpPr/>
          <p:nvPr/>
        </p:nvSpPr>
        <p:spPr>
          <a:xfrm>
            <a:off x="8388096" y="4303776"/>
            <a:ext cx="1645920" cy="268224"/>
          </a:xfrm>
          <a:prstGeom prst="rect">
            <a:avLst/>
          </a:prstGeom>
          <a:noFill/>
          <a:ln/>
        </p:spPr>
        <p:txBody>
          <a:bodyPr wrap="square" lIns="0" tIns="0" rIns="0" bIns="0" rtlCol="0" anchor="ctr"/>
          <a:lstStyle/>
          <a:p>
            <a:pPr algn="ctr"/>
            <a:r>
              <a:rPr lang="en-US" sz="1000" dirty="0">
                <a:solidFill>
                  <a:srgbClr val="8AB8C8"/>
                </a:solidFill>
              </a:rPr>
              <a:t>52-Wk High/Low</a:t>
            </a:r>
            <a:endParaRPr lang="en-US" sz="1000" dirty="0"/>
          </a:p>
        </p:txBody>
      </p:sp>
      <p:sp>
        <p:nvSpPr>
          <p:cNvPr id="31" name="Text 29"/>
          <p:cNvSpPr/>
          <p:nvPr/>
        </p:nvSpPr>
        <p:spPr>
          <a:xfrm>
            <a:off x="8388096" y="4572000"/>
            <a:ext cx="1645920" cy="365760"/>
          </a:xfrm>
          <a:prstGeom prst="rect">
            <a:avLst/>
          </a:prstGeom>
          <a:noFill/>
          <a:ln/>
        </p:spPr>
        <p:txBody>
          <a:bodyPr wrap="square" lIns="0" tIns="0" rIns="0" bIns="0" rtlCol="0" anchor="ctr"/>
          <a:lstStyle/>
          <a:p>
            <a:pPr algn="ctr"/>
            <a:r>
              <a:rPr lang="en-US" sz="1667" b="1" dirty="0">
                <a:solidFill>
                  <a:srgbClr val="00C896"/>
                </a:solidFill>
              </a:rPr>
              <a:t>$154 / $63</a:t>
            </a:r>
            <a:endParaRPr lang="en-US" sz="1667" dirty="0"/>
          </a:p>
        </p:txBody>
      </p:sp>
      <p:sp>
        <p:nvSpPr>
          <p:cNvPr id="32" name="Shape 30"/>
          <p:cNvSpPr/>
          <p:nvPr/>
        </p:nvSpPr>
        <p:spPr>
          <a:xfrm>
            <a:off x="10119360" y="4279392"/>
            <a:ext cx="1645920" cy="707136"/>
          </a:xfrm>
          <a:prstGeom prst="rect">
            <a:avLst/>
          </a:prstGeom>
          <a:solidFill>
            <a:srgbClr val="1B3A5C"/>
          </a:solidFill>
          <a:ln/>
        </p:spPr>
      </p:sp>
      <p:sp>
        <p:nvSpPr>
          <p:cNvPr id="33" name="Text 31"/>
          <p:cNvSpPr/>
          <p:nvPr/>
        </p:nvSpPr>
        <p:spPr>
          <a:xfrm>
            <a:off x="10119360" y="4303776"/>
            <a:ext cx="1645920" cy="268224"/>
          </a:xfrm>
          <a:prstGeom prst="rect">
            <a:avLst/>
          </a:prstGeom>
          <a:noFill/>
          <a:ln/>
        </p:spPr>
        <p:txBody>
          <a:bodyPr wrap="square" lIns="0" tIns="0" rIns="0" bIns="0" rtlCol="0" anchor="ctr"/>
          <a:lstStyle/>
          <a:p>
            <a:pPr algn="ctr"/>
            <a:r>
              <a:rPr lang="en-US" sz="1000" dirty="0">
                <a:solidFill>
                  <a:srgbClr val="8AB8C8"/>
                </a:solidFill>
              </a:rPr>
              <a:t>Gold Subscribers</a:t>
            </a:r>
            <a:endParaRPr lang="en-US" sz="1000" dirty="0"/>
          </a:p>
        </p:txBody>
      </p:sp>
      <p:sp>
        <p:nvSpPr>
          <p:cNvPr id="34" name="Text 32"/>
          <p:cNvSpPr/>
          <p:nvPr/>
        </p:nvSpPr>
        <p:spPr>
          <a:xfrm>
            <a:off x="10119360" y="4572000"/>
            <a:ext cx="1645920" cy="365760"/>
          </a:xfrm>
          <a:prstGeom prst="rect">
            <a:avLst/>
          </a:prstGeom>
          <a:noFill/>
          <a:ln/>
        </p:spPr>
        <p:txBody>
          <a:bodyPr wrap="square" lIns="0" tIns="0" rIns="0" bIns="0" rtlCol="0" anchor="ctr"/>
          <a:lstStyle/>
          <a:p>
            <a:pPr algn="ctr"/>
            <a:r>
              <a:rPr lang="en-US" sz="1667" b="1" dirty="0">
                <a:solidFill>
                  <a:srgbClr val="00C896"/>
                </a:solidFill>
              </a:rPr>
              <a:t>4.3M</a:t>
            </a:r>
            <a:endParaRPr lang="en-US" sz="1667" dirty="0"/>
          </a:p>
        </p:txBody>
      </p:sp>
      <p:sp>
        <p:nvSpPr>
          <p:cNvPr id="35" name="Text 33"/>
          <p:cNvSpPr/>
          <p:nvPr/>
        </p:nvSpPr>
        <p:spPr>
          <a:xfrm>
            <a:off x="9235440" y="1493520"/>
            <a:ext cx="3413760" cy="243840"/>
          </a:xfrm>
          <a:prstGeom prst="rect">
            <a:avLst/>
          </a:prstGeom>
          <a:noFill/>
          <a:ln/>
        </p:spPr>
        <p:txBody>
          <a:bodyPr wrap="square" lIns="0" tIns="0" rIns="0" bIns="0" rtlCol="0" anchor="ctr"/>
          <a:lstStyle/>
          <a:p>
            <a:r>
              <a:rPr lang="en-US" sz="1133" b="1" dirty="0">
                <a:solidFill>
                  <a:srgbClr val="8AB8C8"/>
                </a:solidFill>
              </a:rPr>
              <a:t>KEY METRICS (June 2026)</a:t>
            </a:r>
            <a:endParaRPr lang="en-US" sz="1133"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itle 46">
            <a:extLst>
              <a:ext uri="{FF2B5EF4-FFF2-40B4-BE49-F238E27FC236}">
                <a16:creationId xmlns:a16="http://schemas.microsoft.com/office/drawing/2014/main" id="{6A9F793A-C617-535E-9D02-41A4B46AA1B8}"/>
              </a:ext>
            </a:extLst>
          </p:cNvPr>
          <p:cNvSpPr>
            <a:spLocks noGrp="1"/>
          </p:cNvSpPr>
          <p:nvPr>
            <p:ph type="title"/>
          </p:nvPr>
        </p:nvSpPr>
        <p:spPr>
          <a:xfrm>
            <a:off x="426720" y="621792"/>
            <a:ext cx="11765280" cy="812062"/>
          </a:xfrm>
        </p:spPr>
        <p:txBody>
          <a:bodyPr>
            <a:noAutofit/>
          </a:bodyPr>
          <a:lstStyle/>
          <a:p>
            <a:r>
              <a:rPr lang="en-US" sz="1800" dirty="0"/>
              <a:t>SECTION 1: COMPANY HISTORY  — FROM DORM ROOM TO FINANCIAL SUPERAPP</a:t>
            </a:r>
            <a:endParaRPr lang="en-IN" sz="1800" dirty="0"/>
          </a:p>
        </p:txBody>
      </p:sp>
      <p:sp>
        <p:nvSpPr>
          <p:cNvPr id="2" name="Shape 0"/>
          <p:cNvSpPr/>
          <p:nvPr/>
        </p:nvSpPr>
        <p:spPr>
          <a:xfrm>
            <a:off x="420305" y="219456"/>
            <a:ext cx="3169920" cy="341376"/>
          </a:xfrm>
          <a:prstGeom prst="rect">
            <a:avLst/>
          </a:prstGeom>
          <a:solidFill>
            <a:srgbClr val="00C805"/>
          </a:solidFill>
          <a:ln w="12700">
            <a:solidFill>
              <a:srgbClr val="00C805"/>
            </a:solidFill>
            <a:prstDash val="solid"/>
          </a:ln>
        </p:spPr>
      </p:sp>
      <p:sp>
        <p:nvSpPr>
          <p:cNvPr id="3" name="Text 1"/>
          <p:cNvSpPr/>
          <p:nvPr/>
        </p:nvSpPr>
        <p:spPr>
          <a:xfrm>
            <a:off x="451104" y="239038"/>
            <a:ext cx="3169920" cy="341376"/>
          </a:xfrm>
          <a:prstGeom prst="rect">
            <a:avLst/>
          </a:prstGeom>
          <a:noFill/>
          <a:ln/>
        </p:spPr>
        <p:txBody>
          <a:bodyPr wrap="square" lIns="0" tIns="0" rIns="0" bIns="0" rtlCol="0" anchor="ctr"/>
          <a:lstStyle/>
          <a:p>
            <a:pPr algn="ctr"/>
            <a:r>
              <a:rPr lang="en-US" sz="1067" b="1" dirty="0">
                <a:solidFill>
                  <a:srgbClr val="0D0D0D"/>
                </a:solidFill>
                <a:latin typeface="Calibri" pitchFamily="34" charset="0"/>
                <a:ea typeface="Calibri" pitchFamily="34" charset="-122"/>
                <a:cs typeface="Calibri" pitchFamily="34" charset="-120"/>
              </a:rPr>
              <a:t>SECTION 1: COMPANY HISTORY</a:t>
            </a:r>
            <a:endParaRPr lang="en-US" sz="1067" dirty="0"/>
          </a:p>
        </p:txBody>
      </p:sp>
      <p:sp>
        <p:nvSpPr>
          <p:cNvPr id="5" name="Text 3"/>
          <p:cNvSpPr/>
          <p:nvPr/>
        </p:nvSpPr>
        <p:spPr>
          <a:xfrm>
            <a:off x="487680" y="1426464"/>
            <a:ext cx="11216640" cy="390144"/>
          </a:xfrm>
          <a:prstGeom prst="rect">
            <a:avLst/>
          </a:prstGeom>
          <a:noFill/>
          <a:ln/>
        </p:spPr>
        <p:txBody>
          <a:bodyPr wrap="square" lIns="0" tIns="0" rIns="0" bIns="0" rtlCol="0" anchor="ctr"/>
          <a:lstStyle/>
          <a:p>
            <a:r>
              <a:rPr lang="en-US" sz="1467" i="1" dirty="0">
                <a:solidFill>
                  <a:srgbClr val="9CA3AF"/>
                </a:solidFill>
                <a:latin typeface="Calibri" pitchFamily="34" charset="0"/>
                <a:ea typeface="Calibri" pitchFamily="34" charset="-122"/>
                <a:cs typeface="Calibri" pitchFamily="34" charset="-120"/>
              </a:rPr>
              <a:t>From zero-commission disruption to a full-stack financial platform</a:t>
            </a:r>
            <a:endParaRPr lang="en-US" sz="1467" dirty="0"/>
          </a:p>
        </p:txBody>
      </p:sp>
      <p:sp>
        <p:nvSpPr>
          <p:cNvPr id="6" name="Shape 4"/>
          <p:cNvSpPr/>
          <p:nvPr/>
        </p:nvSpPr>
        <p:spPr>
          <a:xfrm>
            <a:off x="426720" y="1767840"/>
            <a:ext cx="5486400" cy="829056"/>
          </a:xfrm>
          <a:prstGeom prst="rect">
            <a:avLst/>
          </a:prstGeom>
          <a:solidFill>
            <a:srgbClr val="1F2937"/>
          </a:solidFill>
          <a:ln w="12700">
            <a:solidFill>
              <a:srgbClr val="374151"/>
            </a:solidFill>
            <a:prstDash val="solid"/>
          </a:ln>
        </p:spPr>
      </p:sp>
      <p:sp>
        <p:nvSpPr>
          <p:cNvPr id="7" name="Shape 5"/>
          <p:cNvSpPr/>
          <p:nvPr/>
        </p:nvSpPr>
        <p:spPr>
          <a:xfrm>
            <a:off x="426720" y="1767840"/>
            <a:ext cx="792480" cy="829056"/>
          </a:xfrm>
          <a:prstGeom prst="rect">
            <a:avLst/>
          </a:prstGeom>
          <a:solidFill>
            <a:srgbClr val="00C805"/>
          </a:solidFill>
          <a:ln w="12700">
            <a:solidFill>
              <a:srgbClr val="00C805"/>
            </a:solidFill>
            <a:prstDash val="solid"/>
          </a:ln>
        </p:spPr>
      </p:sp>
      <p:sp>
        <p:nvSpPr>
          <p:cNvPr id="8" name="Text 6"/>
          <p:cNvSpPr/>
          <p:nvPr/>
        </p:nvSpPr>
        <p:spPr>
          <a:xfrm>
            <a:off x="451104" y="1767840"/>
            <a:ext cx="768096" cy="829056"/>
          </a:xfrm>
          <a:prstGeom prst="rect">
            <a:avLst/>
          </a:prstGeom>
          <a:noFill/>
          <a:ln/>
        </p:spPr>
        <p:txBody>
          <a:bodyPr wrap="square" lIns="0" tIns="0" rIns="0" bIns="0" rtlCol="0" anchor="ctr"/>
          <a:lstStyle/>
          <a:p>
            <a:pPr algn="ctr"/>
            <a:r>
              <a:rPr lang="en-US" sz="1467" b="1" dirty="0">
                <a:solidFill>
                  <a:srgbClr val="0D0D0D"/>
                </a:solidFill>
                <a:latin typeface="Georgia" pitchFamily="34" charset="0"/>
                <a:ea typeface="Georgia" pitchFamily="34" charset="-122"/>
                <a:cs typeface="Georgia" pitchFamily="34" charset="-120"/>
              </a:rPr>
              <a:t>2013</a:t>
            </a:r>
            <a:endParaRPr lang="en-US" sz="1467" dirty="0"/>
          </a:p>
        </p:txBody>
      </p:sp>
      <p:sp>
        <p:nvSpPr>
          <p:cNvPr id="9" name="Text 7"/>
          <p:cNvSpPr/>
          <p:nvPr/>
        </p:nvSpPr>
        <p:spPr>
          <a:xfrm>
            <a:off x="1341120" y="1840992"/>
            <a:ext cx="4450080" cy="707136"/>
          </a:xfrm>
          <a:prstGeom prst="rect">
            <a:avLst/>
          </a:prstGeom>
          <a:noFill/>
          <a:ln/>
        </p:spPr>
        <p:txBody>
          <a:bodyPr wrap="square" lIns="0" tIns="0" rIns="0" bIns="0" rtlCol="0" anchor="ctr"/>
          <a:lstStyle/>
          <a:p>
            <a:r>
              <a:rPr lang="en-US" sz="1133" dirty="0">
                <a:solidFill>
                  <a:srgbClr val="F0F4F0"/>
                </a:solidFill>
                <a:latin typeface="Calibri" pitchFamily="34" charset="0"/>
                <a:ea typeface="Calibri" pitchFamily="34" charset="-122"/>
                <a:cs typeface="Calibri" pitchFamily="34" charset="-120"/>
              </a:rPr>
              <a:t>Founded by Vlad Tenev &amp; Baiju Bhatt — Stanford roommates, frustrated by $7/trade commissions. Zero-fee trading concept born.</a:t>
            </a:r>
            <a:endParaRPr lang="en-US" sz="1133" dirty="0"/>
          </a:p>
        </p:txBody>
      </p:sp>
      <p:sp>
        <p:nvSpPr>
          <p:cNvPr id="10" name="Shape 8"/>
          <p:cNvSpPr/>
          <p:nvPr/>
        </p:nvSpPr>
        <p:spPr>
          <a:xfrm>
            <a:off x="6278880" y="1767840"/>
            <a:ext cx="5486400" cy="829056"/>
          </a:xfrm>
          <a:prstGeom prst="rect">
            <a:avLst/>
          </a:prstGeom>
          <a:solidFill>
            <a:srgbClr val="1F2937"/>
          </a:solidFill>
          <a:ln w="12700">
            <a:solidFill>
              <a:srgbClr val="374151"/>
            </a:solidFill>
            <a:prstDash val="solid"/>
          </a:ln>
        </p:spPr>
      </p:sp>
      <p:sp>
        <p:nvSpPr>
          <p:cNvPr id="11" name="Shape 9"/>
          <p:cNvSpPr/>
          <p:nvPr/>
        </p:nvSpPr>
        <p:spPr>
          <a:xfrm>
            <a:off x="6278880" y="1767840"/>
            <a:ext cx="792480" cy="829056"/>
          </a:xfrm>
          <a:prstGeom prst="rect">
            <a:avLst/>
          </a:prstGeom>
          <a:solidFill>
            <a:srgbClr val="F5A623"/>
          </a:solidFill>
          <a:ln w="12700">
            <a:solidFill>
              <a:srgbClr val="F5A623"/>
            </a:solidFill>
            <a:prstDash val="solid"/>
          </a:ln>
        </p:spPr>
      </p:sp>
      <p:sp>
        <p:nvSpPr>
          <p:cNvPr id="12" name="Text 10"/>
          <p:cNvSpPr/>
          <p:nvPr/>
        </p:nvSpPr>
        <p:spPr>
          <a:xfrm>
            <a:off x="6303264" y="1767840"/>
            <a:ext cx="768096" cy="829056"/>
          </a:xfrm>
          <a:prstGeom prst="rect">
            <a:avLst/>
          </a:prstGeom>
          <a:noFill/>
          <a:ln/>
        </p:spPr>
        <p:txBody>
          <a:bodyPr wrap="square" lIns="0" tIns="0" rIns="0" bIns="0" rtlCol="0" anchor="ctr"/>
          <a:lstStyle/>
          <a:p>
            <a:pPr algn="ctr"/>
            <a:r>
              <a:rPr lang="en-US" sz="1467" b="1" dirty="0">
                <a:solidFill>
                  <a:srgbClr val="0D0D0D"/>
                </a:solidFill>
                <a:latin typeface="Georgia" pitchFamily="34" charset="0"/>
                <a:ea typeface="Georgia" pitchFamily="34" charset="-122"/>
                <a:cs typeface="Georgia" pitchFamily="34" charset="-120"/>
              </a:rPr>
              <a:t>2015</a:t>
            </a:r>
            <a:endParaRPr lang="en-US" sz="1467" dirty="0"/>
          </a:p>
        </p:txBody>
      </p:sp>
      <p:sp>
        <p:nvSpPr>
          <p:cNvPr id="13" name="Text 11"/>
          <p:cNvSpPr/>
          <p:nvPr/>
        </p:nvSpPr>
        <p:spPr>
          <a:xfrm>
            <a:off x="7193280" y="1840992"/>
            <a:ext cx="4450080" cy="707136"/>
          </a:xfrm>
          <a:prstGeom prst="rect">
            <a:avLst/>
          </a:prstGeom>
          <a:noFill/>
          <a:ln/>
        </p:spPr>
        <p:txBody>
          <a:bodyPr wrap="square" lIns="0" tIns="0" rIns="0" bIns="0" rtlCol="0" anchor="ctr"/>
          <a:lstStyle/>
          <a:p>
            <a:r>
              <a:rPr lang="en-US" sz="1133" dirty="0">
                <a:solidFill>
                  <a:srgbClr val="F0F4F0"/>
                </a:solidFill>
                <a:latin typeface="Calibri" pitchFamily="34" charset="0"/>
                <a:ea typeface="Calibri" pitchFamily="34" charset="-122"/>
                <a:cs typeface="Calibri" pitchFamily="34" charset="-120"/>
              </a:rPr>
              <a:t>App launch. Waitlist of 1M+ before opening. PFOF model funds the zero-commission promise. Retail revolution ignited.</a:t>
            </a:r>
            <a:endParaRPr lang="en-US" sz="1133" dirty="0"/>
          </a:p>
        </p:txBody>
      </p:sp>
      <p:sp>
        <p:nvSpPr>
          <p:cNvPr id="14" name="Shape 12"/>
          <p:cNvSpPr/>
          <p:nvPr/>
        </p:nvSpPr>
        <p:spPr>
          <a:xfrm>
            <a:off x="426720" y="2694432"/>
            <a:ext cx="5486400" cy="829056"/>
          </a:xfrm>
          <a:prstGeom prst="rect">
            <a:avLst/>
          </a:prstGeom>
          <a:solidFill>
            <a:srgbClr val="1F2937"/>
          </a:solidFill>
          <a:ln w="12700">
            <a:solidFill>
              <a:srgbClr val="374151"/>
            </a:solidFill>
            <a:prstDash val="solid"/>
          </a:ln>
        </p:spPr>
      </p:sp>
      <p:sp>
        <p:nvSpPr>
          <p:cNvPr id="15" name="Shape 13"/>
          <p:cNvSpPr/>
          <p:nvPr/>
        </p:nvSpPr>
        <p:spPr>
          <a:xfrm>
            <a:off x="426720" y="2694432"/>
            <a:ext cx="792480" cy="829056"/>
          </a:xfrm>
          <a:prstGeom prst="rect">
            <a:avLst/>
          </a:prstGeom>
          <a:solidFill>
            <a:srgbClr val="00C805"/>
          </a:solidFill>
          <a:ln w="12700">
            <a:solidFill>
              <a:srgbClr val="00C805"/>
            </a:solidFill>
            <a:prstDash val="solid"/>
          </a:ln>
        </p:spPr>
      </p:sp>
      <p:sp>
        <p:nvSpPr>
          <p:cNvPr id="16" name="Text 14"/>
          <p:cNvSpPr/>
          <p:nvPr/>
        </p:nvSpPr>
        <p:spPr>
          <a:xfrm>
            <a:off x="451104" y="2694432"/>
            <a:ext cx="768096" cy="829056"/>
          </a:xfrm>
          <a:prstGeom prst="rect">
            <a:avLst/>
          </a:prstGeom>
          <a:noFill/>
          <a:ln/>
        </p:spPr>
        <p:txBody>
          <a:bodyPr wrap="square" lIns="0" tIns="0" rIns="0" bIns="0" rtlCol="0" anchor="ctr"/>
          <a:lstStyle/>
          <a:p>
            <a:pPr algn="ctr"/>
            <a:r>
              <a:rPr lang="en-US" sz="1467" b="1" dirty="0">
                <a:solidFill>
                  <a:srgbClr val="0D0D0D"/>
                </a:solidFill>
                <a:latin typeface="Georgia" pitchFamily="34" charset="0"/>
                <a:ea typeface="Georgia" pitchFamily="34" charset="-122"/>
                <a:cs typeface="Georgia" pitchFamily="34" charset="-120"/>
              </a:rPr>
              <a:t>2018</a:t>
            </a:r>
            <a:endParaRPr lang="en-US" sz="1467" dirty="0"/>
          </a:p>
        </p:txBody>
      </p:sp>
      <p:sp>
        <p:nvSpPr>
          <p:cNvPr id="17" name="Text 15"/>
          <p:cNvSpPr/>
          <p:nvPr/>
        </p:nvSpPr>
        <p:spPr>
          <a:xfrm>
            <a:off x="1341120" y="2767584"/>
            <a:ext cx="4450080" cy="707136"/>
          </a:xfrm>
          <a:prstGeom prst="rect">
            <a:avLst/>
          </a:prstGeom>
          <a:noFill/>
          <a:ln/>
        </p:spPr>
        <p:txBody>
          <a:bodyPr wrap="square" lIns="0" tIns="0" rIns="0" bIns="0" rtlCol="0" anchor="ctr"/>
          <a:lstStyle/>
          <a:p>
            <a:r>
              <a:rPr lang="en-US" sz="1133" dirty="0">
                <a:solidFill>
                  <a:srgbClr val="F0F4F0"/>
                </a:solidFill>
                <a:latin typeface="Calibri" pitchFamily="34" charset="0"/>
                <a:ea typeface="Calibri" pitchFamily="34" charset="-122"/>
                <a:cs typeface="Calibri" pitchFamily="34" charset="-120"/>
              </a:rPr>
              <a:t>Crypto trading added. Options trading launched. Reaches 6M accounts. Regulators begin scrutiny of PFOF &amp; gamification.</a:t>
            </a:r>
            <a:endParaRPr lang="en-US" sz="1133" dirty="0"/>
          </a:p>
        </p:txBody>
      </p:sp>
      <p:sp>
        <p:nvSpPr>
          <p:cNvPr id="18" name="Shape 16"/>
          <p:cNvSpPr/>
          <p:nvPr/>
        </p:nvSpPr>
        <p:spPr>
          <a:xfrm>
            <a:off x="6278880" y="2694432"/>
            <a:ext cx="5486400" cy="829056"/>
          </a:xfrm>
          <a:prstGeom prst="rect">
            <a:avLst/>
          </a:prstGeom>
          <a:solidFill>
            <a:srgbClr val="1F2937"/>
          </a:solidFill>
          <a:ln w="12700">
            <a:solidFill>
              <a:srgbClr val="374151"/>
            </a:solidFill>
            <a:prstDash val="solid"/>
          </a:ln>
        </p:spPr>
      </p:sp>
      <p:sp>
        <p:nvSpPr>
          <p:cNvPr id="19" name="Shape 17"/>
          <p:cNvSpPr/>
          <p:nvPr/>
        </p:nvSpPr>
        <p:spPr>
          <a:xfrm>
            <a:off x="6278880" y="2694432"/>
            <a:ext cx="792480" cy="829056"/>
          </a:xfrm>
          <a:prstGeom prst="rect">
            <a:avLst/>
          </a:prstGeom>
          <a:solidFill>
            <a:srgbClr val="F5A623"/>
          </a:solidFill>
          <a:ln w="12700">
            <a:solidFill>
              <a:srgbClr val="F5A623"/>
            </a:solidFill>
            <a:prstDash val="solid"/>
          </a:ln>
        </p:spPr>
      </p:sp>
      <p:sp>
        <p:nvSpPr>
          <p:cNvPr id="20" name="Text 18"/>
          <p:cNvSpPr/>
          <p:nvPr/>
        </p:nvSpPr>
        <p:spPr>
          <a:xfrm>
            <a:off x="6303264" y="2694432"/>
            <a:ext cx="768096" cy="829056"/>
          </a:xfrm>
          <a:prstGeom prst="rect">
            <a:avLst/>
          </a:prstGeom>
          <a:noFill/>
          <a:ln/>
        </p:spPr>
        <p:txBody>
          <a:bodyPr wrap="square" lIns="0" tIns="0" rIns="0" bIns="0" rtlCol="0" anchor="ctr"/>
          <a:lstStyle/>
          <a:p>
            <a:pPr algn="ctr"/>
            <a:r>
              <a:rPr lang="en-US" sz="1467" b="1" dirty="0">
                <a:solidFill>
                  <a:srgbClr val="0D0D0D"/>
                </a:solidFill>
                <a:latin typeface="Georgia" pitchFamily="34" charset="0"/>
                <a:ea typeface="Georgia" pitchFamily="34" charset="-122"/>
                <a:cs typeface="Georgia" pitchFamily="34" charset="-120"/>
              </a:rPr>
              <a:t>2020</a:t>
            </a:r>
            <a:endParaRPr lang="en-US" sz="1467" dirty="0"/>
          </a:p>
        </p:txBody>
      </p:sp>
      <p:sp>
        <p:nvSpPr>
          <p:cNvPr id="21" name="Text 19"/>
          <p:cNvSpPr/>
          <p:nvPr/>
        </p:nvSpPr>
        <p:spPr>
          <a:xfrm>
            <a:off x="7193280" y="2767584"/>
            <a:ext cx="4450080" cy="707136"/>
          </a:xfrm>
          <a:prstGeom prst="rect">
            <a:avLst/>
          </a:prstGeom>
          <a:noFill/>
          <a:ln/>
        </p:spPr>
        <p:txBody>
          <a:bodyPr wrap="square" lIns="0" tIns="0" rIns="0" bIns="0" rtlCol="0" anchor="ctr"/>
          <a:lstStyle/>
          <a:p>
            <a:r>
              <a:rPr lang="en-US" sz="1133" dirty="0">
                <a:solidFill>
                  <a:srgbClr val="F0F4F0"/>
                </a:solidFill>
                <a:latin typeface="Calibri" pitchFamily="34" charset="0"/>
                <a:ea typeface="Calibri" pitchFamily="34" charset="-122"/>
                <a:cs typeface="Calibri" pitchFamily="34" charset="-120"/>
              </a:rPr>
              <a:t>COVID meme stock era: 13M accounts, 3M+ daily active users. March outage sparks $70M class action. GameStop saga in Jan 2021.</a:t>
            </a:r>
            <a:endParaRPr lang="en-US" sz="1133" dirty="0"/>
          </a:p>
        </p:txBody>
      </p:sp>
      <p:sp>
        <p:nvSpPr>
          <p:cNvPr id="22" name="Shape 20"/>
          <p:cNvSpPr/>
          <p:nvPr/>
        </p:nvSpPr>
        <p:spPr>
          <a:xfrm>
            <a:off x="426720" y="3621024"/>
            <a:ext cx="5486400" cy="829056"/>
          </a:xfrm>
          <a:prstGeom prst="rect">
            <a:avLst/>
          </a:prstGeom>
          <a:solidFill>
            <a:srgbClr val="1F2937"/>
          </a:solidFill>
          <a:ln w="12700">
            <a:solidFill>
              <a:srgbClr val="374151"/>
            </a:solidFill>
            <a:prstDash val="solid"/>
          </a:ln>
        </p:spPr>
      </p:sp>
      <p:sp>
        <p:nvSpPr>
          <p:cNvPr id="23" name="Shape 21"/>
          <p:cNvSpPr/>
          <p:nvPr/>
        </p:nvSpPr>
        <p:spPr>
          <a:xfrm>
            <a:off x="426720" y="3621024"/>
            <a:ext cx="792480" cy="829056"/>
          </a:xfrm>
          <a:prstGeom prst="rect">
            <a:avLst/>
          </a:prstGeom>
          <a:solidFill>
            <a:srgbClr val="00C805"/>
          </a:solidFill>
          <a:ln w="12700">
            <a:solidFill>
              <a:srgbClr val="00C805"/>
            </a:solidFill>
            <a:prstDash val="solid"/>
          </a:ln>
        </p:spPr>
      </p:sp>
      <p:sp>
        <p:nvSpPr>
          <p:cNvPr id="24" name="Text 22"/>
          <p:cNvSpPr/>
          <p:nvPr/>
        </p:nvSpPr>
        <p:spPr>
          <a:xfrm>
            <a:off x="451104" y="3621024"/>
            <a:ext cx="768096" cy="829056"/>
          </a:xfrm>
          <a:prstGeom prst="rect">
            <a:avLst/>
          </a:prstGeom>
          <a:noFill/>
          <a:ln/>
        </p:spPr>
        <p:txBody>
          <a:bodyPr wrap="square" lIns="0" tIns="0" rIns="0" bIns="0" rtlCol="0" anchor="ctr"/>
          <a:lstStyle/>
          <a:p>
            <a:pPr algn="ctr"/>
            <a:r>
              <a:rPr lang="en-US" sz="1467" b="1" dirty="0">
                <a:solidFill>
                  <a:srgbClr val="0D0D0D"/>
                </a:solidFill>
                <a:latin typeface="Georgia" pitchFamily="34" charset="0"/>
                <a:ea typeface="Georgia" pitchFamily="34" charset="-122"/>
                <a:cs typeface="Georgia" pitchFamily="34" charset="-120"/>
              </a:rPr>
              <a:t>2021</a:t>
            </a:r>
            <a:endParaRPr lang="en-US" sz="1467" dirty="0"/>
          </a:p>
        </p:txBody>
      </p:sp>
      <p:sp>
        <p:nvSpPr>
          <p:cNvPr id="25" name="Text 23"/>
          <p:cNvSpPr/>
          <p:nvPr/>
        </p:nvSpPr>
        <p:spPr>
          <a:xfrm>
            <a:off x="1341120" y="3694176"/>
            <a:ext cx="4450080" cy="707136"/>
          </a:xfrm>
          <a:prstGeom prst="rect">
            <a:avLst/>
          </a:prstGeom>
          <a:noFill/>
          <a:ln/>
        </p:spPr>
        <p:txBody>
          <a:bodyPr wrap="square" lIns="0" tIns="0" rIns="0" bIns="0" rtlCol="0" anchor="ctr"/>
          <a:lstStyle/>
          <a:p>
            <a:r>
              <a:rPr lang="en-US" sz="1133" dirty="0">
                <a:solidFill>
                  <a:srgbClr val="F0F4F0"/>
                </a:solidFill>
                <a:latin typeface="Calibri" pitchFamily="34" charset="0"/>
                <a:ea typeface="Calibri" pitchFamily="34" charset="-122"/>
                <a:cs typeface="Calibri" pitchFamily="34" charset="-120"/>
              </a:rPr>
              <a:t>IPO at $38 (July 2021). Stock craters post-lock-up. PFOF under SEC lens. Expansion into UK, crypto wallets, fractional shares.</a:t>
            </a:r>
            <a:endParaRPr lang="en-US" sz="1133" dirty="0"/>
          </a:p>
        </p:txBody>
      </p:sp>
      <p:sp>
        <p:nvSpPr>
          <p:cNvPr id="26" name="Shape 24"/>
          <p:cNvSpPr/>
          <p:nvPr/>
        </p:nvSpPr>
        <p:spPr>
          <a:xfrm>
            <a:off x="6278880" y="3621024"/>
            <a:ext cx="5486400" cy="829056"/>
          </a:xfrm>
          <a:prstGeom prst="rect">
            <a:avLst/>
          </a:prstGeom>
          <a:solidFill>
            <a:srgbClr val="1F2937"/>
          </a:solidFill>
          <a:ln w="12700">
            <a:solidFill>
              <a:srgbClr val="374151"/>
            </a:solidFill>
            <a:prstDash val="solid"/>
          </a:ln>
        </p:spPr>
      </p:sp>
      <p:sp>
        <p:nvSpPr>
          <p:cNvPr id="27" name="Shape 25"/>
          <p:cNvSpPr/>
          <p:nvPr/>
        </p:nvSpPr>
        <p:spPr>
          <a:xfrm>
            <a:off x="6278880" y="3621024"/>
            <a:ext cx="792480" cy="829056"/>
          </a:xfrm>
          <a:prstGeom prst="rect">
            <a:avLst/>
          </a:prstGeom>
          <a:solidFill>
            <a:srgbClr val="F5A623"/>
          </a:solidFill>
          <a:ln w="12700">
            <a:solidFill>
              <a:srgbClr val="F5A623"/>
            </a:solidFill>
            <a:prstDash val="solid"/>
          </a:ln>
        </p:spPr>
      </p:sp>
      <p:sp>
        <p:nvSpPr>
          <p:cNvPr id="28" name="Text 26"/>
          <p:cNvSpPr/>
          <p:nvPr/>
        </p:nvSpPr>
        <p:spPr>
          <a:xfrm>
            <a:off x="6303264" y="3621024"/>
            <a:ext cx="768096" cy="829056"/>
          </a:xfrm>
          <a:prstGeom prst="rect">
            <a:avLst/>
          </a:prstGeom>
          <a:noFill/>
          <a:ln/>
        </p:spPr>
        <p:txBody>
          <a:bodyPr wrap="square" lIns="0" tIns="0" rIns="0" bIns="0" rtlCol="0" anchor="ctr"/>
          <a:lstStyle/>
          <a:p>
            <a:pPr algn="ctr"/>
            <a:r>
              <a:rPr lang="en-US" sz="1467" b="1" dirty="0">
                <a:solidFill>
                  <a:srgbClr val="0D0D0D"/>
                </a:solidFill>
                <a:latin typeface="Georgia" pitchFamily="34" charset="0"/>
                <a:ea typeface="Georgia" pitchFamily="34" charset="-122"/>
                <a:cs typeface="Georgia" pitchFamily="34" charset="-120"/>
              </a:rPr>
              <a:t>2022</a:t>
            </a:r>
            <a:endParaRPr lang="en-US" sz="1467" dirty="0"/>
          </a:p>
        </p:txBody>
      </p:sp>
      <p:sp>
        <p:nvSpPr>
          <p:cNvPr id="29" name="Text 27"/>
          <p:cNvSpPr/>
          <p:nvPr/>
        </p:nvSpPr>
        <p:spPr>
          <a:xfrm>
            <a:off x="7193280" y="3694176"/>
            <a:ext cx="4450080" cy="707136"/>
          </a:xfrm>
          <a:prstGeom prst="rect">
            <a:avLst/>
          </a:prstGeom>
          <a:noFill/>
          <a:ln/>
        </p:spPr>
        <p:txBody>
          <a:bodyPr wrap="square" lIns="0" tIns="0" rIns="0" bIns="0" rtlCol="0" anchor="ctr"/>
          <a:lstStyle/>
          <a:p>
            <a:r>
              <a:rPr lang="en-US" sz="1133" dirty="0">
                <a:solidFill>
                  <a:srgbClr val="F0F4F0"/>
                </a:solidFill>
                <a:latin typeface="Calibri" pitchFamily="34" charset="0"/>
                <a:ea typeface="Calibri" pitchFamily="34" charset="-122"/>
                <a:cs typeface="Calibri" pitchFamily="34" charset="-120"/>
              </a:rPr>
              <a:t>Crypto winter + rate shock: revenue -25%, stock falls 85% from IPO. Layoffs (23% of staff). Vlad resets strategy.</a:t>
            </a:r>
            <a:endParaRPr lang="en-US" sz="1133" dirty="0"/>
          </a:p>
        </p:txBody>
      </p:sp>
      <p:sp>
        <p:nvSpPr>
          <p:cNvPr id="30" name="Shape 28"/>
          <p:cNvSpPr/>
          <p:nvPr/>
        </p:nvSpPr>
        <p:spPr>
          <a:xfrm>
            <a:off x="426720" y="4547616"/>
            <a:ext cx="5486400" cy="829056"/>
          </a:xfrm>
          <a:prstGeom prst="rect">
            <a:avLst/>
          </a:prstGeom>
          <a:solidFill>
            <a:srgbClr val="1F2937"/>
          </a:solidFill>
          <a:ln w="12700">
            <a:solidFill>
              <a:srgbClr val="374151"/>
            </a:solidFill>
            <a:prstDash val="solid"/>
          </a:ln>
        </p:spPr>
      </p:sp>
      <p:sp>
        <p:nvSpPr>
          <p:cNvPr id="31" name="Shape 29"/>
          <p:cNvSpPr/>
          <p:nvPr/>
        </p:nvSpPr>
        <p:spPr>
          <a:xfrm>
            <a:off x="426720" y="4547616"/>
            <a:ext cx="792480" cy="829056"/>
          </a:xfrm>
          <a:prstGeom prst="rect">
            <a:avLst/>
          </a:prstGeom>
          <a:solidFill>
            <a:srgbClr val="00C805"/>
          </a:solidFill>
          <a:ln w="12700">
            <a:solidFill>
              <a:srgbClr val="00C805"/>
            </a:solidFill>
            <a:prstDash val="solid"/>
          </a:ln>
        </p:spPr>
      </p:sp>
      <p:sp>
        <p:nvSpPr>
          <p:cNvPr id="32" name="Text 30"/>
          <p:cNvSpPr/>
          <p:nvPr/>
        </p:nvSpPr>
        <p:spPr>
          <a:xfrm>
            <a:off x="451104" y="4547616"/>
            <a:ext cx="768096" cy="829056"/>
          </a:xfrm>
          <a:prstGeom prst="rect">
            <a:avLst/>
          </a:prstGeom>
          <a:noFill/>
          <a:ln/>
        </p:spPr>
        <p:txBody>
          <a:bodyPr wrap="square" lIns="0" tIns="0" rIns="0" bIns="0" rtlCol="0" anchor="ctr"/>
          <a:lstStyle/>
          <a:p>
            <a:pPr algn="ctr"/>
            <a:r>
              <a:rPr lang="en-US" sz="1467" b="1" dirty="0">
                <a:solidFill>
                  <a:srgbClr val="0D0D0D"/>
                </a:solidFill>
                <a:latin typeface="Georgia" pitchFamily="34" charset="0"/>
                <a:ea typeface="Georgia" pitchFamily="34" charset="-122"/>
                <a:cs typeface="Georgia" pitchFamily="34" charset="-120"/>
              </a:rPr>
              <a:t>2023</a:t>
            </a:r>
            <a:endParaRPr lang="en-US" sz="1467" dirty="0"/>
          </a:p>
        </p:txBody>
      </p:sp>
      <p:sp>
        <p:nvSpPr>
          <p:cNvPr id="33" name="Text 31"/>
          <p:cNvSpPr/>
          <p:nvPr/>
        </p:nvSpPr>
        <p:spPr>
          <a:xfrm>
            <a:off x="1341120" y="4620768"/>
            <a:ext cx="4450080" cy="707136"/>
          </a:xfrm>
          <a:prstGeom prst="rect">
            <a:avLst/>
          </a:prstGeom>
          <a:noFill/>
          <a:ln/>
        </p:spPr>
        <p:txBody>
          <a:bodyPr wrap="square" lIns="0" tIns="0" rIns="0" bIns="0" rtlCol="0" anchor="ctr"/>
          <a:lstStyle/>
          <a:p>
            <a:r>
              <a:rPr lang="en-US" sz="1133" dirty="0">
                <a:solidFill>
                  <a:srgbClr val="F0F4F0"/>
                </a:solidFill>
                <a:latin typeface="Calibri" pitchFamily="34" charset="0"/>
                <a:ea typeface="Calibri" pitchFamily="34" charset="-122"/>
                <a:cs typeface="Calibri" pitchFamily="34" charset="-120"/>
              </a:rPr>
              <a:t>Gold subscription launch. 24/7 market hours. Focus shifts to ARPU. Acquires Ziglu (UK crypto) &amp; X1 credit card startup.</a:t>
            </a:r>
            <a:endParaRPr lang="en-US" sz="1133" dirty="0"/>
          </a:p>
        </p:txBody>
      </p:sp>
      <p:sp>
        <p:nvSpPr>
          <p:cNvPr id="34" name="Shape 32"/>
          <p:cNvSpPr/>
          <p:nvPr/>
        </p:nvSpPr>
        <p:spPr>
          <a:xfrm>
            <a:off x="6278880" y="4547616"/>
            <a:ext cx="5486400" cy="829056"/>
          </a:xfrm>
          <a:prstGeom prst="rect">
            <a:avLst/>
          </a:prstGeom>
          <a:solidFill>
            <a:srgbClr val="1F2937"/>
          </a:solidFill>
          <a:ln w="12700">
            <a:solidFill>
              <a:srgbClr val="374151"/>
            </a:solidFill>
            <a:prstDash val="solid"/>
          </a:ln>
        </p:spPr>
      </p:sp>
      <p:sp>
        <p:nvSpPr>
          <p:cNvPr id="35" name="Shape 33"/>
          <p:cNvSpPr/>
          <p:nvPr/>
        </p:nvSpPr>
        <p:spPr>
          <a:xfrm>
            <a:off x="6278880" y="4547616"/>
            <a:ext cx="792480" cy="829056"/>
          </a:xfrm>
          <a:prstGeom prst="rect">
            <a:avLst/>
          </a:prstGeom>
          <a:solidFill>
            <a:srgbClr val="F5A623"/>
          </a:solidFill>
          <a:ln w="12700">
            <a:solidFill>
              <a:srgbClr val="F5A623"/>
            </a:solidFill>
            <a:prstDash val="solid"/>
          </a:ln>
        </p:spPr>
      </p:sp>
      <p:sp>
        <p:nvSpPr>
          <p:cNvPr id="36" name="Text 34"/>
          <p:cNvSpPr/>
          <p:nvPr/>
        </p:nvSpPr>
        <p:spPr>
          <a:xfrm>
            <a:off x="6303264" y="4547616"/>
            <a:ext cx="768096" cy="829056"/>
          </a:xfrm>
          <a:prstGeom prst="rect">
            <a:avLst/>
          </a:prstGeom>
          <a:noFill/>
          <a:ln/>
        </p:spPr>
        <p:txBody>
          <a:bodyPr wrap="square" lIns="0" tIns="0" rIns="0" bIns="0" rtlCol="0" anchor="ctr"/>
          <a:lstStyle/>
          <a:p>
            <a:pPr algn="ctr"/>
            <a:r>
              <a:rPr lang="en-US" sz="1467" b="1" dirty="0">
                <a:solidFill>
                  <a:srgbClr val="0D0D0D"/>
                </a:solidFill>
                <a:latin typeface="Georgia" pitchFamily="34" charset="0"/>
                <a:ea typeface="Georgia" pitchFamily="34" charset="-122"/>
                <a:cs typeface="Georgia" pitchFamily="34" charset="-120"/>
              </a:rPr>
              <a:t>2024</a:t>
            </a:r>
            <a:endParaRPr lang="en-US" sz="1467" dirty="0"/>
          </a:p>
        </p:txBody>
      </p:sp>
      <p:sp>
        <p:nvSpPr>
          <p:cNvPr id="37" name="Text 35"/>
          <p:cNvSpPr/>
          <p:nvPr/>
        </p:nvSpPr>
        <p:spPr>
          <a:xfrm>
            <a:off x="7193280" y="4620768"/>
            <a:ext cx="4450080" cy="707136"/>
          </a:xfrm>
          <a:prstGeom prst="rect">
            <a:avLst/>
          </a:prstGeom>
          <a:noFill/>
          <a:ln/>
        </p:spPr>
        <p:txBody>
          <a:bodyPr wrap="square" lIns="0" tIns="0" rIns="0" bIns="0" rtlCol="0" anchor="ctr"/>
          <a:lstStyle/>
          <a:p>
            <a:r>
              <a:rPr lang="en-US" sz="1133" dirty="0">
                <a:solidFill>
                  <a:srgbClr val="F0F4F0"/>
                </a:solidFill>
                <a:latin typeface="Calibri" pitchFamily="34" charset="0"/>
                <a:ea typeface="Calibri" pitchFamily="34" charset="-122"/>
                <a:cs typeface="Calibri" pitchFamily="34" charset="-120"/>
              </a:rPr>
              <a:t>Credit card launch. Index options, futures trading. AI-powered Robinhood Legend desktop. Cortex AI trading tools. Bitstamp acquisition.</a:t>
            </a:r>
            <a:endParaRPr lang="en-US" sz="1133" dirty="0"/>
          </a:p>
        </p:txBody>
      </p:sp>
      <p:sp>
        <p:nvSpPr>
          <p:cNvPr id="38" name="Shape 36"/>
          <p:cNvSpPr/>
          <p:nvPr/>
        </p:nvSpPr>
        <p:spPr>
          <a:xfrm>
            <a:off x="426720" y="5474208"/>
            <a:ext cx="5486400" cy="829056"/>
          </a:xfrm>
          <a:prstGeom prst="rect">
            <a:avLst/>
          </a:prstGeom>
          <a:solidFill>
            <a:srgbClr val="1F2937"/>
          </a:solidFill>
          <a:ln w="12700">
            <a:solidFill>
              <a:srgbClr val="374151"/>
            </a:solidFill>
            <a:prstDash val="solid"/>
          </a:ln>
        </p:spPr>
      </p:sp>
      <p:sp>
        <p:nvSpPr>
          <p:cNvPr id="39" name="Shape 37"/>
          <p:cNvSpPr/>
          <p:nvPr/>
        </p:nvSpPr>
        <p:spPr>
          <a:xfrm>
            <a:off x="426720" y="5474208"/>
            <a:ext cx="792480" cy="829056"/>
          </a:xfrm>
          <a:prstGeom prst="rect">
            <a:avLst/>
          </a:prstGeom>
          <a:solidFill>
            <a:srgbClr val="00C805"/>
          </a:solidFill>
          <a:ln w="12700">
            <a:solidFill>
              <a:srgbClr val="00C805"/>
            </a:solidFill>
            <a:prstDash val="solid"/>
          </a:ln>
        </p:spPr>
      </p:sp>
      <p:sp>
        <p:nvSpPr>
          <p:cNvPr id="40" name="Text 38"/>
          <p:cNvSpPr/>
          <p:nvPr/>
        </p:nvSpPr>
        <p:spPr>
          <a:xfrm>
            <a:off x="451104" y="5474208"/>
            <a:ext cx="768096" cy="829056"/>
          </a:xfrm>
          <a:prstGeom prst="rect">
            <a:avLst/>
          </a:prstGeom>
          <a:noFill/>
          <a:ln/>
        </p:spPr>
        <p:txBody>
          <a:bodyPr wrap="square" lIns="0" tIns="0" rIns="0" bIns="0" rtlCol="0" anchor="ctr"/>
          <a:lstStyle/>
          <a:p>
            <a:pPr algn="ctr"/>
            <a:r>
              <a:rPr lang="en-US" sz="1467" b="1" dirty="0">
                <a:solidFill>
                  <a:srgbClr val="0D0D0D"/>
                </a:solidFill>
                <a:latin typeface="Georgia" pitchFamily="34" charset="0"/>
                <a:ea typeface="Georgia" pitchFamily="34" charset="-122"/>
                <a:cs typeface="Georgia" pitchFamily="34" charset="-120"/>
              </a:rPr>
              <a:t>2025</a:t>
            </a:r>
            <a:endParaRPr lang="en-US" sz="1467" dirty="0"/>
          </a:p>
        </p:txBody>
      </p:sp>
      <p:sp>
        <p:nvSpPr>
          <p:cNvPr id="41" name="Text 39"/>
          <p:cNvSpPr/>
          <p:nvPr/>
        </p:nvSpPr>
        <p:spPr>
          <a:xfrm>
            <a:off x="1341120" y="5547360"/>
            <a:ext cx="4450080" cy="707136"/>
          </a:xfrm>
          <a:prstGeom prst="rect">
            <a:avLst/>
          </a:prstGeom>
          <a:noFill/>
          <a:ln/>
        </p:spPr>
        <p:txBody>
          <a:bodyPr wrap="square" lIns="0" tIns="0" rIns="0" bIns="0" rtlCol="0" anchor="ctr"/>
          <a:lstStyle/>
          <a:p>
            <a:r>
              <a:rPr lang="en-US" sz="1133" dirty="0">
                <a:solidFill>
                  <a:srgbClr val="F0F4F0"/>
                </a:solidFill>
                <a:latin typeface="Calibri" pitchFamily="34" charset="0"/>
                <a:ea typeface="Calibri" pitchFamily="34" charset="-122"/>
                <a:cs typeface="Calibri" pitchFamily="34" charset="-120"/>
              </a:rPr>
              <a:t>First GAAP profitable year. Revenue $1.01B (+58%). Gold hits 3.2M subs. AUC $218B. Tokenized RWA pilot. Everything App vision articulated.</a:t>
            </a:r>
            <a:endParaRPr lang="en-US" sz="1133" dirty="0"/>
          </a:p>
        </p:txBody>
      </p:sp>
      <p:sp>
        <p:nvSpPr>
          <p:cNvPr id="42" name="Shape 40"/>
          <p:cNvSpPr/>
          <p:nvPr/>
        </p:nvSpPr>
        <p:spPr>
          <a:xfrm>
            <a:off x="6278880" y="5474208"/>
            <a:ext cx="5486400" cy="829056"/>
          </a:xfrm>
          <a:prstGeom prst="rect">
            <a:avLst/>
          </a:prstGeom>
          <a:solidFill>
            <a:srgbClr val="1F2937"/>
          </a:solidFill>
          <a:ln w="12700">
            <a:solidFill>
              <a:srgbClr val="374151"/>
            </a:solidFill>
            <a:prstDash val="solid"/>
          </a:ln>
        </p:spPr>
      </p:sp>
      <p:sp>
        <p:nvSpPr>
          <p:cNvPr id="43" name="Shape 41"/>
          <p:cNvSpPr/>
          <p:nvPr/>
        </p:nvSpPr>
        <p:spPr>
          <a:xfrm>
            <a:off x="6278880" y="5474208"/>
            <a:ext cx="792480" cy="829056"/>
          </a:xfrm>
          <a:prstGeom prst="rect">
            <a:avLst/>
          </a:prstGeom>
          <a:solidFill>
            <a:srgbClr val="F5A623"/>
          </a:solidFill>
          <a:ln w="12700">
            <a:solidFill>
              <a:srgbClr val="F5A623"/>
            </a:solidFill>
            <a:prstDash val="solid"/>
          </a:ln>
        </p:spPr>
      </p:sp>
      <p:sp>
        <p:nvSpPr>
          <p:cNvPr id="44" name="Text 42"/>
          <p:cNvSpPr/>
          <p:nvPr/>
        </p:nvSpPr>
        <p:spPr>
          <a:xfrm>
            <a:off x="6303264" y="5474208"/>
            <a:ext cx="768096" cy="829056"/>
          </a:xfrm>
          <a:prstGeom prst="rect">
            <a:avLst/>
          </a:prstGeom>
          <a:noFill/>
          <a:ln/>
        </p:spPr>
        <p:txBody>
          <a:bodyPr wrap="square" lIns="0" tIns="0" rIns="0" bIns="0" rtlCol="0" anchor="ctr"/>
          <a:lstStyle/>
          <a:p>
            <a:pPr algn="ctr"/>
            <a:r>
              <a:rPr lang="en-US" sz="1467" b="1" dirty="0">
                <a:solidFill>
                  <a:srgbClr val="0D0D0D"/>
                </a:solidFill>
                <a:latin typeface="Georgia" pitchFamily="34" charset="0"/>
                <a:ea typeface="Georgia" pitchFamily="34" charset="-122"/>
                <a:cs typeface="Georgia" pitchFamily="34" charset="-120"/>
              </a:rPr>
              <a:t>2026E</a:t>
            </a:r>
            <a:endParaRPr lang="en-US" sz="1467" dirty="0"/>
          </a:p>
        </p:txBody>
      </p:sp>
      <p:sp>
        <p:nvSpPr>
          <p:cNvPr id="45" name="Text 43"/>
          <p:cNvSpPr/>
          <p:nvPr/>
        </p:nvSpPr>
        <p:spPr>
          <a:xfrm>
            <a:off x="7193280" y="5547360"/>
            <a:ext cx="4450080" cy="707136"/>
          </a:xfrm>
          <a:prstGeom prst="rect">
            <a:avLst/>
          </a:prstGeom>
          <a:noFill/>
          <a:ln/>
        </p:spPr>
        <p:txBody>
          <a:bodyPr wrap="square" lIns="0" tIns="0" rIns="0" bIns="0" rtlCol="0" anchor="ctr"/>
          <a:lstStyle/>
          <a:p>
            <a:r>
              <a:rPr lang="en-US" sz="1133" dirty="0">
                <a:solidFill>
                  <a:srgbClr val="F0F4F0"/>
                </a:solidFill>
                <a:latin typeface="Calibri" pitchFamily="34" charset="0"/>
                <a:ea typeface="Calibri" pitchFamily="34" charset="-122"/>
                <a:cs typeface="Calibri" pitchFamily="34" charset="-120"/>
              </a:rPr>
              <a:t>Prediction markets, retirement products, Robinhood Banking. Global crypto exchange via Bitstamp. Path to $2B+ revenue by 2027E.</a:t>
            </a:r>
            <a:endParaRPr lang="en-US" sz="1133" dirty="0"/>
          </a:p>
        </p:txBody>
      </p:sp>
      <p:sp>
        <p:nvSpPr>
          <p:cNvPr id="46" name="Text 44"/>
          <p:cNvSpPr/>
          <p:nvPr/>
        </p:nvSpPr>
        <p:spPr>
          <a:xfrm>
            <a:off x="426720" y="6522720"/>
            <a:ext cx="11338560" cy="219456"/>
          </a:xfrm>
          <a:prstGeom prst="rect">
            <a:avLst/>
          </a:prstGeom>
          <a:noFill/>
          <a:ln/>
        </p:spPr>
        <p:txBody>
          <a:bodyPr wrap="square" lIns="0" tIns="0" rIns="0" bIns="0" rtlCol="0" anchor="ctr"/>
          <a:lstStyle/>
          <a:p>
            <a:r>
              <a:rPr lang="en-US" sz="1000" i="1" dirty="0">
                <a:solidFill>
                  <a:srgbClr val="6B7280"/>
                </a:solidFill>
                <a:latin typeface="Calibri" pitchFamily="34" charset="0"/>
                <a:ea typeface="Calibri" pitchFamily="34" charset="-122"/>
                <a:cs typeface="Calibri" pitchFamily="34" charset="-120"/>
              </a:rPr>
              <a:t>Sources: Robinhood SEC filings, Bloomberg, TechCrunch, WSJ.</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316736"/>
          </a:xfrm>
          <a:prstGeom prst="rect">
            <a:avLst/>
          </a:prstGeom>
          <a:solidFill>
            <a:srgbClr val="0B1D0E"/>
          </a:solidFill>
          <a:ln w="12700">
            <a:solidFill>
              <a:srgbClr val="0B1D0E"/>
            </a:solidFill>
            <a:prstDash val="solid"/>
          </a:ln>
        </p:spPr>
      </p:sp>
      <p:sp>
        <p:nvSpPr>
          <p:cNvPr id="3" name="Text 1"/>
          <p:cNvSpPr/>
          <p:nvPr/>
        </p:nvSpPr>
        <p:spPr>
          <a:xfrm>
            <a:off x="487680" y="97536"/>
            <a:ext cx="11216640" cy="390144"/>
          </a:xfrm>
          <a:prstGeom prst="rect">
            <a:avLst/>
          </a:prstGeom>
          <a:noFill/>
          <a:ln/>
        </p:spPr>
        <p:txBody>
          <a:bodyPr wrap="square" lIns="0" tIns="0" rIns="0" bIns="0" rtlCol="0" anchor="ctr"/>
          <a:lstStyle/>
          <a:p>
            <a:r>
              <a:rPr lang="en-US" sz="1467" b="1" kern="0" spc="133" dirty="0">
                <a:solidFill>
                  <a:srgbClr val="00C805"/>
                </a:solidFill>
                <a:latin typeface="Calibri" pitchFamily="34" charset="0"/>
                <a:ea typeface="Calibri" pitchFamily="34" charset="-122"/>
                <a:cs typeface="Calibri" pitchFamily="34" charset="-120"/>
              </a:rPr>
              <a:t>SECTION 2: BUSINESS MODEL — MULTI-PRODUCT FINTECH PLATFORM</a:t>
            </a:r>
            <a:endParaRPr lang="en-US" sz="1467" dirty="0"/>
          </a:p>
        </p:txBody>
      </p:sp>
      <p:sp>
        <p:nvSpPr>
          <p:cNvPr id="4" name="Text 2"/>
          <p:cNvSpPr/>
          <p:nvPr/>
        </p:nvSpPr>
        <p:spPr>
          <a:xfrm>
            <a:off x="487680" y="536448"/>
            <a:ext cx="11216640" cy="341376"/>
          </a:xfrm>
          <a:prstGeom prst="rect">
            <a:avLst/>
          </a:prstGeom>
          <a:noFill/>
          <a:ln/>
        </p:spPr>
        <p:txBody>
          <a:bodyPr wrap="square" lIns="0" tIns="0" rIns="0" bIns="0" rtlCol="0" anchor="ctr"/>
          <a:lstStyle/>
          <a:p>
            <a:r>
              <a:rPr lang="en-US" sz="1467" i="1" dirty="0">
                <a:solidFill>
                  <a:srgbClr val="FFFFFF"/>
                </a:solidFill>
                <a:latin typeface="Calibri" pitchFamily="34" charset="0"/>
                <a:ea typeface="Calibri" pitchFamily="34" charset="-122"/>
                <a:cs typeface="Calibri" pitchFamily="34" charset="-120"/>
              </a:rPr>
              <a:t>Options + Crypto + Gold Subscriptions + Margin Lending + Credit Card + Prediction Markets</a:t>
            </a:r>
            <a:endParaRPr lang="en-US" sz="1467" dirty="0"/>
          </a:p>
        </p:txBody>
      </p:sp>
      <p:sp>
        <p:nvSpPr>
          <p:cNvPr id="5" name="Shape 3"/>
          <p:cNvSpPr/>
          <p:nvPr/>
        </p:nvSpPr>
        <p:spPr>
          <a:xfrm>
            <a:off x="365760" y="1438656"/>
            <a:ext cx="5608320" cy="2414016"/>
          </a:xfrm>
          <a:prstGeom prst="rect">
            <a:avLst/>
          </a:prstGeom>
          <a:solidFill>
            <a:srgbClr val="FFFFFF"/>
          </a:solidFill>
          <a:ln w="6350">
            <a:solidFill>
              <a:srgbClr val="E8F0E9"/>
            </a:solidFill>
            <a:prstDash val="solid"/>
          </a:ln>
          <a:effectLst>
            <a:outerShdw blurRad="63500" dist="25400" dir="8100000" algn="bl" rotWithShape="0">
              <a:srgbClr val="000000">
                <a:alpha val="8000"/>
              </a:srgbClr>
            </a:outerShdw>
          </a:effectLst>
        </p:spPr>
      </p:sp>
      <p:sp>
        <p:nvSpPr>
          <p:cNvPr id="6" name="Shape 4"/>
          <p:cNvSpPr/>
          <p:nvPr/>
        </p:nvSpPr>
        <p:spPr>
          <a:xfrm>
            <a:off x="365760" y="1438656"/>
            <a:ext cx="5608320" cy="414528"/>
          </a:xfrm>
          <a:prstGeom prst="rect">
            <a:avLst/>
          </a:prstGeom>
          <a:solidFill>
            <a:srgbClr val="0B1D0E"/>
          </a:solidFill>
          <a:ln w="12700">
            <a:solidFill>
              <a:srgbClr val="0B1D0E"/>
            </a:solidFill>
            <a:prstDash val="solid"/>
          </a:ln>
        </p:spPr>
      </p:sp>
      <p:sp>
        <p:nvSpPr>
          <p:cNvPr id="7" name="Text 5"/>
          <p:cNvSpPr/>
          <p:nvPr/>
        </p:nvSpPr>
        <p:spPr>
          <a:xfrm>
            <a:off x="487680" y="1438656"/>
            <a:ext cx="5425440" cy="414528"/>
          </a:xfrm>
          <a:prstGeom prst="rect">
            <a:avLst/>
          </a:prstGeom>
          <a:noFill/>
          <a:ln/>
        </p:spPr>
        <p:txBody>
          <a:bodyPr wrap="square" lIns="50800" tIns="50800" rIns="50800" bIns="50800" rtlCol="0" anchor="ctr"/>
          <a:lstStyle/>
          <a:p>
            <a:r>
              <a:rPr lang="en-US" sz="1267" b="1" dirty="0">
                <a:solidFill>
                  <a:srgbClr val="00C805"/>
                </a:solidFill>
                <a:latin typeface="Calibri" pitchFamily="34" charset="0"/>
                <a:ea typeface="Calibri" pitchFamily="34" charset="-122"/>
                <a:cs typeface="Calibri" pitchFamily="34" charset="-120"/>
              </a:rPr>
              <a:t>Transaction Revenue (66% of Rev)</a:t>
            </a:r>
            <a:endParaRPr lang="en-US" sz="1267" dirty="0"/>
          </a:p>
        </p:txBody>
      </p:sp>
      <p:sp>
        <p:nvSpPr>
          <p:cNvPr id="8" name="Text 6"/>
          <p:cNvSpPr/>
          <p:nvPr/>
        </p:nvSpPr>
        <p:spPr>
          <a:xfrm>
            <a:off x="487680" y="1901952"/>
            <a:ext cx="5364480" cy="438912"/>
          </a:xfrm>
          <a:prstGeom prst="rect">
            <a:avLst/>
          </a:prstGeom>
          <a:noFill/>
          <a:ln/>
        </p:spPr>
        <p:txBody>
          <a:bodyPr wrap="square" lIns="33867" tIns="33867" rIns="33867" bIns="33867" rtlCol="0" anchor="ctr"/>
          <a:lstStyle/>
          <a:p>
            <a:pPr marL="457189" indent="-457189">
              <a:buSzPct val="100000"/>
              <a:buChar char="•"/>
            </a:pPr>
            <a:r>
              <a:rPr lang="en-US" sz="1200" dirty="0">
                <a:solidFill>
                  <a:srgbClr val="1A2A1D"/>
                </a:solidFill>
                <a:latin typeface="Calibri" pitchFamily="34" charset="0"/>
                <a:ea typeface="Calibri" pitchFamily="34" charset="-122"/>
                <a:cs typeface="Calibri" pitchFamily="34" charset="-120"/>
              </a:rPr>
              <a:t>Options PFOF: ~53% of transaction rev — Robinhood earns from market makers on options order flow</a:t>
            </a:r>
            <a:endParaRPr lang="en-US" sz="1200" dirty="0"/>
          </a:p>
        </p:txBody>
      </p:sp>
      <p:sp>
        <p:nvSpPr>
          <p:cNvPr id="9" name="Text 7"/>
          <p:cNvSpPr/>
          <p:nvPr/>
        </p:nvSpPr>
        <p:spPr>
          <a:xfrm>
            <a:off x="487680" y="2365248"/>
            <a:ext cx="5364480" cy="438912"/>
          </a:xfrm>
          <a:prstGeom prst="rect">
            <a:avLst/>
          </a:prstGeom>
          <a:noFill/>
          <a:ln/>
        </p:spPr>
        <p:txBody>
          <a:bodyPr wrap="square" lIns="33867" tIns="33867" rIns="33867" bIns="33867" rtlCol="0" anchor="ctr"/>
          <a:lstStyle/>
          <a:p>
            <a:pPr marL="457189" indent="-457189">
              <a:buSzPct val="100000"/>
              <a:buChar char="•"/>
            </a:pPr>
            <a:r>
              <a:rPr lang="en-US" sz="1200" dirty="0">
                <a:solidFill>
                  <a:srgbClr val="1A2A1D"/>
                </a:solidFill>
                <a:latin typeface="Calibri" pitchFamily="34" charset="0"/>
                <a:ea typeface="Calibri" pitchFamily="34" charset="-122"/>
                <a:cs typeface="Calibri" pitchFamily="34" charset="-120"/>
              </a:rPr>
              <a:t>Crypto: 35%+ of Q1 2026 net revenue. Spread-based model; crypto boom/bust cyclicality</a:t>
            </a:r>
            <a:endParaRPr lang="en-US" sz="1200" dirty="0"/>
          </a:p>
        </p:txBody>
      </p:sp>
      <p:sp>
        <p:nvSpPr>
          <p:cNvPr id="10" name="Text 8"/>
          <p:cNvSpPr/>
          <p:nvPr/>
        </p:nvSpPr>
        <p:spPr>
          <a:xfrm>
            <a:off x="487680" y="2828544"/>
            <a:ext cx="5364480" cy="438912"/>
          </a:xfrm>
          <a:prstGeom prst="rect">
            <a:avLst/>
          </a:prstGeom>
          <a:noFill/>
          <a:ln/>
        </p:spPr>
        <p:txBody>
          <a:bodyPr wrap="square" lIns="33867" tIns="33867" rIns="33867" bIns="33867" rtlCol="0" anchor="ctr"/>
          <a:lstStyle/>
          <a:p>
            <a:pPr marL="457189" indent="-457189">
              <a:buSzPct val="100000"/>
              <a:buChar char="•"/>
            </a:pPr>
            <a:r>
              <a:rPr lang="en-US" sz="1200" dirty="0">
                <a:solidFill>
                  <a:srgbClr val="1A2A1D"/>
                </a:solidFill>
                <a:latin typeface="Calibri" pitchFamily="34" charset="0"/>
                <a:ea typeface="Calibri" pitchFamily="34" charset="-122"/>
                <a:cs typeface="Calibri" pitchFamily="34" charset="-120"/>
              </a:rPr>
              <a:t>Equities PFOF: 12% of transaction rev — SEC rule change risk is a permanent overhang</a:t>
            </a:r>
            <a:endParaRPr lang="en-US" sz="1200" dirty="0"/>
          </a:p>
        </p:txBody>
      </p:sp>
      <p:sp>
        <p:nvSpPr>
          <p:cNvPr id="11" name="Text 9"/>
          <p:cNvSpPr/>
          <p:nvPr/>
        </p:nvSpPr>
        <p:spPr>
          <a:xfrm>
            <a:off x="487680" y="3291840"/>
            <a:ext cx="5364480" cy="438912"/>
          </a:xfrm>
          <a:prstGeom prst="rect">
            <a:avLst/>
          </a:prstGeom>
          <a:noFill/>
          <a:ln/>
        </p:spPr>
        <p:txBody>
          <a:bodyPr wrap="square" lIns="33867" tIns="33867" rIns="33867" bIns="33867" rtlCol="0" anchor="ctr"/>
          <a:lstStyle/>
          <a:p>
            <a:pPr marL="457189" indent="-457189">
              <a:buSzPct val="100000"/>
              <a:buChar char="•"/>
            </a:pPr>
            <a:r>
              <a:rPr lang="en-US" sz="1200" dirty="0">
                <a:solidFill>
                  <a:srgbClr val="1A2A1D"/>
                </a:solidFill>
                <a:latin typeface="Calibri" pitchFamily="34" charset="0"/>
                <a:ea typeface="Calibri" pitchFamily="34" charset="-122"/>
                <a:cs typeface="Calibri" pitchFamily="34" charset="-120"/>
              </a:rPr>
              <a:t>Robinhood's PFOF model allows zero commissions while generating revenue invisibly from spreads</a:t>
            </a:r>
            <a:endParaRPr lang="en-US" sz="1200" dirty="0"/>
          </a:p>
        </p:txBody>
      </p:sp>
      <p:sp>
        <p:nvSpPr>
          <p:cNvPr id="12" name="Shape 10"/>
          <p:cNvSpPr/>
          <p:nvPr/>
        </p:nvSpPr>
        <p:spPr>
          <a:xfrm>
            <a:off x="6217920" y="1438656"/>
            <a:ext cx="5608320" cy="2414016"/>
          </a:xfrm>
          <a:prstGeom prst="rect">
            <a:avLst/>
          </a:prstGeom>
          <a:solidFill>
            <a:srgbClr val="FFFFFF"/>
          </a:solidFill>
          <a:ln w="6350">
            <a:solidFill>
              <a:srgbClr val="E8F0E9"/>
            </a:solidFill>
            <a:prstDash val="solid"/>
          </a:ln>
          <a:effectLst>
            <a:outerShdw blurRad="63500" dist="25400" dir="8100000" algn="bl" rotWithShape="0">
              <a:srgbClr val="000000">
                <a:alpha val="8000"/>
              </a:srgbClr>
            </a:outerShdw>
          </a:effectLst>
        </p:spPr>
      </p:sp>
      <p:sp>
        <p:nvSpPr>
          <p:cNvPr id="13" name="Shape 11"/>
          <p:cNvSpPr/>
          <p:nvPr/>
        </p:nvSpPr>
        <p:spPr>
          <a:xfrm>
            <a:off x="6217920" y="1438656"/>
            <a:ext cx="5608320" cy="414528"/>
          </a:xfrm>
          <a:prstGeom prst="rect">
            <a:avLst/>
          </a:prstGeom>
          <a:solidFill>
            <a:srgbClr val="1A3320"/>
          </a:solidFill>
          <a:ln w="12700">
            <a:solidFill>
              <a:srgbClr val="1A3320"/>
            </a:solidFill>
            <a:prstDash val="solid"/>
          </a:ln>
        </p:spPr>
      </p:sp>
      <p:sp>
        <p:nvSpPr>
          <p:cNvPr id="14" name="Text 12"/>
          <p:cNvSpPr/>
          <p:nvPr/>
        </p:nvSpPr>
        <p:spPr>
          <a:xfrm>
            <a:off x="6339840" y="1438656"/>
            <a:ext cx="5425440" cy="414528"/>
          </a:xfrm>
          <a:prstGeom prst="rect">
            <a:avLst/>
          </a:prstGeom>
          <a:noFill/>
          <a:ln/>
        </p:spPr>
        <p:txBody>
          <a:bodyPr wrap="square" lIns="50800" tIns="50800" rIns="50800" bIns="50800" rtlCol="0" anchor="ctr"/>
          <a:lstStyle/>
          <a:p>
            <a:r>
              <a:rPr lang="en-US" sz="1267" b="1" dirty="0">
                <a:solidFill>
                  <a:srgbClr val="00C805"/>
                </a:solidFill>
                <a:latin typeface="Calibri" pitchFamily="34" charset="0"/>
                <a:ea typeface="Calibri" pitchFamily="34" charset="-122"/>
                <a:cs typeface="Calibri" pitchFamily="34" charset="-120"/>
              </a:rPr>
              <a:t>Net Interest Revenue (28% of Rev)</a:t>
            </a:r>
            <a:endParaRPr lang="en-US" sz="1267" dirty="0"/>
          </a:p>
        </p:txBody>
      </p:sp>
      <p:sp>
        <p:nvSpPr>
          <p:cNvPr id="15" name="Text 13"/>
          <p:cNvSpPr/>
          <p:nvPr/>
        </p:nvSpPr>
        <p:spPr>
          <a:xfrm>
            <a:off x="6339840" y="1901952"/>
            <a:ext cx="5364480" cy="438912"/>
          </a:xfrm>
          <a:prstGeom prst="rect">
            <a:avLst/>
          </a:prstGeom>
          <a:noFill/>
          <a:ln/>
        </p:spPr>
        <p:txBody>
          <a:bodyPr wrap="square" lIns="33867" tIns="33867" rIns="33867" bIns="33867" rtlCol="0" anchor="ctr"/>
          <a:lstStyle/>
          <a:p>
            <a:pPr marL="457189" indent="-457189">
              <a:buSzPct val="100000"/>
              <a:buChar char="•"/>
            </a:pPr>
            <a:r>
              <a:rPr lang="en-US" sz="1200" dirty="0">
                <a:solidFill>
                  <a:srgbClr val="1A2A1D"/>
                </a:solidFill>
                <a:latin typeface="Calibri" pitchFamily="34" charset="0"/>
                <a:ea typeface="Calibri" pitchFamily="34" charset="-122"/>
                <a:cs typeface="Calibri" pitchFamily="34" charset="-120"/>
              </a:rPr>
              <a:t>Margin Lending: customers borrow to buy securities; spread on Fed Funds rate</a:t>
            </a:r>
            <a:endParaRPr lang="en-US" sz="1200" dirty="0"/>
          </a:p>
        </p:txBody>
      </p:sp>
      <p:sp>
        <p:nvSpPr>
          <p:cNvPr id="16" name="Text 14"/>
          <p:cNvSpPr/>
          <p:nvPr/>
        </p:nvSpPr>
        <p:spPr>
          <a:xfrm>
            <a:off x="6339840" y="2365248"/>
            <a:ext cx="5364480" cy="438912"/>
          </a:xfrm>
          <a:prstGeom prst="rect">
            <a:avLst/>
          </a:prstGeom>
          <a:noFill/>
          <a:ln/>
        </p:spPr>
        <p:txBody>
          <a:bodyPr wrap="square" lIns="33867" tIns="33867" rIns="33867" bIns="33867" rtlCol="0" anchor="ctr"/>
          <a:lstStyle/>
          <a:p>
            <a:pPr marL="457189" indent="-457189">
              <a:buSzPct val="100000"/>
              <a:buChar char="•"/>
            </a:pPr>
            <a:r>
              <a:rPr lang="en-US" sz="1200" dirty="0">
                <a:solidFill>
                  <a:srgbClr val="1A2A1D"/>
                </a:solidFill>
                <a:latin typeface="Calibri" pitchFamily="34" charset="0"/>
                <a:ea typeface="Calibri" pitchFamily="34" charset="-122"/>
                <a:cs typeface="Calibri" pitchFamily="34" charset="-120"/>
              </a:rPr>
              <a:t>Cash Sweep: idle cash earns interest; Gold members earn 5%+ APY on uninvested balances</a:t>
            </a:r>
            <a:endParaRPr lang="en-US" sz="1200" dirty="0"/>
          </a:p>
        </p:txBody>
      </p:sp>
      <p:sp>
        <p:nvSpPr>
          <p:cNvPr id="17" name="Text 15"/>
          <p:cNvSpPr/>
          <p:nvPr/>
        </p:nvSpPr>
        <p:spPr>
          <a:xfrm>
            <a:off x="6339840" y="2828544"/>
            <a:ext cx="5364480" cy="438912"/>
          </a:xfrm>
          <a:prstGeom prst="rect">
            <a:avLst/>
          </a:prstGeom>
          <a:noFill/>
          <a:ln/>
        </p:spPr>
        <p:txBody>
          <a:bodyPr wrap="square" lIns="33867" tIns="33867" rIns="33867" bIns="33867" rtlCol="0" anchor="ctr"/>
          <a:lstStyle/>
          <a:p>
            <a:pPr marL="457189" indent="-457189">
              <a:buSzPct val="100000"/>
              <a:buChar char="•"/>
            </a:pPr>
            <a:r>
              <a:rPr lang="en-US" sz="1200" dirty="0">
                <a:solidFill>
                  <a:srgbClr val="1A2A1D"/>
                </a:solidFill>
                <a:latin typeface="Calibri" pitchFamily="34" charset="0"/>
                <a:ea typeface="Calibri" pitchFamily="34" charset="-122"/>
                <a:cs typeface="Calibri" pitchFamily="34" charset="-120"/>
              </a:rPr>
              <a:t>Securities Lending: PFOF for institutional short sellers borrowing customer shares</a:t>
            </a:r>
            <a:endParaRPr lang="en-US" sz="1200" dirty="0"/>
          </a:p>
        </p:txBody>
      </p:sp>
      <p:sp>
        <p:nvSpPr>
          <p:cNvPr id="18" name="Text 16"/>
          <p:cNvSpPr/>
          <p:nvPr/>
        </p:nvSpPr>
        <p:spPr>
          <a:xfrm>
            <a:off x="6339840" y="3291840"/>
            <a:ext cx="5364480" cy="438912"/>
          </a:xfrm>
          <a:prstGeom prst="rect">
            <a:avLst/>
          </a:prstGeom>
          <a:noFill/>
          <a:ln/>
        </p:spPr>
        <p:txBody>
          <a:bodyPr wrap="square" lIns="33867" tIns="33867" rIns="33867" bIns="33867" rtlCol="0" anchor="ctr"/>
          <a:lstStyle/>
          <a:p>
            <a:pPr marL="457189" indent="-457189">
              <a:buSzPct val="100000"/>
              <a:buChar char="•"/>
            </a:pPr>
            <a:r>
              <a:rPr lang="en-US" sz="1200" dirty="0">
                <a:solidFill>
                  <a:srgbClr val="1A2A1D"/>
                </a:solidFill>
                <a:latin typeface="Calibri" pitchFamily="34" charset="0"/>
                <a:ea typeface="Calibri" pitchFamily="34" charset="-122"/>
                <a:cs typeface="Calibri" pitchFamily="34" charset="-120"/>
              </a:rPr>
              <a:t>Rate-sensitive: high rates 2022–2025 turbocharged this line; a rate cut cycle is headwind</a:t>
            </a:r>
            <a:endParaRPr lang="en-US" sz="1200" dirty="0"/>
          </a:p>
        </p:txBody>
      </p:sp>
      <p:sp>
        <p:nvSpPr>
          <p:cNvPr id="19" name="Shape 17"/>
          <p:cNvSpPr/>
          <p:nvPr/>
        </p:nvSpPr>
        <p:spPr>
          <a:xfrm>
            <a:off x="365760" y="3998976"/>
            <a:ext cx="5608320" cy="2414016"/>
          </a:xfrm>
          <a:prstGeom prst="rect">
            <a:avLst/>
          </a:prstGeom>
          <a:solidFill>
            <a:srgbClr val="FFFFFF"/>
          </a:solidFill>
          <a:ln w="6350">
            <a:solidFill>
              <a:srgbClr val="E8F0E9"/>
            </a:solidFill>
            <a:prstDash val="solid"/>
          </a:ln>
          <a:effectLst>
            <a:outerShdw blurRad="63500" dist="25400" dir="8100000" algn="bl" rotWithShape="0">
              <a:srgbClr val="000000">
                <a:alpha val="8000"/>
              </a:srgbClr>
            </a:outerShdw>
          </a:effectLst>
        </p:spPr>
      </p:sp>
      <p:sp>
        <p:nvSpPr>
          <p:cNvPr id="20" name="Shape 18"/>
          <p:cNvSpPr/>
          <p:nvPr/>
        </p:nvSpPr>
        <p:spPr>
          <a:xfrm>
            <a:off x="365760" y="3998976"/>
            <a:ext cx="5608320" cy="414528"/>
          </a:xfrm>
          <a:prstGeom prst="rect">
            <a:avLst/>
          </a:prstGeom>
          <a:solidFill>
            <a:srgbClr val="1B4D2A"/>
          </a:solidFill>
          <a:ln w="12700">
            <a:solidFill>
              <a:srgbClr val="1B4D2A"/>
            </a:solidFill>
            <a:prstDash val="solid"/>
          </a:ln>
        </p:spPr>
      </p:sp>
      <p:sp>
        <p:nvSpPr>
          <p:cNvPr id="21" name="Text 19"/>
          <p:cNvSpPr/>
          <p:nvPr/>
        </p:nvSpPr>
        <p:spPr>
          <a:xfrm>
            <a:off x="487680" y="3998976"/>
            <a:ext cx="5425440" cy="414528"/>
          </a:xfrm>
          <a:prstGeom prst="rect">
            <a:avLst/>
          </a:prstGeom>
          <a:noFill/>
          <a:ln/>
        </p:spPr>
        <p:txBody>
          <a:bodyPr wrap="square" lIns="50800" tIns="50800" rIns="50800" bIns="50800" rtlCol="0" anchor="ctr"/>
          <a:lstStyle/>
          <a:p>
            <a:r>
              <a:rPr lang="en-US" sz="1267" b="1" dirty="0">
                <a:solidFill>
                  <a:srgbClr val="00C805"/>
                </a:solidFill>
                <a:latin typeface="Calibri" pitchFamily="34" charset="0"/>
                <a:ea typeface="Calibri" pitchFamily="34" charset="-122"/>
                <a:cs typeface="Calibri" pitchFamily="34" charset="-120"/>
              </a:rPr>
              <a:t>Subscription Revenue (Gold — ~6% but growing)</a:t>
            </a:r>
            <a:endParaRPr lang="en-US" sz="1267" dirty="0"/>
          </a:p>
        </p:txBody>
      </p:sp>
      <p:sp>
        <p:nvSpPr>
          <p:cNvPr id="22" name="Text 20"/>
          <p:cNvSpPr/>
          <p:nvPr/>
        </p:nvSpPr>
        <p:spPr>
          <a:xfrm>
            <a:off x="487680" y="4462272"/>
            <a:ext cx="5364480" cy="438912"/>
          </a:xfrm>
          <a:prstGeom prst="rect">
            <a:avLst/>
          </a:prstGeom>
          <a:noFill/>
          <a:ln/>
        </p:spPr>
        <p:txBody>
          <a:bodyPr wrap="square" lIns="33867" tIns="33867" rIns="33867" bIns="33867" rtlCol="0" anchor="ctr"/>
          <a:lstStyle/>
          <a:p>
            <a:pPr marL="457189" indent="-457189">
              <a:buSzPct val="100000"/>
              <a:buChar char="•"/>
            </a:pPr>
            <a:r>
              <a:rPr lang="en-US" sz="1200" dirty="0">
                <a:solidFill>
                  <a:srgbClr val="1A2A1D"/>
                </a:solidFill>
                <a:latin typeface="Calibri" pitchFamily="34" charset="0"/>
                <a:ea typeface="Calibri" pitchFamily="34" charset="-122"/>
                <a:cs typeface="Calibri" pitchFamily="34" charset="-120"/>
              </a:rPr>
              <a:t>Robinhood Gold: $6.99/month — 5% APY on idle cash, Level 2 Nasdaq data, margin discount</a:t>
            </a:r>
            <a:endParaRPr lang="en-US" sz="1200" dirty="0"/>
          </a:p>
        </p:txBody>
      </p:sp>
      <p:sp>
        <p:nvSpPr>
          <p:cNvPr id="23" name="Text 21"/>
          <p:cNvSpPr/>
          <p:nvPr/>
        </p:nvSpPr>
        <p:spPr>
          <a:xfrm>
            <a:off x="487680" y="4925568"/>
            <a:ext cx="5364480" cy="438912"/>
          </a:xfrm>
          <a:prstGeom prst="rect">
            <a:avLst/>
          </a:prstGeom>
          <a:noFill/>
          <a:ln/>
        </p:spPr>
        <p:txBody>
          <a:bodyPr wrap="square" lIns="33867" tIns="33867" rIns="33867" bIns="33867" rtlCol="0" anchor="ctr"/>
          <a:lstStyle/>
          <a:p>
            <a:pPr marL="457189" indent="-457189">
              <a:buSzPct val="100000"/>
              <a:buChar char="•"/>
            </a:pPr>
            <a:r>
              <a:rPr lang="en-US" sz="1200" dirty="0">
                <a:solidFill>
                  <a:srgbClr val="1A2A1D"/>
                </a:solidFill>
                <a:latin typeface="Calibri" pitchFamily="34" charset="0"/>
                <a:ea typeface="Calibri" pitchFamily="34" charset="-122"/>
                <a:cs typeface="Calibri" pitchFamily="34" charset="-120"/>
              </a:rPr>
              <a:t>3.2M+ subscribers; growing fastest revenue line — ARPU ~$100/year per Gold customer</a:t>
            </a:r>
            <a:endParaRPr lang="en-US" sz="1200" dirty="0"/>
          </a:p>
        </p:txBody>
      </p:sp>
      <p:sp>
        <p:nvSpPr>
          <p:cNvPr id="24" name="Text 22"/>
          <p:cNvSpPr/>
          <p:nvPr/>
        </p:nvSpPr>
        <p:spPr>
          <a:xfrm>
            <a:off x="487680" y="5388864"/>
            <a:ext cx="5364480" cy="438912"/>
          </a:xfrm>
          <a:prstGeom prst="rect">
            <a:avLst/>
          </a:prstGeom>
          <a:noFill/>
          <a:ln/>
        </p:spPr>
        <p:txBody>
          <a:bodyPr wrap="square" lIns="33867" tIns="33867" rIns="33867" bIns="33867" rtlCol="0" anchor="ctr"/>
          <a:lstStyle/>
          <a:p>
            <a:pPr marL="457189" indent="-457189">
              <a:buSzPct val="100000"/>
              <a:buChar char="•"/>
            </a:pPr>
            <a:r>
              <a:rPr lang="en-US" sz="1200" dirty="0">
                <a:solidFill>
                  <a:srgbClr val="1A2A1D"/>
                </a:solidFill>
                <a:latin typeface="Calibri" pitchFamily="34" charset="0"/>
                <a:ea typeface="Calibri" pitchFamily="34" charset="-122"/>
                <a:cs typeface="Calibri" pitchFamily="34" charset="-120"/>
              </a:rPr>
              <a:t>Gold credit card: 3% back on all purchases; 55K+ on waitlist at launch — sticky engagement</a:t>
            </a:r>
            <a:endParaRPr lang="en-US" sz="1200" dirty="0"/>
          </a:p>
        </p:txBody>
      </p:sp>
      <p:sp>
        <p:nvSpPr>
          <p:cNvPr id="25" name="Text 23"/>
          <p:cNvSpPr/>
          <p:nvPr/>
        </p:nvSpPr>
        <p:spPr>
          <a:xfrm>
            <a:off x="487680" y="5852160"/>
            <a:ext cx="5364480" cy="438912"/>
          </a:xfrm>
          <a:prstGeom prst="rect">
            <a:avLst/>
          </a:prstGeom>
          <a:noFill/>
          <a:ln/>
        </p:spPr>
        <p:txBody>
          <a:bodyPr wrap="square" lIns="33867" tIns="33867" rIns="33867" bIns="33867" rtlCol="0" anchor="ctr"/>
          <a:lstStyle/>
          <a:p>
            <a:pPr marL="457189" indent="-457189">
              <a:buSzPct val="100000"/>
              <a:buChar char="•"/>
            </a:pPr>
            <a:r>
              <a:rPr lang="en-US" sz="1200" dirty="0">
                <a:solidFill>
                  <a:srgbClr val="1A2A1D"/>
                </a:solidFill>
                <a:latin typeface="Calibri" pitchFamily="34" charset="0"/>
                <a:ea typeface="Calibri" pitchFamily="34" charset="-122"/>
                <a:cs typeface="Calibri" pitchFamily="34" charset="-120"/>
              </a:rPr>
              <a:t>IRA (retirement accounts): gold subscription drives account depth and long-term retention</a:t>
            </a:r>
            <a:endParaRPr lang="en-US" sz="1200" dirty="0"/>
          </a:p>
        </p:txBody>
      </p:sp>
      <p:sp>
        <p:nvSpPr>
          <p:cNvPr id="26" name="Shape 24"/>
          <p:cNvSpPr/>
          <p:nvPr/>
        </p:nvSpPr>
        <p:spPr>
          <a:xfrm>
            <a:off x="6217920" y="3998976"/>
            <a:ext cx="5608320" cy="2414016"/>
          </a:xfrm>
          <a:prstGeom prst="rect">
            <a:avLst/>
          </a:prstGeom>
          <a:solidFill>
            <a:srgbClr val="FFFFFF"/>
          </a:solidFill>
          <a:ln w="6350">
            <a:solidFill>
              <a:srgbClr val="E8F0E9"/>
            </a:solidFill>
            <a:prstDash val="solid"/>
          </a:ln>
          <a:effectLst>
            <a:outerShdw blurRad="63500" dist="25400" dir="8100000" algn="bl" rotWithShape="0">
              <a:srgbClr val="000000">
                <a:alpha val="8000"/>
              </a:srgbClr>
            </a:outerShdw>
          </a:effectLst>
        </p:spPr>
      </p:sp>
      <p:sp>
        <p:nvSpPr>
          <p:cNvPr id="27" name="Shape 25"/>
          <p:cNvSpPr/>
          <p:nvPr/>
        </p:nvSpPr>
        <p:spPr>
          <a:xfrm>
            <a:off x="6217920" y="3998976"/>
            <a:ext cx="5608320" cy="414528"/>
          </a:xfrm>
          <a:prstGeom prst="rect">
            <a:avLst/>
          </a:prstGeom>
          <a:solidFill>
            <a:srgbClr val="3E1F0A"/>
          </a:solidFill>
          <a:ln w="12700">
            <a:solidFill>
              <a:srgbClr val="3E1F0A"/>
            </a:solidFill>
            <a:prstDash val="solid"/>
          </a:ln>
        </p:spPr>
      </p:sp>
      <p:sp>
        <p:nvSpPr>
          <p:cNvPr id="28" name="Text 26"/>
          <p:cNvSpPr/>
          <p:nvPr/>
        </p:nvSpPr>
        <p:spPr>
          <a:xfrm>
            <a:off x="6339840" y="3998976"/>
            <a:ext cx="5425440" cy="414528"/>
          </a:xfrm>
          <a:prstGeom prst="rect">
            <a:avLst/>
          </a:prstGeom>
          <a:noFill/>
          <a:ln/>
        </p:spPr>
        <p:txBody>
          <a:bodyPr wrap="square" lIns="50800" tIns="50800" rIns="50800" bIns="50800" rtlCol="0" anchor="ctr"/>
          <a:lstStyle/>
          <a:p>
            <a:r>
              <a:rPr lang="en-US" sz="1267" b="1" dirty="0">
                <a:solidFill>
                  <a:srgbClr val="00C805"/>
                </a:solidFill>
                <a:latin typeface="Calibri" pitchFamily="34" charset="0"/>
                <a:ea typeface="Calibri" pitchFamily="34" charset="-122"/>
                <a:cs typeface="Calibri" pitchFamily="34" charset="-120"/>
              </a:rPr>
              <a:t>Robinhood vs Traditional Brokers</a:t>
            </a:r>
            <a:endParaRPr lang="en-US" sz="1267" dirty="0"/>
          </a:p>
        </p:txBody>
      </p:sp>
      <p:sp>
        <p:nvSpPr>
          <p:cNvPr id="29" name="Text 27"/>
          <p:cNvSpPr/>
          <p:nvPr/>
        </p:nvSpPr>
        <p:spPr>
          <a:xfrm>
            <a:off x="6339840" y="4462272"/>
            <a:ext cx="5364480" cy="438912"/>
          </a:xfrm>
          <a:prstGeom prst="rect">
            <a:avLst/>
          </a:prstGeom>
          <a:noFill/>
          <a:ln/>
        </p:spPr>
        <p:txBody>
          <a:bodyPr wrap="square" lIns="33867" tIns="33867" rIns="33867" bIns="33867" rtlCol="0" anchor="ctr"/>
          <a:lstStyle/>
          <a:p>
            <a:pPr marL="457189" indent="-457189">
              <a:buSzPct val="100000"/>
              <a:buChar char="•"/>
            </a:pPr>
            <a:r>
              <a:rPr lang="en-US" sz="1200" dirty="0">
                <a:solidFill>
                  <a:srgbClr val="1A2A1D"/>
                </a:solidFill>
                <a:latin typeface="Calibri" pitchFamily="34" charset="0"/>
                <a:ea typeface="Calibri" pitchFamily="34" charset="-122"/>
                <a:cs typeface="Calibri" pitchFamily="34" charset="-120"/>
              </a:rPr>
              <a:t>Traditional (Schwab, Fidelity): diversified revenue, advisory fees, institutional, less volatile</a:t>
            </a:r>
            <a:endParaRPr lang="en-US" sz="1200" dirty="0"/>
          </a:p>
        </p:txBody>
      </p:sp>
      <p:sp>
        <p:nvSpPr>
          <p:cNvPr id="30" name="Text 28"/>
          <p:cNvSpPr/>
          <p:nvPr/>
        </p:nvSpPr>
        <p:spPr>
          <a:xfrm>
            <a:off x="6339840" y="4925568"/>
            <a:ext cx="5364480" cy="438912"/>
          </a:xfrm>
          <a:prstGeom prst="rect">
            <a:avLst/>
          </a:prstGeom>
          <a:noFill/>
          <a:ln/>
        </p:spPr>
        <p:txBody>
          <a:bodyPr wrap="square" lIns="33867" tIns="33867" rIns="33867" bIns="33867" rtlCol="0" anchor="ctr"/>
          <a:lstStyle/>
          <a:p>
            <a:pPr marL="457189" indent="-457189">
              <a:buSzPct val="100000"/>
              <a:buChar char="•"/>
            </a:pPr>
            <a:r>
              <a:rPr lang="en-US" sz="1200" dirty="0">
                <a:solidFill>
                  <a:srgbClr val="1A2A1D"/>
                </a:solidFill>
                <a:latin typeface="Calibri" pitchFamily="34" charset="0"/>
                <a:ea typeface="Calibri" pitchFamily="34" charset="-122"/>
                <a:cs typeface="Calibri" pitchFamily="34" charset="-120"/>
              </a:rPr>
              <a:t>Robinhood (FinTech Disruptor): PFOF + crypto + subscription; younger demographics; digital-native</a:t>
            </a:r>
            <a:endParaRPr lang="en-US" sz="1200" dirty="0"/>
          </a:p>
        </p:txBody>
      </p:sp>
      <p:sp>
        <p:nvSpPr>
          <p:cNvPr id="31" name="Text 29"/>
          <p:cNvSpPr/>
          <p:nvPr/>
        </p:nvSpPr>
        <p:spPr>
          <a:xfrm>
            <a:off x="6339840" y="5388864"/>
            <a:ext cx="5364480" cy="438912"/>
          </a:xfrm>
          <a:prstGeom prst="rect">
            <a:avLst/>
          </a:prstGeom>
          <a:noFill/>
          <a:ln/>
        </p:spPr>
        <p:txBody>
          <a:bodyPr wrap="square" lIns="33867" tIns="33867" rIns="33867" bIns="33867" rtlCol="0" anchor="ctr"/>
          <a:lstStyle/>
          <a:p>
            <a:pPr marL="457189" indent="-457189">
              <a:buSzPct val="100000"/>
              <a:buChar char="•"/>
            </a:pPr>
            <a:r>
              <a:rPr lang="en-US" sz="1200" dirty="0">
                <a:solidFill>
                  <a:srgbClr val="1A2A1D"/>
                </a:solidFill>
                <a:latin typeface="Calibri" pitchFamily="34" charset="0"/>
                <a:ea typeface="Calibri" pitchFamily="34" charset="-122"/>
                <a:cs typeface="Calibri" pitchFamily="34" charset="-120"/>
              </a:rPr>
              <a:t>Market Gap: 25M customers who never invested before — Robinhood created a new market</a:t>
            </a:r>
            <a:endParaRPr lang="en-US" sz="1200" dirty="0"/>
          </a:p>
        </p:txBody>
      </p:sp>
      <p:sp>
        <p:nvSpPr>
          <p:cNvPr id="32" name="Text 30"/>
          <p:cNvSpPr/>
          <p:nvPr/>
        </p:nvSpPr>
        <p:spPr>
          <a:xfrm>
            <a:off x="6339840" y="5852160"/>
            <a:ext cx="5364480" cy="438912"/>
          </a:xfrm>
          <a:prstGeom prst="rect">
            <a:avLst/>
          </a:prstGeom>
          <a:noFill/>
          <a:ln/>
        </p:spPr>
        <p:txBody>
          <a:bodyPr wrap="square" lIns="33867" tIns="33867" rIns="33867" bIns="33867" rtlCol="0" anchor="ctr"/>
          <a:lstStyle/>
          <a:p>
            <a:pPr marL="457189" indent="-457189">
              <a:buSzPct val="100000"/>
              <a:buChar char="•"/>
            </a:pPr>
            <a:r>
              <a:rPr lang="en-US" sz="1200" dirty="0">
                <a:solidFill>
                  <a:srgbClr val="1A2A1D"/>
                </a:solidFill>
                <a:latin typeface="Calibri" pitchFamily="34" charset="0"/>
                <a:ea typeface="Calibri" pitchFamily="34" charset="-122"/>
                <a:cs typeface="Calibri" pitchFamily="34" charset="-120"/>
              </a:rPr>
              <a:t>Super-App ambition: banking, cards, retirement, predictions, news all within one platform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55904"/>
          </a:xfrm>
          <a:prstGeom prst="rect">
            <a:avLst/>
          </a:prstGeom>
          <a:solidFill>
            <a:srgbClr val="0D1B2A"/>
          </a:solidFill>
          <a:ln/>
        </p:spPr>
      </p:sp>
      <p:sp>
        <p:nvSpPr>
          <p:cNvPr id="3" name="Text 1"/>
          <p:cNvSpPr/>
          <p:nvPr/>
        </p:nvSpPr>
        <p:spPr>
          <a:xfrm>
            <a:off x="365760" y="0"/>
            <a:ext cx="8534400" cy="755904"/>
          </a:xfrm>
          <a:prstGeom prst="rect">
            <a:avLst/>
          </a:prstGeom>
          <a:noFill/>
          <a:ln/>
        </p:spPr>
        <p:txBody>
          <a:bodyPr wrap="square" lIns="0" tIns="0" rIns="0" bIns="0" rtlCol="0" anchor="ctr"/>
          <a:lstStyle/>
          <a:p>
            <a:r>
              <a:rPr lang="en-US" sz="1733" b="1" dirty="0">
                <a:solidFill>
                  <a:srgbClr val="FFFFFF"/>
                </a:solidFill>
              </a:rPr>
              <a:t>SECTION 3: FINANCIAL ANALYSIS</a:t>
            </a:r>
            <a:endParaRPr lang="en-US" sz="1733" dirty="0"/>
          </a:p>
        </p:txBody>
      </p:sp>
      <p:sp>
        <p:nvSpPr>
          <p:cNvPr id="4" name="Text 2"/>
          <p:cNvSpPr/>
          <p:nvPr/>
        </p:nvSpPr>
        <p:spPr>
          <a:xfrm>
            <a:off x="365760" y="0"/>
            <a:ext cx="11582400" cy="755904"/>
          </a:xfrm>
          <a:prstGeom prst="rect">
            <a:avLst/>
          </a:prstGeom>
          <a:noFill/>
          <a:ln/>
        </p:spPr>
        <p:txBody>
          <a:bodyPr wrap="square" lIns="0" tIns="0" rIns="0" bIns="0" rtlCol="0" anchor="ctr"/>
          <a:lstStyle/>
          <a:p>
            <a:pPr algn="r"/>
            <a:r>
              <a:rPr lang="en-US" sz="1333" dirty="0">
                <a:solidFill>
                  <a:srgbClr val="00C896"/>
                </a:solidFill>
              </a:rPr>
              <a:t>From $1.4B (FY2022) to $4.5B (FY2025) — record revenue, profitability achieved</a:t>
            </a:r>
            <a:endParaRPr lang="en-US" sz="1333" dirty="0"/>
          </a:p>
        </p:txBody>
      </p:sp>
      <p:sp>
        <p:nvSpPr>
          <p:cNvPr id="5" name="Shape 3"/>
          <p:cNvSpPr/>
          <p:nvPr/>
        </p:nvSpPr>
        <p:spPr>
          <a:xfrm>
            <a:off x="268224" y="877824"/>
            <a:ext cx="2218944" cy="1072896"/>
          </a:xfrm>
          <a:prstGeom prst="rect">
            <a:avLst/>
          </a:prstGeom>
          <a:solidFill>
            <a:srgbClr val="F4F9F7"/>
          </a:solidFill>
          <a:ln/>
          <a:effectLst>
            <a:outerShdw blurRad="50800" dist="12700" dir="8100000" algn="bl" rotWithShape="0">
              <a:srgbClr val="000000">
                <a:alpha val="7000"/>
              </a:srgbClr>
            </a:outerShdw>
          </a:effectLst>
        </p:spPr>
      </p:sp>
      <p:sp>
        <p:nvSpPr>
          <p:cNvPr id="6" name="Shape 4"/>
          <p:cNvSpPr/>
          <p:nvPr/>
        </p:nvSpPr>
        <p:spPr>
          <a:xfrm>
            <a:off x="268224" y="877824"/>
            <a:ext cx="2218944" cy="73152"/>
          </a:xfrm>
          <a:prstGeom prst="rect">
            <a:avLst/>
          </a:prstGeom>
          <a:solidFill>
            <a:srgbClr val="00C896"/>
          </a:solidFill>
          <a:ln/>
        </p:spPr>
      </p:sp>
      <p:sp>
        <p:nvSpPr>
          <p:cNvPr id="7" name="Text 5"/>
          <p:cNvSpPr/>
          <p:nvPr/>
        </p:nvSpPr>
        <p:spPr>
          <a:xfrm>
            <a:off x="268224" y="950976"/>
            <a:ext cx="2218944" cy="463296"/>
          </a:xfrm>
          <a:prstGeom prst="rect">
            <a:avLst/>
          </a:prstGeom>
          <a:noFill/>
          <a:ln/>
        </p:spPr>
        <p:txBody>
          <a:bodyPr wrap="square" lIns="0" tIns="0" rIns="0" bIns="0" rtlCol="0" anchor="ctr"/>
          <a:lstStyle/>
          <a:p>
            <a:pPr algn="ctr"/>
            <a:r>
              <a:rPr lang="en-US" sz="2533" b="1" dirty="0">
                <a:solidFill>
                  <a:srgbClr val="0D1B2A"/>
                </a:solidFill>
              </a:rPr>
              <a:t>$4.5B</a:t>
            </a:r>
            <a:endParaRPr lang="en-US" sz="2533" dirty="0"/>
          </a:p>
        </p:txBody>
      </p:sp>
      <p:sp>
        <p:nvSpPr>
          <p:cNvPr id="8" name="Text 6"/>
          <p:cNvSpPr/>
          <p:nvPr/>
        </p:nvSpPr>
        <p:spPr>
          <a:xfrm>
            <a:off x="268224" y="1414272"/>
            <a:ext cx="2218944" cy="268224"/>
          </a:xfrm>
          <a:prstGeom prst="rect">
            <a:avLst/>
          </a:prstGeom>
          <a:noFill/>
          <a:ln/>
        </p:spPr>
        <p:txBody>
          <a:bodyPr wrap="square" lIns="0" tIns="0" rIns="0" bIns="0" rtlCol="0" anchor="ctr"/>
          <a:lstStyle/>
          <a:p>
            <a:pPr algn="ctr"/>
            <a:r>
              <a:rPr lang="en-US" sz="1067" b="1" dirty="0">
                <a:solidFill>
                  <a:srgbClr val="5A7A8A"/>
                </a:solidFill>
              </a:rPr>
              <a:t>FY2025 Revenue</a:t>
            </a:r>
            <a:endParaRPr lang="en-US" sz="1067" dirty="0"/>
          </a:p>
        </p:txBody>
      </p:sp>
      <p:sp>
        <p:nvSpPr>
          <p:cNvPr id="9" name="Text 7"/>
          <p:cNvSpPr/>
          <p:nvPr/>
        </p:nvSpPr>
        <p:spPr>
          <a:xfrm>
            <a:off x="268224" y="1682496"/>
            <a:ext cx="2218944" cy="243840"/>
          </a:xfrm>
          <a:prstGeom prst="rect">
            <a:avLst/>
          </a:prstGeom>
          <a:noFill/>
          <a:ln/>
        </p:spPr>
        <p:txBody>
          <a:bodyPr wrap="square" lIns="0" tIns="0" rIns="0" bIns="0" rtlCol="0" anchor="ctr"/>
          <a:lstStyle/>
          <a:p>
            <a:pPr algn="ctr"/>
            <a:r>
              <a:rPr lang="en-US" sz="1000" dirty="0">
                <a:solidFill>
                  <a:srgbClr val="00C896"/>
                </a:solidFill>
              </a:rPr>
              <a:t>+52% YoY</a:t>
            </a:r>
            <a:endParaRPr lang="en-US" sz="1000" dirty="0"/>
          </a:p>
        </p:txBody>
      </p:sp>
      <p:sp>
        <p:nvSpPr>
          <p:cNvPr id="10" name="Shape 8"/>
          <p:cNvSpPr/>
          <p:nvPr/>
        </p:nvSpPr>
        <p:spPr>
          <a:xfrm>
            <a:off x="2621280" y="877824"/>
            <a:ext cx="2218944" cy="1072896"/>
          </a:xfrm>
          <a:prstGeom prst="rect">
            <a:avLst/>
          </a:prstGeom>
          <a:solidFill>
            <a:srgbClr val="F4F9F7"/>
          </a:solidFill>
          <a:ln/>
          <a:effectLst>
            <a:outerShdw blurRad="50800" dist="12700" dir="8100000" algn="bl" rotWithShape="0">
              <a:srgbClr val="000000">
                <a:alpha val="7000"/>
              </a:srgbClr>
            </a:outerShdw>
          </a:effectLst>
        </p:spPr>
      </p:sp>
      <p:sp>
        <p:nvSpPr>
          <p:cNvPr id="11" name="Shape 9"/>
          <p:cNvSpPr/>
          <p:nvPr/>
        </p:nvSpPr>
        <p:spPr>
          <a:xfrm>
            <a:off x="2621280" y="877824"/>
            <a:ext cx="2218944" cy="73152"/>
          </a:xfrm>
          <a:prstGeom prst="rect">
            <a:avLst/>
          </a:prstGeom>
          <a:solidFill>
            <a:srgbClr val="00C896"/>
          </a:solidFill>
          <a:ln/>
        </p:spPr>
      </p:sp>
      <p:sp>
        <p:nvSpPr>
          <p:cNvPr id="12" name="Text 10"/>
          <p:cNvSpPr/>
          <p:nvPr/>
        </p:nvSpPr>
        <p:spPr>
          <a:xfrm>
            <a:off x="2621280" y="950976"/>
            <a:ext cx="2218944" cy="463296"/>
          </a:xfrm>
          <a:prstGeom prst="rect">
            <a:avLst/>
          </a:prstGeom>
          <a:noFill/>
          <a:ln/>
        </p:spPr>
        <p:txBody>
          <a:bodyPr wrap="square" lIns="0" tIns="0" rIns="0" bIns="0" rtlCol="0" anchor="ctr"/>
          <a:lstStyle/>
          <a:p>
            <a:pPr algn="ctr"/>
            <a:r>
              <a:rPr lang="en-US" sz="2533" b="1" dirty="0">
                <a:solidFill>
                  <a:srgbClr val="0D1B2A"/>
                </a:solidFill>
              </a:rPr>
              <a:t>$1.88B</a:t>
            </a:r>
            <a:endParaRPr lang="en-US" sz="2533" dirty="0"/>
          </a:p>
        </p:txBody>
      </p:sp>
      <p:sp>
        <p:nvSpPr>
          <p:cNvPr id="13" name="Text 11"/>
          <p:cNvSpPr/>
          <p:nvPr/>
        </p:nvSpPr>
        <p:spPr>
          <a:xfrm>
            <a:off x="2621280" y="1414272"/>
            <a:ext cx="2218944" cy="268224"/>
          </a:xfrm>
          <a:prstGeom prst="rect">
            <a:avLst/>
          </a:prstGeom>
          <a:noFill/>
          <a:ln/>
        </p:spPr>
        <p:txBody>
          <a:bodyPr wrap="square" lIns="0" tIns="0" rIns="0" bIns="0" rtlCol="0" anchor="ctr"/>
          <a:lstStyle/>
          <a:p>
            <a:pPr algn="ctr"/>
            <a:r>
              <a:rPr lang="en-US" sz="1067" b="1" dirty="0">
                <a:solidFill>
                  <a:srgbClr val="5A7A8A"/>
                </a:solidFill>
              </a:rPr>
              <a:t>FY2025 Net Income</a:t>
            </a:r>
            <a:endParaRPr lang="en-US" sz="1067" dirty="0"/>
          </a:p>
        </p:txBody>
      </p:sp>
      <p:sp>
        <p:nvSpPr>
          <p:cNvPr id="14" name="Text 12"/>
          <p:cNvSpPr/>
          <p:nvPr/>
        </p:nvSpPr>
        <p:spPr>
          <a:xfrm>
            <a:off x="2621280" y="1682496"/>
            <a:ext cx="2218944" cy="243840"/>
          </a:xfrm>
          <a:prstGeom prst="rect">
            <a:avLst/>
          </a:prstGeom>
          <a:noFill/>
          <a:ln/>
        </p:spPr>
        <p:txBody>
          <a:bodyPr wrap="square" lIns="0" tIns="0" rIns="0" bIns="0" rtlCol="0" anchor="ctr"/>
          <a:lstStyle/>
          <a:p>
            <a:pPr algn="ctr"/>
            <a:r>
              <a:rPr lang="en-US" sz="1000" dirty="0">
                <a:solidFill>
                  <a:srgbClr val="00C896"/>
                </a:solidFill>
              </a:rPr>
              <a:t>vs −$541M FY2022</a:t>
            </a:r>
            <a:endParaRPr lang="en-US" sz="1000" dirty="0"/>
          </a:p>
        </p:txBody>
      </p:sp>
      <p:sp>
        <p:nvSpPr>
          <p:cNvPr id="15" name="Shape 13"/>
          <p:cNvSpPr/>
          <p:nvPr/>
        </p:nvSpPr>
        <p:spPr>
          <a:xfrm>
            <a:off x="4974336" y="877824"/>
            <a:ext cx="2218944" cy="1072896"/>
          </a:xfrm>
          <a:prstGeom prst="rect">
            <a:avLst/>
          </a:prstGeom>
          <a:solidFill>
            <a:srgbClr val="F4F9F7"/>
          </a:solidFill>
          <a:ln/>
          <a:effectLst>
            <a:outerShdw blurRad="50800" dist="12700" dir="8100000" algn="bl" rotWithShape="0">
              <a:srgbClr val="000000">
                <a:alpha val="7000"/>
              </a:srgbClr>
            </a:outerShdw>
          </a:effectLst>
        </p:spPr>
      </p:sp>
      <p:sp>
        <p:nvSpPr>
          <p:cNvPr id="16" name="Shape 14"/>
          <p:cNvSpPr/>
          <p:nvPr/>
        </p:nvSpPr>
        <p:spPr>
          <a:xfrm>
            <a:off x="4974336" y="877824"/>
            <a:ext cx="2218944" cy="73152"/>
          </a:xfrm>
          <a:prstGeom prst="rect">
            <a:avLst/>
          </a:prstGeom>
          <a:solidFill>
            <a:srgbClr val="00C896"/>
          </a:solidFill>
          <a:ln/>
        </p:spPr>
      </p:sp>
      <p:sp>
        <p:nvSpPr>
          <p:cNvPr id="17" name="Text 15"/>
          <p:cNvSpPr/>
          <p:nvPr/>
        </p:nvSpPr>
        <p:spPr>
          <a:xfrm>
            <a:off x="4974336" y="950976"/>
            <a:ext cx="2218944" cy="463296"/>
          </a:xfrm>
          <a:prstGeom prst="rect">
            <a:avLst/>
          </a:prstGeom>
          <a:noFill/>
          <a:ln/>
        </p:spPr>
        <p:txBody>
          <a:bodyPr wrap="square" lIns="0" tIns="0" rIns="0" bIns="0" rtlCol="0" anchor="ctr"/>
          <a:lstStyle/>
          <a:p>
            <a:pPr algn="ctr"/>
            <a:r>
              <a:rPr lang="en-US" sz="2533" b="1" dirty="0">
                <a:solidFill>
                  <a:srgbClr val="0D1B2A"/>
                </a:solidFill>
              </a:rPr>
              <a:t>$2.05</a:t>
            </a:r>
            <a:endParaRPr lang="en-US" sz="2533" dirty="0"/>
          </a:p>
        </p:txBody>
      </p:sp>
      <p:sp>
        <p:nvSpPr>
          <p:cNvPr id="18" name="Text 16"/>
          <p:cNvSpPr/>
          <p:nvPr/>
        </p:nvSpPr>
        <p:spPr>
          <a:xfrm>
            <a:off x="4974336" y="1414272"/>
            <a:ext cx="2218944" cy="268224"/>
          </a:xfrm>
          <a:prstGeom prst="rect">
            <a:avLst/>
          </a:prstGeom>
          <a:noFill/>
          <a:ln/>
        </p:spPr>
        <p:txBody>
          <a:bodyPr wrap="square" lIns="0" tIns="0" rIns="0" bIns="0" rtlCol="0" anchor="ctr"/>
          <a:lstStyle/>
          <a:p>
            <a:pPr algn="ctr"/>
            <a:r>
              <a:rPr lang="en-US" sz="1067" b="1" dirty="0">
                <a:solidFill>
                  <a:srgbClr val="5A7A8A"/>
                </a:solidFill>
              </a:rPr>
              <a:t>FY2025 Diluted EPS</a:t>
            </a:r>
            <a:endParaRPr lang="en-US" sz="1067" dirty="0"/>
          </a:p>
        </p:txBody>
      </p:sp>
      <p:sp>
        <p:nvSpPr>
          <p:cNvPr id="19" name="Text 17"/>
          <p:cNvSpPr/>
          <p:nvPr/>
        </p:nvSpPr>
        <p:spPr>
          <a:xfrm>
            <a:off x="4974336" y="1682496"/>
            <a:ext cx="2218944" cy="243840"/>
          </a:xfrm>
          <a:prstGeom prst="rect">
            <a:avLst/>
          </a:prstGeom>
          <a:noFill/>
          <a:ln/>
        </p:spPr>
        <p:txBody>
          <a:bodyPr wrap="square" lIns="0" tIns="0" rIns="0" bIns="0" rtlCol="0" anchor="ctr"/>
          <a:lstStyle/>
          <a:p>
            <a:pPr algn="ctr"/>
            <a:r>
              <a:rPr lang="en-US" sz="1000" dirty="0">
                <a:solidFill>
                  <a:srgbClr val="00C896"/>
                </a:solidFill>
              </a:rPr>
              <a:t>Record high</a:t>
            </a:r>
            <a:endParaRPr lang="en-US" sz="1000" dirty="0"/>
          </a:p>
        </p:txBody>
      </p:sp>
      <p:sp>
        <p:nvSpPr>
          <p:cNvPr id="20" name="Shape 18"/>
          <p:cNvSpPr/>
          <p:nvPr/>
        </p:nvSpPr>
        <p:spPr>
          <a:xfrm>
            <a:off x="7327392" y="877824"/>
            <a:ext cx="2218944" cy="1072896"/>
          </a:xfrm>
          <a:prstGeom prst="rect">
            <a:avLst/>
          </a:prstGeom>
          <a:solidFill>
            <a:srgbClr val="F4F9F7"/>
          </a:solidFill>
          <a:ln/>
          <a:effectLst>
            <a:outerShdw blurRad="50800" dist="12700" dir="8100000" algn="bl" rotWithShape="0">
              <a:srgbClr val="000000">
                <a:alpha val="7000"/>
              </a:srgbClr>
            </a:outerShdw>
          </a:effectLst>
        </p:spPr>
      </p:sp>
      <p:sp>
        <p:nvSpPr>
          <p:cNvPr id="21" name="Shape 19"/>
          <p:cNvSpPr/>
          <p:nvPr/>
        </p:nvSpPr>
        <p:spPr>
          <a:xfrm>
            <a:off x="7327392" y="877824"/>
            <a:ext cx="2218944" cy="73152"/>
          </a:xfrm>
          <a:prstGeom prst="rect">
            <a:avLst/>
          </a:prstGeom>
          <a:solidFill>
            <a:srgbClr val="00C896"/>
          </a:solidFill>
          <a:ln/>
        </p:spPr>
      </p:sp>
      <p:sp>
        <p:nvSpPr>
          <p:cNvPr id="22" name="Text 20"/>
          <p:cNvSpPr/>
          <p:nvPr/>
        </p:nvSpPr>
        <p:spPr>
          <a:xfrm>
            <a:off x="7327392" y="950976"/>
            <a:ext cx="2218944" cy="463296"/>
          </a:xfrm>
          <a:prstGeom prst="rect">
            <a:avLst/>
          </a:prstGeom>
          <a:noFill/>
          <a:ln/>
        </p:spPr>
        <p:txBody>
          <a:bodyPr wrap="square" lIns="0" tIns="0" rIns="0" bIns="0" rtlCol="0" anchor="ctr"/>
          <a:lstStyle/>
          <a:p>
            <a:pPr algn="ctr"/>
            <a:r>
              <a:rPr lang="en-US" sz="2533" b="1" dirty="0">
                <a:solidFill>
                  <a:srgbClr val="0D1B2A"/>
                </a:solidFill>
              </a:rPr>
              <a:t>$350B+</a:t>
            </a:r>
            <a:endParaRPr lang="en-US" sz="2533" dirty="0"/>
          </a:p>
        </p:txBody>
      </p:sp>
      <p:sp>
        <p:nvSpPr>
          <p:cNvPr id="23" name="Text 21"/>
          <p:cNvSpPr/>
          <p:nvPr/>
        </p:nvSpPr>
        <p:spPr>
          <a:xfrm>
            <a:off x="7327392" y="1414272"/>
            <a:ext cx="2218944" cy="268224"/>
          </a:xfrm>
          <a:prstGeom prst="rect">
            <a:avLst/>
          </a:prstGeom>
          <a:noFill/>
          <a:ln/>
        </p:spPr>
        <p:txBody>
          <a:bodyPr wrap="square" lIns="0" tIns="0" rIns="0" bIns="0" rtlCol="0" anchor="ctr"/>
          <a:lstStyle/>
          <a:p>
            <a:pPr algn="ctr"/>
            <a:r>
              <a:rPr lang="en-US" sz="1067" b="1" dirty="0">
                <a:solidFill>
                  <a:srgbClr val="5A7A8A"/>
                </a:solidFill>
              </a:rPr>
              <a:t>Platform Assets</a:t>
            </a:r>
            <a:endParaRPr lang="en-US" sz="1067" dirty="0"/>
          </a:p>
        </p:txBody>
      </p:sp>
      <p:sp>
        <p:nvSpPr>
          <p:cNvPr id="24" name="Text 22"/>
          <p:cNvSpPr/>
          <p:nvPr/>
        </p:nvSpPr>
        <p:spPr>
          <a:xfrm>
            <a:off x="7327392" y="1682496"/>
            <a:ext cx="2218944" cy="243840"/>
          </a:xfrm>
          <a:prstGeom prst="rect">
            <a:avLst/>
          </a:prstGeom>
          <a:noFill/>
          <a:ln/>
        </p:spPr>
        <p:txBody>
          <a:bodyPr wrap="square" lIns="0" tIns="0" rIns="0" bIns="0" rtlCol="0" anchor="ctr"/>
          <a:lstStyle/>
          <a:p>
            <a:pPr algn="ctr"/>
            <a:r>
              <a:rPr lang="en-US" sz="1000" dirty="0">
                <a:solidFill>
                  <a:srgbClr val="00C896"/>
                </a:solidFill>
              </a:rPr>
              <a:t>Q1 2026</a:t>
            </a:r>
            <a:endParaRPr lang="en-US" sz="1000" dirty="0"/>
          </a:p>
        </p:txBody>
      </p:sp>
      <p:sp>
        <p:nvSpPr>
          <p:cNvPr id="25" name="Shape 23"/>
          <p:cNvSpPr/>
          <p:nvPr/>
        </p:nvSpPr>
        <p:spPr>
          <a:xfrm>
            <a:off x="9680448" y="877824"/>
            <a:ext cx="2218944" cy="1072896"/>
          </a:xfrm>
          <a:prstGeom prst="rect">
            <a:avLst/>
          </a:prstGeom>
          <a:solidFill>
            <a:srgbClr val="F4F9F7"/>
          </a:solidFill>
          <a:ln/>
          <a:effectLst>
            <a:outerShdw blurRad="50800" dist="12700" dir="8100000" algn="bl" rotWithShape="0">
              <a:srgbClr val="000000">
                <a:alpha val="7000"/>
              </a:srgbClr>
            </a:outerShdw>
          </a:effectLst>
        </p:spPr>
      </p:sp>
      <p:sp>
        <p:nvSpPr>
          <p:cNvPr id="26" name="Shape 24"/>
          <p:cNvSpPr/>
          <p:nvPr/>
        </p:nvSpPr>
        <p:spPr>
          <a:xfrm>
            <a:off x="9680448" y="877824"/>
            <a:ext cx="2218944" cy="73152"/>
          </a:xfrm>
          <a:prstGeom prst="rect">
            <a:avLst/>
          </a:prstGeom>
          <a:solidFill>
            <a:srgbClr val="00C896"/>
          </a:solidFill>
          <a:ln/>
        </p:spPr>
      </p:sp>
      <p:sp>
        <p:nvSpPr>
          <p:cNvPr id="27" name="Text 25"/>
          <p:cNvSpPr/>
          <p:nvPr/>
        </p:nvSpPr>
        <p:spPr>
          <a:xfrm>
            <a:off x="9680448" y="950976"/>
            <a:ext cx="2218944" cy="463296"/>
          </a:xfrm>
          <a:prstGeom prst="rect">
            <a:avLst/>
          </a:prstGeom>
          <a:noFill/>
          <a:ln/>
        </p:spPr>
        <p:txBody>
          <a:bodyPr wrap="square" lIns="0" tIns="0" rIns="0" bIns="0" rtlCol="0" anchor="ctr"/>
          <a:lstStyle/>
          <a:p>
            <a:pPr algn="ctr"/>
            <a:r>
              <a:rPr lang="en-US" sz="2533" b="1" dirty="0">
                <a:solidFill>
                  <a:srgbClr val="0D1B2A"/>
                </a:solidFill>
              </a:rPr>
              <a:t>41.1%</a:t>
            </a:r>
            <a:endParaRPr lang="en-US" sz="2533" dirty="0"/>
          </a:p>
        </p:txBody>
      </p:sp>
      <p:sp>
        <p:nvSpPr>
          <p:cNvPr id="28" name="Text 26"/>
          <p:cNvSpPr/>
          <p:nvPr/>
        </p:nvSpPr>
        <p:spPr>
          <a:xfrm>
            <a:off x="9680448" y="1414272"/>
            <a:ext cx="2218944" cy="268224"/>
          </a:xfrm>
          <a:prstGeom prst="rect">
            <a:avLst/>
          </a:prstGeom>
          <a:noFill/>
          <a:ln/>
        </p:spPr>
        <p:txBody>
          <a:bodyPr wrap="square" lIns="0" tIns="0" rIns="0" bIns="0" rtlCol="0" anchor="ctr"/>
          <a:lstStyle/>
          <a:p>
            <a:pPr algn="ctr"/>
            <a:r>
              <a:rPr lang="en-US" sz="1067" b="1" dirty="0">
                <a:solidFill>
                  <a:srgbClr val="5A7A8A"/>
                </a:solidFill>
              </a:rPr>
              <a:t>Net Margin FY2025</a:t>
            </a:r>
            <a:endParaRPr lang="en-US" sz="1067" dirty="0"/>
          </a:p>
        </p:txBody>
      </p:sp>
      <p:sp>
        <p:nvSpPr>
          <p:cNvPr id="29" name="Text 27"/>
          <p:cNvSpPr/>
          <p:nvPr/>
        </p:nvSpPr>
        <p:spPr>
          <a:xfrm>
            <a:off x="9680448" y="1682496"/>
            <a:ext cx="2218944" cy="243840"/>
          </a:xfrm>
          <a:prstGeom prst="rect">
            <a:avLst/>
          </a:prstGeom>
          <a:noFill/>
          <a:ln/>
        </p:spPr>
        <p:txBody>
          <a:bodyPr wrap="square" lIns="0" tIns="0" rIns="0" bIns="0" rtlCol="0" anchor="ctr"/>
          <a:lstStyle/>
          <a:p>
            <a:pPr algn="ctr"/>
            <a:r>
              <a:rPr lang="en-US" sz="1000" dirty="0">
                <a:solidFill>
                  <a:srgbClr val="00C896"/>
                </a:solidFill>
              </a:rPr>
              <a:t>World-class fintech</a:t>
            </a:r>
            <a:endParaRPr lang="en-US" sz="1000" dirty="0"/>
          </a:p>
        </p:txBody>
      </p:sp>
      <p:graphicFrame>
        <p:nvGraphicFramePr>
          <p:cNvPr id="30" name="Table 0"/>
          <p:cNvGraphicFramePr>
            <a:graphicFrameLocks noGrp="1"/>
          </p:cNvGraphicFramePr>
          <p:nvPr/>
        </p:nvGraphicFramePr>
        <p:xfrm>
          <a:off x="268224" y="2048256"/>
          <a:ext cx="11582400" cy="4157472"/>
        </p:xfrm>
        <a:graphic>
          <a:graphicData uri="http://schemas.openxmlformats.org/drawingml/2006/table">
            <a:tbl>
              <a:tblPr/>
              <a:tblGrid>
                <a:gridCol w="2560320">
                  <a:extLst>
                    <a:ext uri="{9D8B030D-6E8A-4147-A177-3AD203B41FA5}">
                      <a16:colId xmlns:a16="http://schemas.microsoft.com/office/drawing/2014/main" val="20000"/>
                    </a:ext>
                  </a:extLst>
                </a:gridCol>
                <a:gridCol w="1316736">
                  <a:extLst>
                    <a:ext uri="{9D8B030D-6E8A-4147-A177-3AD203B41FA5}">
                      <a16:colId xmlns:a16="http://schemas.microsoft.com/office/drawing/2014/main" val="20001"/>
                    </a:ext>
                  </a:extLst>
                </a:gridCol>
                <a:gridCol w="1316736">
                  <a:extLst>
                    <a:ext uri="{9D8B030D-6E8A-4147-A177-3AD203B41FA5}">
                      <a16:colId xmlns:a16="http://schemas.microsoft.com/office/drawing/2014/main" val="20002"/>
                    </a:ext>
                  </a:extLst>
                </a:gridCol>
                <a:gridCol w="1316736">
                  <a:extLst>
                    <a:ext uri="{9D8B030D-6E8A-4147-A177-3AD203B41FA5}">
                      <a16:colId xmlns:a16="http://schemas.microsoft.com/office/drawing/2014/main" val="20003"/>
                    </a:ext>
                  </a:extLst>
                </a:gridCol>
                <a:gridCol w="1316736">
                  <a:extLst>
                    <a:ext uri="{9D8B030D-6E8A-4147-A177-3AD203B41FA5}">
                      <a16:colId xmlns:a16="http://schemas.microsoft.com/office/drawing/2014/main" val="20004"/>
                    </a:ext>
                  </a:extLst>
                </a:gridCol>
                <a:gridCol w="1645920">
                  <a:extLst>
                    <a:ext uri="{9D8B030D-6E8A-4147-A177-3AD203B41FA5}">
                      <a16:colId xmlns:a16="http://schemas.microsoft.com/office/drawing/2014/main" val="20005"/>
                    </a:ext>
                  </a:extLst>
                </a:gridCol>
                <a:gridCol w="2109216">
                  <a:extLst>
                    <a:ext uri="{9D8B030D-6E8A-4147-A177-3AD203B41FA5}">
                      <a16:colId xmlns:a16="http://schemas.microsoft.com/office/drawing/2014/main" val="20006"/>
                    </a:ext>
                  </a:extLst>
                </a:gridCol>
              </a:tblGrid>
              <a:tr h="377952">
                <a:tc>
                  <a:txBody>
                    <a:bodyPr/>
                    <a:lstStyle/>
                    <a:p>
                      <a:pPr marL="0" indent="0" algn="l">
                        <a:buNone/>
                      </a:pPr>
                      <a:r>
                        <a:rPr lang="en-US" sz="1100" b="1" dirty="0">
                          <a:solidFill>
                            <a:srgbClr val="FFFFFF"/>
                          </a:solidFill>
                        </a:rPr>
                        <a:t>Metric</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0D1B2A"/>
                    </a:solidFill>
                  </a:tcPr>
                </a:tc>
                <a:tc>
                  <a:txBody>
                    <a:bodyPr/>
                    <a:lstStyle/>
                    <a:p>
                      <a:pPr marL="0" indent="0" algn="ctr">
                        <a:buNone/>
                      </a:pPr>
                      <a:r>
                        <a:rPr lang="en-US" sz="1100" b="1" dirty="0">
                          <a:solidFill>
                            <a:srgbClr val="FFFFFF"/>
                          </a:solidFill>
                        </a:rPr>
                        <a:t>FY2022</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0D1B2A"/>
                    </a:solidFill>
                  </a:tcPr>
                </a:tc>
                <a:tc>
                  <a:txBody>
                    <a:bodyPr/>
                    <a:lstStyle/>
                    <a:p>
                      <a:pPr marL="0" indent="0" algn="ctr">
                        <a:buNone/>
                      </a:pPr>
                      <a:r>
                        <a:rPr lang="en-US" sz="1100" b="1" dirty="0">
                          <a:solidFill>
                            <a:srgbClr val="FFFFFF"/>
                          </a:solidFill>
                        </a:rPr>
                        <a:t>FY2023</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0D1B2A"/>
                    </a:solidFill>
                  </a:tcPr>
                </a:tc>
                <a:tc>
                  <a:txBody>
                    <a:bodyPr/>
                    <a:lstStyle/>
                    <a:p>
                      <a:pPr marL="0" indent="0" algn="ctr">
                        <a:buNone/>
                      </a:pPr>
                      <a:r>
                        <a:rPr lang="en-US" sz="1100" b="1" dirty="0">
                          <a:solidFill>
                            <a:srgbClr val="FFFFFF"/>
                          </a:solidFill>
                        </a:rPr>
                        <a:t>FY2024</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0D1B2A"/>
                    </a:solidFill>
                  </a:tcPr>
                </a:tc>
                <a:tc>
                  <a:txBody>
                    <a:bodyPr/>
                    <a:lstStyle/>
                    <a:p>
                      <a:pPr marL="0" indent="0" algn="ctr">
                        <a:buNone/>
                      </a:pPr>
                      <a:r>
                        <a:rPr lang="en-US" sz="1100" b="1" dirty="0">
                          <a:solidFill>
                            <a:srgbClr val="FFFFFF"/>
                          </a:solidFill>
                        </a:rPr>
                        <a:t>FY2025</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0D1B2A"/>
                    </a:solidFill>
                  </a:tcPr>
                </a:tc>
                <a:tc>
                  <a:txBody>
                    <a:bodyPr/>
                    <a:lstStyle/>
                    <a:p>
                      <a:pPr marL="0" indent="0" algn="ctr">
                        <a:buNone/>
                      </a:pPr>
                      <a:r>
                        <a:rPr lang="en-US" sz="1100" b="1" dirty="0">
                          <a:solidFill>
                            <a:srgbClr val="FFFFFF"/>
                          </a:solidFill>
                        </a:rPr>
                        <a:t>FY2026E</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0D1B2A"/>
                    </a:solidFill>
                  </a:tcPr>
                </a:tc>
                <a:tc>
                  <a:txBody>
                    <a:bodyPr/>
                    <a:lstStyle/>
                    <a:p>
                      <a:pPr marL="0" indent="0" algn="ctr">
                        <a:buNone/>
                      </a:pPr>
                      <a:r>
                        <a:rPr lang="en-US" sz="1100" b="1" dirty="0">
                          <a:solidFill>
                            <a:srgbClr val="FFFFFF"/>
                          </a:solidFill>
                        </a:rPr>
                        <a:t>Trend</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377952">
                <a:tc>
                  <a:txBody>
                    <a:bodyPr/>
                    <a:lstStyle/>
                    <a:p>
                      <a:pPr marL="0" indent="0" algn="l">
                        <a:buNone/>
                      </a:pPr>
                      <a:r>
                        <a:rPr lang="en-US" sz="1100" dirty="0">
                          <a:solidFill>
                            <a:srgbClr val="1A2E3B"/>
                          </a:solidFill>
                        </a:rPr>
                        <a:t>Revenue ($B)</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tc>
                  <a:txBody>
                    <a:bodyPr/>
                    <a:lstStyle/>
                    <a:p>
                      <a:pPr marL="0" indent="0" algn="ctr">
                        <a:buNone/>
                      </a:pPr>
                      <a:r>
                        <a:rPr lang="en-US" sz="1100" dirty="0">
                          <a:solidFill>
                            <a:srgbClr val="1A2E3B"/>
                          </a:solidFill>
                        </a:rPr>
                        <a:t>$1.36</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tc>
                  <a:txBody>
                    <a:bodyPr/>
                    <a:lstStyle/>
                    <a:p>
                      <a:pPr marL="0" indent="0" algn="ctr">
                        <a:buNone/>
                      </a:pPr>
                      <a:r>
                        <a:rPr lang="en-US" sz="1100" dirty="0">
                          <a:solidFill>
                            <a:srgbClr val="1A2E3B"/>
                          </a:solidFill>
                        </a:rPr>
                        <a:t>$1.87</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tc>
                  <a:txBody>
                    <a:bodyPr/>
                    <a:lstStyle/>
                    <a:p>
                      <a:pPr marL="0" indent="0" algn="ctr">
                        <a:buNone/>
                      </a:pPr>
                      <a:r>
                        <a:rPr lang="en-US" sz="1100" dirty="0">
                          <a:solidFill>
                            <a:srgbClr val="1A2E3B"/>
                          </a:solidFill>
                        </a:rPr>
                        <a:t>$2.95</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tc>
                  <a:txBody>
                    <a:bodyPr/>
                    <a:lstStyle/>
                    <a:p>
                      <a:pPr marL="0" indent="0" algn="ctr">
                        <a:buNone/>
                      </a:pPr>
                      <a:r>
                        <a:rPr lang="en-US" sz="1100" dirty="0">
                          <a:solidFill>
                            <a:srgbClr val="1A2E3B"/>
                          </a:solidFill>
                        </a:rPr>
                        <a:t>$4.47</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tc>
                  <a:txBody>
                    <a:bodyPr/>
                    <a:lstStyle/>
                    <a:p>
                      <a:pPr marL="0" indent="0" algn="ctr">
                        <a:buNone/>
                      </a:pPr>
                      <a:r>
                        <a:rPr lang="en-US" sz="1100" b="1" dirty="0">
                          <a:solidFill>
                            <a:srgbClr val="1B3A5C"/>
                          </a:solidFill>
                        </a:rPr>
                        <a:t>~$5.1–5.5B</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tc>
                  <a:txBody>
                    <a:bodyPr/>
                    <a:lstStyle/>
                    <a:p>
                      <a:pPr marL="0" indent="0" algn="ctr">
                        <a:buNone/>
                      </a:pPr>
                      <a:r>
                        <a:rPr lang="en-US" sz="1100" b="1" dirty="0">
                          <a:solidFill>
                            <a:srgbClr val="1A7A4A"/>
                          </a:solidFill>
                        </a:rPr>
                        <a:t>↑↑↑ +52% YoY</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extLst>
                  <a:ext uri="{0D108BD9-81ED-4DB2-BD59-A6C34878D82A}">
                    <a16:rowId xmlns:a16="http://schemas.microsoft.com/office/drawing/2014/main" val="10001"/>
                  </a:ext>
                </a:extLst>
              </a:tr>
              <a:tr h="377952">
                <a:tc>
                  <a:txBody>
                    <a:bodyPr/>
                    <a:lstStyle/>
                    <a:p>
                      <a:pPr marL="0" indent="0" algn="l">
                        <a:buNone/>
                      </a:pPr>
                      <a:r>
                        <a:rPr lang="en-US" sz="1100" dirty="0">
                          <a:solidFill>
                            <a:srgbClr val="1A2E3B"/>
                          </a:solidFill>
                        </a:rPr>
                        <a:t>Transaction Rev ($B)</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E3B"/>
                          </a:solidFill>
                        </a:rPr>
                        <a:t>$0.60</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E3B"/>
                          </a:solidFill>
                        </a:rPr>
                        <a:t>$0.78</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E3B"/>
                          </a:solidFill>
                        </a:rPr>
                        <a:t>$1.57</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E3B"/>
                          </a:solidFill>
                        </a:rPr>
                        <a:t>$2.38</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B3A5C"/>
                          </a:solidFill>
                        </a:rPr>
                        <a:t>~$2.6B</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E6B4A"/>
                          </a:solidFill>
                        </a:rPr>
                        <a:t>↑↑ Crypto+Options</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7952">
                <a:tc>
                  <a:txBody>
                    <a:bodyPr/>
                    <a:lstStyle/>
                    <a:p>
                      <a:pPr marL="0" indent="0" algn="l">
                        <a:buNone/>
                      </a:pPr>
                      <a:r>
                        <a:rPr lang="en-US" sz="1100" dirty="0">
                          <a:solidFill>
                            <a:srgbClr val="1A2E3B"/>
                          </a:solidFill>
                        </a:rPr>
                        <a:t>Net Interest Rev ($B)</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tc>
                  <a:txBody>
                    <a:bodyPr/>
                    <a:lstStyle/>
                    <a:p>
                      <a:pPr marL="0" indent="0" algn="ctr">
                        <a:buNone/>
                      </a:pPr>
                      <a:r>
                        <a:rPr lang="en-US" sz="1100" dirty="0">
                          <a:solidFill>
                            <a:srgbClr val="1A2E3B"/>
                          </a:solidFill>
                        </a:rPr>
                        <a:t>$0.47</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tc>
                  <a:txBody>
                    <a:bodyPr/>
                    <a:lstStyle/>
                    <a:p>
                      <a:pPr marL="0" indent="0" algn="ctr">
                        <a:buNone/>
                      </a:pPr>
                      <a:r>
                        <a:rPr lang="en-US" sz="1100" dirty="0">
                          <a:solidFill>
                            <a:srgbClr val="1A2E3B"/>
                          </a:solidFill>
                        </a:rPr>
                        <a:t>$0.68</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tc>
                  <a:txBody>
                    <a:bodyPr/>
                    <a:lstStyle/>
                    <a:p>
                      <a:pPr marL="0" indent="0" algn="ctr">
                        <a:buNone/>
                      </a:pPr>
                      <a:r>
                        <a:rPr lang="en-US" sz="1100" dirty="0">
                          <a:solidFill>
                            <a:srgbClr val="1A2E3B"/>
                          </a:solidFill>
                        </a:rPr>
                        <a:t>$1.02</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tc>
                  <a:txBody>
                    <a:bodyPr/>
                    <a:lstStyle/>
                    <a:p>
                      <a:pPr marL="0" indent="0" algn="ctr">
                        <a:buNone/>
                      </a:pPr>
                      <a:r>
                        <a:rPr lang="en-US" sz="1100" dirty="0">
                          <a:solidFill>
                            <a:srgbClr val="1A2E3B"/>
                          </a:solidFill>
                        </a:rPr>
                        <a:t>$1.45</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tc>
                  <a:txBody>
                    <a:bodyPr/>
                    <a:lstStyle/>
                    <a:p>
                      <a:pPr marL="0" indent="0" algn="ctr">
                        <a:buNone/>
                      </a:pPr>
                      <a:r>
                        <a:rPr lang="en-US" sz="1100" b="1" dirty="0">
                          <a:solidFill>
                            <a:srgbClr val="1B3A5C"/>
                          </a:solidFill>
                        </a:rPr>
                        <a:t>~$1.45B</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tc>
                  <a:txBody>
                    <a:bodyPr/>
                    <a:lstStyle/>
                    <a:p>
                      <a:pPr marL="0" indent="0" algn="ctr">
                        <a:buNone/>
                      </a:pPr>
                      <a:r>
                        <a:rPr lang="en-US" sz="1100" b="1" dirty="0">
                          <a:solidFill>
                            <a:srgbClr val="7A6000"/>
                          </a:solidFill>
                        </a:rPr>
                        <a:t>→ Rate-sensitive</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extLst>
                  <a:ext uri="{0D108BD9-81ED-4DB2-BD59-A6C34878D82A}">
                    <a16:rowId xmlns:a16="http://schemas.microsoft.com/office/drawing/2014/main" val="10003"/>
                  </a:ext>
                </a:extLst>
              </a:tr>
              <a:tr h="377952">
                <a:tc>
                  <a:txBody>
                    <a:bodyPr/>
                    <a:lstStyle/>
                    <a:p>
                      <a:pPr marL="0" indent="0" algn="l">
                        <a:buNone/>
                      </a:pPr>
                      <a:r>
                        <a:rPr lang="en-US" sz="1100" dirty="0">
                          <a:solidFill>
                            <a:srgbClr val="1A2E3B"/>
                          </a:solidFill>
                        </a:rPr>
                        <a:t>Other Revenue ($M)</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E3B"/>
                          </a:solidFill>
                        </a:rPr>
                        <a:t>$176</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E3B"/>
                          </a:solidFill>
                        </a:rPr>
                        <a:t>$91</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E3B"/>
                          </a:solidFill>
                        </a:rPr>
                        <a:t>$354</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E3B"/>
                          </a:solidFill>
                        </a:rPr>
                        <a:t>$640</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B3A5C"/>
                          </a:solidFill>
                        </a:rPr>
                        <a:t>~$750M+</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2E8B57"/>
                          </a:solidFill>
                        </a:rPr>
                        <a:t>↑ Gold+Strategies</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77952">
                <a:tc>
                  <a:txBody>
                    <a:bodyPr/>
                    <a:lstStyle/>
                    <a:p>
                      <a:pPr marL="0" indent="0" algn="l">
                        <a:buNone/>
                      </a:pPr>
                      <a:r>
                        <a:rPr lang="en-US" sz="1100" dirty="0">
                          <a:solidFill>
                            <a:srgbClr val="1A2E3B"/>
                          </a:solidFill>
                        </a:rPr>
                        <a:t>Net Income ($M)</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tc>
                  <a:txBody>
                    <a:bodyPr/>
                    <a:lstStyle/>
                    <a:p>
                      <a:pPr marL="0" indent="0" algn="ctr">
                        <a:buNone/>
                      </a:pPr>
                      <a:r>
                        <a:rPr lang="en-US" sz="1100" dirty="0">
                          <a:solidFill>
                            <a:srgbClr val="1A2E3B"/>
                          </a:solidFill>
                        </a:rPr>
                        <a:t>−$541</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tc>
                  <a:txBody>
                    <a:bodyPr/>
                    <a:lstStyle/>
                    <a:p>
                      <a:pPr marL="0" indent="0" algn="ctr">
                        <a:buNone/>
                      </a:pPr>
                      <a:r>
                        <a:rPr lang="en-US" sz="1100" dirty="0">
                          <a:solidFill>
                            <a:srgbClr val="1A2E3B"/>
                          </a:solidFill>
                        </a:rPr>
                        <a:t>−$541</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tc>
                  <a:txBody>
                    <a:bodyPr/>
                    <a:lstStyle/>
                    <a:p>
                      <a:pPr marL="0" indent="0" algn="ctr">
                        <a:buNone/>
                      </a:pPr>
                      <a:r>
                        <a:rPr lang="en-US" sz="1100" dirty="0">
                          <a:solidFill>
                            <a:srgbClr val="1A2E3B"/>
                          </a:solidFill>
                        </a:rPr>
                        <a:t>$495</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tc>
                  <a:txBody>
                    <a:bodyPr/>
                    <a:lstStyle/>
                    <a:p>
                      <a:pPr marL="0" indent="0" algn="ctr">
                        <a:buNone/>
                      </a:pPr>
                      <a:r>
                        <a:rPr lang="en-US" sz="1100" dirty="0">
                          <a:solidFill>
                            <a:srgbClr val="1A2E3B"/>
                          </a:solidFill>
                        </a:rPr>
                        <a:t>$1,878</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tc>
                  <a:txBody>
                    <a:bodyPr/>
                    <a:lstStyle/>
                    <a:p>
                      <a:pPr marL="0" indent="0" algn="ctr">
                        <a:buNone/>
                      </a:pPr>
                      <a:r>
                        <a:rPr lang="en-US" sz="1100" b="1" dirty="0">
                          <a:solidFill>
                            <a:srgbClr val="1B3A5C"/>
                          </a:solidFill>
                        </a:rPr>
                        <a:t>~$2,100E</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tc>
                  <a:txBody>
                    <a:bodyPr/>
                    <a:lstStyle/>
                    <a:p>
                      <a:pPr marL="0" indent="0" algn="ctr">
                        <a:buNone/>
                      </a:pPr>
                      <a:r>
                        <a:rPr lang="en-US" sz="1100" b="1" dirty="0">
                          <a:solidFill>
                            <a:srgbClr val="1A7A4A"/>
                          </a:solidFill>
                        </a:rPr>
                        <a:t>↑↑↑ GAAP positive</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extLst>
                  <a:ext uri="{0D108BD9-81ED-4DB2-BD59-A6C34878D82A}">
                    <a16:rowId xmlns:a16="http://schemas.microsoft.com/office/drawing/2014/main" val="10005"/>
                  </a:ext>
                </a:extLst>
              </a:tr>
              <a:tr h="377952">
                <a:tc>
                  <a:txBody>
                    <a:bodyPr/>
                    <a:lstStyle/>
                    <a:p>
                      <a:pPr marL="0" indent="0" algn="l">
                        <a:buNone/>
                      </a:pPr>
                      <a:r>
                        <a:rPr lang="en-US" sz="1100" dirty="0">
                          <a:solidFill>
                            <a:srgbClr val="1A2E3B"/>
                          </a:solidFill>
                        </a:rPr>
                        <a:t>Diluted EPS</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E3B"/>
                          </a:solidFill>
                        </a:rPr>
                        <a:t>−$0.64</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E3B"/>
                          </a:solidFill>
                        </a:rPr>
                        <a:t>−$0.61</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E3B"/>
                          </a:solidFill>
                        </a:rPr>
                        <a:t>$0.54</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E3B"/>
                          </a:solidFill>
                        </a:rPr>
                        <a:t>$2.05</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B3A5C"/>
                          </a:solidFill>
                        </a:rPr>
                        <a:t>~$2.30E</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2E8B57"/>
                          </a:solidFill>
                        </a:rPr>
                        <a:t>↑ Compounding</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77952">
                <a:tc>
                  <a:txBody>
                    <a:bodyPr/>
                    <a:lstStyle/>
                    <a:p>
                      <a:pPr marL="0" indent="0" algn="l">
                        <a:buNone/>
                      </a:pPr>
                      <a:r>
                        <a:rPr lang="en-US" sz="1100" dirty="0">
                          <a:solidFill>
                            <a:srgbClr val="1A2E3B"/>
                          </a:solidFill>
                        </a:rPr>
                        <a:t>Net Margin %</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tc>
                  <a:txBody>
                    <a:bodyPr/>
                    <a:lstStyle/>
                    <a:p>
                      <a:pPr marL="0" indent="0" algn="ctr">
                        <a:buNone/>
                      </a:pPr>
                      <a:r>
                        <a:rPr lang="en-US" sz="1100" dirty="0">
                          <a:solidFill>
                            <a:srgbClr val="1A2E3B"/>
                          </a:solidFill>
                        </a:rPr>
                        <a:t>neg</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tc>
                  <a:txBody>
                    <a:bodyPr/>
                    <a:lstStyle/>
                    <a:p>
                      <a:pPr marL="0" indent="0" algn="ctr">
                        <a:buNone/>
                      </a:pPr>
                      <a:r>
                        <a:rPr lang="en-US" sz="1100" dirty="0">
                          <a:solidFill>
                            <a:srgbClr val="1A2E3B"/>
                          </a:solidFill>
                        </a:rPr>
                        <a:t>neg</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tc>
                  <a:txBody>
                    <a:bodyPr/>
                    <a:lstStyle/>
                    <a:p>
                      <a:pPr marL="0" indent="0" algn="ctr">
                        <a:buNone/>
                      </a:pPr>
                      <a:r>
                        <a:rPr lang="en-US" sz="1100" dirty="0">
                          <a:solidFill>
                            <a:srgbClr val="1A2E3B"/>
                          </a:solidFill>
                        </a:rPr>
                        <a:t>16.8%</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tc>
                  <a:txBody>
                    <a:bodyPr/>
                    <a:lstStyle/>
                    <a:p>
                      <a:pPr marL="0" indent="0" algn="ctr">
                        <a:buNone/>
                      </a:pPr>
                      <a:r>
                        <a:rPr lang="en-US" sz="1100" dirty="0">
                          <a:solidFill>
                            <a:srgbClr val="1A2E3B"/>
                          </a:solidFill>
                        </a:rPr>
                        <a:t>41.1%</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tc>
                  <a:txBody>
                    <a:bodyPr/>
                    <a:lstStyle/>
                    <a:p>
                      <a:pPr marL="0" indent="0" algn="ctr">
                        <a:buNone/>
                      </a:pPr>
                      <a:r>
                        <a:rPr lang="en-US" sz="1100" b="1" dirty="0">
                          <a:solidFill>
                            <a:srgbClr val="1B3A5C"/>
                          </a:solidFill>
                        </a:rPr>
                        <a:t>~40%E</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tc>
                  <a:txBody>
                    <a:bodyPr/>
                    <a:lstStyle/>
                    <a:p>
                      <a:pPr marL="0" indent="0" algn="ctr">
                        <a:buNone/>
                      </a:pPr>
                      <a:r>
                        <a:rPr lang="en-US" sz="1100" b="1" dirty="0">
                          <a:solidFill>
                            <a:srgbClr val="2E8B57"/>
                          </a:solidFill>
                        </a:rPr>
                        <a:t>↑ Expanding fast</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extLst>
                  <a:ext uri="{0D108BD9-81ED-4DB2-BD59-A6C34878D82A}">
                    <a16:rowId xmlns:a16="http://schemas.microsoft.com/office/drawing/2014/main" val="10007"/>
                  </a:ext>
                </a:extLst>
              </a:tr>
              <a:tr h="377952">
                <a:tc>
                  <a:txBody>
                    <a:bodyPr/>
                    <a:lstStyle/>
                    <a:p>
                      <a:pPr marL="0" indent="0" algn="l">
                        <a:buNone/>
                      </a:pPr>
                      <a:r>
                        <a:rPr lang="en-US" sz="1100" dirty="0">
                          <a:solidFill>
                            <a:srgbClr val="1A2E3B"/>
                          </a:solidFill>
                        </a:rPr>
                        <a:t>Adj. EBITDA ($M)</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E3B"/>
                          </a:solidFill>
                        </a:rPr>
                        <a:t>$128</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E3B"/>
                          </a:solidFill>
                        </a:rPr>
                        <a:t>$571</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E3B"/>
                          </a:solidFill>
                        </a:rPr>
                        <a:t>$1,381</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E3B"/>
                          </a:solidFill>
                        </a:rPr>
                        <a:t>$2,190</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B3A5C"/>
                          </a:solidFill>
                        </a:rPr>
                        <a:t>~$2,500E</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2E8B57"/>
                          </a:solidFill>
                        </a:rPr>
                        <a:t>↑ Margin leverage</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77952">
                <a:tc>
                  <a:txBody>
                    <a:bodyPr/>
                    <a:lstStyle/>
                    <a:p>
                      <a:pPr marL="0" indent="0" algn="l">
                        <a:buNone/>
                      </a:pPr>
                      <a:r>
                        <a:rPr lang="en-US" sz="1100" dirty="0">
                          <a:solidFill>
                            <a:srgbClr val="1A2E3B"/>
                          </a:solidFill>
                        </a:rPr>
                        <a:t>Gold Subscribers (M)</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tc>
                  <a:txBody>
                    <a:bodyPr/>
                    <a:lstStyle/>
                    <a:p>
                      <a:pPr marL="0" indent="0" algn="ctr">
                        <a:buNone/>
                      </a:pPr>
                      <a:r>
                        <a:rPr lang="en-US" sz="1100" dirty="0">
                          <a:solidFill>
                            <a:srgbClr val="1A2E3B"/>
                          </a:solidFill>
                        </a:rPr>
                        <a:t>1.0</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tc>
                  <a:txBody>
                    <a:bodyPr/>
                    <a:lstStyle/>
                    <a:p>
                      <a:pPr marL="0" indent="0" algn="ctr">
                        <a:buNone/>
                      </a:pPr>
                      <a:r>
                        <a:rPr lang="en-US" sz="1100" dirty="0">
                          <a:solidFill>
                            <a:srgbClr val="1A2E3B"/>
                          </a:solidFill>
                        </a:rPr>
                        <a:t>1.5</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tc>
                  <a:txBody>
                    <a:bodyPr/>
                    <a:lstStyle/>
                    <a:p>
                      <a:pPr marL="0" indent="0" algn="ctr">
                        <a:buNone/>
                      </a:pPr>
                      <a:r>
                        <a:rPr lang="en-US" sz="1100" dirty="0">
                          <a:solidFill>
                            <a:srgbClr val="1A2E3B"/>
                          </a:solidFill>
                        </a:rPr>
                        <a:t>2.3</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tc>
                  <a:txBody>
                    <a:bodyPr/>
                    <a:lstStyle/>
                    <a:p>
                      <a:pPr marL="0" indent="0" algn="ctr">
                        <a:buNone/>
                      </a:pPr>
                      <a:r>
                        <a:rPr lang="en-US" sz="1100" dirty="0">
                          <a:solidFill>
                            <a:srgbClr val="1A2E3B"/>
                          </a:solidFill>
                        </a:rPr>
                        <a:t>4.2</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tc>
                  <a:txBody>
                    <a:bodyPr/>
                    <a:lstStyle/>
                    <a:p>
                      <a:pPr marL="0" indent="0" algn="ctr">
                        <a:buNone/>
                      </a:pPr>
                      <a:r>
                        <a:rPr lang="en-US" sz="1100" b="1" dirty="0">
                          <a:solidFill>
                            <a:srgbClr val="1B3A5C"/>
                          </a:solidFill>
                        </a:rPr>
                        <a:t>~5.5ME</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tc>
                  <a:txBody>
                    <a:bodyPr/>
                    <a:lstStyle/>
                    <a:p>
                      <a:pPr marL="0" indent="0" algn="ctr">
                        <a:buNone/>
                      </a:pPr>
                      <a:r>
                        <a:rPr lang="en-US" sz="1100" b="1" dirty="0">
                          <a:solidFill>
                            <a:srgbClr val="1E6B4A"/>
                          </a:solidFill>
                        </a:rPr>
                        <a:t>↑↑ Key metric</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0F7F4"/>
                    </a:solidFill>
                  </a:tcPr>
                </a:tc>
                <a:extLst>
                  <a:ext uri="{0D108BD9-81ED-4DB2-BD59-A6C34878D82A}">
                    <a16:rowId xmlns:a16="http://schemas.microsoft.com/office/drawing/2014/main" val="10009"/>
                  </a:ext>
                </a:extLst>
              </a:tr>
              <a:tr h="377952">
                <a:tc>
                  <a:txBody>
                    <a:bodyPr/>
                    <a:lstStyle/>
                    <a:p>
                      <a:pPr marL="0" indent="0" algn="l">
                        <a:buNone/>
                      </a:pPr>
                      <a:r>
                        <a:rPr lang="en-US" sz="1100" dirty="0">
                          <a:solidFill>
                            <a:srgbClr val="1A2E3B"/>
                          </a:solidFill>
                        </a:rPr>
                        <a:t>Platform Assets ($B)</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E3B"/>
                          </a:solidFill>
                        </a:rPr>
                        <a:t>$62</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E3B"/>
                          </a:solidFill>
                        </a:rPr>
                        <a:t>$87</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E3B"/>
                          </a:solidFill>
                        </a:rPr>
                        <a:t>$152</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E3B"/>
                          </a:solidFill>
                        </a:rPr>
                        <a:t>$218</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B3A5C"/>
                          </a:solidFill>
                        </a:rPr>
                        <a:t>~$340B+</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E6B4A"/>
                          </a:solidFill>
                        </a:rPr>
                        <a:t>↑↑ Net Deposits</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31" name="Text 28"/>
          <p:cNvSpPr/>
          <p:nvPr/>
        </p:nvSpPr>
        <p:spPr>
          <a:xfrm>
            <a:off x="268224" y="6437376"/>
            <a:ext cx="11704320" cy="268224"/>
          </a:xfrm>
          <a:prstGeom prst="rect">
            <a:avLst/>
          </a:prstGeom>
          <a:noFill/>
          <a:ln/>
        </p:spPr>
        <p:txBody>
          <a:bodyPr wrap="square" lIns="0" tIns="0" rIns="0" bIns="0" rtlCol="0" anchor="ctr"/>
          <a:lstStyle/>
          <a:p>
            <a:r>
              <a:rPr lang="en-US" sz="1000" i="1" dirty="0">
                <a:solidFill>
                  <a:srgbClr val="5A7A8A"/>
                </a:solidFill>
              </a:rPr>
              <a:t>Sources: SEC 10-K FY2022–2025, Q1 2026 Earnings Release (Apr 28 2026), Bloomberg, StockAnalysis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036320"/>
          </a:xfrm>
          <a:prstGeom prst="rect">
            <a:avLst/>
          </a:prstGeom>
          <a:solidFill>
            <a:srgbClr val="0B1D0E"/>
          </a:solidFill>
          <a:ln w="12700">
            <a:solidFill>
              <a:srgbClr val="0B1D0E"/>
            </a:solidFill>
            <a:prstDash val="solid"/>
          </a:ln>
        </p:spPr>
      </p:sp>
      <p:sp>
        <p:nvSpPr>
          <p:cNvPr id="3" name="Text 1"/>
          <p:cNvSpPr/>
          <p:nvPr/>
        </p:nvSpPr>
        <p:spPr>
          <a:xfrm>
            <a:off x="487680" y="73152"/>
            <a:ext cx="10972800" cy="365760"/>
          </a:xfrm>
          <a:prstGeom prst="rect">
            <a:avLst/>
          </a:prstGeom>
          <a:noFill/>
          <a:ln/>
        </p:spPr>
        <p:txBody>
          <a:bodyPr wrap="square" lIns="0" tIns="0" rIns="0" bIns="0" rtlCol="0" anchor="ctr"/>
          <a:lstStyle/>
          <a:p>
            <a:r>
              <a:rPr lang="en-US" sz="1467" b="1" kern="0" spc="133" dirty="0">
                <a:solidFill>
                  <a:srgbClr val="00C805"/>
                </a:solidFill>
                <a:latin typeface="Calibri" pitchFamily="34" charset="0"/>
                <a:ea typeface="Calibri" pitchFamily="34" charset="-122"/>
                <a:cs typeface="Calibri" pitchFamily="34" charset="-120"/>
              </a:rPr>
              <a:t>SECTION 4: PRODUCT ROADMAP &amp; PLATFORM EXPANSION</a:t>
            </a:r>
            <a:endParaRPr lang="en-US" sz="1467" dirty="0"/>
          </a:p>
        </p:txBody>
      </p:sp>
      <p:sp>
        <p:nvSpPr>
          <p:cNvPr id="4" name="Text 2"/>
          <p:cNvSpPr/>
          <p:nvPr/>
        </p:nvSpPr>
        <p:spPr>
          <a:xfrm>
            <a:off x="487680" y="536448"/>
            <a:ext cx="10972800" cy="316992"/>
          </a:xfrm>
          <a:prstGeom prst="rect">
            <a:avLst/>
          </a:prstGeom>
          <a:noFill/>
          <a:ln/>
        </p:spPr>
        <p:txBody>
          <a:bodyPr wrap="square" lIns="0" tIns="0" rIns="0" bIns="0" rtlCol="0" anchor="ctr"/>
          <a:lstStyle/>
          <a:p>
            <a:r>
              <a:rPr lang="en-US" sz="1467" i="1" dirty="0">
                <a:solidFill>
                  <a:srgbClr val="FFFFFF"/>
                </a:solidFill>
                <a:latin typeface="Calibri" pitchFamily="34" charset="0"/>
                <a:ea typeface="Calibri" pitchFamily="34" charset="-122"/>
                <a:cs typeface="Calibri" pitchFamily="34" charset="-120"/>
              </a:rPr>
              <a:t>From brokerage to full-stack financial super-app — the monetization roadmap</a:t>
            </a:r>
            <a:endParaRPr lang="en-US" sz="1467" dirty="0"/>
          </a:p>
        </p:txBody>
      </p:sp>
      <p:sp>
        <p:nvSpPr>
          <p:cNvPr id="5" name="Shape 3"/>
          <p:cNvSpPr/>
          <p:nvPr/>
        </p:nvSpPr>
        <p:spPr>
          <a:xfrm>
            <a:off x="365760" y="1158240"/>
            <a:ext cx="5608320" cy="999744"/>
          </a:xfrm>
          <a:prstGeom prst="rect">
            <a:avLst/>
          </a:prstGeom>
          <a:solidFill>
            <a:srgbClr val="FFFFFF"/>
          </a:solidFill>
          <a:ln w="6350">
            <a:solidFill>
              <a:srgbClr val="E8F0E9"/>
            </a:solidFill>
            <a:prstDash val="solid"/>
          </a:ln>
          <a:effectLst>
            <a:outerShdw blurRad="63500" dist="25400" dir="8100000" algn="bl" rotWithShape="0">
              <a:srgbClr val="000000">
                <a:alpha val="8000"/>
              </a:srgbClr>
            </a:outerShdw>
          </a:effectLst>
        </p:spPr>
      </p:sp>
      <p:sp>
        <p:nvSpPr>
          <p:cNvPr id="6" name="Shape 4"/>
          <p:cNvSpPr/>
          <p:nvPr/>
        </p:nvSpPr>
        <p:spPr>
          <a:xfrm>
            <a:off x="365760" y="1158240"/>
            <a:ext cx="73152" cy="999744"/>
          </a:xfrm>
          <a:prstGeom prst="rect">
            <a:avLst/>
          </a:prstGeom>
          <a:solidFill>
            <a:srgbClr val="1B7A3E"/>
          </a:solidFill>
          <a:ln w="12700">
            <a:solidFill>
              <a:srgbClr val="1B7A3E"/>
            </a:solidFill>
            <a:prstDash val="solid"/>
          </a:ln>
        </p:spPr>
      </p:sp>
      <p:sp>
        <p:nvSpPr>
          <p:cNvPr id="7" name="Shape 5"/>
          <p:cNvSpPr/>
          <p:nvPr/>
        </p:nvSpPr>
        <p:spPr>
          <a:xfrm>
            <a:off x="4754880" y="1255776"/>
            <a:ext cx="1121664" cy="292608"/>
          </a:xfrm>
          <a:prstGeom prst="rect">
            <a:avLst/>
          </a:prstGeom>
          <a:solidFill>
            <a:srgbClr val="1B7A3E"/>
          </a:solidFill>
          <a:ln w="12700">
            <a:solidFill>
              <a:srgbClr val="1B7A3E"/>
            </a:solidFill>
            <a:prstDash val="solid"/>
          </a:ln>
        </p:spPr>
      </p:sp>
      <p:sp>
        <p:nvSpPr>
          <p:cNvPr id="8" name="Text 6"/>
          <p:cNvSpPr/>
          <p:nvPr/>
        </p:nvSpPr>
        <p:spPr>
          <a:xfrm>
            <a:off x="4754880" y="1255776"/>
            <a:ext cx="1121664" cy="292608"/>
          </a:xfrm>
          <a:prstGeom prst="rect">
            <a:avLst/>
          </a:prstGeom>
          <a:noFill/>
          <a:ln/>
        </p:spPr>
        <p:txBody>
          <a:bodyPr wrap="square" lIns="33867" tIns="33867" rIns="33867" bIns="33867" rtlCol="0" anchor="ctr"/>
          <a:lstStyle/>
          <a:p>
            <a:pPr algn="ctr"/>
            <a:r>
              <a:rPr lang="en-US" sz="933" b="1" dirty="0">
                <a:solidFill>
                  <a:srgbClr val="FFFFFF"/>
                </a:solidFill>
                <a:latin typeface="Calibri" pitchFamily="34" charset="0"/>
                <a:ea typeface="Calibri" pitchFamily="34" charset="-122"/>
                <a:cs typeface="Calibri" pitchFamily="34" charset="-120"/>
              </a:rPr>
              <a:t>LIVE</a:t>
            </a:r>
            <a:endParaRPr lang="en-US" sz="933" dirty="0"/>
          </a:p>
        </p:txBody>
      </p:sp>
      <p:sp>
        <p:nvSpPr>
          <p:cNvPr id="9" name="Text 7"/>
          <p:cNvSpPr/>
          <p:nvPr/>
        </p:nvSpPr>
        <p:spPr>
          <a:xfrm>
            <a:off x="548640" y="1219200"/>
            <a:ext cx="4145280" cy="341376"/>
          </a:xfrm>
          <a:prstGeom prst="rect">
            <a:avLst/>
          </a:prstGeom>
          <a:noFill/>
          <a:ln/>
        </p:spPr>
        <p:txBody>
          <a:bodyPr wrap="square" lIns="33867" tIns="33867" rIns="33867" bIns="33867" rtlCol="0" anchor="ctr"/>
          <a:lstStyle/>
          <a:p>
            <a:r>
              <a:rPr lang="en-US" sz="1467" b="1" dirty="0">
                <a:solidFill>
                  <a:srgbClr val="0B1D0E"/>
                </a:solidFill>
                <a:latin typeface="Calibri" pitchFamily="34" charset="0"/>
                <a:ea typeface="Calibri" pitchFamily="34" charset="-122"/>
                <a:cs typeface="Calibri" pitchFamily="34" charset="-120"/>
              </a:rPr>
              <a:t>Prediction Markets</a:t>
            </a:r>
            <a:endParaRPr lang="en-US" sz="1467" dirty="0"/>
          </a:p>
        </p:txBody>
      </p:sp>
      <p:sp>
        <p:nvSpPr>
          <p:cNvPr id="10" name="Text 8"/>
          <p:cNvSpPr/>
          <p:nvPr/>
        </p:nvSpPr>
        <p:spPr>
          <a:xfrm>
            <a:off x="548640" y="1560576"/>
            <a:ext cx="5303520" cy="548640"/>
          </a:xfrm>
          <a:prstGeom prst="rect">
            <a:avLst/>
          </a:prstGeom>
          <a:noFill/>
          <a:ln/>
        </p:spPr>
        <p:txBody>
          <a:bodyPr wrap="square" lIns="33867" tIns="33867" rIns="33867" bIns="33867" rtlCol="0" anchor="ctr"/>
          <a:lstStyle/>
          <a:p>
            <a:r>
              <a:rPr lang="en-US" sz="1200" dirty="0">
                <a:solidFill>
                  <a:srgbClr val="1A2A1D"/>
                </a:solidFill>
                <a:latin typeface="Calibri" pitchFamily="34" charset="0"/>
                <a:ea typeface="Calibri" pitchFamily="34" charset="-122"/>
                <a:cs typeface="Calibri" pitchFamily="34" charset="-120"/>
              </a:rPr>
              <a:t>Event contracts on elections, sports, macro events — early mover advantage; CFTC-regulated space. Launched 2024. Monthly volume growing.</a:t>
            </a:r>
            <a:endParaRPr lang="en-US" sz="1200" dirty="0"/>
          </a:p>
        </p:txBody>
      </p:sp>
      <p:sp>
        <p:nvSpPr>
          <p:cNvPr id="11" name="Shape 9"/>
          <p:cNvSpPr/>
          <p:nvPr/>
        </p:nvSpPr>
        <p:spPr>
          <a:xfrm>
            <a:off x="6217920" y="1158240"/>
            <a:ext cx="5608320" cy="999744"/>
          </a:xfrm>
          <a:prstGeom prst="rect">
            <a:avLst/>
          </a:prstGeom>
          <a:solidFill>
            <a:srgbClr val="FFFFFF"/>
          </a:solidFill>
          <a:ln w="6350">
            <a:solidFill>
              <a:srgbClr val="E8F0E9"/>
            </a:solidFill>
            <a:prstDash val="solid"/>
          </a:ln>
          <a:effectLst>
            <a:outerShdw blurRad="63500" dist="25400" dir="8100000" algn="bl" rotWithShape="0">
              <a:srgbClr val="000000">
                <a:alpha val="8000"/>
              </a:srgbClr>
            </a:outerShdw>
          </a:effectLst>
        </p:spPr>
      </p:sp>
      <p:sp>
        <p:nvSpPr>
          <p:cNvPr id="12" name="Shape 10"/>
          <p:cNvSpPr/>
          <p:nvPr/>
        </p:nvSpPr>
        <p:spPr>
          <a:xfrm>
            <a:off x="6217920" y="1158240"/>
            <a:ext cx="73152" cy="999744"/>
          </a:xfrm>
          <a:prstGeom prst="rect">
            <a:avLst/>
          </a:prstGeom>
          <a:solidFill>
            <a:srgbClr val="1B7A3E"/>
          </a:solidFill>
          <a:ln w="12700">
            <a:solidFill>
              <a:srgbClr val="1B7A3E"/>
            </a:solidFill>
            <a:prstDash val="solid"/>
          </a:ln>
        </p:spPr>
      </p:sp>
      <p:sp>
        <p:nvSpPr>
          <p:cNvPr id="13" name="Shape 11"/>
          <p:cNvSpPr/>
          <p:nvPr/>
        </p:nvSpPr>
        <p:spPr>
          <a:xfrm>
            <a:off x="10607040" y="1255776"/>
            <a:ext cx="1121664" cy="292608"/>
          </a:xfrm>
          <a:prstGeom prst="rect">
            <a:avLst/>
          </a:prstGeom>
          <a:solidFill>
            <a:srgbClr val="1B7A3E"/>
          </a:solidFill>
          <a:ln w="12700">
            <a:solidFill>
              <a:srgbClr val="1B7A3E"/>
            </a:solidFill>
            <a:prstDash val="solid"/>
          </a:ln>
        </p:spPr>
      </p:sp>
      <p:sp>
        <p:nvSpPr>
          <p:cNvPr id="14" name="Text 12"/>
          <p:cNvSpPr/>
          <p:nvPr/>
        </p:nvSpPr>
        <p:spPr>
          <a:xfrm>
            <a:off x="10607040" y="1255776"/>
            <a:ext cx="1121664" cy="292608"/>
          </a:xfrm>
          <a:prstGeom prst="rect">
            <a:avLst/>
          </a:prstGeom>
          <a:noFill/>
          <a:ln/>
        </p:spPr>
        <p:txBody>
          <a:bodyPr wrap="square" lIns="33867" tIns="33867" rIns="33867" bIns="33867" rtlCol="0" anchor="ctr"/>
          <a:lstStyle/>
          <a:p>
            <a:pPr algn="ctr"/>
            <a:r>
              <a:rPr lang="en-US" sz="933" b="1" dirty="0">
                <a:solidFill>
                  <a:srgbClr val="FFFFFF"/>
                </a:solidFill>
                <a:latin typeface="Calibri" pitchFamily="34" charset="0"/>
                <a:ea typeface="Calibri" pitchFamily="34" charset="-122"/>
                <a:cs typeface="Calibri" pitchFamily="34" charset="-120"/>
              </a:rPr>
              <a:t>LIVE</a:t>
            </a:r>
            <a:endParaRPr lang="en-US" sz="933" dirty="0"/>
          </a:p>
        </p:txBody>
      </p:sp>
      <p:sp>
        <p:nvSpPr>
          <p:cNvPr id="15" name="Text 13"/>
          <p:cNvSpPr/>
          <p:nvPr/>
        </p:nvSpPr>
        <p:spPr>
          <a:xfrm>
            <a:off x="6400800" y="1219200"/>
            <a:ext cx="4145280" cy="341376"/>
          </a:xfrm>
          <a:prstGeom prst="rect">
            <a:avLst/>
          </a:prstGeom>
          <a:noFill/>
          <a:ln/>
        </p:spPr>
        <p:txBody>
          <a:bodyPr wrap="square" lIns="33867" tIns="33867" rIns="33867" bIns="33867" rtlCol="0" anchor="ctr"/>
          <a:lstStyle/>
          <a:p>
            <a:r>
              <a:rPr lang="en-US" sz="1467" b="1" dirty="0">
                <a:solidFill>
                  <a:srgbClr val="0B1D0E"/>
                </a:solidFill>
                <a:latin typeface="Calibri" pitchFamily="34" charset="0"/>
                <a:ea typeface="Calibri" pitchFamily="34" charset="-122"/>
                <a:cs typeface="Calibri" pitchFamily="34" charset="-120"/>
              </a:rPr>
              <a:t>Robinhood Gold Card</a:t>
            </a:r>
            <a:endParaRPr lang="en-US" sz="1467" dirty="0"/>
          </a:p>
        </p:txBody>
      </p:sp>
      <p:sp>
        <p:nvSpPr>
          <p:cNvPr id="16" name="Text 14"/>
          <p:cNvSpPr/>
          <p:nvPr/>
        </p:nvSpPr>
        <p:spPr>
          <a:xfrm>
            <a:off x="6400800" y="1560576"/>
            <a:ext cx="5303520" cy="548640"/>
          </a:xfrm>
          <a:prstGeom prst="rect">
            <a:avLst/>
          </a:prstGeom>
          <a:noFill/>
          <a:ln/>
        </p:spPr>
        <p:txBody>
          <a:bodyPr wrap="square" lIns="33867" tIns="33867" rIns="33867" bIns="33867" rtlCol="0" anchor="ctr"/>
          <a:lstStyle/>
          <a:p>
            <a:r>
              <a:rPr lang="en-US" sz="1200" dirty="0">
                <a:solidFill>
                  <a:srgbClr val="1A2A1D"/>
                </a:solidFill>
                <a:latin typeface="Calibri" pitchFamily="34" charset="0"/>
                <a:ea typeface="Calibri" pitchFamily="34" charset="-122"/>
                <a:cs typeface="Calibri" pitchFamily="34" charset="-120"/>
              </a:rPr>
              <a:t>3% unlimited cash back on all purchases. No annual fee for Gold members. 55K+ waitlist at launch. Banking product deepens platform stickiness.</a:t>
            </a:r>
            <a:endParaRPr lang="en-US" sz="1200" dirty="0"/>
          </a:p>
        </p:txBody>
      </p:sp>
      <p:sp>
        <p:nvSpPr>
          <p:cNvPr id="17" name="Shape 15"/>
          <p:cNvSpPr/>
          <p:nvPr/>
        </p:nvSpPr>
        <p:spPr>
          <a:xfrm>
            <a:off x="365760" y="2279904"/>
            <a:ext cx="5608320" cy="999744"/>
          </a:xfrm>
          <a:prstGeom prst="rect">
            <a:avLst/>
          </a:prstGeom>
          <a:solidFill>
            <a:srgbClr val="FFFFFF"/>
          </a:solidFill>
          <a:ln w="6350">
            <a:solidFill>
              <a:srgbClr val="E8F0E9"/>
            </a:solidFill>
            <a:prstDash val="solid"/>
          </a:ln>
          <a:effectLst>
            <a:outerShdw blurRad="63500" dist="25400" dir="8100000" algn="bl" rotWithShape="0">
              <a:srgbClr val="000000">
                <a:alpha val="8000"/>
              </a:srgbClr>
            </a:outerShdw>
          </a:effectLst>
        </p:spPr>
      </p:sp>
      <p:sp>
        <p:nvSpPr>
          <p:cNvPr id="18" name="Shape 16"/>
          <p:cNvSpPr/>
          <p:nvPr/>
        </p:nvSpPr>
        <p:spPr>
          <a:xfrm>
            <a:off x="365760" y="2279904"/>
            <a:ext cx="73152" cy="999744"/>
          </a:xfrm>
          <a:prstGeom prst="rect">
            <a:avLst/>
          </a:prstGeom>
          <a:solidFill>
            <a:srgbClr val="1B7A3E"/>
          </a:solidFill>
          <a:ln w="12700">
            <a:solidFill>
              <a:srgbClr val="1B7A3E"/>
            </a:solidFill>
            <a:prstDash val="solid"/>
          </a:ln>
        </p:spPr>
      </p:sp>
      <p:sp>
        <p:nvSpPr>
          <p:cNvPr id="19" name="Shape 17"/>
          <p:cNvSpPr/>
          <p:nvPr/>
        </p:nvSpPr>
        <p:spPr>
          <a:xfrm>
            <a:off x="4754880" y="2377440"/>
            <a:ext cx="1121664" cy="292608"/>
          </a:xfrm>
          <a:prstGeom prst="rect">
            <a:avLst/>
          </a:prstGeom>
          <a:solidFill>
            <a:srgbClr val="1B7A3E"/>
          </a:solidFill>
          <a:ln w="12700">
            <a:solidFill>
              <a:srgbClr val="1B7A3E"/>
            </a:solidFill>
            <a:prstDash val="solid"/>
          </a:ln>
        </p:spPr>
      </p:sp>
      <p:sp>
        <p:nvSpPr>
          <p:cNvPr id="20" name="Text 18"/>
          <p:cNvSpPr/>
          <p:nvPr/>
        </p:nvSpPr>
        <p:spPr>
          <a:xfrm>
            <a:off x="4754880" y="2377440"/>
            <a:ext cx="1121664" cy="292608"/>
          </a:xfrm>
          <a:prstGeom prst="rect">
            <a:avLst/>
          </a:prstGeom>
          <a:noFill/>
          <a:ln/>
        </p:spPr>
        <p:txBody>
          <a:bodyPr wrap="square" lIns="33867" tIns="33867" rIns="33867" bIns="33867" rtlCol="0" anchor="ctr"/>
          <a:lstStyle/>
          <a:p>
            <a:pPr algn="ctr"/>
            <a:r>
              <a:rPr lang="en-US" sz="933" b="1" dirty="0">
                <a:solidFill>
                  <a:srgbClr val="FFFFFF"/>
                </a:solidFill>
                <a:latin typeface="Calibri" pitchFamily="34" charset="0"/>
                <a:ea typeface="Calibri" pitchFamily="34" charset="-122"/>
                <a:cs typeface="Calibri" pitchFamily="34" charset="-120"/>
              </a:rPr>
              <a:t>LIVE</a:t>
            </a:r>
            <a:endParaRPr lang="en-US" sz="933" dirty="0"/>
          </a:p>
        </p:txBody>
      </p:sp>
      <p:sp>
        <p:nvSpPr>
          <p:cNvPr id="21" name="Text 19"/>
          <p:cNvSpPr/>
          <p:nvPr/>
        </p:nvSpPr>
        <p:spPr>
          <a:xfrm>
            <a:off x="548640" y="2340864"/>
            <a:ext cx="4145280" cy="341376"/>
          </a:xfrm>
          <a:prstGeom prst="rect">
            <a:avLst/>
          </a:prstGeom>
          <a:noFill/>
          <a:ln/>
        </p:spPr>
        <p:txBody>
          <a:bodyPr wrap="square" lIns="33867" tIns="33867" rIns="33867" bIns="33867" rtlCol="0" anchor="ctr"/>
          <a:lstStyle/>
          <a:p>
            <a:r>
              <a:rPr lang="en-US" sz="1467" b="1" dirty="0">
                <a:solidFill>
                  <a:srgbClr val="0B1D0E"/>
                </a:solidFill>
                <a:latin typeface="Calibri" pitchFamily="34" charset="0"/>
                <a:ea typeface="Calibri" pitchFamily="34" charset="-122"/>
                <a:cs typeface="Calibri" pitchFamily="34" charset="-120"/>
              </a:rPr>
              <a:t>Retirement / IRA Accounts</a:t>
            </a:r>
            <a:endParaRPr lang="en-US" sz="1467" dirty="0"/>
          </a:p>
        </p:txBody>
      </p:sp>
      <p:sp>
        <p:nvSpPr>
          <p:cNvPr id="22" name="Text 20"/>
          <p:cNvSpPr/>
          <p:nvPr/>
        </p:nvSpPr>
        <p:spPr>
          <a:xfrm>
            <a:off x="548640" y="2682240"/>
            <a:ext cx="5303520" cy="548640"/>
          </a:xfrm>
          <a:prstGeom prst="rect">
            <a:avLst/>
          </a:prstGeom>
          <a:noFill/>
          <a:ln/>
        </p:spPr>
        <p:txBody>
          <a:bodyPr wrap="square" lIns="33867" tIns="33867" rIns="33867" bIns="33867" rtlCol="0" anchor="ctr"/>
          <a:lstStyle/>
          <a:p>
            <a:r>
              <a:rPr lang="en-US" sz="1200" dirty="0">
                <a:solidFill>
                  <a:srgbClr val="1A2A1D"/>
                </a:solidFill>
                <a:latin typeface="Calibri" pitchFamily="34" charset="0"/>
                <a:ea typeface="Calibri" pitchFamily="34" charset="-122"/>
                <a:cs typeface="Calibri" pitchFamily="34" charset="-120"/>
              </a:rPr>
              <a:t>Roth IRA + Traditional IRA launched 2023. 1% match on IRA contributions. Positions Robinhood as long-term wealth platform vs pure trading app.</a:t>
            </a:r>
            <a:endParaRPr lang="en-US" sz="1200" dirty="0"/>
          </a:p>
        </p:txBody>
      </p:sp>
      <p:sp>
        <p:nvSpPr>
          <p:cNvPr id="23" name="Shape 21"/>
          <p:cNvSpPr/>
          <p:nvPr/>
        </p:nvSpPr>
        <p:spPr>
          <a:xfrm>
            <a:off x="6217920" y="2279904"/>
            <a:ext cx="5608320" cy="999744"/>
          </a:xfrm>
          <a:prstGeom prst="rect">
            <a:avLst/>
          </a:prstGeom>
          <a:solidFill>
            <a:srgbClr val="FFFFFF"/>
          </a:solidFill>
          <a:ln w="6350">
            <a:solidFill>
              <a:srgbClr val="E8F0E9"/>
            </a:solidFill>
            <a:prstDash val="solid"/>
          </a:ln>
          <a:effectLst>
            <a:outerShdw blurRad="63500" dist="25400" dir="8100000" algn="bl" rotWithShape="0">
              <a:srgbClr val="000000">
                <a:alpha val="8000"/>
              </a:srgbClr>
            </a:outerShdw>
          </a:effectLst>
        </p:spPr>
      </p:sp>
      <p:sp>
        <p:nvSpPr>
          <p:cNvPr id="24" name="Shape 22"/>
          <p:cNvSpPr/>
          <p:nvPr/>
        </p:nvSpPr>
        <p:spPr>
          <a:xfrm>
            <a:off x="6217920" y="2279904"/>
            <a:ext cx="73152" cy="999744"/>
          </a:xfrm>
          <a:prstGeom prst="rect">
            <a:avLst/>
          </a:prstGeom>
          <a:solidFill>
            <a:srgbClr val="1B7A3E"/>
          </a:solidFill>
          <a:ln w="12700">
            <a:solidFill>
              <a:srgbClr val="1B7A3E"/>
            </a:solidFill>
            <a:prstDash val="solid"/>
          </a:ln>
        </p:spPr>
      </p:sp>
      <p:sp>
        <p:nvSpPr>
          <p:cNvPr id="25" name="Shape 23"/>
          <p:cNvSpPr/>
          <p:nvPr/>
        </p:nvSpPr>
        <p:spPr>
          <a:xfrm>
            <a:off x="10607040" y="2377440"/>
            <a:ext cx="1121664" cy="292608"/>
          </a:xfrm>
          <a:prstGeom prst="rect">
            <a:avLst/>
          </a:prstGeom>
          <a:solidFill>
            <a:srgbClr val="1B7A3E"/>
          </a:solidFill>
          <a:ln w="12700">
            <a:solidFill>
              <a:srgbClr val="1B7A3E"/>
            </a:solidFill>
            <a:prstDash val="solid"/>
          </a:ln>
        </p:spPr>
      </p:sp>
      <p:sp>
        <p:nvSpPr>
          <p:cNvPr id="26" name="Text 24"/>
          <p:cNvSpPr/>
          <p:nvPr/>
        </p:nvSpPr>
        <p:spPr>
          <a:xfrm>
            <a:off x="10607040" y="2377440"/>
            <a:ext cx="1121664" cy="292608"/>
          </a:xfrm>
          <a:prstGeom prst="rect">
            <a:avLst/>
          </a:prstGeom>
          <a:noFill/>
          <a:ln/>
        </p:spPr>
        <p:txBody>
          <a:bodyPr wrap="square" lIns="33867" tIns="33867" rIns="33867" bIns="33867" rtlCol="0" anchor="ctr"/>
          <a:lstStyle/>
          <a:p>
            <a:pPr algn="ctr"/>
            <a:r>
              <a:rPr lang="en-US" sz="933" b="1" dirty="0">
                <a:solidFill>
                  <a:srgbClr val="FFFFFF"/>
                </a:solidFill>
                <a:latin typeface="Calibri" pitchFamily="34" charset="0"/>
                <a:ea typeface="Calibri" pitchFamily="34" charset="-122"/>
                <a:cs typeface="Calibri" pitchFamily="34" charset="-120"/>
              </a:rPr>
              <a:t>LIVE</a:t>
            </a:r>
            <a:endParaRPr lang="en-US" sz="933" dirty="0"/>
          </a:p>
        </p:txBody>
      </p:sp>
      <p:sp>
        <p:nvSpPr>
          <p:cNvPr id="27" name="Text 25"/>
          <p:cNvSpPr/>
          <p:nvPr/>
        </p:nvSpPr>
        <p:spPr>
          <a:xfrm>
            <a:off x="6400800" y="2340864"/>
            <a:ext cx="4145280" cy="341376"/>
          </a:xfrm>
          <a:prstGeom prst="rect">
            <a:avLst/>
          </a:prstGeom>
          <a:noFill/>
          <a:ln/>
        </p:spPr>
        <p:txBody>
          <a:bodyPr wrap="square" lIns="33867" tIns="33867" rIns="33867" bIns="33867" rtlCol="0" anchor="ctr"/>
          <a:lstStyle/>
          <a:p>
            <a:r>
              <a:rPr lang="en-US" sz="1467" b="1" dirty="0">
                <a:solidFill>
                  <a:srgbClr val="0B1D0E"/>
                </a:solidFill>
                <a:latin typeface="Calibri" pitchFamily="34" charset="0"/>
                <a:ea typeface="Calibri" pitchFamily="34" charset="-122"/>
                <a:cs typeface="Calibri" pitchFamily="34" charset="-120"/>
              </a:rPr>
              <a:t>24-Hour Market Trading</a:t>
            </a:r>
            <a:endParaRPr lang="en-US" sz="1467" dirty="0"/>
          </a:p>
        </p:txBody>
      </p:sp>
      <p:sp>
        <p:nvSpPr>
          <p:cNvPr id="28" name="Text 26"/>
          <p:cNvSpPr/>
          <p:nvPr/>
        </p:nvSpPr>
        <p:spPr>
          <a:xfrm>
            <a:off x="6400800" y="2682240"/>
            <a:ext cx="5303520" cy="548640"/>
          </a:xfrm>
          <a:prstGeom prst="rect">
            <a:avLst/>
          </a:prstGeom>
          <a:noFill/>
          <a:ln/>
        </p:spPr>
        <p:txBody>
          <a:bodyPr wrap="square" lIns="33867" tIns="33867" rIns="33867" bIns="33867" rtlCol="0" anchor="ctr"/>
          <a:lstStyle/>
          <a:p>
            <a:r>
              <a:rPr lang="en-US" sz="1200" dirty="0">
                <a:solidFill>
                  <a:srgbClr val="1A2A1D"/>
                </a:solidFill>
                <a:latin typeface="Calibri" pitchFamily="34" charset="0"/>
                <a:ea typeface="Calibri" pitchFamily="34" charset="-122"/>
                <a:cs typeface="Calibri" pitchFamily="34" charset="-120"/>
              </a:rPr>
              <a:t>Extended hours trading (4am–8pm). First major broker for 24/5 trading. Differentiates vs Schwab/TD. Heavy usage during international macro events.</a:t>
            </a:r>
            <a:endParaRPr lang="en-US" sz="1200" dirty="0"/>
          </a:p>
        </p:txBody>
      </p:sp>
      <p:sp>
        <p:nvSpPr>
          <p:cNvPr id="29" name="Shape 27"/>
          <p:cNvSpPr/>
          <p:nvPr/>
        </p:nvSpPr>
        <p:spPr>
          <a:xfrm>
            <a:off x="365760" y="3401568"/>
            <a:ext cx="5608320" cy="999744"/>
          </a:xfrm>
          <a:prstGeom prst="rect">
            <a:avLst/>
          </a:prstGeom>
          <a:solidFill>
            <a:srgbClr val="FFFFFF"/>
          </a:solidFill>
          <a:ln w="6350">
            <a:solidFill>
              <a:srgbClr val="E8F0E9"/>
            </a:solidFill>
            <a:prstDash val="solid"/>
          </a:ln>
          <a:effectLst>
            <a:outerShdw blurRad="63500" dist="25400" dir="8100000" algn="bl" rotWithShape="0">
              <a:srgbClr val="000000">
                <a:alpha val="8000"/>
              </a:srgbClr>
            </a:outerShdw>
          </a:effectLst>
        </p:spPr>
      </p:sp>
      <p:sp>
        <p:nvSpPr>
          <p:cNvPr id="30" name="Shape 28"/>
          <p:cNvSpPr/>
          <p:nvPr/>
        </p:nvSpPr>
        <p:spPr>
          <a:xfrm>
            <a:off x="365760" y="3401568"/>
            <a:ext cx="73152" cy="999744"/>
          </a:xfrm>
          <a:prstGeom prst="rect">
            <a:avLst/>
          </a:prstGeom>
          <a:solidFill>
            <a:srgbClr val="D4A853"/>
          </a:solidFill>
          <a:ln w="12700">
            <a:solidFill>
              <a:srgbClr val="D4A853"/>
            </a:solidFill>
            <a:prstDash val="solid"/>
          </a:ln>
        </p:spPr>
      </p:sp>
      <p:sp>
        <p:nvSpPr>
          <p:cNvPr id="31" name="Shape 29"/>
          <p:cNvSpPr/>
          <p:nvPr/>
        </p:nvSpPr>
        <p:spPr>
          <a:xfrm>
            <a:off x="4754880" y="3499104"/>
            <a:ext cx="1121664" cy="292608"/>
          </a:xfrm>
          <a:prstGeom prst="rect">
            <a:avLst/>
          </a:prstGeom>
          <a:solidFill>
            <a:srgbClr val="D4A853"/>
          </a:solidFill>
          <a:ln w="12700">
            <a:solidFill>
              <a:srgbClr val="D4A853"/>
            </a:solidFill>
            <a:prstDash val="solid"/>
          </a:ln>
        </p:spPr>
      </p:sp>
      <p:sp>
        <p:nvSpPr>
          <p:cNvPr id="32" name="Text 30"/>
          <p:cNvSpPr/>
          <p:nvPr/>
        </p:nvSpPr>
        <p:spPr>
          <a:xfrm>
            <a:off x="4754880" y="3499104"/>
            <a:ext cx="1121664" cy="292608"/>
          </a:xfrm>
          <a:prstGeom prst="rect">
            <a:avLst/>
          </a:prstGeom>
          <a:noFill/>
          <a:ln/>
        </p:spPr>
        <p:txBody>
          <a:bodyPr wrap="square" lIns="33867" tIns="33867" rIns="33867" bIns="33867" rtlCol="0" anchor="ctr"/>
          <a:lstStyle/>
          <a:p>
            <a:pPr algn="ctr"/>
            <a:r>
              <a:rPr lang="en-US" sz="933" b="1" dirty="0">
                <a:solidFill>
                  <a:srgbClr val="FFFFFF"/>
                </a:solidFill>
                <a:latin typeface="Calibri" pitchFamily="34" charset="0"/>
                <a:ea typeface="Calibri" pitchFamily="34" charset="-122"/>
                <a:cs typeface="Calibri" pitchFamily="34" charset="-120"/>
              </a:rPr>
              <a:t>EXPANDING</a:t>
            </a:r>
            <a:endParaRPr lang="en-US" sz="933" dirty="0"/>
          </a:p>
        </p:txBody>
      </p:sp>
      <p:sp>
        <p:nvSpPr>
          <p:cNvPr id="33" name="Text 31"/>
          <p:cNvSpPr/>
          <p:nvPr/>
        </p:nvSpPr>
        <p:spPr>
          <a:xfrm>
            <a:off x="548640" y="3462528"/>
            <a:ext cx="4145280" cy="341376"/>
          </a:xfrm>
          <a:prstGeom prst="rect">
            <a:avLst/>
          </a:prstGeom>
          <a:noFill/>
          <a:ln/>
        </p:spPr>
        <p:txBody>
          <a:bodyPr wrap="square" lIns="33867" tIns="33867" rIns="33867" bIns="33867" rtlCol="0" anchor="ctr"/>
          <a:lstStyle/>
          <a:p>
            <a:r>
              <a:rPr lang="en-US" sz="1467" b="1" dirty="0">
                <a:solidFill>
                  <a:srgbClr val="0B1D0E"/>
                </a:solidFill>
                <a:latin typeface="Calibri" pitchFamily="34" charset="0"/>
                <a:ea typeface="Calibri" pitchFamily="34" charset="-122"/>
                <a:cs typeface="Calibri" pitchFamily="34" charset="-120"/>
              </a:rPr>
              <a:t>Crypto Expansion</a:t>
            </a:r>
            <a:endParaRPr lang="en-US" sz="1467" dirty="0"/>
          </a:p>
        </p:txBody>
      </p:sp>
      <p:sp>
        <p:nvSpPr>
          <p:cNvPr id="34" name="Text 32"/>
          <p:cNvSpPr/>
          <p:nvPr/>
        </p:nvSpPr>
        <p:spPr>
          <a:xfrm>
            <a:off x="548640" y="3803904"/>
            <a:ext cx="5303520" cy="548640"/>
          </a:xfrm>
          <a:prstGeom prst="rect">
            <a:avLst/>
          </a:prstGeom>
          <a:noFill/>
          <a:ln/>
        </p:spPr>
        <p:txBody>
          <a:bodyPr wrap="square" lIns="33867" tIns="33867" rIns="33867" bIns="33867" rtlCol="0" anchor="ctr"/>
          <a:lstStyle/>
          <a:p>
            <a:r>
              <a:rPr lang="en-US" sz="1200" dirty="0">
                <a:solidFill>
                  <a:srgbClr val="1A2A1D"/>
                </a:solidFill>
                <a:latin typeface="Calibri" pitchFamily="34" charset="0"/>
                <a:ea typeface="Calibri" pitchFamily="34" charset="-122"/>
                <a:cs typeface="Calibri" pitchFamily="34" charset="-120"/>
              </a:rPr>
              <a:t>25+ coins, on-chain wallet (self-custody), crypto gifting. Acquired Bitstamp (EU/UK regulated exchange) for $200M in 2024 — adds institutional crypto revenue.</a:t>
            </a:r>
            <a:endParaRPr lang="en-US" sz="1200" dirty="0"/>
          </a:p>
        </p:txBody>
      </p:sp>
      <p:sp>
        <p:nvSpPr>
          <p:cNvPr id="35" name="Shape 33"/>
          <p:cNvSpPr/>
          <p:nvPr/>
        </p:nvSpPr>
        <p:spPr>
          <a:xfrm>
            <a:off x="6217920" y="3401568"/>
            <a:ext cx="5608320" cy="999744"/>
          </a:xfrm>
          <a:prstGeom prst="rect">
            <a:avLst/>
          </a:prstGeom>
          <a:solidFill>
            <a:srgbClr val="FFFFFF"/>
          </a:solidFill>
          <a:ln w="6350">
            <a:solidFill>
              <a:srgbClr val="E8F0E9"/>
            </a:solidFill>
            <a:prstDash val="solid"/>
          </a:ln>
          <a:effectLst>
            <a:outerShdw blurRad="63500" dist="25400" dir="8100000" algn="bl" rotWithShape="0">
              <a:srgbClr val="000000">
                <a:alpha val="8000"/>
              </a:srgbClr>
            </a:outerShdw>
          </a:effectLst>
        </p:spPr>
      </p:sp>
      <p:sp>
        <p:nvSpPr>
          <p:cNvPr id="36" name="Shape 34"/>
          <p:cNvSpPr/>
          <p:nvPr/>
        </p:nvSpPr>
        <p:spPr>
          <a:xfrm>
            <a:off x="6217920" y="3401568"/>
            <a:ext cx="73152" cy="999744"/>
          </a:xfrm>
          <a:prstGeom prst="rect">
            <a:avLst/>
          </a:prstGeom>
          <a:solidFill>
            <a:srgbClr val="D4A853"/>
          </a:solidFill>
          <a:ln w="12700">
            <a:solidFill>
              <a:srgbClr val="D4A853"/>
            </a:solidFill>
            <a:prstDash val="solid"/>
          </a:ln>
        </p:spPr>
      </p:sp>
      <p:sp>
        <p:nvSpPr>
          <p:cNvPr id="37" name="Shape 35"/>
          <p:cNvSpPr/>
          <p:nvPr/>
        </p:nvSpPr>
        <p:spPr>
          <a:xfrm>
            <a:off x="10607040" y="3499104"/>
            <a:ext cx="1121664" cy="292608"/>
          </a:xfrm>
          <a:prstGeom prst="rect">
            <a:avLst/>
          </a:prstGeom>
          <a:solidFill>
            <a:srgbClr val="D4A853"/>
          </a:solidFill>
          <a:ln w="12700">
            <a:solidFill>
              <a:srgbClr val="D4A853"/>
            </a:solidFill>
            <a:prstDash val="solid"/>
          </a:ln>
        </p:spPr>
      </p:sp>
      <p:sp>
        <p:nvSpPr>
          <p:cNvPr id="38" name="Text 36"/>
          <p:cNvSpPr/>
          <p:nvPr/>
        </p:nvSpPr>
        <p:spPr>
          <a:xfrm>
            <a:off x="10607040" y="3499104"/>
            <a:ext cx="1121664" cy="292608"/>
          </a:xfrm>
          <a:prstGeom prst="rect">
            <a:avLst/>
          </a:prstGeom>
          <a:noFill/>
          <a:ln/>
        </p:spPr>
        <p:txBody>
          <a:bodyPr wrap="square" lIns="33867" tIns="33867" rIns="33867" bIns="33867" rtlCol="0" anchor="ctr"/>
          <a:lstStyle/>
          <a:p>
            <a:pPr algn="ctr"/>
            <a:r>
              <a:rPr lang="en-US" sz="933" b="1" dirty="0">
                <a:solidFill>
                  <a:srgbClr val="FFFFFF"/>
                </a:solidFill>
                <a:latin typeface="Calibri" pitchFamily="34" charset="0"/>
                <a:ea typeface="Calibri" pitchFamily="34" charset="-122"/>
                <a:cs typeface="Calibri" pitchFamily="34" charset="-120"/>
              </a:rPr>
              <a:t>EXPANDING</a:t>
            </a:r>
            <a:endParaRPr lang="en-US" sz="933" dirty="0"/>
          </a:p>
        </p:txBody>
      </p:sp>
      <p:sp>
        <p:nvSpPr>
          <p:cNvPr id="39" name="Text 37"/>
          <p:cNvSpPr/>
          <p:nvPr/>
        </p:nvSpPr>
        <p:spPr>
          <a:xfrm>
            <a:off x="6400800" y="3462528"/>
            <a:ext cx="4145280" cy="341376"/>
          </a:xfrm>
          <a:prstGeom prst="rect">
            <a:avLst/>
          </a:prstGeom>
          <a:noFill/>
          <a:ln/>
        </p:spPr>
        <p:txBody>
          <a:bodyPr wrap="square" lIns="33867" tIns="33867" rIns="33867" bIns="33867" rtlCol="0" anchor="ctr"/>
          <a:lstStyle/>
          <a:p>
            <a:r>
              <a:rPr lang="en-US" sz="1467" b="1" dirty="0">
                <a:solidFill>
                  <a:srgbClr val="0B1D0E"/>
                </a:solidFill>
                <a:latin typeface="Calibri" pitchFamily="34" charset="0"/>
                <a:ea typeface="Calibri" pitchFamily="34" charset="-122"/>
                <a:cs typeface="Calibri" pitchFamily="34" charset="-120"/>
              </a:rPr>
              <a:t>UK / European Market</a:t>
            </a:r>
            <a:endParaRPr lang="en-US" sz="1467" dirty="0"/>
          </a:p>
        </p:txBody>
      </p:sp>
      <p:sp>
        <p:nvSpPr>
          <p:cNvPr id="40" name="Text 38"/>
          <p:cNvSpPr/>
          <p:nvPr/>
        </p:nvSpPr>
        <p:spPr>
          <a:xfrm>
            <a:off x="6400800" y="3803904"/>
            <a:ext cx="5303520" cy="548640"/>
          </a:xfrm>
          <a:prstGeom prst="rect">
            <a:avLst/>
          </a:prstGeom>
          <a:noFill/>
          <a:ln/>
        </p:spPr>
        <p:txBody>
          <a:bodyPr wrap="square" lIns="33867" tIns="33867" rIns="33867" bIns="33867" rtlCol="0" anchor="ctr"/>
          <a:lstStyle/>
          <a:p>
            <a:r>
              <a:rPr lang="en-US" sz="1200" dirty="0">
                <a:solidFill>
                  <a:srgbClr val="1A2A1D"/>
                </a:solidFill>
                <a:latin typeface="Calibri" pitchFamily="34" charset="0"/>
                <a:ea typeface="Calibri" pitchFamily="34" charset="-122"/>
                <a:cs typeface="Calibri" pitchFamily="34" charset="-120"/>
              </a:rPr>
              <a:t>UK brokerage app launched 2023. Bitstamp acquisition adds EU regulated crypto presence. International is sub-5% of revenue but key diversification lever.</a:t>
            </a:r>
            <a:endParaRPr lang="en-US" sz="1200" dirty="0"/>
          </a:p>
        </p:txBody>
      </p:sp>
      <p:sp>
        <p:nvSpPr>
          <p:cNvPr id="41" name="Shape 39"/>
          <p:cNvSpPr/>
          <p:nvPr/>
        </p:nvSpPr>
        <p:spPr>
          <a:xfrm>
            <a:off x="365760" y="4523232"/>
            <a:ext cx="5608320" cy="999744"/>
          </a:xfrm>
          <a:prstGeom prst="rect">
            <a:avLst/>
          </a:prstGeom>
          <a:solidFill>
            <a:srgbClr val="FFFFFF"/>
          </a:solidFill>
          <a:ln w="6350">
            <a:solidFill>
              <a:srgbClr val="E8F0E9"/>
            </a:solidFill>
            <a:prstDash val="solid"/>
          </a:ln>
          <a:effectLst>
            <a:outerShdw blurRad="63500" dist="25400" dir="8100000" algn="bl" rotWithShape="0">
              <a:srgbClr val="000000">
                <a:alpha val="8000"/>
              </a:srgbClr>
            </a:outerShdw>
          </a:effectLst>
        </p:spPr>
      </p:sp>
      <p:sp>
        <p:nvSpPr>
          <p:cNvPr id="42" name="Shape 40"/>
          <p:cNvSpPr/>
          <p:nvPr/>
        </p:nvSpPr>
        <p:spPr>
          <a:xfrm>
            <a:off x="365760" y="4523232"/>
            <a:ext cx="73152" cy="999744"/>
          </a:xfrm>
          <a:prstGeom prst="rect">
            <a:avLst/>
          </a:prstGeom>
          <a:solidFill>
            <a:srgbClr val="8B5CF6"/>
          </a:solidFill>
          <a:ln w="12700">
            <a:solidFill>
              <a:srgbClr val="8B5CF6"/>
            </a:solidFill>
            <a:prstDash val="solid"/>
          </a:ln>
        </p:spPr>
      </p:sp>
      <p:sp>
        <p:nvSpPr>
          <p:cNvPr id="43" name="Shape 41"/>
          <p:cNvSpPr/>
          <p:nvPr/>
        </p:nvSpPr>
        <p:spPr>
          <a:xfrm>
            <a:off x="4754880" y="4620768"/>
            <a:ext cx="1121664" cy="292608"/>
          </a:xfrm>
          <a:prstGeom prst="rect">
            <a:avLst/>
          </a:prstGeom>
          <a:solidFill>
            <a:srgbClr val="8B5CF6"/>
          </a:solidFill>
          <a:ln w="12700">
            <a:solidFill>
              <a:srgbClr val="8B5CF6"/>
            </a:solidFill>
            <a:prstDash val="solid"/>
          </a:ln>
        </p:spPr>
      </p:sp>
      <p:sp>
        <p:nvSpPr>
          <p:cNvPr id="44" name="Text 42"/>
          <p:cNvSpPr/>
          <p:nvPr/>
        </p:nvSpPr>
        <p:spPr>
          <a:xfrm>
            <a:off x="4754880" y="4620768"/>
            <a:ext cx="1121664" cy="292608"/>
          </a:xfrm>
          <a:prstGeom prst="rect">
            <a:avLst/>
          </a:prstGeom>
          <a:noFill/>
          <a:ln/>
        </p:spPr>
        <p:txBody>
          <a:bodyPr wrap="square" lIns="33867" tIns="33867" rIns="33867" bIns="33867" rtlCol="0" anchor="ctr"/>
          <a:lstStyle/>
          <a:p>
            <a:pPr algn="ctr"/>
            <a:r>
              <a:rPr lang="en-US" sz="933" b="1" dirty="0">
                <a:solidFill>
                  <a:srgbClr val="FFFFFF"/>
                </a:solidFill>
                <a:latin typeface="Calibri" pitchFamily="34" charset="0"/>
                <a:ea typeface="Calibri" pitchFamily="34" charset="-122"/>
                <a:cs typeface="Calibri" pitchFamily="34" charset="-120"/>
              </a:rPr>
              <a:t>DEVELOPING</a:t>
            </a:r>
            <a:endParaRPr lang="en-US" sz="933" dirty="0"/>
          </a:p>
        </p:txBody>
      </p:sp>
      <p:sp>
        <p:nvSpPr>
          <p:cNvPr id="45" name="Text 43"/>
          <p:cNvSpPr/>
          <p:nvPr/>
        </p:nvSpPr>
        <p:spPr>
          <a:xfrm>
            <a:off x="548640" y="4584192"/>
            <a:ext cx="4145280" cy="341376"/>
          </a:xfrm>
          <a:prstGeom prst="rect">
            <a:avLst/>
          </a:prstGeom>
          <a:noFill/>
          <a:ln/>
        </p:spPr>
        <p:txBody>
          <a:bodyPr wrap="square" lIns="33867" tIns="33867" rIns="33867" bIns="33867" rtlCol="0" anchor="ctr"/>
          <a:lstStyle/>
          <a:p>
            <a:r>
              <a:rPr lang="en-US" sz="1467" b="1" dirty="0">
                <a:solidFill>
                  <a:srgbClr val="0B1D0E"/>
                </a:solidFill>
                <a:latin typeface="Calibri" pitchFamily="34" charset="0"/>
                <a:ea typeface="Calibri" pitchFamily="34" charset="-122"/>
                <a:cs typeface="Calibri" pitchFamily="34" charset="-120"/>
              </a:rPr>
              <a:t>Banking &amp; Checking</a:t>
            </a:r>
            <a:endParaRPr lang="en-US" sz="1467" dirty="0"/>
          </a:p>
        </p:txBody>
      </p:sp>
      <p:sp>
        <p:nvSpPr>
          <p:cNvPr id="46" name="Text 44"/>
          <p:cNvSpPr/>
          <p:nvPr/>
        </p:nvSpPr>
        <p:spPr>
          <a:xfrm>
            <a:off x="548640" y="4925568"/>
            <a:ext cx="5303520" cy="548640"/>
          </a:xfrm>
          <a:prstGeom prst="rect">
            <a:avLst/>
          </a:prstGeom>
          <a:noFill/>
          <a:ln/>
        </p:spPr>
        <p:txBody>
          <a:bodyPr wrap="square" lIns="33867" tIns="33867" rIns="33867" bIns="33867" rtlCol="0" anchor="ctr"/>
          <a:lstStyle/>
          <a:p>
            <a:r>
              <a:rPr lang="en-US" sz="1200" dirty="0">
                <a:solidFill>
                  <a:srgbClr val="1A2A1D"/>
                </a:solidFill>
                <a:latin typeface="Calibri" pitchFamily="34" charset="0"/>
                <a:ea typeface="Calibri" pitchFamily="34" charset="-122"/>
                <a:cs typeface="Calibri" pitchFamily="34" charset="-120"/>
              </a:rPr>
              <a:t>FDIC-insured checking/savings via Gold. ATM reimbursements. Direct deposit. Strategy: replace Chase/BofA as primary financial account for younger generation.</a:t>
            </a:r>
            <a:endParaRPr lang="en-US" sz="1200" dirty="0"/>
          </a:p>
        </p:txBody>
      </p:sp>
      <p:sp>
        <p:nvSpPr>
          <p:cNvPr id="47" name="Shape 45"/>
          <p:cNvSpPr/>
          <p:nvPr/>
        </p:nvSpPr>
        <p:spPr>
          <a:xfrm>
            <a:off x="6217920" y="4523232"/>
            <a:ext cx="5608320" cy="999744"/>
          </a:xfrm>
          <a:prstGeom prst="rect">
            <a:avLst/>
          </a:prstGeom>
          <a:solidFill>
            <a:srgbClr val="FFFFFF"/>
          </a:solidFill>
          <a:ln w="6350">
            <a:solidFill>
              <a:srgbClr val="E8F0E9"/>
            </a:solidFill>
            <a:prstDash val="solid"/>
          </a:ln>
          <a:effectLst>
            <a:outerShdw blurRad="63500" dist="25400" dir="8100000" algn="bl" rotWithShape="0">
              <a:srgbClr val="000000">
                <a:alpha val="8000"/>
              </a:srgbClr>
            </a:outerShdw>
          </a:effectLst>
        </p:spPr>
      </p:sp>
      <p:sp>
        <p:nvSpPr>
          <p:cNvPr id="48" name="Shape 46"/>
          <p:cNvSpPr/>
          <p:nvPr/>
        </p:nvSpPr>
        <p:spPr>
          <a:xfrm>
            <a:off x="6217920" y="4523232"/>
            <a:ext cx="73152" cy="999744"/>
          </a:xfrm>
          <a:prstGeom prst="rect">
            <a:avLst/>
          </a:prstGeom>
          <a:solidFill>
            <a:srgbClr val="8B5CF6"/>
          </a:solidFill>
          <a:ln w="12700">
            <a:solidFill>
              <a:srgbClr val="8B5CF6"/>
            </a:solidFill>
            <a:prstDash val="solid"/>
          </a:ln>
        </p:spPr>
      </p:sp>
      <p:sp>
        <p:nvSpPr>
          <p:cNvPr id="49" name="Shape 47"/>
          <p:cNvSpPr/>
          <p:nvPr/>
        </p:nvSpPr>
        <p:spPr>
          <a:xfrm>
            <a:off x="10607040" y="4620768"/>
            <a:ext cx="1121664" cy="292608"/>
          </a:xfrm>
          <a:prstGeom prst="rect">
            <a:avLst/>
          </a:prstGeom>
          <a:solidFill>
            <a:srgbClr val="8B5CF6"/>
          </a:solidFill>
          <a:ln w="12700">
            <a:solidFill>
              <a:srgbClr val="8B5CF6"/>
            </a:solidFill>
            <a:prstDash val="solid"/>
          </a:ln>
        </p:spPr>
      </p:sp>
      <p:sp>
        <p:nvSpPr>
          <p:cNvPr id="50" name="Text 48"/>
          <p:cNvSpPr/>
          <p:nvPr/>
        </p:nvSpPr>
        <p:spPr>
          <a:xfrm>
            <a:off x="10607040" y="4620768"/>
            <a:ext cx="1121664" cy="292608"/>
          </a:xfrm>
          <a:prstGeom prst="rect">
            <a:avLst/>
          </a:prstGeom>
          <a:noFill/>
          <a:ln/>
        </p:spPr>
        <p:txBody>
          <a:bodyPr wrap="square" lIns="33867" tIns="33867" rIns="33867" bIns="33867" rtlCol="0" anchor="ctr"/>
          <a:lstStyle/>
          <a:p>
            <a:pPr algn="ctr"/>
            <a:r>
              <a:rPr lang="en-US" sz="933" b="1" dirty="0">
                <a:solidFill>
                  <a:srgbClr val="FFFFFF"/>
                </a:solidFill>
                <a:latin typeface="Calibri" pitchFamily="34" charset="0"/>
                <a:ea typeface="Calibri" pitchFamily="34" charset="-122"/>
                <a:cs typeface="Calibri" pitchFamily="34" charset="-120"/>
              </a:rPr>
              <a:t>DEVELOPING</a:t>
            </a:r>
            <a:endParaRPr lang="en-US" sz="933" dirty="0"/>
          </a:p>
        </p:txBody>
      </p:sp>
      <p:sp>
        <p:nvSpPr>
          <p:cNvPr id="51" name="Text 49"/>
          <p:cNvSpPr/>
          <p:nvPr/>
        </p:nvSpPr>
        <p:spPr>
          <a:xfrm>
            <a:off x="6400800" y="4584192"/>
            <a:ext cx="4145280" cy="341376"/>
          </a:xfrm>
          <a:prstGeom prst="rect">
            <a:avLst/>
          </a:prstGeom>
          <a:noFill/>
          <a:ln/>
        </p:spPr>
        <p:txBody>
          <a:bodyPr wrap="square" lIns="33867" tIns="33867" rIns="33867" bIns="33867" rtlCol="0" anchor="ctr"/>
          <a:lstStyle/>
          <a:p>
            <a:r>
              <a:rPr lang="en-US" sz="1467" b="1" dirty="0">
                <a:solidFill>
                  <a:srgbClr val="0B1D0E"/>
                </a:solidFill>
                <a:latin typeface="Calibri" pitchFamily="34" charset="0"/>
                <a:ea typeface="Calibri" pitchFamily="34" charset="-122"/>
                <a:cs typeface="Calibri" pitchFamily="34" charset="-120"/>
              </a:rPr>
              <a:t>Sherwood Media / Financial News</a:t>
            </a:r>
            <a:endParaRPr lang="en-US" sz="1467" dirty="0"/>
          </a:p>
        </p:txBody>
      </p:sp>
      <p:sp>
        <p:nvSpPr>
          <p:cNvPr id="52" name="Text 50"/>
          <p:cNvSpPr/>
          <p:nvPr/>
        </p:nvSpPr>
        <p:spPr>
          <a:xfrm>
            <a:off x="6400800" y="4925568"/>
            <a:ext cx="5303520" cy="548640"/>
          </a:xfrm>
          <a:prstGeom prst="rect">
            <a:avLst/>
          </a:prstGeom>
          <a:noFill/>
          <a:ln/>
        </p:spPr>
        <p:txBody>
          <a:bodyPr wrap="square" lIns="33867" tIns="33867" rIns="33867" bIns="33867" rtlCol="0" anchor="ctr"/>
          <a:lstStyle/>
          <a:p>
            <a:r>
              <a:rPr lang="en-US" sz="1200" dirty="0">
                <a:solidFill>
                  <a:srgbClr val="1A2A1D"/>
                </a:solidFill>
                <a:latin typeface="Calibri" pitchFamily="34" charset="0"/>
                <a:ea typeface="Calibri" pitchFamily="34" charset="-122"/>
                <a:cs typeface="Calibri" pitchFamily="34" charset="-120"/>
              </a:rPr>
              <a:t>Acquired Sherwood Media (2023). Building integrated financial news + research within app. Reduces customer churn and increases session time.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0C896"/>
          </a:solidFill>
          <a:ln/>
        </p:spPr>
      </p:sp>
      <p:sp>
        <p:nvSpPr>
          <p:cNvPr id="3" name="Text 1"/>
          <p:cNvSpPr/>
          <p:nvPr/>
        </p:nvSpPr>
        <p:spPr>
          <a:xfrm>
            <a:off x="365760" y="121920"/>
            <a:ext cx="11582400" cy="390144"/>
          </a:xfrm>
          <a:prstGeom prst="rect">
            <a:avLst/>
          </a:prstGeom>
          <a:noFill/>
          <a:ln/>
        </p:spPr>
        <p:txBody>
          <a:bodyPr wrap="square" lIns="0" tIns="0" rIns="0" bIns="0" rtlCol="0" anchor="ctr"/>
          <a:lstStyle/>
          <a:p>
            <a:r>
              <a:rPr lang="en-US" sz="1467" b="1" kern="0" spc="267" dirty="0">
                <a:solidFill>
                  <a:srgbClr val="00C896"/>
                </a:solidFill>
              </a:rPr>
              <a:t>SECTION 5: ACQUISITIONS &amp; STRATEGIC MOVES</a:t>
            </a:r>
            <a:endParaRPr lang="en-US" sz="1467" dirty="0"/>
          </a:p>
        </p:txBody>
      </p:sp>
      <p:sp>
        <p:nvSpPr>
          <p:cNvPr id="4" name="Text 2"/>
          <p:cNvSpPr/>
          <p:nvPr/>
        </p:nvSpPr>
        <p:spPr>
          <a:xfrm>
            <a:off x="365760" y="524256"/>
            <a:ext cx="11582400" cy="390144"/>
          </a:xfrm>
          <a:prstGeom prst="rect">
            <a:avLst/>
          </a:prstGeom>
          <a:noFill/>
          <a:ln/>
        </p:spPr>
        <p:txBody>
          <a:bodyPr wrap="square" lIns="0" tIns="0" rIns="0" bIns="0" rtlCol="0" anchor="ctr"/>
          <a:lstStyle/>
          <a:p>
            <a:r>
              <a:rPr lang="en-US" sz="1867" b="1" dirty="0">
                <a:solidFill>
                  <a:srgbClr val="FFFFFF"/>
                </a:solidFill>
                <a:latin typeface="Georgia" pitchFamily="34" charset="0"/>
                <a:ea typeface="Georgia" pitchFamily="34" charset="-122"/>
                <a:cs typeface="Georgia" pitchFamily="34" charset="-120"/>
              </a:rPr>
              <a:t>From disruptor to aggregator — building the SuperApp through M&amp;A</a:t>
            </a:r>
            <a:endParaRPr lang="en-US" sz="1867" dirty="0"/>
          </a:p>
        </p:txBody>
      </p:sp>
      <p:sp>
        <p:nvSpPr>
          <p:cNvPr id="5" name="Shape 3"/>
          <p:cNvSpPr/>
          <p:nvPr/>
        </p:nvSpPr>
        <p:spPr>
          <a:xfrm>
            <a:off x="365760" y="1072896"/>
            <a:ext cx="3755136" cy="2499360"/>
          </a:xfrm>
          <a:prstGeom prst="rect">
            <a:avLst/>
          </a:prstGeom>
          <a:solidFill>
            <a:srgbClr val="1B3A5C"/>
          </a:solidFill>
          <a:ln/>
        </p:spPr>
      </p:sp>
      <p:sp>
        <p:nvSpPr>
          <p:cNvPr id="6" name="Shape 4"/>
          <p:cNvSpPr/>
          <p:nvPr/>
        </p:nvSpPr>
        <p:spPr>
          <a:xfrm>
            <a:off x="365760" y="1072896"/>
            <a:ext cx="3755136" cy="670560"/>
          </a:xfrm>
          <a:prstGeom prst="rect">
            <a:avLst/>
          </a:prstGeom>
          <a:solidFill>
            <a:srgbClr val="1A4B8C"/>
          </a:solidFill>
          <a:ln/>
        </p:spPr>
      </p:sp>
      <p:sp>
        <p:nvSpPr>
          <p:cNvPr id="7" name="Text 5"/>
          <p:cNvSpPr/>
          <p:nvPr/>
        </p:nvSpPr>
        <p:spPr>
          <a:xfrm>
            <a:off x="487680" y="1133856"/>
            <a:ext cx="1463040" cy="268224"/>
          </a:xfrm>
          <a:prstGeom prst="rect">
            <a:avLst/>
          </a:prstGeom>
          <a:noFill/>
          <a:ln/>
        </p:spPr>
        <p:txBody>
          <a:bodyPr wrap="square" lIns="0" tIns="0" rIns="0" bIns="0" rtlCol="0" anchor="ctr"/>
          <a:lstStyle/>
          <a:p>
            <a:r>
              <a:rPr lang="en-US" sz="1200" b="1" dirty="0">
                <a:solidFill>
                  <a:srgbClr val="D0E8FF"/>
                </a:solidFill>
              </a:rPr>
              <a:t>Feb 2025</a:t>
            </a:r>
            <a:endParaRPr lang="en-US" sz="1200" dirty="0"/>
          </a:p>
        </p:txBody>
      </p:sp>
      <p:sp>
        <p:nvSpPr>
          <p:cNvPr id="8" name="Text 6"/>
          <p:cNvSpPr/>
          <p:nvPr/>
        </p:nvSpPr>
        <p:spPr>
          <a:xfrm>
            <a:off x="2194560" y="1133856"/>
            <a:ext cx="1828800" cy="268224"/>
          </a:xfrm>
          <a:prstGeom prst="rect">
            <a:avLst/>
          </a:prstGeom>
          <a:noFill/>
          <a:ln/>
        </p:spPr>
        <p:txBody>
          <a:bodyPr wrap="square" lIns="0" tIns="0" rIns="0" bIns="0" rtlCol="0" anchor="ctr"/>
          <a:lstStyle/>
          <a:p>
            <a:pPr algn="r"/>
            <a:r>
              <a:rPr lang="en-US" sz="1067" dirty="0">
                <a:solidFill>
                  <a:srgbClr val="C8D8E8"/>
                </a:solidFill>
              </a:rPr>
              <a:t>Acquisition</a:t>
            </a:r>
            <a:endParaRPr lang="en-US" sz="1067" dirty="0"/>
          </a:p>
        </p:txBody>
      </p:sp>
      <p:sp>
        <p:nvSpPr>
          <p:cNvPr id="9" name="Text 7"/>
          <p:cNvSpPr/>
          <p:nvPr/>
        </p:nvSpPr>
        <p:spPr>
          <a:xfrm>
            <a:off x="487680" y="1414272"/>
            <a:ext cx="2438400" cy="292608"/>
          </a:xfrm>
          <a:prstGeom prst="rect">
            <a:avLst/>
          </a:prstGeom>
          <a:noFill/>
          <a:ln/>
        </p:spPr>
        <p:txBody>
          <a:bodyPr wrap="square" lIns="0" tIns="0" rIns="0" bIns="0" rtlCol="0" anchor="ctr"/>
          <a:lstStyle/>
          <a:p>
            <a:r>
              <a:rPr lang="en-US" sz="1533" b="1" dirty="0">
                <a:solidFill>
                  <a:srgbClr val="FFFFFF"/>
                </a:solidFill>
              </a:rPr>
              <a:t>TradePMR</a:t>
            </a:r>
            <a:endParaRPr lang="en-US" sz="1533" dirty="0"/>
          </a:p>
        </p:txBody>
      </p:sp>
      <p:sp>
        <p:nvSpPr>
          <p:cNvPr id="10" name="Text 8"/>
          <p:cNvSpPr/>
          <p:nvPr/>
        </p:nvSpPr>
        <p:spPr>
          <a:xfrm>
            <a:off x="2926080" y="1414272"/>
            <a:ext cx="1097280" cy="292608"/>
          </a:xfrm>
          <a:prstGeom prst="rect">
            <a:avLst/>
          </a:prstGeom>
          <a:noFill/>
          <a:ln/>
        </p:spPr>
        <p:txBody>
          <a:bodyPr wrap="square" lIns="0" tIns="0" rIns="0" bIns="0" rtlCol="0" anchor="ctr"/>
          <a:lstStyle/>
          <a:p>
            <a:pPr algn="r"/>
            <a:r>
              <a:rPr lang="en-US" sz="1267" b="1" dirty="0">
                <a:solidFill>
                  <a:srgbClr val="00C896"/>
                </a:solidFill>
              </a:rPr>
              <a:t>$300M est.</a:t>
            </a:r>
            <a:endParaRPr lang="en-US" sz="1267" dirty="0"/>
          </a:p>
        </p:txBody>
      </p:sp>
      <p:sp>
        <p:nvSpPr>
          <p:cNvPr id="11" name="Text 9"/>
          <p:cNvSpPr/>
          <p:nvPr/>
        </p:nvSpPr>
        <p:spPr>
          <a:xfrm>
            <a:off x="487680" y="1828800"/>
            <a:ext cx="3511296" cy="1658112"/>
          </a:xfrm>
          <a:prstGeom prst="rect">
            <a:avLst/>
          </a:prstGeom>
          <a:noFill/>
          <a:ln/>
        </p:spPr>
        <p:txBody>
          <a:bodyPr wrap="square" lIns="0" tIns="0" rIns="0" bIns="0" rtlCol="0" anchor="ctr"/>
          <a:lstStyle/>
          <a:p>
            <a:r>
              <a:rPr lang="en-US" sz="1400" dirty="0">
                <a:solidFill>
                  <a:srgbClr val="C0D8E4"/>
                </a:solidFill>
              </a:rPr>
              <a:t>RIA custody platform — $40B AUA, 350 advisor firms. Bridges retail app to institutional wealth management. Generates recurring fee revenue per AUA. Positions Robinhood for the $90T Great Wealth Transfer.</a:t>
            </a:r>
            <a:endParaRPr lang="en-US" sz="1400" dirty="0"/>
          </a:p>
        </p:txBody>
      </p:sp>
      <p:sp>
        <p:nvSpPr>
          <p:cNvPr id="12" name="Shape 10"/>
          <p:cNvSpPr/>
          <p:nvPr/>
        </p:nvSpPr>
        <p:spPr>
          <a:xfrm>
            <a:off x="4303776" y="1072896"/>
            <a:ext cx="3755136" cy="2499360"/>
          </a:xfrm>
          <a:prstGeom prst="rect">
            <a:avLst/>
          </a:prstGeom>
          <a:solidFill>
            <a:srgbClr val="1B3A5C"/>
          </a:solidFill>
          <a:ln/>
        </p:spPr>
      </p:sp>
      <p:sp>
        <p:nvSpPr>
          <p:cNvPr id="13" name="Shape 11"/>
          <p:cNvSpPr/>
          <p:nvPr/>
        </p:nvSpPr>
        <p:spPr>
          <a:xfrm>
            <a:off x="4303776" y="1072896"/>
            <a:ext cx="3755136" cy="670560"/>
          </a:xfrm>
          <a:prstGeom prst="rect">
            <a:avLst/>
          </a:prstGeom>
          <a:solidFill>
            <a:srgbClr val="7B3FAE"/>
          </a:solidFill>
          <a:ln/>
        </p:spPr>
      </p:sp>
      <p:sp>
        <p:nvSpPr>
          <p:cNvPr id="14" name="Text 12"/>
          <p:cNvSpPr/>
          <p:nvPr/>
        </p:nvSpPr>
        <p:spPr>
          <a:xfrm>
            <a:off x="4425696" y="1133856"/>
            <a:ext cx="1463040" cy="268224"/>
          </a:xfrm>
          <a:prstGeom prst="rect">
            <a:avLst/>
          </a:prstGeom>
          <a:noFill/>
          <a:ln/>
        </p:spPr>
        <p:txBody>
          <a:bodyPr wrap="square" lIns="0" tIns="0" rIns="0" bIns="0" rtlCol="0" anchor="ctr"/>
          <a:lstStyle/>
          <a:p>
            <a:r>
              <a:rPr lang="en-US" sz="1200" b="1" dirty="0">
                <a:solidFill>
                  <a:srgbClr val="D0E8FF"/>
                </a:solidFill>
              </a:rPr>
              <a:t>Jun 2025</a:t>
            </a:r>
            <a:endParaRPr lang="en-US" sz="1200" dirty="0"/>
          </a:p>
        </p:txBody>
      </p:sp>
      <p:sp>
        <p:nvSpPr>
          <p:cNvPr id="15" name="Text 13"/>
          <p:cNvSpPr/>
          <p:nvPr/>
        </p:nvSpPr>
        <p:spPr>
          <a:xfrm>
            <a:off x="6132576" y="1133856"/>
            <a:ext cx="1828800" cy="268224"/>
          </a:xfrm>
          <a:prstGeom prst="rect">
            <a:avLst/>
          </a:prstGeom>
          <a:noFill/>
          <a:ln/>
        </p:spPr>
        <p:txBody>
          <a:bodyPr wrap="square" lIns="0" tIns="0" rIns="0" bIns="0" rtlCol="0" anchor="ctr"/>
          <a:lstStyle/>
          <a:p>
            <a:pPr algn="r"/>
            <a:r>
              <a:rPr lang="en-US" sz="1067" dirty="0">
                <a:solidFill>
                  <a:srgbClr val="C8D8E8"/>
                </a:solidFill>
              </a:rPr>
              <a:t>Acquisition</a:t>
            </a:r>
            <a:endParaRPr lang="en-US" sz="1067" dirty="0"/>
          </a:p>
        </p:txBody>
      </p:sp>
      <p:sp>
        <p:nvSpPr>
          <p:cNvPr id="16" name="Text 14"/>
          <p:cNvSpPr/>
          <p:nvPr/>
        </p:nvSpPr>
        <p:spPr>
          <a:xfrm>
            <a:off x="4425696" y="1414272"/>
            <a:ext cx="2438400" cy="292608"/>
          </a:xfrm>
          <a:prstGeom prst="rect">
            <a:avLst/>
          </a:prstGeom>
          <a:noFill/>
          <a:ln/>
        </p:spPr>
        <p:txBody>
          <a:bodyPr wrap="square" lIns="0" tIns="0" rIns="0" bIns="0" rtlCol="0" anchor="ctr"/>
          <a:lstStyle/>
          <a:p>
            <a:r>
              <a:rPr lang="en-US" sz="1533" b="1" dirty="0">
                <a:solidFill>
                  <a:srgbClr val="FFFFFF"/>
                </a:solidFill>
              </a:rPr>
              <a:t>Bitstamp</a:t>
            </a:r>
            <a:endParaRPr lang="en-US" sz="1533" dirty="0"/>
          </a:p>
        </p:txBody>
      </p:sp>
      <p:sp>
        <p:nvSpPr>
          <p:cNvPr id="17" name="Text 15"/>
          <p:cNvSpPr/>
          <p:nvPr/>
        </p:nvSpPr>
        <p:spPr>
          <a:xfrm>
            <a:off x="6864096" y="1414272"/>
            <a:ext cx="1097280" cy="292608"/>
          </a:xfrm>
          <a:prstGeom prst="rect">
            <a:avLst/>
          </a:prstGeom>
          <a:noFill/>
          <a:ln/>
        </p:spPr>
        <p:txBody>
          <a:bodyPr wrap="square" lIns="0" tIns="0" rIns="0" bIns="0" rtlCol="0" anchor="ctr"/>
          <a:lstStyle/>
          <a:p>
            <a:pPr algn="r"/>
            <a:r>
              <a:rPr lang="en-US" sz="1267" b="1" dirty="0">
                <a:solidFill>
                  <a:srgbClr val="00C896"/>
                </a:solidFill>
              </a:rPr>
              <a:t>$200M</a:t>
            </a:r>
            <a:endParaRPr lang="en-US" sz="1267" dirty="0"/>
          </a:p>
        </p:txBody>
      </p:sp>
      <p:sp>
        <p:nvSpPr>
          <p:cNvPr id="18" name="Text 16"/>
          <p:cNvSpPr/>
          <p:nvPr/>
        </p:nvSpPr>
        <p:spPr>
          <a:xfrm>
            <a:off x="4425696" y="1828800"/>
            <a:ext cx="3511296" cy="1658112"/>
          </a:xfrm>
          <a:prstGeom prst="rect">
            <a:avLst/>
          </a:prstGeom>
          <a:noFill/>
          <a:ln/>
        </p:spPr>
        <p:txBody>
          <a:bodyPr wrap="square" lIns="0" tIns="0" rIns="0" bIns="0" rtlCol="0" anchor="ctr"/>
          <a:lstStyle/>
          <a:p>
            <a:r>
              <a:rPr lang="en-US" sz="1400" dirty="0">
                <a:solidFill>
                  <a:srgbClr val="C0D8E4"/>
                </a:solidFill>
              </a:rPr>
              <a:t>Oldest operational crypto exchange. Adds EU crypto exchange license, institutional custody, staking rewards for Gold users. Bitstamp included in Net Deposits from Q2 2025. Lays groundwork for global crypto expansion.</a:t>
            </a:r>
            <a:endParaRPr lang="en-US" sz="1400" dirty="0"/>
          </a:p>
        </p:txBody>
      </p:sp>
      <p:sp>
        <p:nvSpPr>
          <p:cNvPr id="19" name="Shape 17"/>
          <p:cNvSpPr/>
          <p:nvPr/>
        </p:nvSpPr>
        <p:spPr>
          <a:xfrm>
            <a:off x="8241792" y="1072896"/>
            <a:ext cx="3755136" cy="2499360"/>
          </a:xfrm>
          <a:prstGeom prst="rect">
            <a:avLst/>
          </a:prstGeom>
          <a:solidFill>
            <a:srgbClr val="1B3A5C"/>
          </a:solidFill>
          <a:ln/>
        </p:spPr>
      </p:sp>
      <p:sp>
        <p:nvSpPr>
          <p:cNvPr id="20" name="Shape 18"/>
          <p:cNvSpPr/>
          <p:nvPr/>
        </p:nvSpPr>
        <p:spPr>
          <a:xfrm>
            <a:off x="8241792" y="1072896"/>
            <a:ext cx="3755136" cy="670560"/>
          </a:xfrm>
          <a:prstGeom prst="rect">
            <a:avLst/>
          </a:prstGeom>
          <a:solidFill>
            <a:srgbClr val="007A5C"/>
          </a:solidFill>
          <a:ln/>
        </p:spPr>
      </p:sp>
      <p:sp>
        <p:nvSpPr>
          <p:cNvPr id="21" name="Text 19"/>
          <p:cNvSpPr/>
          <p:nvPr/>
        </p:nvSpPr>
        <p:spPr>
          <a:xfrm>
            <a:off x="8363712" y="1133856"/>
            <a:ext cx="1463040" cy="268224"/>
          </a:xfrm>
          <a:prstGeom prst="rect">
            <a:avLst/>
          </a:prstGeom>
          <a:noFill/>
          <a:ln/>
        </p:spPr>
        <p:txBody>
          <a:bodyPr wrap="square" lIns="0" tIns="0" rIns="0" bIns="0" rtlCol="0" anchor="ctr"/>
          <a:lstStyle/>
          <a:p>
            <a:r>
              <a:rPr lang="en-US" sz="1200" b="1" dirty="0">
                <a:solidFill>
                  <a:srgbClr val="D0E8FF"/>
                </a:solidFill>
              </a:rPr>
              <a:t>May 2026</a:t>
            </a:r>
            <a:endParaRPr lang="en-US" sz="1200" dirty="0"/>
          </a:p>
        </p:txBody>
      </p:sp>
      <p:sp>
        <p:nvSpPr>
          <p:cNvPr id="22" name="Text 20"/>
          <p:cNvSpPr/>
          <p:nvPr/>
        </p:nvSpPr>
        <p:spPr>
          <a:xfrm>
            <a:off x="10070592" y="1133856"/>
            <a:ext cx="1828800" cy="268224"/>
          </a:xfrm>
          <a:prstGeom prst="rect">
            <a:avLst/>
          </a:prstGeom>
          <a:noFill/>
          <a:ln/>
        </p:spPr>
        <p:txBody>
          <a:bodyPr wrap="square" lIns="0" tIns="0" rIns="0" bIns="0" rtlCol="0" anchor="ctr"/>
          <a:lstStyle/>
          <a:p>
            <a:pPr algn="r"/>
            <a:r>
              <a:rPr lang="en-US" sz="1067" dirty="0">
                <a:solidFill>
                  <a:srgbClr val="C8D8E8"/>
                </a:solidFill>
              </a:rPr>
              <a:t>Product Launch</a:t>
            </a:r>
            <a:endParaRPr lang="en-US" sz="1067" dirty="0"/>
          </a:p>
        </p:txBody>
      </p:sp>
      <p:sp>
        <p:nvSpPr>
          <p:cNvPr id="23" name="Text 21"/>
          <p:cNvSpPr/>
          <p:nvPr/>
        </p:nvSpPr>
        <p:spPr>
          <a:xfrm>
            <a:off x="8363712" y="1414272"/>
            <a:ext cx="2438400" cy="292608"/>
          </a:xfrm>
          <a:prstGeom prst="rect">
            <a:avLst/>
          </a:prstGeom>
          <a:noFill/>
          <a:ln/>
        </p:spPr>
        <p:txBody>
          <a:bodyPr wrap="square" lIns="0" tIns="0" rIns="0" bIns="0" rtlCol="0" anchor="ctr"/>
          <a:lstStyle/>
          <a:p>
            <a:r>
              <a:rPr lang="en-US" sz="1533" b="1" dirty="0">
                <a:solidFill>
                  <a:srgbClr val="FFFFFF"/>
                </a:solidFill>
              </a:rPr>
              <a:t>Agentic Trading</a:t>
            </a:r>
            <a:endParaRPr lang="en-US" sz="1533" dirty="0"/>
          </a:p>
        </p:txBody>
      </p:sp>
      <p:sp>
        <p:nvSpPr>
          <p:cNvPr id="24" name="Text 22"/>
          <p:cNvSpPr/>
          <p:nvPr/>
        </p:nvSpPr>
        <p:spPr>
          <a:xfrm>
            <a:off x="10802112" y="1414272"/>
            <a:ext cx="1097280" cy="292608"/>
          </a:xfrm>
          <a:prstGeom prst="rect">
            <a:avLst/>
          </a:prstGeom>
          <a:noFill/>
          <a:ln/>
        </p:spPr>
        <p:txBody>
          <a:bodyPr wrap="square" lIns="0" tIns="0" rIns="0" bIns="0" rtlCol="0" anchor="ctr"/>
          <a:lstStyle/>
          <a:p>
            <a:pPr algn="r"/>
            <a:r>
              <a:rPr lang="en-US" sz="1267" b="1" dirty="0">
                <a:solidFill>
                  <a:srgbClr val="00C896"/>
                </a:solidFill>
              </a:rPr>
              <a:t>Internal</a:t>
            </a:r>
            <a:endParaRPr lang="en-US" sz="1267" dirty="0"/>
          </a:p>
        </p:txBody>
      </p:sp>
      <p:sp>
        <p:nvSpPr>
          <p:cNvPr id="25" name="Text 23"/>
          <p:cNvSpPr/>
          <p:nvPr/>
        </p:nvSpPr>
        <p:spPr>
          <a:xfrm>
            <a:off x="8363712" y="1828800"/>
            <a:ext cx="3511296" cy="1658112"/>
          </a:xfrm>
          <a:prstGeom prst="rect">
            <a:avLst/>
          </a:prstGeom>
          <a:noFill/>
          <a:ln/>
        </p:spPr>
        <p:txBody>
          <a:bodyPr wrap="square" lIns="0" tIns="0" rIns="0" bIns="0" rtlCol="0" anchor="ctr"/>
          <a:lstStyle/>
          <a:p>
            <a:r>
              <a:rPr lang="en-US" sz="1400" dirty="0">
                <a:solidFill>
                  <a:srgbClr val="C0D8E4"/>
                </a:solidFill>
              </a:rPr>
              <a:t>AI agents execute trades autonomously. Connects third-party AI systems to Robinhood brokerage via API. First broker to offer regulated agentic investing. Could 10x engagement for active traders.</a:t>
            </a:r>
            <a:endParaRPr lang="en-US" sz="1400" dirty="0"/>
          </a:p>
        </p:txBody>
      </p:sp>
      <p:sp>
        <p:nvSpPr>
          <p:cNvPr id="26" name="Shape 24"/>
          <p:cNvSpPr/>
          <p:nvPr/>
        </p:nvSpPr>
        <p:spPr>
          <a:xfrm>
            <a:off x="365760" y="3755136"/>
            <a:ext cx="3755136" cy="2499360"/>
          </a:xfrm>
          <a:prstGeom prst="rect">
            <a:avLst/>
          </a:prstGeom>
          <a:solidFill>
            <a:srgbClr val="1B3A5C"/>
          </a:solidFill>
          <a:ln/>
        </p:spPr>
      </p:sp>
      <p:sp>
        <p:nvSpPr>
          <p:cNvPr id="27" name="Shape 25"/>
          <p:cNvSpPr/>
          <p:nvPr/>
        </p:nvSpPr>
        <p:spPr>
          <a:xfrm>
            <a:off x="365760" y="3755136"/>
            <a:ext cx="3755136" cy="670560"/>
          </a:xfrm>
          <a:prstGeom prst="rect">
            <a:avLst/>
          </a:prstGeom>
          <a:solidFill>
            <a:srgbClr val="B05020"/>
          </a:solidFill>
          <a:ln/>
        </p:spPr>
      </p:sp>
      <p:sp>
        <p:nvSpPr>
          <p:cNvPr id="28" name="Text 26"/>
          <p:cNvSpPr/>
          <p:nvPr/>
        </p:nvSpPr>
        <p:spPr>
          <a:xfrm>
            <a:off x="487680" y="3816096"/>
            <a:ext cx="1463040" cy="268224"/>
          </a:xfrm>
          <a:prstGeom prst="rect">
            <a:avLst/>
          </a:prstGeom>
          <a:noFill/>
          <a:ln/>
        </p:spPr>
        <p:txBody>
          <a:bodyPr wrap="square" lIns="0" tIns="0" rIns="0" bIns="0" rtlCol="0" anchor="ctr"/>
          <a:lstStyle/>
          <a:p>
            <a:r>
              <a:rPr lang="en-US" sz="1200" b="1" dirty="0">
                <a:solidFill>
                  <a:srgbClr val="D0E8FF"/>
                </a:solidFill>
              </a:rPr>
              <a:t>Jun 2026</a:t>
            </a:r>
            <a:endParaRPr lang="en-US" sz="1200" dirty="0"/>
          </a:p>
        </p:txBody>
      </p:sp>
      <p:sp>
        <p:nvSpPr>
          <p:cNvPr id="29" name="Text 27"/>
          <p:cNvSpPr/>
          <p:nvPr/>
        </p:nvSpPr>
        <p:spPr>
          <a:xfrm>
            <a:off x="2194560" y="3816096"/>
            <a:ext cx="1828800" cy="268224"/>
          </a:xfrm>
          <a:prstGeom prst="rect">
            <a:avLst/>
          </a:prstGeom>
          <a:noFill/>
          <a:ln/>
        </p:spPr>
        <p:txBody>
          <a:bodyPr wrap="square" lIns="0" tIns="0" rIns="0" bIns="0" rtlCol="0" anchor="ctr"/>
          <a:lstStyle/>
          <a:p>
            <a:pPr algn="r"/>
            <a:r>
              <a:rPr lang="en-US" sz="1067" dirty="0">
                <a:solidFill>
                  <a:srgbClr val="C8D8E8"/>
                </a:solidFill>
              </a:rPr>
              <a:t>Acquisition</a:t>
            </a:r>
            <a:endParaRPr lang="en-US" sz="1067" dirty="0"/>
          </a:p>
        </p:txBody>
      </p:sp>
      <p:sp>
        <p:nvSpPr>
          <p:cNvPr id="30" name="Text 28"/>
          <p:cNvSpPr/>
          <p:nvPr/>
        </p:nvSpPr>
        <p:spPr>
          <a:xfrm>
            <a:off x="487680" y="4096512"/>
            <a:ext cx="2438400" cy="292608"/>
          </a:xfrm>
          <a:prstGeom prst="rect">
            <a:avLst/>
          </a:prstGeom>
          <a:noFill/>
          <a:ln/>
        </p:spPr>
        <p:txBody>
          <a:bodyPr wrap="square" lIns="0" tIns="0" rIns="0" bIns="0" rtlCol="0" anchor="ctr"/>
          <a:lstStyle/>
          <a:p>
            <a:r>
              <a:rPr lang="en-US" sz="1533" b="1" dirty="0">
                <a:solidFill>
                  <a:srgbClr val="FFFFFF"/>
                </a:solidFill>
              </a:rPr>
              <a:t>WonderFi</a:t>
            </a:r>
            <a:endParaRPr lang="en-US" sz="1533" dirty="0"/>
          </a:p>
        </p:txBody>
      </p:sp>
      <p:sp>
        <p:nvSpPr>
          <p:cNvPr id="31" name="Text 29"/>
          <p:cNvSpPr/>
          <p:nvPr/>
        </p:nvSpPr>
        <p:spPr>
          <a:xfrm>
            <a:off x="2926080" y="4096512"/>
            <a:ext cx="1097280" cy="292608"/>
          </a:xfrm>
          <a:prstGeom prst="rect">
            <a:avLst/>
          </a:prstGeom>
          <a:noFill/>
          <a:ln/>
        </p:spPr>
        <p:txBody>
          <a:bodyPr wrap="square" lIns="0" tIns="0" rIns="0" bIns="0" rtlCol="0" anchor="ctr"/>
          <a:lstStyle/>
          <a:p>
            <a:pPr algn="r"/>
            <a:r>
              <a:rPr lang="en-US" sz="1267" b="1" dirty="0">
                <a:solidFill>
                  <a:srgbClr val="00C896"/>
                </a:solidFill>
              </a:rPr>
              <a:t>$250M CAD est.</a:t>
            </a:r>
            <a:endParaRPr lang="en-US" sz="1267" dirty="0"/>
          </a:p>
        </p:txBody>
      </p:sp>
      <p:sp>
        <p:nvSpPr>
          <p:cNvPr id="32" name="Text 30"/>
          <p:cNvSpPr/>
          <p:nvPr/>
        </p:nvSpPr>
        <p:spPr>
          <a:xfrm>
            <a:off x="487680" y="4511040"/>
            <a:ext cx="3511296" cy="1658112"/>
          </a:xfrm>
          <a:prstGeom prst="rect">
            <a:avLst/>
          </a:prstGeom>
          <a:noFill/>
          <a:ln/>
        </p:spPr>
        <p:txBody>
          <a:bodyPr wrap="square" lIns="0" tIns="0" rIns="0" bIns="0" rtlCol="0" anchor="ctr"/>
          <a:lstStyle/>
          <a:p>
            <a:r>
              <a:rPr lang="en-US" sz="1400" dirty="0">
                <a:solidFill>
                  <a:srgbClr val="C0D8E4"/>
                </a:solidFill>
              </a:rPr>
              <a:t>Canadian-regulated crypto platform. Gives Robinhood a regulated Canadian crypto presence with ~$500B+ in transaction volume heritage. Canadian regulatory approval received. International expansion milestone.</a:t>
            </a:r>
            <a:endParaRPr lang="en-US" sz="1400" dirty="0"/>
          </a:p>
        </p:txBody>
      </p:sp>
      <p:sp>
        <p:nvSpPr>
          <p:cNvPr id="33" name="Shape 31"/>
          <p:cNvSpPr/>
          <p:nvPr/>
        </p:nvSpPr>
        <p:spPr>
          <a:xfrm>
            <a:off x="4303776" y="3755136"/>
            <a:ext cx="3755136" cy="2499360"/>
          </a:xfrm>
          <a:prstGeom prst="rect">
            <a:avLst/>
          </a:prstGeom>
          <a:solidFill>
            <a:srgbClr val="1B3A5C"/>
          </a:solidFill>
          <a:ln/>
        </p:spPr>
      </p:sp>
      <p:sp>
        <p:nvSpPr>
          <p:cNvPr id="34" name="Shape 32"/>
          <p:cNvSpPr/>
          <p:nvPr/>
        </p:nvSpPr>
        <p:spPr>
          <a:xfrm>
            <a:off x="4303776" y="3755136"/>
            <a:ext cx="3755136" cy="670560"/>
          </a:xfrm>
          <a:prstGeom prst="rect">
            <a:avLst/>
          </a:prstGeom>
          <a:solidFill>
            <a:srgbClr val="5A6E8C"/>
          </a:solidFill>
          <a:ln/>
        </p:spPr>
      </p:sp>
      <p:sp>
        <p:nvSpPr>
          <p:cNvPr id="35" name="Text 33"/>
          <p:cNvSpPr/>
          <p:nvPr/>
        </p:nvSpPr>
        <p:spPr>
          <a:xfrm>
            <a:off x="4425696" y="3816096"/>
            <a:ext cx="1463040" cy="268224"/>
          </a:xfrm>
          <a:prstGeom prst="rect">
            <a:avLst/>
          </a:prstGeom>
          <a:noFill/>
          <a:ln/>
        </p:spPr>
        <p:txBody>
          <a:bodyPr wrap="square" lIns="0" tIns="0" rIns="0" bIns="0" rtlCol="0" anchor="ctr"/>
          <a:lstStyle/>
          <a:p>
            <a:r>
              <a:rPr lang="en-US" sz="1200" b="1" dirty="0">
                <a:solidFill>
                  <a:srgbClr val="D0E8FF"/>
                </a:solidFill>
              </a:rPr>
              <a:t>2026</a:t>
            </a:r>
            <a:endParaRPr lang="en-US" sz="1200" dirty="0"/>
          </a:p>
        </p:txBody>
      </p:sp>
      <p:sp>
        <p:nvSpPr>
          <p:cNvPr id="36" name="Text 34"/>
          <p:cNvSpPr/>
          <p:nvPr/>
        </p:nvSpPr>
        <p:spPr>
          <a:xfrm>
            <a:off x="6132576" y="3816096"/>
            <a:ext cx="1828800" cy="268224"/>
          </a:xfrm>
          <a:prstGeom prst="rect">
            <a:avLst/>
          </a:prstGeom>
          <a:noFill/>
          <a:ln/>
        </p:spPr>
        <p:txBody>
          <a:bodyPr wrap="square" lIns="0" tIns="0" rIns="0" bIns="0" rtlCol="0" anchor="ctr"/>
          <a:lstStyle/>
          <a:p>
            <a:pPr algn="r"/>
            <a:r>
              <a:rPr lang="en-US" sz="1067" dirty="0">
                <a:solidFill>
                  <a:srgbClr val="C8D8E8"/>
                </a:solidFill>
              </a:rPr>
              <a:t>Product Launch</a:t>
            </a:r>
            <a:endParaRPr lang="en-US" sz="1067" dirty="0"/>
          </a:p>
        </p:txBody>
      </p:sp>
      <p:sp>
        <p:nvSpPr>
          <p:cNvPr id="37" name="Text 35"/>
          <p:cNvSpPr/>
          <p:nvPr/>
        </p:nvSpPr>
        <p:spPr>
          <a:xfrm>
            <a:off x="4425696" y="4096512"/>
            <a:ext cx="2438400" cy="292608"/>
          </a:xfrm>
          <a:prstGeom prst="rect">
            <a:avLst/>
          </a:prstGeom>
          <a:noFill/>
          <a:ln/>
        </p:spPr>
        <p:txBody>
          <a:bodyPr wrap="square" lIns="0" tIns="0" rIns="0" bIns="0" rtlCol="0" anchor="ctr"/>
          <a:lstStyle/>
          <a:p>
            <a:r>
              <a:rPr lang="en-US" sz="1533" b="1" dirty="0">
                <a:solidFill>
                  <a:srgbClr val="FFFFFF"/>
                </a:solidFill>
              </a:rPr>
              <a:t>Tokenization (Arbitrum L2)</a:t>
            </a:r>
            <a:endParaRPr lang="en-US" sz="1533" dirty="0"/>
          </a:p>
        </p:txBody>
      </p:sp>
      <p:sp>
        <p:nvSpPr>
          <p:cNvPr id="38" name="Text 36"/>
          <p:cNvSpPr/>
          <p:nvPr/>
        </p:nvSpPr>
        <p:spPr>
          <a:xfrm>
            <a:off x="6864096" y="4096512"/>
            <a:ext cx="1097280" cy="292608"/>
          </a:xfrm>
          <a:prstGeom prst="rect">
            <a:avLst/>
          </a:prstGeom>
          <a:noFill/>
          <a:ln/>
        </p:spPr>
        <p:txBody>
          <a:bodyPr wrap="square" lIns="0" tIns="0" rIns="0" bIns="0" rtlCol="0" anchor="ctr"/>
          <a:lstStyle/>
          <a:p>
            <a:pPr algn="r"/>
            <a:r>
              <a:rPr lang="en-US" sz="1267" b="1" dirty="0">
                <a:solidFill>
                  <a:srgbClr val="00C896"/>
                </a:solidFill>
              </a:rPr>
              <a:t>Internal</a:t>
            </a:r>
            <a:endParaRPr lang="en-US" sz="1267" dirty="0"/>
          </a:p>
        </p:txBody>
      </p:sp>
      <p:sp>
        <p:nvSpPr>
          <p:cNvPr id="39" name="Text 37"/>
          <p:cNvSpPr/>
          <p:nvPr/>
        </p:nvSpPr>
        <p:spPr>
          <a:xfrm>
            <a:off x="4425696" y="4511040"/>
            <a:ext cx="3511296" cy="1658112"/>
          </a:xfrm>
          <a:prstGeom prst="rect">
            <a:avLst/>
          </a:prstGeom>
          <a:noFill/>
          <a:ln/>
        </p:spPr>
        <p:txBody>
          <a:bodyPr wrap="square" lIns="0" tIns="0" rIns="0" bIns="0" rtlCol="0" anchor="ctr"/>
          <a:lstStyle/>
          <a:p>
            <a:r>
              <a:rPr lang="en-US" sz="1400" dirty="0">
                <a:solidFill>
                  <a:srgbClr val="C0D8E4"/>
                </a:solidFill>
              </a:rPr>
              <a:t>Proprietary Layer 2 blockchain on Arbitrum for tokenizing US stocks and ETFs for 24/7 on-chain trading in Europe. CEO Tenev calls it 'the biggest innovation our industry has seen in a decade.' Regulatory filing pending SEC.</a:t>
            </a:r>
            <a:endParaRPr lang="en-US" sz="1400" dirty="0"/>
          </a:p>
        </p:txBody>
      </p:sp>
      <p:sp>
        <p:nvSpPr>
          <p:cNvPr id="40" name="Shape 38"/>
          <p:cNvSpPr/>
          <p:nvPr/>
        </p:nvSpPr>
        <p:spPr>
          <a:xfrm>
            <a:off x="8241792" y="3755136"/>
            <a:ext cx="3755136" cy="2499360"/>
          </a:xfrm>
          <a:prstGeom prst="rect">
            <a:avLst/>
          </a:prstGeom>
          <a:solidFill>
            <a:srgbClr val="1B3A5C"/>
          </a:solidFill>
          <a:ln/>
        </p:spPr>
      </p:sp>
      <p:sp>
        <p:nvSpPr>
          <p:cNvPr id="41" name="Shape 39"/>
          <p:cNvSpPr/>
          <p:nvPr/>
        </p:nvSpPr>
        <p:spPr>
          <a:xfrm>
            <a:off x="8241792" y="3755136"/>
            <a:ext cx="3755136" cy="670560"/>
          </a:xfrm>
          <a:prstGeom prst="rect">
            <a:avLst/>
          </a:prstGeom>
          <a:solidFill>
            <a:srgbClr val="1E6B4A"/>
          </a:solidFill>
          <a:ln/>
        </p:spPr>
      </p:sp>
      <p:sp>
        <p:nvSpPr>
          <p:cNvPr id="42" name="Text 40"/>
          <p:cNvSpPr/>
          <p:nvPr/>
        </p:nvSpPr>
        <p:spPr>
          <a:xfrm>
            <a:off x="8363712" y="3816096"/>
            <a:ext cx="1463040" cy="268224"/>
          </a:xfrm>
          <a:prstGeom prst="rect">
            <a:avLst/>
          </a:prstGeom>
          <a:noFill/>
          <a:ln/>
        </p:spPr>
        <p:txBody>
          <a:bodyPr wrap="square" lIns="0" tIns="0" rIns="0" bIns="0" rtlCol="0" anchor="ctr"/>
          <a:lstStyle/>
          <a:p>
            <a:r>
              <a:rPr lang="en-US" sz="1200" b="1" dirty="0">
                <a:solidFill>
                  <a:srgbClr val="D0E8FF"/>
                </a:solidFill>
              </a:rPr>
              <a:t>2026</a:t>
            </a:r>
            <a:endParaRPr lang="en-US" sz="1200" dirty="0"/>
          </a:p>
        </p:txBody>
      </p:sp>
      <p:sp>
        <p:nvSpPr>
          <p:cNvPr id="43" name="Text 41"/>
          <p:cNvSpPr/>
          <p:nvPr/>
        </p:nvSpPr>
        <p:spPr>
          <a:xfrm>
            <a:off x="10070592" y="3816096"/>
            <a:ext cx="1828800" cy="268224"/>
          </a:xfrm>
          <a:prstGeom prst="rect">
            <a:avLst/>
          </a:prstGeom>
          <a:noFill/>
          <a:ln/>
        </p:spPr>
        <p:txBody>
          <a:bodyPr wrap="square" lIns="0" tIns="0" rIns="0" bIns="0" rtlCol="0" anchor="ctr"/>
          <a:lstStyle/>
          <a:p>
            <a:pPr algn="r"/>
            <a:r>
              <a:rPr lang="en-US" sz="1067" dirty="0">
                <a:solidFill>
                  <a:srgbClr val="C8D8E8"/>
                </a:solidFill>
              </a:rPr>
              <a:t>Partnership</a:t>
            </a:r>
            <a:endParaRPr lang="en-US" sz="1067" dirty="0"/>
          </a:p>
        </p:txBody>
      </p:sp>
      <p:sp>
        <p:nvSpPr>
          <p:cNvPr id="44" name="Text 42"/>
          <p:cNvSpPr/>
          <p:nvPr/>
        </p:nvSpPr>
        <p:spPr>
          <a:xfrm>
            <a:off x="8363712" y="4096512"/>
            <a:ext cx="2438400" cy="292608"/>
          </a:xfrm>
          <a:prstGeom prst="rect">
            <a:avLst/>
          </a:prstGeom>
          <a:noFill/>
          <a:ln/>
        </p:spPr>
        <p:txBody>
          <a:bodyPr wrap="square" lIns="0" tIns="0" rIns="0" bIns="0" rtlCol="0" anchor="ctr"/>
          <a:lstStyle/>
          <a:p>
            <a:r>
              <a:rPr lang="en-US" sz="1533" b="1" dirty="0">
                <a:solidFill>
                  <a:srgbClr val="FFFFFF"/>
                </a:solidFill>
              </a:rPr>
              <a:t>Trump Accounts</a:t>
            </a:r>
            <a:endParaRPr lang="en-US" sz="1533" dirty="0"/>
          </a:p>
        </p:txBody>
      </p:sp>
      <p:sp>
        <p:nvSpPr>
          <p:cNvPr id="45" name="Text 43"/>
          <p:cNvSpPr/>
          <p:nvPr/>
        </p:nvSpPr>
        <p:spPr>
          <a:xfrm>
            <a:off x="10802112" y="4096512"/>
            <a:ext cx="1097280" cy="292608"/>
          </a:xfrm>
          <a:prstGeom prst="rect">
            <a:avLst/>
          </a:prstGeom>
          <a:noFill/>
          <a:ln/>
        </p:spPr>
        <p:txBody>
          <a:bodyPr wrap="square" lIns="0" tIns="0" rIns="0" bIns="0" rtlCol="0" anchor="ctr"/>
          <a:lstStyle/>
          <a:p>
            <a:pPr algn="r"/>
            <a:r>
              <a:rPr lang="en-US" sz="1267" b="1" dirty="0">
                <a:solidFill>
                  <a:srgbClr val="00C896"/>
                </a:solidFill>
              </a:rPr>
              <a:t>Govt-backed</a:t>
            </a:r>
            <a:endParaRPr lang="en-US" sz="1267" dirty="0"/>
          </a:p>
        </p:txBody>
      </p:sp>
      <p:sp>
        <p:nvSpPr>
          <p:cNvPr id="46" name="Text 44"/>
          <p:cNvSpPr/>
          <p:nvPr/>
        </p:nvSpPr>
        <p:spPr>
          <a:xfrm>
            <a:off x="8363712" y="4511040"/>
            <a:ext cx="3511296" cy="1658112"/>
          </a:xfrm>
          <a:prstGeom prst="rect">
            <a:avLst/>
          </a:prstGeom>
          <a:noFill/>
          <a:ln/>
        </p:spPr>
        <p:txBody>
          <a:bodyPr wrap="square" lIns="0" tIns="0" rIns="0" bIns="0" rtlCol="0" anchor="ctr"/>
          <a:lstStyle/>
          <a:p>
            <a:r>
              <a:rPr lang="en-US" sz="1400" dirty="0">
                <a:solidFill>
                  <a:srgbClr val="C0D8E4"/>
                </a:solidFill>
              </a:rPr>
              <a:t>Tax-advantaged investment accounts for eligible children with $1,000 initial US Treasury contribution. Robinhood is a key distribution partner. Could add millions of new (young) funded accounts at zero acquisition cost.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55904"/>
          </a:xfrm>
          <a:prstGeom prst="rect">
            <a:avLst/>
          </a:prstGeom>
          <a:solidFill>
            <a:srgbClr val="0D1B2A"/>
          </a:solidFill>
          <a:ln/>
        </p:spPr>
      </p:sp>
      <p:sp>
        <p:nvSpPr>
          <p:cNvPr id="3" name="Text 1"/>
          <p:cNvSpPr/>
          <p:nvPr/>
        </p:nvSpPr>
        <p:spPr>
          <a:xfrm>
            <a:off x="365760" y="0"/>
            <a:ext cx="8534400" cy="755904"/>
          </a:xfrm>
          <a:prstGeom prst="rect">
            <a:avLst/>
          </a:prstGeom>
          <a:noFill/>
          <a:ln/>
        </p:spPr>
        <p:txBody>
          <a:bodyPr wrap="square" lIns="0" tIns="0" rIns="0" bIns="0" rtlCol="0" anchor="ctr"/>
          <a:lstStyle/>
          <a:p>
            <a:r>
              <a:rPr lang="en-US" sz="1467" b="1" kern="0" spc="267" dirty="0">
                <a:solidFill>
                  <a:srgbClr val="00C896"/>
                </a:solidFill>
              </a:rPr>
              <a:t>SECTION 6: COMPETITIVE LANDSCAPE</a:t>
            </a:r>
          </a:p>
        </p:txBody>
      </p:sp>
      <p:sp>
        <p:nvSpPr>
          <p:cNvPr id="4" name="Text 2"/>
          <p:cNvSpPr/>
          <p:nvPr/>
        </p:nvSpPr>
        <p:spPr>
          <a:xfrm>
            <a:off x="8534400" y="0"/>
            <a:ext cx="3413760" cy="755904"/>
          </a:xfrm>
          <a:prstGeom prst="rect">
            <a:avLst/>
          </a:prstGeom>
          <a:noFill/>
          <a:ln/>
        </p:spPr>
        <p:txBody>
          <a:bodyPr wrap="square" lIns="0" tIns="0" rIns="0" bIns="0" rtlCol="0" anchor="ctr"/>
          <a:lstStyle/>
          <a:p>
            <a:pPr algn="r"/>
            <a:r>
              <a:rPr lang="en-US" sz="1200" i="1" dirty="0">
                <a:solidFill>
                  <a:srgbClr val="00C896"/>
                </a:solidFill>
              </a:rPr>
              <a:t>Robinhood vs Brokers, Fintechs &amp; Crypto Natives</a:t>
            </a:r>
            <a:endParaRPr lang="en-US" sz="1200" dirty="0"/>
          </a:p>
        </p:txBody>
      </p:sp>
      <p:graphicFrame>
        <p:nvGraphicFramePr>
          <p:cNvPr id="10" name="Table 0"/>
          <p:cNvGraphicFramePr>
            <a:graphicFrameLocks noGrp="1"/>
          </p:cNvGraphicFramePr>
          <p:nvPr/>
        </p:nvGraphicFramePr>
        <p:xfrm>
          <a:off x="268224" y="877824"/>
          <a:ext cx="11704320" cy="3243072"/>
        </p:xfrm>
        <a:graphic>
          <a:graphicData uri="http://schemas.openxmlformats.org/drawingml/2006/table">
            <a:tbl>
              <a:tblPr/>
              <a:tblGrid>
                <a:gridCol w="22555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02080">
                  <a:extLst>
                    <a:ext uri="{9D8B030D-6E8A-4147-A177-3AD203B41FA5}">
                      <a16:colId xmlns:a16="http://schemas.microsoft.com/office/drawing/2014/main" val="20002"/>
                    </a:ext>
                  </a:extLst>
                </a:gridCol>
                <a:gridCol w="140208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gridCol w="1280160">
                  <a:extLst>
                    <a:ext uri="{9D8B030D-6E8A-4147-A177-3AD203B41FA5}">
                      <a16:colId xmlns:a16="http://schemas.microsoft.com/office/drawing/2014/main" val="20006"/>
                    </a:ext>
                  </a:extLst>
                </a:gridCol>
                <a:gridCol w="1341120">
                  <a:extLst>
                    <a:ext uri="{9D8B030D-6E8A-4147-A177-3AD203B41FA5}">
                      <a16:colId xmlns:a16="http://schemas.microsoft.com/office/drawing/2014/main" val="20007"/>
                    </a:ext>
                  </a:extLst>
                </a:gridCol>
              </a:tblGrid>
              <a:tr h="463296">
                <a:tc>
                  <a:txBody>
                    <a:bodyPr/>
                    <a:lstStyle/>
                    <a:p>
                      <a:pPr marL="0" indent="0" algn="l">
                        <a:buNone/>
                      </a:pPr>
                      <a:r>
                        <a:rPr lang="en-US" sz="1200" b="1" dirty="0">
                          <a:solidFill>
                            <a:srgbClr val="FFFFFF"/>
                          </a:solidFill>
                        </a:rPr>
                        <a:t>Company</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0D1B2A"/>
                    </a:solidFill>
                  </a:tcPr>
                </a:tc>
                <a:tc>
                  <a:txBody>
                    <a:bodyPr/>
                    <a:lstStyle/>
                    <a:p>
                      <a:pPr marL="0" indent="0" algn="ctr">
                        <a:buNone/>
                      </a:pPr>
                      <a:r>
                        <a:rPr lang="en-US" sz="1200" b="1" dirty="0">
                          <a:solidFill>
                            <a:srgbClr val="FFFFFF"/>
                          </a:solidFill>
                        </a:rPr>
                        <a:t>Ticker</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0D1B2A"/>
                    </a:solidFill>
                  </a:tcPr>
                </a:tc>
                <a:tc>
                  <a:txBody>
                    <a:bodyPr/>
                    <a:lstStyle/>
                    <a:p>
                      <a:pPr marL="0" indent="0" algn="ctr">
                        <a:buNone/>
                      </a:pPr>
                      <a:r>
                        <a:rPr lang="en-US" sz="1200" b="1" dirty="0">
                          <a:solidFill>
                            <a:srgbClr val="FFFFFF"/>
                          </a:solidFill>
                        </a:rPr>
                        <a:t>Market Cap</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0D1B2A"/>
                    </a:solidFill>
                  </a:tcPr>
                </a:tc>
                <a:tc>
                  <a:txBody>
                    <a:bodyPr/>
                    <a:lstStyle/>
                    <a:p>
                      <a:pPr marL="0" indent="0" algn="ctr">
                        <a:buNone/>
                      </a:pPr>
                      <a:r>
                        <a:rPr lang="en-US" sz="1200" b="1" dirty="0">
                          <a:solidFill>
                            <a:srgbClr val="FFFFFF"/>
                          </a:solidFill>
                        </a:rPr>
                        <a:t>FY2025 Rev</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0D1B2A"/>
                    </a:solidFill>
                  </a:tcPr>
                </a:tc>
                <a:tc>
                  <a:txBody>
                    <a:bodyPr/>
                    <a:lstStyle/>
                    <a:p>
                      <a:pPr marL="0" indent="0" algn="ctr">
                        <a:buNone/>
                      </a:pPr>
                      <a:r>
                        <a:rPr lang="en-US" sz="1200" b="1" dirty="0">
                          <a:solidFill>
                            <a:srgbClr val="FFFFFF"/>
                          </a:solidFill>
                        </a:rPr>
                        <a:t>P/E</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0D1B2A"/>
                    </a:solidFill>
                  </a:tcPr>
                </a:tc>
                <a:tc>
                  <a:txBody>
                    <a:bodyPr/>
                    <a:lstStyle/>
                    <a:p>
                      <a:pPr marL="0" indent="0" algn="ctr">
                        <a:buNone/>
                      </a:pPr>
                      <a:r>
                        <a:rPr lang="en-US" sz="1200" b="1" dirty="0">
                          <a:solidFill>
                            <a:srgbClr val="FFFFFF"/>
                          </a:solidFill>
                        </a:rPr>
                        <a:t>Crypto</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0D1B2A"/>
                    </a:solidFill>
                  </a:tcPr>
                </a:tc>
                <a:tc>
                  <a:txBody>
                    <a:bodyPr/>
                    <a:lstStyle/>
                    <a:p>
                      <a:pPr marL="0" indent="0" algn="ctr">
                        <a:buNone/>
                      </a:pPr>
                      <a:r>
                        <a:rPr lang="en-US" sz="1200" b="1" dirty="0">
                          <a:solidFill>
                            <a:srgbClr val="FFFFFF"/>
                          </a:solidFill>
                        </a:rPr>
                        <a:t>Mobile-1st</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0D1B2A"/>
                    </a:solidFill>
                  </a:tcPr>
                </a:tc>
                <a:tc>
                  <a:txBody>
                    <a:bodyPr/>
                    <a:lstStyle/>
                    <a:p>
                      <a:pPr marL="0" indent="0" algn="ctr">
                        <a:buNone/>
                      </a:pPr>
                      <a:r>
                        <a:rPr lang="en-US" sz="1200" b="1" dirty="0">
                          <a:solidFill>
                            <a:srgbClr val="FFFFFF"/>
                          </a:solidFill>
                        </a:rPr>
                        <a:t>AI Trading</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463296">
                <a:tc>
                  <a:txBody>
                    <a:bodyPr/>
                    <a:lstStyle/>
                    <a:p>
                      <a:pPr marL="0" indent="0" algn="l">
                        <a:buNone/>
                      </a:pPr>
                      <a:r>
                        <a:rPr lang="en-US" sz="1200" b="1" dirty="0">
                          <a:solidFill>
                            <a:srgbClr val="007A5C"/>
                          </a:solidFill>
                        </a:rPr>
                        <a:t>Robinhood</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E0F5EE"/>
                    </a:solidFill>
                  </a:tcPr>
                </a:tc>
                <a:tc>
                  <a:txBody>
                    <a:bodyPr/>
                    <a:lstStyle/>
                    <a:p>
                      <a:pPr marL="0" indent="0" algn="ctr">
                        <a:buNone/>
                      </a:pPr>
                      <a:r>
                        <a:rPr lang="en-US" sz="1200" b="1" dirty="0">
                          <a:solidFill>
                            <a:srgbClr val="007A5C"/>
                          </a:solidFill>
                        </a:rPr>
                        <a:t>HOOD</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E0F5EE"/>
                    </a:solidFill>
                  </a:tcPr>
                </a:tc>
                <a:tc>
                  <a:txBody>
                    <a:bodyPr/>
                    <a:lstStyle/>
                    <a:p>
                      <a:pPr marL="0" indent="0" algn="ctr">
                        <a:buNone/>
                      </a:pPr>
                      <a:r>
                        <a:rPr lang="en-US" sz="1200" b="1" dirty="0">
                          <a:solidFill>
                            <a:srgbClr val="007A5C"/>
                          </a:solidFill>
                        </a:rPr>
                        <a:t>~$82B</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E0F5EE"/>
                    </a:solidFill>
                  </a:tcPr>
                </a:tc>
                <a:tc>
                  <a:txBody>
                    <a:bodyPr/>
                    <a:lstStyle/>
                    <a:p>
                      <a:pPr marL="0" indent="0" algn="ctr">
                        <a:buNone/>
                      </a:pPr>
                      <a:r>
                        <a:rPr lang="en-US" sz="1200" b="1" dirty="0">
                          <a:solidFill>
                            <a:srgbClr val="007A5C"/>
                          </a:solidFill>
                        </a:rPr>
                        <a:t>$4.5B</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E0F5EE"/>
                    </a:solidFill>
                  </a:tcPr>
                </a:tc>
                <a:tc>
                  <a:txBody>
                    <a:bodyPr/>
                    <a:lstStyle/>
                    <a:p>
                      <a:pPr marL="0" indent="0" algn="ctr">
                        <a:buNone/>
                      </a:pPr>
                      <a:r>
                        <a:rPr lang="en-US" sz="1200" b="1" dirty="0">
                          <a:solidFill>
                            <a:srgbClr val="007A5C"/>
                          </a:solidFill>
                        </a:rPr>
                        <a:t>~45x</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E0F5EE"/>
                    </a:solidFill>
                  </a:tcPr>
                </a:tc>
                <a:tc>
                  <a:txBody>
                    <a:bodyPr/>
                    <a:lstStyle/>
                    <a:p>
                      <a:pPr marL="0" indent="0" algn="ctr">
                        <a:buNone/>
                      </a:pPr>
                      <a:r>
                        <a:rPr lang="en-US" sz="1200" b="1" dirty="0">
                          <a:solidFill>
                            <a:srgbClr val="1A7A4A"/>
                          </a:solidFill>
                        </a:rPr>
                        <a:t>✓ Full</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E0F5EE"/>
                    </a:solidFill>
                  </a:tcPr>
                </a:tc>
                <a:tc>
                  <a:txBody>
                    <a:bodyPr/>
                    <a:lstStyle/>
                    <a:p>
                      <a:pPr marL="0" indent="0" algn="ctr">
                        <a:buNone/>
                      </a:pPr>
                      <a:r>
                        <a:rPr lang="en-US" sz="1200" b="1" dirty="0">
                          <a:solidFill>
                            <a:srgbClr val="1A7A4A"/>
                          </a:solidFill>
                        </a:rPr>
                        <a:t>✓ Native</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E0F5EE"/>
                    </a:solidFill>
                  </a:tcPr>
                </a:tc>
                <a:tc>
                  <a:txBody>
                    <a:bodyPr/>
                    <a:lstStyle/>
                    <a:p>
                      <a:pPr marL="0" indent="0" algn="ctr">
                        <a:buNone/>
                      </a:pPr>
                      <a:r>
                        <a:rPr lang="en-US" sz="1200" b="1" dirty="0">
                          <a:solidFill>
                            <a:srgbClr val="1A7A4A"/>
                          </a:solidFill>
                        </a:rPr>
                        <a:t>✓ Agentic</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E0F5EE"/>
                    </a:solidFill>
                  </a:tcPr>
                </a:tc>
                <a:extLst>
                  <a:ext uri="{0D108BD9-81ED-4DB2-BD59-A6C34878D82A}">
                    <a16:rowId xmlns:a16="http://schemas.microsoft.com/office/drawing/2014/main" val="10001"/>
                  </a:ext>
                </a:extLst>
              </a:tr>
              <a:tr h="463296">
                <a:tc>
                  <a:txBody>
                    <a:bodyPr/>
                    <a:lstStyle/>
                    <a:p>
                      <a:pPr marL="0" indent="0" algn="l">
                        <a:buNone/>
                      </a:pPr>
                      <a:r>
                        <a:rPr lang="en-US" sz="1200" dirty="0">
                          <a:solidFill>
                            <a:srgbClr val="1A2E3B"/>
                          </a:solidFill>
                        </a:rPr>
                        <a:t>Charles Schwab</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E3B"/>
                          </a:solidFill>
                        </a:rPr>
                        <a:t>SCHW</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E3B"/>
                          </a:solidFill>
                        </a:rPr>
                        <a:t>~$140B</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E3B"/>
                          </a:solidFill>
                        </a:rPr>
                        <a:t>$19.6B</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E3B"/>
                          </a:solidFill>
                        </a:rPr>
                        <a:t>~22x</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E84545"/>
                          </a:solidFill>
                        </a:rPr>
                        <a:t>✗ Limited</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E3B"/>
                          </a:solidFill>
                        </a:rPr>
                        <a:t>Partial</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E3B"/>
                          </a:solidFill>
                        </a:rPr>
                        <a:t>In Dev</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3296">
                <a:tc>
                  <a:txBody>
                    <a:bodyPr/>
                    <a:lstStyle/>
                    <a:p>
                      <a:pPr marL="0" indent="0" algn="l">
                        <a:buNone/>
                      </a:pPr>
                      <a:r>
                        <a:rPr lang="en-US" sz="1200" dirty="0">
                          <a:solidFill>
                            <a:srgbClr val="1A2E3B"/>
                          </a:solidFill>
                        </a:rPr>
                        <a:t>Interactive Brokers</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8F8F8"/>
                    </a:solidFill>
                  </a:tcPr>
                </a:tc>
                <a:tc>
                  <a:txBody>
                    <a:bodyPr/>
                    <a:lstStyle/>
                    <a:p>
                      <a:pPr marL="0" indent="0" algn="ctr">
                        <a:buNone/>
                      </a:pPr>
                      <a:r>
                        <a:rPr lang="en-US" sz="1200" dirty="0">
                          <a:solidFill>
                            <a:srgbClr val="1A2E3B"/>
                          </a:solidFill>
                        </a:rPr>
                        <a:t>IBKR</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8F8F8"/>
                    </a:solidFill>
                  </a:tcPr>
                </a:tc>
                <a:tc>
                  <a:txBody>
                    <a:bodyPr/>
                    <a:lstStyle/>
                    <a:p>
                      <a:pPr marL="0" indent="0" algn="ctr">
                        <a:buNone/>
                      </a:pPr>
                      <a:r>
                        <a:rPr lang="en-US" sz="1200" dirty="0">
                          <a:solidFill>
                            <a:srgbClr val="1A2E3B"/>
                          </a:solidFill>
                        </a:rPr>
                        <a:t>~$55B</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8F8F8"/>
                    </a:solidFill>
                  </a:tcPr>
                </a:tc>
                <a:tc>
                  <a:txBody>
                    <a:bodyPr/>
                    <a:lstStyle/>
                    <a:p>
                      <a:pPr marL="0" indent="0" algn="ctr">
                        <a:buNone/>
                      </a:pPr>
                      <a:r>
                        <a:rPr lang="en-US" sz="1200" dirty="0">
                          <a:solidFill>
                            <a:srgbClr val="1A2E3B"/>
                          </a:solidFill>
                        </a:rPr>
                        <a:t>$5.3B</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8F8F8"/>
                    </a:solidFill>
                  </a:tcPr>
                </a:tc>
                <a:tc>
                  <a:txBody>
                    <a:bodyPr/>
                    <a:lstStyle/>
                    <a:p>
                      <a:pPr marL="0" indent="0" algn="ctr">
                        <a:buNone/>
                      </a:pPr>
                      <a:r>
                        <a:rPr lang="en-US" sz="1200" dirty="0">
                          <a:solidFill>
                            <a:srgbClr val="1A2E3B"/>
                          </a:solidFill>
                        </a:rPr>
                        <a:t>~24x</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8F8F8"/>
                    </a:solidFill>
                  </a:tcPr>
                </a:tc>
                <a:tc>
                  <a:txBody>
                    <a:bodyPr/>
                    <a:lstStyle/>
                    <a:p>
                      <a:pPr marL="0" indent="0" algn="ctr">
                        <a:buNone/>
                      </a:pPr>
                      <a:r>
                        <a:rPr lang="en-US" sz="1200" b="1" dirty="0">
                          <a:solidFill>
                            <a:srgbClr val="1A7A4A"/>
                          </a:solidFill>
                        </a:rPr>
                        <a:t>✓ Yes</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8F8F8"/>
                    </a:solidFill>
                  </a:tcPr>
                </a:tc>
                <a:tc>
                  <a:txBody>
                    <a:bodyPr/>
                    <a:lstStyle/>
                    <a:p>
                      <a:pPr marL="0" indent="0" algn="ctr">
                        <a:buNone/>
                      </a:pPr>
                      <a:r>
                        <a:rPr lang="en-US" sz="1200" dirty="0">
                          <a:solidFill>
                            <a:srgbClr val="1A2E3B"/>
                          </a:solidFill>
                        </a:rPr>
                        <a:t>Partial</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8F8F8"/>
                    </a:solidFill>
                  </a:tcPr>
                </a:tc>
                <a:tc>
                  <a:txBody>
                    <a:bodyPr/>
                    <a:lstStyle/>
                    <a:p>
                      <a:pPr marL="0" indent="0" algn="ctr">
                        <a:buNone/>
                      </a:pPr>
                      <a:r>
                        <a:rPr lang="en-US" sz="1200" dirty="0">
                          <a:solidFill>
                            <a:srgbClr val="1A2E3B"/>
                          </a:solidFill>
                        </a:rPr>
                        <a:t>In Dev</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8F8F8"/>
                    </a:solidFill>
                  </a:tcPr>
                </a:tc>
                <a:extLst>
                  <a:ext uri="{0D108BD9-81ED-4DB2-BD59-A6C34878D82A}">
                    <a16:rowId xmlns:a16="http://schemas.microsoft.com/office/drawing/2014/main" val="10003"/>
                  </a:ext>
                </a:extLst>
              </a:tr>
              <a:tr h="463296">
                <a:tc>
                  <a:txBody>
                    <a:bodyPr/>
                    <a:lstStyle/>
                    <a:p>
                      <a:pPr marL="0" indent="0" algn="l">
                        <a:buNone/>
                      </a:pPr>
                      <a:r>
                        <a:rPr lang="en-US" sz="1200" dirty="0">
                          <a:solidFill>
                            <a:srgbClr val="1A2E3B"/>
                          </a:solidFill>
                        </a:rPr>
                        <a:t>Coinbase</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E3B"/>
                          </a:solidFill>
                        </a:rPr>
                        <a:t>COIN</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E3B"/>
                          </a:solidFill>
                        </a:rPr>
                        <a:t>~$60B</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E3B"/>
                          </a:solidFill>
                        </a:rPr>
                        <a:t>$6.6B</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E3B"/>
                          </a:solidFill>
                        </a:rPr>
                        <a:t>~35x</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A7A4A"/>
                          </a:solidFill>
                        </a:rPr>
                        <a:t>✓ Native</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A7A4A"/>
                          </a:solidFill>
                        </a:rPr>
                        <a:t>✓ Yes</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E3B"/>
                          </a:solidFill>
                        </a:rPr>
                        <a:t>In Dev</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3296">
                <a:tc>
                  <a:txBody>
                    <a:bodyPr/>
                    <a:lstStyle/>
                    <a:p>
                      <a:pPr marL="0" indent="0" algn="l">
                        <a:buNone/>
                      </a:pPr>
                      <a:r>
                        <a:rPr lang="en-US" sz="1200" dirty="0">
                          <a:solidFill>
                            <a:srgbClr val="1A2E3B"/>
                          </a:solidFill>
                        </a:rPr>
                        <a:t>SoFi Technologies</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8F8F8"/>
                    </a:solidFill>
                  </a:tcPr>
                </a:tc>
                <a:tc>
                  <a:txBody>
                    <a:bodyPr/>
                    <a:lstStyle/>
                    <a:p>
                      <a:pPr marL="0" indent="0" algn="ctr">
                        <a:buNone/>
                      </a:pPr>
                      <a:r>
                        <a:rPr lang="en-US" sz="1200" dirty="0">
                          <a:solidFill>
                            <a:srgbClr val="1A2E3B"/>
                          </a:solidFill>
                        </a:rPr>
                        <a:t>SOFI</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8F8F8"/>
                    </a:solidFill>
                  </a:tcPr>
                </a:tc>
                <a:tc>
                  <a:txBody>
                    <a:bodyPr/>
                    <a:lstStyle/>
                    <a:p>
                      <a:pPr marL="0" indent="0" algn="ctr">
                        <a:buNone/>
                      </a:pPr>
                      <a:r>
                        <a:rPr lang="en-US" sz="1200" dirty="0">
                          <a:solidFill>
                            <a:srgbClr val="1A2E3B"/>
                          </a:solidFill>
                        </a:rPr>
                        <a:t>~$9B</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8F8F8"/>
                    </a:solidFill>
                  </a:tcPr>
                </a:tc>
                <a:tc>
                  <a:txBody>
                    <a:bodyPr/>
                    <a:lstStyle/>
                    <a:p>
                      <a:pPr marL="0" indent="0" algn="ctr">
                        <a:buNone/>
                      </a:pPr>
                      <a:r>
                        <a:rPr lang="en-US" sz="1200" dirty="0">
                          <a:solidFill>
                            <a:srgbClr val="1A2E3B"/>
                          </a:solidFill>
                        </a:rPr>
                        <a:t>$2.7B</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8F8F8"/>
                    </a:solidFill>
                  </a:tcPr>
                </a:tc>
                <a:tc>
                  <a:txBody>
                    <a:bodyPr/>
                    <a:lstStyle/>
                    <a:p>
                      <a:pPr marL="0" indent="0" algn="ctr">
                        <a:buNone/>
                      </a:pPr>
                      <a:r>
                        <a:rPr lang="en-US" sz="1200" dirty="0">
                          <a:solidFill>
                            <a:srgbClr val="1A2E3B"/>
                          </a:solidFill>
                        </a:rPr>
                        <a:t>~38x</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8F8F8"/>
                    </a:solidFill>
                  </a:tcPr>
                </a:tc>
                <a:tc>
                  <a:txBody>
                    <a:bodyPr/>
                    <a:lstStyle/>
                    <a:p>
                      <a:pPr marL="0" indent="0" algn="ctr">
                        <a:buNone/>
                      </a:pPr>
                      <a:r>
                        <a:rPr lang="en-US" sz="1200" b="1" dirty="0">
                          <a:solidFill>
                            <a:srgbClr val="1A7A4A"/>
                          </a:solidFill>
                        </a:rPr>
                        <a:t>✓ Yes</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8F8F8"/>
                    </a:solidFill>
                  </a:tcPr>
                </a:tc>
                <a:tc>
                  <a:txBody>
                    <a:bodyPr/>
                    <a:lstStyle/>
                    <a:p>
                      <a:pPr marL="0" indent="0" algn="ctr">
                        <a:buNone/>
                      </a:pPr>
                      <a:r>
                        <a:rPr lang="en-US" sz="1200" b="1" dirty="0">
                          <a:solidFill>
                            <a:srgbClr val="1A7A4A"/>
                          </a:solidFill>
                        </a:rPr>
                        <a:t>✓ Yes</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8F8F8"/>
                    </a:solidFill>
                  </a:tcPr>
                </a:tc>
                <a:tc>
                  <a:txBody>
                    <a:bodyPr/>
                    <a:lstStyle/>
                    <a:p>
                      <a:pPr marL="0" indent="0" algn="ctr">
                        <a:buNone/>
                      </a:pPr>
                      <a:r>
                        <a:rPr lang="en-US" sz="1200" dirty="0">
                          <a:solidFill>
                            <a:srgbClr val="1A2E3B"/>
                          </a:solidFill>
                        </a:rPr>
                        <a:t>In Dev</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8F8F8"/>
                    </a:solidFill>
                  </a:tcPr>
                </a:tc>
                <a:extLst>
                  <a:ext uri="{0D108BD9-81ED-4DB2-BD59-A6C34878D82A}">
                    <a16:rowId xmlns:a16="http://schemas.microsoft.com/office/drawing/2014/main" val="10005"/>
                  </a:ext>
                </a:extLst>
              </a:tr>
              <a:tr h="463296">
                <a:tc>
                  <a:txBody>
                    <a:bodyPr/>
                    <a:lstStyle/>
                    <a:p>
                      <a:pPr marL="0" indent="0" algn="l">
                        <a:buNone/>
                      </a:pPr>
                      <a:r>
                        <a:rPr lang="en-US" sz="1200" dirty="0">
                          <a:solidFill>
                            <a:srgbClr val="1A2E3B"/>
                          </a:solidFill>
                        </a:rPr>
                        <a:t>Webull</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E3B"/>
                          </a:solidFill>
                        </a:rPr>
                        <a:t>BULL</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E3B"/>
                          </a:solidFill>
                        </a:rPr>
                        <a:t>~$5B</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E3B"/>
                          </a:solidFill>
                        </a:rPr>
                        <a:t>~$600M</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E3B"/>
                          </a:solidFill>
                        </a:rPr>
                        <a:t>N/A</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A7A4A"/>
                          </a:solidFill>
                        </a:rPr>
                        <a:t>✓ Yes</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A7A4A"/>
                          </a:solidFill>
                        </a:rPr>
                        <a:t>✓ Yes</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E3B"/>
                          </a:solidFill>
                        </a:rPr>
                        <a:t>No</a:t>
                      </a:r>
                      <a:endParaRPr lang="en-US" sz="12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hape 3"/>
          <p:cNvSpPr/>
          <p:nvPr/>
        </p:nvSpPr>
        <p:spPr>
          <a:xfrm>
            <a:off x="243840" y="4242816"/>
            <a:ext cx="11704320" cy="780288"/>
          </a:xfrm>
          <a:prstGeom prst="rect">
            <a:avLst/>
          </a:prstGeom>
          <a:solidFill>
            <a:srgbClr val="F4F9F7"/>
          </a:solidFill>
          <a:ln/>
          <a:effectLst>
            <a:outerShdw blurRad="38100" dist="12700" dir="8100000" algn="bl" rotWithShape="0">
              <a:srgbClr val="000000">
                <a:alpha val="5000"/>
              </a:srgbClr>
            </a:outerShdw>
          </a:effectLst>
        </p:spPr>
      </p:sp>
      <p:sp>
        <p:nvSpPr>
          <p:cNvPr id="7" name="Shape 4"/>
          <p:cNvSpPr/>
          <p:nvPr/>
        </p:nvSpPr>
        <p:spPr>
          <a:xfrm>
            <a:off x="243840" y="4242816"/>
            <a:ext cx="85344" cy="780288"/>
          </a:xfrm>
          <a:prstGeom prst="rect">
            <a:avLst/>
          </a:prstGeom>
          <a:solidFill>
            <a:srgbClr val="007A5C"/>
          </a:solidFill>
          <a:ln/>
        </p:spPr>
      </p:sp>
      <p:sp>
        <p:nvSpPr>
          <p:cNvPr id="8" name="Text 5"/>
          <p:cNvSpPr/>
          <p:nvPr/>
        </p:nvSpPr>
        <p:spPr>
          <a:xfrm>
            <a:off x="438912" y="4303776"/>
            <a:ext cx="11338560" cy="268224"/>
          </a:xfrm>
          <a:prstGeom prst="rect">
            <a:avLst/>
          </a:prstGeom>
          <a:noFill/>
          <a:ln/>
        </p:spPr>
        <p:txBody>
          <a:bodyPr wrap="square" lIns="0" tIns="0" rIns="0" bIns="0" rtlCol="0" anchor="ctr"/>
          <a:lstStyle/>
          <a:p>
            <a:r>
              <a:rPr lang="en-US" sz="1267" b="1" dirty="0">
                <a:solidFill>
                  <a:srgbClr val="0D1B2A"/>
                </a:solidFill>
              </a:rPr>
              <a:t>KEY COMPETITIVE INSIGHT: Mobile-First Moat</a:t>
            </a:r>
            <a:endParaRPr lang="en-US" sz="1267" dirty="0"/>
          </a:p>
        </p:txBody>
      </p:sp>
      <p:sp>
        <p:nvSpPr>
          <p:cNvPr id="9" name="Text 6"/>
          <p:cNvSpPr/>
          <p:nvPr/>
        </p:nvSpPr>
        <p:spPr>
          <a:xfrm>
            <a:off x="438912" y="4584192"/>
            <a:ext cx="11338560" cy="365760"/>
          </a:xfrm>
          <a:prstGeom prst="rect">
            <a:avLst/>
          </a:prstGeom>
          <a:noFill/>
          <a:ln/>
        </p:spPr>
        <p:txBody>
          <a:bodyPr wrap="square" lIns="0" tIns="0" rIns="0" bIns="0" rtlCol="0" anchor="ctr"/>
          <a:lstStyle/>
          <a:p>
            <a:r>
              <a:rPr lang="en-US" sz="1133" dirty="0">
                <a:solidFill>
                  <a:srgbClr val="5A7A8A"/>
                </a:solidFill>
              </a:rPr>
              <a:t>Robinhood's UX is purpose-built for Millennial/Gen Z smartphone users. Legacy brokers' apps are afterthoughts — their core is desktop and advisor. This demographic advantage compounds as the Great Wealth Transfer begins.</a:t>
            </a:r>
            <a:endParaRPr lang="en-US" sz="1133" dirty="0"/>
          </a:p>
        </p:txBody>
      </p:sp>
      <p:sp>
        <p:nvSpPr>
          <p:cNvPr id="5" name="Shape 7"/>
          <p:cNvSpPr/>
          <p:nvPr/>
        </p:nvSpPr>
        <p:spPr>
          <a:xfrm>
            <a:off x="243840" y="5120640"/>
            <a:ext cx="11704320" cy="780288"/>
          </a:xfrm>
          <a:prstGeom prst="rect">
            <a:avLst/>
          </a:prstGeom>
          <a:solidFill>
            <a:srgbClr val="F4F9F7"/>
          </a:solidFill>
          <a:ln/>
          <a:effectLst>
            <a:outerShdw blurRad="38100" dist="12700" dir="8100000" algn="bl" rotWithShape="0">
              <a:srgbClr val="000000">
                <a:alpha val="5000"/>
              </a:srgbClr>
            </a:outerShdw>
          </a:effectLst>
        </p:spPr>
      </p:sp>
      <p:sp>
        <p:nvSpPr>
          <p:cNvPr id="11" name="Shape 8"/>
          <p:cNvSpPr/>
          <p:nvPr/>
        </p:nvSpPr>
        <p:spPr>
          <a:xfrm>
            <a:off x="243840" y="5120640"/>
            <a:ext cx="85344" cy="780288"/>
          </a:xfrm>
          <a:prstGeom prst="rect">
            <a:avLst/>
          </a:prstGeom>
          <a:solidFill>
            <a:srgbClr val="7B3FAE"/>
          </a:solidFill>
          <a:ln/>
        </p:spPr>
      </p:sp>
      <p:sp>
        <p:nvSpPr>
          <p:cNvPr id="12" name="Text 9"/>
          <p:cNvSpPr/>
          <p:nvPr/>
        </p:nvSpPr>
        <p:spPr>
          <a:xfrm>
            <a:off x="438912" y="5181600"/>
            <a:ext cx="11338560" cy="268224"/>
          </a:xfrm>
          <a:prstGeom prst="rect">
            <a:avLst/>
          </a:prstGeom>
          <a:noFill/>
          <a:ln/>
        </p:spPr>
        <p:txBody>
          <a:bodyPr wrap="square" lIns="0" tIns="0" rIns="0" bIns="0" rtlCol="0" anchor="ctr"/>
          <a:lstStyle/>
          <a:p>
            <a:r>
              <a:rPr lang="en-US" sz="1267" b="1" dirty="0">
                <a:solidFill>
                  <a:srgbClr val="0D1B2A"/>
                </a:solidFill>
              </a:rPr>
              <a:t>KEY COMPETITIVE INSIGHT: Crypto + Stocks in One App</a:t>
            </a:r>
            <a:endParaRPr lang="en-US" sz="1267" dirty="0"/>
          </a:p>
        </p:txBody>
      </p:sp>
      <p:sp>
        <p:nvSpPr>
          <p:cNvPr id="13" name="Text 10"/>
          <p:cNvSpPr/>
          <p:nvPr/>
        </p:nvSpPr>
        <p:spPr>
          <a:xfrm>
            <a:off x="438912" y="5462016"/>
            <a:ext cx="11338560" cy="365760"/>
          </a:xfrm>
          <a:prstGeom prst="rect">
            <a:avLst/>
          </a:prstGeom>
          <a:noFill/>
          <a:ln/>
        </p:spPr>
        <p:txBody>
          <a:bodyPr wrap="square" lIns="0" tIns="0" rIns="0" bIns="0" rtlCol="0" anchor="ctr"/>
          <a:lstStyle/>
          <a:p>
            <a:r>
              <a:rPr lang="en-US" sz="1133" dirty="0">
                <a:solidFill>
                  <a:srgbClr val="5A7A8A"/>
                </a:solidFill>
              </a:rPr>
              <a:t>Post-Bitstamp, Robinhood offers the most integrated stock+crypto platform of any regulated US broker. Coinbase lacks equities; Schwab lacks real crypto. This bundling creates switching-cost stickiness.</a:t>
            </a:r>
            <a:endParaRPr lang="en-US" sz="1133" dirty="0"/>
          </a:p>
        </p:txBody>
      </p:sp>
      <p:sp>
        <p:nvSpPr>
          <p:cNvPr id="14" name="Shape 11"/>
          <p:cNvSpPr/>
          <p:nvPr/>
        </p:nvSpPr>
        <p:spPr>
          <a:xfrm>
            <a:off x="243840" y="5998464"/>
            <a:ext cx="11704320" cy="780288"/>
          </a:xfrm>
          <a:prstGeom prst="rect">
            <a:avLst/>
          </a:prstGeom>
          <a:solidFill>
            <a:srgbClr val="F4F9F7"/>
          </a:solidFill>
          <a:ln/>
          <a:effectLst>
            <a:outerShdw blurRad="38100" dist="12700" dir="8100000" algn="bl" rotWithShape="0">
              <a:srgbClr val="000000">
                <a:alpha val="5000"/>
              </a:srgbClr>
            </a:outerShdw>
          </a:effectLst>
        </p:spPr>
      </p:sp>
      <p:sp>
        <p:nvSpPr>
          <p:cNvPr id="15" name="Shape 12"/>
          <p:cNvSpPr/>
          <p:nvPr/>
        </p:nvSpPr>
        <p:spPr>
          <a:xfrm>
            <a:off x="243840" y="5998464"/>
            <a:ext cx="85344" cy="780288"/>
          </a:xfrm>
          <a:prstGeom prst="rect">
            <a:avLst/>
          </a:prstGeom>
          <a:solidFill>
            <a:srgbClr val="B05020"/>
          </a:solidFill>
          <a:ln/>
        </p:spPr>
      </p:sp>
      <p:sp>
        <p:nvSpPr>
          <p:cNvPr id="16" name="Text 13"/>
          <p:cNvSpPr/>
          <p:nvPr/>
        </p:nvSpPr>
        <p:spPr>
          <a:xfrm>
            <a:off x="438912" y="6059424"/>
            <a:ext cx="11338560" cy="268224"/>
          </a:xfrm>
          <a:prstGeom prst="rect">
            <a:avLst/>
          </a:prstGeom>
          <a:noFill/>
          <a:ln/>
        </p:spPr>
        <p:txBody>
          <a:bodyPr wrap="square" lIns="0" tIns="0" rIns="0" bIns="0" rtlCol="0" anchor="ctr"/>
          <a:lstStyle/>
          <a:p>
            <a:r>
              <a:rPr lang="en-US" sz="1267" b="1" dirty="0">
                <a:solidFill>
                  <a:srgbClr val="0D1B2A"/>
                </a:solidFill>
              </a:rPr>
              <a:t>KEY COMPETITIVE INSIGHT: Agentic AI First-Mover</a:t>
            </a:r>
            <a:endParaRPr lang="en-US" sz="1267" dirty="0"/>
          </a:p>
        </p:txBody>
      </p:sp>
      <p:sp>
        <p:nvSpPr>
          <p:cNvPr id="17" name="Text 14"/>
          <p:cNvSpPr/>
          <p:nvPr/>
        </p:nvSpPr>
        <p:spPr>
          <a:xfrm>
            <a:off x="438912" y="6339840"/>
            <a:ext cx="11338560" cy="365760"/>
          </a:xfrm>
          <a:prstGeom prst="rect">
            <a:avLst/>
          </a:prstGeom>
          <a:noFill/>
          <a:ln/>
        </p:spPr>
        <p:txBody>
          <a:bodyPr wrap="square" lIns="0" tIns="0" rIns="0" bIns="0" rtlCol="0" anchor="ctr"/>
          <a:lstStyle/>
          <a:p>
            <a:r>
              <a:rPr lang="en-US" sz="1133" dirty="0">
                <a:solidFill>
                  <a:srgbClr val="5A7A8A"/>
                </a:solidFill>
              </a:rPr>
              <a:t>Launching agentic trading in May 2026 — before any incumbent — puts Robinhood at the frontier of AI investing. This could redefine the category the way zero-commission trading did in 2013. Competitors are months to years behind.</a:t>
            </a:r>
            <a:endParaRPr lang="en-US" sz="1133"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55904"/>
          </a:xfrm>
          <a:prstGeom prst="rect">
            <a:avLst/>
          </a:prstGeom>
          <a:solidFill>
            <a:srgbClr val="0D1B2A"/>
          </a:solidFill>
          <a:ln/>
        </p:spPr>
      </p:sp>
      <p:sp>
        <p:nvSpPr>
          <p:cNvPr id="3" name="Text 1"/>
          <p:cNvSpPr/>
          <p:nvPr/>
        </p:nvSpPr>
        <p:spPr>
          <a:xfrm>
            <a:off x="365760" y="0"/>
            <a:ext cx="11582400" cy="755904"/>
          </a:xfrm>
          <a:prstGeom prst="rect">
            <a:avLst/>
          </a:prstGeom>
          <a:noFill/>
          <a:ln/>
        </p:spPr>
        <p:txBody>
          <a:bodyPr wrap="square" lIns="0" tIns="0" rIns="0" bIns="0" rtlCol="0" anchor="ctr"/>
          <a:lstStyle/>
          <a:p>
            <a:r>
              <a:rPr lang="en-US" sz="1733" b="1" dirty="0">
                <a:solidFill>
                  <a:srgbClr val="FFFFFF"/>
                </a:solidFill>
              </a:rPr>
              <a:t>SECTION 7: RED FLAGS &amp; INVESTMENT RISKS</a:t>
            </a:r>
            <a:endParaRPr lang="en-US" sz="1733" dirty="0"/>
          </a:p>
        </p:txBody>
      </p:sp>
      <p:sp>
        <p:nvSpPr>
          <p:cNvPr id="4" name="Text 2"/>
          <p:cNvSpPr/>
          <p:nvPr/>
        </p:nvSpPr>
        <p:spPr>
          <a:xfrm>
            <a:off x="365760" y="0"/>
            <a:ext cx="11582400" cy="755904"/>
          </a:xfrm>
          <a:prstGeom prst="rect">
            <a:avLst/>
          </a:prstGeom>
          <a:noFill/>
          <a:ln/>
        </p:spPr>
        <p:txBody>
          <a:bodyPr wrap="square" lIns="0" tIns="0" rIns="0" bIns="0" rtlCol="0" anchor="ctr"/>
          <a:lstStyle/>
          <a:p>
            <a:pPr algn="r"/>
            <a:r>
              <a:rPr lang="en-US" sz="1267" i="1" dirty="0">
                <a:solidFill>
                  <a:srgbClr val="F5A623"/>
                </a:solidFill>
              </a:rPr>
              <a:t>Regulatory, structural, and market threats investors must monitor</a:t>
            </a:r>
            <a:endParaRPr lang="en-US" sz="1267" dirty="0"/>
          </a:p>
        </p:txBody>
      </p:sp>
      <p:sp>
        <p:nvSpPr>
          <p:cNvPr id="5" name="Shape 3"/>
          <p:cNvSpPr/>
          <p:nvPr/>
        </p:nvSpPr>
        <p:spPr>
          <a:xfrm>
            <a:off x="243840" y="950976"/>
            <a:ext cx="5730240" cy="1072896"/>
          </a:xfrm>
          <a:prstGeom prst="rect">
            <a:avLst/>
          </a:prstGeom>
          <a:solidFill>
            <a:srgbClr val="F4F9F7"/>
          </a:solidFill>
          <a:ln/>
          <a:effectLst>
            <a:outerShdw blurRad="38100" dist="12700" dir="8100000" algn="bl" rotWithShape="0">
              <a:srgbClr val="000000">
                <a:alpha val="5000"/>
              </a:srgbClr>
            </a:outerShdw>
          </a:effectLst>
        </p:spPr>
      </p:sp>
      <p:sp>
        <p:nvSpPr>
          <p:cNvPr id="6" name="Shape 4"/>
          <p:cNvSpPr/>
          <p:nvPr/>
        </p:nvSpPr>
        <p:spPr>
          <a:xfrm>
            <a:off x="243840" y="950976"/>
            <a:ext cx="914400" cy="1072896"/>
          </a:xfrm>
          <a:prstGeom prst="rect">
            <a:avLst/>
          </a:prstGeom>
          <a:solidFill>
            <a:srgbClr val="E84545"/>
          </a:solidFill>
          <a:ln/>
        </p:spPr>
      </p:sp>
      <p:sp>
        <p:nvSpPr>
          <p:cNvPr id="7" name="Text 5"/>
          <p:cNvSpPr/>
          <p:nvPr/>
        </p:nvSpPr>
        <p:spPr>
          <a:xfrm>
            <a:off x="243840" y="950976"/>
            <a:ext cx="914400" cy="1072896"/>
          </a:xfrm>
          <a:prstGeom prst="rect">
            <a:avLst/>
          </a:prstGeom>
          <a:noFill/>
          <a:ln/>
        </p:spPr>
        <p:txBody>
          <a:bodyPr wrap="square" lIns="0" tIns="0" rIns="0" bIns="0" rtlCol="0" anchor="ctr"/>
          <a:lstStyle/>
          <a:p>
            <a:pPr algn="ctr"/>
            <a:r>
              <a:rPr lang="en-US" sz="867" b="1" dirty="0">
                <a:solidFill>
                  <a:srgbClr val="FFFFFF"/>
                </a:solidFill>
              </a:rPr>
              <a:t>CRITICAL</a:t>
            </a:r>
            <a:endParaRPr lang="en-US" sz="867" dirty="0"/>
          </a:p>
        </p:txBody>
      </p:sp>
      <p:sp>
        <p:nvSpPr>
          <p:cNvPr id="8" name="Text 6"/>
          <p:cNvSpPr/>
          <p:nvPr/>
        </p:nvSpPr>
        <p:spPr>
          <a:xfrm>
            <a:off x="1243584" y="1024128"/>
            <a:ext cx="4632960" cy="292608"/>
          </a:xfrm>
          <a:prstGeom prst="rect">
            <a:avLst/>
          </a:prstGeom>
          <a:noFill/>
          <a:ln/>
        </p:spPr>
        <p:txBody>
          <a:bodyPr wrap="square" lIns="0" tIns="0" rIns="0" bIns="0" rtlCol="0" anchor="ctr"/>
          <a:lstStyle/>
          <a:p>
            <a:r>
              <a:rPr lang="en-US" sz="1267" b="1" dirty="0">
                <a:solidFill>
                  <a:srgbClr val="0D1B2A"/>
                </a:solidFill>
              </a:rPr>
              <a:t>PFOF Ban or Severe Restriction</a:t>
            </a:r>
            <a:endParaRPr lang="en-US" sz="1267" dirty="0"/>
          </a:p>
        </p:txBody>
      </p:sp>
      <p:sp>
        <p:nvSpPr>
          <p:cNvPr id="9" name="Text 7"/>
          <p:cNvSpPr/>
          <p:nvPr/>
        </p:nvSpPr>
        <p:spPr>
          <a:xfrm>
            <a:off x="1243584" y="1341120"/>
            <a:ext cx="4632960" cy="609600"/>
          </a:xfrm>
          <a:prstGeom prst="rect">
            <a:avLst/>
          </a:prstGeom>
          <a:noFill/>
          <a:ln/>
        </p:spPr>
        <p:txBody>
          <a:bodyPr wrap="square" lIns="0" tIns="0" rIns="0" bIns="0" rtlCol="0" anchor="ctr"/>
          <a:lstStyle/>
          <a:p>
            <a:r>
              <a:rPr lang="en-US" sz="1100" dirty="0"/>
              <a:t>Payment for order flow — the routing of retail orders to market makers — faces ongoing SEC and Congressional scrutiny. A PFOF ban (as exists in the EU/UK) would severely impair transaction revenue. Options PFOF is Robinhood's #1 revenue line (~$1.2B FY2025). This is an existential risk to the current revenue model if not offset by direct trading fee revenue.</a:t>
            </a:r>
          </a:p>
        </p:txBody>
      </p:sp>
      <p:sp>
        <p:nvSpPr>
          <p:cNvPr id="10" name="Shape 8"/>
          <p:cNvSpPr/>
          <p:nvPr/>
        </p:nvSpPr>
        <p:spPr>
          <a:xfrm>
            <a:off x="6217920" y="950976"/>
            <a:ext cx="5730240" cy="1072896"/>
          </a:xfrm>
          <a:prstGeom prst="rect">
            <a:avLst/>
          </a:prstGeom>
          <a:solidFill>
            <a:srgbClr val="F4F9F7"/>
          </a:solidFill>
          <a:ln/>
          <a:effectLst>
            <a:outerShdw blurRad="38100" dist="12700" dir="8100000" algn="bl" rotWithShape="0">
              <a:srgbClr val="000000">
                <a:alpha val="5000"/>
              </a:srgbClr>
            </a:outerShdw>
          </a:effectLst>
        </p:spPr>
      </p:sp>
      <p:sp>
        <p:nvSpPr>
          <p:cNvPr id="11" name="Shape 9"/>
          <p:cNvSpPr/>
          <p:nvPr/>
        </p:nvSpPr>
        <p:spPr>
          <a:xfrm>
            <a:off x="6217920" y="950976"/>
            <a:ext cx="914400" cy="1072896"/>
          </a:xfrm>
          <a:prstGeom prst="rect">
            <a:avLst/>
          </a:prstGeom>
          <a:solidFill>
            <a:srgbClr val="E84545"/>
          </a:solidFill>
          <a:ln/>
        </p:spPr>
      </p:sp>
      <p:sp>
        <p:nvSpPr>
          <p:cNvPr id="12" name="Text 10"/>
          <p:cNvSpPr/>
          <p:nvPr/>
        </p:nvSpPr>
        <p:spPr>
          <a:xfrm>
            <a:off x="6217920" y="950976"/>
            <a:ext cx="914400" cy="1072896"/>
          </a:xfrm>
          <a:prstGeom prst="rect">
            <a:avLst/>
          </a:prstGeom>
          <a:noFill/>
          <a:ln/>
        </p:spPr>
        <p:txBody>
          <a:bodyPr wrap="square" lIns="0" tIns="0" rIns="0" bIns="0" rtlCol="0" anchor="ctr"/>
          <a:lstStyle/>
          <a:p>
            <a:pPr algn="ctr"/>
            <a:r>
              <a:rPr lang="en-US" sz="867" b="1" dirty="0">
                <a:solidFill>
                  <a:srgbClr val="FFFFFF"/>
                </a:solidFill>
              </a:rPr>
              <a:t>CRITICAL</a:t>
            </a:r>
            <a:endParaRPr lang="en-US" sz="867" dirty="0"/>
          </a:p>
        </p:txBody>
      </p:sp>
      <p:sp>
        <p:nvSpPr>
          <p:cNvPr id="13" name="Text 11"/>
          <p:cNvSpPr/>
          <p:nvPr/>
        </p:nvSpPr>
        <p:spPr>
          <a:xfrm>
            <a:off x="7217664" y="1024128"/>
            <a:ext cx="4632960" cy="292608"/>
          </a:xfrm>
          <a:prstGeom prst="rect">
            <a:avLst/>
          </a:prstGeom>
          <a:noFill/>
          <a:ln/>
        </p:spPr>
        <p:txBody>
          <a:bodyPr wrap="square" lIns="0" tIns="0" rIns="0" bIns="0" rtlCol="0" anchor="ctr"/>
          <a:lstStyle/>
          <a:p>
            <a:r>
              <a:rPr lang="en-US" sz="1267" b="1" dirty="0">
                <a:solidFill>
                  <a:srgbClr val="0D1B2A"/>
                </a:solidFill>
              </a:rPr>
              <a:t>Crypto Revenue Volatility</a:t>
            </a:r>
            <a:endParaRPr lang="en-US" sz="1267" dirty="0"/>
          </a:p>
        </p:txBody>
      </p:sp>
      <p:sp>
        <p:nvSpPr>
          <p:cNvPr id="14" name="Text 12"/>
          <p:cNvSpPr/>
          <p:nvPr/>
        </p:nvSpPr>
        <p:spPr>
          <a:xfrm>
            <a:off x="7217664" y="1341120"/>
            <a:ext cx="4632960" cy="609600"/>
          </a:xfrm>
          <a:prstGeom prst="rect">
            <a:avLst/>
          </a:prstGeom>
          <a:noFill/>
          <a:ln/>
        </p:spPr>
        <p:txBody>
          <a:bodyPr wrap="square" lIns="0" tIns="0" rIns="0" bIns="0" rtlCol="0" anchor="ctr"/>
          <a:lstStyle/>
          <a:p>
            <a:r>
              <a:rPr lang="en-US" sz="1100" dirty="0"/>
              <a:t>Crypto transaction revenue collapsed 90% in 2022-23 during the bear market, nearly bankrupting the company. Q1 2026 showed crypto weakness. Any sustained bear market in digital assets — or regulatory crackdown — can crater 20%+ of revenue with near-zero variable cost offset, amplifying EPS swings dramatically.</a:t>
            </a:r>
          </a:p>
        </p:txBody>
      </p:sp>
      <p:sp>
        <p:nvSpPr>
          <p:cNvPr id="15" name="Shape 13"/>
          <p:cNvSpPr/>
          <p:nvPr/>
        </p:nvSpPr>
        <p:spPr>
          <a:xfrm>
            <a:off x="243840" y="2109216"/>
            <a:ext cx="5730240" cy="1072896"/>
          </a:xfrm>
          <a:prstGeom prst="rect">
            <a:avLst/>
          </a:prstGeom>
          <a:solidFill>
            <a:srgbClr val="F4F9F7"/>
          </a:solidFill>
          <a:ln/>
          <a:effectLst>
            <a:outerShdw blurRad="38100" dist="12700" dir="8100000" algn="bl" rotWithShape="0">
              <a:srgbClr val="000000">
                <a:alpha val="5000"/>
              </a:srgbClr>
            </a:outerShdw>
          </a:effectLst>
        </p:spPr>
      </p:sp>
      <p:sp>
        <p:nvSpPr>
          <p:cNvPr id="16" name="Shape 14"/>
          <p:cNvSpPr/>
          <p:nvPr/>
        </p:nvSpPr>
        <p:spPr>
          <a:xfrm>
            <a:off x="243840" y="2243970"/>
            <a:ext cx="914400" cy="1072896"/>
          </a:xfrm>
          <a:prstGeom prst="rect">
            <a:avLst/>
          </a:prstGeom>
          <a:solidFill>
            <a:srgbClr val="F5A623"/>
          </a:solidFill>
          <a:ln/>
        </p:spPr>
      </p:sp>
      <p:sp>
        <p:nvSpPr>
          <p:cNvPr id="17" name="Text 15"/>
          <p:cNvSpPr/>
          <p:nvPr/>
        </p:nvSpPr>
        <p:spPr>
          <a:xfrm>
            <a:off x="243840" y="2109216"/>
            <a:ext cx="914400" cy="1072896"/>
          </a:xfrm>
          <a:prstGeom prst="rect">
            <a:avLst/>
          </a:prstGeom>
          <a:noFill/>
          <a:ln/>
        </p:spPr>
        <p:txBody>
          <a:bodyPr wrap="square" lIns="0" tIns="0" rIns="0" bIns="0" rtlCol="0" anchor="ctr"/>
          <a:lstStyle/>
          <a:p>
            <a:pPr algn="ctr"/>
            <a:r>
              <a:rPr lang="en-US" sz="867" b="1" dirty="0">
                <a:solidFill>
                  <a:srgbClr val="FFFFFF"/>
                </a:solidFill>
              </a:rPr>
              <a:t>HIGH</a:t>
            </a:r>
            <a:endParaRPr lang="en-US" sz="867" dirty="0"/>
          </a:p>
        </p:txBody>
      </p:sp>
      <p:sp>
        <p:nvSpPr>
          <p:cNvPr id="18" name="Text 16"/>
          <p:cNvSpPr/>
          <p:nvPr/>
        </p:nvSpPr>
        <p:spPr>
          <a:xfrm>
            <a:off x="1243584" y="2317122"/>
            <a:ext cx="4632960" cy="292608"/>
          </a:xfrm>
          <a:prstGeom prst="rect">
            <a:avLst/>
          </a:prstGeom>
          <a:noFill/>
          <a:ln/>
        </p:spPr>
        <p:txBody>
          <a:bodyPr wrap="square" lIns="0" tIns="0" rIns="0" bIns="0" rtlCol="0" anchor="ctr"/>
          <a:lstStyle/>
          <a:p>
            <a:r>
              <a:rPr lang="en-US" sz="1267" b="1" dirty="0">
                <a:solidFill>
                  <a:srgbClr val="0D1B2A"/>
                </a:solidFill>
              </a:rPr>
              <a:t>Platform Concentration — Millennial Cohort</a:t>
            </a:r>
            <a:endParaRPr lang="en-US" sz="1267" dirty="0"/>
          </a:p>
        </p:txBody>
      </p:sp>
      <p:sp>
        <p:nvSpPr>
          <p:cNvPr id="19" name="Text 17"/>
          <p:cNvSpPr/>
          <p:nvPr/>
        </p:nvSpPr>
        <p:spPr>
          <a:xfrm>
            <a:off x="1243584" y="2634114"/>
            <a:ext cx="4632960" cy="609600"/>
          </a:xfrm>
          <a:prstGeom prst="rect">
            <a:avLst/>
          </a:prstGeom>
          <a:noFill/>
          <a:ln/>
        </p:spPr>
        <p:txBody>
          <a:bodyPr wrap="square" lIns="0" tIns="0" rIns="0" bIns="0" rtlCol="0" anchor="ctr"/>
          <a:lstStyle/>
          <a:p>
            <a:r>
              <a:rPr lang="en-US" sz="1100" dirty="0"/>
              <a:t>Robinhood's customer base skews heavily toward 25-45 year-olds. As this cohort ages and seeks professional advice, they may migrate to Schwab, Fidelity or fee-only RIAs. TradePMR partially addresses this, but customer retention as wealth grows remains unproven at scale.</a:t>
            </a:r>
          </a:p>
        </p:txBody>
      </p:sp>
      <p:sp>
        <p:nvSpPr>
          <p:cNvPr id="20" name="Shape 18"/>
          <p:cNvSpPr/>
          <p:nvPr/>
        </p:nvSpPr>
        <p:spPr>
          <a:xfrm>
            <a:off x="6217920" y="2109216"/>
            <a:ext cx="5730240" cy="1072896"/>
          </a:xfrm>
          <a:prstGeom prst="rect">
            <a:avLst/>
          </a:prstGeom>
          <a:solidFill>
            <a:srgbClr val="F4F9F7"/>
          </a:solidFill>
          <a:ln/>
          <a:effectLst>
            <a:outerShdw blurRad="38100" dist="12700" dir="8100000" algn="bl" rotWithShape="0">
              <a:srgbClr val="000000">
                <a:alpha val="5000"/>
              </a:srgbClr>
            </a:outerShdw>
          </a:effectLst>
        </p:spPr>
      </p:sp>
      <p:sp>
        <p:nvSpPr>
          <p:cNvPr id="21" name="Shape 19"/>
          <p:cNvSpPr/>
          <p:nvPr/>
        </p:nvSpPr>
        <p:spPr>
          <a:xfrm>
            <a:off x="6217920" y="2243970"/>
            <a:ext cx="914400" cy="1072896"/>
          </a:xfrm>
          <a:prstGeom prst="rect">
            <a:avLst/>
          </a:prstGeom>
          <a:solidFill>
            <a:srgbClr val="F5A623"/>
          </a:solidFill>
          <a:ln/>
        </p:spPr>
      </p:sp>
      <p:sp>
        <p:nvSpPr>
          <p:cNvPr id="22" name="Text 20"/>
          <p:cNvSpPr/>
          <p:nvPr/>
        </p:nvSpPr>
        <p:spPr>
          <a:xfrm>
            <a:off x="6217920" y="2109216"/>
            <a:ext cx="914400" cy="1072896"/>
          </a:xfrm>
          <a:prstGeom prst="rect">
            <a:avLst/>
          </a:prstGeom>
          <a:noFill/>
          <a:ln/>
        </p:spPr>
        <p:txBody>
          <a:bodyPr wrap="square" lIns="0" tIns="0" rIns="0" bIns="0" rtlCol="0" anchor="ctr"/>
          <a:lstStyle/>
          <a:p>
            <a:pPr algn="ctr"/>
            <a:r>
              <a:rPr lang="en-US" sz="867" b="1" dirty="0">
                <a:solidFill>
                  <a:srgbClr val="FFFFFF"/>
                </a:solidFill>
              </a:rPr>
              <a:t>HIGH</a:t>
            </a:r>
            <a:endParaRPr lang="en-US" sz="867" dirty="0"/>
          </a:p>
        </p:txBody>
      </p:sp>
      <p:sp>
        <p:nvSpPr>
          <p:cNvPr id="23" name="Text 21"/>
          <p:cNvSpPr/>
          <p:nvPr/>
        </p:nvSpPr>
        <p:spPr>
          <a:xfrm>
            <a:off x="7217664" y="2317122"/>
            <a:ext cx="4632960" cy="292608"/>
          </a:xfrm>
          <a:prstGeom prst="rect">
            <a:avLst/>
          </a:prstGeom>
          <a:noFill/>
          <a:ln/>
        </p:spPr>
        <p:txBody>
          <a:bodyPr wrap="square" lIns="0" tIns="0" rIns="0" bIns="0" rtlCol="0" anchor="ctr"/>
          <a:lstStyle/>
          <a:p>
            <a:r>
              <a:rPr lang="en-US" sz="1267" b="1" dirty="0">
                <a:solidFill>
                  <a:srgbClr val="0D1B2A"/>
                </a:solidFill>
              </a:rPr>
              <a:t>Gamification &amp; Regulatory Reputation</a:t>
            </a:r>
            <a:endParaRPr lang="en-US" sz="1267" dirty="0"/>
          </a:p>
        </p:txBody>
      </p:sp>
      <p:sp>
        <p:nvSpPr>
          <p:cNvPr id="24" name="Text 22"/>
          <p:cNvSpPr/>
          <p:nvPr/>
        </p:nvSpPr>
        <p:spPr>
          <a:xfrm>
            <a:off x="7217664" y="2634114"/>
            <a:ext cx="4632960" cy="609600"/>
          </a:xfrm>
          <a:prstGeom prst="rect">
            <a:avLst/>
          </a:prstGeom>
          <a:noFill/>
          <a:ln/>
        </p:spPr>
        <p:txBody>
          <a:bodyPr wrap="square" lIns="0" tIns="0" rIns="0" bIns="0" rtlCol="0" anchor="ctr"/>
          <a:lstStyle/>
          <a:p>
            <a:r>
              <a:rPr lang="en-US" sz="1100" dirty="0"/>
              <a:t>SEC and FINRA have historically scrutinized Robinhood's 'gamified' interface for encouraging excessive retail risk-taking. The 2021 GameStop episode led to a $70M FINRA fine — the largest ever at the time. New 2026 CFTC/SEC rules on prediction markets and AI-agent trading could restrict key growth products.</a:t>
            </a:r>
          </a:p>
        </p:txBody>
      </p:sp>
      <p:sp>
        <p:nvSpPr>
          <p:cNvPr id="25" name="Shape 23"/>
          <p:cNvSpPr/>
          <p:nvPr/>
        </p:nvSpPr>
        <p:spPr>
          <a:xfrm>
            <a:off x="243840" y="3613965"/>
            <a:ext cx="5730240" cy="1072896"/>
          </a:xfrm>
          <a:prstGeom prst="rect">
            <a:avLst/>
          </a:prstGeom>
          <a:solidFill>
            <a:srgbClr val="F4F9F7"/>
          </a:solidFill>
          <a:ln/>
          <a:effectLst>
            <a:outerShdw blurRad="38100" dist="12700" dir="8100000" algn="bl" rotWithShape="0">
              <a:srgbClr val="000000">
                <a:alpha val="5000"/>
              </a:srgbClr>
            </a:outerShdw>
          </a:effectLst>
        </p:spPr>
      </p:sp>
      <p:sp>
        <p:nvSpPr>
          <p:cNvPr id="26" name="Shape 24"/>
          <p:cNvSpPr/>
          <p:nvPr/>
        </p:nvSpPr>
        <p:spPr>
          <a:xfrm>
            <a:off x="243840" y="3613965"/>
            <a:ext cx="914400" cy="1072896"/>
          </a:xfrm>
          <a:prstGeom prst="rect">
            <a:avLst/>
          </a:prstGeom>
          <a:solidFill>
            <a:srgbClr val="F5A623"/>
          </a:solidFill>
          <a:ln/>
        </p:spPr>
      </p:sp>
      <p:sp>
        <p:nvSpPr>
          <p:cNvPr id="27" name="Text 25"/>
          <p:cNvSpPr/>
          <p:nvPr/>
        </p:nvSpPr>
        <p:spPr>
          <a:xfrm>
            <a:off x="243840" y="3613965"/>
            <a:ext cx="914400" cy="1072896"/>
          </a:xfrm>
          <a:prstGeom prst="rect">
            <a:avLst/>
          </a:prstGeom>
          <a:noFill/>
          <a:ln/>
        </p:spPr>
        <p:txBody>
          <a:bodyPr wrap="square" lIns="0" tIns="0" rIns="0" bIns="0" rtlCol="0" anchor="ctr"/>
          <a:lstStyle/>
          <a:p>
            <a:pPr algn="ctr"/>
            <a:r>
              <a:rPr lang="en-US" sz="867" b="1" dirty="0">
                <a:solidFill>
                  <a:srgbClr val="FFFFFF"/>
                </a:solidFill>
              </a:rPr>
              <a:t>HIGH</a:t>
            </a:r>
            <a:endParaRPr lang="en-US" sz="867" dirty="0"/>
          </a:p>
        </p:txBody>
      </p:sp>
      <p:sp>
        <p:nvSpPr>
          <p:cNvPr id="28" name="Text 26"/>
          <p:cNvSpPr/>
          <p:nvPr/>
        </p:nvSpPr>
        <p:spPr>
          <a:xfrm>
            <a:off x="1243584" y="3687117"/>
            <a:ext cx="4632960" cy="292608"/>
          </a:xfrm>
          <a:prstGeom prst="rect">
            <a:avLst/>
          </a:prstGeom>
          <a:noFill/>
          <a:ln/>
        </p:spPr>
        <p:txBody>
          <a:bodyPr wrap="square" lIns="0" tIns="0" rIns="0" bIns="0" rtlCol="0" anchor="ctr"/>
          <a:lstStyle/>
          <a:p>
            <a:r>
              <a:rPr lang="en-US" sz="1267" b="1" dirty="0">
                <a:solidFill>
                  <a:srgbClr val="0D1B2A"/>
                </a:solidFill>
              </a:rPr>
              <a:t>Interest Rate Sensitivity</a:t>
            </a:r>
            <a:endParaRPr lang="en-US" sz="1267" dirty="0"/>
          </a:p>
        </p:txBody>
      </p:sp>
      <p:sp>
        <p:nvSpPr>
          <p:cNvPr id="29" name="Text 27"/>
          <p:cNvSpPr/>
          <p:nvPr/>
        </p:nvSpPr>
        <p:spPr>
          <a:xfrm>
            <a:off x="1243584" y="4004109"/>
            <a:ext cx="4632960" cy="609600"/>
          </a:xfrm>
          <a:prstGeom prst="rect">
            <a:avLst/>
          </a:prstGeom>
          <a:noFill/>
          <a:ln/>
        </p:spPr>
        <p:txBody>
          <a:bodyPr wrap="square" lIns="0" tIns="0" rIns="0" bIns="0" rtlCol="0" anchor="ctr"/>
          <a:lstStyle/>
          <a:p>
            <a:r>
              <a:rPr lang="en-US" sz="1100" dirty="0"/>
              <a:t>Net interest revenue of ~$1.45B in FY2025 is heavily dependent on elevated interest rates. The Fed's rate-cutting cycle directly compresses the spread Robinhood earns on cash sweep and margin lending. A return to near-zero rates (2020 scenario) could reduce this pillar by 50–70%, erasing $700M+ in revenue.</a:t>
            </a:r>
          </a:p>
        </p:txBody>
      </p:sp>
      <p:sp>
        <p:nvSpPr>
          <p:cNvPr id="30" name="Shape 28"/>
          <p:cNvSpPr/>
          <p:nvPr/>
        </p:nvSpPr>
        <p:spPr>
          <a:xfrm>
            <a:off x="6217920" y="3267456"/>
            <a:ext cx="5730240" cy="1072896"/>
          </a:xfrm>
          <a:prstGeom prst="rect">
            <a:avLst/>
          </a:prstGeom>
          <a:solidFill>
            <a:srgbClr val="F4F9F7"/>
          </a:solidFill>
          <a:ln/>
          <a:effectLst>
            <a:outerShdw blurRad="38100" dist="12700" dir="8100000" algn="bl" rotWithShape="0">
              <a:srgbClr val="000000">
                <a:alpha val="5000"/>
              </a:srgbClr>
            </a:outerShdw>
          </a:effectLst>
        </p:spPr>
      </p:sp>
      <p:sp>
        <p:nvSpPr>
          <p:cNvPr id="31" name="Shape 29"/>
          <p:cNvSpPr/>
          <p:nvPr/>
        </p:nvSpPr>
        <p:spPr>
          <a:xfrm>
            <a:off x="6217920" y="3613965"/>
            <a:ext cx="914400" cy="1072896"/>
          </a:xfrm>
          <a:prstGeom prst="rect">
            <a:avLst/>
          </a:prstGeom>
          <a:solidFill>
            <a:srgbClr val="2E8B57"/>
          </a:solidFill>
          <a:ln/>
        </p:spPr>
      </p:sp>
      <p:sp>
        <p:nvSpPr>
          <p:cNvPr id="32" name="Text 30"/>
          <p:cNvSpPr/>
          <p:nvPr/>
        </p:nvSpPr>
        <p:spPr>
          <a:xfrm>
            <a:off x="6217920" y="3613965"/>
            <a:ext cx="914400" cy="1072896"/>
          </a:xfrm>
          <a:prstGeom prst="rect">
            <a:avLst/>
          </a:prstGeom>
          <a:noFill/>
          <a:ln/>
        </p:spPr>
        <p:txBody>
          <a:bodyPr wrap="square" lIns="0" tIns="0" rIns="0" bIns="0" rtlCol="0" anchor="ctr"/>
          <a:lstStyle/>
          <a:p>
            <a:pPr algn="ctr"/>
            <a:r>
              <a:rPr lang="en-US" sz="867" b="1" dirty="0">
                <a:solidFill>
                  <a:srgbClr val="FFFFFF"/>
                </a:solidFill>
              </a:rPr>
              <a:t>MEDIUM</a:t>
            </a:r>
            <a:endParaRPr lang="en-US" sz="867" dirty="0"/>
          </a:p>
        </p:txBody>
      </p:sp>
      <p:sp>
        <p:nvSpPr>
          <p:cNvPr id="33" name="Text 31"/>
          <p:cNvSpPr/>
          <p:nvPr/>
        </p:nvSpPr>
        <p:spPr>
          <a:xfrm>
            <a:off x="7217664" y="3687117"/>
            <a:ext cx="4632960" cy="292608"/>
          </a:xfrm>
          <a:prstGeom prst="rect">
            <a:avLst/>
          </a:prstGeom>
          <a:noFill/>
          <a:ln/>
        </p:spPr>
        <p:txBody>
          <a:bodyPr wrap="square" lIns="0" tIns="0" rIns="0" bIns="0" rtlCol="0" anchor="ctr"/>
          <a:lstStyle/>
          <a:p>
            <a:r>
              <a:rPr lang="en-US" sz="1267" b="1" dirty="0">
                <a:solidFill>
                  <a:srgbClr val="0D1B2A"/>
                </a:solidFill>
              </a:rPr>
              <a:t>Customer Acquisition Cost &amp; Churn</a:t>
            </a:r>
            <a:endParaRPr lang="en-US" sz="1267" dirty="0"/>
          </a:p>
        </p:txBody>
      </p:sp>
      <p:sp>
        <p:nvSpPr>
          <p:cNvPr id="34" name="Text 32"/>
          <p:cNvSpPr/>
          <p:nvPr/>
        </p:nvSpPr>
        <p:spPr>
          <a:xfrm>
            <a:off x="7217664" y="4004109"/>
            <a:ext cx="4632960" cy="609600"/>
          </a:xfrm>
          <a:prstGeom prst="rect">
            <a:avLst/>
          </a:prstGeom>
          <a:noFill/>
          <a:ln/>
        </p:spPr>
        <p:txBody>
          <a:bodyPr wrap="square" lIns="0" tIns="0" rIns="0" bIns="0" rtlCol="0" anchor="ctr"/>
          <a:lstStyle/>
          <a:p>
            <a:r>
              <a:rPr lang="en-US" sz="1100" dirty="0"/>
              <a:t>Despite brand recognition, funded customer growth (+8% YoY in Q1 2025) is slowing versus peak COVID era. Marketing incentives (3% IRA match, transfer bonuses) are expensive. Churn from inactive users who joined in 2020-21 remains elevated. Retention rates and engagement depth with non-Gold users are not disclosed.</a:t>
            </a:r>
          </a:p>
        </p:txBody>
      </p:sp>
      <p:sp>
        <p:nvSpPr>
          <p:cNvPr id="35" name="Shape 33"/>
          <p:cNvSpPr/>
          <p:nvPr/>
        </p:nvSpPr>
        <p:spPr>
          <a:xfrm>
            <a:off x="243840" y="5223630"/>
            <a:ext cx="5730240" cy="1072896"/>
          </a:xfrm>
          <a:prstGeom prst="rect">
            <a:avLst/>
          </a:prstGeom>
          <a:solidFill>
            <a:srgbClr val="F4F9F7"/>
          </a:solidFill>
          <a:ln/>
          <a:effectLst>
            <a:outerShdw blurRad="38100" dist="12700" dir="8100000" algn="bl" rotWithShape="0">
              <a:srgbClr val="000000">
                <a:alpha val="5000"/>
              </a:srgbClr>
            </a:outerShdw>
          </a:effectLst>
        </p:spPr>
      </p:sp>
      <p:sp>
        <p:nvSpPr>
          <p:cNvPr id="36" name="Shape 34"/>
          <p:cNvSpPr/>
          <p:nvPr/>
        </p:nvSpPr>
        <p:spPr>
          <a:xfrm>
            <a:off x="243840" y="5223630"/>
            <a:ext cx="914400" cy="1072896"/>
          </a:xfrm>
          <a:prstGeom prst="rect">
            <a:avLst/>
          </a:prstGeom>
          <a:solidFill>
            <a:srgbClr val="2E8B57"/>
          </a:solidFill>
          <a:ln/>
        </p:spPr>
      </p:sp>
      <p:sp>
        <p:nvSpPr>
          <p:cNvPr id="37" name="Text 35"/>
          <p:cNvSpPr/>
          <p:nvPr/>
        </p:nvSpPr>
        <p:spPr>
          <a:xfrm>
            <a:off x="243840" y="5223630"/>
            <a:ext cx="914400" cy="1072896"/>
          </a:xfrm>
          <a:prstGeom prst="rect">
            <a:avLst/>
          </a:prstGeom>
          <a:noFill/>
          <a:ln/>
        </p:spPr>
        <p:txBody>
          <a:bodyPr wrap="square" lIns="0" tIns="0" rIns="0" bIns="0" rtlCol="0" anchor="ctr"/>
          <a:lstStyle/>
          <a:p>
            <a:pPr algn="ctr"/>
            <a:r>
              <a:rPr lang="en-US" sz="867" b="1" dirty="0">
                <a:solidFill>
                  <a:srgbClr val="FFFFFF"/>
                </a:solidFill>
              </a:rPr>
              <a:t>MEDIUM</a:t>
            </a:r>
            <a:endParaRPr lang="en-US" sz="867" dirty="0"/>
          </a:p>
        </p:txBody>
      </p:sp>
      <p:sp>
        <p:nvSpPr>
          <p:cNvPr id="38" name="Text 36"/>
          <p:cNvSpPr/>
          <p:nvPr/>
        </p:nvSpPr>
        <p:spPr>
          <a:xfrm>
            <a:off x="1243584" y="5296782"/>
            <a:ext cx="4632960" cy="292608"/>
          </a:xfrm>
          <a:prstGeom prst="rect">
            <a:avLst/>
          </a:prstGeom>
          <a:noFill/>
          <a:ln/>
        </p:spPr>
        <p:txBody>
          <a:bodyPr wrap="square" lIns="0" tIns="0" rIns="0" bIns="0" rtlCol="0" anchor="ctr"/>
          <a:lstStyle/>
          <a:p>
            <a:r>
              <a:rPr lang="en-US" sz="1267" b="1" dirty="0">
                <a:solidFill>
                  <a:srgbClr val="0D1B2A"/>
                </a:solidFill>
              </a:rPr>
              <a:t>Agentic AI Execution &amp; Regulatory Risk</a:t>
            </a:r>
            <a:endParaRPr lang="en-US" sz="1267" dirty="0"/>
          </a:p>
        </p:txBody>
      </p:sp>
      <p:sp>
        <p:nvSpPr>
          <p:cNvPr id="39" name="Text 37"/>
          <p:cNvSpPr/>
          <p:nvPr/>
        </p:nvSpPr>
        <p:spPr>
          <a:xfrm>
            <a:off x="1243584" y="5613774"/>
            <a:ext cx="4632960" cy="609600"/>
          </a:xfrm>
          <a:prstGeom prst="rect">
            <a:avLst/>
          </a:prstGeom>
          <a:noFill/>
          <a:ln/>
        </p:spPr>
        <p:txBody>
          <a:bodyPr wrap="square" lIns="0" tIns="0" rIns="0" bIns="0" rtlCol="0" anchor="ctr"/>
          <a:lstStyle/>
          <a:p>
            <a:r>
              <a:rPr lang="en-US" sz="1100" dirty="0"/>
              <a:t>Launching AI agents that execute trades autonomously is novel regulatory territory. FINRA suitability rules, SEC best-interest standards, and potential liability for AI-caused losses are uncharted. One high-profile AI trading failure or fraud case could trigger regulatory shutdown of this product.</a:t>
            </a:r>
          </a:p>
        </p:txBody>
      </p:sp>
      <p:sp>
        <p:nvSpPr>
          <p:cNvPr id="40" name="Shape 38"/>
          <p:cNvSpPr/>
          <p:nvPr/>
        </p:nvSpPr>
        <p:spPr>
          <a:xfrm>
            <a:off x="6217920" y="4881933"/>
            <a:ext cx="5730240" cy="1072896"/>
          </a:xfrm>
          <a:prstGeom prst="rect">
            <a:avLst/>
          </a:prstGeom>
          <a:solidFill>
            <a:srgbClr val="F4F9F7"/>
          </a:solidFill>
          <a:ln/>
          <a:effectLst>
            <a:outerShdw blurRad="38100" dist="12700" dir="8100000" algn="bl" rotWithShape="0">
              <a:srgbClr val="000000">
                <a:alpha val="5000"/>
              </a:srgbClr>
            </a:outerShdw>
          </a:effectLst>
        </p:spPr>
      </p:sp>
      <p:sp>
        <p:nvSpPr>
          <p:cNvPr id="41" name="Shape 39"/>
          <p:cNvSpPr/>
          <p:nvPr/>
        </p:nvSpPr>
        <p:spPr>
          <a:xfrm>
            <a:off x="6217920" y="5223630"/>
            <a:ext cx="914400" cy="1072896"/>
          </a:xfrm>
          <a:prstGeom prst="rect">
            <a:avLst/>
          </a:prstGeom>
          <a:solidFill>
            <a:srgbClr val="5A7A8A"/>
          </a:solidFill>
          <a:ln/>
        </p:spPr>
      </p:sp>
      <p:sp>
        <p:nvSpPr>
          <p:cNvPr id="42" name="Text 40"/>
          <p:cNvSpPr/>
          <p:nvPr/>
        </p:nvSpPr>
        <p:spPr>
          <a:xfrm>
            <a:off x="6217920" y="5223630"/>
            <a:ext cx="914400" cy="1072896"/>
          </a:xfrm>
          <a:prstGeom prst="rect">
            <a:avLst/>
          </a:prstGeom>
          <a:noFill/>
          <a:ln/>
        </p:spPr>
        <p:txBody>
          <a:bodyPr wrap="square" lIns="0" tIns="0" rIns="0" bIns="0" rtlCol="0" anchor="ctr"/>
          <a:lstStyle/>
          <a:p>
            <a:pPr algn="ctr"/>
            <a:r>
              <a:rPr lang="en-US" sz="867" b="1" dirty="0">
                <a:solidFill>
                  <a:srgbClr val="FFFFFF"/>
                </a:solidFill>
              </a:rPr>
              <a:t>WATCH</a:t>
            </a:r>
            <a:endParaRPr lang="en-US" sz="867" dirty="0"/>
          </a:p>
        </p:txBody>
      </p:sp>
      <p:sp>
        <p:nvSpPr>
          <p:cNvPr id="43" name="Text 41"/>
          <p:cNvSpPr/>
          <p:nvPr/>
        </p:nvSpPr>
        <p:spPr>
          <a:xfrm>
            <a:off x="7217664" y="5296782"/>
            <a:ext cx="4632960" cy="292608"/>
          </a:xfrm>
          <a:prstGeom prst="rect">
            <a:avLst/>
          </a:prstGeom>
          <a:noFill/>
          <a:ln/>
        </p:spPr>
        <p:txBody>
          <a:bodyPr wrap="square" lIns="0" tIns="0" rIns="0" bIns="0" rtlCol="0" anchor="ctr"/>
          <a:lstStyle/>
          <a:p>
            <a:r>
              <a:rPr lang="en-US" sz="1267" b="1" dirty="0">
                <a:solidFill>
                  <a:srgbClr val="0D1B2A"/>
                </a:solidFill>
              </a:rPr>
              <a:t>IPO Lawsuit — Supreme Court 2026</a:t>
            </a:r>
            <a:endParaRPr lang="en-US" sz="1267" dirty="0"/>
          </a:p>
        </p:txBody>
      </p:sp>
      <p:sp>
        <p:nvSpPr>
          <p:cNvPr id="44" name="Text 42"/>
          <p:cNvSpPr/>
          <p:nvPr/>
        </p:nvSpPr>
        <p:spPr>
          <a:xfrm>
            <a:off x="7217664" y="5613774"/>
            <a:ext cx="4632960" cy="609600"/>
          </a:xfrm>
          <a:prstGeom prst="rect">
            <a:avLst/>
          </a:prstGeom>
          <a:noFill/>
          <a:ln/>
        </p:spPr>
        <p:txBody>
          <a:bodyPr wrap="square" lIns="0" tIns="0" rIns="0" bIns="0" rtlCol="0" anchor="ctr"/>
          <a:lstStyle/>
          <a:p>
            <a:r>
              <a:rPr lang="en-US" sz="1100" dirty="0"/>
              <a:t>The US Supreme Court (June 2026) is reviewing whether to hear Robinhood's appeal of an IPO class-action lawsuit alleging insufficient disclosure of risks. An adverse ruling could expose Robinhood to significant financial liability and management distraction.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Shape 0">
            <a:extLst>
              <a:ext uri="{FF2B5EF4-FFF2-40B4-BE49-F238E27FC236}">
                <a16:creationId xmlns:a16="http://schemas.microsoft.com/office/drawing/2014/main" id="{F5455ABD-5B81-6B00-792D-D4BDD318D64C}"/>
              </a:ext>
            </a:extLst>
          </p:cNvPr>
          <p:cNvSpPr/>
          <p:nvPr/>
        </p:nvSpPr>
        <p:spPr>
          <a:xfrm>
            <a:off x="0" y="0"/>
            <a:ext cx="12192000" cy="938784"/>
          </a:xfrm>
          <a:prstGeom prst="rect">
            <a:avLst/>
          </a:prstGeom>
          <a:solidFill>
            <a:srgbClr val="0D1B2A"/>
          </a:solidFill>
          <a:ln/>
        </p:spPr>
      </p:sp>
      <p:sp>
        <p:nvSpPr>
          <p:cNvPr id="2" name="Shape 0"/>
          <p:cNvSpPr/>
          <p:nvPr/>
        </p:nvSpPr>
        <p:spPr>
          <a:xfrm>
            <a:off x="0" y="0"/>
            <a:ext cx="146304" cy="6858000"/>
          </a:xfrm>
          <a:prstGeom prst="rect">
            <a:avLst/>
          </a:prstGeom>
          <a:solidFill>
            <a:srgbClr val="00C896"/>
          </a:solidFill>
          <a:ln/>
        </p:spPr>
      </p:sp>
      <p:sp>
        <p:nvSpPr>
          <p:cNvPr id="3" name="Text 1"/>
          <p:cNvSpPr/>
          <p:nvPr/>
        </p:nvSpPr>
        <p:spPr>
          <a:xfrm>
            <a:off x="365760" y="146304"/>
            <a:ext cx="11582400" cy="365760"/>
          </a:xfrm>
          <a:prstGeom prst="rect">
            <a:avLst/>
          </a:prstGeom>
          <a:noFill/>
          <a:ln/>
        </p:spPr>
        <p:txBody>
          <a:bodyPr wrap="square" lIns="0" tIns="0" rIns="0" bIns="0" rtlCol="0" anchor="ctr"/>
          <a:lstStyle/>
          <a:p>
            <a:r>
              <a:rPr lang="en-US" sz="1467" b="1" kern="0" spc="267" dirty="0">
                <a:solidFill>
                  <a:srgbClr val="00C896"/>
                </a:solidFill>
              </a:rPr>
              <a:t>SECTION 8: INVESTMENT THESIS — THREE CORE BELIEFS</a:t>
            </a:r>
            <a:endParaRPr lang="en-US" sz="1467" dirty="0"/>
          </a:p>
        </p:txBody>
      </p:sp>
      <p:sp>
        <p:nvSpPr>
          <p:cNvPr id="4" name="Text 2"/>
          <p:cNvSpPr/>
          <p:nvPr/>
        </p:nvSpPr>
        <p:spPr>
          <a:xfrm>
            <a:off x="365760" y="536448"/>
            <a:ext cx="11582400" cy="341376"/>
          </a:xfrm>
          <a:prstGeom prst="rect">
            <a:avLst/>
          </a:prstGeom>
          <a:noFill/>
          <a:ln/>
        </p:spPr>
        <p:txBody>
          <a:bodyPr wrap="square" lIns="0" tIns="0" rIns="0" bIns="0" rtlCol="0" anchor="ctr"/>
          <a:lstStyle/>
          <a:p>
            <a:r>
              <a:rPr lang="en-US" sz="1600" i="1" dirty="0">
                <a:solidFill>
                  <a:srgbClr val="8AB8C8"/>
                </a:solidFill>
              </a:rPr>
              <a:t>All three must hold simultaneously for the bull case to work</a:t>
            </a:r>
            <a:endParaRPr lang="en-US" sz="1600" dirty="0"/>
          </a:p>
        </p:txBody>
      </p:sp>
      <p:sp>
        <p:nvSpPr>
          <p:cNvPr id="5" name="Shape 3"/>
          <p:cNvSpPr/>
          <p:nvPr/>
        </p:nvSpPr>
        <p:spPr>
          <a:xfrm>
            <a:off x="365760" y="999744"/>
            <a:ext cx="11460480" cy="1767840"/>
          </a:xfrm>
          <a:prstGeom prst="rect">
            <a:avLst/>
          </a:prstGeom>
          <a:solidFill>
            <a:srgbClr val="1B3A5C"/>
          </a:solidFill>
          <a:ln/>
        </p:spPr>
      </p:sp>
      <p:sp>
        <p:nvSpPr>
          <p:cNvPr id="6" name="Shape 4"/>
          <p:cNvSpPr/>
          <p:nvPr/>
        </p:nvSpPr>
        <p:spPr>
          <a:xfrm>
            <a:off x="365760" y="999744"/>
            <a:ext cx="670560" cy="1767840"/>
          </a:xfrm>
          <a:prstGeom prst="rect">
            <a:avLst/>
          </a:prstGeom>
          <a:solidFill>
            <a:srgbClr val="00C896"/>
          </a:solidFill>
          <a:ln/>
        </p:spPr>
      </p:sp>
      <p:sp>
        <p:nvSpPr>
          <p:cNvPr id="7" name="Text 5"/>
          <p:cNvSpPr/>
          <p:nvPr/>
        </p:nvSpPr>
        <p:spPr>
          <a:xfrm>
            <a:off x="365760" y="999744"/>
            <a:ext cx="670560" cy="1767840"/>
          </a:xfrm>
          <a:prstGeom prst="rect">
            <a:avLst/>
          </a:prstGeom>
          <a:noFill/>
          <a:ln/>
        </p:spPr>
        <p:txBody>
          <a:bodyPr wrap="square" lIns="0" tIns="0" rIns="0" bIns="0" rtlCol="0" anchor="ctr"/>
          <a:lstStyle/>
          <a:p>
            <a:pPr algn="ctr"/>
            <a:r>
              <a:rPr lang="en-US" sz="2133" b="1" dirty="0">
                <a:solidFill>
                  <a:srgbClr val="0D1B2A"/>
                </a:solidFill>
                <a:latin typeface="Georgia" pitchFamily="34" charset="0"/>
                <a:ea typeface="Georgia" pitchFamily="34" charset="-122"/>
                <a:cs typeface="Georgia" pitchFamily="34" charset="-120"/>
              </a:rPr>
              <a:t>01</a:t>
            </a:r>
            <a:endParaRPr lang="en-US" sz="2133" dirty="0"/>
          </a:p>
        </p:txBody>
      </p:sp>
      <p:sp>
        <p:nvSpPr>
          <p:cNvPr id="8" name="Text 6"/>
          <p:cNvSpPr/>
          <p:nvPr/>
        </p:nvSpPr>
        <p:spPr>
          <a:xfrm>
            <a:off x="1158240" y="1072896"/>
            <a:ext cx="10582656" cy="365760"/>
          </a:xfrm>
          <a:prstGeom prst="rect">
            <a:avLst/>
          </a:prstGeom>
          <a:noFill/>
          <a:ln/>
        </p:spPr>
        <p:txBody>
          <a:bodyPr wrap="square" lIns="0" tIns="0" rIns="0" bIns="0" rtlCol="0" anchor="ctr"/>
          <a:lstStyle/>
          <a:p>
            <a:r>
              <a:rPr lang="en-US" sz="1400" b="1" dirty="0">
                <a:solidFill>
                  <a:srgbClr val="FFFFFF"/>
                </a:solidFill>
              </a:rPr>
              <a:t>The Great Wealth Transfer Is Real &amp; Robinhood Is Best-Positioned to Capture It</a:t>
            </a:r>
            <a:endParaRPr lang="en-US" sz="1400" dirty="0"/>
          </a:p>
        </p:txBody>
      </p:sp>
      <p:sp>
        <p:nvSpPr>
          <p:cNvPr id="9" name="Shape 7"/>
          <p:cNvSpPr/>
          <p:nvPr/>
        </p:nvSpPr>
        <p:spPr>
          <a:xfrm>
            <a:off x="1158240" y="1511808"/>
            <a:ext cx="5120640" cy="1158240"/>
          </a:xfrm>
          <a:prstGeom prst="rect">
            <a:avLst/>
          </a:prstGeom>
          <a:solidFill>
            <a:srgbClr val="1A3E2C"/>
          </a:solidFill>
          <a:ln/>
        </p:spPr>
      </p:sp>
      <p:sp>
        <p:nvSpPr>
          <p:cNvPr id="10" name="Text 8"/>
          <p:cNvSpPr/>
          <p:nvPr/>
        </p:nvSpPr>
        <p:spPr>
          <a:xfrm>
            <a:off x="1243584" y="1560576"/>
            <a:ext cx="4949952" cy="243840"/>
          </a:xfrm>
          <a:prstGeom prst="rect">
            <a:avLst/>
          </a:prstGeom>
          <a:noFill/>
          <a:ln/>
        </p:spPr>
        <p:txBody>
          <a:bodyPr wrap="square" lIns="0" tIns="0" rIns="0" bIns="0" rtlCol="0" anchor="ctr"/>
          <a:lstStyle/>
          <a:p>
            <a:r>
              <a:rPr lang="en-US" sz="1067" b="1" dirty="0">
                <a:solidFill>
                  <a:srgbClr val="00C896"/>
                </a:solidFill>
              </a:rPr>
              <a:t>IF TRUE:</a:t>
            </a:r>
            <a:endParaRPr lang="en-US" sz="1067" dirty="0"/>
          </a:p>
        </p:txBody>
      </p:sp>
      <p:sp>
        <p:nvSpPr>
          <p:cNvPr id="11" name="Text 9"/>
          <p:cNvSpPr/>
          <p:nvPr/>
        </p:nvSpPr>
        <p:spPr>
          <a:xfrm>
            <a:off x="1243584" y="1780032"/>
            <a:ext cx="4949952" cy="829056"/>
          </a:xfrm>
          <a:prstGeom prst="rect">
            <a:avLst/>
          </a:prstGeom>
          <a:noFill/>
          <a:ln/>
        </p:spPr>
        <p:txBody>
          <a:bodyPr wrap="square" lIns="0" tIns="0" rIns="0" bIns="0" rtlCol="0" anchor="ctr"/>
          <a:lstStyle/>
          <a:p>
            <a:r>
              <a:rPr lang="en-US" sz="1100" dirty="0">
                <a:solidFill>
                  <a:schemeClr val="bg1"/>
                </a:solidFill>
              </a:rPr>
              <a:t>$84T in assets expected to transfer from Boomers to Millennials/Gen Z over next 20 years. Millennials already hold $9T in wealth — growing fastest. Robinhood's 27M funded accounts are ~80% aged 25–45. TradePMR RIA custody gives them the institutional-grade platform as balances grow. Gold subscribers monetize at 3–5x rate of standard users.</a:t>
            </a:r>
          </a:p>
        </p:txBody>
      </p:sp>
      <p:sp>
        <p:nvSpPr>
          <p:cNvPr id="12" name="Shape 10"/>
          <p:cNvSpPr/>
          <p:nvPr/>
        </p:nvSpPr>
        <p:spPr>
          <a:xfrm>
            <a:off x="6522720" y="1511808"/>
            <a:ext cx="5193792" cy="1158240"/>
          </a:xfrm>
          <a:prstGeom prst="rect">
            <a:avLst/>
          </a:prstGeom>
          <a:solidFill>
            <a:srgbClr val="3E1A1A"/>
          </a:solidFill>
          <a:ln/>
        </p:spPr>
      </p:sp>
      <p:sp>
        <p:nvSpPr>
          <p:cNvPr id="13" name="Text 11"/>
          <p:cNvSpPr/>
          <p:nvPr/>
        </p:nvSpPr>
        <p:spPr>
          <a:xfrm>
            <a:off x="6620256" y="1560576"/>
            <a:ext cx="4998720" cy="243840"/>
          </a:xfrm>
          <a:prstGeom prst="rect">
            <a:avLst/>
          </a:prstGeom>
          <a:noFill/>
          <a:ln/>
        </p:spPr>
        <p:txBody>
          <a:bodyPr wrap="square" lIns="0" tIns="0" rIns="0" bIns="0" rtlCol="0" anchor="ctr"/>
          <a:lstStyle/>
          <a:p>
            <a:r>
              <a:rPr lang="en-US" sz="1067" b="1" dirty="0">
                <a:solidFill>
                  <a:srgbClr val="E84545"/>
                </a:solidFill>
              </a:rPr>
              <a:t>IF FALSE:</a:t>
            </a:r>
            <a:endParaRPr lang="en-US" sz="1067" dirty="0"/>
          </a:p>
        </p:txBody>
      </p:sp>
      <p:sp>
        <p:nvSpPr>
          <p:cNvPr id="14" name="Text 12"/>
          <p:cNvSpPr/>
          <p:nvPr/>
        </p:nvSpPr>
        <p:spPr>
          <a:xfrm>
            <a:off x="6620256" y="1780032"/>
            <a:ext cx="4998720" cy="829056"/>
          </a:xfrm>
          <a:prstGeom prst="rect">
            <a:avLst/>
          </a:prstGeom>
          <a:noFill/>
          <a:ln/>
        </p:spPr>
        <p:txBody>
          <a:bodyPr wrap="square" lIns="0" tIns="0" rIns="0" bIns="0" rtlCol="0" anchor="ctr"/>
          <a:lstStyle/>
          <a:p>
            <a:r>
              <a:rPr lang="en-US" sz="1100" dirty="0">
                <a:solidFill>
                  <a:schemeClr val="bg1"/>
                </a:solidFill>
              </a:rPr>
              <a:t>If wealth transfer beneficiaries go to Schwab, Fidelity, or fee-only RIAs rather than Robinhood, the platform remains a 'starter broker' that users graduate out of. Robinhood's average account size (~$8K) vs Schwab (~$350K) reveals this risk acutely — it must grow with its customers, not lose them.</a:t>
            </a:r>
          </a:p>
        </p:txBody>
      </p:sp>
      <p:sp>
        <p:nvSpPr>
          <p:cNvPr id="15" name="Shape 13"/>
          <p:cNvSpPr/>
          <p:nvPr/>
        </p:nvSpPr>
        <p:spPr>
          <a:xfrm>
            <a:off x="365760" y="2901696"/>
            <a:ext cx="11460480" cy="1767840"/>
          </a:xfrm>
          <a:prstGeom prst="rect">
            <a:avLst/>
          </a:prstGeom>
          <a:solidFill>
            <a:srgbClr val="1B3A5C"/>
          </a:solidFill>
          <a:ln/>
        </p:spPr>
      </p:sp>
      <p:sp>
        <p:nvSpPr>
          <p:cNvPr id="16" name="Shape 14"/>
          <p:cNvSpPr/>
          <p:nvPr/>
        </p:nvSpPr>
        <p:spPr>
          <a:xfrm>
            <a:off x="365760" y="2901696"/>
            <a:ext cx="670560" cy="1767840"/>
          </a:xfrm>
          <a:prstGeom prst="rect">
            <a:avLst/>
          </a:prstGeom>
          <a:solidFill>
            <a:srgbClr val="00C896"/>
          </a:solidFill>
          <a:ln/>
        </p:spPr>
      </p:sp>
      <p:sp>
        <p:nvSpPr>
          <p:cNvPr id="17" name="Text 15"/>
          <p:cNvSpPr/>
          <p:nvPr/>
        </p:nvSpPr>
        <p:spPr>
          <a:xfrm>
            <a:off x="365760" y="2901696"/>
            <a:ext cx="670560" cy="1767840"/>
          </a:xfrm>
          <a:prstGeom prst="rect">
            <a:avLst/>
          </a:prstGeom>
          <a:noFill/>
          <a:ln/>
        </p:spPr>
        <p:txBody>
          <a:bodyPr wrap="square" lIns="0" tIns="0" rIns="0" bIns="0" rtlCol="0" anchor="ctr"/>
          <a:lstStyle/>
          <a:p>
            <a:pPr algn="ctr"/>
            <a:r>
              <a:rPr lang="en-US" sz="2133" b="1" dirty="0">
                <a:solidFill>
                  <a:srgbClr val="0D1B2A"/>
                </a:solidFill>
                <a:latin typeface="Georgia" pitchFamily="34" charset="0"/>
                <a:ea typeface="Georgia" pitchFamily="34" charset="-122"/>
                <a:cs typeface="Georgia" pitchFamily="34" charset="-120"/>
              </a:rPr>
              <a:t>02</a:t>
            </a:r>
            <a:endParaRPr lang="en-US" sz="2133" dirty="0"/>
          </a:p>
        </p:txBody>
      </p:sp>
      <p:sp>
        <p:nvSpPr>
          <p:cNvPr id="18" name="Text 16"/>
          <p:cNvSpPr/>
          <p:nvPr/>
        </p:nvSpPr>
        <p:spPr>
          <a:xfrm>
            <a:off x="1158240" y="2974848"/>
            <a:ext cx="10582656" cy="365760"/>
          </a:xfrm>
          <a:prstGeom prst="rect">
            <a:avLst/>
          </a:prstGeom>
          <a:noFill/>
          <a:ln/>
        </p:spPr>
        <p:txBody>
          <a:bodyPr wrap="square" lIns="0" tIns="0" rIns="0" bIns="0" rtlCol="0" anchor="ctr"/>
          <a:lstStyle/>
          <a:p>
            <a:r>
              <a:rPr lang="en-US" sz="1400" b="1" dirty="0">
                <a:solidFill>
                  <a:srgbClr val="FFFFFF"/>
                </a:solidFill>
              </a:rPr>
              <a:t>Robinhood Gold &amp; Subscription Revenue Creates a Durable, Rate-Independent Income Floor</a:t>
            </a:r>
            <a:endParaRPr lang="en-US" sz="1400" dirty="0"/>
          </a:p>
        </p:txBody>
      </p:sp>
      <p:sp>
        <p:nvSpPr>
          <p:cNvPr id="19" name="Shape 17"/>
          <p:cNvSpPr/>
          <p:nvPr/>
        </p:nvSpPr>
        <p:spPr>
          <a:xfrm>
            <a:off x="1158240" y="3413760"/>
            <a:ext cx="5120640" cy="1158240"/>
          </a:xfrm>
          <a:prstGeom prst="rect">
            <a:avLst/>
          </a:prstGeom>
          <a:solidFill>
            <a:srgbClr val="1A3E2C"/>
          </a:solidFill>
          <a:ln/>
        </p:spPr>
      </p:sp>
      <p:sp>
        <p:nvSpPr>
          <p:cNvPr id="20" name="Text 18"/>
          <p:cNvSpPr/>
          <p:nvPr/>
        </p:nvSpPr>
        <p:spPr>
          <a:xfrm>
            <a:off x="1243584" y="3462528"/>
            <a:ext cx="4949952" cy="243840"/>
          </a:xfrm>
          <a:prstGeom prst="rect">
            <a:avLst/>
          </a:prstGeom>
          <a:noFill/>
          <a:ln/>
        </p:spPr>
        <p:txBody>
          <a:bodyPr wrap="square" lIns="0" tIns="0" rIns="0" bIns="0" rtlCol="0" anchor="ctr"/>
          <a:lstStyle/>
          <a:p>
            <a:r>
              <a:rPr lang="en-US" sz="1067" b="1" dirty="0">
                <a:solidFill>
                  <a:srgbClr val="00C896"/>
                </a:solidFill>
              </a:rPr>
              <a:t>IF TRUE:</a:t>
            </a:r>
            <a:endParaRPr lang="en-US" sz="1067" dirty="0"/>
          </a:p>
        </p:txBody>
      </p:sp>
      <p:sp>
        <p:nvSpPr>
          <p:cNvPr id="21" name="Text 19"/>
          <p:cNvSpPr/>
          <p:nvPr/>
        </p:nvSpPr>
        <p:spPr>
          <a:xfrm>
            <a:off x="1243584" y="3681984"/>
            <a:ext cx="4949952" cy="829056"/>
          </a:xfrm>
          <a:prstGeom prst="rect">
            <a:avLst/>
          </a:prstGeom>
          <a:noFill/>
          <a:ln/>
        </p:spPr>
        <p:txBody>
          <a:bodyPr wrap="square" lIns="0" tIns="0" rIns="0" bIns="0" rtlCol="0" anchor="ctr"/>
          <a:lstStyle/>
          <a:p>
            <a:r>
              <a:rPr lang="en-US" sz="1100" dirty="0">
                <a:solidFill>
                  <a:schemeClr val="bg1"/>
                </a:solidFill>
              </a:rPr>
              <a:t>Gold subscribers at 4.3M generate ~$360M annualized subscription revenue — recurring, high-margin, growing 36% YoY. Gold also drives higher ARPU (Gold users use margin, trade options more, hold more cash). As Gold penetrates the 27M base (currently 16% penetration), this becomes a $1–2B annual moat unaffected by rate cycles.</a:t>
            </a:r>
          </a:p>
        </p:txBody>
      </p:sp>
      <p:sp>
        <p:nvSpPr>
          <p:cNvPr id="22" name="Shape 20"/>
          <p:cNvSpPr/>
          <p:nvPr/>
        </p:nvSpPr>
        <p:spPr>
          <a:xfrm>
            <a:off x="6522720" y="3413760"/>
            <a:ext cx="5193792" cy="1158240"/>
          </a:xfrm>
          <a:prstGeom prst="rect">
            <a:avLst/>
          </a:prstGeom>
          <a:solidFill>
            <a:srgbClr val="3E1A1A"/>
          </a:solidFill>
          <a:ln/>
        </p:spPr>
      </p:sp>
      <p:sp>
        <p:nvSpPr>
          <p:cNvPr id="23" name="Text 21"/>
          <p:cNvSpPr/>
          <p:nvPr/>
        </p:nvSpPr>
        <p:spPr>
          <a:xfrm>
            <a:off x="6620256" y="3462528"/>
            <a:ext cx="4998720" cy="243840"/>
          </a:xfrm>
          <a:prstGeom prst="rect">
            <a:avLst/>
          </a:prstGeom>
          <a:noFill/>
          <a:ln/>
        </p:spPr>
        <p:txBody>
          <a:bodyPr wrap="square" lIns="0" tIns="0" rIns="0" bIns="0" rtlCol="0" anchor="ctr"/>
          <a:lstStyle/>
          <a:p>
            <a:r>
              <a:rPr lang="en-US" sz="1067" b="1" dirty="0">
                <a:solidFill>
                  <a:srgbClr val="E84545"/>
                </a:solidFill>
              </a:rPr>
              <a:t>IF FALSE:</a:t>
            </a:r>
            <a:endParaRPr lang="en-US" sz="1067" dirty="0"/>
          </a:p>
        </p:txBody>
      </p:sp>
      <p:sp>
        <p:nvSpPr>
          <p:cNvPr id="24" name="Text 22"/>
          <p:cNvSpPr/>
          <p:nvPr/>
        </p:nvSpPr>
        <p:spPr>
          <a:xfrm>
            <a:off x="6620256" y="3681984"/>
            <a:ext cx="4998720" cy="829056"/>
          </a:xfrm>
          <a:prstGeom prst="rect">
            <a:avLst/>
          </a:prstGeom>
          <a:noFill/>
          <a:ln/>
        </p:spPr>
        <p:txBody>
          <a:bodyPr wrap="square" lIns="0" tIns="0" rIns="0" bIns="0" rtlCol="0" anchor="ctr"/>
          <a:lstStyle/>
          <a:p>
            <a:r>
              <a:rPr lang="en-US" sz="1100" dirty="0">
                <a:solidFill>
                  <a:schemeClr val="bg1"/>
                </a:solidFill>
              </a:rPr>
              <a:t>If Gold value proposition weakens — e.g., Fed cuts rates reducing the 5% APY edge, or Schwab/Fidelity match the cash sweep rate — churn accelerates. Gold's $6.99/mo is defensible now but faces pricing pressure if the marginal benefit (rate edge) disappears. Subscription-only revenue without engagement doesn't build durable moats.</a:t>
            </a:r>
          </a:p>
        </p:txBody>
      </p:sp>
      <p:sp>
        <p:nvSpPr>
          <p:cNvPr id="25" name="Shape 23"/>
          <p:cNvSpPr/>
          <p:nvPr/>
        </p:nvSpPr>
        <p:spPr>
          <a:xfrm>
            <a:off x="365760" y="4803648"/>
            <a:ext cx="11460480" cy="1767840"/>
          </a:xfrm>
          <a:prstGeom prst="rect">
            <a:avLst/>
          </a:prstGeom>
          <a:solidFill>
            <a:srgbClr val="1B3A5C"/>
          </a:solidFill>
          <a:ln/>
        </p:spPr>
      </p:sp>
      <p:sp>
        <p:nvSpPr>
          <p:cNvPr id="26" name="Shape 24"/>
          <p:cNvSpPr/>
          <p:nvPr/>
        </p:nvSpPr>
        <p:spPr>
          <a:xfrm>
            <a:off x="365760" y="4803648"/>
            <a:ext cx="670560" cy="1767840"/>
          </a:xfrm>
          <a:prstGeom prst="rect">
            <a:avLst/>
          </a:prstGeom>
          <a:solidFill>
            <a:srgbClr val="00C896"/>
          </a:solidFill>
          <a:ln/>
        </p:spPr>
      </p:sp>
      <p:sp>
        <p:nvSpPr>
          <p:cNvPr id="27" name="Text 25"/>
          <p:cNvSpPr/>
          <p:nvPr/>
        </p:nvSpPr>
        <p:spPr>
          <a:xfrm>
            <a:off x="365760" y="4803648"/>
            <a:ext cx="670560" cy="1767840"/>
          </a:xfrm>
          <a:prstGeom prst="rect">
            <a:avLst/>
          </a:prstGeom>
          <a:noFill/>
          <a:ln/>
        </p:spPr>
        <p:txBody>
          <a:bodyPr wrap="square" lIns="0" tIns="0" rIns="0" bIns="0" rtlCol="0" anchor="ctr"/>
          <a:lstStyle/>
          <a:p>
            <a:pPr algn="ctr"/>
            <a:r>
              <a:rPr lang="en-US" sz="2133" b="1" dirty="0">
                <a:solidFill>
                  <a:srgbClr val="0D1B2A"/>
                </a:solidFill>
                <a:latin typeface="Georgia" pitchFamily="34" charset="0"/>
                <a:ea typeface="Georgia" pitchFamily="34" charset="-122"/>
                <a:cs typeface="Georgia" pitchFamily="34" charset="-120"/>
              </a:rPr>
              <a:t>03</a:t>
            </a:r>
            <a:endParaRPr lang="en-US" sz="2133" dirty="0"/>
          </a:p>
        </p:txBody>
      </p:sp>
      <p:sp>
        <p:nvSpPr>
          <p:cNvPr id="28" name="Text 26"/>
          <p:cNvSpPr/>
          <p:nvPr/>
        </p:nvSpPr>
        <p:spPr>
          <a:xfrm>
            <a:off x="1158240" y="4876800"/>
            <a:ext cx="10582656" cy="365760"/>
          </a:xfrm>
          <a:prstGeom prst="rect">
            <a:avLst/>
          </a:prstGeom>
          <a:noFill/>
          <a:ln/>
        </p:spPr>
        <p:txBody>
          <a:bodyPr wrap="square" lIns="0" tIns="0" rIns="0" bIns="0" rtlCol="0" anchor="ctr"/>
          <a:lstStyle/>
          <a:p>
            <a:r>
              <a:rPr lang="en-US" sz="1400" b="1" dirty="0">
                <a:solidFill>
                  <a:srgbClr val="FFFFFF"/>
                </a:solidFill>
              </a:rPr>
              <a:t>Agentic AI + Tokenization = Next Platform Cycle (2027–2030 Re-Rating Catalyst)</a:t>
            </a:r>
            <a:endParaRPr lang="en-US" sz="1400" dirty="0"/>
          </a:p>
        </p:txBody>
      </p:sp>
      <p:sp>
        <p:nvSpPr>
          <p:cNvPr id="29" name="Shape 27"/>
          <p:cNvSpPr/>
          <p:nvPr/>
        </p:nvSpPr>
        <p:spPr>
          <a:xfrm>
            <a:off x="1158240" y="5315712"/>
            <a:ext cx="5120640" cy="1158240"/>
          </a:xfrm>
          <a:prstGeom prst="rect">
            <a:avLst/>
          </a:prstGeom>
          <a:solidFill>
            <a:srgbClr val="1A3E2C"/>
          </a:solidFill>
          <a:ln/>
        </p:spPr>
      </p:sp>
      <p:sp>
        <p:nvSpPr>
          <p:cNvPr id="30" name="Text 28"/>
          <p:cNvSpPr/>
          <p:nvPr/>
        </p:nvSpPr>
        <p:spPr>
          <a:xfrm>
            <a:off x="1243584" y="5364480"/>
            <a:ext cx="4949952" cy="243840"/>
          </a:xfrm>
          <a:prstGeom prst="rect">
            <a:avLst/>
          </a:prstGeom>
          <a:noFill/>
          <a:ln/>
        </p:spPr>
        <p:txBody>
          <a:bodyPr wrap="square" lIns="0" tIns="0" rIns="0" bIns="0" rtlCol="0" anchor="ctr"/>
          <a:lstStyle/>
          <a:p>
            <a:r>
              <a:rPr lang="en-US" sz="1067" b="1" dirty="0">
                <a:solidFill>
                  <a:srgbClr val="00C896"/>
                </a:solidFill>
              </a:rPr>
              <a:t>IF TRUE:</a:t>
            </a:r>
            <a:endParaRPr lang="en-US" sz="1067" dirty="0"/>
          </a:p>
        </p:txBody>
      </p:sp>
      <p:sp>
        <p:nvSpPr>
          <p:cNvPr id="31" name="Text 29"/>
          <p:cNvSpPr/>
          <p:nvPr/>
        </p:nvSpPr>
        <p:spPr>
          <a:xfrm>
            <a:off x="1243584" y="5583936"/>
            <a:ext cx="4949952" cy="829056"/>
          </a:xfrm>
          <a:prstGeom prst="rect">
            <a:avLst/>
          </a:prstGeom>
          <a:noFill/>
          <a:ln/>
        </p:spPr>
        <p:txBody>
          <a:bodyPr wrap="square" lIns="0" tIns="0" rIns="0" bIns="0" rtlCol="0" anchor="ctr"/>
          <a:lstStyle/>
          <a:p>
            <a:r>
              <a:rPr lang="en-US" sz="1100" dirty="0">
                <a:solidFill>
                  <a:schemeClr val="bg1"/>
                </a:solidFill>
              </a:rPr>
              <a:t>First-mover in agentic trading (May 2026) + proprietary Arbitrum L2 tokenization + crypto-native platform = Robinhood could become the Bloomberg Terminal for the next generation. If AI agents meaningfully increase trading volume and engagement, revenue per user inflects sharply. Tokenized stocks trading 24/7 on-chain could unlock a $10T+ market.</a:t>
            </a:r>
          </a:p>
        </p:txBody>
      </p:sp>
      <p:sp>
        <p:nvSpPr>
          <p:cNvPr id="32" name="Shape 30"/>
          <p:cNvSpPr/>
          <p:nvPr/>
        </p:nvSpPr>
        <p:spPr>
          <a:xfrm>
            <a:off x="6522720" y="5315712"/>
            <a:ext cx="5193792" cy="1158240"/>
          </a:xfrm>
          <a:prstGeom prst="rect">
            <a:avLst/>
          </a:prstGeom>
          <a:solidFill>
            <a:srgbClr val="3E1A1A"/>
          </a:solidFill>
          <a:ln/>
        </p:spPr>
      </p:sp>
      <p:sp>
        <p:nvSpPr>
          <p:cNvPr id="33" name="Text 31"/>
          <p:cNvSpPr/>
          <p:nvPr/>
        </p:nvSpPr>
        <p:spPr>
          <a:xfrm>
            <a:off x="6620256" y="5364480"/>
            <a:ext cx="4998720" cy="243840"/>
          </a:xfrm>
          <a:prstGeom prst="rect">
            <a:avLst/>
          </a:prstGeom>
          <a:noFill/>
          <a:ln/>
        </p:spPr>
        <p:txBody>
          <a:bodyPr wrap="square" lIns="0" tIns="0" rIns="0" bIns="0" rtlCol="0" anchor="ctr"/>
          <a:lstStyle/>
          <a:p>
            <a:r>
              <a:rPr lang="en-US" sz="1067" b="1" dirty="0">
                <a:solidFill>
                  <a:srgbClr val="E84545"/>
                </a:solidFill>
              </a:rPr>
              <a:t>IF FALSE:</a:t>
            </a:r>
            <a:endParaRPr lang="en-US" sz="1067" dirty="0"/>
          </a:p>
        </p:txBody>
      </p:sp>
      <p:sp>
        <p:nvSpPr>
          <p:cNvPr id="34" name="Text 32"/>
          <p:cNvSpPr/>
          <p:nvPr/>
        </p:nvSpPr>
        <p:spPr>
          <a:xfrm>
            <a:off x="6620256" y="5583936"/>
            <a:ext cx="4998720" cy="829056"/>
          </a:xfrm>
          <a:prstGeom prst="rect">
            <a:avLst/>
          </a:prstGeom>
          <a:noFill/>
          <a:ln/>
        </p:spPr>
        <p:txBody>
          <a:bodyPr wrap="square" lIns="0" tIns="0" rIns="0" bIns="0" rtlCol="0" anchor="ctr"/>
          <a:lstStyle/>
          <a:p>
            <a:r>
              <a:rPr lang="en-US" sz="1100" dirty="0">
                <a:solidFill>
                  <a:schemeClr val="bg1"/>
                </a:solidFill>
              </a:rPr>
              <a:t>AI agent trading is novel regulatory territory. One failure or ban erases the growth story. Tokenization faces SEC opposition and may remain limited to non-US markets for years. Competitor hyperscalers (Google, Amazon) could build competing AI trading assistants integrated into their financial products. First-mover doesn't guarantee winner.</a:t>
            </a:r>
          </a:p>
        </p:txBody>
      </p:sp>
      <p:sp>
        <p:nvSpPr>
          <p:cNvPr id="35" name="Text 33"/>
          <p:cNvSpPr/>
          <p:nvPr/>
        </p:nvSpPr>
        <p:spPr>
          <a:xfrm>
            <a:off x="365760" y="6620256"/>
            <a:ext cx="11460480" cy="219456"/>
          </a:xfrm>
          <a:prstGeom prst="rect">
            <a:avLst/>
          </a:prstGeom>
          <a:noFill/>
          <a:ln/>
        </p:spPr>
        <p:txBody>
          <a:bodyPr wrap="square" lIns="0" tIns="0" rIns="0" bIns="0" rtlCol="0" anchor="ctr"/>
          <a:lstStyle/>
          <a:p>
            <a:r>
              <a:rPr lang="en-US" sz="1000" i="1" dirty="0">
                <a:solidFill>
                  <a:srgbClr val="507090"/>
                </a:solidFill>
              </a:rPr>
              <a:t>Thesis: independent fundamental analysis. Not investment advice. June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55904"/>
          </a:xfrm>
          <a:prstGeom prst="rect">
            <a:avLst/>
          </a:prstGeom>
          <a:solidFill>
            <a:srgbClr val="0D1B2A"/>
          </a:solidFill>
          <a:ln/>
        </p:spPr>
      </p:sp>
      <p:sp>
        <p:nvSpPr>
          <p:cNvPr id="3" name="Text 1"/>
          <p:cNvSpPr/>
          <p:nvPr/>
        </p:nvSpPr>
        <p:spPr>
          <a:xfrm>
            <a:off x="365760" y="0"/>
            <a:ext cx="11582400" cy="755904"/>
          </a:xfrm>
          <a:prstGeom prst="rect">
            <a:avLst/>
          </a:prstGeom>
          <a:noFill/>
          <a:ln/>
        </p:spPr>
        <p:txBody>
          <a:bodyPr wrap="square" lIns="0" tIns="0" rIns="0" bIns="0" rtlCol="0" anchor="ctr"/>
          <a:lstStyle/>
          <a:p>
            <a:r>
              <a:rPr lang="en-US" sz="1733" b="1" dirty="0">
                <a:solidFill>
                  <a:srgbClr val="FFFFFF"/>
                </a:solidFill>
              </a:rPr>
              <a:t>SECTION 9: PRICE PROJECTION — BULL / BASE / BEAR</a:t>
            </a:r>
            <a:endParaRPr lang="en-US" sz="1733" dirty="0"/>
          </a:p>
        </p:txBody>
      </p:sp>
      <p:sp>
        <p:nvSpPr>
          <p:cNvPr id="4" name="Shape 2"/>
          <p:cNvSpPr/>
          <p:nvPr/>
        </p:nvSpPr>
        <p:spPr>
          <a:xfrm>
            <a:off x="268224" y="829056"/>
            <a:ext cx="1828800" cy="707136"/>
          </a:xfrm>
          <a:prstGeom prst="rect">
            <a:avLst/>
          </a:prstGeom>
          <a:solidFill>
            <a:srgbClr val="F4F9F7"/>
          </a:solidFill>
          <a:ln>
            <a:solidFill>
              <a:schemeClr val="tx1"/>
            </a:solidFill>
          </a:ln>
        </p:spPr>
      </p:sp>
      <p:sp>
        <p:nvSpPr>
          <p:cNvPr id="5" name="Text 3"/>
          <p:cNvSpPr/>
          <p:nvPr/>
        </p:nvSpPr>
        <p:spPr>
          <a:xfrm>
            <a:off x="268224" y="853440"/>
            <a:ext cx="1828800" cy="243840"/>
          </a:xfrm>
          <a:prstGeom prst="rect">
            <a:avLst/>
          </a:prstGeom>
          <a:noFill/>
          <a:ln/>
        </p:spPr>
        <p:txBody>
          <a:bodyPr wrap="square" lIns="0" tIns="0" rIns="0" bIns="0" rtlCol="0" anchor="ctr"/>
          <a:lstStyle/>
          <a:p>
            <a:pPr algn="ctr"/>
            <a:r>
              <a:rPr lang="en-US" sz="1000" dirty="0">
                <a:solidFill>
                  <a:srgbClr val="5A7A8A"/>
                </a:solidFill>
              </a:rPr>
              <a:t>CMP (Jun 2026)</a:t>
            </a:r>
            <a:endParaRPr lang="en-US" sz="1000" dirty="0"/>
          </a:p>
        </p:txBody>
      </p:sp>
      <p:sp>
        <p:nvSpPr>
          <p:cNvPr id="6" name="Text 4"/>
          <p:cNvSpPr/>
          <p:nvPr/>
        </p:nvSpPr>
        <p:spPr>
          <a:xfrm>
            <a:off x="268224" y="1097280"/>
            <a:ext cx="1828800" cy="365760"/>
          </a:xfrm>
          <a:prstGeom prst="rect">
            <a:avLst/>
          </a:prstGeom>
          <a:noFill/>
          <a:ln/>
        </p:spPr>
        <p:txBody>
          <a:bodyPr wrap="square" lIns="0" tIns="0" rIns="0" bIns="0" rtlCol="0" anchor="ctr"/>
          <a:lstStyle/>
          <a:p>
            <a:pPr algn="ctr"/>
            <a:r>
              <a:rPr lang="en-US" sz="1733" b="1" dirty="0">
                <a:solidFill>
                  <a:srgbClr val="0D1B2A"/>
                </a:solidFill>
              </a:rPr>
              <a:t>~$90</a:t>
            </a:r>
            <a:endParaRPr lang="en-US" sz="1733" dirty="0"/>
          </a:p>
        </p:txBody>
      </p:sp>
      <p:sp>
        <p:nvSpPr>
          <p:cNvPr id="7" name="Shape 5"/>
          <p:cNvSpPr/>
          <p:nvPr/>
        </p:nvSpPr>
        <p:spPr>
          <a:xfrm>
            <a:off x="2218944" y="829056"/>
            <a:ext cx="1828800" cy="707136"/>
          </a:xfrm>
          <a:prstGeom prst="rect">
            <a:avLst/>
          </a:prstGeom>
          <a:solidFill>
            <a:srgbClr val="F4F9F7"/>
          </a:solidFill>
          <a:ln>
            <a:solidFill>
              <a:schemeClr val="tx1"/>
            </a:solidFill>
          </a:ln>
        </p:spPr>
      </p:sp>
      <p:sp>
        <p:nvSpPr>
          <p:cNvPr id="8" name="Text 6"/>
          <p:cNvSpPr/>
          <p:nvPr/>
        </p:nvSpPr>
        <p:spPr>
          <a:xfrm>
            <a:off x="2218944" y="853440"/>
            <a:ext cx="1828800" cy="243840"/>
          </a:xfrm>
          <a:prstGeom prst="rect">
            <a:avLst/>
          </a:prstGeom>
          <a:noFill/>
          <a:ln/>
        </p:spPr>
        <p:txBody>
          <a:bodyPr wrap="square" lIns="0" tIns="0" rIns="0" bIns="0" rtlCol="0" anchor="ctr"/>
          <a:lstStyle/>
          <a:p>
            <a:pPr algn="ctr"/>
            <a:r>
              <a:rPr lang="en-US" sz="1000" dirty="0">
                <a:solidFill>
                  <a:srgbClr val="5A7A8A"/>
                </a:solidFill>
              </a:rPr>
              <a:t>52-Wk High</a:t>
            </a:r>
            <a:endParaRPr lang="en-US" sz="1000" dirty="0"/>
          </a:p>
        </p:txBody>
      </p:sp>
      <p:sp>
        <p:nvSpPr>
          <p:cNvPr id="9" name="Text 7"/>
          <p:cNvSpPr/>
          <p:nvPr/>
        </p:nvSpPr>
        <p:spPr>
          <a:xfrm>
            <a:off x="2218944" y="1097280"/>
            <a:ext cx="1828800" cy="365760"/>
          </a:xfrm>
          <a:prstGeom prst="rect">
            <a:avLst/>
          </a:prstGeom>
          <a:noFill/>
          <a:ln/>
        </p:spPr>
        <p:txBody>
          <a:bodyPr wrap="square" lIns="0" tIns="0" rIns="0" bIns="0" rtlCol="0" anchor="ctr"/>
          <a:lstStyle/>
          <a:p>
            <a:pPr algn="ctr"/>
            <a:r>
              <a:rPr lang="en-US" sz="1733" b="1" dirty="0">
                <a:solidFill>
                  <a:srgbClr val="0D1B2A"/>
                </a:solidFill>
              </a:rPr>
              <a:t>$153.86</a:t>
            </a:r>
            <a:endParaRPr lang="en-US" sz="1733" dirty="0"/>
          </a:p>
        </p:txBody>
      </p:sp>
      <p:sp>
        <p:nvSpPr>
          <p:cNvPr id="10" name="Shape 8"/>
          <p:cNvSpPr/>
          <p:nvPr/>
        </p:nvSpPr>
        <p:spPr>
          <a:xfrm>
            <a:off x="4169664" y="829056"/>
            <a:ext cx="1828800" cy="707136"/>
          </a:xfrm>
          <a:prstGeom prst="rect">
            <a:avLst/>
          </a:prstGeom>
          <a:solidFill>
            <a:srgbClr val="F4F9F7"/>
          </a:solidFill>
          <a:ln>
            <a:solidFill>
              <a:schemeClr val="tx1"/>
            </a:solidFill>
          </a:ln>
        </p:spPr>
      </p:sp>
      <p:sp>
        <p:nvSpPr>
          <p:cNvPr id="11" name="Text 9"/>
          <p:cNvSpPr/>
          <p:nvPr/>
        </p:nvSpPr>
        <p:spPr>
          <a:xfrm>
            <a:off x="4169664" y="853440"/>
            <a:ext cx="1828800" cy="243840"/>
          </a:xfrm>
          <a:prstGeom prst="rect">
            <a:avLst/>
          </a:prstGeom>
          <a:noFill/>
          <a:ln/>
        </p:spPr>
        <p:txBody>
          <a:bodyPr wrap="square" lIns="0" tIns="0" rIns="0" bIns="0" rtlCol="0" anchor="ctr"/>
          <a:lstStyle/>
          <a:p>
            <a:pPr algn="ctr"/>
            <a:r>
              <a:rPr lang="en-US" sz="1000" dirty="0">
                <a:solidFill>
                  <a:srgbClr val="5A7A8A"/>
                </a:solidFill>
              </a:rPr>
              <a:t>52-Wk Low</a:t>
            </a:r>
            <a:endParaRPr lang="en-US" sz="1000" dirty="0"/>
          </a:p>
        </p:txBody>
      </p:sp>
      <p:sp>
        <p:nvSpPr>
          <p:cNvPr id="12" name="Text 10"/>
          <p:cNvSpPr/>
          <p:nvPr/>
        </p:nvSpPr>
        <p:spPr>
          <a:xfrm>
            <a:off x="4169664" y="1097280"/>
            <a:ext cx="1828800" cy="365760"/>
          </a:xfrm>
          <a:prstGeom prst="rect">
            <a:avLst/>
          </a:prstGeom>
          <a:noFill/>
          <a:ln/>
        </p:spPr>
        <p:txBody>
          <a:bodyPr wrap="square" lIns="0" tIns="0" rIns="0" bIns="0" rtlCol="0" anchor="ctr"/>
          <a:lstStyle/>
          <a:p>
            <a:pPr algn="ctr"/>
            <a:r>
              <a:rPr lang="en-US" sz="1733" b="1" dirty="0">
                <a:solidFill>
                  <a:srgbClr val="0D1B2A"/>
                </a:solidFill>
              </a:rPr>
              <a:t>$62.92</a:t>
            </a:r>
            <a:endParaRPr lang="en-US" sz="1733" dirty="0"/>
          </a:p>
        </p:txBody>
      </p:sp>
      <p:sp>
        <p:nvSpPr>
          <p:cNvPr id="13" name="Shape 11"/>
          <p:cNvSpPr/>
          <p:nvPr/>
        </p:nvSpPr>
        <p:spPr>
          <a:xfrm>
            <a:off x="6120384" y="829056"/>
            <a:ext cx="1828800" cy="707136"/>
          </a:xfrm>
          <a:prstGeom prst="rect">
            <a:avLst/>
          </a:prstGeom>
          <a:solidFill>
            <a:srgbClr val="F4F9F7"/>
          </a:solidFill>
          <a:ln>
            <a:solidFill>
              <a:schemeClr val="tx1"/>
            </a:solidFill>
          </a:ln>
        </p:spPr>
      </p:sp>
      <p:sp>
        <p:nvSpPr>
          <p:cNvPr id="14" name="Text 12"/>
          <p:cNvSpPr/>
          <p:nvPr/>
        </p:nvSpPr>
        <p:spPr>
          <a:xfrm>
            <a:off x="6120384" y="853440"/>
            <a:ext cx="1828800" cy="243840"/>
          </a:xfrm>
          <a:prstGeom prst="rect">
            <a:avLst/>
          </a:prstGeom>
          <a:noFill/>
          <a:ln/>
        </p:spPr>
        <p:txBody>
          <a:bodyPr wrap="square" lIns="0" tIns="0" rIns="0" bIns="0" rtlCol="0" anchor="ctr"/>
          <a:lstStyle/>
          <a:p>
            <a:pPr algn="ctr"/>
            <a:r>
              <a:rPr lang="en-US" sz="1000" dirty="0">
                <a:solidFill>
                  <a:srgbClr val="5A7A8A"/>
                </a:solidFill>
              </a:rPr>
              <a:t>Market Cap</a:t>
            </a:r>
            <a:endParaRPr lang="en-US" sz="1000" dirty="0"/>
          </a:p>
        </p:txBody>
      </p:sp>
      <p:sp>
        <p:nvSpPr>
          <p:cNvPr id="15" name="Text 13"/>
          <p:cNvSpPr/>
          <p:nvPr/>
        </p:nvSpPr>
        <p:spPr>
          <a:xfrm>
            <a:off x="6120384" y="1097280"/>
            <a:ext cx="1828800" cy="365760"/>
          </a:xfrm>
          <a:prstGeom prst="rect">
            <a:avLst/>
          </a:prstGeom>
          <a:noFill/>
          <a:ln/>
        </p:spPr>
        <p:txBody>
          <a:bodyPr wrap="square" lIns="0" tIns="0" rIns="0" bIns="0" rtlCol="0" anchor="ctr"/>
          <a:lstStyle/>
          <a:p>
            <a:pPr algn="ctr"/>
            <a:r>
              <a:rPr lang="en-US" sz="1733" b="1" dirty="0">
                <a:solidFill>
                  <a:srgbClr val="0D1B2A"/>
                </a:solidFill>
              </a:rPr>
              <a:t>~$82B</a:t>
            </a:r>
            <a:endParaRPr lang="en-US" sz="1733" dirty="0"/>
          </a:p>
        </p:txBody>
      </p:sp>
      <p:sp>
        <p:nvSpPr>
          <p:cNvPr id="16" name="Shape 14"/>
          <p:cNvSpPr/>
          <p:nvPr/>
        </p:nvSpPr>
        <p:spPr>
          <a:xfrm>
            <a:off x="8071104" y="829056"/>
            <a:ext cx="1828800" cy="707136"/>
          </a:xfrm>
          <a:prstGeom prst="rect">
            <a:avLst/>
          </a:prstGeom>
          <a:solidFill>
            <a:srgbClr val="F4F9F7"/>
          </a:solidFill>
          <a:ln>
            <a:solidFill>
              <a:schemeClr val="tx1"/>
            </a:solidFill>
          </a:ln>
        </p:spPr>
      </p:sp>
      <p:sp>
        <p:nvSpPr>
          <p:cNvPr id="17" name="Text 15"/>
          <p:cNvSpPr/>
          <p:nvPr/>
        </p:nvSpPr>
        <p:spPr>
          <a:xfrm>
            <a:off x="8071104" y="853440"/>
            <a:ext cx="1828800" cy="243840"/>
          </a:xfrm>
          <a:prstGeom prst="rect">
            <a:avLst/>
          </a:prstGeom>
          <a:noFill/>
          <a:ln/>
        </p:spPr>
        <p:txBody>
          <a:bodyPr wrap="square" lIns="0" tIns="0" rIns="0" bIns="0" rtlCol="0" anchor="ctr"/>
          <a:lstStyle/>
          <a:p>
            <a:pPr algn="ctr"/>
            <a:r>
              <a:rPr lang="en-US" sz="1000" dirty="0">
                <a:solidFill>
                  <a:srgbClr val="5A7A8A"/>
                </a:solidFill>
              </a:rPr>
              <a:t>Shares Out.</a:t>
            </a:r>
            <a:endParaRPr lang="en-US" sz="1000" dirty="0"/>
          </a:p>
        </p:txBody>
      </p:sp>
      <p:sp>
        <p:nvSpPr>
          <p:cNvPr id="18" name="Text 16"/>
          <p:cNvSpPr/>
          <p:nvPr/>
        </p:nvSpPr>
        <p:spPr>
          <a:xfrm>
            <a:off x="8071104" y="1097280"/>
            <a:ext cx="1828800" cy="365760"/>
          </a:xfrm>
          <a:prstGeom prst="rect">
            <a:avLst/>
          </a:prstGeom>
          <a:noFill/>
          <a:ln/>
        </p:spPr>
        <p:txBody>
          <a:bodyPr wrap="square" lIns="0" tIns="0" rIns="0" bIns="0" rtlCol="0" anchor="ctr"/>
          <a:lstStyle/>
          <a:p>
            <a:pPr algn="ctr"/>
            <a:r>
              <a:rPr lang="en-US" sz="1733" b="1" dirty="0">
                <a:solidFill>
                  <a:srgbClr val="0D1B2A"/>
                </a:solidFill>
              </a:rPr>
              <a:t>~908M</a:t>
            </a:r>
            <a:endParaRPr lang="en-US" sz="1733" dirty="0"/>
          </a:p>
        </p:txBody>
      </p:sp>
      <p:sp>
        <p:nvSpPr>
          <p:cNvPr id="19" name="Shape 17"/>
          <p:cNvSpPr/>
          <p:nvPr/>
        </p:nvSpPr>
        <p:spPr>
          <a:xfrm>
            <a:off x="10021824" y="829056"/>
            <a:ext cx="1828800" cy="707136"/>
          </a:xfrm>
          <a:prstGeom prst="rect">
            <a:avLst/>
          </a:prstGeom>
          <a:solidFill>
            <a:srgbClr val="F4F9F7"/>
          </a:solidFill>
          <a:ln>
            <a:solidFill>
              <a:schemeClr val="tx1"/>
            </a:solidFill>
          </a:ln>
        </p:spPr>
      </p:sp>
      <p:sp>
        <p:nvSpPr>
          <p:cNvPr id="20" name="Text 18"/>
          <p:cNvSpPr/>
          <p:nvPr/>
        </p:nvSpPr>
        <p:spPr>
          <a:xfrm>
            <a:off x="10021824" y="853440"/>
            <a:ext cx="1828800" cy="243840"/>
          </a:xfrm>
          <a:prstGeom prst="rect">
            <a:avLst/>
          </a:prstGeom>
          <a:noFill/>
          <a:ln/>
        </p:spPr>
        <p:txBody>
          <a:bodyPr wrap="square" lIns="0" tIns="0" rIns="0" bIns="0" rtlCol="0" anchor="ctr"/>
          <a:lstStyle/>
          <a:p>
            <a:pPr algn="ctr"/>
            <a:r>
              <a:rPr lang="en-US" sz="1000" dirty="0">
                <a:solidFill>
                  <a:srgbClr val="5A7A8A"/>
                </a:solidFill>
              </a:rPr>
              <a:t>Next Earnings</a:t>
            </a:r>
            <a:endParaRPr lang="en-US" sz="1000" dirty="0"/>
          </a:p>
        </p:txBody>
      </p:sp>
      <p:sp>
        <p:nvSpPr>
          <p:cNvPr id="21" name="Text 19"/>
          <p:cNvSpPr/>
          <p:nvPr/>
        </p:nvSpPr>
        <p:spPr>
          <a:xfrm>
            <a:off x="10021824" y="1097280"/>
            <a:ext cx="1828800" cy="365760"/>
          </a:xfrm>
          <a:prstGeom prst="rect">
            <a:avLst/>
          </a:prstGeom>
          <a:noFill/>
          <a:ln/>
        </p:spPr>
        <p:txBody>
          <a:bodyPr wrap="square" lIns="0" tIns="0" rIns="0" bIns="0" rtlCol="0" anchor="ctr"/>
          <a:lstStyle/>
          <a:p>
            <a:pPr algn="ctr"/>
            <a:r>
              <a:rPr lang="en-US" sz="1733" b="1" dirty="0">
                <a:solidFill>
                  <a:srgbClr val="0D1B2A"/>
                </a:solidFill>
              </a:rPr>
              <a:t>Q2 2026 (~Jul/Aug)</a:t>
            </a:r>
            <a:endParaRPr lang="en-US" sz="1733" dirty="0"/>
          </a:p>
        </p:txBody>
      </p:sp>
      <p:sp>
        <p:nvSpPr>
          <p:cNvPr id="22" name="Shape 20"/>
          <p:cNvSpPr/>
          <p:nvPr/>
        </p:nvSpPr>
        <p:spPr>
          <a:xfrm>
            <a:off x="268224" y="1682496"/>
            <a:ext cx="3803904" cy="4728578"/>
          </a:xfrm>
          <a:prstGeom prst="rect">
            <a:avLst/>
          </a:prstGeom>
          <a:solidFill>
            <a:srgbClr val="F4F9F7"/>
          </a:solidFill>
          <a:ln>
            <a:solidFill>
              <a:schemeClr val="tx1"/>
            </a:solidFill>
          </a:ln>
          <a:effectLst>
            <a:outerShdw blurRad="76200" dist="25400" dir="8100000" algn="bl" rotWithShape="0">
              <a:srgbClr val="000000">
                <a:alpha val="8000"/>
              </a:srgbClr>
            </a:outerShdw>
          </a:effectLst>
        </p:spPr>
      </p:sp>
      <p:sp>
        <p:nvSpPr>
          <p:cNvPr id="23" name="Shape 21"/>
          <p:cNvSpPr/>
          <p:nvPr/>
        </p:nvSpPr>
        <p:spPr>
          <a:xfrm>
            <a:off x="268224" y="1682496"/>
            <a:ext cx="3803904" cy="950976"/>
          </a:xfrm>
          <a:prstGeom prst="rect">
            <a:avLst/>
          </a:prstGeom>
          <a:solidFill>
            <a:srgbClr val="E84545"/>
          </a:solidFill>
          <a:ln>
            <a:solidFill>
              <a:schemeClr val="tx1"/>
            </a:solidFill>
          </a:ln>
        </p:spPr>
      </p:sp>
      <p:sp>
        <p:nvSpPr>
          <p:cNvPr id="24" name="Text 22"/>
          <p:cNvSpPr/>
          <p:nvPr/>
        </p:nvSpPr>
        <p:spPr>
          <a:xfrm>
            <a:off x="390144" y="1755648"/>
            <a:ext cx="3560064" cy="341376"/>
          </a:xfrm>
          <a:prstGeom prst="rect">
            <a:avLst/>
          </a:prstGeom>
          <a:noFill/>
          <a:ln/>
        </p:spPr>
        <p:txBody>
          <a:bodyPr wrap="square" lIns="0" tIns="0" rIns="0" bIns="0" rtlCol="0" anchor="ctr"/>
          <a:lstStyle/>
          <a:p>
            <a:r>
              <a:rPr lang="en-US" sz="1600" b="1" dirty="0">
                <a:solidFill>
                  <a:srgbClr val="FFFFFF"/>
                </a:solidFill>
              </a:rPr>
              <a:t>↓  BEAR CASE</a:t>
            </a:r>
            <a:endParaRPr lang="en-US" sz="1600" dirty="0"/>
          </a:p>
        </p:txBody>
      </p:sp>
      <p:sp>
        <p:nvSpPr>
          <p:cNvPr id="25" name="Text 23"/>
          <p:cNvSpPr/>
          <p:nvPr/>
        </p:nvSpPr>
        <p:spPr>
          <a:xfrm>
            <a:off x="390144" y="2121408"/>
            <a:ext cx="3560064" cy="243840"/>
          </a:xfrm>
          <a:prstGeom prst="rect">
            <a:avLst/>
          </a:prstGeom>
          <a:noFill/>
          <a:ln/>
        </p:spPr>
        <p:txBody>
          <a:bodyPr wrap="square" lIns="0" tIns="0" rIns="0" bIns="0" rtlCol="0" anchor="ctr"/>
          <a:lstStyle/>
          <a:p>
            <a:r>
              <a:rPr lang="en-US" sz="1067" dirty="0">
                <a:solidFill>
                  <a:srgbClr val="D0E8FF"/>
                </a:solidFill>
              </a:rPr>
              <a:t>12-Month Target</a:t>
            </a:r>
            <a:endParaRPr lang="en-US" sz="1067" dirty="0"/>
          </a:p>
        </p:txBody>
      </p:sp>
      <p:sp>
        <p:nvSpPr>
          <p:cNvPr id="26" name="Text 24"/>
          <p:cNvSpPr/>
          <p:nvPr/>
        </p:nvSpPr>
        <p:spPr>
          <a:xfrm>
            <a:off x="390144" y="2340864"/>
            <a:ext cx="3560064" cy="268224"/>
          </a:xfrm>
          <a:prstGeom prst="rect">
            <a:avLst/>
          </a:prstGeom>
          <a:noFill/>
          <a:ln/>
        </p:spPr>
        <p:txBody>
          <a:bodyPr wrap="square" lIns="0" tIns="0" rIns="0" bIns="0" rtlCol="0" anchor="ctr"/>
          <a:lstStyle/>
          <a:p>
            <a:r>
              <a:rPr lang="en-US" sz="1867" b="1" dirty="0">
                <a:solidFill>
                  <a:srgbClr val="FFFFFF"/>
                </a:solidFill>
              </a:rPr>
              <a:t>$45–60</a:t>
            </a:r>
            <a:endParaRPr lang="en-US" sz="1867" dirty="0"/>
          </a:p>
        </p:txBody>
      </p:sp>
      <p:sp>
        <p:nvSpPr>
          <p:cNvPr id="27" name="Text 25"/>
          <p:cNvSpPr/>
          <p:nvPr/>
        </p:nvSpPr>
        <p:spPr>
          <a:xfrm>
            <a:off x="390144" y="2755392"/>
            <a:ext cx="1706880" cy="243840"/>
          </a:xfrm>
          <a:prstGeom prst="rect">
            <a:avLst/>
          </a:prstGeom>
          <a:noFill/>
          <a:ln/>
        </p:spPr>
        <p:txBody>
          <a:bodyPr wrap="square" lIns="0" tIns="0" rIns="0" bIns="0" rtlCol="0" anchor="ctr"/>
          <a:lstStyle/>
          <a:p>
            <a:r>
              <a:rPr lang="en-US" sz="1067" dirty="0">
                <a:solidFill>
                  <a:srgbClr val="5A7A8A"/>
                </a:solidFill>
              </a:rPr>
              <a:t>2026E FY Rev</a:t>
            </a:r>
            <a:endParaRPr lang="en-US" sz="1067" dirty="0"/>
          </a:p>
        </p:txBody>
      </p:sp>
      <p:sp>
        <p:nvSpPr>
          <p:cNvPr id="28" name="Text 26"/>
          <p:cNvSpPr/>
          <p:nvPr/>
        </p:nvSpPr>
        <p:spPr>
          <a:xfrm>
            <a:off x="390144" y="2974848"/>
            <a:ext cx="1706880" cy="316992"/>
          </a:xfrm>
          <a:prstGeom prst="rect">
            <a:avLst/>
          </a:prstGeom>
          <a:noFill/>
          <a:ln/>
        </p:spPr>
        <p:txBody>
          <a:bodyPr wrap="square" lIns="0" tIns="0" rIns="0" bIns="0" rtlCol="0" anchor="ctr"/>
          <a:lstStyle/>
          <a:p>
            <a:r>
              <a:rPr lang="en-US" sz="1467" b="1" dirty="0">
                <a:solidFill>
                  <a:srgbClr val="0D1B2A"/>
                </a:solidFill>
              </a:rPr>
              <a:t>$4.5–5.0B</a:t>
            </a:r>
            <a:endParaRPr lang="en-US" sz="1467" dirty="0"/>
          </a:p>
        </p:txBody>
      </p:sp>
      <p:sp>
        <p:nvSpPr>
          <p:cNvPr id="29" name="Text 27"/>
          <p:cNvSpPr/>
          <p:nvPr/>
        </p:nvSpPr>
        <p:spPr>
          <a:xfrm>
            <a:off x="2218944" y="2755392"/>
            <a:ext cx="1706880" cy="243840"/>
          </a:xfrm>
          <a:prstGeom prst="rect">
            <a:avLst/>
          </a:prstGeom>
          <a:noFill/>
          <a:ln/>
        </p:spPr>
        <p:txBody>
          <a:bodyPr wrap="square" lIns="0" tIns="0" rIns="0" bIns="0" rtlCol="0" anchor="ctr"/>
          <a:lstStyle/>
          <a:p>
            <a:r>
              <a:rPr lang="en-US" sz="1067" dirty="0">
                <a:solidFill>
                  <a:srgbClr val="5A7A8A"/>
                </a:solidFill>
              </a:rPr>
              <a:t>Implied Multiple</a:t>
            </a:r>
            <a:endParaRPr lang="en-US" sz="1067" dirty="0"/>
          </a:p>
        </p:txBody>
      </p:sp>
      <p:sp>
        <p:nvSpPr>
          <p:cNvPr id="30" name="Text 28"/>
          <p:cNvSpPr/>
          <p:nvPr/>
        </p:nvSpPr>
        <p:spPr>
          <a:xfrm>
            <a:off x="2218944" y="2974848"/>
            <a:ext cx="1706880" cy="316992"/>
          </a:xfrm>
          <a:prstGeom prst="rect">
            <a:avLst/>
          </a:prstGeom>
          <a:noFill/>
          <a:ln/>
        </p:spPr>
        <p:txBody>
          <a:bodyPr wrap="square" lIns="0" tIns="0" rIns="0" bIns="0" rtlCol="0" anchor="ctr"/>
          <a:lstStyle/>
          <a:p>
            <a:r>
              <a:rPr lang="en-US" sz="1467" b="1" dirty="0">
                <a:solidFill>
                  <a:srgbClr val="E84545"/>
                </a:solidFill>
              </a:rPr>
              <a:t>~18–22x Fwd P/E</a:t>
            </a:r>
            <a:endParaRPr lang="en-US" sz="1467" dirty="0"/>
          </a:p>
        </p:txBody>
      </p:sp>
      <p:sp>
        <p:nvSpPr>
          <p:cNvPr id="31" name="Text 29"/>
          <p:cNvSpPr/>
          <p:nvPr/>
        </p:nvSpPr>
        <p:spPr>
          <a:xfrm>
            <a:off x="390144" y="3316224"/>
            <a:ext cx="3560064" cy="243840"/>
          </a:xfrm>
          <a:prstGeom prst="rect">
            <a:avLst/>
          </a:prstGeom>
          <a:noFill/>
          <a:ln/>
        </p:spPr>
        <p:txBody>
          <a:bodyPr wrap="square" lIns="0" tIns="0" rIns="0" bIns="0" rtlCol="0" anchor="ctr"/>
          <a:lstStyle/>
          <a:p>
            <a:r>
              <a:rPr lang="en-US" sz="1133" i="1" dirty="0">
                <a:solidFill>
                  <a:srgbClr val="E84545"/>
                </a:solidFill>
              </a:rPr>
              <a:t>−33% to −50% vs CMP</a:t>
            </a:r>
            <a:endParaRPr lang="en-US" sz="1133" dirty="0"/>
          </a:p>
        </p:txBody>
      </p:sp>
      <p:sp>
        <p:nvSpPr>
          <p:cNvPr id="32" name="Text 30"/>
          <p:cNvSpPr/>
          <p:nvPr/>
        </p:nvSpPr>
        <p:spPr>
          <a:xfrm>
            <a:off x="390144" y="3633216"/>
            <a:ext cx="3560064" cy="268224"/>
          </a:xfrm>
          <a:prstGeom prst="rect">
            <a:avLst/>
          </a:prstGeom>
          <a:noFill/>
          <a:ln/>
        </p:spPr>
        <p:txBody>
          <a:bodyPr wrap="square" lIns="0" tIns="0" rIns="0" bIns="0" rtlCol="0" anchor="ctr"/>
          <a:lstStyle/>
          <a:p>
            <a:r>
              <a:rPr lang="en-US" sz="1133" b="1" dirty="0">
                <a:solidFill>
                  <a:srgbClr val="0D1B2A"/>
                </a:solidFill>
              </a:rPr>
              <a:t>Key Triggers</a:t>
            </a:r>
            <a:endParaRPr lang="en-US" sz="1133" dirty="0"/>
          </a:p>
        </p:txBody>
      </p:sp>
      <p:sp>
        <p:nvSpPr>
          <p:cNvPr id="33" name="Text 31"/>
          <p:cNvSpPr/>
          <p:nvPr/>
        </p:nvSpPr>
        <p:spPr>
          <a:xfrm>
            <a:off x="390144" y="3925824"/>
            <a:ext cx="3560064" cy="2621280"/>
          </a:xfrm>
          <a:prstGeom prst="rect">
            <a:avLst/>
          </a:prstGeom>
          <a:noFill/>
          <a:ln/>
        </p:spPr>
        <p:txBody>
          <a:bodyPr wrap="square" lIns="0" tIns="0" rIns="0" bIns="0" rtlCol="0" anchor="ctr"/>
          <a:lstStyle/>
          <a:p>
            <a:pPr marL="285750" indent="-285750">
              <a:buFont typeface="Arial" panose="020B0604020202020204" pitchFamily="34" charset="0"/>
              <a:buChar char="•"/>
            </a:pPr>
            <a:r>
              <a:rPr lang="en-US" sz="1200" dirty="0"/>
              <a:t>PFOF ban or severe restriction enacted by SEC/Congress</a:t>
            </a:r>
          </a:p>
          <a:p>
            <a:pPr marL="285750" indent="-285750">
              <a:buFont typeface="Arial" panose="020B0604020202020204" pitchFamily="34" charset="0"/>
              <a:buChar char="•"/>
            </a:pPr>
            <a:r>
              <a:rPr lang="en-US" sz="1200" dirty="0"/>
              <a:t>Sustained crypto bear market — revenue collapses 40%+</a:t>
            </a:r>
          </a:p>
          <a:p>
            <a:pPr marL="285750" indent="-285750">
              <a:buFont typeface="Arial" panose="020B0604020202020204" pitchFamily="34" charset="0"/>
              <a:buChar char="•"/>
            </a:pPr>
            <a:r>
              <a:rPr lang="en-US" sz="1200" dirty="0"/>
              <a:t>Multiple compression: 45x P/E → 18x as growth slows to 10%</a:t>
            </a:r>
          </a:p>
          <a:p>
            <a:pPr marL="285750" indent="-285750">
              <a:buFont typeface="Arial" panose="020B0604020202020204" pitchFamily="34" charset="0"/>
              <a:buChar char="•"/>
            </a:pPr>
            <a:r>
              <a:rPr lang="en-US" sz="1200" dirty="0"/>
              <a:t>Fed cuts rates aggressively — net interest revenue compressed 50%</a:t>
            </a:r>
          </a:p>
          <a:p>
            <a:pPr marL="285750" indent="-285750">
              <a:buFont typeface="Arial" panose="020B0604020202020204" pitchFamily="34" charset="0"/>
              <a:buChar char="•"/>
            </a:pPr>
            <a:r>
              <a:rPr lang="en-US" sz="1200" dirty="0"/>
              <a:t>Agentic AI product banned or restricted by FINRA/SEC</a:t>
            </a:r>
          </a:p>
          <a:p>
            <a:pPr marL="285750" indent="-285750">
              <a:buFont typeface="Arial" panose="020B0604020202020204" pitchFamily="34" charset="0"/>
              <a:buChar char="•"/>
            </a:pPr>
            <a:r>
              <a:rPr lang="en-US" sz="1200" dirty="0"/>
              <a:t>TradePMR integration fails — RIA platform churn accelerates</a:t>
            </a:r>
          </a:p>
        </p:txBody>
      </p:sp>
      <p:sp>
        <p:nvSpPr>
          <p:cNvPr id="34" name="Shape 32"/>
          <p:cNvSpPr/>
          <p:nvPr/>
        </p:nvSpPr>
        <p:spPr>
          <a:xfrm>
            <a:off x="4242816" y="1682496"/>
            <a:ext cx="3803904" cy="4728578"/>
          </a:xfrm>
          <a:prstGeom prst="rect">
            <a:avLst/>
          </a:prstGeom>
          <a:solidFill>
            <a:srgbClr val="F4F9F7"/>
          </a:solidFill>
          <a:ln>
            <a:solidFill>
              <a:schemeClr val="tx1"/>
            </a:solidFill>
          </a:ln>
          <a:effectLst>
            <a:outerShdw blurRad="76200" dist="25400" dir="8100000" algn="bl" rotWithShape="0">
              <a:srgbClr val="000000">
                <a:alpha val="8000"/>
              </a:srgbClr>
            </a:outerShdw>
          </a:effectLst>
        </p:spPr>
      </p:sp>
      <p:sp>
        <p:nvSpPr>
          <p:cNvPr id="35" name="Shape 33"/>
          <p:cNvSpPr/>
          <p:nvPr/>
        </p:nvSpPr>
        <p:spPr>
          <a:xfrm>
            <a:off x="4242816" y="1682496"/>
            <a:ext cx="3803904" cy="950976"/>
          </a:xfrm>
          <a:prstGeom prst="rect">
            <a:avLst/>
          </a:prstGeom>
          <a:solidFill>
            <a:srgbClr val="5A6E8C"/>
          </a:solidFill>
          <a:ln>
            <a:solidFill>
              <a:schemeClr val="tx1"/>
            </a:solidFill>
          </a:ln>
        </p:spPr>
      </p:sp>
      <p:sp>
        <p:nvSpPr>
          <p:cNvPr id="36" name="Text 34"/>
          <p:cNvSpPr/>
          <p:nvPr/>
        </p:nvSpPr>
        <p:spPr>
          <a:xfrm>
            <a:off x="4364736" y="1755648"/>
            <a:ext cx="3560064" cy="341376"/>
          </a:xfrm>
          <a:prstGeom prst="rect">
            <a:avLst/>
          </a:prstGeom>
          <a:noFill/>
          <a:ln/>
        </p:spPr>
        <p:txBody>
          <a:bodyPr wrap="square" lIns="0" tIns="0" rIns="0" bIns="0" rtlCol="0" anchor="ctr"/>
          <a:lstStyle/>
          <a:p>
            <a:r>
              <a:rPr lang="en-US" sz="1600" b="1" dirty="0">
                <a:solidFill>
                  <a:srgbClr val="FFFFFF"/>
                </a:solidFill>
              </a:rPr>
              <a:t>→  BASE CASE</a:t>
            </a:r>
            <a:endParaRPr lang="en-US" sz="1600" dirty="0"/>
          </a:p>
        </p:txBody>
      </p:sp>
      <p:sp>
        <p:nvSpPr>
          <p:cNvPr id="37" name="Text 35"/>
          <p:cNvSpPr/>
          <p:nvPr/>
        </p:nvSpPr>
        <p:spPr>
          <a:xfrm>
            <a:off x="4364736" y="2121408"/>
            <a:ext cx="3560064" cy="243840"/>
          </a:xfrm>
          <a:prstGeom prst="rect">
            <a:avLst/>
          </a:prstGeom>
          <a:noFill/>
          <a:ln/>
        </p:spPr>
        <p:txBody>
          <a:bodyPr wrap="square" lIns="0" tIns="0" rIns="0" bIns="0" rtlCol="0" anchor="ctr"/>
          <a:lstStyle/>
          <a:p>
            <a:r>
              <a:rPr lang="en-US" sz="1067" dirty="0">
                <a:solidFill>
                  <a:srgbClr val="D0E8FF"/>
                </a:solidFill>
              </a:rPr>
              <a:t>12-Month Target</a:t>
            </a:r>
            <a:endParaRPr lang="en-US" sz="1067" dirty="0"/>
          </a:p>
        </p:txBody>
      </p:sp>
      <p:sp>
        <p:nvSpPr>
          <p:cNvPr id="38" name="Text 36"/>
          <p:cNvSpPr/>
          <p:nvPr/>
        </p:nvSpPr>
        <p:spPr>
          <a:xfrm>
            <a:off x="4364736" y="2340864"/>
            <a:ext cx="3560064" cy="268224"/>
          </a:xfrm>
          <a:prstGeom prst="rect">
            <a:avLst/>
          </a:prstGeom>
          <a:noFill/>
          <a:ln/>
        </p:spPr>
        <p:txBody>
          <a:bodyPr wrap="square" lIns="0" tIns="0" rIns="0" bIns="0" rtlCol="0" anchor="ctr"/>
          <a:lstStyle/>
          <a:p>
            <a:r>
              <a:rPr lang="en-US" sz="1867" b="1" dirty="0">
                <a:solidFill>
                  <a:srgbClr val="FFFFFF"/>
                </a:solidFill>
              </a:rPr>
              <a:t>$100–130</a:t>
            </a:r>
            <a:endParaRPr lang="en-US" sz="1867" dirty="0"/>
          </a:p>
        </p:txBody>
      </p:sp>
      <p:sp>
        <p:nvSpPr>
          <p:cNvPr id="39" name="Text 37"/>
          <p:cNvSpPr/>
          <p:nvPr/>
        </p:nvSpPr>
        <p:spPr>
          <a:xfrm>
            <a:off x="4364736" y="2755392"/>
            <a:ext cx="1706880" cy="243840"/>
          </a:xfrm>
          <a:prstGeom prst="rect">
            <a:avLst/>
          </a:prstGeom>
          <a:noFill/>
          <a:ln/>
        </p:spPr>
        <p:txBody>
          <a:bodyPr wrap="square" lIns="0" tIns="0" rIns="0" bIns="0" rtlCol="0" anchor="ctr"/>
          <a:lstStyle/>
          <a:p>
            <a:r>
              <a:rPr lang="en-US" sz="1067" dirty="0">
                <a:solidFill>
                  <a:srgbClr val="5A7A8A"/>
                </a:solidFill>
              </a:rPr>
              <a:t>2026E FY Rev</a:t>
            </a:r>
            <a:endParaRPr lang="en-US" sz="1067" dirty="0"/>
          </a:p>
        </p:txBody>
      </p:sp>
      <p:sp>
        <p:nvSpPr>
          <p:cNvPr id="40" name="Text 38"/>
          <p:cNvSpPr/>
          <p:nvPr/>
        </p:nvSpPr>
        <p:spPr>
          <a:xfrm>
            <a:off x="4364736" y="2974848"/>
            <a:ext cx="1706880" cy="316992"/>
          </a:xfrm>
          <a:prstGeom prst="rect">
            <a:avLst/>
          </a:prstGeom>
          <a:noFill/>
          <a:ln/>
        </p:spPr>
        <p:txBody>
          <a:bodyPr wrap="square" lIns="0" tIns="0" rIns="0" bIns="0" rtlCol="0" anchor="ctr"/>
          <a:lstStyle/>
          <a:p>
            <a:r>
              <a:rPr lang="en-US" sz="1467" b="1" dirty="0">
                <a:solidFill>
                  <a:srgbClr val="0D1B2A"/>
                </a:solidFill>
              </a:rPr>
              <a:t>$5.1–5.5B</a:t>
            </a:r>
            <a:endParaRPr lang="en-US" sz="1467" dirty="0"/>
          </a:p>
        </p:txBody>
      </p:sp>
      <p:sp>
        <p:nvSpPr>
          <p:cNvPr id="41" name="Text 39"/>
          <p:cNvSpPr/>
          <p:nvPr/>
        </p:nvSpPr>
        <p:spPr>
          <a:xfrm>
            <a:off x="6193536" y="2755392"/>
            <a:ext cx="1706880" cy="243840"/>
          </a:xfrm>
          <a:prstGeom prst="rect">
            <a:avLst/>
          </a:prstGeom>
          <a:noFill/>
          <a:ln/>
        </p:spPr>
        <p:txBody>
          <a:bodyPr wrap="square" lIns="0" tIns="0" rIns="0" bIns="0" rtlCol="0" anchor="ctr"/>
          <a:lstStyle/>
          <a:p>
            <a:r>
              <a:rPr lang="en-US" sz="1067" dirty="0">
                <a:solidFill>
                  <a:srgbClr val="5A7A8A"/>
                </a:solidFill>
              </a:rPr>
              <a:t>Implied Multiple</a:t>
            </a:r>
            <a:endParaRPr lang="en-US" sz="1067" dirty="0"/>
          </a:p>
        </p:txBody>
      </p:sp>
      <p:sp>
        <p:nvSpPr>
          <p:cNvPr id="42" name="Text 40"/>
          <p:cNvSpPr/>
          <p:nvPr/>
        </p:nvSpPr>
        <p:spPr>
          <a:xfrm>
            <a:off x="6193536" y="2974848"/>
            <a:ext cx="1706880" cy="316992"/>
          </a:xfrm>
          <a:prstGeom prst="rect">
            <a:avLst/>
          </a:prstGeom>
          <a:noFill/>
          <a:ln/>
        </p:spPr>
        <p:txBody>
          <a:bodyPr wrap="square" lIns="0" tIns="0" rIns="0" bIns="0" rtlCol="0" anchor="ctr"/>
          <a:lstStyle/>
          <a:p>
            <a:r>
              <a:rPr lang="en-US" sz="1467" b="1" dirty="0">
                <a:solidFill>
                  <a:srgbClr val="5A6E8C"/>
                </a:solidFill>
              </a:rPr>
              <a:t>~32–38x Fwd P/E</a:t>
            </a:r>
            <a:endParaRPr lang="en-US" sz="1467" dirty="0"/>
          </a:p>
        </p:txBody>
      </p:sp>
      <p:sp>
        <p:nvSpPr>
          <p:cNvPr id="43" name="Text 41"/>
          <p:cNvSpPr/>
          <p:nvPr/>
        </p:nvSpPr>
        <p:spPr>
          <a:xfrm>
            <a:off x="4364736" y="3316224"/>
            <a:ext cx="3560064" cy="243840"/>
          </a:xfrm>
          <a:prstGeom prst="rect">
            <a:avLst/>
          </a:prstGeom>
          <a:noFill/>
          <a:ln/>
        </p:spPr>
        <p:txBody>
          <a:bodyPr wrap="square" lIns="0" tIns="0" rIns="0" bIns="0" rtlCol="0" anchor="ctr"/>
          <a:lstStyle/>
          <a:p>
            <a:r>
              <a:rPr lang="en-US" sz="1133" i="1" dirty="0">
                <a:solidFill>
                  <a:srgbClr val="5A6E8C"/>
                </a:solidFill>
              </a:rPr>
              <a:t>+11% to +44% vs CMP</a:t>
            </a:r>
            <a:endParaRPr lang="en-US" sz="1133" dirty="0"/>
          </a:p>
        </p:txBody>
      </p:sp>
      <p:sp>
        <p:nvSpPr>
          <p:cNvPr id="44" name="Text 42"/>
          <p:cNvSpPr/>
          <p:nvPr/>
        </p:nvSpPr>
        <p:spPr>
          <a:xfrm>
            <a:off x="4364736" y="3633216"/>
            <a:ext cx="3560064" cy="268224"/>
          </a:xfrm>
          <a:prstGeom prst="rect">
            <a:avLst/>
          </a:prstGeom>
          <a:noFill/>
          <a:ln/>
        </p:spPr>
        <p:txBody>
          <a:bodyPr wrap="square" lIns="0" tIns="0" rIns="0" bIns="0" rtlCol="0" anchor="ctr"/>
          <a:lstStyle/>
          <a:p>
            <a:r>
              <a:rPr lang="en-US" sz="1133" b="1" dirty="0">
                <a:solidFill>
                  <a:srgbClr val="0D1B2A"/>
                </a:solidFill>
              </a:rPr>
              <a:t>Key Triggers</a:t>
            </a:r>
            <a:endParaRPr lang="en-US" sz="1133" dirty="0"/>
          </a:p>
        </p:txBody>
      </p:sp>
      <p:sp>
        <p:nvSpPr>
          <p:cNvPr id="45" name="Text 43"/>
          <p:cNvSpPr/>
          <p:nvPr/>
        </p:nvSpPr>
        <p:spPr>
          <a:xfrm>
            <a:off x="4364736" y="3925824"/>
            <a:ext cx="3560064" cy="2621280"/>
          </a:xfrm>
          <a:prstGeom prst="rect">
            <a:avLst/>
          </a:prstGeom>
          <a:noFill/>
          <a:ln/>
        </p:spPr>
        <p:txBody>
          <a:bodyPr wrap="square" lIns="0" tIns="0" rIns="0" bIns="0" rtlCol="0" anchor="ctr"/>
          <a:lstStyle/>
          <a:p>
            <a:pPr marL="285750" indent="-285750">
              <a:buFont typeface="Arial" panose="020B0604020202020204" pitchFamily="34" charset="0"/>
              <a:buChar char="•"/>
            </a:pPr>
            <a:r>
              <a:rPr lang="en-US" sz="1200" dirty="0"/>
              <a:t>FY2026 revenue hits $5.1–5.5B range; EPS $2.20–2.50</a:t>
            </a:r>
          </a:p>
          <a:p>
            <a:pPr marL="285750" indent="-285750">
              <a:buFont typeface="Arial" panose="020B0604020202020204" pitchFamily="34" charset="0"/>
              <a:buChar char="•"/>
            </a:pPr>
            <a:r>
              <a:rPr lang="en-US" sz="1200" dirty="0"/>
              <a:t>Gold subscribers reach 5.5M+ by year-end 2026</a:t>
            </a:r>
          </a:p>
          <a:p>
            <a:pPr marL="285750" indent="-285750">
              <a:buFont typeface="Arial" panose="020B0604020202020204" pitchFamily="34" charset="0"/>
              <a:buChar char="•"/>
            </a:pPr>
            <a:r>
              <a:rPr lang="en-US" sz="1200" dirty="0"/>
              <a:t>Net deposits sustain $60–70B+ per year growth rate</a:t>
            </a:r>
          </a:p>
          <a:p>
            <a:pPr marL="285750" indent="-285750">
              <a:buFont typeface="Arial" panose="020B0604020202020204" pitchFamily="34" charset="0"/>
              <a:buChar char="•"/>
            </a:pPr>
            <a:r>
              <a:rPr lang="en-US" sz="1200" dirty="0"/>
              <a:t>Crypto revenue moderates but doesn't collapse</a:t>
            </a:r>
          </a:p>
          <a:p>
            <a:pPr marL="285750" indent="-285750">
              <a:buFont typeface="Arial" panose="020B0604020202020204" pitchFamily="34" charset="0"/>
              <a:buChar char="•"/>
            </a:pPr>
            <a:r>
              <a:rPr lang="en-US" sz="1200" dirty="0"/>
              <a:t>Agentic trading grows engagement without major regulatory headwinds</a:t>
            </a:r>
          </a:p>
          <a:p>
            <a:pPr marL="285750" indent="-285750">
              <a:buFont typeface="Arial" panose="020B0604020202020204" pitchFamily="34" charset="0"/>
              <a:buChar char="•"/>
            </a:pPr>
            <a:r>
              <a:rPr lang="en-US" sz="1200" dirty="0"/>
              <a:t>WonderFi / Canada expands addressable market credibly</a:t>
            </a:r>
          </a:p>
        </p:txBody>
      </p:sp>
      <p:sp>
        <p:nvSpPr>
          <p:cNvPr id="46" name="Shape 44"/>
          <p:cNvSpPr/>
          <p:nvPr/>
        </p:nvSpPr>
        <p:spPr>
          <a:xfrm>
            <a:off x="8217408" y="1682496"/>
            <a:ext cx="3803904" cy="4728578"/>
          </a:xfrm>
          <a:prstGeom prst="rect">
            <a:avLst/>
          </a:prstGeom>
          <a:solidFill>
            <a:srgbClr val="F4F9F7"/>
          </a:solidFill>
          <a:ln>
            <a:solidFill>
              <a:schemeClr val="tx1"/>
            </a:solidFill>
          </a:ln>
          <a:effectLst>
            <a:outerShdw blurRad="76200" dist="25400" dir="8100000" algn="bl" rotWithShape="0">
              <a:srgbClr val="000000">
                <a:alpha val="8000"/>
              </a:srgbClr>
            </a:outerShdw>
          </a:effectLst>
        </p:spPr>
      </p:sp>
      <p:sp>
        <p:nvSpPr>
          <p:cNvPr id="47" name="Shape 45"/>
          <p:cNvSpPr/>
          <p:nvPr/>
        </p:nvSpPr>
        <p:spPr>
          <a:xfrm>
            <a:off x="8217408" y="1682496"/>
            <a:ext cx="3803904" cy="950976"/>
          </a:xfrm>
          <a:prstGeom prst="rect">
            <a:avLst/>
          </a:prstGeom>
          <a:solidFill>
            <a:srgbClr val="00C896"/>
          </a:solidFill>
          <a:ln>
            <a:solidFill>
              <a:schemeClr val="tx1"/>
            </a:solidFill>
          </a:ln>
        </p:spPr>
      </p:sp>
      <p:sp>
        <p:nvSpPr>
          <p:cNvPr id="48" name="Text 46"/>
          <p:cNvSpPr/>
          <p:nvPr/>
        </p:nvSpPr>
        <p:spPr>
          <a:xfrm>
            <a:off x="8339328" y="1755648"/>
            <a:ext cx="3560064" cy="341376"/>
          </a:xfrm>
          <a:prstGeom prst="rect">
            <a:avLst/>
          </a:prstGeom>
          <a:noFill/>
          <a:ln/>
        </p:spPr>
        <p:txBody>
          <a:bodyPr wrap="square" lIns="0" tIns="0" rIns="0" bIns="0" rtlCol="0" anchor="ctr"/>
          <a:lstStyle/>
          <a:p>
            <a:r>
              <a:rPr lang="en-US" sz="1600" b="1" dirty="0">
                <a:solidFill>
                  <a:srgbClr val="FFFFFF"/>
                </a:solidFill>
              </a:rPr>
              <a:t>↑  BULL CASE</a:t>
            </a:r>
            <a:endParaRPr lang="en-US" sz="1600" dirty="0"/>
          </a:p>
        </p:txBody>
      </p:sp>
      <p:sp>
        <p:nvSpPr>
          <p:cNvPr id="49" name="Text 47"/>
          <p:cNvSpPr/>
          <p:nvPr/>
        </p:nvSpPr>
        <p:spPr>
          <a:xfrm>
            <a:off x="8339328" y="2121408"/>
            <a:ext cx="3560064" cy="243840"/>
          </a:xfrm>
          <a:prstGeom prst="rect">
            <a:avLst/>
          </a:prstGeom>
          <a:noFill/>
          <a:ln/>
        </p:spPr>
        <p:txBody>
          <a:bodyPr wrap="square" lIns="0" tIns="0" rIns="0" bIns="0" rtlCol="0" anchor="ctr"/>
          <a:lstStyle/>
          <a:p>
            <a:r>
              <a:rPr lang="en-US" sz="1067" dirty="0">
                <a:solidFill>
                  <a:srgbClr val="D0E8FF"/>
                </a:solidFill>
              </a:rPr>
              <a:t>12-Month Target</a:t>
            </a:r>
            <a:endParaRPr lang="en-US" sz="1067" dirty="0"/>
          </a:p>
        </p:txBody>
      </p:sp>
      <p:sp>
        <p:nvSpPr>
          <p:cNvPr id="50" name="Text 48"/>
          <p:cNvSpPr/>
          <p:nvPr/>
        </p:nvSpPr>
        <p:spPr>
          <a:xfrm>
            <a:off x="8339328" y="2340864"/>
            <a:ext cx="3560064" cy="268224"/>
          </a:xfrm>
          <a:prstGeom prst="rect">
            <a:avLst/>
          </a:prstGeom>
          <a:noFill/>
          <a:ln/>
        </p:spPr>
        <p:txBody>
          <a:bodyPr wrap="square" lIns="0" tIns="0" rIns="0" bIns="0" rtlCol="0" anchor="ctr"/>
          <a:lstStyle/>
          <a:p>
            <a:r>
              <a:rPr lang="en-US" sz="1867" b="1" dirty="0">
                <a:solidFill>
                  <a:srgbClr val="FFFFFF"/>
                </a:solidFill>
              </a:rPr>
              <a:t>$160–200</a:t>
            </a:r>
            <a:endParaRPr lang="en-US" sz="1867" dirty="0"/>
          </a:p>
        </p:txBody>
      </p:sp>
      <p:sp>
        <p:nvSpPr>
          <p:cNvPr id="51" name="Text 49"/>
          <p:cNvSpPr/>
          <p:nvPr/>
        </p:nvSpPr>
        <p:spPr>
          <a:xfrm>
            <a:off x="8339328" y="2755392"/>
            <a:ext cx="1706880" cy="243840"/>
          </a:xfrm>
          <a:prstGeom prst="rect">
            <a:avLst/>
          </a:prstGeom>
          <a:noFill/>
          <a:ln/>
        </p:spPr>
        <p:txBody>
          <a:bodyPr wrap="square" lIns="0" tIns="0" rIns="0" bIns="0" rtlCol="0" anchor="ctr"/>
          <a:lstStyle/>
          <a:p>
            <a:r>
              <a:rPr lang="en-US" sz="1067" dirty="0">
                <a:solidFill>
                  <a:srgbClr val="5A7A8A"/>
                </a:solidFill>
              </a:rPr>
              <a:t>2026E FY Rev</a:t>
            </a:r>
            <a:endParaRPr lang="en-US" sz="1067" dirty="0"/>
          </a:p>
        </p:txBody>
      </p:sp>
      <p:sp>
        <p:nvSpPr>
          <p:cNvPr id="52" name="Text 50"/>
          <p:cNvSpPr/>
          <p:nvPr/>
        </p:nvSpPr>
        <p:spPr>
          <a:xfrm>
            <a:off x="8339328" y="2974848"/>
            <a:ext cx="1706880" cy="316992"/>
          </a:xfrm>
          <a:prstGeom prst="rect">
            <a:avLst/>
          </a:prstGeom>
          <a:noFill/>
          <a:ln/>
        </p:spPr>
        <p:txBody>
          <a:bodyPr wrap="square" lIns="0" tIns="0" rIns="0" bIns="0" rtlCol="0" anchor="ctr"/>
          <a:lstStyle/>
          <a:p>
            <a:r>
              <a:rPr lang="en-US" sz="1467" b="1" dirty="0">
                <a:solidFill>
                  <a:srgbClr val="0D1B2A"/>
                </a:solidFill>
              </a:rPr>
              <a:t>$6.5–8B</a:t>
            </a:r>
            <a:endParaRPr lang="en-US" sz="1467" dirty="0"/>
          </a:p>
        </p:txBody>
      </p:sp>
      <p:sp>
        <p:nvSpPr>
          <p:cNvPr id="53" name="Text 51"/>
          <p:cNvSpPr/>
          <p:nvPr/>
        </p:nvSpPr>
        <p:spPr>
          <a:xfrm>
            <a:off x="10168128" y="2755392"/>
            <a:ext cx="1706880" cy="243840"/>
          </a:xfrm>
          <a:prstGeom prst="rect">
            <a:avLst/>
          </a:prstGeom>
          <a:noFill/>
          <a:ln/>
        </p:spPr>
        <p:txBody>
          <a:bodyPr wrap="square" lIns="0" tIns="0" rIns="0" bIns="0" rtlCol="0" anchor="ctr"/>
          <a:lstStyle/>
          <a:p>
            <a:r>
              <a:rPr lang="en-US" sz="1067" dirty="0">
                <a:solidFill>
                  <a:srgbClr val="5A7A8A"/>
                </a:solidFill>
              </a:rPr>
              <a:t>Implied Multiple</a:t>
            </a:r>
            <a:endParaRPr lang="en-US" sz="1067" dirty="0"/>
          </a:p>
        </p:txBody>
      </p:sp>
      <p:sp>
        <p:nvSpPr>
          <p:cNvPr id="54" name="Text 52"/>
          <p:cNvSpPr/>
          <p:nvPr/>
        </p:nvSpPr>
        <p:spPr>
          <a:xfrm>
            <a:off x="10168128" y="2974848"/>
            <a:ext cx="1706880" cy="316992"/>
          </a:xfrm>
          <a:prstGeom prst="rect">
            <a:avLst/>
          </a:prstGeom>
          <a:noFill/>
          <a:ln/>
        </p:spPr>
        <p:txBody>
          <a:bodyPr wrap="square" lIns="0" tIns="0" rIns="0" bIns="0" rtlCol="0" anchor="ctr"/>
          <a:lstStyle/>
          <a:p>
            <a:r>
              <a:rPr lang="en-US" sz="1467" b="1" dirty="0">
                <a:solidFill>
                  <a:srgbClr val="00C896"/>
                </a:solidFill>
              </a:rPr>
              <a:t>~45–55x Fwd P/E</a:t>
            </a:r>
            <a:endParaRPr lang="en-US" sz="1467" dirty="0"/>
          </a:p>
        </p:txBody>
      </p:sp>
      <p:sp>
        <p:nvSpPr>
          <p:cNvPr id="55" name="Text 53"/>
          <p:cNvSpPr/>
          <p:nvPr/>
        </p:nvSpPr>
        <p:spPr>
          <a:xfrm>
            <a:off x="8339328" y="3316224"/>
            <a:ext cx="3560064" cy="243840"/>
          </a:xfrm>
          <a:prstGeom prst="rect">
            <a:avLst/>
          </a:prstGeom>
          <a:noFill/>
          <a:ln/>
        </p:spPr>
        <p:txBody>
          <a:bodyPr wrap="square" lIns="0" tIns="0" rIns="0" bIns="0" rtlCol="0" anchor="ctr"/>
          <a:lstStyle/>
          <a:p>
            <a:r>
              <a:rPr lang="en-US" sz="1133" i="1" dirty="0">
                <a:solidFill>
                  <a:srgbClr val="00C896"/>
                </a:solidFill>
              </a:rPr>
              <a:t>+78% to +122% vs CMP</a:t>
            </a:r>
            <a:endParaRPr lang="en-US" sz="1133" dirty="0"/>
          </a:p>
        </p:txBody>
      </p:sp>
      <p:sp>
        <p:nvSpPr>
          <p:cNvPr id="56" name="Text 54"/>
          <p:cNvSpPr/>
          <p:nvPr/>
        </p:nvSpPr>
        <p:spPr>
          <a:xfrm>
            <a:off x="8339328" y="3633216"/>
            <a:ext cx="3560064" cy="268224"/>
          </a:xfrm>
          <a:prstGeom prst="rect">
            <a:avLst/>
          </a:prstGeom>
          <a:noFill/>
          <a:ln/>
        </p:spPr>
        <p:txBody>
          <a:bodyPr wrap="square" lIns="0" tIns="0" rIns="0" bIns="0" rtlCol="0" anchor="ctr"/>
          <a:lstStyle/>
          <a:p>
            <a:r>
              <a:rPr lang="en-US" sz="1133" b="1" dirty="0">
                <a:solidFill>
                  <a:srgbClr val="0D1B2A"/>
                </a:solidFill>
              </a:rPr>
              <a:t>Key Triggers</a:t>
            </a:r>
            <a:endParaRPr lang="en-US" sz="1133" dirty="0"/>
          </a:p>
        </p:txBody>
      </p:sp>
      <p:sp>
        <p:nvSpPr>
          <p:cNvPr id="57" name="Text 55"/>
          <p:cNvSpPr/>
          <p:nvPr/>
        </p:nvSpPr>
        <p:spPr>
          <a:xfrm>
            <a:off x="8339328" y="3925824"/>
            <a:ext cx="3560064" cy="2621280"/>
          </a:xfrm>
          <a:prstGeom prst="rect">
            <a:avLst/>
          </a:prstGeom>
          <a:noFill/>
          <a:ln/>
        </p:spPr>
        <p:txBody>
          <a:bodyPr wrap="square" lIns="0" tIns="0" rIns="0" bIns="0" rtlCol="0" anchor="ctr"/>
          <a:lstStyle/>
          <a:p>
            <a:pPr marL="285750" indent="-285750">
              <a:buFont typeface="Arial" panose="020B0604020202020204" pitchFamily="34" charset="0"/>
              <a:buChar char="•"/>
            </a:pPr>
            <a:r>
              <a:rPr lang="en-US" sz="1200" dirty="0"/>
              <a:t>Agentic AI trading goes mainstream — ARPU inflects to $300+</a:t>
            </a:r>
          </a:p>
          <a:p>
            <a:pPr marL="285750" indent="-285750">
              <a:buFont typeface="Arial" panose="020B0604020202020204" pitchFamily="34" charset="0"/>
              <a:buChar char="•"/>
            </a:pPr>
            <a:r>
              <a:rPr lang="en-US" sz="1200" dirty="0"/>
              <a:t>Tokenized stocks on Arbitrum L2 gets SEC greenlight — European launch</a:t>
            </a:r>
          </a:p>
          <a:p>
            <a:pPr marL="285750" indent="-285750">
              <a:buFont typeface="Arial" panose="020B0604020202020204" pitchFamily="34" charset="0"/>
              <a:buChar char="•"/>
            </a:pPr>
            <a:r>
              <a:rPr lang="en-US" sz="1200" dirty="0"/>
              <a:t>Gold hits 8M+ subscribers — subscription run-rate exceeds $700M</a:t>
            </a:r>
          </a:p>
          <a:p>
            <a:pPr marL="285750" indent="-285750">
              <a:buFont typeface="Arial" panose="020B0604020202020204" pitchFamily="34" charset="0"/>
              <a:buChar char="•"/>
            </a:pPr>
            <a:r>
              <a:rPr lang="en-US" sz="1200" dirty="0"/>
              <a:t>TradePMR grows RIA base to $100B+ AUA — advisory fee revenue</a:t>
            </a:r>
          </a:p>
          <a:p>
            <a:pPr marL="285750" indent="-285750">
              <a:buFont typeface="Arial" panose="020B0604020202020204" pitchFamily="34" charset="0"/>
              <a:buChar char="•"/>
            </a:pPr>
            <a:r>
              <a:rPr lang="en-US" sz="1200" dirty="0"/>
              <a:t>Trump Accounts onboards 5M+ new funded customers at zero CAC</a:t>
            </a:r>
          </a:p>
          <a:p>
            <a:pPr marL="285750" indent="-285750">
              <a:buFont typeface="Arial" panose="020B0604020202020204" pitchFamily="34" charset="0"/>
              <a:buChar char="•"/>
            </a:pPr>
            <a:r>
              <a:rPr lang="en-US" sz="1200" dirty="0"/>
              <a:t>Revenue re-rates to 'platform' multiple (45–55x P/E) like Coinbase at peak</a:t>
            </a:r>
          </a:p>
        </p:txBody>
      </p:sp>
      <p:sp>
        <p:nvSpPr>
          <p:cNvPr id="58" name="Text 56"/>
          <p:cNvSpPr/>
          <p:nvPr/>
        </p:nvSpPr>
        <p:spPr>
          <a:xfrm>
            <a:off x="268224" y="6559296"/>
            <a:ext cx="11704320" cy="243840"/>
          </a:xfrm>
          <a:prstGeom prst="rect">
            <a:avLst/>
          </a:prstGeom>
          <a:noFill/>
          <a:ln/>
        </p:spPr>
        <p:txBody>
          <a:bodyPr wrap="square" lIns="0" tIns="0" rIns="0" bIns="0" rtlCol="0" anchor="ctr"/>
          <a:lstStyle/>
          <a:p>
            <a:r>
              <a:rPr lang="en-US" sz="1000" i="1" dirty="0">
                <a:solidFill>
                  <a:srgbClr val="5A7A8A"/>
                </a:solidFill>
              </a:rPr>
              <a:t>Analyst consensus (27 analysts): Buy  |  Avg 12m target: ~$98.77  |  Highest PT: $155 (JMP Sec.)  |  Mizuho Outperform $115  |  Deutsche Bank Buy $88  |  Morningstar Fair Value $52 (Hold). Not investment advice.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55904"/>
          </a:xfrm>
          <a:prstGeom prst="rect">
            <a:avLst/>
          </a:prstGeom>
          <a:solidFill>
            <a:srgbClr val="0D1B2A"/>
          </a:solidFill>
          <a:ln/>
        </p:spPr>
      </p:sp>
      <p:sp>
        <p:nvSpPr>
          <p:cNvPr id="3" name="Text 1"/>
          <p:cNvSpPr/>
          <p:nvPr/>
        </p:nvSpPr>
        <p:spPr>
          <a:xfrm>
            <a:off x="365760" y="0"/>
            <a:ext cx="11582400" cy="755904"/>
          </a:xfrm>
          <a:prstGeom prst="rect">
            <a:avLst/>
          </a:prstGeom>
          <a:noFill/>
          <a:ln/>
        </p:spPr>
        <p:txBody>
          <a:bodyPr wrap="square" lIns="0" tIns="0" rIns="0" bIns="0" rtlCol="0" anchor="ctr"/>
          <a:lstStyle/>
          <a:p>
            <a:r>
              <a:rPr lang="en-US" sz="1733" b="1" dirty="0">
                <a:solidFill>
                  <a:srgbClr val="FFFFFF"/>
                </a:solidFill>
              </a:rPr>
              <a:t>SECTION 10: VALUATION FRAMEWORK &amp; PEER COMPARISON</a:t>
            </a:r>
            <a:endParaRPr lang="en-US" sz="1733" dirty="0"/>
          </a:p>
        </p:txBody>
      </p:sp>
      <p:sp>
        <p:nvSpPr>
          <p:cNvPr id="4" name="Shape 2"/>
          <p:cNvSpPr/>
          <p:nvPr/>
        </p:nvSpPr>
        <p:spPr>
          <a:xfrm>
            <a:off x="268224" y="877824"/>
            <a:ext cx="1828800" cy="853440"/>
          </a:xfrm>
          <a:prstGeom prst="rect">
            <a:avLst/>
          </a:prstGeom>
          <a:solidFill>
            <a:srgbClr val="FFFFFF"/>
          </a:solidFill>
          <a:ln>
            <a:solidFill>
              <a:schemeClr val="tx1"/>
            </a:solidFill>
          </a:ln>
          <a:effectLst>
            <a:outerShdw blurRad="50800" dist="12700" dir="8100000" algn="bl" rotWithShape="0">
              <a:srgbClr val="000000">
                <a:alpha val="7000"/>
              </a:srgbClr>
            </a:outerShdw>
          </a:effectLst>
        </p:spPr>
      </p:sp>
      <p:sp>
        <p:nvSpPr>
          <p:cNvPr id="5" name="Text 3"/>
          <p:cNvSpPr/>
          <p:nvPr/>
        </p:nvSpPr>
        <p:spPr>
          <a:xfrm>
            <a:off x="268224" y="926592"/>
            <a:ext cx="1828800" cy="438912"/>
          </a:xfrm>
          <a:prstGeom prst="rect">
            <a:avLst/>
          </a:prstGeom>
          <a:noFill/>
          <a:ln/>
        </p:spPr>
        <p:txBody>
          <a:bodyPr wrap="square" lIns="0" tIns="0" rIns="0" bIns="0" rtlCol="0" anchor="ctr"/>
          <a:lstStyle/>
          <a:p>
            <a:pPr algn="ctr"/>
            <a:r>
              <a:rPr lang="en-US" sz="2267" b="1" dirty="0">
                <a:solidFill>
                  <a:srgbClr val="0D1B2A"/>
                </a:solidFill>
              </a:rPr>
              <a:t>~$90</a:t>
            </a:r>
            <a:endParaRPr lang="en-US" sz="2267" dirty="0"/>
          </a:p>
        </p:txBody>
      </p:sp>
      <p:sp>
        <p:nvSpPr>
          <p:cNvPr id="6" name="Text 4"/>
          <p:cNvSpPr/>
          <p:nvPr/>
        </p:nvSpPr>
        <p:spPr>
          <a:xfrm>
            <a:off x="268224" y="1365504"/>
            <a:ext cx="1828800" cy="316992"/>
          </a:xfrm>
          <a:prstGeom prst="rect">
            <a:avLst/>
          </a:prstGeom>
          <a:noFill/>
          <a:ln/>
        </p:spPr>
        <p:txBody>
          <a:bodyPr wrap="square" lIns="0" tIns="0" rIns="0" bIns="0" rtlCol="0" anchor="ctr"/>
          <a:lstStyle/>
          <a:p>
            <a:pPr algn="ctr"/>
            <a:r>
              <a:rPr lang="en-US" sz="1067" dirty="0"/>
              <a:t>CMP (Jun 2026)</a:t>
            </a:r>
          </a:p>
        </p:txBody>
      </p:sp>
      <p:sp>
        <p:nvSpPr>
          <p:cNvPr id="7" name="Shape 5"/>
          <p:cNvSpPr/>
          <p:nvPr/>
        </p:nvSpPr>
        <p:spPr>
          <a:xfrm>
            <a:off x="2243328" y="877824"/>
            <a:ext cx="1828800" cy="853440"/>
          </a:xfrm>
          <a:prstGeom prst="rect">
            <a:avLst/>
          </a:prstGeom>
          <a:solidFill>
            <a:srgbClr val="FFFFFF"/>
          </a:solidFill>
          <a:ln>
            <a:solidFill>
              <a:schemeClr val="tx1"/>
            </a:solidFill>
          </a:ln>
          <a:effectLst>
            <a:outerShdw blurRad="50800" dist="12700" dir="8100000" algn="bl" rotWithShape="0">
              <a:srgbClr val="000000">
                <a:alpha val="7000"/>
              </a:srgbClr>
            </a:outerShdw>
          </a:effectLst>
        </p:spPr>
      </p:sp>
      <p:sp>
        <p:nvSpPr>
          <p:cNvPr id="8" name="Text 6"/>
          <p:cNvSpPr/>
          <p:nvPr/>
        </p:nvSpPr>
        <p:spPr>
          <a:xfrm>
            <a:off x="2243328" y="926592"/>
            <a:ext cx="1828800" cy="438912"/>
          </a:xfrm>
          <a:prstGeom prst="rect">
            <a:avLst/>
          </a:prstGeom>
          <a:noFill/>
          <a:ln/>
        </p:spPr>
        <p:txBody>
          <a:bodyPr wrap="square" lIns="0" tIns="0" rIns="0" bIns="0" rtlCol="0" anchor="ctr"/>
          <a:lstStyle/>
          <a:p>
            <a:pPr algn="ctr"/>
            <a:r>
              <a:rPr lang="en-US" sz="2267" b="1" dirty="0">
                <a:solidFill>
                  <a:srgbClr val="0D1B2A"/>
                </a:solidFill>
              </a:rPr>
              <a:t>~$82B</a:t>
            </a:r>
            <a:endParaRPr lang="en-US" sz="2267" dirty="0"/>
          </a:p>
        </p:txBody>
      </p:sp>
      <p:sp>
        <p:nvSpPr>
          <p:cNvPr id="9" name="Text 7"/>
          <p:cNvSpPr/>
          <p:nvPr/>
        </p:nvSpPr>
        <p:spPr>
          <a:xfrm>
            <a:off x="2243328" y="1365504"/>
            <a:ext cx="1828800" cy="316992"/>
          </a:xfrm>
          <a:prstGeom prst="rect">
            <a:avLst/>
          </a:prstGeom>
          <a:noFill/>
          <a:ln/>
        </p:spPr>
        <p:txBody>
          <a:bodyPr wrap="square" lIns="0" tIns="0" rIns="0" bIns="0" rtlCol="0" anchor="ctr"/>
          <a:lstStyle/>
          <a:p>
            <a:pPr algn="ctr"/>
            <a:r>
              <a:rPr lang="en-US" sz="1067" dirty="0"/>
              <a:t>Market Cap</a:t>
            </a:r>
          </a:p>
        </p:txBody>
      </p:sp>
      <p:sp>
        <p:nvSpPr>
          <p:cNvPr id="10" name="Shape 8"/>
          <p:cNvSpPr/>
          <p:nvPr/>
        </p:nvSpPr>
        <p:spPr>
          <a:xfrm>
            <a:off x="4218432" y="877824"/>
            <a:ext cx="1828800" cy="853440"/>
          </a:xfrm>
          <a:prstGeom prst="rect">
            <a:avLst/>
          </a:prstGeom>
          <a:solidFill>
            <a:srgbClr val="FFFFFF"/>
          </a:solidFill>
          <a:ln>
            <a:solidFill>
              <a:schemeClr val="tx1"/>
            </a:solidFill>
          </a:ln>
          <a:effectLst>
            <a:outerShdw blurRad="50800" dist="12700" dir="8100000" algn="bl" rotWithShape="0">
              <a:srgbClr val="000000">
                <a:alpha val="7000"/>
              </a:srgbClr>
            </a:outerShdw>
          </a:effectLst>
        </p:spPr>
      </p:sp>
      <p:sp>
        <p:nvSpPr>
          <p:cNvPr id="11" name="Text 9"/>
          <p:cNvSpPr/>
          <p:nvPr/>
        </p:nvSpPr>
        <p:spPr>
          <a:xfrm>
            <a:off x="4218432" y="926592"/>
            <a:ext cx="1828800" cy="438912"/>
          </a:xfrm>
          <a:prstGeom prst="rect">
            <a:avLst/>
          </a:prstGeom>
          <a:noFill/>
          <a:ln/>
        </p:spPr>
        <p:txBody>
          <a:bodyPr wrap="square" lIns="0" tIns="0" rIns="0" bIns="0" rtlCol="0" anchor="ctr"/>
          <a:lstStyle/>
          <a:p>
            <a:pPr algn="ctr"/>
            <a:r>
              <a:rPr lang="en-US" sz="2267" b="1" dirty="0">
                <a:solidFill>
                  <a:srgbClr val="0D1B2A"/>
                </a:solidFill>
              </a:rPr>
              <a:t>~45x</a:t>
            </a:r>
            <a:endParaRPr lang="en-US" sz="2267" dirty="0"/>
          </a:p>
        </p:txBody>
      </p:sp>
      <p:sp>
        <p:nvSpPr>
          <p:cNvPr id="12" name="Text 10"/>
          <p:cNvSpPr/>
          <p:nvPr/>
        </p:nvSpPr>
        <p:spPr>
          <a:xfrm>
            <a:off x="4218432" y="1365504"/>
            <a:ext cx="1828800" cy="316992"/>
          </a:xfrm>
          <a:prstGeom prst="rect">
            <a:avLst/>
          </a:prstGeom>
          <a:noFill/>
          <a:ln/>
        </p:spPr>
        <p:txBody>
          <a:bodyPr wrap="square" lIns="0" tIns="0" rIns="0" bIns="0" rtlCol="0" anchor="ctr"/>
          <a:lstStyle/>
          <a:p>
            <a:pPr algn="ctr"/>
            <a:r>
              <a:rPr lang="en-US" sz="1067" dirty="0"/>
              <a:t>P/E (FY2025A)</a:t>
            </a:r>
          </a:p>
        </p:txBody>
      </p:sp>
      <p:sp>
        <p:nvSpPr>
          <p:cNvPr id="13" name="Shape 11"/>
          <p:cNvSpPr/>
          <p:nvPr/>
        </p:nvSpPr>
        <p:spPr>
          <a:xfrm>
            <a:off x="6193536" y="877824"/>
            <a:ext cx="1828800" cy="853440"/>
          </a:xfrm>
          <a:prstGeom prst="rect">
            <a:avLst/>
          </a:prstGeom>
          <a:solidFill>
            <a:srgbClr val="FFFFFF"/>
          </a:solidFill>
          <a:ln>
            <a:solidFill>
              <a:schemeClr val="tx1"/>
            </a:solidFill>
          </a:ln>
          <a:effectLst>
            <a:outerShdw blurRad="50800" dist="12700" dir="8100000" algn="bl" rotWithShape="0">
              <a:srgbClr val="000000">
                <a:alpha val="7000"/>
              </a:srgbClr>
            </a:outerShdw>
          </a:effectLst>
        </p:spPr>
      </p:sp>
      <p:sp>
        <p:nvSpPr>
          <p:cNvPr id="14" name="Text 12"/>
          <p:cNvSpPr/>
          <p:nvPr/>
        </p:nvSpPr>
        <p:spPr>
          <a:xfrm>
            <a:off x="6193536" y="926592"/>
            <a:ext cx="1828800" cy="438912"/>
          </a:xfrm>
          <a:prstGeom prst="rect">
            <a:avLst/>
          </a:prstGeom>
          <a:noFill/>
          <a:ln/>
        </p:spPr>
        <p:txBody>
          <a:bodyPr wrap="square" lIns="0" tIns="0" rIns="0" bIns="0" rtlCol="0" anchor="ctr"/>
          <a:lstStyle/>
          <a:p>
            <a:pPr algn="ctr"/>
            <a:r>
              <a:rPr lang="en-US" sz="2267" b="1" dirty="0">
                <a:solidFill>
                  <a:srgbClr val="0D1B2A"/>
                </a:solidFill>
              </a:rPr>
              <a:t>~32–35x</a:t>
            </a:r>
            <a:endParaRPr lang="en-US" sz="2267" dirty="0"/>
          </a:p>
        </p:txBody>
      </p:sp>
      <p:sp>
        <p:nvSpPr>
          <p:cNvPr id="15" name="Text 13"/>
          <p:cNvSpPr/>
          <p:nvPr/>
        </p:nvSpPr>
        <p:spPr>
          <a:xfrm>
            <a:off x="6193536" y="1365504"/>
            <a:ext cx="1828800" cy="316992"/>
          </a:xfrm>
          <a:prstGeom prst="rect">
            <a:avLst/>
          </a:prstGeom>
          <a:noFill/>
          <a:ln/>
        </p:spPr>
        <p:txBody>
          <a:bodyPr wrap="square" lIns="0" tIns="0" rIns="0" bIns="0" rtlCol="0" anchor="ctr"/>
          <a:lstStyle/>
          <a:p>
            <a:pPr algn="ctr"/>
            <a:r>
              <a:rPr lang="en-US" sz="1067" dirty="0"/>
              <a:t>P/E (FY2026E NTM)</a:t>
            </a:r>
          </a:p>
        </p:txBody>
      </p:sp>
      <p:sp>
        <p:nvSpPr>
          <p:cNvPr id="16" name="Shape 14"/>
          <p:cNvSpPr/>
          <p:nvPr/>
        </p:nvSpPr>
        <p:spPr>
          <a:xfrm>
            <a:off x="8168640" y="877824"/>
            <a:ext cx="1828800" cy="853440"/>
          </a:xfrm>
          <a:prstGeom prst="rect">
            <a:avLst/>
          </a:prstGeom>
          <a:solidFill>
            <a:srgbClr val="FFFFFF"/>
          </a:solidFill>
          <a:ln>
            <a:solidFill>
              <a:schemeClr val="tx1"/>
            </a:solidFill>
          </a:ln>
          <a:effectLst>
            <a:outerShdw blurRad="50800" dist="12700" dir="8100000" algn="bl" rotWithShape="0">
              <a:srgbClr val="000000">
                <a:alpha val="7000"/>
              </a:srgbClr>
            </a:outerShdw>
          </a:effectLst>
        </p:spPr>
      </p:sp>
      <p:sp>
        <p:nvSpPr>
          <p:cNvPr id="17" name="Text 15"/>
          <p:cNvSpPr/>
          <p:nvPr/>
        </p:nvSpPr>
        <p:spPr>
          <a:xfrm>
            <a:off x="8168640" y="926592"/>
            <a:ext cx="1828800" cy="438912"/>
          </a:xfrm>
          <a:prstGeom prst="rect">
            <a:avLst/>
          </a:prstGeom>
          <a:noFill/>
          <a:ln/>
        </p:spPr>
        <p:txBody>
          <a:bodyPr wrap="square" lIns="0" tIns="0" rIns="0" bIns="0" rtlCol="0" anchor="ctr"/>
          <a:lstStyle/>
          <a:p>
            <a:pPr algn="ctr"/>
            <a:r>
              <a:rPr lang="en-US" sz="2267" b="1" dirty="0">
                <a:solidFill>
                  <a:srgbClr val="0D1B2A"/>
                </a:solidFill>
              </a:rPr>
              <a:t>$98.77</a:t>
            </a:r>
            <a:endParaRPr lang="en-US" sz="2267" dirty="0"/>
          </a:p>
        </p:txBody>
      </p:sp>
      <p:sp>
        <p:nvSpPr>
          <p:cNvPr id="18" name="Text 16"/>
          <p:cNvSpPr/>
          <p:nvPr/>
        </p:nvSpPr>
        <p:spPr>
          <a:xfrm>
            <a:off x="8168640" y="1365504"/>
            <a:ext cx="1828800" cy="316992"/>
          </a:xfrm>
          <a:prstGeom prst="rect">
            <a:avLst/>
          </a:prstGeom>
          <a:noFill/>
          <a:ln/>
        </p:spPr>
        <p:txBody>
          <a:bodyPr wrap="square" lIns="0" tIns="0" rIns="0" bIns="0" rtlCol="0" anchor="ctr"/>
          <a:lstStyle/>
          <a:p>
            <a:pPr algn="ctr"/>
            <a:r>
              <a:rPr lang="en-US" sz="1067" dirty="0"/>
              <a:t>Consensus PT</a:t>
            </a:r>
          </a:p>
        </p:txBody>
      </p:sp>
      <p:sp>
        <p:nvSpPr>
          <p:cNvPr id="19" name="Shape 17"/>
          <p:cNvSpPr/>
          <p:nvPr/>
        </p:nvSpPr>
        <p:spPr>
          <a:xfrm>
            <a:off x="10143744" y="877824"/>
            <a:ext cx="1828800" cy="853440"/>
          </a:xfrm>
          <a:prstGeom prst="rect">
            <a:avLst/>
          </a:prstGeom>
          <a:solidFill>
            <a:srgbClr val="FFFFFF"/>
          </a:solidFill>
          <a:ln>
            <a:solidFill>
              <a:schemeClr val="tx1"/>
            </a:solidFill>
          </a:ln>
          <a:effectLst>
            <a:outerShdw blurRad="50800" dist="12700" dir="8100000" algn="bl" rotWithShape="0">
              <a:srgbClr val="000000">
                <a:alpha val="7000"/>
              </a:srgbClr>
            </a:outerShdw>
          </a:effectLst>
        </p:spPr>
      </p:sp>
      <p:sp>
        <p:nvSpPr>
          <p:cNvPr id="20" name="Text 18"/>
          <p:cNvSpPr/>
          <p:nvPr/>
        </p:nvSpPr>
        <p:spPr>
          <a:xfrm>
            <a:off x="10143744" y="926592"/>
            <a:ext cx="1828800" cy="438912"/>
          </a:xfrm>
          <a:prstGeom prst="rect">
            <a:avLst/>
          </a:prstGeom>
          <a:noFill/>
          <a:ln/>
        </p:spPr>
        <p:txBody>
          <a:bodyPr wrap="square" lIns="0" tIns="0" rIns="0" bIns="0" rtlCol="0" anchor="ctr"/>
          <a:lstStyle/>
          <a:p>
            <a:pPr algn="ctr"/>
            <a:r>
              <a:rPr lang="en-US" sz="2267" b="1" dirty="0">
                <a:solidFill>
                  <a:srgbClr val="0D1B2A"/>
                </a:solidFill>
              </a:rPr>
              <a:t>$155</a:t>
            </a:r>
            <a:endParaRPr lang="en-US" sz="2267" dirty="0"/>
          </a:p>
        </p:txBody>
      </p:sp>
      <p:sp>
        <p:nvSpPr>
          <p:cNvPr id="21" name="Text 19"/>
          <p:cNvSpPr/>
          <p:nvPr/>
        </p:nvSpPr>
        <p:spPr>
          <a:xfrm>
            <a:off x="10143744" y="1365504"/>
            <a:ext cx="1828800" cy="316992"/>
          </a:xfrm>
          <a:prstGeom prst="rect">
            <a:avLst/>
          </a:prstGeom>
          <a:noFill/>
          <a:ln/>
        </p:spPr>
        <p:txBody>
          <a:bodyPr wrap="square" lIns="0" tIns="0" rIns="0" bIns="0" rtlCol="0" anchor="ctr"/>
          <a:lstStyle/>
          <a:p>
            <a:pPr algn="ctr"/>
            <a:r>
              <a:rPr lang="en-US" sz="1067" dirty="0"/>
              <a:t>Highest PT</a:t>
            </a:r>
          </a:p>
        </p:txBody>
      </p:sp>
      <p:graphicFrame>
        <p:nvGraphicFramePr>
          <p:cNvPr id="22" name="Table 0"/>
          <p:cNvGraphicFramePr>
            <a:graphicFrameLocks noGrp="1"/>
          </p:cNvGraphicFramePr>
          <p:nvPr>
            <p:extLst>
              <p:ext uri="{D42A27DB-BD31-4B8C-83A1-F6EECF244321}">
                <p14:modId xmlns:p14="http://schemas.microsoft.com/office/powerpoint/2010/main" val="3254678045"/>
              </p:ext>
            </p:extLst>
          </p:nvPr>
        </p:nvGraphicFramePr>
        <p:xfrm>
          <a:off x="268224" y="1824843"/>
          <a:ext cx="11704320" cy="2619620"/>
        </p:xfrm>
        <a:graphic>
          <a:graphicData uri="http://schemas.openxmlformats.org/drawingml/2006/table">
            <a:tbl>
              <a:tblPr/>
              <a:tblGrid>
                <a:gridCol w="2194560">
                  <a:extLst>
                    <a:ext uri="{9D8B030D-6E8A-4147-A177-3AD203B41FA5}">
                      <a16:colId xmlns:a16="http://schemas.microsoft.com/office/drawing/2014/main" val="20000"/>
                    </a:ext>
                  </a:extLst>
                </a:gridCol>
                <a:gridCol w="1158240">
                  <a:extLst>
                    <a:ext uri="{9D8B030D-6E8A-4147-A177-3AD203B41FA5}">
                      <a16:colId xmlns:a16="http://schemas.microsoft.com/office/drawing/2014/main" val="20001"/>
                    </a:ext>
                  </a:extLst>
                </a:gridCol>
                <a:gridCol w="1365504">
                  <a:extLst>
                    <a:ext uri="{9D8B030D-6E8A-4147-A177-3AD203B41FA5}">
                      <a16:colId xmlns:a16="http://schemas.microsoft.com/office/drawing/2014/main" val="20002"/>
                    </a:ext>
                  </a:extLst>
                </a:gridCol>
                <a:gridCol w="1584960">
                  <a:extLst>
                    <a:ext uri="{9D8B030D-6E8A-4147-A177-3AD203B41FA5}">
                      <a16:colId xmlns:a16="http://schemas.microsoft.com/office/drawing/2014/main" val="20003"/>
                    </a:ext>
                  </a:extLst>
                </a:gridCol>
                <a:gridCol w="1341120">
                  <a:extLst>
                    <a:ext uri="{9D8B030D-6E8A-4147-A177-3AD203B41FA5}">
                      <a16:colId xmlns:a16="http://schemas.microsoft.com/office/drawing/2014/main" val="20004"/>
                    </a:ext>
                  </a:extLst>
                </a:gridCol>
                <a:gridCol w="1438656">
                  <a:extLst>
                    <a:ext uri="{9D8B030D-6E8A-4147-A177-3AD203B41FA5}">
                      <a16:colId xmlns:a16="http://schemas.microsoft.com/office/drawing/2014/main" val="20005"/>
                    </a:ext>
                  </a:extLst>
                </a:gridCol>
                <a:gridCol w="2621280">
                  <a:extLst>
                    <a:ext uri="{9D8B030D-6E8A-4147-A177-3AD203B41FA5}">
                      <a16:colId xmlns:a16="http://schemas.microsoft.com/office/drawing/2014/main" val="20006"/>
                    </a:ext>
                  </a:extLst>
                </a:gridCol>
              </a:tblGrid>
              <a:tr h="414794">
                <a:tc>
                  <a:txBody>
                    <a:bodyPr/>
                    <a:lstStyle/>
                    <a:p>
                      <a:pPr marL="0" indent="0" algn="l">
                        <a:buNone/>
                      </a:pPr>
                      <a:r>
                        <a:rPr lang="en-US" sz="1100" b="1" dirty="0">
                          <a:solidFill>
                            <a:srgbClr val="FFFFFF"/>
                          </a:solidFill>
                        </a:rPr>
                        <a:t>Company</a:t>
                      </a:r>
                      <a:endParaRPr lang="en-US" sz="1100" dirty="0"/>
                    </a:p>
                  </a:txBody>
                  <a:tcPr marL="121920" marR="121920" marT="60960" marB="60960">
                    <a:lnL w="12700" cap="flat" cmpd="sng" algn="ctr">
                      <a:solidFill>
                        <a:schemeClr val="tx1"/>
                      </a:solidFill>
                      <a:prstDash val="solid"/>
                      <a:round/>
                      <a:headEnd type="none" w="med" len="med"/>
                      <a:tailEnd type="none" w="med" len="med"/>
                    </a:lnL>
                    <a:lnR w="3810" cap="flat" cmpd="sng" algn="ctr">
                      <a:solidFill>
                        <a:srgbClr val="D8EAE2"/>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0D1B2A"/>
                    </a:solidFill>
                  </a:tcPr>
                </a:tc>
                <a:tc>
                  <a:txBody>
                    <a:bodyPr/>
                    <a:lstStyle/>
                    <a:p>
                      <a:pPr marL="0" indent="0" algn="ctr">
                        <a:buNone/>
                      </a:pPr>
                      <a:r>
                        <a:rPr lang="en-US" sz="1100" b="1" dirty="0">
                          <a:solidFill>
                            <a:srgbClr val="FFFFFF"/>
                          </a:solidFill>
                        </a:rPr>
                        <a:t>Ticker</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0D1B2A"/>
                    </a:solidFill>
                  </a:tcPr>
                </a:tc>
                <a:tc>
                  <a:txBody>
                    <a:bodyPr/>
                    <a:lstStyle/>
                    <a:p>
                      <a:pPr marL="0" indent="0" algn="ctr">
                        <a:buNone/>
                      </a:pPr>
                      <a:r>
                        <a:rPr lang="en-US" sz="1100" b="1" dirty="0">
                          <a:solidFill>
                            <a:srgbClr val="FFFFFF"/>
                          </a:solidFill>
                        </a:rPr>
                        <a:t>FY2025 Rev</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0D1B2A"/>
                    </a:solidFill>
                  </a:tcPr>
                </a:tc>
                <a:tc>
                  <a:txBody>
                    <a:bodyPr/>
                    <a:lstStyle/>
                    <a:p>
                      <a:pPr marL="0" indent="0" algn="ctr">
                        <a:buNone/>
                      </a:pPr>
                      <a:r>
                        <a:rPr lang="en-US" sz="1100" b="1" dirty="0">
                          <a:solidFill>
                            <a:srgbClr val="FFFFFF"/>
                          </a:solidFill>
                        </a:rPr>
                        <a:t>FY2026E Rev</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0D1B2A"/>
                    </a:solidFill>
                  </a:tcPr>
                </a:tc>
                <a:tc>
                  <a:txBody>
                    <a:bodyPr/>
                    <a:lstStyle/>
                    <a:p>
                      <a:pPr marL="0" indent="0" algn="ctr">
                        <a:buNone/>
                      </a:pPr>
                      <a:r>
                        <a:rPr lang="en-US" sz="1100" b="1" dirty="0">
                          <a:solidFill>
                            <a:srgbClr val="FFFFFF"/>
                          </a:solidFill>
                        </a:rPr>
                        <a:t>NTM P/E</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0D1B2A"/>
                    </a:solidFill>
                  </a:tcPr>
                </a:tc>
                <a:tc>
                  <a:txBody>
                    <a:bodyPr/>
                    <a:lstStyle/>
                    <a:p>
                      <a:pPr marL="0" indent="0" algn="ctr">
                        <a:buNone/>
                      </a:pPr>
                      <a:r>
                        <a:rPr lang="en-US" sz="1100" b="1" dirty="0">
                          <a:solidFill>
                            <a:srgbClr val="FFFFFF"/>
                          </a:solidFill>
                        </a:rPr>
                        <a:t>Rating</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0D1B2A"/>
                    </a:solidFill>
                  </a:tcPr>
                </a:tc>
                <a:tc>
                  <a:txBody>
                    <a:bodyPr/>
                    <a:lstStyle/>
                    <a:p>
                      <a:pPr marL="0" indent="0" algn="ctr">
                        <a:buNone/>
                      </a:pPr>
                      <a:r>
                        <a:rPr lang="en-US" sz="1100" b="1" dirty="0">
                          <a:solidFill>
                            <a:srgbClr val="FFFFFF"/>
                          </a:solidFill>
                        </a:rPr>
                        <a:t>Key Differentiator</a:t>
                      </a:r>
                      <a:endParaRPr lang="en-US" sz="1100" dirty="0"/>
                    </a:p>
                  </a:txBody>
                  <a:tcPr marL="121920" marR="121920" marT="60960" marB="60960">
                    <a:lnL w="3810" cap="flat" cmpd="sng" algn="ctr">
                      <a:solidFill>
                        <a:srgbClr val="D8EAE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414794">
                <a:tc>
                  <a:txBody>
                    <a:bodyPr/>
                    <a:lstStyle/>
                    <a:p>
                      <a:pPr marL="0" indent="0" algn="l">
                        <a:buNone/>
                      </a:pPr>
                      <a:r>
                        <a:rPr lang="en-US" sz="1100" b="1" dirty="0">
                          <a:solidFill>
                            <a:srgbClr val="007A5C"/>
                          </a:solidFill>
                        </a:rPr>
                        <a:t>Robinhood</a:t>
                      </a:r>
                      <a:endParaRPr lang="en-US" sz="1100" dirty="0"/>
                    </a:p>
                  </a:txBody>
                  <a:tcPr marL="121920" marR="121920" marT="60960" marB="60960">
                    <a:lnL w="12700" cap="flat" cmpd="sng" algn="ctr">
                      <a:solidFill>
                        <a:schemeClr val="tx1"/>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E0F5EE"/>
                    </a:solidFill>
                  </a:tcPr>
                </a:tc>
                <a:tc>
                  <a:txBody>
                    <a:bodyPr/>
                    <a:lstStyle/>
                    <a:p>
                      <a:pPr marL="0" indent="0" algn="ctr">
                        <a:buNone/>
                      </a:pPr>
                      <a:r>
                        <a:rPr lang="en-US" sz="1100" b="1" dirty="0">
                          <a:solidFill>
                            <a:srgbClr val="007A5C"/>
                          </a:solidFill>
                        </a:rPr>
                        <a:t>HOOD</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E0F5EE"/>
                    </a:solidFill>
                  </a:tcPr>
                </a:tc>
                <a:tc>
                  <a:txBody>
                    <a:bodyPr/>
                    <a:lstStyle/>
                    <a:p>
                      <a:pPr marL="0" indent="0" algn="ctr">
                        <a:buNone/>
                      </a:pPr>
                      <a:r>
                        <a:rPr lang="en-US" sz="1100" b="1" dirty="0">
                          <a:solidFill>
                            <a:srgbClr val="007A5C"/>
                          </a:solidFill>
                        </a:rPr>
                        <a:t>$4.5B</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E0F5EE"/>
                    </a:solidFill>
                  </a:tcPr>
                </a:tc>
                <a:tc>
                  <a:txBody>
                    <a:bodyPr/>
                    <a:lstStyle/>
                    <a:p>
                      <a:pPr marL="0" indent="0" algn="ctr">
                        <a:buNone/>
                      </a:pPr>
                      <a:r>
                        <a:rPr lang="en-US" sz="1100" b="1" dirty="0">
                          <a:solidFill>
                            <a:srgbClr val="007A5C"/>
                          </a:solidFill>
                        </a:rPr>
                        <a:t>$5.1–5.5B</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E0F5EE"/>
                    </a:solidFill>
                  </a:tcPr>
                </a:tc>
                <a:tc>
                  <a:txBody>
                    <a:bodyPr/>
                    <a:lstStyle/>
                    <a:p>
                      <a:pPr marL="0" indent="0" algn="ctr">
                        <a:buNone/>
                      </a:pPr>
                      <a:r>
                        <a:rPr lang="en-US" sz="1100" b="1" dirty="0">
                          <a:solidFill>
                            <a:srgbClr val="007A5C"/>
                          </a:solidFill>
                        </a:rPr>
                        <a:t>~32x</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E0F5EE"/>
                    </a:solidFill>
                  </a:tcPr>
                </a:tc>
                <a:tc>
                  <a:txBody>
                    <a:bodyPr/>
                    <a:lstStyle/>
                    <a:p>
                      <a:pPr marL="0" indent="0" algn="ctr">
                        <a:buNone/>
                      </a:pPr>
                      <a:r>
                        <a:rPr lang="en-US" sz="1100" b="1" dirty="0">
                          <a:solidFill>
                            <a:srgbClr val="1A7A4A"/>
                          </a:solidFill>
                        </a:rPr>
                        <a:t>Strong Buy</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E0F5EE"/>
                    </a:solidFill>
                  </a:tcPr>
                </a:tc>
                <a:tc>
                  <a:txBody>
                    <a:bodyPr/>
                    <a:lstStyle/>
                    <a:p>
                      <a:pPr marL="0" indent="0" algn="ctr">
                        <a:buNone/>
                      </a:pPr>
                      <a:r>
                        <a:rPr lang="en-US" sz="1100" b="1" dirty="0">
                          <a:solidFill>
                            <a:srgbClr val="007A5C"/>
                          </a:solidFill>
                        </a:rPr>
                        <a:t>SuperApp + Agentic AI + Crypto</a:t>
                      </a:r>
                      <a:endParaRPr lang="en-US" sz="1100" dirty="0"/>
                    </a:p>
                  </a:txBody>
                  <a:tcPr marL="121920" marR="121920" marT="60960" marB="60960">
                    <a:lnL w="3810" cap="flat" cmpd="sng" algn="ctr">
                      <a:solidFill>
                        <a:srgbClr val="D8EAE2"/>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E0F5EE"/>
                    </a:solidFill>
                  </a:tcPr>
                </a:tc>
                <a:extLst>
                  <a:ext uri="{0D108BD9-81ED-4DB2-BD59-A6C34878D82A}">
                    <a16:rowId xmlns:a16="http://schemas.microsoft.com/office/drawing/2014/main" val="10001"/>
                  </a:ext>
                </a:extLst>
              </a:tr>
              <a:tr h="418432">
                <a:tc>
                  <a:txBody>
                    <a:bodyPr/>
                    <a:lstStyle/>
                    <a:p>
                      <a:pPr marL="0" indent="0" algn="l">
                        <a:buNone/>
                      </a:pPr>
                      <a:r>
                        <a:rPr lang="en-US" sz="1100" dirty="0">
                          <a:solidFill>
                            <a:srgbClr val="1A2E3B"/>
                          </a:solidFill>
                        </a:rPr>
                        <a:t>Charles Schwab</a:t>
                      </a:r>
                      <a:endParaRPr lang="en-US" sz="1100" dirty="0"/>
                    </a:p>
                  </a:txBody>
                  <a:tcPr marL="121920" marR="121920" marT="60960" marB="60960">
                    <a:lnL w="12700" cap="flat" cmpd="sng" algn="ctr">
                      <a:solidFill>
                        <a:schemeClr val="tx1"/>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E3B"/>
                          </a:solidFill>
                        </a:rPr>
                        <a:t>SCHW</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E3B"/>
                          </a:solidFill>
                        </a:rPr>
                        <a:t>$19.6B</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E3B"/>
                          </a:solidFill>
                        </a:rPr>
                        <a:t>$20.5B</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E3B"/>
                          </a:solidFill>
                        </a:rPr>
                        <a:t>~22x</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5A7A8A"/>
                          </a:solidFill>
                        </a:rPr>
                        <a:t>Hold</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E3B"/>
                          </a:solidFill>
                        </a:rPr>
                        <a:t>Scale + advisor network + institutional depth</a:t>
                      </a:r>
                      <a:endParaRPr lang="en-US" sz="1100" dirty="0"/>
                    </a:p>
                  </a:txBody>
                  <a:tcPr marL="121920" marR="121920" marT="60960" marB="60960">
                    <a:lnL w="3810" cap="flat" cmpd="sng" algn="ctr">
                      <a:solidFill>
                        <a:srgbClr val="D8EAE2"/>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8432">
                <a:tc>
                  <a:txBody>
                    <a:bodyPr/>
                    <a:lstStyle/>
                    <a:p>
                      <a:pPr marL="0" indent="0" algn="l">
                        <a:buNone/>
                      </a:pPr>
                      <a:r>
                        <a:rPr lang="en-US" sz="1100" dirty="0">
                          <a:solidFill>
                            <a:srgbClr val="1A2E3B"/>
                          </a:solidFill>
                        </a:rPr>
                        <a:t>Coinbase</a:t>
                      </a:r>
                      <a:endParaRPr lang="en-US" sz="1100" dirty="0"/>
                    </a:p>
                  </a:txBody>
                  <a:tcPr marL="121920" marR="121920" marT="60960" marB="60960">
                    <a:lnL w="12700" cap="flat" cmpd="sng" algn="ctr">
                      <a:solidFill>
                        <a:schemeClr val="tx1"/>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8FBFF"/>
                    </a:solidFill>
                  </a:tcPr>
                </a:tc>
                <a:tc>
                  <a:txBody>
                    <a:bodyPr/>
                    <a:lstStyle/>
                    <a:p>
                      <a:pPr marL="0" indent="0" algn="ctr">
                        <a:buNone/>
                      </a:pPr>
                      <a:r>
                        <a:rPr lang="en-US" sz="1100" dirty="0">
                          <a:solidFill>
                            <a:srgbClr val="1A2E3B"/>
                          </a:solidFill>
                        </a:rPr>
                        <a:t>COIN</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8FBFF"/>
                    </a:solidFill>
                  </a:tcPr>
                </a:tc>
                <a:tc>
                  <a:txBody>
                    <a:bodyPr/>
                    <a:lstStyle/>
                    <a:p>
                      <a:pPr marL="0" indent="0" algn="ctr">
                        <a:buNone/>
                      </a:pPr>
                      <a:r>
                        <a:rPr lang="en-US" sz="1100" dirty="0">
                          <a:solidFill>
                            <a:srgbClr val="1A2E3B"/>
                          </a:solidFill>
                        </a:rPr>
                        <a:t>$6.6B</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8FBFF"/>
                    </a:solidFill>
                  </a:tcPr>
                </a:tc>
                <a:tc>
                  <a:txBody>
                    <a:bodyPr/>
                    <a:lstStyle/>
                    <a:p>
                      <a:pPr marL="0" indent="0" algn="ctr">
                        <a:buNone/>
                      </a:pPr>
                      <a:r>
                        <a:rPr lang="en-US" sz="1100" dirty="0">
                          <a:solidFill>
                            <a:srgbClr val="1A2E3B"/>
                          </a:solidFill>
                        </a:rPr>
                        <a:t>$5.5–7B</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8FBFF"/>
                    </a:solidFill>
                  </a:tcPr>
                </a:tc>
                <a:tc>
                  <a:txBody>
                    <a:bodyPr/>
                    <a:lstStyle/>
                    <a:p>
                      <a:pPr marL="0" indent="0" algn="ctr">
                        <a:buNone/>
                      </a:pPr>
                      <a:r>
                        <a:rPr lang="en-US" sz="1100" dirty="0">
                          <a:solidFill>
                            <a:srgbClr val="1A2E3B"/>
                          </a:solidFill>
                        </a:rPr>
                        <a:t>~35x</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8FBFF"/>
                    </a:solidFill>
                  </a:tcPr>
                </a:tc>
                <a:tc>
                  <a:txBody>
                    <a:bodyPr/>
                    <a:lstStyle/>
                    <a:p>
                      <a:pPr marL="0" indent="0" algn="ctr">
                        <a:buNone/>
                      </a:pPr>
                      <a:r>
                        <a:rPr lang="en-US" sz="1100" dirty="0">
                          <a:solidFill>
                            <a:srgbClr val="1A4B8C"/>
                          </a:solidFill>
                        </a:rPr>
                        <a:t>Buy</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8FBFF"/>
                    </a:solidFill>
                  </a:tcPr>
                </a:tc>
                <a:tc>
                  <a:txBody>
                    <a:bodyPr/>
                    <a:lstStyle/>
                    <a:p>
                      <a:pPr marL="0" indent="0" algn="ctr">
                        <a:buNone/>
                      </a:pPr>
                      <a:r>
                        <a:rPr lang="en-US" sz="1100" dirty="0">
                          <a:solidFill>
                            <a:srgbClr val="1A2E3B"/>
                          </a:solidFill>
                        </a:rPr>
                        <a:t>Crypto-native; institutional custody; Base L2</a:t>
                      </a:r>
                      <a:endParaRPr lang="en-US" sz="1100" dirty="0"/>
                    </a:p>
                  </a:txBody>
                  <a:tcPr marL="121920" marR="121920" marT="60960" marB="60960">
                    <a:lnL w="3810" cap="flat" cmpd="sng" algn="ctr">
                      <a:solidFill>
                        <a:srgbClr val="D8EAE2"/>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8FBFF"/>
                    </a:solidFill>
                  </a:tcPr>
                </a:tc>
                <a:extLst>
                  <a:ext uri="{0D108BD9-81ED-4DB2-BD59-A6C34878D82A}">
                    <a16:rowId xmlns:a16="http://schemas.microsoft.com/office/drawing/2014/main" val="10003"/>
                  </a:ext>
                </a:extLst>
              </a:tr>
              <a:tr h="418432">
                <a:tc>
                  <a:txBody>
                    <a:bodyPr/>
                    <a:lstStyle/>
                    <a:p>
                      <a:pPr marL="0" indent="0" algn="l">
                        <a:buNone/>
                      </a:pPr>
                      <a:r>
                        <a:rPr lang="en-US" sz="1100" dirty="0">
                          <a:solidFill>
                            <a:srgbClr val="1A2E3B"/>
                          </a:solidFill>
                        </a:rPr>
                        <a:t>Interactive Brokers</a:t>
                      </a:r>
                      <a:endParaRPr lang="en-US" sz="1100" dirty="0"/>
                    </a:p>
                  </a:txBody>
                  <a:tcPr marL="121920" marR="121920" marT="60960" marB="60960">
                    <a:lnL w="12700" cap="flat" cmpd="sng" algn="ctr">
                      <a:solidFill>
                        <a:schemeClr val="tx1"/>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E3B"/>
                          </a:solidFill>
                        </a:rPr>
                        <a:t>IBKR</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E3B"/>
                          </a:solidFill>
                        </a:rPr>
                        <a:t>$5.3B</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E3B"/>
                          </a:solidFill>
                        </a:rPr>
                        <a:t>$5.8B</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E3B"/>
                          </a:solidFill>
                        </a:rPr>
                        <a:t>~24x</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4B8C"/>
                          </a:solidFill>
                        </a:rPr>
                        <a:t>Buy</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E3B"/>
                          </a:solidFill>
                        </a:rPr>
                        <a:t>Global reach; margin; professional traders</a:t>
                      </a:r>
                      <a:endParaRPr lang="en-US" sz="1100" dirty="0"/>
                    </a:p>
                  </a:txBody>
                  <a:tcPr marL="121920" marR="121920" marT="60960" marB="60960">
                    <a:lnL w="3810" cap="flat" cmpd="sng" algn="ctr">
                      <a:solidFill>
                        <a:srgbClr val="D8EAE2"/>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 cap="flat" cmpd="sng" algn="ctr">
                      <a:solidFill>
                        <a:srgbClr val="D8EAE2"/>
                      </a:solidFill>
                      <a:prstDash val="solid"/>
                      <a:round/>
                      <a:headEnd type="none" w="med" len="med"/>
                      <a:tailEnd type="none" w="med" len="med"/>
                    </a:lnT>
                    <a:lnB w="3810" cap="flat" cmpd="sng" algn="ctr">
                      <a:solidFill>
                        <a:srgbClr val="D8EA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8432">
                <a:tc>
                  <a:txBody>
                    <a:bodyPr/>
                    <a:lstStyle/>
                    <a:p>
                      <a:pPr marL="0" indent="0" algn="l">
                        <a:buNone/>
                      </a:pPr>
                      <a:r>
                        <a:rPr lang="en-US" sz="1100" dirty="0">
                          <a:solidFill>
                            <a:srgbClr val="1A2E3B"/>
                          </a:solidFill>
                        </a:rPr>
                        <a:t>SoFi Technologies</a:t>
                      </a:r>
                      <a:endParaRPr lang="en-US" sz="1100" dirty="0"/>
                    </a:p>
                  </a:txBody>
                  <a:tcPr marL="121920" marR="121920" marT="60960" marB="60960">
                    <a:lnL w="12700" cap="flat" cmpd="sng" algn="ctr">
                      <a:solidFill>
                        <a:schemeClr val="tx1"/>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BFF"/>
                    </a:solidFill>
                  </a:tcPr>
                </a:tc>
                <a:tc>
                  <a:txBody>
                    <a:bodyPr/>
                    <a:lstStyle/>
                    <a:p>
                      <a:pPr marL="0" indent="0" algn="ctr">
                        <a:buNone/>
                      </a:pPr>
                      <a:r>
                        <a:rPr lang="en-US" sz="1100" dirty="0">
                          <a:solidFill>
                            <a:srgbClr val="1A2E3B"/>
                          </a:solidFill>
                        </a:rPr>
                        <a:t>SOFI</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BFF"/>
                    </a:solidFill>
                  </a:tcPr>
                </a:tc>
                <a:tc>
                  <a:txBody>
                    <a:bodyPr/>
                    <a:lstStyle/>
                    <a:p>
                      <a:pPr marL="0" indent="0" algn="ctr">
                        <a:buNone/>
                      </a:pPr>
                      <a:r>
                        <a:rPr lang="en-US" sz="1100" dirty="0">
                          <a:solidFill>
                            <a:srgbClr val="1A2E3B"/>
                          </a:solidFill>
                        </a:rPr>
                        <a:t>$2.7B</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BFF"/>
                    </a:solidFill>
                  </a:tcPr>
                </a:tc>
                <a:tc>
                  <a:txBody>
                    <a:bodyPr/>
                    <a:lstStyle/>
                    <a:p>
                      <a:pPr marL="0" indent="0" algn="ctr">
                        <a:buNone/>
                      </a:pPr>
                      <a:r>
                        <a:rPr lang="en-US" sz="1100" dirty="0">
                          <a:solidFill>
                            <a:srgbClr val="1A2E3B"/>
                          </a:solidFill>
                        </a:rPr>
                        <a:t>$3.1B</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BFF"/>
                    </a:solidFill>
                  </a:tcPr>
                </a:tc>
                <a:tc>
                  <a:txBody>
                    <a:bodyPr/>
                    <a:lstStyle/>
                    <a:p>
                      <a:pPr marL="0" indent="0" algn="ctr">
                        <a:buNone/>
                      </a:pPr>
                      <a:r>
                        <a:rPr lang="en-US" sz="1100" dirty="0">
                          <a:solidFill>
                            <a:srgbClr val="1A2E3B"/>
                          </a:solidFill>
                        </a:rPr>
                        <a:t>~38x</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BFF"/>
                    </a:solidFill>
                  </a:tcPr>
                </a:tc>
                <a:tc>
                  <a:txBody>
                    <a:bodyPr/>
                    <a:lstStyle/>
                    <a:p>
                      <a:pPr marL="0" indent="0" algn="ctr">
                        <a:buNone/>
                      </a:pPr>
                      <a:r>
                        <a:rPr lang="en-US" sz="1100" dirty="0">
                          <a:solidFill>
                            <a:srgbClr val="5A7A8A"/>
                          </a:solidFill>
                        </a:rPr>
                        <a:t>Hold</a:t>
                      </a:r>
                      <a:endParaRPr lang="en-US" sz="1100" dirty="0"/>
                    </a:p>
                  </a:txBody>
                  <a:tcPr marL="121920" marR="121920" marT="60960" marB="60960">
                    <a:lnL w="3810" cap="flat" cmpd="sng" algn="ctr">
                      <a:solidFill>
                        <a:srgbClr val="D8EAE2"/>
                      </a:solidFill>
                      <a:prstDash val="solid"/>
                      <a:round/>
                      <a:headEnd type="none" w="med" len="med"/>
                      <a:tailEnd type="none" w="med" len="med"/>
                    </a:lnL>
                    <a:lnR w="3810" cap="flat" cmpd="sng" algn="ctr">
                      <a:solidFill>
                        <a:srgbClr val="D8EAE2"/>
                      </a:solidFill>
                      <a:prstDash val="solid"/>
                      <a:round/>
                      <a:headEnd type="none" w="med" len="med"/>
                      <a:tailEnd type="none" w="med" len="med"/>
                    </a:lnR>
                    <a:lnT w="3810" cap="flat" cmpd="sng" algn="ctr">
                      <a:solidFill>
                        <a:srgbClr val="D8EAE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BFF"/>
                    </a:solidFill>
                  </a:tcPr>
                </a:tc>
                <a:tc>
                  <a:txBody>
                    <a:bodyPr/>
                    <a:lstStyle/>
                    <a:p>
                      <a:pPr marL="0" indent="0" algn="ctr">
                        <a:buNone/>
                      </a:pPr>
                      <a:r>
                        <a:rPr lang="en-US" sz="1100" dirty="0">
                          <a:solidFill>
                            <a:srgbClr val="1A2E3B"/>
                          </a:solidFill>
                        </a:rPr>
                        <a:t>Banking + loans + investing; lower crypto</a:t>
                      </a:r>
                      <a:endParaRPr lang="en-US" sz="1100" dirty="0"/>
                    </a:p>
                  </a:txBody>
                  <a:tcPr marL="121920" marR="121920" marT="60960" marB="60960">
                    <a:lnL w="3810" cap="flat" cmpd="sng" algn="ctr">
                      <a:solidFill>
                        <a:srgbClr val="D8EAE2"/>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 cap="flat" cmpd="sng" algn="ctr">
                      <a:solidFill>
                        <a:srgbClr val="D8EAE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BFF"/>
                    </a:solidFill>
                  </a:tcPr>
                </a:tc>
                <a:extLst>
                  <a:ext uri="{0D108BD9-81ED-4DB2-BD59-A6C34878D82A}">
                    <a16:rowId xmlns:a16="http://schemas.microsoft.com/office/drawing/2014/main" val="10005"/>
                  </a:ext>
                </a:extLst>
              </a:tr>
            </a:tbl>
          </a:graphicData>
        </a:graphic>
      </p:graphicFrame>
      <p:sp>
        <p:nvSpPr>
          <p:cNvPr id="23" name="Shape 20"/>
          <p:cNvSpPr/>
          <p:nvPr/>
        </p:nvSpPr>
        <p:spPr>
          <a:xfrm>
            <a:off x="268224" y="4736387"/>
            <a:ext cx="11704320" cy="2064756"/>
          </a:xfrm>
          <a:prstGeom prst="rect">
            <a:avLst/>
          </a:prstGeom>
          <a:solidFill>
            <a:srgbClr val="FFFFFF"/>
          </a:solidFill>
          <a:ln>
            <a:solidFill>
              <a:schemeClr val="tx1"/>
            </a:solidFill>
          </a:ln>
          <a:effectLst>
            <a:outerShdw blurRad="63500" dist="25400" dir="8100000" algn="bl" rotWithShape="0">
              <a:srgbClr val="000000">
                <a:alpha val="7000"/>
              </a:srgbClr>
            </a:outerShdw>
          </a:effectLst>
        </p:spPr>
        <p:txBody>
          <a:bodyPr/>
          <a:lstStyle/>
          <a:p>
            <a:endParaRPr lang="en-IN"/>
          </a:p>
        </p:txBody>
      </p:sp>
      <p:sp>
        <p:nvSpPr>
          <p:cNvPr id="24" name="Shape 21"/>
          <p:cNvSpPr/>
          <p:nvPr/>
        </p:nvSpPr>
        <p:spPr>
          <a:xfrm>
            <a:off x="257950" y="4740633"/>
            <a:ext cx="107810" cy="2064755"/>
          </a:xfrm>
          <a:prstGeom prst="rect">
            <a:avLst/>
          </a:prstGeom>
          <a:solidFill>
            <a:srgbClr val="00C896"/>
          </a:solidFill>
          <a:ln/>
        </p:spPr>
      </p:sp>
      <p:sp>
        <p:nvSpPr>
          <p:cNvPr id="25" name="Text 22"/>
          <p:cNvSpPr/>
          <p:nvPr/>
        </p:nvSpPr>
        <p:spPr>
          <a:xfrm>
            <a:off x="487680" y="4732142"/>
            <a:ext cx="11338560" cy="341376"/>
          </a:xfrm>
          <a:prstGeom prst="rect">
            <a:avLst/>
          </a:prstGeom>
          <a:noFill/>
          <a:ln/>
        </p:spPr>
        <p:txBody>
          <a:bodyPr wrap="square" lIns="0" tIns="0" rIns="0" bIns="0" rtlCol="0" anchor="ctr"/>
          <a:lstStyle/>
          <a:p>
            <a:r>
              <a:rPr lang="en-US" sz="1400" b="1" dirty="0">
                <a:solidFill>
                  <a:srgbClr val="0D1B2A"/>
                </a:solidFill>
              </a:rPr>
              <a:t>KEY VALUATION INSIGHT</a:t>
            </a:r>
            <a:endParaRPr lang="en-US" sz="1400" dirty="0"/>
          </a:p>
        </p:txBody>
      </p:sp>
      <p:sp>
        <p:nvSpPr>
          <p:cNvPr id="26" name="Text 23"/>
          <p:cNvSpPr/>
          <p:nvPr/>
        </p:nvSpPr>
        <p:spPr>
          <a:xfrm>
            <a:off x="487680" y="5010013"/>
            <a:ext cx="11338560" cy="1780032"/>
          </a:xfrm>
          <a:prstGeom prst="rect">
            <a:avLst/>
          </a:prstGeom>
          <a:noFill/>
          <a:ln/>
        </p:spPr>
        <p:txBody>
          <a:bodyPr wrap="square" lIns="0" tIns="0" rIns="0" bIns="0" rtlCol="0" anchor="ctr"/>
          <a:lstStyle/>
          <a:p>
            <a:r>
              <a:rPr lang="en-US" sz="1400" dirty="0">
                <a:solidFill>
                  <a:srgbClr val="1A2E3B"/>
                </a:solidFill>
              </a:rPr>
              <a:t>Robinhood at ~$90/share trades at ~32x FY2026E earnings — a premium to Schwab (22x) and IBKR (24x) but a discount to Coinbase (35x) and peak SoFi (38x). The premium vs legacy brokers is justified IF: (1) Gold subscriber growth sustains 25–30% CAGR, (2) Agentic AI meaningfully inflects ARPU beyond $200, and (3) net deposits continue $60B+ annual pace.</a:t>
            </a:r>
            <a:endParaRPr lang="en-US" sz="1400" dirty="0"/>
          </a:p>
          <a:p>
            <a:endParaRPr lang="en-US" sz="1400" dirty="0"/>
          </a:p>
          <a:p>
            <a:r>
              <a:rPr lang="en-US" sz="1400" dirty="0">
                <a:solidFill>
                  <a:srgbClr val="1A2E3B"/>
                </a:solidFill>
              </a:rPr>
              <a:t>The key risk is multiple compression. A single guidance cut — like Novo Nordisk's 50% stock fall in 2025 on one bad quarter — could compress HOOD from 32x to 18–20x FY P/E, implying 40%+ downside. HOOD is not a 'safe' large-cap — it is a high-octane growth bet with asymmetric payoffs in both directions. Morningstar's $52 fair value (narrow moat, 18x earnings) represents the bear case if agentic AI / tokenization fails to materialize.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55904"/>
          </a:xfrm>
          <a:prstGeom prst="rect">
            <a:avLst/>
          </a:prstGeom>
          <a:solidFill>
            <a:srgbClr val="0D1B2A"/>
          </a:solidFill>
          <a:ln/>
        </p:spPr>
      </p:sp>
      <p:sp>
        <p:nvSpPr>
          <p:cNvPr id="3" name="Text 1"/>
          <p:cNvSpPr/>
          <p:nvPr/>
        </p:nvSpPr>
        <p:spPr>
          <a:xfrm>
            <a:off x="365760" y="0"/>
            <a:ext cx="11582400" cy="755904"/>
          </a:xfrm>
          <a:prstGeom prst="rect">
            <a:avLst/>
          </a:prstGeom>
          <a:noFill/>
          <a:ln/>
        </p:spPr>
        <p:txBody>
          <a:bodyPr wrap="square" lIns="0" tIns="0" rIns="0" bIns="0" rtlCol="0" anchor="ctr"/>
          <a:lstStyle/>
          <a:p>
            <a:r>
              <a:rPr lang="en-US" sz="1467" b="1" dirty="0">
                <a:solidFill>
                  <a:srgbClr val="FFFFFF"/>
                </a:solidFill>
              </a:rPr>
              <a:t>SECTION 11: INVESTOR RESEARCH CHECKLIST &amp; KEY MONITORING ITEMS</a:t>
            </a:r>
            <a:endParaRPr lang="en-US" sz="1467" dirty="0"/>
          </a:p>
        </p:txBody>
      </p:sp>
      <p:sp>
        <p:nvSpPr>
          <p:cNvPr id="4" name="Text 2"/>
          <p:cNvSpPr/>
          <p:nvPr/>
        </p:nvSpPr>
        <p:spPr>
          <a:xfrm>
            <a:off x="365760" y="0"/>
            <a:ext cx="11582400" cy="755904"/>
          </a:xfrm>
          <a:prstGeom prst="rect">
            <a:avLst/>
          </a:prstGeom>
          <a:noFill/>
          <a:ln/>
        </p:spPr>
        <p:txBody>
          <a:bodyPr wrap="square" lIns="0" tIns="0" rIns="0" bIns="0" rtlCol="0" anchor="ctr"/>
          <a:lstStyle/>
          <a:p>
            <a:pPr algn="r"/>
            <a:r>
              <a:rPr lang="en-US" sz="1200" i="1" dirty="0">
                <a:solidFill>
                  <a:srgbClr val="00C896"/>
                </a:solidFill>
              </a:rPr>
              <a:t>What to track every quarter before conviction can be maintained or increased</a:t>
            </a:r>
            <a:endParaRPr lang="en-US" sz="1200" dirty="0"/>
          </a:p>
        </p:txBody>
      </p:sp>
      <p:sp>
        <p:nvSpPr>
          <p:cNvPr id="5" name="Shape 3"/>
          <p:cNvSpPr/>
          <p:nvPr/>
        </p:nvSpPr>
        <p:spPr>
          <a:xfrm>
            <a:off x="268224" y="877824"/>
            <a:ext cx="5730240" cy="2779776"/>
          </a:xfrm>
          <a:prstGeom prst="rect">
            <a:avLst/>
          </a:prstGeom>
          <a:solidFill>
            <a:srgbClr val="F4F9F7"/>
          </a:solidFill>
          <a:ln>
            <a:solidFill>
              <a:schemeClr val="tx1"/>
            </a:solidFill>
          </a:ln>
          <a:effectLst>
            <a:outerShdw blurRad="50800" dist="12700" dir="8100000" algn="bl" rotWithShape="0">
              <a:srgbClr val="000000">
                <a:alpha val="6000"/>
              </a:srgbClr>
            </a:outerShdw>
          </a:effectLst>
        </p:spPr>
      </p:sp>
      <p:sp>
        <p:nvSpPr>
          <p:cNvPr id="6" name="Shape 4"/>
          <p:cNvSpPr/>
          <p:nvPr/>
        </p:nvSpPr>
        <p:spPr>
          <a:xfrm>
            <a:off x="268224" y="877824"/>
            <a:ext cx="5730240" cy="487680"/>
          </a:xfrm>
          <a:prstGeom prst="rect">
            <a:avLst/>
          </a:prstGeom>
          <a:solidFill>
            <a:srgbClr val="007A5C"/>
          </a:solidFill>
          <a:ln/>
        </p:spPr>
      </p:sp>
      <p:sp>
        <p:nvSpPr>
          <p:cNvPr id="7" name="Text 5"/>
          <p:cNvSpPr/>
          <p:nvPr/>
        </p:nvSpPr>
        <p:spPr>
          <a:xfrm>
            <a:off x="414528" y="877824"/>
            <a:ext cx="5437632" cy="487680"/>
          </a:xfrm>
          <a:prstGeom prst="rect">
            <a:avLst/>
          </a:prstGeom>
          <a:noFill/>
          <a:ln/>
        </p:spPr>
        <p:txBody>
          <a:bodyPr wrap="square" lIns="0" tIns="0" rIns="0" bIns="0" rtlCol="0" anchor="ctr"/>
          <a:lstStyle/>
          <a:p>
            <a:r>
              <a:rPr lang="en-US" sz="1333" b="1" dirty="0">
                <a:solidFill>
                  <a:srgbClr val="FFFFFF"/>
                </a:solidFill>
              </a:rPr>
              <a:t>Q2 2026 Earnings Metrics</a:t>
            </a:r>
            <a:endParaRPr lang="en-US" sz="1333" dirty="0"/>
          </a:p>
        </p:txBody>
      </p:sp>
      <p:sp>
        <p:nvSpPr>
          <p:cNvPr id="8" name="Text 6"/>
          <p:cNvSpPr/>
          <p:nvPr/>
        </p:nvSpPr>
        <p:spPr>
          <a:xfrm>
            <a:off x="414528" y="1438656"/>
            <a:ext cx="5486400" cy="341376"/>
          </a:xfrm>
          <a:prstGeom prst="rect">
            <a:avLst/>
          </a:prstGeom>
          <a:noFill/>
          <a:ln/>
        </p:spPr>
        <p:txBody>
          <a:bodyPr wrap="square" lIns="0" tIns="0" rIns="0" bIns="0" rtlCol="0" anchor="ctr"/>
          <a:lstStyle/>
          <a:p>
            <a:pPr marL="457189" indent="-457189">
              <a:buSzPct val="100000"/>
              <a:buChar char="•"/>
            </a:pPr>
            <a:r>
              <a:rPr lang="en-US" sz="1133" dirty="0">
                <a:solidFill>
                  <a:srgbClr val="1A2E3B"/>
                </a:solidFill>
              </a:rPr>
              <a:t>Revenue vs $1.25–1.35B Q2 consensus — is H2 on track?</a:t>
            </a:r>
            <a:endParaRPr lang="en-US" sz="1133" dirty="0"/>
          </a:p>
        </p:txBody>
      </p:sp>
      <p:sp>
        <p:nvSpPr>
          <p:cNvPr id="9" name="Text 7"/>
          <p:cNvSpPr/>
          <p:nvPr/>
        </p:nvSpPr>
        <p:spPr>
          <a:xfrm>
            <a:off x="414528" y="1804416"/>
            <a:ext cx="5486400" cy="341376"/>
          </a:xfrm>
          <a:prstGeom prst="rect">
            <a:avLst/>
          </a:prstGeom>
          <a:noFill/>
          <a:ln/>
        </p:spPr>
        <p:txBody>
          <a:bodyPr wrap="square" lIns="0" tIns="0" rIns="0" bIns="0" rtlCol="0" anchor="ctr"/>
          <a:lstStyle/>
          <a:p>
            <a:pPr marL="457189" indent="-457189">
              <a:buSzPct val="100000"/>
              <a:buChar char="•"/>
            </a:pPr>
            <a:r>
              <a:rPr lang="en-US" sz="1133" dirty="0">
                <a:solidFill>
                  <a:srgbClr val="1A2E3B"/>
                </a:solidFill>
              </a:rPr>
              <a:t>Gold subscriber additions: is 5M trajectory holding?</a:t>
            </a:r>
            <a:endParaRPr lang="en-US" sz="1133" dirty="0"/>
          </a:p>
        </p:txBody>
      </p:sp>
      <p:sp>
        <p:nvSpPr>
          <p:cNvPr id="10" name="Text 8"/>
          <p:cNvSpPr/>
          <p:nvPr/>
        </p:nvSpPr>
        <p:spPr>
          <a:xfrm>
            <a:off x="414528" y="2170176"/>
            <a:ext cx="5486400" cy="341376"/>
          </a:xfrm>
          <a:prstGeom prst="rect">
            <a:avLst/>
          </a:prstGeom>
          <a:noFill/>
          <a:ln/>
        </p:spPr>
        <p:txBody>
          <a:bodyPr wrap="square" lIns="0" tIns="0" rIns="0" bIns="0" rtlCol="0" anchor="ctr"/>
          <a:lstStyle/>
          <a:p>
            <a:pPr marL="457189" indent="-457189">
              <a:buSzPct val="100000"/>
              <a:buChar char="•"/>
            </a:pPr>
            <a:r>
              <a:rPr lang="en-US" sz="1133" dirty="0">
                <a:solidFill>
                  <a:srgbClr val="1A2E3B"/>
                </a:solidFill>
              </a:rPr>
              <a:t>Net deposits annualized rate: sustaining 25%+ of AUM?</a:t>
            </a:r>
            <a:endParaRPr lang="en-US" sz="1133" dirty="0"/>
          </a:p>
        </p:txBody>
      </p:sp>
      <p:sp>
        <p:nvSpPr>
          <p:cNvPr id="11" name="Text 9"/>
          <p:cNvSpPr/>
          <p:nvPr/>
        </p:nvSpPr>
        <p:spPr>
          <a:xfrm>
            <a:off x="414528" y="2535936"/>
            <a:ext cx="5486400" cy="341376"/>
          </a:xfrm>
          <a:prstGeom prst="rect">
            <a:avLst/>
          </a:prstGeom>
          <a:noFill/>
          <a:ln/>
        </p:spPr>
        <p:txBody>
          <a:bodyPr wrap="square" lIns="0" tIns="0" rIns="0" bIns="0" rtlCol="0" anchor="ctr"/>
          <a:lstStyle/>
          <a:p>
            <a:pPr marL="457189" indent="-457189">
              <a:buSzPct val="100000"/>
              <a:buChar char="•"/>
            </a:pPr>
            <a:r>
              <a:rPr lang="en-US" sz="1133" dirty="0">
                <a:solidFill>
                  <a:srgbClr val="1A2E3B"/>
                </a:solidFill>
              </a:rPr>
              <a:t>ARPU trend: base case requires $200+ by Q4 2026</a:t>
            </a:r>
            <a:endParaRPr lang="en-US" sz="1133" dirty="0"/>
          </a:p>
        </p:txBody>
      </p:sp>
      <p:sp>
        <p:nvSpPr>
          <p:cNvPr id="12" name="Text 10"/>
          <p:cNvSpPr/>
          <p:nvPr/>
        </p:nvSpPr>
        <p:spPr>
          <a:xfrm>
            <a:off x="414528" y="2901696"/>
            <a:ext cx="5486400" cy="341376"/>
          </a:xfrm>
          <a:prstGeom prst="rect">
            <a:avLst/>
          </a:prstGeom>
          <a:noFill/>
          <a:ln/>
        </p:spPr>
        <p:txBody>
          <a:bodyPr wrap="square" lIns="0" tIns="0" rIns="0" bIns="0" rtlCol="0" anchor="ctr"/>
          <a:lstStyle/>
          <a:p>
            <a:pPr marL="457189" indent="-457189">
              <a:buSzPct val="100000"/>
              <a:buChar char="•"/>
            </a:pPr>
            <a:r>
              <a:rPr lang="en-US" sz="1133" dirty="0">
                <a:solidFill>
                  <a:srgbClr val="1A2E3B"/>
                </a:solidFill>
              </a:rPr>
              <a:t>Full-year guidance reiterated or raised — critical signal</a:t>
            </a:r>
            <a:endParaRPr lang="en-US" sz="1133" dirty="0"/>
          </a:p>
        </p:txBody>
      </p:sp>
      <p:sp>
        <p:nvSpPr>
          <p:cNvPr id="13" name="Text 11"/>
          <p:cNvSpPr/>
          <p:nvPr/>
        </p:nvSpPr>
        <p:spPr>
          <a:xfrm>
            <a:off x="414528" y="3267456"/>
            <a:ext cx="5486400" cy="341376"/>
          </a:xfrm>
          <a:prstGeom prst="rect">
            <a:avLst/>
          </a:prstGeom>
          <a:noFill/>
          <a:ln/>
        </p:spPr>
        <p:txBody>
          <a:bodyPr wrap="square" lIns="0" tIns="0" rIns="0" bIns="0" rtlCol="0" anchor="ctr"/>
          <a:lstStyle/>
          <a:p>
            <a:pPr marL="457189" indent="-457189">
              <a:buSzPct val="100000"/>
              <a:buChar char="•"/>
            </a:pPr>
            <a:r>
              <a:rPr lang="en-US" sz="1133" dirty="0">
                <a:solidFill>
                  <a:srgbClr val="1A2E3B"/>
                </a:solidFill>
              </a:rPr>
              <a:t>Agentic trading user adoption metrics — beta → GA timeline</a:t>
            </a:r>
            <a:endParaRPr lang="en-US" sz="1133" dirty="0"/>
          </a:p>
        </p:txBody>
      </p:sp>
      <p:sp>
        <p:nvSpPr>
          <p:cNvPr id="14" name="Shape 12"/>
          <p:cNvSpPr/>
          <p:nvPr/>
        </p:nvSpPr>
        <p:spPr>
          <a:xfrm>
            <a:off x="6242304" y="877824"/>
            <a:ext cx="5730240" cy="2779776"/>
          </a:xfrm>
          <a:prstGeom prst="rect">
            <a:avLst/>
          </a:prstGeom>
          <a:solidFill>
            <a:srgbClr val="F4F9F7"/>
          </a:solidFill>
          <a:ln>
            <a:solidFill>
              <a:schemeClr val="tx1"/>
            </a:solidFill>
          </a:ln>
          <a:effectLst>
            <a:outerShdw blurRad="50800" dist="12700" dir="8100000" algn="bl" rotWithShape="0">
              <a:srgbClr val="000000">
                <a:alpha val="6000"/>
              </a:srgbClr>
            </a:outerShdw>
          </a:effectLst>
        </p:spPr>
      </p:sp>
      <p:sp>
        <p:nvSpPr>
          <p:cNvPr id="15" name="Shape 13"/>
          <p:cNvSpPr/>
          <p:nvPr/>
        </p:nvSpPr>
        <p:spPr>
          <a:xfrm>
            <a:off x="6242304" y="877824"/>
            <a:ext cx="5730240" cy="487680"/>
          </a:xfrm>
          <a:prstGeom prst="rect">
            <a:avLst/>
          </a:prstGeom>
          <a:solidFill>
            <a:srgbClr val="7B3FAE"/>
          </a:solidFill>
          <a:ln/>
        </p:spPr>
      </p:sp>
      <p:sp>
        <p:nvSpPr>
          <p:cNvPr id="16" name="Text 14"/>
          <p:cNvSpPr/>
          <p:nvPr/>
        </p:nvSpPr>
        <p:spPr>
          <a:xfrm>
            <a:off x="6388608" y="877824"/>
            <a:ext cx="5437632" cy="487680"/>
          </a:xfrm>
          <a:prstGeom prst="rect">
            <a:avLst/>
          </a:prstGeom>
          <a:noFill/>
          <a:ln/>
        </p:spPr>
        <p:txBody>
          <a:bodyPr wrap="square" lIns="0" tIns="0" rIns="0" bIns="0" rtlCol="0" anchor="ctr"/>
          <a:lstStyle/>
          <a:p>
            <a:r>
              <a:rPr lang="en-US" sz="1333" b="1" dirty="0">
                <a:solidFill>
                  <a:srgbClr val="FFFFFF"/>
                </a:solidFill>
              </a:rPr>
              <a:t>Platform &amp; Product Monitoring</a:t>
            </a:r>
            <a:endParaRPr lang="en-US" sz="1333" dirty="0"/>
          </a:p>
        </p:txBody>
      </p:sp>
      <p:sp>
        <p:nvSpPr>
          <p:cNvPr id="17" name="Text 15"/>
          <p:cNvSpPr/>
          <p:nvPr/>
        </p:nvSpPr>
        <p:spPr>
          <a:xfrm>
            <a:off x="6388608" y="1438656"/>
            <a:ext cx="5486400" cy="341376"/>
          </a:xfrm>
          <a:prstGeom prst="rect">
            <a:avLst/>
          </a:prstGeom>
          <a:noFill/>
          <a:ln/>
        </p:spPr>
        <p:txBody>
          <a:bodyPr wrap="square" lIns="0" tIns="0" rIns="0" bIns="0" rtlCol="0" anchor="ctr"/>
          <a:lstStyle/>
          <a:p>
            <a:pPr marL="457189" indent="-457189">
              <a:buSzPct val="100000"/>
              <a:buChar char="•"/>
            </a:pPr>
            <a:r>
              <a:rPr lang="en-US" sz="1133" dirty="0">
                <a:solidFill>
                  <a:srgbClr val="1A2E3B"/>
                </a:solidFill>
              </a:rPr>
              <a:t>Robinhood Banking launch — July 4 rollout, chequing adoption rate</a:t>
            </a:r>
            <a:endParaRPr lang="en-US" sz="1133" dirty="0"/>
          </a:p>
        </p:txBody>
      </p:sp>
      <p:sp>
        <p:nvSpPr>
          <p:cNvPr id="18" name="Text 16"/>
          <p:cNvSpPr/>
          <p:nvPr/>
        </p:nvSpPr>
        <p:spPr>
          <a:xfrm>
            <a:off x="6388608" y="1804416"/>
            <a:ext cx="5486400" cy="341376"/>
          </a:xfrm>
          <a:prstGeom prst="rect">
            <a:avLst/>
          </a:prstGeom>
          <a:noFill/>
          <a:ln/>
        </p:spPr>
        <p:txBody>
          <a:bodyPr wrap="square" lIns="0" tIns="0" rIns="0" bIns="0" rtlCol="0" anchor="ctr"/>
          <a:lstStyle/>
          <a:p>
            <a:pPr marL="457189" indent="-457189">
              <a:buSzPct val="100000"/>
              <a:buChar char="•"/>
            </a:pPr>
            <a:r>
              <a:rPr lang="en-US" sz="1133" dirty="0">
                <a:solidFill>
                  <a:srgbClr val="1A2E3B"/>
                </a:solidFill>
              </a:rPr>
              <a:t>Tokenized stocks EU launch — SEC / FINRA feedback timeline</a:t>
            </a:r>
            <a:endParaRPr lang="en-US" sz="1133" dirty="0"/>
          </a:p>
        </p:txBody>
      </p:sp>
      <p:sp>
        <p:nvSpPr>
          <p:cNvPr id="19" name="Text 17"/>
          <p:cNvSpPr/>
          <p:nvPr/>
        </p:nvSpPr>
        <p:spPr>
          <a:xfrm>
            <a:off x="6388608" y="2170176"/>
            <a:ext cx="5486400" cy="341376"/>
          </a:xfrm>
          <a:prstGeom prst="rect">
            <a:avLst/>
          </a:prstGeom>
          <a:noFill/>
          <a:ln/>
        </p:spPr>
        <p:txBody>
          <a:bodyPr wrap="square" lIns="0" tIns="0" rIns="0" bIns="0" rtlCol="0" anchor="ctr"/>
          <a:lstStyle/>
          <a:p>
            <a:pPr marL="457189" indent="-457189">
              <a:buSzPct val="100000"/>
              <a:buChar char="•"/>
            </a:pPr>
            <a:r>
              <a:rPr lang="en-US" sz="1133" dirty="0">
                <a:solidFill>
                  <a:srgbClr val="1A2E3B"/>
                </a:solidFill>
              </a:rPr>
              <a:t>Trump Accounts partner metrics — funded accounts from program</a:t>
            </a:r>
            <a:endParaRPr lang="en-US" sz="1133" dirty="0"/>
          </a:p>
        </p:txBody>
      </p:sp>
      <p:sp>
        <p:nvSpPr>
          <p:cNvPr id="20" name="Text 18"/>
          <p:cNvSpPr/>
          <p:nvPr/>
        </p:nvSpPr>
        <p:spPr>
          <a:xfrm>
            <a:off x="6388608" y="2535936"/>
            <a:ext cx="5486400" cy="341376"/>
          </a:xfrm>
          <a:prstGeom prst="rect">
            <a:avLst/>
          </a:prstGeom>
          <a:noFill/>
          <a:ln/>
        </p:spPr>
        <p:txBody>
          <a:bodyPr wrap="square" lIns="0" tIns="0" rIns="0" bIns="0" rtlCol="0" anchor="ctr"/>
          <a:lstStyle/>
          <a:p>
            <a:pPr marL="457189" indent="-457189">
              <a:buSzPct val="100000"/>
              <a:buChar char="•"/>
            </a:pPr>
            <a:r>
              <a:rPr lang="en-US" sz="1133" dirty="0">
                <a:solidFill>
                  <a:srgbClr val="1A2E3B"/>
                </a:solidFill>
              </a:rPr>
              <a:t>TradePMR RIA AUA growth: targeting $60B+ by end 2026</a:t>
            </a:r>
            <a:endParaRPr lang="en-US" sz="1133" dirty="0"/>
          </a:p>
        </p:txBody>
      </p:sp>
      <p:sp>
        <p:nvSpPr>
          <p:cNvPr id="21" name="Text 19"/>
          <p:cNvSpPr/>
          <p:nvPr/>
        </p:nvSpPr>
        <p:spPr>
          <a:xfrm>
            <a:off x="6388608" y="2901696"/>
            <a:ext cx="5486400" cy="341376"/>
          </a:xfrm>
          <a:prstGeom prst="rect">
            <a:avLst/>
          </a:prstGeom>
          <a:noFill/>
          <a:ln/>
        </p:spPr>
        <p:txBody>
          <a:bodyPr wrap="square" lIns="0" tIns="0" rIns="0" bIns="0" rtlCol="0" anchor="ctr"/>
          <a:lstStyle/>
          <a:p>
            <a:pPr marL="457189" indent="-457189">
              <a:buSzPct val="100000"/>
              <a:buChar char="•"/>
            </a:pPr>
            <a:r>
              <a:rPr lang="en-US" sz="1133" dirty="0">
                <a:solidFill>
                  <a:srgbClr val="1A2E3B"/>
                </a:solidFill>
              </a:rPr>
              <a:t>Bitstamp integration: institutional volume contribution to revenue</a:t>
            </a:r>
            <a:endParaRPr lang="en-US" sz="1133" dirty="0"/>
          </a:p>
        </p:txBody>
      </p:sp>
      <p:sp>
        <p:nvSpPr>
          <p:cNvPr id="22" name="Text 20"/>
          <p:cNvSpPr/>
          <p:nvPr/>
        </p:nvSpPr>
        <p:spPr>
          <a:xfrm>
            <a:off x="6388608" y="3267456"/>
            <a:ext cx="5486400" cy="341376"/>
          </a:xfrm>
          <a:prstGeom prst="rect">
            <a:avLst/>
          </a:prstGeom>
          <a:noFill/>
          <a:ln/>
        </p:spPr>
        <p:txBody>
          <a:bodyPr wrap="square" lIns="0" tIns="0" rIns="0" bIns="0" rtlCol="0" anchor="ctr"/>
          <a:lstStyle/>
          <a:p>
            <a:pPr marL="457189" indent="-457189">
              <a:buSzPct val="100000"/>
              <a:buChar char="•"/>
            </a:pPr>
            <a:r>
              <a:rPr lang="en-US" sz="1133" dirty="0">
                <a:solidFill>
                  <a:srgbClr val="1A2E3B"/>
                </a:solidFill>
              </a:rPr>
              <a:t>Agentic Credit Card early adoption — spend volume, credit quality</a:t>
            </a:r>
            <a:endParaRPr lang="en-US" sz="1133" dirty="0"/>
          </a:p>
        </p:txBody>
      </p:sp>
      <p:sp>
        <p:nvSpPr>
          <p:cNvPr id="23" name="Shape 21"/>
          <p:cNvSpPr/>
          <p:nvPr/>
        </p:nvSpPr>
        <p:spPr>
          <a:xfrm>
            <a:off x="268224" y="3779520"/>
            <a:ext cx="5730240" cy="2779776"/>
          </a:xfrm>
          <a:prstGeom prst="rect">
            <a:avLst/>
          </a:prstGeom>
          <a:solidFill>
            <a:srgbClr val="F4F9F7"/>
          </a:solidFill>
          <a:ln>
            <a:solidFill>
              <a:schemeClr val="tx1"/>
            </a:solidFill>
          </a:ln>
          <a:effectLst>
            <a:outerShdw blurRad="50800" dist="12700" dir="8100000" algn="bl" rotWithShape="0">
              <a:srgbClr val="000000">
                <a:alpha val="6000"/>
              </a:srgbClr>
            </a:outerShdw>
          </a:effectLst>
        </p:spPr>
      </p:sp>
      <p:sp>
        <p:nvSpPr>
          <p:cNvPr id="24" name="Shape 22"/>
          <p:cNvSpPr/>
          <p:nvPr/>
        </p:nvSpPr>
        <p:spPr>
          <a:xfrm>
            <a:off x="268224" y="3779520"/>
            <a:ext cx="5730240" cy="487680"/>
          </a:xfrm>
          <a:prstGeom prst="rect">
            <a:avLst/>
          </a:prstGeom>
          <a:solidFill>
            <a:srgbClr val="B05020"/>
          </a:solidFill>
          <a:ln/>
        </p:spPr>
      </p:sp>
      <p:sp>
        <p:nvSpPr>
          <p:cNvPr id="25" name="Text 23"/>
          <p:cNvSpPr/>
          <p:nvPr/>
        </p:nvSpPr>
        <p:spPr>
          <a:xfrm>
            <a:off x="414528" y="3779520"/>
            <a:ext cx="5437632" cy="487680"/>
          </a:xfrm>
          <a:prstGeom prst="rect">
            <a:avLst/>
          </a:prstGeom>
          <a:noFill/>
          <a:ln/>
        </p:spPr>
        <p:txBody>
          <a:bodyPr wrap="square" lIns="0" tIns="0" rIns="0" bIns="0" rtlCol="0" anchor="ctr"/>
          <a:lstStyle/>
          <a:p>
            <a:r>
              <a:rPr lang="en-US" sz="1333" b="1" dirty="0">
                <a:solidFill>
                  <a:srgbClr val="FFFFFF"/>
                </a:solidFill>
              </a:rPr>
              <a:t>Regulatory &amp; Policy Watchlist</a:t>
            </a:r>
            <a:endParaRPr lang="en-US" sz="1333" dirty="0"/>
          </a:p>
        </p:txBody>
      </p:sp>
      <p:sp>
        <p:nvSpPr>
          <p:cNvPr id="26" name="Text 24"/>
          <p:cNvSpPr/>
          <p:nvPr/>
        </p:nvSpPr>
        <p:spPr>
          <a:xfrm>
            <a:off x="414528" y="4340352"/>
            <a:ext cx="5486400" cy="341376"/>
          </a:xfrm>
          <a:prstGeom prst="rect">
            <a:avLst/>
          </a:prstGeom>
          <a:noFill/>
          <a:ln/>
        </p:spPr>
        <p:txBody>
          <a:bodyPr wrap="square" lIns="0" tIns="0" rIns="0" bIns="0" rtlCol="0" anchor="ctr"/>
          <a:lstStyle/>
          <a:p>
            <a:pPr marL="457189" indent="-457189">
              <a:buSzPct val="100000"/>
              <a:buChar char="•"/>
            </a:pPr>
            <a:r>
              <a:rPr lang="en-US" sz="1133" dirty="0">
                <a:solidFill>
                  <a:srgbClr val="1A2E3B"/>
                </a:solidFill>
              </a:rPr>
              <a:t>SEC PFOF rulemaking — any new proposals or enforcement actions</a:t>
            </a:r>
            <a:endParaRPr lang="en-US" sz="1133" dirty="0"/>
          </a:p>
        </p:txBody>
      </p:sp>
      <p:sp>
        <p:nvSpPr>
          <p:cNvPr id="27" name="Text 25"/>
          <p:cNvSpPr/>
          <p:nvPr/>
        </p:nvSpPr>
        <p:spPr>
          <a:xfrm>
            <a:off x="414528" y="4706112"/>
            <a:ext cx="5486400" cy="341376"/>
          </a:xfrm>
          <a:prstGeom prst="rect">
            <a:avLst/>
          </a:prstGeom>
          <a:noFill/>
          <a:ln/>
        </p:spPr>
        <p:txBody>
          <a:bodyPr wrap="square" lIns="0" tIns="0" rIns="0" bIns="0" rtlCol="0" anchor="ctr"/>
          <a:lstStyle/>
          <a:p>
            <a:pPr marL="457189" indent="-457189">
              <a:buSzPct val="100000"/>
              <a:buChar char="•"/>
            </a:pPr>
            <a:r>
              <a:rPr lang="en-US" sz="1133" dirty="0">
                <a:solidFill>
                  <a:srgbClr val="1A2E3B"/>
                </a:solidFill>
              </a:rPr>
              <a:t>FINRA agentic trading guidance — liability framework for AI orders</a:t>
            </a:r>
            <a:endParaRPr lang="en-US" sz="1133" dirty="0"/>
          </a:p>
        </p:txBody>
      </p:sp>
      <p:sp>
        <p:nvSpPr>
          <p:cNvPr id="28" name="Text 26"/>
          <p:cNvSpPr/>
          <p:nvPr/>
        </p:nvSpPr>
        <p:spPr>
          <a:xfrm>
            <a:off x="414528" y="5071872"/>
            <a:ext cx="5486400" cy="341376"/>
          </a:xfrm>
          <a:prstGeom prst="rect">
            <a:avLst/>
          </a:prstGeom>
          <a:noFill/>
          <a:ln/>
        </p:spPr>
        <p:txBody>
          <a:bodyPr wrap="square" lIns="0" tIns="0" rIns="0" bIns="0" rtlCol="0" anchor="ctr"/>
          <a:lstStyle/>
          <a:p>
            <a:pPr marL="457189" indent="-457189">
              <a:buSzPct val="100000"/>
              <a:buChar char="•"/>
            </a:pPr>
            <a:r>
              <a:rPr lang="en-US" sz="1133" dirty="0">
                <a:solidFill>
                  <a:srgbClr val="1A2E3B"/>
                </a:solidFill>
              </a:rPr>
              <a:t>Crypto regulation (CLARITY Act implementation) — helps or hurts?</a:t>
            </a:r>
            <a:endParaRPr lang="en-US" sz="1133" dirty="0"/>
          </a:p>
        </p:txBody>
      </p:sp>
      <p:sp>
        <p:nvSpPr>
          <p:cNvPr id="29" name="Text 27"/>
          <p:cNvSpPr/>
          <p:nvPr/>
        </p:nvSpPr>
        <p:spPr>
          <a:xfrm>
            <a:off x="414528" y="5437632"/>
            <a:ext cx="5486400" cy="341376"/>
          </a:xfrm>
          <a:prstGeom prst="rect">
            <a:avLst/>
          </a:prstGeom>
          <a:noFill/>
          <a:ln/>
        </p:spPr>
        <p:txBody>
          <a:bodyPr wrap="square" lIns="0" tIns="0" rIns="0" bIns="0" rtlCol="0" anchor="ctr"/>
          <a:lstStyle/>
          <a:p>
            <a:pPr marL="457189" indent="-457189">
              <a:buSzPct val="100000"/>
              <a:buChar char="•"/>
            </a:pPr>
            <a:r>
              <a:rPr lang="en-US" sz="1133" dirty="0">
                <a:solidFill>
                  <a:srgbClr val="1A2E3B"/>
                </a:solidFill>
              </a:rPr>
              <a:t>PDT rule elimination implementation — drives active trader flows</a:t>
            </a:r>
            <a:endParaRPr lang="en-US" sz="1133" dirty="0"/>
          </a:p>
        </p:txBody>
      </p:sp>
      <p:sp>
        <p:nvSpPr>
          <p:cNvPr id="30" name="Text 28"/>
          <p:cNvSpPr/>
          <p:nvPr/>
        </p:nvSpPr>
        <p:spPr>
          <a:xfrm>
            <a:off x="414528" y="5803392"/>
            <a:ext cx="5486400" cy="341376"/>
          </a:xfrm>
          <a:prstGeom prst="rect">
            <a:avLst/>
          </a:prstGeom>
          <a:noFill/>
          <a:ln/>
        </p:spPr>
        <p:txBody>
          <a:bodyPr wrap="square" lIns="0" tIns="0" rIns="0" bIns="0" rtlCol="0" anchor="ctr"/>
          <a:lstStyle/>
          <a:p>
            <a:pPr marL="457189" indent="-457189">
              <a:buSzPct val="100000"/>
              <a:buChar char="•"/>
            </a:pPr>
            <a:r>
              <a:rPr lang="en-US" sz="1133" dirty="0">
                <a:solidFill>
                  <a:srgbClr val="1A2E3B"/>
                </a:solidFill>
              </a:rPr>
              <a:t>Supreme Court IPO lawsuit ruling — potential liability exposure</a:t>
            </a:r>
            <a:endParaRPr lang="en-US" sz="1133" dirty="0"/>
          </a:p>
        </p:txBody>
      </p:sp>
      <p:sp>
        <p:nvSpPr>
          <p:cNvPr id="31" name="Text 29"/>
          <p:cNvSpPr/>
          <p:nvPr/>
        </p:nvSpPr>
        <p:spPr>
          <a:xfrm>
            <a:off x="414528" y="6169152"/>
            <a:ext cx="5486400" cy="341376"/>
          </a:xfrm>
          <a:prstGeom prst="rect">
            <a:avLst/>
          </a:prstGeom>
          <a:noFill/>
          <a:ln/>
        </p:spPr>
        <p:txBody>
          <a:bodyPr wrap="square" lIns="0" tIns="0" rIns="0" bIns="0" rtlCol="0" anchor="ctr"/>
          <a:lstStyle/>
          <a:p>
            <a:pPr marL="457189" indent="-457189">
              <a:buSzPct val="100000"/>
              <a:buChar char="•"/>
            </a:pPr>
            <a:r>
              <a:rPr lang="en-US" sz="1133" dirty="0">
                <a:solidFill>
                  <a:srgbClr val="1A2E3B"/>
                </a:solidFill>
              </a:rPr>
              <a:t>Canada/WonderFi integration — FINTRAC compliance clearance</a:t>
            </a:r>
            <a:endParaRPr lang="en-US" sz="1133" dirty="0"/>
          </a:p>
        </p:txBody>
      </p:sp>
      <p:sp>
        <p:nvSpPr>
          <p:cNvPr id="32" name="Shape 30"/>
          <p:cNvSpPr/>
          <p:nvPr/>
        </p:nvSpPr>
        <p:spPr>
          <a:xfrm>
            <a:off x="6242304" y="3779520"/>
            <a:ext cx="5730240" cy="2779776"/>
          </a:xfrm>
          <a:prstGeom prst="rect">
            <a:avLst/>
          </a:prstGeom>
          <a:solidFill>
            <a:srgbClr val="F4F9F7"/>
          </a:solidFill>
          <a:ln>
            <a:solidFill>
              <a:schemeClr val="tx1"/>
            </a:solidFill>
          </a:ln>
          <a:effectLst>
            <a:outerShdw blurRad="50800" dist="12700" dir="8100000" algn="bl" rotWithShape="0">
              <a:srgbClr val="000000">
                <a:alpha val="6000"/>
              </a:srgbClr>
            </a:outerShdw>
          </a:effectLst>
        </p:spPr>
      </p:sp>
      <p:sp>
        <p:nvSpPr>
          <p:cNvPr id="33" name="Shape 31"/>
          <p:cNvSpPr/>
          <p:nvPr/>
        </p:nvSpPr>
        <p:spPr>
          <a:xfrm>
            <a:off x="6242304" y="3779520"/>
            <a:ext cx="5730240" cy="487680"/>
          </a:xfrm>
          <a:prstGeom prst="rect">
            <a:avLst/>
          </a:prstGeom>
          <a:solidFill>
            <a:srgbClr val="1A4B8C"/>
          </a:solidFill>
          <a:ln/>
        </p:spPr>
      </p:sp>
      <p:sp>
        <p:nvSpPr>
          <p:cNvPr id="34" name="Text 32"/>
          <p:cNvSpPr/>
          <p:nvPr/>
        </p:nvSpPr>
        <p:spPr>
          <a:xfrm>
            <a:off x="6388608" y="3779520"/>
            <a:ext cx="5437632" cy="487680"/>
          </a:xfrm>
          <a:prstGeom prst="rect">
            <a:avLst/>
          </a:prstGeom>
          <a:noFill/>
          <a:ln/>
        </p:spPr>
        <p:txBody>
          <a:bodyPr wrap="square" lIns="0" tIns="0" rIns="0" bIns="0" rtlCol="0" anchor="ctr"/>
          <a:lstStyle/>
          <a:p>
            <a:r>
              <a:rPr lang="en-US" sz="1333" b="1" dirty="0">
                <a:solidFill>
                  <a:srgbClr val="FFFFFF"/>
                </a:solidFill>
              </a:rPr>
              <a:t>Capital Allocation &amp; Balance Sheet</a:t>
            </a:r>
            <a:endParaRPr lang="en-US" sz="1333" dirty="0"/>
          </a:p>
        </p:txBody>
      </p:sp>
      <p:sp>
        <p:nvSpPr>
          <p:cNvPr id="35" name="Text 33"/>
          <p:cNvSpPr/>
          <p:nvPr/>
        </p:nvSpPr>
        <p:spPr>
          <a:xfrm>
            <a:off x="6388608" y="4340352"/>
            <a:ext cx="5486400" cy="341376"/>
          </a:xfrm>
          <a:prstGeom prst="rect">
            <a:avLst/>
          </a:prstGeom>
          <a:noFill/>
          <a:ln/>
        </p:spPr>
        <p:txBody>
          <a:bodyPr wrap="square" lIns="0" tIns="0" rIns="0" bIns="0" rtlCol="0" anchor="ctr"/>
          <a:lstStyle/>
          <a:p>
            <a:pPr marL="457189" indent="-457189">
              <a:buSzPct val="100000"/>
              <a:buChar char="•"/>
            </a:pPr>
            <a:r>
              <a:rPr lang="en-US" sz="1133" dirty="0">
                <a:solidFill>
                  <a:srgbClr val="1A2E3B"/>
                </a:solidFill>
              </a:rPr>
              <a:t>Share buyback pace: tracking toward ~$1B annual authorization</a:t>
            </a:r>
            <a:endParaRPr lang="en-US" sz="1133" dirty="0"/>
          </a:p>
        </p:txBody>
      </p:sp>
      <p:sp>
        <p:nvSpPr>
          <p:cNvPr id="36" name="Text 34"/>
          <p:cNvSpPr/>
          <p:nvPr/>
        </p:nvSpPr>
        <p:spPr>
          <a:xfrm>
            <a:off x="6388608" y="4706112"/>
            <a:ext cx="5486400" cy="341376"/>
          </a:xfrm>
          <a:prstGeom prst="rect">
            <a:avLst/>
          </a:prstGeom>
          <a:noFill/>
          <a:ln/>
        </p:spPr>
        <p:txBody>
          <a:bodyPr wrap="square" lIns="0" tIns="0" rIns="0" bIns="0" rtlCol="0" anchor="ctr"/>
          <a:lstStyle/>
          <a:p>
            <a:pPr marL="457189" indent="-457189">
              <a:buSzPct val="100000"/>
              <a:buChar char="•"/>
            </a:pPr>
            <a:r>
              <a:rPr lang="en-US" sz="1133" dirty="0">
                <a:solidFill>
                  <a:srgbClr val="1A2E3B"/>
                </a:solidFill>
              </a:rPr>
              <a:t>Cash position: $4.3B (Q3 2025) — M&amp;A pipeline vs return of capital</a:t>
            </a:r>
            <a:endParaRPr lang="en-US" sz="1133" dirty="0"/>
          </a:p>
        </p:txBody>
      </p:sp>
      <p:sp>
        <p:nvSpPr>
          <p:cNvPr id="37" name="Text 35"/>
          <p:cNvSpPr/>
          <p:nvPr/>
        </p:nvSpPr>
        <p:spPr>
          <a:xfrm>
            <a:off x="6388608" y="5071872"/>
            <a:ext cx="5486400" cy="341376"/>
          </a:xfrm>
          <a:prstGeom prst="rect">
            <a:avLst/>
          </a:prstGeom>
          <a:noFill/>
          <a:ln/>
        </p:spPr>
        <p:txBody>
          <a:bodyPr wrap="square" lIns="0" tIns="0" rIns="0" bIns="0" rtlCol="0" anchor="ctr"/>
          <a:lstStyle/>
          <a:p>
            <a:pPr marL="457189" indent="-457189">
              <a:buSzPct val="100000"/>
              <a:buChar char="•"/>
            </a:pPr>
            <a:r>
              <a:rPr lang="en-US" sz="1133" dirty="0">
                <a:solidFill>
                  <a:srgbClr val="1A2E3B"/>
                </a:solidFill>
              </a:rPr>
              <a:t>Insider selling activity: Tenev/Bhatt concentrated selling signals</a:t>
            </a:r>
            <a:endParaRPr lang="en-US" sz="1133" dirty="0"/>
          </a:p>
        </p:txBody>
      </p:sp>
      <p:sp>
        <p:nvSpPr>
          <p:cNvPr id="38" name="Text 36"/>
          <p:cNvSpPr/>
          <p:nvPr/>
        </p:nvSpPr>
        <p:spPr>
          <a:xfrm>
            <a:off x="6388608" y="5437632"/>
            <a:ext cx="5486400" cy="341376"/>
          </a:xfrm>
          <a:prstGeom prst="rect">
            <a:avLst/>
          </a:prstGeom>
          <a:noFill/>
          <a:ln/>
        </p:spPr>
        <p:txBody>
          <a:bodyPr wrap="square" lIns="0" tIns="0" rIns="0" bIns="0" rtlCol="0" anchor="ctr"/>
          <a:lstStyle/>
          <a:p>
            <a:pPr marL="457189" indent="-457189">
              <a:buSzPct val="100000"/>
              <a:buChar char="•"/>
            </a:pPr>
            <a:r>
              <a:rPr lang="en-US" sz="1133" dirty="0">
                <a:solidFill>
                  <a:srgbClr val="1A2E3B"/>
                </a:solidFill>
              </a:rPr>
              <a:t>Margin book quality: credit losses from margin lending in volatile markets</a:t>
            </a:r>
            <a:endParaRPr lang="en-US" sz="1133" dirty="0"/>
          </a:p>
        </p:txBody>
      </p:sp>
      <p:sp>
        <p:nvSpPr>
          <p:cNvPr id="39" name="Text 37"/>
          <p:cNvSpPr/>
          <p:nvPr/>
        </p:nvSpPr>
        <p:spPr>
          <a:xfrm>
            <a:off x="6388608" y="5803392"/>
            <a:ext cx="5486400" cy="341376"/>
          </a:xfrm>
          <a:prstGeom prst="rect">
            <a:avLst/>
          </a:prstGeom>
          <a:noFill/>
          <a:ln/>
        </p:spPr>
        <p:txBody>
          <a:bodyPr wrap="square" lIns="0" tIns="0" rIns="0" bIns="0" rtlCol="0" anchor="ctr"/>
          <a:lstStyle/>
          <a:p>
            <a:pPr marL="457189" indent="-457189">
              <a:buSzPct val="100000"/>
              <a:buChar char="•"/>
            </a:pPr>
            <a:r>
              <a:rPr lang="en-US" sz="1133" dirty="0">
                <a:solidFill>
                  <a:srgbClr val="1A2E3B"/>
                </a:solidFill>
              </a:rPr>
              <a:t>Operating leverage: adj. EBITDA margin expanding beyond 48%?</a:t>
            </a:r>
            <a:endParaRPr lang="en-US" sz="1133" dirty="0"/>
          </a:p>
        </p:txBody>
      </p:sp>
      <p:sp>
        <p:nvSpPr>
          <p:cNvPr id="40" name="Text 38"/>
          <p:cNvSpPr/>
          <p:nvPr/>
        </p:nvSpPr>
        <p:spPr>
          <a:xfrm>
            <a:off x="6388608" y="6169152"/>
            <a:ext cx="5486400" cy="341376"/>
          </a:xfrm>
          <a:prstGeom prst="rect">
            <a:avLst/>
          </a:prstGeom>
          <a:noFill/>
          <a:ln/>
        </p:spPr>
        <p:txBody>
          <a:bodyPr wrap="square" lIns="0" tIns="0" rIns="0" bIns="0" rtlCol="0" anchor="ctr"/>
          <a:lstStyle/>
          <a:p>
            <a:pPr marL="457189" indent="-457189">
              <a:buSzPct val="100000"/>
              <a:buChar char="•"/>
            </a:pPr>
            <a:r>
              <a:rPr lang="en-US" sz="1133" dirty="0">
                <a:solidFill>
                  <a:srgbClr val="1A2E3B"/>
                </a:solidFill>
              </a:rPr>
              <a:t>New M&amp;A: any additional RIA, crypto, or international acquisitions</a:t>
            </a:r>
            <a:endParaRPr lang="en-US" sz="1133" dirty="0"/>
          </a:p>
        </p:txBody>
      </p:sp>
      <p:sp>
        <p:nvSpPr>
          <p:cNvPr id="41" name="Shape 39"/>
          <p:cNvSpPr/>
          <p:nvPr/>
        </p:nvSpPr>
        <p:spPr>
          <a:xfrm>
            <a:off x="268224" y="6461760"/>
            <a:ext cx="11704320" cy="329184"/>
          </a:xfrm>
          <a:prstGeom prst="rect">
            <a:avLst/>
          </a:prstGeom>
          <a:solidFill>
            <a:srgbClr val="0D1B2A"/>
          </a:solidFill>
          <a:ln/>
        </p:spPr>
      </p:sp>
      <p:sp>
        <p:nvSpPr>
          <p:cNvPr id="42" name="Text 40"/>
          <p:cNvSpPr/>
          <p:nvPr/>
        </p:nvSpPr>
        <p:spPr>
          <a:xfrm>
            <a:off x="365760" y="6461760"/>
            <a:ext cx="11460480" cy="329184"/>
          </a:xfrm>
          <a:prstGeom prst="rect">
            <a:avLst/>
          </a:prstGeom>
          <a:noFill/>
          <a:ln/>
        </p:spPr>
        <p:txBody>
          <a:bodyPr wrap="square" lIns="0" tIns="0" rIns="0" bIns="0" rtlCol="0" anchor="ctr"/>
          <a:lstStyle/>
          <a:p>
            <a:r>
              <a:rPr lang="en-US" sz="1100" b="1" dirty="0">
                <a:solidFill>
                  <a:srgbClr val="00C896"/>
                </a:solidFill>
              </a:rPr>
              <a:t>CRITICAL NEAR-TERM CATALYST: Q2 2026 earnings (~July/August 2026). Agentic trading GA launch + Gold 5M milestone + net deposit trajectory = triple re-rating triggers if all hit simultaneously.</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hape 0">
            <a:extLst>
              <a:ext uri="{FF2B5EF4-FFF2-40B4-BE49-F238E27FC236}">
                <a16:creationId xmlns:a16="http://schemas.microsoft.com/office/drawing/2014/main" id="{76DB42BB-C02B-FEA7-1E25-C019381094F2}"/>
              </a:ext>
            </a:extLst>
          </p:cNvPr>
          <p:cNvSpPr/>
          <p:nvPr/>
        </p:nvSpPr>
        <p:spPr>
          <a:xfrm>
            <a:off x="0" y="0"/>
            <a:ext cx="12192000" cy="646176"/>
          </a:xfrm>
          <a:prstGeom prst="rect">
            <a:avLst/>
          </a:prstGeom>
          <a:solidFill>
            <a:srgbClr val="0D1B2A"/>
          </a:solidFill>
          <a:ln/>
        </p:spPr>
      </p:sp>
      <p:sp>
        <p:nvSpPr>
          <p:cNvPr id="2" name="Shape 0"/>
          <p:cNvSpPr/>
          <p:nvPr/>
        </p:nvSpPr>
        <p:spPr>
          <a:xfrm>
            <a:off x="0" y="0"/>
            <a:ext cx="146304" cy="6858000"/>
          </a:xfrm>
          <a:prstGeom prst="rect">
            <a:avLst/>
          </a:prstGeom>
          <a:solidFill>
            <a:srgbClr val="00C896"/>
          </a:solidFill>
          <a:ln/>
        </p:spPr>
      </p:sp>
      <p:sp>
        <p:nvSpPr>
          <p:cNvPr id="3" name="Text 1"/>
          <p:cNvSpPr/>
          <p:nvPr/>
        </p:nvSpPr>
        <p:spPr>
          <a:xfrm>
            <a:off x="365760" y="143737"/>
            <a:ext cx="11582400" cy="426720"/>
          </a:xfrm>
          <a:prstGeom prst="rect">
            <a:avLst/>
          </a:prstGeom>
          <a:noFill/>
          <a:ln/>
        </p:spPr>
        <p:txBody>
          <a:bodyPr wrap="square" lIns="0" tIns="0" rIns="0" bIns="0" rtlCol="0" anchor="ctr"/>
          <a:lstStyle/>
          <a:p>
            <a:r>
              <a:rPr lang="en-US" sz="2133" b="1" dirty="0">
                <a:solidFill>
                  <a:srgbClr val="FFFFFF"/>
                </a:solidFill>
                <a:latin typeface="Georgia" pitchFamily="34" charset="0"/>
                <a:ea typeface="Georgia" pitchFamily="34" charset="-122"/>
                <a:cs typeface="Georgia" pitchFamily="34" charset="-120"/>
              </a:rPr>
              <a:t>ROBINHOOD MARKETS — SUMMARY VIEW</a:t>
            </a:r>
            <a:endParaRPr lang="en-US" sz="2133" dirty="0"/>
          </a:p>
        </p:txBody>
      </p:sp>
      <p:sp>
        <p:nvSpPr>
          <p:cNvPr id="4" name="Shape 2"/>
          <p:cNvSpPr/>
          <p:nvPr/>
        </p:nvSpPr>
        <p:spPr>
          <a:xfrm>
            <a:off x="365760" y="755904"/>
            <a:ext cx="11460480" cy="1072896"/>
          </a:xfrm>
          <a:prstGeom prst="rect">
            <a:avLst/>
          </a:prstGeom>
          <a:solidFill>
            <a:srgbClr val="1B3A5C"/>
          </a:solidFill>
          <a:ln/>
        </p:spPr>
      </p:sp>
      <p:sp>
        <p:nvSpPr>
          <p:cNvPr id="5" name="Shape 3"/>
          <p:cNvSpPr/>
          <p:nvPr/>
        </p:nvSpPr>
        <p:spPr>
          <a:xfrm>
            <a:off x="365760" y="755904"/>
            <a:ext cx="1926336" cy="1072896"/>
          </a:xfrm>
          <a:prstGeom prst="rect">
            <a:avLst/>
          </a:prstGeom>
          <a:solidFill>
            <a:srgbClr val="007A5C"/>
          </a:solidFill>
          <a:ln/>
        </p:spPr>
      </p:sp>
      <p:sp>
        <p:nvSpPr>
          <p:cNvPr id="6" name="Text 4"/>
          <p:cNvSpPr/>
          <p:nvPr/>
        </p:nvSpPr>
        <p:spPr>
          <a:xfrm>
            <a:off x="365760" y="755904"/>
            <a:ext cx="1926336" cy="1072896"/>
          </a:xfrm>
          <a:prstGeom prst="rect">
            <a:avLst/>
          </a:prstGeom>
          <a:noFill/>
          <a:ln/>
        </p:spPr>
        <p:txBody>
          <a:bodyPr wrap="square" lIns="0" tIns="0" rIns="0" bIns="0" rtlCol="0" anchor="ctr"/>
          <a:lstStyle/>
          <a:p>
            <a:pPr algn="ctr"/>
            <a:r>
              <a:rPr lang="en-US" sz="1133" b="1" dirty="0">
                <a:solidFill>
                  <a:srgbClr val="FFFFFF"/>
                </a:solidFill>
              </a:rPr>
              <a:t>ONE-LINE THESIS</a:t>
            </a:r>
            <a:endParaRPr lang="en-US" sz="1133" dirty="0"/>
          </a:p>
        </p:txBody>
      </p:sp>
      <p:sp>
        <p:nvSpPr>
          <p:cNvPr id="7" name="Text 5"/>
          <p:cNvSpPr/>
          <p:nvPr/>
        </p:nvSpPr>
        <p:spPr>
          <a:xfrm>
            <a:off x="2414016" y="877824"/>
            <a:ext cx="9326880" cy="853440"/>
          </a:xfrm>
          <a:prstGeom prst="rect">
            <a:avLst/>
          </a:prstGeom>
          <a:noFill/>
          <a:ln/>
        </p:spPr>
        <p:txBody>
          <a:bodyPr wrap="square" lIns="0" tIns="0" rIns="0" bIns="0" rtlCol="0" anchor="ctr"/>
          <a:lstStyle/>
          <a:p>
            <a:r>
              <a:rPr lang="en-US" sz="1600" dirty="0">
                <a:solidFill>
                  <a:schemeClr val="bg1"/>
                </a:solidFill>
              </a:rPr>
              <a:t>Robinhood is the dominant mobile-first brokerage for the wealth-transfer generation, pivoting from a meme-stock platform to a full-stack Financial SuperApp — with Gold subscriptions, agentic AI, crypto custody, and RIA wealth management all converging on one platform.</a:t>
            </a:r>
          </a:p>
        </p:txBody>
      </p:sp>
      <p:sp>
        <p:nvSpPr>
          <p:cNvPr id="8" name="Shape 6"/>
          <p:cNvSpPr/>
          <p:nvPr/>
        </p:nvSpPr>
        <p:spPr>
          <a:xfrm>
            <a:off x="365760" y="1926336"/>
            <a:ext cx="11460480" cy="1072896"/>
          </a:xfrm>
          <a:prstGeom prst="rect">
            <a:avLst/>
          </a:prstGeom>
          <a:solidFill>
            <a:srgbClr val="1B3A5C"/>
          </a:solidFill>
          <a:ln/>
        </p:spPr>
      </p:sp>
      <p:sp>
        <p:nvSpPr>
          <p:cNvPr id="9" name="Shape 7"/>
          <p:cNvSpPr/>
          <p:nvPr/>
        </p:nvSpPr>
        <p:spPr>
          <a:xfrm>
            <a:off x="365760" y="1926336"/>
            <a:ext cx="1926336" cy="1072896"/>
          </a:xfrm>
          <a:prstGeom prst="rect">
            <a:avLst/>
          </a:prstGeom>
          <a:solidFill>
            <a:srgbClr val="7B3FAE"/>
          </a:solidFill>
          <a:ln/>
        </p:spPr>
      </p:sp>
      <p:sp>
        <p:nvSpPr>
          <p:cNvPr id="10" name="Text 8"/>
          <p:cNvSpPr/>
          <p:nvPr/>
        </p:nvSpPr>
        <p:spPr>
          <a:xfrm>
            <a:off x="365760" y="1926336"/>
            <a:ext cx="1926336" cy="1072896"/>
          </a:xfrm>
          <a:prstGeom prst="rect">
            <a:avLst/>
          </a:prstGeom>
          <a:noFill/>
          <a:ln/>
        </p:spPr>
        <p:txBody>
          <a:bodyPr wrap="square" lIns="0" tIns="0" rIns="0" bIns="0" rtlCol="0" anchor="ctr"/>
          <a:lstStyle/>
          <a:p>
            <a:pPr algn="ctr"/>
            <a:r>
              <a:rPr lang="en-US" sz="1133" b="1" dirty="0">
                <a:solidFill>
                  <a:srgbClr val="FFFFFF"/>
                </a:solidFill>
              </a:rPr>
              <a:t>WHY IT'S DIFFERENT</a:t>
            </a:r>
            <a:endParaRPr lang="en-US" sz="1133" dirty="0"/>
          </a:p>
        </p:txBody>
      </p:sp>
      <p:sp>
        <p:nvSpPr>
          <p:cNvPr id="11" name="Text 9"/>
          <p:cNvSpPr/>
          <p:nvPr/>
        </p:nvSpPr>
        <p:spPr>
          <a:xfrm>
            <a:off x="2414016" y="2048256"/>
            <a:ext cx="9326880" cy="853440"/>
          </a:xfrm>
          <a:prstGeom prst="rect">
            <a:avLst/>
          </a:prstGeom>
          <a:noFill/>
          <a:ln/>
        </p:spPr>
        <p:txBody>
          <a:bodyPr wrap="square" lIns="0" tIns="0" rIns="0" bIns="0" rtlCol="0" anchor="ctr"/>
          <a:lstStyle/>
          <a:p>
            <a:r>
              <a:rPr lang="en-US" sz="1600" dirty="0">
                <a:solidFill>
                  <a:schemeClr val="bg1"/>
                </a:solidFill>
              </a:rPr>
              <a:t>Unlike Schwab/Fidelity (desktop-first, advisor-centric, legacy), Robinhood is the only platform with regulated equities + crypto + agentic AI + 24/7 trading + RIA custody in a mobile-native experience designed for 25–45 year-olds. Unlike Coinbase, it's also a full broker. Unlike SoFi, it has crypto-native scale and a real options business.</a:t>
            </a:r>
          </a:p>
        </p:txBody>
      </p:sp>
      <p:sp>
        <p:nvSpPr>
          <p:cNvPr id="12" name="Shape 10"/>
          <p:cNvSpPr/>
          <p:nvPr/>
        </p:nvSpPr>
        <p:spPr>
          <a:xfrm>
            <a:off x="365760" y="3096768"/>
            <a:ext cx="11460480" cy="1072896"/>
          </a:xfrm>
          <a:prstGeom prst="rect">
            <a:avLst/>
          </a:prstGeom>
          <a:solidFill>
            <a:srgbClr val="1B3A5C"/>
          </a:solidFill>
          <a:ln/>
        </p:spPr>
      </p:sp>
      <p:sp>
        <p:nvSpPr>
          <p:cNvPr id="13" name="Shape 11"/>
          <p:cNvSpPr/>
          <p:nvPr/>
        </p:nvSpPr>
        <p:spPr>
          <a:xfrm>
            <a:off x="365760" y="3096768"/>
            <a:ext cx="1926336" cy="1072896"/>
          </a:xfrm>
          <a:prstGeom prst="rect">
            <a:avLst/>
          </a:prstGeom>
          <a:solidFill>
            <a:srgbClr val="1A6B4A"/>
          </a:solidFill>
          <a:ln/>
        </p:spPr>
      </p:sp>
      <p:sp>
        <p:nvSpPr>
          <p:cNvPr id="14" name="Text 12"/>
          <p:cNvSpPr/>
          <p:nvPr/>
        </p:nvSpPr>
        <p:spPr>
          <a:xfrm>
            <a:off x="365760" y="3096768"/>
            <a:ext cx="1926336" cy="1072896"/>
          </a:xfrm>
          <a:prstGeom prst="rect">
            <a:avLst/>
          </a:prstGeom>
          <a:noFill/>
          <a:ln/>
        </p:spPr>
        <p:txBody>
          <a:bodyPr wrap="square" lIns="0" tIns="0" rIns="0" bIns="0" rtlCol="0" anchor="ctr"/>
          <a:lstStyle/>
          <a:p>
            <a:pPr algn="ctr"/>
            <a:r>
              <a:rPr lang="en-US" sz="1133" b="1" dirty="0">
                <a:solidFill>
                  <a:srgbClr val="FFFFFF"/>
                </a:solidFill>
              </a:rPr>
              <a:t>WHAT WE LIKE</a:t>
            </a:r>
            <a:endParaRPr lang="en-US" sz="1133" dirty="0"/>
          </a:p>
        </p:txBody>
      </p:sp>
      <p:sp>
        <p:nvSpPr>
          <p:cNvPr id="15" name="Text 13"/>
          <p:cNvSpPr/>
          <p:nvPr/>
        </p:nvSpPr>
        <p:spPr>
          <a:xfrm>
            <a:off x="2414016" y="3218688"/>
            <a:ext cx="9326880" cy="853440"/>
          </a:xfrm>
          <a:prstGeom prst="rect">
            <a:avLst/>
          </a:prstGeom>
          <a:noFill/>
          <a:ln/>
        </p:spPr>
        <p:txBody>
          <a:bodyPr wrap="square" lIns="0" tIns="0" rIns="0" bIns="0" rtlCol="0" anchor="ctr"/>
          <a:lstStyle/>
          <a:p>
            <a:r>
              <a:rPr lang="en-US" sz="1600" dirty="0">
                <a:solidFill>
                  <a:schemeClr val="bg1"/>
                </a:solidFill>
              </a:rPr>
              <a:t>$4.5B FY2025 revenue growing 52% YoY · $1.88B net income — first fully profitable year · 4.3M Gold subscribers at 36% YoY growth · $68B net deposits in FY2025 · First-mover agentic AI trading · TradePMR RIA platform bridges retail → wealth management · Bitstamp gives EU crypto license and institutional custody · Trump Accounts partnership = free customer acquisition.</a:t>
            </a:r>
          </a:p>
        </p:txBody>
      </p:sp>
      <p:sp>
        <p:nvSpPr>
          <p:cNvPr id="16" name="Shape 14"/>
          <p:cNvSpPr/>
          <p:nvPr/>
        </p:nvSpPr>
        <p:spPr>
          <a:xfrm>
            <a:off x="365760" y="4267200"/>
            <a:ext cx="11460480" cy="1072896"/>
          </a:xfrm>
          <a:prstGeom prst="rect">
            <a:avLst/>
          </a:prstGeom>
          <a:solidFill>
            <a:srgbClr val="1B3A5C"/>
          </a:solidFill>
          <a:ln/>
        </p:spPr>
      </p:sp>
      <p:sp>
        <p:nvSpPr>
          <p:cNvPr id="17" name="Shape 15"/>
          <p:cNvSpPr/>
          <p:nvPr/>
        </p:nvSpPr>
        <p:spPr>
          <a:xfrm>
            <a:off x="365760" y="4267200"/>
            <a:ext cx="1926336" cy="1072896"/>
          </a:xfrm>
          <a:prstGeom prst="rect">
            <a:avLst/>
          </a:prstGeom>
          <a:solidFill>
            <a:srgbClr val="8C4A1A"/>
          </a:solidFill>
          <a:ln/>
        </p:spPr>
      </p:sp>
      <p:sp>
        <p:nvSpPr>
          <p:cNvPr id="18" name="Text 16"/>
          <p:cNvSpPr/>
          <p:nvPr/>
        </p:nvSpPr>
        <p:spPr>
          <a:xfrm>
            <a:off x="365760" y="4267200"/>
            <a:ext cx="1926336" cy="1072896"/>
          </a:xfrm>
          <a:prstGeom prst="rect">
            <a:avLst/>
          </a:prstGeom>
          <a:noFill/>
          <a:ln/>
        </p:spPr>
        <p:txBody>
          <a:bodyPr wrap="square" lIns="0" tIns="0" rIns="0" bIns="0" rtlCol="0" anchor="ctr"/>
          <a:lstStyle/>
          <a:p>
            <a:pPr algn="ctr"/>
            <a:r>
              <a:rPr lang="en-US" sz="1133" b="1" dirty="0">
                <a:solidFill>
                  <a:srgbClr val="FFFFFF"/>
                </a:solidFill>
              </a:rPr>
              <a:t>WHAT WORRIES US</a:t>
            </a:r>
            <a:endParaRPr lang="en-US" sz="1133" dirty="0"/>
          </a:p>
        </p:txBody>
      </p:sp>
      <p:sp>
        <p:nvSpPr>
          <p:cNvPr id="19" name="Text 17"/>
          <p:cNvSpPr/>
          <p:nvPr/>
        </p:nvSpPr>
        <p:spPr>
          <a:xfrm>
            <a:off x="2414016" y="4389120"/>
            <a:ext cx="9326880" cy="853440"/>
          </a:xfrm>
          <a:prstGeom prst="rect">
            <a:avLst/>
          </a:prstGeom>
          <a:noFill/>
          <a:ln/>
        </p:spPr>
        <p:txBody>
          <a:bodyPr wrap="square" lIns="0" tIns="0" rIns="0" bIns="0" rtlCol="0" anchor="ctr"/>
          <a:lstStyle/>
          <a:p>
            <a:r>
              <a:rPr lang="en-US" sz="1600" dirty="0">
                <a:solidFill>
                  <a:schemeClr val="bg1"/>
                </a:solidFill>
              </a:rPr>
              <a:t>PFOF ban risk remains the single largest structural threat · Crypto revenue highly volatile (collapsed 90% in 2022) · 45x P/E requires flawless execution — one quarter miss = significant de-rating · Average account size ($8K) vs incumbents ($350K) reveals retention risk · Agentic AI is novel regulatory territory · Net interest revenue sensitive to rate cuts · IPO class-action lawsuit at Supreme Court.</a:t>
            </a:r>
          </a:p>
        </p:txBody>
      </p:sp>
      <p:sp>
        <p:nvSpPr>
          <p:cNvPr id="20" name="Shape 18"/>
          <p:cNvSpPr/>
          <p:nvPr/>
        </p:nvSpPr>
        <p:spPr>
          <a:xfrm>
            <a:off x="365760" y="5437632"/>
            <a:ext cx="11460480" cy="1072896"/>
          </a:xfrm>
          <a:prstGeom prst="rect">
            <a:avLst/>
          </a:prstGeom>
          <a:solidFill>
            <a:srgbClr val="1B3A5C"/>
          </a:solidFill>
          <a:ln/>
        </p:spPr>
      </p:sp>
      <p:sp>
        <p:nvSpPr>
          <p:cNvPr id="21" name="Shape 19"/>
          <p:cNvSpPr/>
          <p:nvPr/>
        </p:nvSpPr>
        <p:spPr>
          <a:xfrm>
            <a:off x="365760" y="5437632"/>
            <a:ext cx="1926336" cy="1072896"/>
          </a:xfrm>
          <a:prstGeom prst="rect">
            <a:avLst/>
          </a:prstGeom>
          <a:solidFill>
            <a:srgbClr val="5A7A8A"/>
          </a:solidFill>
          <a:ln/>
        </p:spPr>
      </p:sp>
      <p:sp>
        <p:nvSpPr>
          <p:cNvPr id="22" name="Text 20"/>
          <p:cNvSpPr/>
          <p:nvPr/>
        </p:nvSpPr>
        <p:spPr>
          <a:xfrm>
            <a:off x="365760" y="5437632"/>
            <a:ext cx="1926336" cy="1072896"/>
          </a:xfrm>
          <a:prstGeom prst="rect">
            <a:avLst/>
          </a:prstGeom>
          <a:noFill/>
          <a:ln/>
        </p:spPr>
        <p:txBody>
          <a:bodyPr wrap="square" lIns="0" tIns="0" rIns="0" bIns="0" rtlCol="0" anchor="ctr"/>
          <a:lstStyle/>
          <a:p>
            <a:pPr algn="ctr"/>
            <a:r>
              <a:rPr lang="en-US" sz="1133" b="1" dirty="0">
                <a:solidFill>
                  <a:srgbClr val="FFFFFF"/>
                </a:solidFill>
              </a:rPr>
              <a:t>PRICE TARGET RANGE</a:t>
            </a:r>
            <a:endParaRPr lang="en-US" sz="1133" dirty="0"/>
          </a:p>
        </p:txBody>
      </p:sp>
      <p:sp>
        <p:nvSpPr>
          <p:cNvPr id="23" name="Text 21"/>
          <p:cNvSpPr/>
          <p:nvPr/>
        </p:nvSpPr>
        <p:spPr>
          <a:xfrm>
            <a:off x="2414016" y="5559552"/>
            <a:ext cx="9326880" cy="853440"/>
          </a:xfrm>
          <a:prstGeom prst="rect">
            <a:avLst/>
          </a:prstGeom>
          <a:noFill/>
          <a:ln/>
        </p:spPr>
        <p:txBody>
          <a:bodyPr wrap="square" lIns="0" tIns="0" rIns="0" bIns="0" rtlCol="0" anchor="ctr"/>
          <a:lstStyle/>
          <a:p>
            <a:r>
              <a:rPr lang="en-US" sz="1600" dirty="0">
                <a:solidFill>
                  <a:schemeClr val="bg1"/>
                </a:solidFill>
              </a:rPr>
              <a:t>Bear: $45–60 (PFOF ban + crypto collapse + rate cuts + multiple compression to 18x) · Base: $100–130 (guidance execution, Gold 5M+, Agentic growth, 32–38x P/E) · Bull: $160–200 (Agentic AI inflects ARPU, tokenization greenlit, Gold hits 8M, platform re-rates to 45–55x P/E)</a:t>
            </a:r>
          </a:p>
        </p:txBody>
      </p:sp>
      <p:sp>
        <p:nvSpPr>
          <p:cNvPr id="24" name="Text 22"/>
          <p:cNvSpPr/>
          <p:nvPr/>
        </p:nvSpPr>
        <p:spPr>
          <a:xfrm>
            <a:off x="365760" y="6632448"/>
            <a:ext cx="11460480" cy="219456"/>
          </a:xfrm>
          <a:prstGeom prst="rect">
            <a:avLst/>
          </a:prstGeom>
          <a:noFill/>
          <a:ln/>
        </p:spPr>
        <p:txBody>
          <a:bodyPr wrap="square" lIns="0" tIns="0" rIns="0" bIns="0" rtlCol="0" anchor="ctr"/>
          <a:lstStyle/>
          <a:p>
            <a:r>
              <a:rPr lang="en-US" sz="1067" i="1" dirty="0">
                <a:solidFill>
                  <a:srgbClr val="507090"/>
                </a:solidFill>
              </a:rPr>
              <a:t>For Research &amp; Educational Purposes Only. Not Investment Advice. June 2026.</a:t>
            </a:r>
            <a:endParaRPr lang="en-US" sz="1067"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A8A1E5E-F0A6-BFF6-4BED-6A02878C6352}"/>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270" y="-10177"/>
            <a:ext cx="12175459" cy="6861645"/>
          </a:xfrm>
          <a:prstGeom prst="rect">
            <a:avLst/>
          </a:prstGeom>
        </p:spPr>
      </p:pic>
      <p:sp>
        <p:nvSpPr>
          <p:cNvPr id="4" name="Title 7">
            <a:extLst>
              <a:ext uri="{FF2B5EF4-FFF2-40B4-BE49-F238E27FC236}">
                <a16:creationId xmlns:a16="http://schemas.microsoft.com/office/drawing/2014/main" id="{B00ECB92-5091-43A0-3A50-D1D1ABDD48F6}"/>
              </a:ext>
            </a:extLst>
          </p:cNvPr>
          <p:cNvSpPr txBox="1">
            <a:spLocks/>
          </p:cNvSpPr>
          <p:nvPr/>
        </p:nvSpPr>
        <p:spPr>
          <a:xfrm>
            <a:off x="16541" y="3191987"/>
            <a:ext cx="12175459" cy="1636159"/>
          </a:xfrm>
          <a:prstGeom prst="rect">
            <a:avLst/>
          </a:prstGeom>
          <a:solidFill>
            <a:srgbClr val="FFFFFF">
              <a:alpha val="14902"/>
            </a:srgbClr>
          </a:solidFill>
        </p:spPr>
        <p:txBody>
          <a:bodyPr vert="horz" lIns="91440" tIns="45720" rIns="91440" bIns="45720" rtlCol="0" anchor="b">
            <a:noAutofit/>
          </a:bodyPr>
          <a:lstStyle>
            <a:defPPr>
              <a:defRPr lang="en-US"/>
            </a:defPPr>
            <a:lvl1pPr algn="ctr">
              <a:lnSpc>
                <a:spcPct val="120000"/>
              </a:lnSpc>
              <a:spcBef>
                <a:spcPct val="0"/>
              </a:spcBef>
              <a:buNone/>
              <a:defRPr sz="6000" b="1">
                <a:solidFill>
                  <a:srgbClr val="FFFF00"/>
                </a:solidFill>
                <a:latin typeface="FN Shyamol Bangla" panose="02000600000000000000" pitchFamily="2" charset="0"/>
                <a:ea typeface="+mj-ea"/>
                <a:cs typeface="FN Shyamol Bangla" panose="02000600000000000000" pitchFamily="2" charset="0"/>
              </a:defRPr>
            </a:lvl1pPr>
          </a:lstStyle>
          <a:p>
            <a:pPr algn="r"/>
            <a:r>
              <a:rPr lang="en-US" sz="7200" dirty="0">
                <a:solidFill>
                  <a:schemeClr val="bg1"/>
                </a:solidFill>
              </a:rPr>
              <a:t>Robinhood Markets Inc.</a:t>
            </a:r>
          </a:p>
        </p:txBody>
      </p:sp>
      <p:pic>
        <p:nvPicPr>
          <p:cNvPr id="26" name="Graphic 25" descr="Peacock with solid fill">
            <a:extLst>
              <a:ext uri="{FF2B5EF4-FFF2-40B4-BE49-F238E27FC236}">
                <a16:creationId xmlns:a16="http://schemas.microsoft.com/office/drawing/2014/main" id="{D51B320B-44D3-C018-F5E1-7D535FBF5E3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19528" y="3420645"/>
            <a:ext cx="1333073" cy="1333073"/>
          </a:xfrm>
          <a:prstGeom prst="rect">
            <a:avLst/>
          </a:prstGeom>
        </p:spPr>
      </p:pic>
      <p:pic>
        <p:nvPicPr>
          <p:cNvPr id="3" name="Audio 2">
            <a:hlinkClick r:id="" action="ppaction://media"/>
            <a:extLst>
              <a:ext uri="{FF2B5EF4-FFF2-40B4-BE49-F238E27FC236}">
                <a16:creationId xmlns:a16="http://schemas.microsoft.com/office/drawing/2014/main" id="{36CFB779-4FFD-A359-1B63-154AE47D2810}"/>
              </a:ext>
            </a:extLst>
          </p:cNvPr>
          <p:cNvPicPr>
            <a:picLocks noChangeAspect="1"/>
          </p:cNvPicPr>
          <p:nvPr>
            <a:audioFile r:link="rId2"/>
            <p:extLst>
              <p:ext uri="{DAA4B4D4-6D71-4841-9C94-3DE7FCFB9230}">
                <p14:media xmlns:p14="http://schemas.microsoft.com/office/powerpoint/2010/main" r:embed="rId1"/>
              </p:ext>
            </p:extLst>
          </p:nvPr>
        </p:nvPicPr>
        <p:blipFill>
          <a:blip r:embed="rId9"/>
          <a:srcRect l="-325000" t="-160938" r="-325000" b="-160938"/>
          <a:stretch>
            <a:fillRect/>
          </a:stretch>
        </p:blipFill>
        <p:spPr>
          <a:xfrm>
            <a:off x="11412877" y="4642635"/>
            <a:ext cx="3048000" cy="1714500"/>
          </a:xfrm>
          <a:prstGeom prst="rect">
            <a:avLst/>
          </a:prstGeom>
        </p:spPr>
      </p:pic>
      <p:pic>
        <p:nvPicPr>
          <p:cNvPr id="5" name="Untitled (2)">
            <a:hlinkClick r:id="" action="ppaction://media"/>
            <a:extLst>
              <a:ext uri="{FF2B5EF4-FFF2-40B4-BE49-F238E27FC236}">
                <a16:creationId xmlns:a16="http://schemas.microsoft.com/office/drawing/2014/main" id="{7DB4B856-C49B-D335-E682-925244857C03}"/>
              </a:ext>
            </a:extLst>
          </p:cNvPr>
          <p:cNvPicPr>
            <a:picLocks noChangeAspect="1"/>
          </p:cNvPicPr>
          <p:nvPr>
            <a:audioFile r:link="rId3"/>
            <p:extLst>
              <p:ext uri="{DAA4B4D4-6D71-4841-9C94-3DE7FCFB9230}">
                <p14:media xmlns:p14="http://schemas.microsoft.com/office/powerpoint/2010/main" r:embed="rId4">
                  <p14:trim end="213320"/>
                </p14:media>
              </p:ext>
            </p:extLst>
          </p:nvPr>
        </p:nvPicPr>
        <p:blipFill>
          <a:blip r:embed="rId9"/>
          <a:stretch>
            <a:fillRect/>
          </a:stretch>
        </p:blipFill>
        <p:spPr>
          <a:xfrm>
            <a:off x="-1709827" y="3420645"/>
            <a:ext cx="406400" cy="406400"/>
          </a:xfrm>
          <a:prstGeom prst="rect">
            <a:avLst/>
          </a:prstGeom>
        </p:spPr>
      </p:pic>
    </p:spTree>
    <p:extLst>
      <p:ext uri="{BB962C8B-B14F-4D97-AF65-F5344CB8AC3E}">
        <p14:creationId xmlns:p14="http://schemas.microsoft.com/office/powerpoint/2010/main" val="984047693"/>
      </p:ext>
    </p:extLst>
  </p:cSld>
  <p:clrMapOvr>
    <a:masterClrMapping/>
  </p:clrMapOvr>
  <mc:AlternateContent xmlns:mc="http://schemas.openxmlformats.org/markup-compatibility/2006" xmlns:p14="http://schemas.microsoft.com/office/powerpoint/2010/main">
    <mc:Choice Requires="p14">
      <p:transition spd="slow" p14:dur="2000" advTm="12212"/>
    </mc:Choice>
    <mc:Fallback xmlns="">
      <p:transition spd="slow" advTm="122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par>
                          <p:cTn id="7" fill="hold">
                            <p:stCondLst>
                              <p:cond delay="1"/>
                            </p:stCondLst>
                            <p:childTnLst>
                              <p:par>
                                <p:cTn id="8" presetID="1" presetClass="mediacall" presetSubtype="0" fill="hold" nodeType="afterEffect">
                                  <p:stCondLst>
                                    <p:cond delay="0"/>
                                  </p:stCondLst>
                                  <p:childTnLst>
                                    <p:cmd type="call" cmd="playFrom(0.0)">
                                      <p:cBhvr>
                                        <p:cTn id="9" dur="10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3"/>
                </p:tgtEl>
              </p:cMediaNode>
            </p:audio>
            <p:audio>
              <p:cMediaNode vol="80000">
                <p:cTn id="11" fill="hold" display="0">
                  <p:stCondLst>
                    <p:cond delay="indefinite"/>
                  </p:stCondLst>
                  <p:endCondLst>
                    <p:cond evt="onStopAudio" delay="0">
                      <p:tgtEl>
                        <p:sldTgt/>
                      </p:tgtEl>
                    </p:cond>
                  </p:endCondLst>
                </p:cTn>
                <p:tgtEl>
                  <p:spTgt spid="5"/>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3440</TotalTime>
  <Words>15370</Words>
  <Application>Microsoft Office PowerPoint</Application>
  <PresentationFormat>Widescreen</PresentationFormat>
  <Paragraphs>1141</Paragraphs>
  <Slides>16</Slides>
  <Notes>16</Notes>
  <HiddenSlides>0</HiddenSlides>
  <MMClips>6</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Arial</vt:lpstr>
      <vt:lpstr>Calibri</vt:lpstr>
      <vt:lpstr>Calibri Light</vt:lpstr>
      <vt:lpstr>FN Shyamol Bangla</vt:lpstr>
      <vt:lpstr>Georgia</vt:lpstr>
      <vt:lpstr>Office Theme</vt:lpstr>
      <vt:lpstr>PowerPoint Presentation</vt:lpstr>
      <vt:lpstr>PowerPoint Presentation</vt:lpstr>
      <vt:lpstr>PowerPoint Presentation</vt:lpstr>
      <vt:lpstr>SECTION 1: COMPANY HISTORY  — FROM DORM ROOM TO FINANCIAL SUPERAPP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Swapan Masanta</dc:creator>
  <cp:lastModifiedBy>Swapan Masanta</cp:lastModifiedBy>
  <cp:revision>197</cp:revision>
  <dcterms:created xsi:type="dcterms:W3CDTF">2026-02-18T12:59:35Z</dcterms:created>
  <dcterms:modified xsi:type="dcterms:W3CDTF">2026-06-07T09:49:05Z</dcterms:modified>
</cp:coreProperties>
</file>