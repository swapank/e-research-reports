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57"/>
  </p:notesMasterIdLst>
  <p:sldIdLst>
    <p:sldId id="256" r:id="rId2"/>
    <p:sldId id="424" r:id="rId3"/>
    <p:sldId id="413" r:id="rId4"/>
    <p:sldId id="275" r:id="rId5"/>
    <p:sldId id="276" r:id="rId6"/>
    <p:sldId id="277" r:id="rId7"/>
    <p:sldId id="257" r:id="rId8"/>
    <p:sldId id="293" r:id="rId9"/>
    <p:sldId id="414" r:id="rId10"/>
    <p:sldId id="278" r:id="rId11"/>
    <p:sldId id="261" r:id="rId12"/>
    <p:sldId id="279" r:id="rId13"/>
    <p:sldId id="415" r:id="rId14"/>
    <p:sldId id="280" r:id="rId15"/>
    <p:sldId id="262" r:id="rId16"/>
    <p:sldId id="281" r:id="rId17"/>
    <p:sldId id="416" r:id="rId18"/>
    <p:sldId id="294" r:id="rId19"/>
    <p:sldId id="282" r:id="rId20"/>
    <p:sldId id="264" r:id="rId21"/>
    <p:sldId id="283" r:id="rId22"/>
    <p:sldId id="417" r:id="rId23"/>
    <p:sldId id="284" r:id="rId24"/>
    <p:sldId id="263" r:id="rId25"/>
    <p:sldId id="265" r:id="rId26"/>
    <p:sldId id="285" r:id="rId27"/>
    <p:sldId id="418" r:id="rId28"/>
    <p:sldId id="286" r:id="rId29"/>
    <p:sldId id="266" r:id="rId30"/>
    <p:sldId id="287" r:id="rId31"/>
    <p:sldId id="419" r:id="rId32"/>
    <p:sldId id="295" r:id="rId33"/>
    <p:sldId id="288" r:id="rId34"/>
    <p:sldId id="289" r:id="rId35"/>
    <p:sldId id="423" r:id="rId36"/>
    <p:sldId id="297" r:id="rId37"/>
    <p:sldId id="298" r:id="rId38"/>
    <p:sldId id="267" r:id="rId39"/>
    <p:sldId id="268" r:id="rId40"/>
    <p:sldId id="269" r:id="rId41"/>
    <p:sldId id="296" r:id="rId42"/>
    <p:sldId id="420" r:id="rId43"/>
    <p:sldId id="425" r:id="rId44"/>
    <p:sldId id="421" r:id="rId45"/>
    <p:sldId id="422" r:id="rId46"/>
    <p:sldId id="300" r:id="rId47"/>
    <p:sldId id="270" r:id="rId48"/>
    <p:sldId id="259" r:id="rId49"/>
    <p:sldId id="299" r:id="rId50"/>
    <p:sldId id="271" r:id="rId51"/>
    <p:sldId id="272" r:id="rId52"/>
    <p:sldId id="301" r:id="rId53"/>
    <p:sldId id="273" r:id="rId54"/>
    <p:sldId id="303" r:id="rId55"/>
    <p:sldId id="274" r:id="rId56"/>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6402566-A972-4AA0-AF34-6B2238BE186B}">
          <p14:sldIdLst>
            <p14:sldId id="256"/>
            <p14:sldId id="424"/>
            <p14:sldId id="413"/>
            <p14:sldId id="275"/>
            <p14:sldId id="276"/>
            <p14:sldId id="277"/>
            <p14:sldId id="257"/>
            <p14:sldId id="293"/>
            <p14:sldId id="414"/>
          </p14:sldIdLst>
        </p14:section>
        <p14:section name="Main" id="{1F5667C0-316D-4EBD-B16C-DCF115700CC6}">
          <p14:sldIdLst>
            <p14:sldId id="278"/>
            <p14:sldId id="261"/>
            <p14:sldId id="279"/>
            <p14:sldId id="415"/>
            <p14:sldId id="280"/>
            <p14:sldId id="262"/>
            <p14:sldId id="281"/>
            <p14:sldId id="416"/>
            <p14:sldId id="294"/>
            <p14:sldId id="282"/>
            <p14:sldId id="264"/>
            <p14:sldId id="283"/>
            <p14:sldId id="417"/>
            <p14:sldId id="284"/>
            <p14:sldId id="263"/>
            <p14:sldId id="265"/>
            <p14:sldId id="285"/>
            <p14:sldId id="418"/>
            <p14:sldId id="286"/>
            <p14:sldId id="266"/>
            <p14:sldId id="287"/>
            <p14:sldId id="419"/>
            <p14:sldId id="295"/>
            <p14:sldId id="288"/>
            <p14:sldId id="289"/>
            <p14:sldId id="423"/>
            <p14:sldId id="297"/>
            <p14:sldId id="298"/>
            <p14:sldId id="267"/>
            <p14:sldId id="268"/>
            <p14:sldId id="269"/>
            <p14:sldId id="296"/>
            <p14:sldId id="420"/>
            <p14:sldId id="425"/>
            <p14:sldId id="421"/>
            <p14:sldId id="422"/>
            <p14:sldId id="300"/>
            <p14:sldId id="270"/>
            <p14:sldId id="259"/>
            <p14:sldId id="299"/>
            <p14:sldId id="271"/>
            <p14:sldId id="272"/>
            <p14:sldId id="301"/>
            <p14:sldId id="273"/>
            <p14:sldId id="30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82" autoAdjust="0"/>
    <p:restoredTop sz="94610"/>
  </p:normalViewPr>
  <p:slideViewPr>
    <p:cSldViewPr snapToGrid="0" snapToObjects="1">
      <p:cViewPr varScale="1">
        <p:scale>
          <a:sx n="88" d="100"/>
          <a:sy n="88" d="100"/>
        </p:scale>
        <p:origin x="4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00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a structural research deck — no price targets, no buy/sell. The goal is to understand the architecture of the AI and robotics economy: who supplies whom, where value is created, which layers are scarce, and how demand unfolds over time. Ground rules: we follow the atoms and the electrons, not the stock tickers.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"First, as always — the legal slide."]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Thirty seconds on the disclaimer. Because it matters.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content is for educational and entertainment purposes only. I am not a licensed financial advisor. I am not registered with the SEC or SEBI. Nothing in this video constitutes financial, investment, legal, or tax advice.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opinions you hear are mine and mine alone. They can change as new data arrives. Investing involves risk. You can lose principal. The companies we discuss may go up, may go down, or may do absolutely nothing for extended periods.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Perform your own research. Consult a qualified professional before making investment decisions.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Third-party data referenced in this report is used under fair use for commentary, criticism, and analysis. All data sourced from publicly available SEC filings, earnings releases, and public research.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Legal house in order. Let us get into the data.</a:t>
            </a:r>
          </a:p>
        </p:txBody>
      </p:sp>
      <p:sp>
        <p:nvSpPr>
          <p:cNvPr id="4" name="Slide Number Placeholder 3"/>
          <p:cNvSpPr>
            <a:spLocks noGrp="1"/>
          </p:cNvSpPr>
          <p:nvPr>
            <p:ph type="sldNum" sz="quarter" idx="5"/>
          </p:nvPr>
        </p:nvSpPr>
        <p:spPr/>
        <p:txBody>
          <a:bodyPr/>
          <a:lstStyle/>
          <a:p>
            <a:fld id="{49F3E57C-F302-4DDA-9D05-13A296E43432}" type="slidenum">
              <a:rPr lang="en-IN" smtClean="0"/>
              <a:t>3</a:t>
            </a:fld>
            <a:endParaRPr lang="en-IN"/>
          </a:p>
        </p:txBody>
      </p:sp>
    </p:spTree>
    <p:extLst>
      <p:ext uri="{BB962C8B-B14F-4D97-AF65-F5344CB8AC3E}">
        <p14:creationId xmlns:p14="http://schemas.microsoft.com/office/powerpoint/2010/main" val="168640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quickly. Emphasize that we are covering the full stack — from power plants to the software that businesses run on top. Each sector builds on the previous one.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5 minutes here. The AI infrastructure investment cycle is comparable to what the electricity grid buildout was in the early 20th century — foundational infrastructure that everything else runs on. Key point: you can own infrastructure without betting on which AI model wins. Emphasize the $2T capex figure — this money HAS to flow somewhere.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The key insight: AI and robotics are not two separate investment themes. They share the same underlying supply chain — compute, sensors, software, power. The "convergence" is not marketing language: a robot is just an AI model with actuators attached. Everything downstream follows from these three forces.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Sector: Energy. Key thesis: AI data centers are projected to consume 3–4× more electricity by 2030. Nuclear, battery storage, and gas peakers are critical plays as hyperscalers sign 20-year PPAs. Spend about 2 minutes on this slide before moving to individual stock picks. Emphasize the key metric as the headline number that anchors the opportunity size.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is the least appreciated layer. The key insight: power is not just "expensive" — it is structurally unavailable. Grid interconnection queues mean a data center approved today may not receive power for 5+ years. This is why nuclear PPAs command premium pricing and why Constellation has unprecedented negotiating power. The gas turbine supply chain (GE Vernova) is equally constrained — H-class turbine lead times are 4 years. This is a physical, not financial, constraint.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 picks for Energy. Go through each ticker in order. For each: mention the thesis angle, the rating, and the price target. Field questions on individual names at the end of the sector block, not during.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Sector: Chips &amp; Computing. Key thesis: AI accelerator TAM to reach $400B+ by 2027. GPU scarcity driving unprecedented pricing power. Memory bandwidth becoming the new bottleneck, lifting HBM demand. Spend about 2 minutes on this slide before moving to individual stock picks. Emphasize the key metric as the headline number that anchors the opportunity size.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semiconductor layer is the most analyzed but also the most misunderstood. The key insight is that NVIDIA's moat is NOT the GPU hardware — AMD makes comparable GPUs. NVIDIA's moat is CUDA, a software ecosystem 18 years in the making. On TSMC: the common misconception is that "the US can just build its own fabs." The reality is that TSMC's advantage is 5 years of yield learning on each process node — Intel has been trying to close the gap for 10 years and has largely failed. ASML is the most overlooked chokepoint: a literal global monopoly.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056948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 picks for Chips &amp; Computing. Go through each ticker in order. For each: mention the thesis angle, the rating, and the price target. Field questions on individual names at the end of the sector block, not during.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Sector: Cloud / Data Centers. Key thesis: Hyperscalers capex to exceed $300B in 2025. Independent data center operators are monetizing AI-driven GPU cluster demand with pricing premiums vs. traditional colocation. Spend about 2 minutes on this slide before moving to individual stock picks. Emphasize the key metric as the headline number that anchors the opportunity size.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layer is where most non-specialist investors focus — and where the market is most efficiently priced. The real analytical value is in understanding the STRUCTURAL differences between the three segments. Hyperscalers are vertically integrating backward (custom chips) which threatens both NVIDIA and GPU clouds. Independent GPU clouds are high-growth but face long-term margin compression. Colo is the most boring but most durable business model.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9391843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 picks for Cloud / Data Centers. Go through each ticker in order. For each: mention the thesis angle, the rating, and the price target. Field questions on individual names at the end of the sector block, not during.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Sector: AI Models. Key thesis: Foundation model moat = data + compute + talent. Big Tech is spending $100B+ each to win AI. Monetization through cloud APIs, copilots, and ads is inflecting. Spend about 2 minutes on this slide before moving to individual stock picks. Emphasize the key metric as the headline number that anchors the opportunity size.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systems are where chips become useful. The key insight here is that NVIDIA's acquisition of Mellanox (InfiniBand) in 2020 was strategically brilliant — it extended their monopoly from GPUs into the networking fabric connecting them. The thermal management insight is underappreciated: liquid cooling is a true bottleneck. Vertiv received a $700M+ order from a single hyperscaler. This is real infrastructure scarcity, not hype.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5010150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intelligence layer is where the most debate happens. Key structural insight: the battle is not really about which foundation model is "smartest" — it is about which entity controls the data flywheel, the distribution channel, and the trust relationship with enterprises. Google has search data + YouTube + Android + Gmail. Meta has social graph. Microsoft has Office + enterprise software. These data assets are genuinely non-replicable. The MLOps layer is where the unglamorous but durable enterprise AI infrastructure lives.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42751278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 picks for AI Models. Go through each ticker in order. For each: mention the thesis angle, the rating, and the price target. Field questions on individual names at the end of the sector block, not during.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Sector: Applications. Key thesis: Application layer is where AI ROI crystallizes for enterprises. Data platforms and workflow automation show strongest monetization evidence today. Spend about 2 minutes on this slide before moving to individual stock picks. Emphasize the key metric as the headline number that anchors the opportunity size.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layer has the widest diversity and the most uncertainty. Key analytical framework: look for companies where AI INCREASES pricing power rather than creating a new revenue line. ServiceNow Agentforce and Salesforce are examples — they charge more per seat for AI, leveraging existing customer relationships. Pure AI application companies (without a pre-existing moat) face a different risk: hyperscalers can build the same thing with their distribution advantage.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6785532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 picks for Applications. Go through each ticker in order. For each: mention the thesis angle, the rating, and the price target. Field questions on individual names at the end of the sector block, not during.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Sector: Robotics. Key thesis: Humanoid robots represent the next trillion-dollar TAM. AI-trained models colliding with mechanical engineering. Labor shortage + cost reduction driving industrial adoption at inflection point. Spend about 2 minutes on this slide before moving to individual stock picks. Emphasize the key metric as the headline number that anchors the opportunity size.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 picks for Robotics. Go through each ticker in order. For each: mention the thesis angle, the rating, and the price target. Field questions on individual names at the end of the sector block, not during.</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robotics slide. The key insight most people miss: robotics is not one supply chain, it is five (actuation, sensing, compute, power, structure) on the hardware side and five more on the software side. An investor or analyst who says "I like robotics" needs to specify WHICH sub-supply-chain. Precision gearboxes (Harmonic Drive) and force/torque sensors are near-monopoly businesses with no Western alternatives. Foundation models for robots (RT-2, OpenAI+Figure) represent the software convergence that finally makes general-purpose robots viable.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robotics verticals vary enormously in maturity. Logistics robotics (AMRs in warehouses) is a real, profitable, growing business today. Industrial robots have been "boring" for 40 years but AI is dramatically expanding their capability. Humanoid robots get the most press but are the furthest from commercial scale — the $150K per unit cost must fall 7-8× before any meaningful mass market emerges. Autonomous vehicles are the most complex: regulatory, technical, and competitive challenges all at once. Waymo is the standout here — 20M+ miles of real-world data is not catchable.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robotics gets granular. The most important insight: Harmonic Drive gearboxes are the single biggest supply chain vulnerability in the humanoid robot industry. They are manufactured almost exclusively in Japan, with technology protected by patents that have held for 50 years. Every major humanoid program — Tesla Optimus, Figure, Agility, Boston Dynamics — depends on this single Japanese supplier. The tactile sensor point is also underappreciated: current robots can't reliably pick up an egg without breaking it. Solving tactile sensing is a prerequisite for general-purpose manipulation.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Geopolitical risk is the least modeled and most impactful tail risk in the entire AI supply chain. The Taiwan scenario gets the headlines, but the rare earth processing story is more insidious: it is a risk that already materializing (China's 2023 gallium/germanium export controls), affects robotics specifically, and has no quick fix. The US export control strategy against China has created a 2-3 year window of advantage for Western AI, but China's $100B domestic chip investment is real — the question is whether the gap can be maintained.</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slide for risk understanding. The AI supply chain has multiple single-points-of-failure. TSMC Taiwan is the most discussed, but ASML is actually more concentrated — there is no second source for EUV. HBM memory is a duopoly. Rare earth processing concentration in China is underappreciated for the robotics supply chain. A conflict or trade disruption does not just raise costs — it can halt production entirely for 18-24 months.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demand matrix is the synthesis slide before the conclusion. Key takeaway pattern: everything in rows 1-5 is in high-demand NOW. Rows 6-8 (cloud, AI models, enterprise apps) peak in the 2-5 year window. Rows 9-10 (robotics) are the decade-long story. The critical distinction in the "structural vs. cyclical" column: TSMC and energy infrastructure have the lowest cyclicality — they are driven by physics and long-term contracts. GPU demand is high-structural but has real cyclicality (2022 inventory bust). Humanoid robots appear as "EARLY" in all near-term columns — honest assessment is that commercial scale is post-2030.</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an analyst or serious researcher. These six principles should guide every evaluation of an AI/robotics company. The "cost curve for robotics" principle is especially important — the robotics sector is full of demos that generate press coverage but are 8-10 years from commercial viability at scale. The "choke point" principle explains why ASML and TSMC are structurally durable businesses while many of their customers are not.</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these six questions. The point is not to answer them definitively — the point is to establish that a serious analyst tracks them over time. The answers to questions 1 (scaling laws) and 3 (open source quality) will reshape more value than any other developments in the near term. Questions 4 and 5 are the two most important for robotics — cost curves and power availability are the physical constraints that will determine whether the 2030 timelines are achievable.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slide. Leave the audience with this: the value of understanding the full stack is that it gives you clarity on WHY demand signals are durable (or not), WHICH companies sit at structural choke points, and WHEN different layers will benefit. This is the foundation for any serious analysis of AI and robotics as an economic phenomenon.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9631216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5661645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262553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0267352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6/10/2026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044286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6/10/2026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7958691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6/10/2026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9585382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4276333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696113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3134699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8208985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69053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98375C-9BF8-44F5-8288-D9CD158117D1}"/>
              </a:ext>
            </a:extLst>
          </p:cNvPr>
          <p:cNvSpPr>
            <a:spLocks noGrp="1"/>
          </p:cNvSpPr>
          <p:nvPr>
            <p:ph idx="1"/>
          </p:nvPr>
        </p:nvSpPr>
        <p:spPr>
          <a:xfrm>
            <a:off x="628650" y="1069674"/>
            <a:ext cx="7886700" cy="3263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6A17B0C0-2FB7-1404-61AE-3CF75D90DD02}"/>
              </a:ext>
            </a:extLst>
          </p:cNvPr>
          <p:cNvSpPr>
            <a:spLocks noGrp="1"/>
          </p:cNvSpPr>
          <p:nvPr>
            <p:ph type="title"/>
          </p:nvPr>
        </p:nvSpPr>
        <p:spPr>
          <a:xfrm>
            <a:off x="0" y="4534453"/>
            <a:ext cx="9144000" cy="609047"/>
          </a:xfrm>
          <a:solidFill>
            <a:srgbClr val="7900FF"/>
          </a:solidFill>
          <a:ln>
            <a:noFill/>
          </a:ln>
          <a:effectLst>
            <a:outerShdw blurRad="190500" dist="228600" dir="2700000" algn="ctr">
              <a:srgbClr val="000000">
                <a:alpha val="30000"/>
              </a:srgbClr>
            </a:outerShdw>
          </a:effectLst>
        </p:spPr>
        <p:txBody>
          <a:bodyPr>
            <a:normAutofit/>
          </a:bodyPr>
          <a:lstStyle>
            <a:lvl1pPr>
              <a:defRPr sz="2700" b="1">
                <a:solidFill>
                  <a:schemeClr val="bg1"/>
                </a:solidFill>
                <a:latin typeface="Aptos" panose="020B0004020202020204" pitchFamily="34" charset="0"/>
              </a:defRPr>
            </a:lvl1pPr>
          </a:lstStyle>
          <a:p>
            <a:r>
              <a:rPr lang="en-US" dirty="0"/>
              <a:t>Click to edit Master title style</a:t>
            </a:r>
          </a:p>
        </p:txBody>
      </p:sp>
      <p:sp>
        <p:nvSpPr>
          <p:cNvPr id="4" name="Slide Number Placeholder 5">
            <a:extLst>
              <a:ext uri="{FF2B5EF4-FFF2-40B4-BE49-F238E27FC236}">
                <a16:creationId xmlns:a16="http://schemas.microsoft.com/office/drawing/2014/main" id="{8B340062-B786-D72C-16AB-92EA3520AFEC}"/>
              </a:ext>
            </a:extLst>
          </p:cNvPr>
          <p:cNvSpPr>
            <a:spLocks noGrp="1"/>
          </p:cNvSpPr>
          <p:nvPr>
            <p:ph type="sldNum" sz="quarter" idx="12"/>
          </p:nvPr>
        </p:nvSpPr>
        <p:spPr>
          <a:xfrm>
            <a:off x="6182054" y="4767263"/>
            <a:ext cx="2057400" cy="273844"/>
          </a:xfrm>
        </p:spPr>
        <p:txBody>
          <a:bodyPr/>
          <a:lstStyle>
            <a:lvl1pPr>
              <a:defRPr sz="1350" b="1"/>
            </a:lvl1pPr>
          </a:lstStyle>
          <a:p>
            <a:fld id="{C2ABBCA0-D234-4812-975F-DB2C17A4DDDD}" type="slidenum">
              <a:rPr lang="en-US" smtClean="0"/>
              <a:pPr/>
              <a:t>‹#›</a:t>
            </a:fld>
            <a:endParaRPr lang="en-US" dirty="0"/>
          </a:p>
        </p:txBody>
      </p:sp>
    </p:spTree>
    <p:extLst>
      <p:ext uri="{BB962C8B-B14F-4D97-AF65-F5344CB8AC3E}">
        <p14:creationId xmlns:p14="http://schemas.microsoft.com/office/powerpoint/2010/main" val="3213817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6/10/2026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09090032"/>
      </p:ext>
    </p:extLst>
  </p:cSld>
  <p:clrMap bg1="dk1" tx1="lt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microsoft.com/office/2007/relationships/media" Target="../media/media1.mp3"/><Relationship Id="rId1" Type="http://schemas.openxmlformats.org/officeDocument/2006/relationships/audio" Target="NULL" TargetMode="Externa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1828800" y="-914400"/>
            <a:ext cx="6400800" cy="6400800"/>
          </a:xfrm>
          <a:prstGeom prst="ellipse">
            <a:avLst/>
          </a:prstGeom>
          <a:solidFill>
            <a:srgbClr val="1D4ED8">
              <a:alpha val="8000"/>
            </a:srgbClr>
          </a:solidFill>
          <a:ln/>
        </p:spPr>
      </p:sp>
      <p:sp>
        <p:nvSpPr>
          <p:cNvPr id="3" name="Shape 1"/>
          <p:cNvSpPr/>
          <p:nvPr/>
        </p:nvSpPr>
        <p:spPr>
          <a:xfrm>
            <a:off x="6400800" y="1828800"/>
            <a:ext cx="4572000" cy="4572000"/>
          </a:xfrm>
          <a:prstGeom prst="ellipse">
            <a:avLst/>
          </a:prstGeom>
          <a:solidFill>
            <a:srgbClr val="A855F7">
              <a:alpha val="7000"/>
            </a:srgbClr>
          </a:solidFill>
          <a:ln/>
        </p:spPr>
      </p:sp>
      <p:sp>
        <p:nvSpPr>
          <p:cNvPr id="4" name="Text 2"/>
          <p:cNvSpPr/>
          <p:nvPr/>
        </p:nvSpPr>
        <p:spPr>
          <a:xfrm>
            <a:off x="457200" y="502920"/>
            <a:ext cx="8229600" cy="365760"/>
          </a:xfrm>
          <a:prstGeom prst="rect">
            <a:avLst/>
          </a:prstGeom>
          <a:noFill/>
          <a:ln/>
        </p:spPr>
        <p:txBody>
          <a:bodyPr wrap="square" rtlCol="0" anchor="ctr"/>
          <a:lstStyle/>
          <a:p>
            <a:pPr marL="0" indent="0" algn="ctr">
              <a:buNone/>
            </a:pPr>
            <a:r>
              <a:rPr lang="en-US" sz="900" b="1" kern="0" spc="300" dirty="0">
                <a:solidFill>
                  <a:srgbClr val="06B6D4"/>
                </a:solidFill>
              </a:rPr>
              <a:t>DREAMLIT EQUITY RESEARCH  ·  AI &amp; ROBOTICS</a:t>
            </a:r>
            <a:endParaRPr lang="en-US" sz="900" dirty="0"/>
          </a:p>
        </p:txBody>
      </p:sp>
      <p:sp>
        <p:nvSpPr>
          <p:cNvPr id="5" name="Text 3"/>
          <p:cNvSpPr/>
          <p:nvPr/>
        </p:nvSpPr>
        <p:spPr>
          <a:xfrm>
            <a:off x="274320" y="1151619"/>
            <a:ext cx="8595360" cy="365760"/>
          </a:xfrm>
          <a:prstGeom prst="rect">
            <a:avLst/>
          </a:prstGeom>
          <a:noFill/>
          <a:ln/>
        </p:spPr>
        <p:txBody>
          <a:bodyPr wrap="square" rtlCol="0" anchor="ctr"/>
          <a:lstStyle/>
          <a:p>
            <a:pPr marL="0" indent="0" algn="ctr">
              <a:buNone/>
            </a:pPr>
            <a:r>
              <a:rPr lang="en-US" sz="6600" b="1" dirty="0">
                <a:solidFill>
                  <a:srgbClr val="FFFFFF"/>
                </a:solidFill>
                <a:latin typeface="Calibri" pitchFamily="34" charset="0"/>
                <a:ea typeface="Calibri" pitchFamily="34" charset="-122"/>
                <a:cs typeface="Calibri" pitchFamily="34" charset="-120"/>
              </a:rPr>
              <a:t>AI &amp; ROBOTICS</a:t>
            </a:r>
            <a:endParaRPr lang="en-US" sz="6600" dirty="0"/>
          </a:p>
        </p:txBody>
      </p:sp>
      <p:sp>
        <p:nvSpPr>
          <p:cNvPr id="6" name="Text 4"/>
          <p:cNvSpPr/>
          <p:nvPr/>
        </p:nvSpPr>
        <p:spPr>
          <a:xfrm>
            <a:off x="274320" y="2377440"/>
            <a:ext cx="8595360" cy="365760"/>
          </a:xfrm>
          <a:prstGeom prst="rect">
            <a:avLst/>
          </a:prstGeom>
          <a:noFill/>
          <a:ln/>
        </p:spPr>
        <p:txBody>
          <a:bodyPr wrap="square" rtlCol="0" anchor="ctr"/>
          <a:lstStyle/>
          <a:p>
            <a:pPr marL="0" indent="0" algn="ctr">
              <a:buNone/>
            </a:pPr>
            <a:r>
              <a:rPr lang="en-US" sz="3400" b="1" kern="0" spc="500" dirty="0">
                <a:solidFill>
                  <a:srgbClr val="06B6D4"/>
                </a:solidFill>
              </a:rPr>
              <a:t>INFRASTRUCTURE STACK</a:t>
            </a:r>
            <a:endParaRPr lang="en-US" sz="3400" dirty="0"/>
          </a:p>
        </p:txBody>
      </p:sp>
      <p:sp>
        <p:nvSpPr>
          <p:cNvPr id="7" name="Text 5"/>
          <p:cNvSpPr/>
          <p:nvPr/>
        </p:nvSpPr>
        <p:spPr>
          <a:xfrm>
            <a:off x="457200" y="3063240"/>
            <a:ext cx="8229600" cy="365760"/>
          </a:xfrm>
          <a:prstGeom prst="rect">
            <a:avLst/>
          </a:prstGeom>
          <a:noFill/>
          <a:ln/>
        </p:spPr>
        <p:txBody>
          <a:bodyPr wrap="square" rtlCol="0" anchor="ctr"/>
          <a:lstStyle/>
          <a:p>
            <a:pPr marL="0" indent="0" algn="ctr">
              <a:buNone/>
            </a:pPr>
            <a:r>
              <a:rPr lang="en-US" sz="1300" dirty="0">
                <a:solidFill>
                  <a:srgbClr val="E2E8F5"/>
                </a:solidFill>
              </a:rPr>
              <a:t>Supply Chain · Interconnectedness · Demand Timelines · Moats · Robotics Ecosystem</a:t>
            </a:r>
            <a:endParaRPr lang="en-US" sz="1300" dirty="0"/>
          </a:p>
        </p:txBody>
      </p:sp>
      <p:sp>
        <p:nvSpPr>
          <p:cNvPr id="8" name="Shape 6"/>
          <p:cNvSpPr/>
          <p:nvPr/>
        </p:nvSpPr>
        <p:spPr>
          <a:xfrm>
            <a:off x="3474720" y="3520440"/>
            <a:ext cx="2194560" cy="36576"/>
          </a:xfrm>
          <a:prstGeom prst="rect">
            <a:avLst/>
          </a:prstGeom>
          <a:solidFill>
            <a:srgbClr val="06B6D4"/>
          </a:solidFill>
          <a:ln/>
        </p:spPr>
      </p:sp>
      <p:sp>
        <p:nvSpPr>
          <p:cNvPr id="9" name="Shape 7"/>
          <p:cNvSpPr/>
          <p:nvPr/>
        </p:nvSpPr>
        <p:spPr>
          <a:xfrm>
            <a:off x="411480" y="3794760"/>
            <a:ext cx="1965960" cy="502920"/>
          </a:xfrm>
          <a:prstGeom prst="roundRect">
            <a:avLst>
              <a:gd name="adj" fmla="val 14545"/>
            </a:avLst>
          </a:prstGeom>
          <a:solidFill>
            <a:srgbClr val="152045"/>
          </a:solidFill>
          <a:ln w="6350">
            <a:solidFill>
              <a:srgbClr val="FFFFFF">
                <a:alpha val="6000"/>
              </a:srgbClr>
            </a:solidFill>
            <a:prstDash val="solid"/>
          </a:ln>
        </p:spPr>
      </p:sp>
      <p:sp>
        <p:nvSpPr>
          <p:cNvPr id="10" name="Text 8"/>
          <p:cNvSpPr/>
          <p:nvPr/>
        </p:nvSpPr>
        <p:spPr>
          <a:xfrm>
            <a:off x="411480" y="3794760"/>
            <a:ext cx="1965960" cy="502920"/>
          </a:xfrm>
          <a:prstGeom prst="rect">
            <a:avLst/>
          </a:prstGeom>
          <a:noFill/>
          <a:ln/>
        </p:spPr>
        <p:txBody>
          <a:bodyPr wrap="square" rtlCol="0" anchor="ctr"/>
          <a:lstStyle/>
          <a:p>
            <a:pPr marL="0" indent="0" algn="ctr">
              <a:buNone/>
            </a:pPr>
            <a:r>
              <a:rPr lang="en-US" sz="900" b="1" dirty="0">
                <a:solidFill>
                  <a:srgbClr val="E2E8F5"/>
                </a:solidFill>
              </a:rPr>
              <a:t>Layer-by-Layer Deep Dive</a:t>
            </a:r>
            <a:endParaRPr lang="en-US" sz="900" dirty="0"/>
          </a:p>
        </p:txBody>
      </p:sp>
      <p:sp>
        <p:nvSpPr>
          <p:cNvPr id="11" name="Shape 9"/>
          <p:cNvSpPr/>
          <p:nvPr/>
        </p:nvSpPr>
        <p:spPr>
          <a:xfrm>
            <a:off x="2560320" y="3794760"/>
            <a:ext cx="1965960" cy="502920"/>
          </a:xfrm>
          <a:prstGeom prst="roundRect">
            <a:avLst>
              <a:gd name="adj" fmla="val 14545"/>
            </a:avLst>
          </a:prstGeom>
          <a:solidFill>
            <a:srgbClr val="152045"/>
          </a:solidFill>
          <a:ln w="6350">
            <a:solidFill>
              <a:srgbClr val="FFFFFF">
                <a:alpha val="6000"/>
              </a:srgbClr>
            </a:solidFill>
            <a:prstDash val="solid"/>
          </a:ln>
        </p:spPr>
      </p:sp>
      <p:sp>
        <p:nvSpPr>
          <p:cNvPr id="12" name="Text 10"/>
          <p:cNvSpPr/>
          <p:nvPr/>
        </p:nvSpPr>
        <p:spPr>
          <a:xfrm>
            <a:off x="2560320" y="3794760"/>
            <a:ext cx="1965960" cy="502920"/>
          </a:xfrm>
          <a:prstGeom prst="rect">
            <a:avLst/>
          </a:prstGeom>
          <a:noFill/>
          <a:ln/>
        </p:spPr>
        <p:txBody>
          <a:bodyPr wrap="square" rtlCol="0" anchor="ctr"/>
          <a:lstStyle/>
          <a:p>
            <a:pPr marL="0" indent="0" algn="ctr">
              <a:buNone/>
            </a:pPr>
            <a:r>
              <a:rPr lang="en-US" sz="900" b="1" dirty="0">
                <a:solidFill>
                  <a:srgbClr val="E2E8F5"/>
                </a:solidFill>
              </a:rPr>
              <a:t>Supply Chain Chokepoints</a:t>
            </a:r>
            <a:endParaRPr lang="en-US" sz="900" dirty="0"/>
          </a:p>
        </p:txBody>
      </p:sp>
      <p:sp>
        <p:nvSpPr>
          <p:cNvPr id="13" name="Shape 11"/>
          <p:cNvSpPr/>
          <p:nvPr/>
        </p:nvSpPr>
        <p:spPr>
          <a:xfrm>
            <a:off x="4709160" y="3794760"/>
            <a:ext cx="1965960" cy="502920"/>
          </a:xfrm>
          <a:prstGeom prst="roundRect">
            <a:avLst>
              <a:gd name="adj" fmla="val 14545"/>
            </a:avLst>
          </a:prstGeom>
          <a:solidFill>
            <a:srgbClr val="152045"/>
          </a:solidFill>
          <a:ln w="6350">
            <a:solidFill>
              <a:srgbClr val="FFFFFF">
                <a:alpha val="6000"/>
              </a:srgbClr>
            </a:solidFill>
            <a:prstDash val="solid"/>
          </a:ln>
        </p:spPr>
      </p:sp>
      <p:sp>
        <p:nvSpPr>
          <p:cNvPr id="14" name="Text 12"/>
          <p:cNvSpPr/>
          <p:nvPr/>
        </p:nvSpPr>
        <p:spPr>
          <a:xfrm>
            <a:off x="4709160" y="3794760"/>
            <a:ext cx="1965960" cy="502920"/>
          </a:xfrm>
          <a:prstGeom prst="rect">
            <a:avLst/>
          </a:prstGeom>
          <a:noFill/>
          <a:ln/>
        </p:spPr>
        <p:txBody>
          <a:bodyPr wrap="square" rtlCol="0" anchor="ctr"/>
          <a:lstStyle/>
          <a:p>
            <a:pPr marL="0" indent="0" algn="ctr">
              <a:buNone/>
            </a:pPr>
            <a:r>
              <a:rPr lang="en-US" sz="900" b="1" dirty="0">
                <a:solidFill>
                  <a:srgbClr val="E2E8F5"/>
                </a:solidFill>
              </a:rPr>
              <a:t>Demand Wave Timing</a:t>
            </a:r>
            <a:endParaRPr lang="en-US" sz="900" dirty="0"/>
          </a:p>
        </p:txBody>
      </p:sp>
      <p:sp>
        <p:nvSpPr>
          <p:cNvPr id="15" name="Shape 13"/>
          <p:cNvSpPr/>
          <p:nvPr/>
        </p:nvSpPr>
        <p:spPr>
          <a:xfrm>
            <a:off x="6858000" y="3794760"/>
            <a:ext cx="1965960" cy="502920"/>
          </a:xfrm>
          <a:prstGeom prst="roundRect">
            <a:avLst>
              <a:gd name="adj" fmla="val 14545"/>
            </a:avLst>
          </a:prstGeom>
          <a:solidFill>
            <a:srgbClr val="152045"/>
          </a:solidFill>
          <a:ln w="6350">
            <a:solidFill>
              <a:srgbClr val="FFFFFF">
                <a:alpha val="6000"/>
              </a:srgbClr>
            </a:solidFill>
            <a:prstDash val="solid"/>
          </a:ln>
        </p:spPr>
      </p:sp>
      <p:sp>
        <p:nvSpPr>
          <p:cNvPr id="16" name="Text 14"/>
          <p:cNvSpPr/>
          <p:nvPr/>
        </p:nvSpPr>
        <p:spPr>
          <a:xfrm>
            <a:off x="6858000" y="3794760"/>
            <a:ext cx="1965960" cy="502920"/>
          </a:xfrm>
          <a:prstGeom prst="rect">
            <a:avLst/>
          </a:prstGeom>
          <a:noFill/>
          <a:ln/>
        </p:spPr>
        <p:txBody>
          <a:bodyPr wrap="square" rtlCol="0" anchor="ctr"/>
          <a:lstStyle/>
          <a:p>
            <a:pPr marL="0" indent="0" algn="ctr">
              <a:buNone/>
            </a:pPr>
            <a:r>
              <a:rPr lang="en-US" sz="900" b="1" dirty="0">
                <a:solidFill>
                  <a:srgbClr val="E2E8F5"/>
                </a:solidFill>
              </a:rPr>
              <a:t>Robotics Full Stack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92608"/>
            <a:ext cx="8229600" cy="201168"/>
          </a:xfrm>
          <a:prstGeom prst="rect">
            <a:avLst/>
          </a:prstGeom>
          <a:noFill/>
          <a:ln/>
        </p:spPr>
        <p:txBody>
          <a:bodyPr wrap="square" rtlCol="0" anchor="ctr"/>
          <a:lstStyle/>
          <a:p>
            <a:pPr marL="0" indent="0" algn="l">
              <a:buNone/>
            </a:pPr>
            <a:r>
              <a:rPr lang="en-US" sz="850" kern="0" spc="300" dirty="0">
                <a:solidFill>
                  <a:srgbClr val="4A7EC7"/>
                </a:solidFill>
                <a:latin typeface="Calibri" pitchFamily="34" charset="0"/>
                <a:ea typeface="Calibri" pitchFamily="34" charset="-122"/>
                <a:cs typeface="Calibri" pitchFamily="34" charset="-120"/>
              </a:rPr>
              <a:t>DREAMLIT EQUITY RESEARCH  ·  AI &amp; ROBOTICS</a:t>
            </a:r>
            <a:endParaRPr lang="en-US" sz="850" dirty="0"/>
          </a:p>
        </p:txBody>
      </p:sp>
      <p:sp>
        <p:nvSpPr>
          <p:cNvPr id="3" name="Text 1"/>
          <p:cNvSpPr/>
          <p:nvPr/>
        </p:nvSpPr>
        <p:spPr>
          <a:xfrm>
            <a:off x="502920" y="548640"/>
            <a:ext cx="8229600" cy="502920"/>
          </a:xfrm>
          <a:prstGeom prst="rect">
            <a:avLst/>
          </a:prstGeom>
          <a:noFill/>
          <a:ln/>
        </p:spPr>
        <p:txBody>
          <a:bodyPr wrap="square" rtlCol="0" anchor="ctr"/>
          <a:lstStyle/>
          <a:p>
            <a:pPr marL="0" indent="0" algn="l">
              <a:buNone/>
            </a:pPr>
            <a:r>
              <a:rPr lang="en-US" sz="2800" b="1" kern="0" spc="200" dirty="0">
                <a:solidFill>
                  <a:srgbClr val="FFFFFF"/>
                </a:solidFill>
                <a:latin typeface="Calibri" pitchFamily="34" charset="0"/>
                <a:ea typeface="Calibri" pitchFamily="34" charset="-122"/>
                <a:cs typeface="Calibri" pitchFamily="34" charset="-120"/>
              </a:rPr>
              <a:t>TABLE OF CONTENTS</a:t>
            </a:r>
            <a:endParaRPr lang="en-US" sz="2800" dirty="0"/>
          </a:p>
        </p:txBody>
      </p:sp>
      <p:sp>
        <p:nvSpPr>
          <p:cNvPr id="4" name="Shape 2"/>
          <p:cNvSpPr/>
          <p:nvPr/>
        </p:nvSpPr>
        <p:spPr>
          <a:xfrm>
            <a:off x="502920" y="1115568"/>
            <a:ext cx="8138160" cy="0"/>
          </a:xfrm>
          <a:prstGeom prst="line">
            <a:avLst/>
          </a:prstGeom>
          <a:noFill/>
          <a:ln w="9525">
            <a:solidFill>
              <a:srgbClr val="1E3A6E"/>
            </a:solidFill>
            <a:prstDash val="solid"/>
          </a:ln>
        </p:spPr>
      </p:sp>
      <p:sp>
        <p:nvSpPr>
          <p:cNvPr id="5" name="Shape 3"/>
          <p:cNvSpPr/>
          <p:nvPr/>
        </p:nvSpPr>
        <p:spPr>
          <a:xfrm>
            <a:off x="502920" y="1316736"/>
            <a:ext cx="347472" cy="310896"/>
          </a:xfrm>
          <a:prstGeom prst="roundRect">
            <a:avLst>
              <a:gd name="adj" fmla="val 11765"/>
            </a:avLst>
          </a:prstGeom>
          <a:solidFill>
            <a:srgbClr val="1E3A6E"/>
          </a:solidFill>
          <a:ln w="12700">
            <a:solidFill>
              <a:srgbClr val="1E3A6E"/>
            </a:solidFill>
            <a:prstDash val="solid"/>
          </a:ln>
        </p:spPr>
      </p:sp>
      <p:sp>
        <p:nvSpPr>
          <p:cNvPr id="6" name="Text 4"/>
          <p:cNvSpPr/>
          <p:nvPr/>
        </p:nvSpPr>
        <p:spPr>
          <a:xfrm>
            <a:off x="502920" y="1316736"/>
            <a:ext cx="347472" cy="310896"/>
          </a:xfrm>
          <a:prstGeom prst="rect">
            <a:avLst/>
          </a:prstGeom>
          <a:noFill/>
          <a:ln/>
        </p:spPr>
        <p:txBody>
          <a:bodyPr wrap="square" lIns="0" tIns="0" rIns="0" bIns="0" rtlCol="0" anchor="ctr"/>
          <a:lstStyle/>
          <a:p>
            <a:pPr marL="0" indent="0" algn="ctr">
              <a:buNone/>
            </a:pPr>
            <a:r>
              <a:rPr lang="en-US" sz="900" b="1" dirty="0">
                <a:solidFill>
                  <a:srgbClr val="7EB3F5"/>
                </a:solidFill>
                <a:latin typeface="Calibri" pitchFamily="34" charset="0"/>
                <a:ea typeface="Calibri" pitchFamily="34" charset="-122"/>
                <a:cs typeface="Calibri" pitchFamily="34" charset="-120"/>
              </a:rPr>
              <a:t>01</a:t>
            </a:r>
            <a:endParaRPr lang="en-US" sz="900" dirty="0"/>
          </a:p>
        </p:txBody>
      </p:sp>
      <p:sp>
        <p:nvSpPr>
          <p:cNvPr id="7" name="Text 5"/>
          <p:cNvSpPr/>
          <p:nvPr/>
        </p:nvSpPr>
        <p:spPr>
          <a:xfrm>
            <a:off x="923544" y="1298448"/>
            <a:ext cx="4023360" cy="20116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The Big Thesis</a:t>
            </a:r>
            <a:endParaRPr lang="en-US" sz="1300" dirty="0"/>
          </a:p>
        </p:txBody>
      </p:sp>
      <p:sp>
        <p:nvSpPr>
          <p:cNvPr id="8" name="Text 6"/>
          <p:cNvSpPr/>
          <p:nvPr/>
        </p:nvSpPr>
        <p:spPr>
          <a:xfrm>
            <a:off x="923544" y="1508760"/>
            <a:ext cx="4023360" cy="164592"/>
          </a:xfrm>
          <a:prstGeom prst="rect">
            <a:avLst/>
          </a:prstGeom>
          <a:noFill/>
          <a:ln/>
        </p:spPr>
        <p:txBody>
          <a:bodyPr wrap="square" lIns="0" tIns="0" rIns="0" bIns="0" rtlCol="0" anchor="ctr"/>
          <a:lstStyle/>
          <a:p>
            <a:pPr marL="0" indent="0" algn="l">
              <a:buNone/>
            </a:pPr>
            <a:r>
              <a:rPr lang="en-US" sz="950" dirty="0">
                <a:solidFill>
                  <a:srgbClr val="6B8BAE"/>
                </a:solidFill>
                <a:latin typeface="Calibri" pitchFamily="34" charset="0"/>
                <a:ea typeface="Calibri" pitchFamily="34" charset="-122"/>
                <a:cs typeface="Calibri" pitchFamily="34" charset="-120"/>
              </a:rPr>
              <a:t>Why this is a generational opportunity</a:t>
            </a:r>
            <a:endParaRPr lang="en-US" sz="950" dirty="0"/>
          </a:p>
        </p:txBody>
      </p:sp>
      <p:sp>
        <p:nvSpPr>
          <p:cNvPr id="9" name="Shape 7"/>
          <p:cNvSpPr/>
          <p:nvPr/>
        </p:nvSpPr>
        <p:spPr>
          <a:xfrm>
            <a:off x="502920" y="1737360"/>
            <a:ext cx="4133088" cy="0"/>
          </a:xfrm>
          <a:prstGeom prst="line">
            <a:avLst/>
          </a:prstGeom>
          <a:noFill/>
          <a:ln w="6350">
            <a:solidFill>
              <a:srgbClr val="12213D"/>
            </a:solidFill>
            <a:prstDash val="solid"/>
          </a:ln>
        </p:spPr>
      </p:sp>
      <p:sp>
        <p:nvSpPr>
          <p:cNvPr id="10" name="Shape 8"/>
          <p:cNvSpPr/>
          <p:nvPr/>
        </p:nvSpPr>
        <p:spPr>
          <a:xfrm>
            <a:off x="502920" y="1792224"/>
            <a:ext cx="347472" cy="310896"/>
          </a:xfrm>
          <a:prstGeom prst="roundRect">
            <a:avLst>
              <a:gd name="adj" fmla="val 11765"/>
            </a:avLst>
          </a:prstGeom>
          <a:solidFill>
            <a:srgbClr val="1E3A6E"/>
          </a:solidFill>
          <a:ln w="12700">
            <a:solidFill>
              <a:srgbClr val="1E3A6E"/>
            </a:solidFill>
            <a:prstDash val="solid"/>
          </a:ln>
        </p:spPr>
      </p:sp>
      <p:sp>
        <p:nvSpPr>
          <p:cNvPr id="11" name="Text 9"/>
          <p:cNvSpPr/>
          <p:nvPr/>
        </p:nvSpPr>
        <p:spPr>
          <a:xfrm>
            <a:off x="502920" y="1792224"/>
            <a:ext cx="347472" cy="310896"/>
          </a:xfrm>
          <a:prstGeom prst="rect">
            <a:avLst/>
          </a:prstGeom>
          <a:noFill/>
          <a:ln/>
        </p:spPr>
        <p:txBody>
          <a:bodyPr wrap="square" lIns="0" tIns="0" rIns="0" bIns="0" rtlCol="0" anchor="ctr"/>
          <a:lstStyle/>
          <a:p>
            <a:pPr marL="0" indent="0" algn="ctr">
              <a:buNone/>
            </a:pPr>
            <a:r>
              <a:rPr lang="en-US" sz="900" b="1" dirty="0">
                <a:solidFill>
                  <a:srgbClr val="7EB3F5"/>
                </a:solidFill>
                <a:latin typeface="Calibri" pitchFamily="34" charset="0"/>
                <a:ea typeface="Calibri" pitchFamily="34" charset="-122"/>
                <a:cs typeface="Calibri" pitchFamily="34" charset="-120"/>
              </a:rPr>
              <a:t>02</a:t>
            </a:r>
            <a:endParaRPr lang="en-US" sz="900" dirty="0"/>
          </a:p>
        </p:txBody>
      </p:sp>
      <p:sp>
        <p:nvSpPr>
          <p:cNvPr id="12" name="Text 10"/>
          <p:cNvSpPr/>
          <p:nvPr/>
        </p:nvSpPr>
        <p:spPr>
          <a:xfrm>
            <a:off x="923544" y="1773936"/>
            <a:ext cx="4023360" cy="20116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Energy</a:t>
            </a:r>
            <a:endParaRPr lang="en-US" sz="1300" dirty="0"/>
          </a:p>
        </p:txBody>
      </p:sp>
      <p:sp>
        <p:nvSpPr>
          <p:cNvPr id="13" name="Text 11"/>
          <p:cNvSpPr/>
          <p:nvPr/>
        </p:nvSpPr>
        <p:spPr>
          <a:xfrm>
            <a:off x="923544" y="1984248"/>
            <a:ext cx="4023360" cy="164592"/>
          </a:xfrm>
          <a:prstGeom prst="rect">
            <a:avLst/>
          </a:prstGeom>
          <a:noFill/>
          <a:ln/>
        </p:spPr>
        <p:txBody>
          <a:bodyPr wrap="square" lIns="0" tIns="0" rIns="0" bIns="0" rtlCol="0" anchor="ctr"/>
          <a:lstStyle/>
          <a:p>
            <a:pPr marL="0" indent="0" algn="l">
              <a:buNone/>
            </a:pPr>
            <a:r>
              <a:rPr lang="en-US" sz="950" dirty="0">
                <a:solidFill>
                  <a:srgbClr val="6B8BAE"/>
                </a:solidFill>
                <a:latin typeface="Calibri" pitchFamily="34" charset="0"/>
                <a:ea typeface="Calibri" pitchFamily="34" charset="-122"/>
                <a:cs typeface="Calibri" pitchFamily="34" charset="-120"/>
              </a:rPr>
              <a:t>CEG · VST · OKLO · EOSE · GEV</a:t>
            </a:r>
            <a:endParaRPr lang="en-US" sz="950" dirty="0"/>
          </a:p>
        </p:txBody>
      </p:sp>
      <p:sp>
        <p:nvSpPr>
          <p:cNvPr id="14" name="Shape 12"/>
          <p:cNvSpPr/>
          <p:nvPr/>
        </p:nvSpPr>
        <p:spPr>
          <a:xfrm>
            <a:off x="502920" y="2212848"/>
            <a:ext cx="4133088" cy="0"/>
          </a:xfrm>
          <a:prstGeom prst="line">
            <a:avLst/>
          </a:prstGeom>
          <a:noFill/>
          <a:ln w="6350">
            <a:solidFill>
              <a:srgbClr val="12213D"/>
            </a:solidFill>
            <a:prstDash val="solid"/>
          </a:ln>
        </p:spPr>
      </p:sp>
      <p:sp>
        <p:nvSpPr>
          <p:cNvPr id="15" name="Shape 13"/>
          <p:cNvSpPr/>
          <p:nvPr/>
        </p:nvSpPr>
        <p:spPr>
          <a:xfrm>
            <a:off x="502920" y="2267712"/>
            <a:ext cx="347472" cy="310896"/>
          </a:xfrm>
          <a:prstGeom prst="roundRect">
            <a:avLst>
              <a:gd name="adj" fmla="val 11765"/>
            </a:avLst>
          </a:prstGeom>
          <a:solidFill>
            <a:srgbClr val="1E3A6E"/>
          </a:solidFill>
          <a:ln w="12700">
            <a:solidFill>
              <a:srgbClr val="1E3A6E"/>
            </a:solidFill>
            <a:prstDash val="solid"/>
          </a:ln>
        </p:spPr>
      </p:sp>
      <p:sp>
        <p:nvSpPr>
          <p:cNvPr id="16" name="Text 14"/>
          <p:cNvSpPr/>
          <p:nvPr/>
        </p:nvSpPr>
        <p:spPr>
          <a:xfrm>
            <a:off x="502920" y="2267712"/>
            <a:ext cx="347472" cy="310896"/>
          </a:xfrm>
          <a:prstGeom prst="rect">
            <a:avLst/>
          </a:prstGeom>
          <a:noFill/>
          <a:ln/>
        </p:spPr>
        <p:txBody>
          <a:bodyPr wrap="square" lIns="0" tIns="0" rIns="0" bIns="0" rtlCol="0" anchor="ctr"/>
          <a:lstStyle/>
          <a:p>
            <a:pPr marL="0" indent="0" algn="ctr">
              <a:buNone/>
            </a:pPr>
            <a:r>
              <a:rPr lang="en-US" sz="900" b="1" dirty="0">
                <a:solidFill>
                  <a:srgbClr val="7EB3F5"/>
                </a:solidFill>
                <a:latin typeface="Calibri" pitchFamily="34" charset="0"/>
                <a:ea typeface="Calibri" pitchFamily="34" charset="-122"/>
                <a:cs typeface="Calibri" pitchFamily="34" charset="-120"/>
              </a:rPr>
              <a:t>03</a:t>
            </a:r>
            <a:endParaRPr lang="en-US" sz="900" dirty="0"/>
          </a:p>
        </p:txBody>
      </p:sp>
      <p:sp>
        <p:nvSpPr>
          <p:cNvPr id="17" name="Text 15"/>
          <p:cNvSpPr/>
          <p:nvPr/>
        </p:nvSpPr>
        <p:spPr>
          <a:xfrm>
            <a:off x="923544" y="2249424"/>
            <a:ext cx="4023360" cy="20116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Chips &amp; Computing</a:t>
            </a:r>
            <a:endParaRPr lang="en-US" sz="1300" dirty="0"/>
          </a:p>
        </p:txBody>
      </p:sp>
      <p:sp>
        <p:nvSpPr>
          <p:cNvPr id="18" name="Text 16"/>
          <p:cNvSpPr/>
          <p:nvPr/>
        </p:nvSpPr>
        <p:spPr>
          <a:xfrm>
            <a:off x="923544" y="2459736"/>
            <a:ext cx="4023360" cy="164592"/>
          </a:xfrm>
          <a:prstGeom prst="rect">
            <a:avLst/>
          </a:prstGeom>
          <a:noFill/>
          <a:ln/>
        </p:spPr>
        <p:txBody>
          <a:bodyPr wrap="square" lIns="0" tIns="0" rIns="0" bIns="0" rtlCol="0" anchor="ctr"/>
          <a:lstStyle/>
          <a:p>
            <a:pPr marL="0" indent="0" algn="l">
              <a:buNone/>
            </a:pPr>
            <a:r>
              <a:rPr lang="en-US" sz="950" dirty="0">
                <a:solidFill>
                  <a:srgbClr val="6B8BAE"/>
                </a:solidFill>
                <a:latin typeface="Calibri" pitchFamily="34" charset="0"/>
                <a:ea typeface="Calibri" pitchFamily="34" charset="-122"/>
                <a:cs typeface="Calibri" pitchFamily="34" charset="-120"/>
              </a:rPr>
              <a:t>NVDA · AMD · TSM · MU · ARM</a:t>
            </a:r>
            <a:endParaRPr lang="en-US" sz="950" dirty="0"/>
          </a:p>
        </p:txBody>
      </p:sp>
      <p:sp>
        <p:nvSpPr>
          <p:cNvPr id="19" name="Shape 17"/>
          <p:cNvSpPr/>
          <p:nvPr/>
        </p:nvSpPr>
        <p:spPr>
          <a:xfrm>
            <a:off x="502920" y="2688336"/>
            <a:ext cx="4133088" cy="0"/>
          </a:xfrm>
          <a:prstGeom prst="line">
            <a:avLst/>
          </a:prstGeom>
          <a:noFill/>
          <a:ln w="6350">
            <a:solidFill>
              <a:srgbClr val="12213D"/>
            </a:solidFill>
            <a:prstDash val="solid"/>
          </a:ln>
        </p:spPr>
      </p:sp>
      <p:sp>
        <p:nvSpPr>
          <p:cNvPr id="20" name="Shape 18"/>
          <p:cNvSpPr/>
          <p:nvPr/>
        </p:nvSpPr>
        <p:spPr>
          <a:xfrm>
            <a:off x="502920" y="2743200"/>
            <a:ext cx="347472" cy="310896"/>
          </a:xfrm>
          <a:prstGeom prst="roundRect">
            <a:avLst>
              <a:gd name="adj" fmla="val 11765"/>
            </a:avLst>
          </a:prstGeom>
          <a:solidFill>
            <a:srgbClr val="1E3A6E"/>
          </a:solidFill>
          <a:ln w="12700">
            <a:solidFill>
              <a:srgbClr val="1E3A6E"/>
            </a:solidFill>
            <a:prstDash val="solid"/>
          </a:ln>
        </p:spPr>
      </p:sp>
      <p:sp>
        <p:nvSpPr>
          <p:cNvPr id="21" name="Text 19"/>
          <p:cNvSpPr/>
          <p:nvPr/>
        </p:nvSpPr>
        <p:spPr>
          <a:xfrm>
            <a:off x="502920" y="2743200"/>
            <a:ext cx="347472" cy="310896"/>
          </a:xfrm>
          <a:prstGeom prst="rect">
            <a:avLst/>
          </a:prstGeom>
          <a:noFill/>
          <a:ln/>
        </p:spPr>
        <p:txBody>
          <a:bodyPr wrap="square" lIns="0" tIns="0" rIns="0" bIns="0" rtlCol="0" anchor="ctr"/>
          <a:lstStyle/>
          <a:p>
            <a:pPr marL="0" indent="0" algn="ctr">
              <a:buNone/>
            </a:pPr>
            <a:r>
              <a:rPr lang="en-US" sz="900" b="1" dirty="0">
                <a:solidFill>
                  <a:srgbClr val="7EB3F5"/>
                </a:solidFill>
                <a:latin typeface="Calibri" pitchFamily="34" charset="0"/>
                <a:ea typeface="Calibri" pitchFamily="34" charset="-122"/>
                <a:cs typeface="Calibri" pitchFamily="34" charset="-120"/>
              </a:rPr>
              <a:t>04</a:t>
            </a:r>
            <a:endParaRPr lang="en-US" sz="900" dirty="0"/>
          </a:p>
        </p:txBody>
      </p:sp>
      <p:sp>
        <p:nvSpPr>
          <p:cNvPr id="22" name="Text 20"/>
          <p:cNvSpPr/>
          <p:nvPr/>
        </p:nvSpPr>
        <p:spPr>
          <a:xfrm>
            <a:off x="923544" y="2724912"/>
            <a:ext cx="4023360" cy="20116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Cloud / Data Centers</a:t>
            </a:r>
            <a:endParaRPr lang="en-US" sz="1300" dirty="0"/>
          </a:p>
        </p:txBody>
      </p:sp>
      <p:sp>
        <p:nvSpPr>
          <p:cNvPr id="23" name="Text 21"/>
          <p:cNvSpPr/>
          <p:nvPr/>
        </p:nvSpPr>
        <p:spPr>
          <a:xfrm>
            <a:off x="923544" y="2935224"/>
            <a:ext cx="4023360" cy="164592"/>
          </a:xfrm>
          <a:prstGeom prst="rect">
            <a:avLst/>
          </a:prstGeom>
          <a:noFill/>
          <a:ln/>
        </p:spPr>
        <p:txBody>
          <a:bodyPr wrap="square" lIns="0" tIns="0" rIns="0" bIns="0" rtlCol="0" anchor="ctr"/>
          <a:lstStyle/>
          <a:p>
            <a:pPr marL="0" indent="0" algn="l">
              <a:buNone/>
            </a:pPr>
            <a:r>
              <a:rPr lang="en-US" sz="950" dirty="0">
                <a:solidFill>
                  <a:srgbClr val="6B8BAE"/>
                </a:solidFill>
                <a:latin typeface="Calibri" pitchFamily="34" charset="0"/>
                <a:ea typeface="Calibri" pitchFamily="34" charset="-122"/>
                <a:cs typeface="Calibri" pitchFamily="34" charset="-120"/>
              </a:rPr>
              <a:t>NBIS · IREN · CRWV · APLD · CIFR</a:t>
            </a:r>
            <a:endParaRPr lang="en-US" sz="950" dirty="0"/>
          </a:p>
        </p:txBody>
      </p:sp>
      <p:sp>
        <p:nvSpPr>
          <p:cNvPr id="24" name="Shape 22"/>
          <p:cNvSpPr/>
          <p:nvPr/>
        </p:nvSpPr>
        <p:spPr>
          <a:xfrm>
            <a:off x="4846320" y="1316736"/>
            <a:ext cx="347472" cy="310896"/>
          </a:xfrm>
          <a:prstGeom prst="roundRect">
            <a:avLst>
              <a:gd name="adj" fmla="val 11765"/>
            </a:avLst>
          </a:prstGeom>
          <a:solidFill>
            <a:srgbClr val="1E3A6E"/>
          </a:solidFill>
          <a:ln w="12700">
            <a:solidFill>
              <a:srgbClr val="1E3A6E"/>
            </a:solidFill>
            <a:prstDash val="solid"/>
          </a:ln>
        </p:spPr>
      </p:sp>
      <p:sp>
        <p:nvSpPr>
          <p:cNvPr id="25" name="Text 23"/>
          <p:cNvSpPr/>
          <p:nvPr/>
        </p:nvSpPr>
        <p:spPr>
          <a:xfrm>
            <a:off x="4846320" y="1316736"/>
            <a:ext cx="347472" cy="310896"/>
          </a:xfrm>
          <a:prstGeom prst="rect">
            <a:avLst/>
          </a:prstGeom>
          <a:noFill/>
          <a:ln/>
        </p:spPr>
        <p:txBody>
          <a:bodyPr wrap="square" lIns="0" tIns="0" rIns="0" bIns="0" rtlCol="0" anchor="ctr"/>
          <a:lstStyle/>
          <a:p>
            <a:pPr marL="0" indent="0" algn="ctr">
              <a:buNone/>
            </a:pPr>
            <a:r>
              <a:rPr lang="en-US" sz="900" b="1" dirty="0">
                <a:solidFill>
                  <a:srgbClr val="7EB3F5"/>
                </a:solidFill>
                <a:latin typeface="Calibri" pitchFamily="34" charset="0"/>
                <a:ea typeface="Calibri" pitchFamily="34" charset="-122"/>
                <a:cs typeface="Calibri" pitchFamily="34" charset="-120"/>
              </a:rPr>
              <a:t>05</a:t>
            </a:r>
            <a:endParaRPr lang="en-US" sz="900" dirty="0"/>
          </a:p>
        </p:txBody>
      </p:sp>
      <p:sp>
        <p:nvSpPr>
          <p:cNvPr id="26" name="Text 24"/>
          <p:cNvSpPr/>
          <p:nvPr/>
        </p:nvSpPr>
        <p:spPr>
          <a:xfrm>
            <a:off x="5266944" y="1298448"/>
            <a:ext cx="4023360" cy="20116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AI Models</a:t>
            </a:r>
            <a:endParaRPr lang="en-US" sz="1300" dirty="0"/>
          </a:p>
        </p:txBody>
      </p:sp>
      <p:sp>
        <p:nvSpPr>
          <p:cNvPr id="27" name="Text 25"/>
          <p:cNvSpPr/>
          <p:nvPr/>
        </p:nvSpPr>
        <p:spPr>
          <a:xfrm>
            <a:off x="5266944" y="1508760"/>
            <a:ext cx="4023360" cy="164592"/>
          </a:xfrm>
          <a:prstGeom prst="rect">
            <a:avLst/>
          </a:prstGeom>
          <a:noFill/>
          <a:ln/>
        </p:spPr>
        <p:txBody>
          <a:bodyPr wrap="square" lIns="0" tIns="0" rIns="0" bIns="0" rtlCol="0" anchor="ctr"/>
          <a:lstStyle/>
          <a:p>
            <a:pPr marL="0" indent="0" algn="l">
              <a:buNone/>
            </a:pPr>
            <a:r>
              <a:rPr lang="en-US" sz="950" dirty="0">
                <a:solidFill>
                  <a:srgbClr val="6B8BAE"/>
                </a:solidFill>
                <a:latin typeface="Calibri" pitchFamily="34" charset="0"/>
                <a:ea typeface="Calibri" pitchFamily="34" charset="-122"/>
                <a:cs typeface="Calibri" pitchFamily="34" charset="-120"/>
              </a:rPr>
              <a:t>MSFT · GOOGL · META · AMZN · ORCL</a:t>
            </a:r>
            <a:endParaRPr lang="en-US" sz="950" dirty="0"/>
          </a:p>
        </p:txBody>
      </p:sp>
      <p:sp>
        <p:nvSpPr>
          <p:cNvPr id="28" name="Shape 26"/>
          <p:cNvSpPr/>
          <p:nvPr/>
        </p:nvSpPr>
        <p:spPr>
          <a:xfrm>
            <a:off x="4846320" y="1737360"/>
            <a:ext cx="4133088" cy="0"/>
          </a:xfrm>
          <a:prstGeom prst="line">
            <a:avLst/>
          </a:prstGeom>
          <a:noFill/>
          <a:ln w="6350">
            <a:solidFill>
              <a:srgbClr val="12213D"/>
            </a:solidFill>
            <a:prstDash val="solid"/>
          </a:ln>
        </p:spPr>
      </p:sp>
      <p:sp>
        <p:nvSpPr>
          <p:cNvPr id="29" name="Shape 27"/>
          <p:cNvSpPr/>
          <p:nvPr/>
        </p:nvSpPr>
        <p:spPr>
          <a:xfrm>
            <a:off x="4846320" y="1792224"/>
            <a:ext cx="347472" cy="310896"/>
          </a:xfrm>
          <a:prstGeom prst="roundRect">
            <a:avLst>
              <a:gd name="adj" fmla="val 11765"/>
            </a:avLst>
          </a:prstGeom>
          <a:solidFill>
            <a:srgbClr val="1E3A6E"/>
          </a:solidFill>
          <a:ln w="12700">
            <a:solidFill>
              <a:srgbClr val="1E3A6E"/>
            </a:solidFill>
            <a:prstDash val="solid"/>
          </a:ln>
        </p:spPr>
      </p:sp>
      <p:sp>
        <p:nvSpPr>
          <p:cNvPr id="30" name="Text 28"/>
          <p:cNvSpPr/>
          <p:nvPr/>
        </p:nvSpPr>
        <p:spPr>
          <a:xfrm>
            <a:off x="4846320" y="1792224"/>
            <a:ext cx="347472" cy="310896"/>
          </a:xfrm>
          <a:prstGeom prst="rect">
            <a:avLst/>
          </a:prstGeom>
          <a:noFill/>
          <a:ln/>
        </p:spPr>
        <p:txBody>
          <a:bodyPr wrap="square" lIns="0" tIns="0" rIns="0" bIns="0" rtlCol="0" anchor="ctr"/>
          <a:lstStyle/>
          <a:p>
            <a:pPr marL="0" indent="0" algn="ctr">
              <a:buNone/>
            </a:pPr>
            <a:r>
              <a:rPr lang="en-US" sz="900" b="1" dirty="0">
                <a:solidFill>
                  <a:srgbClr val="7EB3F5"/>
                </a:solidFill>
                <a:latin typeface="Calibri" pitchFamily="34" charset="0"/>
                <a:ea typeface="Calibri" pitchFamily="34" charset="-122"/>
                <a:cs typeface="Calibri" pitchFamily="34" charset="-120"/>
              </a:rPr>
              <a:t>06</a:t>
            </a:r>
            <a:endParaRPr lang="en-US" sz="900" dirty="0"/>
          </a:p>
        </p:txBody>
      </p:sp>
      <p:sp>
        <p:nvSpPr>
          <p:cNvPr id="31" name="Text 29"/>
          <p:cNvSpPr/>
          <p:nvPr/>
        </p:nvSpPr>
        <p:spPr>
          <a:xfrm>
            <a:off x="5266944" y="1773936"/>
            <a:ext cx="4023360" cy="20116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Applications</a:t>
            </a:r>
            <a:endParaRPr lang="en-US" sz="1300" dirty="0"/>
          </a:p>
        </p:txBody>
      </p:sp>
      <p:sp>
        <p:nvSpPr>
          <p:cNvPr id="32" name="Text 30"/>
          <p:cNvSpPr/>
          <p:nvPr/>
        </p:nvSpPr>
        <p:spPr>
          <a:xfrm>
            <a:off x="5266944" y="1984248"/>
            <a:ext cx="4023360" cy="164592"/>
          </a:xfrm>
          <a:prstGeom prst="rect">
            <a:avLst/>
          </a:prstGeom>
          <a:noFill/>
          <a:ln/>
        </p:spPr>
        <p:txBody>
          <a:bodyPr wrap="square" lIns="0" tIns="0" rIns="0" bIns="0" rtlCol="0" anchor="ctr"/>
          <a:lstStyle/>
          <a:p>
            <a:pPr marL="0" indent="0" algn="l">
              <a:buNone/>
            </a:pPr>
            <a:r>
              <a:rPr lang="en-US" sz="950" dirty="0">
                <a:solidFill>
                  <a:srgbClr val="6B8BAE"/>
                </a:solidFill>
                <a:latin typeface="Calibri" pitchFamily="34" charset="0"/>
                <a:ea typeface="Calibri" pitchFamily="34" charset="-122"/>
                <a:cs typeface="Calibri" pitchFamily="34" charset="-120"/>
              </a:rPr>
              <a:t>PLTR · TSLA · NOW · SNOW · CRM</a:t>
            </a:r>
            <a:endParaRPr lang="en-US" sz="950" dirty="0"/>
          </a:p>
        </p:txBody>
      </p:sp>
      <p:sp>
        <p:nvSpPr>
          <p:cNvPr id="33" name="Shape 31"/>
          <p:cNvSpPr/>
          <p:nvPr/>
        </p:nvSpPr>
        <p:spPr>
          <a:xfrm>
            <a:off x="4846320" y="2212848"/>
            <a:ext cx="4133088" cy="0"/>
          </a:xfrm>
          <a:prstGeom prst="line">
            <a:avLst/>
          </a:prstGeom>
          <a:noFill/>
          <a:ln w="6350">
            <a:solidFill>
              <a:srgbClr val="12213D"/>
            </a:solidFill>
            <a:prstDash val="solid"/>
          </a:ln>
        </p:spPr>
      </p:sp>
      <p:sp>
        <p:nvSpPr>
          <p:cNvPr id="34" name="Shape 32"/>
          <p:cNvSpPr/>
          <p:nvPr/>
        </p:nvSpPr>
        <p:spPr>
          <a:xfrm>
            <a:off x="4846320" y="2267712"/>
            <a:ext cx="347472" cy="310896"/>
          </a:xfrm>
          <a:prstGeom prst="roundRect">
            <a:avLst>
              <a:gd name="adj" fmla="val 11765"/>
            </a:avLst>
          </a:prstGeom>
          <a:solidFill>
            <a:srgbClr val="1E3A6E"/>
          </a:solidFill>
          <a:ln w="12700">
            <a:solidFill>
              <a:srgbClr val="1E3A6E"/>
            </a:solidFill>
            <a:prstDash val="solid"/>
          </a:ln>
        </p:spPr>
      </p:sp>
      <p:sp>
        <p:nvSpPr>
          <p:cNvPr id="35" name="Text 33"/>
          <p:cNvSpPr/>
          <p:nvPr/>
        </p:nvSpPr>
        <p:spPr>
          <a:xfrm>
            <a:off x="4846320" y="2267712"/>
            <a:ext cx="347472" cy="310896"/>
          </a:xfrm>
          <a:prstGeom prst="rect">
            <a:avLst/>
          </a:prstGeom>
          <a:noFill/>
          <a:ln/>
        </p:spPr>
        <p:txBody>
          <a:bodyPr wrap="square" lIns="0" tIns="0" rIns="0" bIns="0" rtlCol="0" anchor="ctr"/>
          <a:lstStyle/>
          <a:p>
            <a:pPr marL="0" indent="0" algn="ctr">
              <a:buNone/>
            </a:pPr>
            <a:r>
              <a:rPr lang="en-US" sz="900" b="1" dirty="0">
                <a:solidFill>
                  <a:srgbClr val="7EB3F5"/>
                </a:solidFill>
                <a:latin typeface="Calibri" pitchFamily="34" charset="0"/>
                <a:ea typeface="Calibri" pitchFamily="34" charset="-122"/>
                <a:cs typeface="Calibri" pitchFamily="34" charset="-120"/>
              </a:rPr>
              <a:t>07</a:t>
            </a:r>
            <a:endParaRPr lang="en-US" sz="900" dirty="0"/>
          </a:p>
        </p:txBody>
      </p:sp>
      <p:sp>
        <p:nvSpPr>
          <p:cNvPr id="36" name="Text 34"/>
          <p:cNvSpPr/>
          <p:nvPr/>
        </p:nvSpPr>
        <p:spPr>
          <a:xfrm>
            <a:off x="5266944" y="2249424"/>
            <a:ext cx="4023360" cy="20116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Robotics</a:t>
            </a:r>
            <a:endParaRPr lang="en-US" sz="1300" dirty="0"/>
          </a:p>
        </p:txBody>
      </p:sp>
      <p:sp>
        <p:nvSpPr>
          <p:cNvPr id="37" name="Text 35"/>
          <p:cNvSpPr/>
          <p:nvPr/>
        </p:nvSpPr>
        <p:spPr>
          <a:xfrm>
            <a:off x="5266944" y="2459736"/>
            <a:ext cx="4023360" cy="164592"/>
          </a:xfrm>
          <a:prstGeom prst="rect">
            <a:avLst/>
          </a:prstGeom>
          <a:noFill/>
          <a:ln/>
        </p:spPr>
        <p:txBody>
          <a:bodyPr wrap="square" lIns="0" tIns="0" rIns="0" bIns="0" rtlCol="0" anchor="ctr"/>
          <a:lstStyle/>
          <a:p>
            <a:pPr marL="0" indent="0" algn="l">
              <a:buNone/>
            </a:pPr>
            <a:r>
              <a:rPr lang="en-US" sz="950" dirty="0">
                <a:solidFill>
                  <a:srgbClr val="6B8BAE"/>
                </a:solidFill>
                <a:latin typeface="Calibri" pitchFamily="34" charset="0"/>
                <a:ea typeface="Calibri" pitchFamily="34" charset="-122"/>
                <a:cs typeface="Calibri" pitchFamily="34" charset="-120"/>
              </a:rPr>
              <a:t>Full stack: hardware, software, ecosystem</a:t>
            </a:r>
            <a:endParaRPr lang="en-US" sz="950" dirty="0"/>
          </a:p>
        </p:txBody>
      </p:sp>
      <p:sp>
        <p:nvSpPr>
          <p:cNvPr id="38" name="Shape 36"/>
          <p:cNvSpPr/>
          <p:nvPr/>
        </p:nvSpPr>
        <p:spPr>
          <a:xfrm>
            <a:off x="4846320" y="2688336"/>
            <a:ext cx="4133088" cy="0"/>
          </a:xfrm>
          <a:prstGeom prst="line">
            <a:avLst/>
          </a:prstGeom>
          <a:noFill/>
          <a:ln w="6350">
            <a:solidFill>
              <a:srgbClr val="12213D"/>
            </a:solidFill>
            <a:prstDash val="solid"/>
          </a:ln>
        </p:spPr>
      </p:sp>
      <p:sp>
        <p:nvSpPr>
          <p:cNvPr id="39" name="Shape 37"/>
          <p:cNvSpPr/>
          <p:nvPr/>
        </p:nvSpPr>
        <p:spPr>
          <a:xfrm>
            <a:off x="4846320" y="2743200"/>
            <a:ext cx="347472" cy="310896"/>
          </a:xfrm>
          <a:prstGeom prst="roundRect">
            <a:avLst>
              <a:gd name="adj" fmla="val 11765"/>
            </a:avLst>
          </a:prstGeom>
          <a:solidFill>
            <a:srgbClr val="1E3A6E"/>
          </a:solidFill>
          <a:ln w="12700">
            <a:solidFill>
              <a:srgbClr val="1E3A6E"/>
            </a:solidFill>
            <a:prstDash val="solid"/>
          </a:ln>
        </p:spPr>
      </p:sp>
      <p:sp>
        <p:nvSpPr>
          <p:cNvPr id="40" name="Text 38"/>
          <p:cNvSpPr/>
          <p:nvPr/>
        </p:nvSpPr>
        <p:spPr>
          <a:xfrm>
            <a:off x="4846320" y="2743200"/>
            <a:ext cx="347472" cy="310896"/>
          </a:xfrm>
          <a:prstGeom prst="rect">
            <a:avLst/>
          </a:prstGeom>
          <a:noFill/>
          <a:ln/>
        </p:spPr>
        <p:txBody>
          <a:bodyPr wrap="square" lIns="0" tIns="0" rIns="0" bIns="0" rtlCol="0" anchor="ctr"/>
          <a:lstStyle/>
          <a:p>
            <a:pPr marL="0" indent="0" algn="ctr">
              <a:buNone/>
            </a:pPr>
            <a:r>
              <a:rPr lang="en-US" sz="900" b="1" dirty="0">
                <a:solidFill>
                  <a:srgbClr val="7EB3F5"/>
                </a:solidFill>
                <a:latin typeface="Calibri" pitchFamily="34" charset="0"/>
                <a:ea typeface="Calibri" pitchFamily="34" charset="-122"/>
                <a:cs typeface="Calibri" pitchFamily="34" charset="-120"/>
              </a:rPr>
              <a:t>08</a:t>
            </a:r>
            <a:endParaRPr lang="en-US" sz="900" dirty="0"/>
          </a:p>
        </p:txBody>
      </p:sp>
      <p:sp>
        <p:nvSpPr>
          <p:cNvPr id="41" name="Text 39"/>
          <p:cNvSpPr/>
          <p:nvPr/>
        </p:nvSpPr>
        <p:spPr>
          <a:xfrm>
            <a:off x="5266944" y="2724912"/>
            <a:ext cx="4023360" cy="20116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Risks &amp; Synthesis</a:t>
            </a:r>
            <a:endParaRPr lang="en-US" sz="1300" dirty="0"/>
          </a:p>
        </p:txBody>
      </p:sp>
      <p:sp>
        <p:nvSpPr>
          <p:cNvPr id="42" name="Text 40"/>
          <p:cNvSpPr/>
          <p:nvPr/>
        </p:nvSpPr>
        <p:spPr>
          <a:xfrm>
            <a:off x="5266944" y="2935224"/>
            <a:ext cx="4023360" cy="164592"/>
          </a:xfrm>
          <a:prstGeom prst="rect">
            <a:avLst/>
          </a:prstGeom>
          <a:noFill/>
          <a:ln/>
        </p:spPr>
        <p:txBody>
          <a:bodyPr wrap="square" lIns="0" tIns="0" rIns="0" bIns="0" rtlCol="0" anchor="ctr"/>
          <a:lstStyle/>
          <a:p>
            <a:pPr marL="0" indent="0" algn="l">
              <a:buNone/>
            </a:pPr>
            <a:r>
              <a:rPr lang="en-US" sz="950" dirty="0">
                <a:solidFill>
                  <a:srgbClr val="6B8BAE"/>
                </a:solidFill>
                <a:latin typeface="Calibri" pitchFamily="34" charset="0"/>
                <a:ea typeface="Calibri" pitchFamily="34" charset="-122"/>
                <a:cs typeface="Calibri" pitchFamily="34" charset="-120"/>
              </a:rPr>
              <a:t>Red flags · Rankings · Monitoring framework</a:t>
            </a:r>
            <a:endParaRPr lang="en-US" sz="950" dirty="0"/>
          </a:p>
        </p:txBody>
      </p:sp>
      <p:sp>
        <p:nvSpPr>
          <p:cNvPr id="43" name="Text 41"/>
          <p:cNvSpPr/>
          <p:nvPr/>
        </p:nvSpPr>
        <p:spPr>
          <a:xfrm>
            <a:off x="502920" y="4846320"/>
            <a:ext cx="8229600" cy="164592"/>
          </a:xfrm>
          <a:prstGeom prst="rect">
            <a:avLst/>
          </a:prstGeom>
          <a:noFill/>
          <a:ln/>
        </p:spPr>
        <p:txBody>
          <a:bodyPr wrap="square" rtlCol="0" anchor="ctr"/>
          <a:lstStyle/>
          <a:p>
            <a:pPr marL="0" indent="0" algn="l">
              <a:buNone/>
            </a:pPr>
            <a:r>
              <a:rPr lang="en-US" sz="800" dirty="0">
                <a:solidFill>
                  <a:srgbClr val="2D4A6E"/>
                </a:solidFill>
                <a:latin typeface="Calibri" pitchFamily="34" charset="0"/>
                <a:ea typeface="Calibri" pitchFamily="34" charset="-122"/>
                <a:cs typeface="Calibri" pitchFamily="34" charset="-120"/>
              </a:rPr>
              <a:t>June 2026  ·  For research &amp; educational purposes only</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32A6057-E419-E6D3-A61C-154F039901C1}"/>
              </a:ext>
            </a:extLst>
          </p:cNvPr>
          <p:cNvSpPr txBox="1">
            <a:spLocks/>
          </p:cNvSpPr>
          <p:nvPr/>
        </p:nvSpPr>
        <p:spPr>
          <a:xfrm>
            <a:off x="214462" y="177955"/>
            <a:ext cx="8929538" cy="609047"/>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Aptos" panose="020B0004020202020204" pitchFamily="34" charset="0"/>
                <a:ea typeface="+mj-ea"/>
                <a:cs typeface="+mj-cs"/>
              </a:defRPr>
            </a:lvl1pPr>
          </a:lstStyle>
          <a:p>
            <a:pPr algn="ctr"/>
            <a:r>
              <a:rPr lang="en-US" sz="2700" b="1" dirty="0">
                <a:solidFill>
                  <a:srgbClr val="A80C2A"/>
                </a:solidFill>
              </a:rPr>
              <a:t>DISCLAIMER</a:t>
            </a:r>
            <a:endParaRPr lang="en-IN" sz="2700" b="1" dirty="0">
              <a:solidFill>
                <a:srgbClr val="A80C2A"/>
              </a:solidFill>
            </a:endParaRPr>
          </a:p>
        </p:txBody>
      </p:sp>
      <p:pic>
        <p:nvPicPr>
          <p:cNvPr id="8" name="Untitled (2)">
            <a:hlinkClick r:id="" action="ppaction://media"/>
            <a:extLst>
              <a:ext uri="{FF2B5EF4-FFF2-40B4-BE49-F238E27FC236}">
                <a16:creationId xmlns:a16="http://schemas.microsoft.com/office/drawing/2014/main" id="{07A43B10-2FE9-CB71-0833-6F2E03897FE8}"/>
              </a:ext>
            </a:extLst>
          </p:cNvPr>
          <p:cNvPicPr>
            <a:picLocks noChangeAspect="1"/>
          </p:cNvPicPr>
          <p:nvPr>
            <a:audioFile r:link="rId1"/>
            <p:extLst>
              <p:ext uri="{DAA4B4D4-6D71-4841-9C94-3DE7FCFB9230}">
                <p14:media xmlns:p14="http://schemas.microsoft.com/office/powerpoint/2010/main" r:embed="rId2">
                  <p14:trim end="213320"/>
                </p14:media>
              </p:ext>
            </p:extLst>
          </p:nvPr>
        </p:nvPicPr>
        <p:blipFill>
          <a:blip r:embed="rId5"/>
          <a:stretch>
            <a:fillRect/>
          </a:stretch>
        </p:blipFill>
        <p:spPr>
          <a:xfrm>
            <a:off x="-1282370" y="2565484"/>
            <a:ext cx="304800" cy="304800"/>
          </a:xfrm>
          <a:prstGeom prst="rect">
            <a:avLst/>
          </a:prstGeom>
        </p:spPr>
      </p:pic>
      <p:grpSp>
        <p:nvGrpSpPr>
          <p:cNvPr id="19" name="Group 18">
            <a:extLst>
              <a:ext uri="{FF2B5EF4-FFF2-40B4-BE49-F238E27FC236}">
                <a16:creationId xmlns:a16="http://schemas.microsoft.com/office/drawing/2014/main" id="{2B399FE1-B268-5F1F-B1FA-F457719D724C}"/>
              </a:ext>
            </a:extLst>
          </p:cNvPr>
          <p:cNvGrpSpPr/>
          <p:nvPr/>
        </p:nvGrpSpPr>
        <p:grpSpPr>
          <a:xfrm>
            <a:off x="280009" y="787002"/>
            <a:ext cx="1878458" cy="4026363"/>
            <a:chOff x="844642" y="1681136"/>
            <a:chExt cx="10502712" cy="5784908"/>
          </a:xfrm>
        </p:grpSpPr>
        <p:sp>
          <p:nvSpPr>
            <p:cNvPr id="13" name="Title 7">
              <a:extLst>
                <a:ext uri="{FF2B5EF4-FFF2-40B4-BE49-F238E27FC236}">
                  <a16:creationId xmlns:a16="http://schemas.microsoft.com/office/drawing/2014/main" id="{8DE03FF1-840A-2117-3004-C30E7555EFC9}"/>
                </a:ext>
              </a:extLst>
            </p:cNvPr>
            <p:cNvSpPr txBox="1">
              <a:spLocks/>
            </p:cNvSpPr>
            <p:nvPr/>
          </p:nvSpPr>
          <p:spPr>
            <a:xfrm>
              <a:off x="844645" y="1681136"/>
              <a:ext cx="10502709" cy="574456"/>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solidFill>
                    <a:srgbClr val="FFC000"/>
                  </a:solidFill>
                </a:rPr>
                <a:t>Content Purpose</a:t>
              </a:r>
            </a:p>
          </p:txBody>
        </p:sp>
        <p:sp>
          <p:nvSpPr>
            <p:cNvPr id="14" name="Title 7">
              <a:extLst>
                <a:ext uri="{FF2B5EF4-FFF2-40B4-BE49-F238E27FC236}">
                  <a16:creationId xmlns:a16="http://schemas.microsoft.com/office/drawing/2014/main" id="{6C2201E5-3197-6603-0D94-D576950F083D}"/>
                </a:ext>
              </a:extLst>
            </p:cNvPr>
            <p:cNvSpPr txBox="1">
              <a:spLocks/>
            </p:cNvSpPr>
            <p:nvPr/>
          </p:nvSpPr>
          <p:spPr>
            <a:xfrm>
              <a:off x="844643" y="2353603"/>
              <a:ext cx="10502709" cy="840172"/>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solidFill>
                    <a:srgbClr val="FFC000"/>
                  </a:solidFill>
                </a:rPr>
                <a:t>Advisory Status</a:t>
              </a:r>
            </a:p>
          </p:txBody>
        </p:sp>
        <p:sp>
          <p:nvSpPr>
            <p:cNvPr id="15" name="Title 7">
              <a:extLst>
                <a:ext uri="{FF2B5EF4-FFF2-40B4-BE49-F238E27FC236}">
                  <a16:creationId xmlns:a16="http://schemas.microsoft.com/office/drawing/2014/main" id="{CBCF57AE-277C-9FDC-099E-FC2CF48253C2}"/>
                </a:ext>
              </a:extLst>
            </p:cNvPr>
            <p:cNvSpPr txBox="1">
              <a:spLocks/>
            </p:cNvSpPr>
            <p:nvPr/>
          </p:nvSpPr>
          <p:spPr>
            <a:xfrm>
              <a:off x="844645" y="3298477"/>
              <a:ext cx="10502709" cy="574456"/>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solidFill>
                    <a:srgbClr val="FFC000"/>
                  </a:solidFill>
                </a:rPr>
                <a:t>Content Purpose</a:t>
              </a:r>
            </a:p>
          </p:txBody>
        </p:sp>
        <p:sp>
          <p:nvSpPr>
            <p:cNvPr id="16" name="Title 7">
              <a:extLst>
                <a:ext uri="{FF2B5EF4-FFF2-40B4-BE49-F238E27FC236}">
                  <a16:creationId xmlns:a16="http://schemas.microsoft.com/office/drawing/2014/main" id="{6EA068E0-2144-5C7F-CBAF-17316AA3873D}"/>
                </a:ext>
              </a:extLst>
            </p:cNvPr>
            <p:cNvSpPr txBox="1">
              <a:spLocks/>
            </p:cNvSpPr>
            <p:nvPr/>
          </p:nvSpPr>
          <p:spPr>
            <a:xfrm>
              <a:off x="844644" y="3981227"/>
              <a:ext cx="10502709" cy="574456"/>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solidFill>
                    <a:srgbClr val="FFC000"/>
                  </a:solidFill>
                </a:rPr>
                <a:t>Risk Warning</a:t>
              </a:r>
            </a:p>
          </p:txBody>
        </p:sp>
        <p:sp>
          <p:nvSpPr>
            <p:cNvPr id="17" name="Title 7">
              <a:extLst>
                <a:ext uri="{FF2B5EF4-FFF2-40B4-BE49-F238E27FC236}">
                  <a16:creationId xmlns:a16="http://schemas.microsoft.com/office/drawing/2014/main" id="{B527A497-5FEA-5A6B-3CD5-18080708ACA0}"/>
                </a:ext>
              </a:extLst>
            </p:cNvPr>
            <p:cNvSpPr txBox="1">
              <a:spLocks/>
            </p:cNvSpPr>
            <p:nvPr/>
          </p:nvSpPr>
          <p:spPr>
            <a:xfrm>
              <a:off x="844645" y="4655469"/>
              <a:ext cx="10502709" cy="908755"/>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solidFill>
                    <a:srgbClr val="FFC000"/>
                  </a:solidFill>
                </a:rPr>
                <a:t>Liability</a:t>
              </a:r>
            </a:p>
          </p:txBody>
        </p:sp>
        <p:sp>
          <p:nvSpPr>
            <p:cNvPr id="18" name="Title 7">
              <a:extLst>
                <a:ext uri="{FF2B5EF4-FFF2-40B4-BE49-F238E27FC236}">
                  <a16:creationId xmlns:a16="http://schemas.microsoft.com/office/drawing/2014/main" id="{AFA7281D-4100-BA9E-C295-3AE289229A46}"/>
                </a:ext>
              </a:extLst>
            </p:cNvPr>
            <p:cNvSpPr txBox="1">
              <a:spLocks/>
            </p:cNvSpPr>
            <p:nvPr/>
          </p:nvSpPr>
          <p:spPr>
            <a:xfrm>
              <a:off x="844642" y="5677694"/>
              <a:ext cx="10502709" cy="831785"/>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solidFill>
                    <a:srgbClr val="FFC000"/>
                  </a:solidFill>
                </a:rPr>
                <a:t>Recommendation</a:t>
              </a:r>
            </a:p>
          </p:txBody>
        </p:sp>
        <p:sp>
          <p:nvSpPr>
            <p:cNvPr id="20" name="Title 7">
              <a:extLst>
                <a:ext uri="{FF2B5EF4-FFF2-40B4-BE49-F238E27FC236}">
                  <a16:creationId xmlns:a16="http://schemas.microsoft.com/office/drawing/2014/main" id="{8F206109-CA70-7440-DD11-B9C108C33E8C}"/>
                </a:ext>
              </a:extLst>
            </p:cNvPr>
            <p:cNvSpPr txBox="1">
              <a:spLocks/>
            </p:cNvSpPr>
            <p:nvPr/>
          </p:nvSpPr>
          <p:spPr>
            <a:xfrm>
              <a:off x="844642" y="6634259"/>
              <a:ext cx="10502709" cy="831785"/>
            </a:xfrm>
            <a:prstGeom prst="rect">
              <a:avLst/>
            </a:prstGeom>
            <a:solidFill>
              <a:srgbClr val="FFFFFF">
                <a:alpha val="14902"/>
              </a:srgbClr>
            </a:solidFill>
          </p:spPr>
          <p:txBody>
            <a:bodyPr vert="horz" lIns="68580" tIns="34290" rIns="68580" bIns="34290" rtlCol="0" anchor="ctr">
              <a:noAutofit/>
            </a:bodyPr>
            <a:lstStyle>
              <a:defPPr>
                <a:defRPr lang="en-US"/>
              </a:defPPr>
              <a:lvl1pPr>
                <a:lnSpc>
                  <a:spcPct val="120000"/>
                </a:lnSpc>
                <a:spcBef>
                  <a:spcPct val="0"/>
                </a:spcBef>
                <a:buNone/>
                <a:defRPr sz="2200" b="1">
                  <a:solidFill>
                    <a:schemeClr val="accent4">
                      <a:lumMod val="60000"/>
                      <a:lumOff val="40000"/>
                    </a:schemeClr>
                  </a:solidFill>
                  <a:latin typeface="Aptos" panose="020B0004020202020204" pitchFamily="34" charset="0"/>
                  <a:ea typeface="+mj-ea"/>
                  <a:cs typeface="+mj-cs"/>
                </a:defRPr>
              </a:lvl1pPr>
            </a:lstStyle>
            <a:p>
              <a:r>
                <a:rPr lang="en-US" sz="1500" dirty="0">
                  <a:solidFill>
                    <a:srgbClr val="FFC000"/>
                  </a:solidFill>
                </a:rPr>
                <a:t>Legal Basis</a:t>
              </a:r>
              <a:endParaRPr lang="en-IN" sz="1500" dirty="0">
                <a:solidFill>
                  <a:srgbClr val="FFC000"/>
                </a:solidFill>
              </a:endParaRPr>
            </a:p>
          </p:txBody>
        </p:sp>
      </p:grpSp>
      <p:pic>
        <p:nvPicPr>
          <p:cNvPr id="21" name="Graphic 20" descr="Warning with solid fill">
            <a:extLst>
              <a:ext uri="{FF2B5EF4-FFF2-40B4-BE49-F238E27FC236}">
                <a16:creationId xmlns:a16="http://schemas.microsoft.com/office/drawing/2014/main" id="{37B056C0-10E4-097E-7914-158229F81B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40996" y="117407"/>
            <a:ext cx="459129" cy="450383"/>
          </a:xfrm>
          <a:prstGeom prst="rect">
            <a:avLst/>
          </a:prstGeom>
        </p:spPr>
      </p:pic>
      <p:grpSp>
        <p:nvGrpSpPr>
          <p:cNvPr id="23" name="Group 22">
            <a:extLst>
              <a:ext uri="{FF2B5EF4-FFF2-40B4-BE49-F238E27FC236}">
                <a16:creationId xmlns:a16="http://schemas.microsoft.com/office/drawing/2014/main" id="{010CD110-D3C7-B489-05AC-78F16E8A2315}"/>
              </a:ext>
            </a:extLst>
          </p:cNvPr>
          <p:cNvGrpSpPr/>
          <p:nvPr/>
        </p:nvGrpSpPr>
        <p:grpSpPr>
          <a:xfrm>
            <a:off x="2216543" y="774539"/>
            <a:ext cx="6590573" cy="4026363"/>
            <a:chOff x="844642" y="1681136"/>
            <a:chExt cx="10502712" cy="5784908"/>
          </a:xfrm>
        </p:grpSpPr>
        <p:sp>
          <p:nvSpPr>
            <p:cNvPr id="24" name="Title 7">
              <a:extLst>
                <a:ext uri="{FF2B5EF4-FFF2-40B4-BE49-F238E27FC236}">
                  <a16:creationId xmlns:a16="http://schemas.microsoft.com/office/drawing/2014/main" id="{2AD060FD-1461-559C-C0CB-682EC36EDC72}"/>
                </a:ext>
              </a:extLst>
            </p:cNvPr>
            <p:cNvSpPr txBox="1">
              <a:spLocks/>
            </p:cNvSpPr>
            <p:nvPr/>
          </p:nvSpPr>
          <p:spPr>
            <a:xfrm>
              <a:off x="844645" y="1681136"/>
              <a:ext cx="10502709" cy="574456"/>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400" b="1" dirty="0">
                  <a:solidFill>
                    <a:schemeClr val="tx1"/>
                  </a:solidFill>
                </a:rPr>
                <a:t>Educational and entertainment purposes only.</a:t>
              </a:r>
            </a:p>
          </p:txBody>
        </p:sp>
        <p:sp>
          <p:nvSpPr>
            <p:cNvPr id="25" name="Title 7">
              <a:extLst>
                <a:ext uri="{FF2B5EF4-FFF2-40B4-BE49-F238E27FC236}">
                  <a16:creationId xmlns:a16="http://schemas.microsoft.com/office/drawing/2014/main" id="{EDF3456A-9EC2-21F5-1927-378B3F1FCD3D}"/>
                </a:ext>
              </a:extLst>
            </p:cNvPr>
            <p:cNvSpPr txBox="1">
              <a:spLocks/>
            </p:cNvSpPr>
            <p:nvPr/>
          </p:nvSpPr>
          <p:spPr>
            <a:xfrm>
              <a:off x="844643" y="2353603"/>
              <a:ext cx="10502709" cy="840172"/>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400" b="1" dirty="0">
                  <a:solidFill>
                    <a:schemeClr val="tx1"/>
                  </a:solidFill>
                </a:rPr>
                <a:t>Not financial, investment, legal, or tax advice; creator is not a licensed financial advisor.</a:t>
              </a:r>
            </a:p>
          </p:txBody>
        </p:sp>
        <p:sp>
          <p:nvSpPr>
            <p:cNvPr id="26" name="Title 7">
              <a:extLst>
                <a:ext uri="{FF2B5EF4-FFF2-40B4-BE49-F238E27FC236}">
                  <a16:creationId xmlns:a16="http://schemas.microsoft.com/office/drawing/2014/main" id="{BFDFB7B4-DA49-AF99-67CC-F907E10A3F60}"/>
                </a:ext>
              </a:extLst>
            </p:cNvPr>
            <p:cNvSpPr txBox="1">
              <a:spLocks/>
            </p:cNvSpPr>
            <p:nvPr/>
          </p:nvSpPr>
          <p:spPr>
            <a:xfrm>
              <a:off x="844645" y="3298477"/>
              <a:ext cx="10502709" cy="574456"/>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400" b="1" dirty="0">
                  <a:solidFill>
                    <a:schemeClr val="tx1"/>
                  </a:solidFill>
                </a:rPr>
                <a:t>Educational and entertainment purposes only.</a:t>
              </a:r>
            </a:p>
          </p:txBody>
        </p:sp>
        <p:sp>
          <p:nvSpPr>
            <p:cNvPr id="27" name="Title 7">
              <a:extLst>
                <a:ext uri="{FF2B5EF4-FFF2-40B4-BE49-F238E27FC236}">
                  <a16:creationId xmlns:a16="http://schemas.microsoft.com/office/drawing/2014/main" id="{5C56D47E-F7CE-6904-2C81-B17CD2143C82}"/>
                </a:ext>
              </a:extLst>
            </p:cNvPr>
            <p:cNvSpPr txBox="1">
              <a:spLocks/>
            </p:cNvSpPr>
            <p:nvPr/>
          </p:nvSpPr>
          <p:spPr>
            <a:xfrm>
              <a:off x="844644" y="3981227"/>
              <a:ext cx="10502709" cy="574456"/>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400" b="1" dirty="0">
                  <a:solidFill>
                    <a:schemeClr val="tx1"/>
                  </a:solidFill>
                </a:rPr>
                <a:t>Investing involves risk, including potential loss of principal.</a:t>
              </a:r>
            </a:p>
          </p:txBody>
        </p:sp>
        <p:sp>
          <p:nvSpPr>
            <p:cNvPr id="28" name="Title 7">
              <a:extLst>
                <a:ext uri="{FF2B5EF4-FFF2-40B4-BE49-F238E27FC236}">
                  <a16:creationId xmlns:a16="http://schemas.microsoft.com/office/drawing/2014/main" id="{DFA0F27C-1198-6E1B-F6F9-1B056D0C167D}"/>
                </a:ext>
              </a:extLst>
            </p:cNvPr>
            <p:cNvSpPr txBox="1">
              <a:spLocks/>
            </p:cNvSpPr>
            <p:nvPr/>
          </p:nvSpPr>
          <p:spPr>
            <a:xfrm>
              <a:off x="844645" y="4655469"/>
              <a:ext cx="10502709" cy="908755"/>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400" b="1" dirty="0">
                  <a:solidFill>
                    <a:schemeClr val="tx1"/>
                  </a:solidFill>
                </a:rPr>
                <a:t>Opinions are the creator's own and may change without notice; the individual is responsible for their own decisions.</a:t>
              </a:r>
            </a:p>
          </p:txBody>
        </p:sp>
        <p:sp>
          <p:nvSpPr>
            <p:cNvPr id="29" name="Title 7">
              <a:extLst>
                <a:ext uri="{FF2B5EF4-FFF2-40B4-BE49-F238E27FC236}">
                  <a16:creationId xmlns:a16="http://schemas.microsoft.com/office/drawing/2014/main" id="{A7FBD42C-8131-478B-B5EB-7A1329552A73}"/>
                </a:ext>
              </a:extLst>
            </p:cNvPr>
            <p:cNvSpPr txBox="1">
              <a:spLocks/>
            </p:cNvSpPr>
            <p:nvPr/>
          </p:nvSpPr>
          <p:spPr>
            <a:xfrm>
              <a:off x="844642" y="5677694"/>
              <a:ext cx="10502709" cy="831785"/>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400" b="1" dirty="0">
                  <a:solidFill>
                    <a:schemeClr val="tx1"/>
                  </a:solidFill>
                </a:rPr>
                <a:t>Perform own research and consult a qualified professional before making investment decisions.</a:t>
              </a:r>
            </a:p>
          </p:txBody>
        </p:sp>
        <p:sp>
          <p:nvSpPr>
            <p:cNvPr id="30" name="Title 7">
              <a:extLst>
                <a:ext uri="{FF2B5EF4-FFF2-40B4-BE49-F238E27FC236}">
                  <a16:creationId xmlns:a16="http://schemas.microsoft.com/office/drawing/2014/main" id="{DB60985C-5D53-A6D2-4F49-292D5B01D5EF}"/>
                </a:ext>
              </a:extLst>
            </p:cNvPr>
            <p:cNvSpPr txBox="1">
              <a:spLocks/>
            </p:cNvSpPr>
            <p:nvPr/>
          </p:nvSpPr>
          <p:spPr>
            <a:xfrm>
              <a:off x="844642" y="6634259"/>
              <a:ext cx="10502709" cy="831785"/>
            </a:xfrm>
            <a:prstGeom prst="rect">
              <a:avLst/>
            </a:prstGeom>
            <a:solidFill>
              <a:srgbClr val="FFFFFF">
                <a:alpha val="14902"/>
              </a:srgbClr>
            </a:solidFill>
          </p:spPr>
          <p:txBody>
            <a:bodyPr vert="horz" lIns="68580" tIns="34290" rIns="68580" bIns="34290" rtlCol="0" anchor="ctr">
              <a:noAutofit/>
            </a:bodyPr>
            <a:lstStyle>
              <a:defPPr>
                <a:defRPr lang="en-US"/>
              </a:defPPr>
              <a:lvl1pPr>
                <a:lnSpc>
                  <a:spcPct val="120000"/>
                </a:lnSpc>
                <a:spcBef>
                  <a:spcPct val="0"/>
                </a:spcBef>
                <a:buNone/>
                <a:defRPr sz="2200" b="1">
                  <a:solidFill>
                    <a:schemeClr val="accent4">
                      <a:lumMod val="60000"/>
                      <a:lumOff val="40000"/>
                    </a:schemeClr>
                  </a:solidFill>
                  <a:latin typeface="Aptos" panose="020B0004020202020204" pitchFamily="34" charset="0"/>
                  <a:ea typeface="+mj-ea"/>
                  <a:cs typeface="+mj-cs"/>
                </a:defRPr>
              </a:lvl1pPr>
            </a:lstStyle>
            <a:p>
              <a:r>
                <a:rPr lang="en-US" sz="1400" dirty="0">
                  <a:solidFill>
                    <a:schemeClr val="tx1"/>
                  </a:solidFill>
                </a:rPr>
                <a:t>Third-party content is used under Fair Use for commentary, criticism, and analysis.</a:t>
              </a:r>
              <a:endParaRPr lang="en-IN" sz="1400" dirty="0">
                <a:solidFill>
                  <a:schemeClr val="tx1"/>
                </a:solidFill>
              </a:endParaRPr>
            </a:p>
          </p:txBody>
        </p:sp>
      </p:grpSp>
    </p:spTree>
    <p:extLst>
      <p:ext uri="{BB962C8B-B14F-4D97-AF65-F5344CB8AC3E}">
        <p14:creationId xmlns:p14="http://schemas.microsoft.com/office/powerpoint/2010/main" val="3726314589"/>
      </p:ext>
    </p:extLst>
  </p:cSld>
  <p:clrMapOvr>
    <a:masterClrMapping/>
  </p:clrMapOvr>
  <mc:AlternateContent xmlns:mc="http://schemas.openxmlformats.org/markup-compatibility/2006" xmlns:p14="http://schemas.microsoft.com/office/powerpoint/2010/main">
    <mc:Choice Requires="p14">
      <p:transition spd="slow" p14:dur="2000" advTm="77673"/>
    </mc:Choice>
    <mc:Fallback xmlns="">
      <p:transition spd="slow" advTm="776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5">
                                            <p:txEl>
                                              <p:pRg st="0" end="0"/>
                                            </p:txEl>
                                          </p:spTgt>
                                        </p:tgtEl>
                                      </p:cBhvr>
                                    </p:animEffect>
                                    <p:animScale>
                                      <p:cBhvr>
                                        <p:cTn id="7" dur="250" autoRev="1" fill="hold"/>
                                        <p:tgtEl>
                                          <p:spTgt spid="5">
                                            <p:txEl>
                                              <p:pRg st="0" end="0"/>
                                            </p:txEl>
                                          </p:spTgt>
                                        </p:tgtEl>
                                      </p:cBhvr>
                                      <p:by x="105000" y="105000"/>
                                    </p:animScale>
                                  </p:childTnLst>
                                </p:cTn>
                              </p:par>
                            </p:childTnLst>
                          </p:cTn>
                        </p:par>
                        <p:par>
                          <p:cTn id="8" fill="hold">
                            <p:stCondLst>
                              <p:cond delay="500"/>
                            </p:stCondLst>
                            <p:childTnLst>
                              <p:par>
                                <p:cTn id="9" presetID="1" presetClass="mediacall" presetSubtype="0" fill="hold" nodeType="afterEffect">
                                  <p:stCondLst>
                                    <p:cond delay="0"/>
                                  </p:stCondLst>
                                  <p:childTnLst>
                                    <p:cmd type="call" cmd="playFrom(0.0)">
                                      <p:cBhvr>
                                        <p:cTn id="10" dur="1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8"/>
                </p:tgtEl>
              </p:cMediaNode>
            </p:audio>
          </p:childTnLst>
        </p:cTn>
      </p:par>
    </p:tnLst>
  </p:timing>
  <p:extLst>
    <p:ext uri="{E180D4A7-C9FB-4DFB-919C-405C955672EB}">
      <p14:showEvtLst xmlns:p14="http://schemas.microsoft.com/office/powerpoint/2010/main">
        <p14:playEvt time="551" objId="8"/>
        <p14:stopEvt time="10577" objId="8"/>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4ED8"/>
          </a:solidFill>
          <a:ln/>
        </p:spPr>
      </p:sp>
      <p:sp>
        <p:nvSpPr>
          <p:cNvPr id="3" name="Shape 1"/>
          <p:cNvSpPr/>
          <p:nvPr/>
        </p:nvSpPr>
        <p:spPr>
          <a:xfrm>
            <a:off x="164592" y="0"/>
            <a:ext cx="91440" cy="5143500"/>
          </a:xfrm>
          <a:prstGeom prst="rect">
            <a:avLst/>
          </a:prstGeom>
          <a:solidFill>
            <a:srgbClr val="06B6D4">
              <a:alpha val="35000"/>
            </a:srgbClr>
          </a:solidFill>
          <a:ln/>
        </p:spPr>
      </p:sp>
      <p:sp>
        <p:nvSpPr>
          <p:cNvPr id="4" name="Text 2"/>
          <p:cNvSpPr/>
          <p:nvPr/>
        </p:nvSpPr>
        <p:spPr>
          <a:xfrm>
            <a:off x="365760" y="256032"/>
            <a:ext cx="8503920" cy="274320"/>
          </a:xfrm>
          <a:prstGeom prst="rect">
            <a:avLst/>
          </a:prstGeom>
          <a:noFill/>
          <a:ln/>
        </p:spPr>
        <p:txBody>
          <a:bodyPr wrap="square" rtlCol="0" anchor="ctr"/>
          <a:lstStyle/>
          <a:p>
            <a:pPr marL="0" indent="0">
              <a:buNone/>
            </a:pPr>
            <a:r>
              <a:rPr lang="en-US" sz="950" b="1" kern="0" spc="500" dirty="0">
                <a:solidFill>
                  <a:srgbClr val="06B6D4"/>
                </a:solidFill>
              </a:rPr>
              <a:t>DREAMLIT SECTOR RESEARCH</a:t>
            </a:r>
            <a:endParaRPr lang="en-US" sz="950" dirty="0"/>
          </a:p>
        </p:txBody>
      </p:sp>
      <p:sp>
        <p:nvSpPr>
          <p:cNvPr id="5" name="Text 3"/>
          <p:cNvSpPr/>
          <p:nvPr/>
        </p:nvSpPr>
        <p:spPr>
          <a:xfrm>
            <a:off x="365760" y="1060986"/>
            <a:ext cx="3836126" cy="91440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Artificial Intelligence</a:t>
            </a:r>
            <a:endParaRPr lang="en-US" sz="4400" dirty="0"/>
          </a:p>
        </p:txBody>
      </p:sp>
      <p:sp>
        <p:nvSpPr>
          <p:cNvPr id="6" name="Text 4"/>
          <p:cNvSpPr/>
          <p:nvPr/>
        </p:nvSpPr>
        <p:spPr>
          <a:xfrm>
            <a:off x="292608" y="2139978"/>
            <a:ext cx="8229600" cy="777240"/>
          </a:xfrm>
          <a:prstGeom prst="rect">
            <a:avLst/>
          </a:prstGeom>
          <a:noFill/>
          <a:ln/>
        </p:spPr>
        <p:txBody>
          <a:bodyPr wrap="square" rtlCol="0" anchor="ctr"/>
          <a:lstStyle/>
          <a:p>
            <a:pPr marL="0" indent="0">
              <a:buNone/>
            </a:pPr>
            <a:r>
              <a:rPr lang="en-US" sz="5600" dirty="0">
                <a:solidFill>
                  <a:srgbClr val="06B6D4"/>
                </a:solidFill>
                <a:latin typeface="Calibri" pitchFamily="34" charset="0"/>
                <a:ea typeface="Calibri" pitchFamily="34" charset="-122"/>
                <a:cs typeface="Calibri" pitchFamily="34" charset="-120"/>
              </a:rPr>
              <a:t>&amp; Robotics</a:t>
            </a:r>
            <a:endParaRPr lang="en-US" sz="5600" dirty="0"/>
          </a:p>
        </p:txBody>
      </p:sp>
      <p:sp>
        <p:nvSpPr>
          <p:cNvPr id="7" name="Text 5"/>
          <p:cNvSpPr/>
          <p:nvPr/>
        </p:nvSpPr>
        <p:spPr>
          <a:xfrm>
            <a:off x="329184" y="2985733"/>
            <a:ext cx="4572000" cy="320040"/>
          </a:xfrm>
          <a:prstGeom prst="rect">
            <a:avLst/>
          </a:prstGeom>
          <a:noFill/>
          <a:ln/>
        </p:spPr>
        <p:txBody>
          <a:bodyPr wrap="square" rtlCol="0" anchor="ctr"/>
          <a:lstStyle/>
          <a:p>
            <a:pPr marL="0" indent="0">
              <a:buNone/>
            </a:pPr>
            <a:r>
              <a:rPr lang="en-US" sz="1400" b="1" kern="0" spc="300" dirty="0">
                <a:solidFill>
                  <a:srgbClr val="F59E0B"/>
                </a:solidFill>
              </a:rPr>
              <a:t>SECTOR DEEP DIVE</a:t>
            </a:r>
            <a:endParaRPr lang="en-US" sz="1400" dirty="0"/>
          </a:p>
        </p:txBody>
      </p:sp>
      <p:sp>
        <p:nvSpPr>
          <p:cNvPr id="8" name="Text 6"/>
          <p:cNvSpPr/>
          <p:nvPr/>
        </p:nvSpPr>
        <p:spPr>
          <a:xfrm>
            <a:off x="329184" y="3415501"/>
            <a:ext cx="5943600" cy="685800"/>
          </a:xfrm>
          <a:prstGeom prst="rect">
            <a:avLst/>
          </a:prstGeom>
          <a:noFill/>
          <a:ln/>
        </p:spPr>
        <p:txBody>
          <a:bodyPr wrap="square" rtlCol="0" anchor="ctr"/>
          <a:lstStyle/>
          <a:p>
            <a:pPr marL="0" indent="0">
              <a:buNone/>
            </a:pPr>
            <a:r>
              <a:rPr lang="en-US" sz="1300" i="1" dirty="0">
                <a:solidFill>
                  <a:srgbClr val="E2E8F0"/>
                </a:solidFill>
              </a:rPr>
              <a:t>The Physical AI Revolution — Chips, Models, Autonomous Systems,</a:t>
            </a:r>
            <a:endParaRPr lang="en-US" sz="1300" dirty="0"/>
          </a:p>
          <a:p>
            <a:pPr marL="0" indent="0">
              <a:buNone/>
            </a:pPr>
            <a:r>
              <a:rPr lang="en-US" sz="1300" i="1" dirty="0">
                <a:solidFill>
                  <a:srgbClr val="E2E8F0"/>
                </a:solidFill>
              </a:rPr>
              <a:t>Humanoid Robotics &amp; The $700B Infrastructure Arms Race</a:t>
            </a:r>
            <a:endParaRPr lang="en-US" sz="1300" dirty="0"/>
          </a:p>
        </p:txBody>
      </p:sp>
      <p:sp>
        <p:nvSpPr>
          <p:cNvPr id="9" name="Text 7"/>
          <p:cNvSpPr/>
          <p:nvPr/>
        </p:nvSpPr>
        <p:spPr>
          <a:xfrm>
            <a:off x="365760" y="4663440"/>
            <a:ext cx="4572000" cy="384048"/>
          </a:xfrm>
          <a:prstGeom prst="rect">
            <a:avLst/>
          </a:prstGeom>
          <a:noFill/>
          <a:ln/>
        </p:spPr>
        <p:txBody>
          <a:bodyPr wrap="square" rtlCol="0" anchor="ctr"/>
          <a:lstStyle/>
          <a:p>
            <a:pPr marL="0" indent="0">
              <a:buNone/>
            </a:pPr>
            <a:r>
              <a:rPr lang="en-US" sz="950" dirty="0">
                <a:solidFill>
                  <a:srgbClr val="64748B"/>
                </a:solidFill>
              </a:rPr>
              <a:t>Date: June 2026  |  Analyst: Dreamlit Quant Research</a:t>
            </a:r>
            <a:r>
              <a:rPr lang="en-US" sz="950" dirty="0"/>
              <a:t> </a:t>
            </a:r>
          </a:p>
        </p:txBody>
      </p:sp>
      <p:grpSp>
        <p:nvGrpSpPr>
          <p:cNvPr id="33" name="Group 32">
            <a:extLst>
              <a:ext uri="{FF2B5EF4-FFF2-40B4-BE49-F238E27FC236}">
                <a16:creationId xmlns:a16="http://schemas.microsoft.com/office/drawing/2014/main" id="{016EE9F8-7B37-B6BB-3D80-76512C30EC13}"/>
              </a:ext>
            </a:extLst>
          </p:cNvPr>
          <p:cNvGrpSpPr/>
          <p:nvPr/>
        </p:nvGrpSpPr>
        <p:grpSpPr>
          <a:xfrm>
            <a:off x="5373770" y="372389"/>
            <a:ext cx="3569062" cy="4457192"/>
            <a:chOff x="6126480" y="777240"/>
            <a:chExt cx="2788920" cy="4114800"/>
          </a:xfrm>
        </p:grpSpPr>
        <p:sp>
          <p:nvSpPr>
            <p:cNvPr id="10" name="Shape 8"/>
            <p:cNvSpPr/>
            <p:nvPr/>
          </p:nvSpPr>
          <p:spPr>
            <a:xfrm>
              <a:off x="6126480" y="777240"/>
              <a:ext cx="2788920" cy="4114800"/>
            </a:xfrm>
            <a:prstGeom prst="rect">
              <a:avLst/>
            </a:prstGeom>
            <a:solidFill>
              <a:srgbClr val="0F1F3D"/>
            </a:solidFill>
            <a:ln/>
            <a:effectLst>
              <a:outerShdw blurRad="127000" dist="50800" dir="8100000" algn="bl" rotWithShape="0">
                <a:srgbClr val="000000">
                  <a:alpha val="25000"/>
                </a:srgbClr>
              </a:outerShdw>
            </a:effectLst>
          </p:spPr>
        </p:sp>
        <p:sp>
          <p:nvSpPr>
            <p:cNvPr id="11" name="Shape 9"/>
            <p:cNvSpPr/>
            <p:nvPr/>
          </p:nvSpPr>
          <p:spPr>
            <a:xfrm>
              <a:off x="6126480" y="777240"/>
              <a:ext cx="2788920" cy="329184"/>
            </a:xfrm>
            <a:prstGeom prst="rect">
              <a:avLst/>
            </a:prstGeom>
            <a:solidFill>
              <a:srgbClr val="1D4ED8"/>
            </a:solidFill>
            <a:ln/>
          </p:spPr>
        </p:sp>
        <p:sp>
          <p:nvSpPr>
            <p:cNvPr id="12" name="Text 10"/>
            <p:cNvSpPr/>
            <p:nvPr/>
          </p:nvSpPr>
          <p:spPr>
            <a:xfrm>
              <a:off x="6199632" y="777240"/>
              <a:ext cx="2651760" cy="329184"/>
            </a:xfrm>
            <a:prstGeom prst="rect">
              <a:avLst/>
            </a:prstGeom>
            <a:noFill/>
            <a:ln/>
          </p:spPr>
          <p:txBody>
            <a:bodyPr wrap="square" rtlCol="0" anchor="ctr"/>
            <a:lstStyle/>
            <a:p>
              <a:pPr marL="0" indent="0" algn="ctr">
                <a:buNone/>
              </a:pPr>
              <a:r>
                <a:rPr lang="en-US" sz="900" b="1" dirty="0">
                  <a:solidFill>
                    <a:srgbClr val="FFFFFF"/>
                  </a:solidFill>
                </a:rPr>
                <a:t>SECTOR SNAPSHOT  (2026)</a:t>
              </a:r>
              <a:endParaRPr lang="en-US" sz="900" dirty="0"/>
            </a:p>
          </p:txBody>
        </p:sp>
        <p:sp>
          <p:nvSpPr>
            <p:cNvPr id="13" name="Text 11"/>
            <p:cNvSpPr/>
            <p:nvPr/>
          </p:nvSpPr>
          <p:spPr>
            <a:xfrm>
              <a:off x="6236208" y="1170432"/>
              <a:ext cx="1645920" cy="338328"/>
            </a:xfrm>
            <a:prstGeom prst="rect">
              <a:avLst/>
            </a:prstGeom>
            <a:noFill/>
            <a:ln/>
          </p:spPr>
          <p:txBody>
            <a:bodyPr wrap="square" rtlCol="0" anchor="ctr"/>
            <a:lstStyle/>
            <a:p>
              <a:pPr marL="0" indent="0">
                <a:buNone/>
              </a:pPr>
              <a:r>
                <a:rPr lang="en-US" sz="900" dirty="0">
                  <a:solidFill>
                    <a:srgbClr val="64748B"/>
                  </a:solidFill>
                </a:rPr>
                <a:t>Hyperscaler Capex 2026</a:t>
              </a:r>
              <a:endParaRPr lang="en-US" sz="900" dirty="0"/>
            </a:p>
          </p:txBody>
        </p:sp>
        <p:sp>
          <p:nvSpPr>
            <p:cNvPr id="14" name="Text 12"/>
            <p:cNvSpPr/>
            <p:nvPr/>
          </p:nvSpPr>
          <p:spPr>
            <a:xfrm>
              <a:off x="7571232" y="1170432"/>
              <a:ext cx="1261872" cy="338328"/>
            </a:xfrm>
            <a:prstGeom prst="rect">
              <a:avLst/>
            </a:prstGeom>
            <a:noFill/>
            <a:ln/>
          </p:spPr>
          <p:txBody>
            <a:bodyPr wrap="square" rtlCol="0" anchor="ctr"/>
            <a:lstStyle/>
            <a:p>
              <a:pPr marL="0" indent="0" algn="r">
                <a:buNone/>
              </a:pPr>
              <a:r>
                <a:rPr lang="en-US" sz="880" b="1" dirty="0">
                  <a:solidFill>
                    <a:srgbClr val="FFFFFF"/>
                  </a:solidFill>
                </a:rPr>
                <a:t>~$700B+</a:t>
              </a:r>
              <a:endParaRPr lang="en-US" sz="880" dirty="0"/>
            </a:p>
          </p:txBody>
        </p:sp>
        <p:sp>
          <p:nvSpPr>
            <p:cNvPr id="15" name="Text 13"/>
            <p:cNvSpPr/>
            <p:nvPr/>
          </p:nvSpPr>
          <p:spPr>
            <a:xfrm>
              <a:off x="6236208" y="1536192"/>
              <a:ext cx="1645920" cy="338328"/>
            </a:xfrm>
            <a:prstGeom prst="rect">
              <a:avLst/>
            </a:prstGeom>
            <a:noFill/>
            <a:ln/>
          </p:spPr>
          <p:txBody>
            <a:bodyPr wrap="square" rtlCol="0" anchor="ctr"/>
            <a:lstStyle/>
            <a:p>
              <a:pPr marL="0" indent="0">
                <a:buNone/>
              </a:pPr>
              <a:r>
                <a:rPr lang="en-US" sz="900" dirty="0">
                  <a:solidFill>
                    <a:srgbClr val="64748B"/>
                  </a:solidFill>
                </a:rPr>
                <a:t>Humanoid Robot CAGR</a:t>
              </a:r>
              <a:endParaRPr lang="en-US" sz="900" dirty="0"/>
            </a:p>
          </p:txBody>
        </p:sp>
        <p:sp>
          <p:nvSpPr>
            <p:cNvPr id="16" name="Text 14"/>
            <p:cNvSpPr/>
            <p:nvPr/>
          </p:nvSpPr>
          <p:spPr>
            <a:xfrm>
              <a:off x="7571232" y="1536192"/>
              <a:ext cx="1261872" cy="338328"/>
            </a:xfrm>
            <a:prstGeom prst="rect">
              <a:avLst/>
            </a:prstGeom>
            <a:noFill/>
            <a:ln/>
          </p:spPr>
          <p:txBody>
            <a:bodyPr wrap="square" rtlCol="0" anchor="ctr"/>
            <a:lstStyle/>
            <a:p>
              <a:pPr marL="0" indent="0" algn="r">
                <a:buNone/>
              </a:pPr>
              <a:r>
                <a:rPr lang="en-US" sz="880" b="1" dirty="0">
                  <a:solidFill>
                    <a:srgbClr val="FFFFFF"/>
                  </a:solidFill>
                </a:rPr>
                <a:t>~50% (2026–34)</a:t>
              </a:r>
              <a:endParaRPr lang="en-US" sz="880" dirty="0"/>
            </a:p>
          </p:txBody>
        </p:sp>
        <p:sp>
          <p:nvSpPr>
            <p:cNvPr id="17" name="Text 15"/>
            <p:cNvSpPr/>
            <p:nvPr/>
          </p:nvSpPr>
          <p:spPr>
            <a:xfrm>
              <a:off x="6236208" y="1901952"/>
              <a:ext cx="1645920" cy="338328"/>
            </a:xfrm>
            <a:prstGeom prst="rect">
              <a:avLst/>
            </a:prstGeom>
            <a:noFill/>
            <a:ln/>
          </p:spPr>
          <p:txBody>
            <a:bodyPr wrap="square" rtlCol="0" anchor="ctr"/>
            <a:lstStyle/>
            <a:p>
              <a:pPr marL="0" indent="0">
                <a:buNone/>
              </a:pPr>
              <a:r>
                <a:rPr lang="en-US" sz="900" dirty="0">
                  <a:solidFill>
                    <a:srgbClr val="64748B"/>
                  </a:solidFill>
                </a:rPr>
                <a:t>Humanoid Market 2026</a:t>
              </a:r>
              <a:endParaRPr lang="en-US" sz="900" dirty="0"/>
            </a:p>
          </p:txBody>
        </p:sp>
        <p:sp>
          <p:nvSpPr>
            <p:cNvPr id="18" name="Text 16"/>
            <p:cNvSpPr/>
            <p:nvPr/>
          </p:nvSpPr>
          <p:spPr>
            <a:xfrm>
              <a:off x="7571232" y="1901952"/>
              <a:ext cx="1261872" cy="338328"/>
            </a:xfrm>
            <a:prstGeom prst="rect">
              <a:avLst/>
            </a:prstGeom>
            <a:noFill/>
            <a:ln/>
          </p:spPr>
          <p:txBody>
            <a:bodyPr wrap="square" rtlCol="0" anchor="ctr"/>
            <a:lstStyle/>
            <a:p>
              <a:pPr marL="0" indent="0" algn="r">
                <a:buNone/>
              </a:pPr>
              <a:r>
                <a:rPr lang="en-US" sz="880" b="1" dirty="0">
                  <a:solidFill>
                    <a:srgbClr val="FFFFFF"/>
                  </a:solidFill>
                </a:rPr>
                <a:t>$4–6B</a:t>
              </a:r>
              <a:endParaRPr lang="en-US" sz="880" dirty="0"/>
            </a:p>
          </p:txBody>
        </p:sp>
        <p:sp>
          <p:nvSpPr>
            <p:cNvPr id="19" name="Text 17"/>
            <p:cNvSpPr/>
            <p:nvPr/>
          </p:nvSpPr>
          <p:spPr>
            <a:xfrm>
              <a:off x="6236208" y="2267712"/>
              <a:ext cx="1645920" cy="338328"/>
            </a:xfrm>
            <a:prstGeom prst="rect">
              <a:avLst/>
            </a:prstGeom>
            <a:noFill/>
            <a:ln/>
          </p:spPr>
          <p:txBody>
            <a:bodyPr wrap="square" rtlCol="0" anchor="ctr"/>
            <a:lstStyle/>
            <a:p>
              <a:pPr marL="0" indent="0">
                <a:buNone/>
              </a:pPr>
              <a:r>
                <a:rPr lang="en-US" sz="900" dirty="0">
                  <a:solidFill>
                    <a:srgbClr val="64748B"/>
                  </a:solidFill>
                </a:rPr>
                <a:t>Industrial Robot Mkt</a:t>
              </a:r>
              <a:endParaRPr lang="en-US" sz="900" dirty="0"/>
            </a:p>
          </p:txBody>
        </p:sp>
        <p:sp>
          <p:nvSpPr>
            <p:cNvPr id="20" name="Text 18"/>
            <p:cNvSpPr/>
            <p:nvPr/>
          </p:nvSpPr>
          <p:spPr>
            <a:xfrm>
              <a:off x="7571232" y="2267712"/>
              <a:ext cx="1261872" cy="338328"/>
            </a:xfrm>
            <a:prstGeom prst="rect">
              <a:avLst/>
            </a:prstGeom>
            <a:noFill/>
            <a:ln/>
          </p:spPr>
          <p:txBody>
            <a:bodyPr wrap="square" rtlCol="0" anchor="ctr"/>
            <a:lstStyle/>
            <a:p>
              <a:pPr marL="0" indent="0" algn="r">
                <a:buNone/>
              </a:pPr>
              <a:r>
                <a:rPr lang="en-US" sz="880" b="1" dirty="0">
                  <a:solidFill>
                    <a:srgbClr val="FFFFFF"/>
                  </a:solidFill>
                </a:rPr>
                <a:t>$17.9B → $33B</a:t>
              </a:r>
              <a:endParaRPr lang="en-US" sz="880" dirty="0"/>
            </a:p>
          </p:txBody>
        </p:sp>
        <p:sp>
          <p:nvSpPr>
            <p:cNvPr id="21" name="Text 19"/>
            <p:cNvSpPr/>
            <p:nvPr/>
          </p:nvSpPr>
          <p:spPr>
            <a:xfrm>
              <a:off x="6236208" y="2633472"/>
              <a:ext cx="1645920" cy="338328"/>
            </a:xfrm>
            <a:prstGeom prst="rect">
              <a:avLst/>
            </a:prstGeom>
            <a:noFill/>
            <a:ln/>
          </p:spPr>
          <p:txBody>
            <a:bodyPr wrap="square" rtlCol="0" anchor="ctr"/>
            <a:lstStyle/>
            <a:p>
              <a:pPr marL="0" indent="0">
                <a:buNone/>
              </a:pPr>
              <a:r>
                <a:rPr lang="en-US" sz="900" dirty="0">
                  <a:solidFill>
                    <a:srgbClr val="64748B"/>
                  </a:solidFill>
                </a:rPr>
                <a:t>Surgical Robot Rev</a:t>
              </a:r>
              <a:endParaRPr lang="en-US" sz="900" dirty="0"/>
            </a:p>
          </p:txBody>
        </p:sp>
        <p:sp>
          <p:nvSpPr>
            <p:cNvPr id="22" name="Text 20"/>
            <p:cNvSpPr/>
            <p:nvPr/>
          </p:nvSpPr>
          <p:spPr>
            <a:xfrm>
              <a:off x="7571232" y="2633472"/>
              <a:ext cx="1261872" cy="338328"/>
            </a:xfrm>
            <a:prstGeom prst="rect">
              <a:avLst/>
            </a:prstGeom>
            <a:noFill/>
            <a:ln/>
          </p:spPr>
          <p:txBody>
            <a:bodyPr wrap="square" rtlCol="0" anchor="ctr"/>
            <a:lstStyle/>
            <a:p>
              <a:pPr marL="0" indent="0" algn="r">
                <a:buNone/>
              </a:pPr>
              <a:r>
                <a:rPr lang="en-US" sz="880" b="1" dirty="0">
                  <a:solidFill>
                    <a:srgbClr val="FFFFFF"/>
                  </a:solidFill>
                </a:rPr>
                <a:t>~$10B (ISRG alone)</a:t>
              </a:r>
              <a:endParaRPr lang="en-US" sz="880" dirty="0"/>
            </a:p>
          </p:txBody>
        </p:sp>
        <p:sp>
          <p:nvSpPr>
            <p:cNvPr id="23" name="Text 21"/>
            <p:cNvSpPr/>
            <p:nvPr/>
          </p:nvSpPr>
          <p:spPr>
            <a:xfrm>
              <a:off x="6236208" y="2999232"/>
              <a:ext cx="1645920" cy="338328"/>
            </a:xfrm>
            <a:prstGeom prst="rect">
              <a:avLst/>
            </a:prstGeom>
            <a:noFill/>
            <a:ln/>
          </p:spPr>
          <p:txBody>
            <a:bodyPr wrap="square" rtlCol="0" anchor="ctr"/>
            <a:lstStyle/>
            <a:p>
              <a:pPr marL="0" indent="0">
                <a:buNone/>
              </a:pPr>
              <a:r>
                <a:rPr lang="en-US" sz="900" dirty="0">
                  <a:solidFill>
                    <a:srgbClr val="64748B"/>
                  </a:solidFill>
                </a:rPr>
                <a:t>NVIDIA Robotics TAM</a:t>
              </a:r>
              <a:endParaRPr lang="en-US" sz="900" dirty="0"/>
            </a:p>
          </p:txBody>
        </p:sp>
        <p:sp>
          <p:nvSpPr>
            <p:cNvPr id="24" name="Text 22"/>
            <p:cNvSpPr/>
            <p:nvPr/>
          </p:nvSpPr>
          <p:spPr>
            <a:xfrm>
              <a:off x="7571232" y="2999232"/>
              <a:ext cx="1261872" cy="338328"/>
            </a:xfrm>
            <a:prstGeom prst="rect">
              <a:avLst/>
            </a:prstGeom>
            <a:noFill/>
            <a:ln/>
          </p:spPr>
          <p:txBody>
            <a:bodyPr wrap="square" rtlCol="0" anchor="ctr"/>
            <a:lstStyle/>
            <a:p>
              <a:pPr marL="0" indent="0" algn="r">
                <a:buNone/>
              </a:pPr>
              <a:r>
                <a:rPr lang="en-US" sz="880" b="1" dirty="0">
                  <a:solidFill>
                    <a:srgbClr val="FFFFFF"/>
                  </a:solidFill>
                </a:rPr>
                <a:t>$50B+ (est. 2030)</a:t>
              </a:r>
              <a:endParaRPr lang="en-US" sz="880" dirty="0"/>
            </a:p>
          </p:txBody>
        </p:sp>
        <p:sp>
          <p:nvSpPr>
            <p:cNvPr id="25" name="Text 23"/>
            <p:cNvSpPr/>
            <p:nvPr/>
          </p:nvSpPr>
          <p:spPr>
            <a:xfrm>
              <a:off x="6236208" y="3364992"/>
              <a:ext cx="1645920" cy="338328"/>
            </a:xfrm>
            <a:prstGeom prst="rect">
              <a:avLst/>
            </a:prstGeom>
            <a:noFill/>
            <a:ln/>
          </p:spPr>
          <p:txBody>
            <a:bodyPr wrap="square" rtlCol="0" anchor="ctr"/>
            <a:lstStyle/>
            <a:p>
              <a:pPr marL="0" indent="0">
                <a:buNone/>
              </a:pPr>
              <a:r>
                <a:rPr lang="en-US" sz="900" dirty="0">
                  <a:solidFill>
                    <a:srgbClr val="64748B"/>
                  </a:solidFill>
                </a:rPr>
                <a:t>Palantir Q1'26 Rev</a:t>
              </a:r>
              <a:endParaRPr lang="en-US" sz="900" dirty="0"/>
            </a:p>
          </p:txBody>
        </p:sp>
        <p:sp>
          <p:nvSpPr>
            <p:cNvPr id="26" name="Text 24"/>
            <p:cNvSpPr/>
            <p:nvPr/>
          </p:nvSpPr>
          <p:spPr>
            <a:xfrm>
              <a:off x="7571232" y="3364992"/>
              <a:ext cx="1261872" cy="338328"/>
            </a:xfrm>
            <a:prstGeom prst="rect">
              <a:avLst/>
            </a:prstGeom>
            <a:noFill/>
            <a:ln/>
          </p:spPr>
          <p:txBody>
            <a:bodyPr wrap="square" rtlCol="0" anchor="ctr"/>
            <a:lstStyle/>
            <a:p>
              <a:pPr marL="0" indent="0" algn="r">
                <a:buNone/>
              </a:pPr>
              <a:r>
                <a:rPr lang="en-US" sz="880" b="1" dirty="0">
                  <a:solidFill>
                    <a:srgbClr val="FFFFFF"/>
                  </a:solidFill>
                </a:rPr>
                <a:t>$1.63B (+85% YoY)</a:t>
              </a:r>
              <a:endParaRPr lang="en-US" sz="880" dirty="0"/>
            </a:p>
          </p:txBody>
        </p:sp>
        <p:sp>
          <p:nvSpPr>
            <p:cNvPr id="27" name="Text 25"/>
            <p:cNvSpPr/>
            <p:nvPr/>
          </p:nvSpPr>
          <p:spPr>
            <a:xfrm>
              <a:off x="6236208" y="3730752"/>
              <a:ext cx="1645920" cy="338328"/>
            </a:xfrm>
            <a:prstGeom prst="rect">
              <a:avLst/>
            </a:prstGeom>
            <a:noFill/>
            <a:ln/>
          </p:spPr>
          <p:txBody>
            <a:bodyPr wrap="square" rtlCol="0" anchor="ctr"/>
            <a:lstStyle/>
            <a:p>
              <a:pPr marL="0" indent="0">
                <a:buNone/>
              </a:pPr>
              <a:r>
                <a:rPr lang="en-US" sz="900" dirty="0">
                  <a:solidFill>
                    <a:srgbClr val="64748B"/>
                  </a:solidFill>
                </a:rPr>
                <a:t>AV Rides (Waymo)</a:t>
              </a:r>
              <a:endParaRPr lang="en-US" sz="900" dirty="0"/>
            </a:p>
          </p:txBody>
        </p:sp>
        <p:sp>
          <p:nvSpPr>
            <p:cNvPr id="28" name="Text 26"/>
            <p:cNvSpPr/>
            <p:nvPr/>
          </p:nvSpPr>
          <p:spPr>
            <a:xfrm>
              <a:off x="7571232" y="3730752"/>
              <a:ext cx="1261872" cy="338328"/>
            </a:xfrm>
            <a:prstGeom prst="rect">
              <a:avLst/>
            </a:prstGeom>
            <a:noFill/>
            <a:ln/>
          </p:spPr>
          <p:txBody>
            <a:bodyPr wrap="square" rtlCol="0" anchor="ctr"/>
            <a:lstStyle/>
            <a:p>
              <a:pPr marL="0" indent="0" algn="r">
                <a:buNone/>
              </a:pPr>
              <a:r>
                <a:rPr lang="en-US" sz="880" b="1" dirty="0">
                  <a:solidFill>
                    <a:srgbClr val="FFFFFF"/>
                  </a:solidFill>
                </a:rPr>
                <a:t>250K+/wk (US)</a:t>
              </a:r>
              <a:endParaRPr lang="en-US" sz="880" dirty="0"/>
            </a:p>
          </p:txBody>
        </p:sp>
        <p:sp>
          <p:nvSpPr>
            <p:cNvPr id="29" name="Text 27"/>
            <p:cNvSpPr/>
            <p:nvPr/>
          </p:nvSpPr>
          <p:spPr>
            <a:xfrm>
              <a:off x="6236208" y="4096512"/>
              <a:ext cx="1645920" cy="338328"/>
            </a:xfrm>
            <a:prstGeom prst="rect">
              <a:avLst/>
            </a:prstGeom>
            <a:noFill/>
            <a:ln/>
          </p:spPr>
          <p:txBody>
            <a:bodyPr wrap="square" rtlCol="0" anchor="ctr"/>
            <a:lstStyle/>
            <a:p>
              <a:pPr marL="0" indent="0">
                <a:buNone/>
              </a:pPr>
              <a:r>
                <a:rPr lang="en-US" sz="900" dirty="0">
                  <a:solidFill>
                    <a:srgbClr val="64748B"/>
                  </a:solidFill>
                </a:rPr>
                <a:t>AI Software Market</a:t>
              </a:r>
              <a:endParaRPr lang="en-US" sz="900" dirty="0"/>
            </a:p>
          </p:txBody>
        </p:sp>
        <p:sp>
          <p:nvSpPr>
            <p:cNvPr id="30" name="Text 28"/>
            <p:cNvSpPr/>
            <p:nvPr/>
          </p:nvSpPr>
          <p:spPr>
            <a:xfrm>
              <a:off x="7571232" y="4096512"/>
              <a:ext cx="1261872" cy="338328"/>
            </a:xfrm>
            <a:prstGeom prst="rect">
              <a:avLst/>
            </a:prstGeom>
            <a:noFill/>
            <a:ln/>
          </p:spPr>
          <p:txBody>
            <a:bodyPr wrap="square" rtlCol="0" anchor="ctr"/>
            <a:lstStyle/>
            <a:p>
              <a:pPr marL="0" indent="0" algn="r">
                <a:buNone/>
              </a:pPr>
              <a:r>
                <a:rPr lang="en-US" sz="880" b="1" dirty="0">
                  <a:solidFill>
                    <a:srgbClr val="FFFFFF"/>
                  </a:solidFill>
                </a:rPr>
                <a:t>$600B+ by 2030</a:t>
              </a:r>
              <a:endParaRPr lang="en-US" sz="880" dirty="0"/>
            </a:p>
          </p:txBody>
        </p:sp>
        <p:sp>
          <p:nvSpPr>
            <p:cNvPr id="31" name="Text 29"/>
            <p:cNvSpPr/>
            <p:nvPr/>
          </p:nvSpPr>
          <p:spPr>
            <a:xfrm>
              <a:off x="6236208" y="4462272"/>
              <a:ext cx="1645920" cy="338328"/>
            </a:xfrm>
            <a:prstGeom prst="rect">
              <a:avLst/>
            </a:prstGeom>
            <a:noFill/>
            <a:ln/>
          </p:spPr>
          <p:txBody>
            <a:bodyPr wrap="square" rtlCol="0" anchor="ctr"/>
            <a:lstStyle/>
            <a:p>
              <a:pPr marL="0" indent="0">
                <a:buNone/>
              </a:pPr>
              <a:r>
                <a:rPr lang="en-US" sz="900" dirty="0">
                  <a:solidFill>
                    <a:srgbClr val="64748B"/>
                  </a:solidFill>
                </a:rPr>
                <a:t>Global CapEx 2027E</a:t>
              </a:r>
              <a:endParaRPr lang="en-US" sz="900" dirty="0"/>
            </a:p>
          </p:txBody>
        </p:sp>
        <p:sp>
          <p:nvSpPr>
            <p:cNvPr id="32" name="Text 30"/>
            <p:cNvSpPr/>
            <p:nvPr/>
          </p:nvSpPr>
          <p:spPr>
            <a:xfrm>
              <a:off x="7571232" y="4462272"/>
              <a:ext cx="1261872" cy="338328"/>
            </a:xfrm>
            <a:prstGeom prst="rect">
              <a:avLst/>
            </a:prstGeom>
            <a:noFill/>
            <a:ln/>
          </p:spPr>
          <p:txBody>
            <a:bodyPr wrap="square" rtlCol="0" anchor="ctr"/>
            <a:lstStyle/>
            <a:p>
              <a:pPr marL="0" indent="0" algn="r">
                <a:buNone/>
              </a:pPr>
              <a:r>
                <a:rPr lang="en-US" sz="880" b="1" dirty="0">
                  <a:solidFill>
                    <a:srgbClr val="FFFFFF"/>
                  </a:solidFill>
                </a:rPr>
                <a:t>$1T+</a:t>
              </a:r>
              <a:endParaRPr lang="en-US" sz="88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lgn="ctr">
              <a:buNone/>
            </a:pPr>
            <a:r>
              <a:rPr lang="en-US" sz="2800" b="1" dirty="0">
                <a:solidFill>
                  <a:srgbClr val="FFFFFF"/>
                </a:solidFill>
              </a:rPr>
              <a:t>TODAY’S COVERAGE</a:t>
            </a:r>
            <a:endParaRPr lang="en-US" sz="2800" dirty="0"/>
          </a:p>
        </p:txBody>
      </p:sp>
      <p:sp>
        <p:nvSpPr>
          <p:cNvPr id="3" name="Text 1"/>
          <p:cNvSpPr/>
          <p:nvPr/>
        </p:nvSpPr>
        <p:spPr>
          <a:xfrm>
            <a:off x="457200" y="731520"/>
            <a:ext cx="8229600" cy="320040"/>
          </a:xfrm>
          <a:prstGeom prst="rect">
            <a:avLst/>
          </a:prstGeom>
          <a:noFill/>
          <a:ln/>
        </p:spPr>
        <p:txBody>
          <a:bodyPr wrap="square" rtlCol="0" anchor="ctr"/>
          <a:lstStyle/>
          <a:p>
            <a:pPr marL="0" indent="0" algn="ctr">
              <a:buNone/>
            </a:pPr>
            <a:r>
              <a:rPr lang="en-US" sz="1300" dirty="0">
                <a:solidFill>
                  <a:srgbClr val="06B6D4"/>
                </a:solidFill>
              </a:rPr>
              <a:t>Investment Research Stocks</a:t>
            </a:r>
            <a:endParaRPr lang="en-US" sz="1300" dirty="0"/>
          </a:p>
        </p:txBody>
      </p:sp>
      <p:sp>
        <p:nvSpPr>
          <p:cNvPr id="4" name="Shape 2"/>
          <p:cNvSpPr/>
          <p:nvPr/>
        </p:nvSpPr>
        <p:spPr>
          <a:xfrm>
            <a:off x="320040" y="1188720"/>
            <a:ext cx="8503920" cy="475488"/>
          </a:xfrm>
          <a:prstGeom prst="rect">
            <a:avLst/>
          </a:prstGeom>
          <a:solidFill>
            <a:srgbClr val="1A3278"/>
          </a:solidFill>
          <a:ln w="6350">
            <a:solidFill>
              <a:srgbClr val="FFFFFF">
                <a:alpha val="10000"/>
              </a:srgbClr>
            </a:solidFill>
            <a:prstDash val="solid"/>
          </a:ln>
        </p:spPr>
      </p:sp>
      <p:sp>
        <p:nvSpPr>
          <p:cNvPr id="5" name="Shape 3"/>
          <p:cNvSpPr/>
          <p:nvPr/>
        </p:nvSpPr>
        <p:spPr>
          <a:xfrm>
            <a:off x="457200" y="1307592"/>
            <a:ext cx="237744" cy="237744"/>
          </a:xfrm>
          <a:prstGeom prst="ellipse">
            <a:avLst/>
          </a:prstGeom>
          <a:solidFill>
            <a:srgbClr val="F59E0B"/>
          </a:solidFill>
          <a:ln/>
        </p:spPr>
      </p:sp>
      <p:sp>
        <p:nvSpPr>
          <p:cNvPr id="6" name="Shape 4"/>
          <p:cNvSpPr/>
          <p:nvPr/>
        </p:nvSpPr>
        <p:spPr>
          <a:xfrm>
            <a:off x="822960" y="1261872"/>
            <a:ext cx="1051560" cy="329184"/>
          </a:xfrm>
          <a:prstGeom prst="roundRect">
            <a:avLst>
              <a:gd name="adj" fmla="val 13889"/>
            </a:avLst>
          </a:prstGeom>
          <a:solidFill>
            <a:srgbClr val="F59E0B">
              <a:alpha val="20000"/>
            </a:srgbClr>
          </a:solidFill>
          <a:ln/>
        </p:spPr>
      </p:sp>
      <p:sp>
        <p:nvSpPr>
          <p:cNvPr id="7" name="Text 5"/>
          <p:cNvSpPr/>
          <p:nvPr/>
        </p:nvSpPr>
        <p:spPr>
          <a:xfrm>
            <a:off x="822960" y="1261872"/>
            <a:ext cx="1051560" cy="329184"/>
          </a:xfrm>
          <a:prstGeom prst="rect">
            <a:avLst/>
          </a:prstGeom>
          <a:noFill/>
          <a:ln/>
        </p:spPr>
        <p:txBody>
          <a:bodyPr wrap="square" rtlCol="0" anchor="ctr"/>
          <a:lstStyle/>
          <a:p>
            <a:pPr marL="0" indent="0" algn="ctr">
              <a:buNone/>
            </a:pPr>
            <a:r>
              <a:rPr lang="en-US" sz="1200" b="1" dirty="0">
                <a:solidFill>
                  <a:srgbClr val="FFFFFF"/>
                </a:solidFill>
              </a:rPr>
              <a:t>1</a:t>
            </a:r>
            <a:endParaRPr lang="en-US" sz="1200" dirty="0"/>
          </a:p>
        </p:txBody>
      </p:sp>
      <p:sp>
        <p:nvSpPr>
          <p:cNvPr id="8" name="Text 6"/>
          <p:cNvSpPr/>
          <p:nvPr/>
        </p:nvSpPr>
        <p:spPr>
          <a:xfrm>
            <a:off x="1965960" y="1225296"/>
            <a:ext cx="4297680" cy="219456"/>
          </a:xfrm>
          <a:prstGeom prst="rect">
            <a:avLst/>
          </a:prstGeom>
          <a:noFill/>
          <a:ln/>
        </p:spPr>
        <p:txBody>
          <a:bodyPr wrap="square" lIns="0" tIns="0" rIns="0" bIns="0" rtlCol="0" anchor="ctr"/>
          <a:lstStyle/>
          <a:p>
            <a:pPr marL="0" indent="0">
              <a:buNone/>
            </a:pPr>
            <a:r>
              <a:rPr lang="en-US" sz="1100" b="1" dirty="0">
                <a:solidFill>
                  <a:srgbClr val="FFFFFF"/>
                </a:solidFill>
              </a:rPr>
              <a:t>The Big Thesis</a:t>
            </a:r>
            <a:endParaRPr lang="en-US" sz="1100" dirty="0"/>
          </a:p>
        </p:txBody>
      </p:sp>
      <p:sp>
        <p:nvSpPr>
          <p:cNvPr id="9" name="Text 7"/>
          <p:cNvSpPr/>
          <p:nvPr/>
        </p:nvSpPr>
        <p:spPr>
          <a:xfrm>
            <a:off x="1965960" y="1435608"/>
            <a:ext cx="6583680" cy="182880"/>
          </a:xfrm>
          <a:prstGeom prst="rect">
            <a:avLst/>
          </a:prstGeom>
          <a:noFill/>
          <a:ln/>
        </p:spPr>
        <p:txBody>
          <a:bodyPr wrap="square" lIns="0" tIns="0" rIns="0" bIns="0" rtlCol="0" anchor="ctr"/>
          <a:lstStyle/>
          <a:p>
            <a:pPr marL="0" indent="0">
              <a:buNone/>
            </a:pPr>
            <a:r>
              <a:rPr lang="en-US" sz="900" dirty="0">
                <a:solidFill>
                  <a:srgbClr val="94A3B8"/>
                </a:solidFill>
              </a:rPr>
              <a:t>Why AI infrastructure is a generational investment opportunity</a:t>
            </a:r>
            <a:endParaRPr lang="en-US" sz="900" dirty="0"/>
          </a:p>
        </p:txBody>
      </p:sp>
      <p:sp>
        <p:nvSpPr>
          <p:cNvPr id="10" name="Shape 8"/>
          <p:cNvSpPr/>
          <p:nvPr/>
        </p:nvSpPr>
        <p:spPr>
          <a:xfrm>
            <a:off x="320040" y="1719072"/>
            <a:ext cx="8503920" cy="475488"/>
          </a:xfrm>
          <a:prstGeom prst="rect">
            <a:avLst/>
          </a:prstGeom>
          <a:solidFill>
            <a:srgbClr val="1A3278"/>
          </a:solidFill>
          <a:ln w="6350">
            <a:solidFill>
              <a:srgbClr val="FFFFFF">
                <a:alpha val="10000"/>
              </a:srgbClr>
            </a:solidFill>
            <a:prstDash val="solid"/>
          </a:ln>
        </p:spPr>
      </p:sp>
      <p:sp>
        <p:nvSpPr>
          <p:cNvPr id="11" name="Shape 9"/>
          <p:cNvSpPr/>
          <p:nvPr/>
        </p:nvSpPr>
        <p:spPr>
          <a:xfrm>
            <a:off x="457200" y="1837944"/>
            <a:ext cx="237744" cy="237744"/>
          </a:xfrm>
          <a:prstGeom prst="ellipse">
            <a:avLst/>
          </a:prstGeom>
          <a:solidFill>
            <a:srgbClr val="F59E0B"/>
          </a:solidFill>
          <a:ln/>
        </p:spPr>
      </p:sp>
      <p:sp>
        <p:nvSpPr>
          <p:cNvPr id="12" name="Shape 10"/>
          <p:cNvSpPr/>
          <p:nvPr/>
        </p:nvSpPr>
        <p:spPr>
          <a:xfrm>
            <a:off x="822960" y="1792224"/>
            <a:ext cx="1051560" cy="329184"/>
          </a:xfrm>
          <a:prstGeom prst="roundRect">
            <a:avLst>
              <a:gd name="adj" fmla="val 13889"/>
            </a:avLst>
          </a:prstGeom>
          <a:solidFill>
            <a:srgbClr val="F59E0B">
              <a:alpha val="20000"/>
            </a:srgbClr>
          </a:solidFill>
          <a:ln/>
        </p:spPr>
      </p:sp>
      <p:sp>
        <p:nvSpPr>
          <p:cNvPr id="13" name="Text 11"/>
          <p:cNvSpPr/>
          <p:nvPr/>
        </p:nvSpPr>
        <p:spPr>
          <a:xfrm>
            <a:off x="822960" y="1792224"/>
            <a:ext cx="1051560" cy="329184"/>
          </a:xfrm>
          <a:prstGeom prst="rect">
            <a:avLst/>
          </a:prstGeom>
          <a:noFill/>
          <a:ln/>
        </p:spPr>
        <p:txBody>
          <a:bodyPr wrap="square" rtlCol="0" anchor="ctr"/>
          <a:lstStyle/>
          <a:p>
            <a:pPr marL="0" indent="0" algn="ctr">
              <a:buNone/>
            </a:pPr>
            <a:r>
              <a:rPr lang="en-US" sz="1200" b="1" dirty="0">
                <a:solidFill>
                  <a:srgbClr val="FFFFFF"/>
                </a:solidFill>
              </a:rPr>
              <a:t>2</a:t>
            </a:r>
            <a:endParaRPr lang="en-US" sz="1200" dirty="0"/>
          </a:p>
        </p:txBody>
      </p:sp>
      <p:sp>
        <p:nvSpPr>
          <p:cNvPr id="14" name="Text 12"/>
          <p:cNvSpPr/>
          <p:nvPr/>
        </p:nvSpPr>
        <p:spPr>
          <a:xfrm>
            <a:off x="1965960" y="1755648"/>
            <a:ext cx="4297680" cy="219456"/>
          </a:xfrm>
          <a:prstGeom prst="rect">
            <a:avLst/>
          </a:prstGeom>
          <a:noFill/>
          <a:ln/>
        </p:spPr>
        <p:txBody>
          <a:bodyPr wrap="square" lIns="0" tIns="0" rIns="0" bIns="0" rtlCol="0" anchor="ctr"/>
          <a:lstStyle/>
          <a:p>
            <a:pPr marL="0" indent="0">
              <a:buNone/>
            </a:pPr>
            <a:r>
              <a:rPr lang="en-US" sz="1100" b="1" dirty="0">
                <a:solidFill>
                  <a:srgbClr val="FFFFFF"/>
                </a:solidFill>
              </a:rPr>
              <a:t>Energy ($CEG, $VST, $OKLO, $EOSE, $GEV)</a:t>
            </a:r>
            <a:endParaRPr lang="en-US" sz="1100" dirty="0"/>
          </a:p>
        </p:txBody>
      </p:sp>
      <p:sp>
        <p:nvSpPr>
          <p:cNvPr id="15" name="Text 13"/>
          <p:cNvSpPr/>
          <p:nvPr/>
        </p:nvSpPr>
        <p:spPr>
          <a:xfrm>
            <a:off x="1965960" y="1965960"/>
            <a:ext cx="6583680" cy="182880"/>
          </a:xfrm>
          <a:prstGeom prst="rect">
            <a:avLst/>
          </a:prstGeom>
          <a:noFill/>
          <a:ln/>
        </p:spPr>
        <p:txBody>
          <a:bodyPr wrap="square" lIns="0" tIns="0" rIns="0" bIns="0" rtlCol="0" anchor="ctr"/>
          <a:lstStyle/>
          <a:p>
            <a:pPr marL="0" indent="0">
              <a:buNone/>
            </a:pPr>
            <a:r>
              <a:rPr lang="en-US" sz="900" dirty="0">
                <a:solidFill>
                  <a:srgbClr val="94A3B8"/>
                </a:solidFill>
              </a:rPr>
              <a:t>Power the AI revolution — nuclear, gas &amp; storage</a:t>
            </a:r>
            <a:endParaRPr lang="en-US" sz="900" dirty="0"/>
          </a:p>
        </p:txBody>
      </p:sp>
      <p:sp>
        <p:nvSpPr>
          <p:cNvPr id="16" name="Shape 14"/>
          <p:cNvSpPr/>
          <p:nvPr/>
        </p:nvSpPr>
        <p:spPr>
          <a:xfrm>
            <a:off x="320040" y="2249424"/>
            <a:ext cx="8503920" cy="475488"/>
          </a:xfrm>
          <a:prstGeom prst="rect">
            <a:avLst/>
          </a:prstGeom>
          <a:solidFill>
            <a:srgbClr val="1A3278"/>
          </a:solidFill>
          <a:ln w="6350">
            <a:solidFill>
              <a:srgbClr val="FFFFFF">
                <a:alpha val="10000"/>
              </a:srgbClr>
            </a:solidFill>
            <a:prstDash val="solid"/>
          </a:ln>
        </p:spPr>
      </p:sp>
      <p:sp>
        <p:nvSpPr>
          <p:cNvPr id="17" name="Shape 15"/>
          <p:cNvSpPr/>
          <p:nvPr/>
        </p:nvSpPr>
        <p:spPr>
          <a:xfrm>
            <a:off x="457200" y="2368296"/>
            <a:ext cx="237744" cy="237744"/>
          </a:xfrm>
          <a:prstGeom prst="ellipse">
            <a:avLst/>
          </a:prstGeom>
          <a:solidFill>
            <a:srgbClr val="10B981"/>
          </a:solidFill>
          <a:ln/>
        </p:spPr>
      </p:sp>
      <p:sp>
        <p:nvSpPr>
          <p:cNvPr id="18" name="Shape 16"/>
          <p:cNvSpPr/>
          <p:nvPr/>
        </p:nvSpPr>
        <p:spPr>
          <a:xfrm>
            <a:off x="822960" y="2322576"/>
            <a:ext cx="1051560" cy="329184"/>
          </a:xfrm>
          <a:prstGeom prst="roundRect">
            <a:avLst>
              <a:gd name="adj" fmla="val 13889"/>
            </a:avLst>
          </a:prstGeom>
          <a:solidFill>
            <a:srgbClr val="10B981">
              <a:alpha val="20000"/>
            </a:srgbClr>
          </a:solidFill>
          <a:ln/>
        </p:spPr>
      </p:sp>
      <p:sp>
        <p:nvSpPr>
          <p:cNvPr id="19" name="Text 17"/>
          <p:cNvSpPr/>
          <p:nvPr/>
        </p:nvSpPr>
        <p:spPr>
          <a:xfrm>
            <a:off x="822960" y="2322576"/>
            <a:ext cx="1051560" cy="329184"/>
          </a:xfrm>
          <a:prstGeom prst="rect">
            <a:avLst/>
          </a:prstGeom>
          <a:noFill/>
          <a:ln/>
        </p:spPr>
        <p:txBody>
          <a:bodyPr wrap="square" rtlCol="0" anchor="ctr"/>
          <a:lstStyle/>
          <a:p>
            <a:pPr marL="0" indent="0" algn="ctr">
              <a:buNone/>
            </a:pPr>
            <a:r>
              <a:rPr lang="en-US" sz="1200" b="1" dirty="0">
                <a:solidFill>
                  <a:srgbClr val="FFFFFF"/>
                </a:solidFill>
              </a:rPr>
              <a:t>3</a:t>
            </a:r>
            <a:endParaRPr lang="en-US" sz="1200" dirty="0"/>
          </a:p>
        </p:txBody>
      </p:sp>
      <p:sp>
        <p:nvSpPr>
          <p:cNvPr id="20" name="Text 18"/>
          <p:cNvSpPr/>
          <p:nvPr/>
        </p:nvSpPr>
        <p:spPr>
          <a:xfrm>
            <a:off x="1965960" y="2286000"/>
            <a:ext cx="4297680" cy="219456"/>
          </a:xfrm>
          <a:prstGeom prst="rect">
            <a:avLst/>
          </a:prstGeom>
          <a:noFill/>
          <a:ln/>
        </p:spPr>
        <p:txBody>
          <a:bodyPr wrap="square" lIns="0" tIns="0" rIns="0" bIns="0" rtlCol="0" anchor="ctr"/>
          <a:lstStyle/>
          <a:p>
            <a:pPr marL="0" indent="0">
              <a:buNone/>
            </a:pPr>
            <a:r>
              <a:rPr lang="en-US" sz="1100" b="1" dirty="0">
                <a:solidFill>
                  <a:srgbClr val="FFFFFF"/>
                </a:solidFill>
              </a:rPr>
              <a:t>Chips &amp; Computing ($NVDA, $AMD, $TSM, $MU, $ARM)</a:t>
            </a:r>
            <a:endParaRPr lang="en-US" sz="1100" dirty="0"/>
          </a:p>
        </p:txBody>
      </p:sp>
      <p:sp>
        <p:nvSpPr>
          <p:cNvPr id="21" name="Text 19"/>
          <p:cNvSpPr/>
          <p:nvPr/>
        </p:nvSpPr>
        <p:spPr>
          <a:xfrm>
            <a:off x="1965960" y="2496312"/>
            <a:ext cx="6583680" cy="182880"/>
          </a:xfrm>
          <a:prstGeom prst="rect">
            <a:avLst/>
          </a:prstGeom>
          <a:noFill/>
          <a:ln/>
        </p:spPr>
        <p:txBody>
          <a:bodyPr wrap="square" lIns="0" tIns="0" rIns="0" bIns="0" rtlCol="0" anchor="ctr"/>
          <a:lstStyle/>
          <a:p>
            <a:pPr marL="0" indent="0">
              <a:buNone/>
            </a:pPr>
            <a:r>
              <a:rPr lang="en-US" sz="900" dirty="0">
                <a:solidFill>
                  <a:srgbClr val="94A3B8"/>
                </a:solidFill>
              </a:rPr>
              <a:t>Silicon dominance — GPUs, memory &amp; foundries</a:t>
            </a:r>
            <a:endParaRPr lang="en-US" sz="900" dirty="0"/>
          </a:p>
        </p:txBody>
      </p:sp>
      <p:sp>
        <p:nvSpPr>
          <p:cNvPr id="22" name="Shape 20"/>
          <p:cNvSpPr/>
          <p:nvPr/>
        </p:nvSpPr>
        <p:spPr>
          <a:xfrm>
            <a:off x="320040" y="2779776"/>
            <a:ext cx="8503920" cy="475488"/>
          </a:xfrm>
          <a:prstGeom prst="rect">
            <a:avLst/>
          </a:prstGeom>
          <a:solidFill>
            <a:srgbClr val="1A3278"/>
          </a:solidFill>
          <a:ln w="6350">
            <a:solidFill>
              <a:srgbClr val="FFFFFF">
                <a:alpha val="10000"/>
              </a:srgbClr>
            </a:solidFill>
            <a:prstDash val="solid"/>
          </a:ln>
        </p:spPr>
      </p:sp>
      <p:sp>
        <p:nvSpPr>
          <p:cNvPr id="23" name="Shape 21"/>
          <p:cNvSpPr/>
          <p:nvPr/>
        </p:nvSpPr>
        <p:spPr>
          <a:xfrm>
            <a:off x="457200" y="2898648"/>
            <a:ext cx="237744" cy="237744"/>
          </a:xfrm>
          <a:prstGeom prst="ellipse">
            <a:avLst/>
          </a:prstGeom>
          <a:solidFill>
            <a:srgbClr val="3B82F6"/>
          </a:solidFill>
          <a:ln/>
        </p:spPr>
      </p:sp>
      <p:sp>
        <p:nvSpPr>
          <p:cNvPr id="24" name="Shape 22"/>
          <p:cNvSpPr/>
          <p:nvPr/>
        </p:nvSpPr>
        <p:spPr>
          <a:xfrm>
            <a:off x="822960" y="2852928"/>
            <a:ext cx="1051560" cy="329184"/>
          </a:xfrm>
          <a:prstGeom prst="roundRect">
            <a:avLst>
              <a:gd name="adj" fmla="val 13889"/>
            </a:avLst>
          </a:prstGeom>
          <a:solidFill>
            <a:srgbClr val="3B82F6">
              <a:alpha val="20000"/>
            </a:srgbClr>
          </a:solidFill>
          <a:ln/>
        </p:spPr>
      </p:sp>
      <p:sp>
        <p:nvSpPr>
          <p:cNvPr id="25" name="Text 23"/>
          <p:cNvSpPr/>
          <p:nvPr/>
        </p:nvSpPr>
        <p:spPr>
          <a:xfrm>
            <a:off x="822960" y="2852928"/>
            <a:ext cx="1051560" cy="329184"/>
          </a:xfrm>
          <a:prstGeom prst="rect">
            <a:avLst/>
          </a:prstGeom>
          <a:noFill/>
          <a:ln/>
        </p:spPr>
        <p:txBody>
          <a:bodyPr wrap="square" rtlCol="0" anchor="ctr"/>
          <a:lstStyle/>
          <a:p>
            <a:pPr marL="0" indent="0" algn="ctr">
              <a:buNone/>
            </a:pPr>
            <a:r>
              <a:rPr lang="en-US" sz="1200" b="1" dirty="0">
                <a:solidFill>
                  <a:srgbClr val="FFFFFF"/>
                </a:solidFill>
              </a:rPr>
              <a:t>4</a:t>
            </a:r>
            <a:endParaRPr lang="en-US" sz="1200" dirty="0"/>
          </a:p>
        </p:txBody>
      </p:sp>
      <p:sp>
        <p:nvSpPr>
          <p:cNvPr id="26" name="Text 24"/>
          <p:cNvSpPr/>
          <p:nvPr/>
        </p:nvSpPr>
        <p:spPr>
          <a:xfrm>
            <a:off x="1965960" y="2816352"/>
            <a:ext cx="4297680" cy="219456"/>
          </a:xfrm>
          <a:prstGeom prst="rect">
            <a:avLst/>
          </a:prstGeom>
          <a:noFill/>
          <a:ln/>
        </p:spPr>
        <p:txBody>
          <a:bodyPr wrap="square" lIns="0" tIns="0" rIns="0" bIns="0" rtlCol="0" anchor="ctr"/>
          <a:lstStyle/>
          <a:p>
            <a:pPr marL="0" indent="0">
              <a:buNone/>
            </a:pPr>
            <a:r>
              <a:rPr lang="en-US" sz="1100" b="1" dirty="0">
                <a:solidFill>
                  <a:srgbClr val="FFFFFF"/>
                </a:solidFill>
              </a:rPr>
              <a:t>Cloud / Data Centers ($NBIS, $IREN, $CRWV, $APLD, $CIFR)</a:t>
            </a:r>
            <a:endParaRPr lang="en-US" sz="1100" dirty="0"/>
          </a:p>
        </p:txBody>
      </p:sp>
      <p:sp>
        <p:nvSpPr>
          <p:cNvPr id="27" name="Text 25"/>
          <p:cNvSpPr/>
          <p:nvPr/>
        </p:nvSpPr>
        <p:spPr>
          <a:xfrm>
            <a:off x="1965960" y="3026664"/>
            <a:ext cx="6583680" cy="182880"/>
          </a:xfrm>
          <a:prstGeom prst="rect">
            <a:avLst/>
          </a:prstGeom>
          <a:noFill/>
          <a:ln/>
        </p:spPr>
        <p:txBody>
          <a:bodyPr wrap="square" lIns="0" tIns="0" rIns="0" bIns="0" rtlCol="0" anchor="ctr"/>
          <a:lstStyle/>
          <a:p>
            <a:pPr marL="0" indent="0">
              <a:buNone/>
            </a:pPr>
            <a:r>
              <a:rPr lang="en-US" sz="900" dirty="0">
                <a:solidFill>
                  <a:srgbClr val="94A3B8"/>
                </a:solidFill>
              </a:rPr>
              <a:t>Where AI is trained — hyperscaler vs. independent</a:t>
            </a:r>
            <a:endParaRPr lang="en-US" sz="900" dirty="0"/>
          </a:p>
        </p:txBody>
      </p:sp>
      <p:sp>
        <p:nvSpPr>
          <p:cNvPr id="28" name="Shape 26"/>
          <p:cNvSpPr/>
          <p:nvPr/>
        </p:nvSpPr>
        <p:spPr>
          <a:xfrm>
            <a:off x="320040" y="3310128"/>
            <a:ext cx="8503920" cy="475488"/>
          </a:xfrm>
          <a:prstGeom prst="rect">
            <a:avLst/>
          </a:prstGeom>
          <a:solidFill>
            <a:srgbClr val="1A3278"/>
          </a:solidFill>
          <a:ln w="6350">
            <a:solidFill>
              <a:srgbClr val="FFFFFF">
                <a:alpha val="10000"/>
              </a:srgbClr>
            </a:solidFill>
            <a:prstDash val="solid"/>
          </a:ln>
        </p:spPr>
      </p:sp>
      <p:sp>
        <p:nvSpPr>
          <p:cNvPr id="29" name="Shape 27"/>
          <p:cNvSpPr/>
          <p:nvPr/>
        </p:nvSpPr>
        <p:spPr>
          <a:xfrm>
            <a:off x="457200" y="3429000"/>
            <a:ext cx="237744" cy="237744"/>
          </a:xfrm>
          <a:prstGeom prst="ellipse">
            <a:avLst/>
          </a:prstGeom>
          <a:solidFill>
            <a:srgbClr val="06B6D4"/>
          </a:solidFill>
          <a:ln/>
        </p:spPr>
      </p:sp>
      <p:sp>
        <p:nvSpPr>
          <p:cNvPr id="30" name="Shape 28"/>
          <p:cNvSpPr/>
          <p:nvPr/>
        </p:nvSpPr>
        <p:spPr>
          <a:xfrm>
            <a:off x="822960" y="3383280"/>
            <a:ext cx="1051560" cy="329184"/>
          </a:xfrm>
          <a:prstGeom prst="roundRect">
            <a:avLst>
              <a:gd name="adj" fmla="val 13889"/>
            </a:avLst>
          </a:prstGeom>
          <a:solidFill>
            <a:srgbClr val="06B6D4">
              <a:alpha val="20000"/>
            </a:srgbClr>
          </a:solidFill>
          <a:ln/>
        </p:spPr>
      </p:sp>
      <p:sp>
        <p:nvSpPr>
          <p:cNvPr id="31" name="Text 29"/>
          <p:cNvSpPr/>
          <p:nvPr/>
        </p:nvSpPr>
        <p:spPr>
          <a:xfrm>
            <a:off x="822960" y="3383280"/>
            <a:ext cx="1051560" cy="329184"/>
          </a:xfrm>
          <a:prstGeom prst="rect">
            <a:avLst/>
          </a:prstGeom>
          <a:noFill/>
          <a:ln/>
        </p:spPr>
        <p:txBody>
          <a:bodyPr wrap="square" rtlCol="0" anchor="ctr"/>
          <a:lstStyle/>
          <a:p>
            <a:pPr marL="0" indent="0" algn="ctr">
              <a:buNone/>
            </a:pPr>
            <a:r>
              <a:rPr lang="en-US" sz="1200" b="1" dirty="0">
                <a:solidFill>
                  <a:srgbClr val="FFFFFF"/>
                </a:solidFill>
              </a:rPr>
              <a:t>5</a:t>
            </a:r>
            <a:endParaRPr lang="en-US" sz="1200" dirty="0"/>
          </a:p>
        </p:txBody>
      </p:sp>
      <p:sp>
        <p:nvSpPr>
          <p:cNvPr id="32" name="Text 30"/>
          <p:cNvSpPr/>
          <p:nvPr/>
        </p:nvSpPr>
        <p:spPr>
          <a:xfrm>
            <a:off x="1965960" y="3346704"/>
            <a:ext cx="4297680" cy="219456"/>
          </a:xfrm>
          <a:prstGeom prst="rect">
            <a:avLst/>
          </a:prstGeom>
          <a:noFill/>
          <a:ln/>
        </p:spPr>
        <p:txBody>
          <a:bodyPr wrap="square" lIns="0" tIns="0" rIns="0" bIns="0" rtlCol="0" anchor="ctr"/>
          <a:lstStyle/>
          <a:p>
            <a:pPr marL="0" indent="0">
              <a:buNone/>
            </a:pPr>
            <a:r>
              <a:rPr lang="en-US" sz="1100" b="1" dirty="0">
                <a:solidFill>
                  <a:srgbClr val="FFFFFF"/>
                </a:solidFill>
              </a:rPr>
              <a:t>AI Models ($MSFT, $GOOGL, $META, $AMZN, $ORCL)</a:t>
            </a:r>
            <a:endParaRPr lang="en-US" sz="1100" dirty="0"/>
          </a:p>
        </p:txBody>
      </p:sp>
      <p:sp>
        <p:nvSpPr>
          <p:cNvPr id="33" name="Text 31"/>
          <p:cNvSpPr/>
          <p:nvPr/>
        </p:nvSpPr>
        <p:spPr>
          <a:xfrm>
            <a:off x="1965960" y="3557016"/>
            <a:ext cx="6583680" cy="182880"/>
          </a:xfrm>
          <a:prstGeom prst="rect">
            <a:avLst/>
          </a:prstGeom>
          <a:noFill/>
          <a:ln/>
        </p:spPr>
        <p:txBody>
          <a:bodyPr wrap="square" lIns="0" tIns="0" rIns="0" bIns="0" rtlCol="0" anchor="ctr"/>
          <a:lstStyle/>
          <a:p>
            <a:pPr marL="0" indent="0">
              <a:buNone/>
            </a:pPr>
            <a:r>
              <a:rPr lang="en-US" sz="900" dirty="0">
                <a:solidFill>
                  <a:srgbClr val="94A3B8"/>
                </a:solidFill>
              </a:rPr>
              <a:t>The frontier model race and monetization paths</a:t>
            </a:r>
            <a:endParaRPr lang="en-US" sz="900" dirty="0"/>
          </a:p>
        </p:txBody>
      </p:sp>
      <p:sp>
        <p:nvSpPr>
          <p:cNvPr id="34" name="Shape 32"/>
          <p:cNvSpPr/>
          <p:nvPr/>
        </p:nvSpPr>
        <p:spPr>
          <a:xfrm>
            <a:off x="320040" y="3840480"/>
            <a:ext cx="8503920" cy="475488"/>
          </a:xfrm>
          <a:prstGeom prst="rect">
            <a:avLst/>
          </a:prstGeom>
          <a:solidFill>
            <a:srgbClr val="1A3278"/>
          </a:solidFill>
          <a:ln w="6350">
            <a:solidFill>
              <a:srgbClr val="FFFFFF">
                <a:alpha val="10000"/>
              </a:srgbClr>
            </a:solidFill>
            <a:prstDash val="solid"/>
          </a:ln>
        </p:spPr>
      </p:sp>
      <p:sp>
        <p:nvSpPr>
          <p:cNvPr id="35" name="Shape 33"/>
          <p:cNvSpPr/>
          <p:nvPr/>
        </p:nvSpPr>
        <p:spPr>
          <a:xfrm>
            <a:off x="457200" y="3959352"/>
            <a:ext cx="237744" cy="237744"/>
          </a:xfrm>
          <a:prstGeom prst="ellipse">
            <a:avLst/>
          </a:prstGeom>
          <a:solidFill>
            <a:srgbClr val="0D9488"/>
          </a:solidFill>
          <a:ln/>
        </p:spPr>
      </p:sp>
      <p:sp>
        <p:nvSpPr>
          <p:cNvPr id="36" name="Shape 34"/>
          <p:cNvSpPr/>
          <p:nvPr/>
        </p:nvSpPr>
        <p:spPr>
          <a:xfrm>
            <a:off x="822960" y="3913632"/>
            <a:ext cx="1051560" cy="329184"/>
          </a:xfrm>
          <a:prstGeom prst="roundRect">
            <a:avLst>
              <a:gd name="adj" fmla="val 13889"/>
            </a:avLst>
          </a:prstGeom>
          <a:solidFill>
            <a:srgbClr val="0D9488">
              <a:alpha val="20000"/>
            </a:srgbClr>
          </a:solidFill>
          <a:ln/>
        </p:spPr>
      </p:sp>
      <p:sp>
        <p:nvSpPr>
          <p:cNvPr id="37" name="Text 35"/>
          <p:cNvSpPr/>
          <p:nvPr/>
        </p:nvSpPr>
        <p:spPr>
          <a:xfrm>
            <a:off x="822960" y="3913632"/>
            <a:ext cx="1051560" cy="329184"/>
          </a:xfrm>
          <a:prstGeom prst="rect">
            <a:avLst/>
          </a:prstGeom>
          <a:noFill/>
          <a:ln/>
        </p:spPr>
        <p:txBody>
          <a:bodyPr wrap="square" rtlCol="0" anchor="ctr"/>
          <a:lstStyle/>
          <a:p>
            <a:pPr marL="0" indent="0" algn="ctr">
              <a:buNone/>
            </a:pPr>
            <a:r>
              <a:rPr lang="en-US" sz="1200" b="1" dirty="0">
                <a:solidFill>
                  <a:srgbClr val="FFFFFF"/>
                </a:solidFill>
              </a:rPr>
              <a:t>6</a:t>
            </a:r>
            <a:endParaRPr lang="en-US" sz="1200" dirty="0"/>
          </a:p>
        </p:txBody>
      </p:sp>
      <p:sp>
        <p:nvSpPr>
          <p:cNvPr id="38" name="Text 36"/>
          <p:cNvSpPr/>
          <p:nvPr/>
        </p:nvSpPr>
        <p:spPr>
          <a:xfrm>
            <a:off x="1965960" y="3877056"/>
            <a:ext cx="4297680" cy="219456"/>
          </a:xfrm>
          <a:prstGeom prst="rect">
            <a:avLst/>
          </a:prstGeom>
          <a:noFill/>
          <a:ln/>
        </p:spPr>
        <p:txBody>
          <a:bodyPr wrap="square" lIns="0" tIns="0" rIns="0" bIns="0" rtlCol="0" anchor="ctr"/>
          <a:lstStyle/>
          <a:p>
            <a:pPr marL="0" indent="0">
              <a:buNone/>
            </a:pPr>
            <a:r>
              <a:rPr lang="en-US" sz="1100" b="1" dirty="0">
                <a:solidFill>
                  <a:srgbClr val="FFFFFF"/>
                </a:solidFill>
              </a:rPr>
              <a:t>Applications ($PLTR, $TSLA, $NOW, $SNOW, $CRM)</a:t>
            </a:r>
            <a:endParaRPr lang="en-US" sz="1100" dirty="0"/>
          </a:p>
        </p:txBody>
      </p:sp>
      <p:sp>
        <p:nvSpPr>
          <p:cNvPr id="39" name="Text 37"/>
          <p:cNvSpPr/>
          <p:nvPr/>
        </p:nvSpPr>
        <p:spPr>
          <a:xfrm>
            <a:off x="1965960" y="4087368"/>
            <a:ext cx="6583680" cy="182880"/>
          </a:xfrm>
          <a:prstGeom prst="rect">
            <a:avLst/>
          </a:prstGeom>
          <a:noFill/>
          <a:ln/>
        </p:spPr>
        <p:txBody>
          <a:bodyPr wrap="square" lIns="0" tIns="0" rIns="0" bIns="0" rtlCol="0" anchor="ctr"/>
          <a:lstStyle/>
          <a:p>
            <a:pPr marL="0" indent="0">
              <a:buNone/>
            </a:pPr>
            <a:r>
              <a:rPr lang="en-US" sz="900" dirty="0">
                <a:solidFill>
                  <a:srgbClr val="94A3B8"/>
                </a:solidFill>
              </a:rPr>
              <a:t>Enterprise AI software — where ROI is proven</a:t>
            </a:r>
            <a:endParaRPr lang="en-US" sz="900" dirty="0"/>
          </a:p>
        </p:txBody>
      </p:sp>
      <p:sp>
        <p:nvSpPr>
          <p:cNvPr id="40" name="Shape 38"/>
          <p:cNvSpPr/>
          <p:nvPr/>
        </p:nvSpPr>
        <p:spPr>
          <a:xfrm>
            <a:off x="320040" y="4370832"/>
            <a:ext cx="8503920" cy="475488"/>
          </a:xfrm>
          <a:prstGeom prst="rect">
            <a:avLst/>
          </a:prstGeom>
          <a:solidFill>
            <a:srgbClr val="1A3278"/>
          </a:solidFill>
          <a:ln w="6350">
            <a:solidFill>
              <a:srgbClr val="FFFFFF">
                <a:alpha val="10000"/>
              </a:srgbClr>
            </a:solidFill>
            <a:prstDash val="solid"/>
          </a:ln>
        </p:spPr>
      </p:sp>
      <p:sp>
        <p:nvSpPr>
          <p:cNvPr id="41" name="Shape 39"/>
          <p:cNvSpPr/>
          <p:nvPr/>
        </p:nvSpPr>
        <p:spPr>
          <a:xfrm>
            <a:off x="457200" y="4489704"/>
            <a:ext cx="237744" cy="237744"/>
          </a:xfrm>
          <a:prstGeom prst="ellipse">
            <a:avLst/>
          </a:prstGeom>
          <a:solidFill>
            <a:srgbClr val="A855F7"/>
          </a:solidFill>
          <a:ln/>
        </p:spPr>
      </p:sp>
      <p:sp>
        <p:nvSpPr>
          <p:cNvPr id="42" name="Shape 40"/>
          <p:cNvSpPr/>
          <p:nvPr/>
        </p:nvSpPr>
        <p:spPr>
          <a:xfrm>
            <a:off x="822960" y="4443984"/>
            <a:ext cx="1051560" cy="329184"/>
          </a:xfrm>
          <a:prstGeom prst="roundRect">
            <a:avLst>
              <a:gd name="adj" fmla="val 13889"/>
            </a:avLst>
          </a:prstGeom>
          <a:solidFill>
            <a:srgbClr val="A855F7">
              <a:alpha val="20000"/>
            </a:srgbClr>
          </a:solidFill>
          <a:ln/>
        </p:spPr>
      </p:sp>
      <p:sp>
        <p:nvSpPr>
          <p:cNvPr id="43" name="Text 41"/>
          <p:cNvSpPr/>
          <p:nvPr/>
        </p:nvSpPr>
        <p:spPr>
          <a:xfrm>
            <a:off x="822960" y="4443984"/>
            <a:ext cx="1051560" cy="329184"/>
          </a:xfrm>
          <a:prstGeom prst="rect">
            <a:avLst/>
          </a:prstGeom>
          <a:noFill/>
          <a:ln/>
        </p:spPr>
        <p:txBody>
          <a:bodyPr wrap="square" rtlCol="0" anchor="ctr"/>
          <a:lstStyle/>
          <a:p>
            <a:pPr marL="0" indent="0" algn="ctr">
              <a:buNone/>
            </a:pPr>
            <a:r>
              <a:rPr lang="en-US" sz="1200" b="1" dirty="0">
                <a:solidFill>
                  <a:srgbClr val="FFFFFF"/>
                </a:solidFill>
              </a:rPr>
              <a:t>7</a:t>
            </a:r>
            <a:endParaRPr lang="en-US" sz="1200" dirty="0"/>
          </a:p>
        </p:txBody>
      </p:sp>
      <p:sp>
        <p:nvSpPr>
          <p:cNvPr id="44" name="Text 42"/>
          <p:cNvSpPr/>
          <p:nvPr/>
        </p:nvSpPr>
        <p:spPr>
          <a:xfrm>
            <a:off x="1965960" y="4407408"/>
            <a:ext cx="4297680" cy="219456"/>
          </a:xfrm>
          <a:prstGeom prst="rect">
            <a:avLst/>
          </a:prstGeom>
          <a:noFill/>
          <a:ln/>
        </p:spPr>
        <p:txBody>
          <a:bodyPr wrap="square" lIns="0" tIns="0" rIns="0" bIns="0" rtlCol="0" anchor="ctr"/>
          <a:lstStyle/>
          <a:p>
            <a:pPr marL="0" indent="0">
              <a:buNone/>
            </a:pPr>
            <a:r>
              <a:rPr lang="en-US" sz="1100" b="1" dirty="0">
                <a:solidFill>
                  <a:srgbClr val="FFFFFF"/>
                </a:solidFill>
              </a:rPr>
              <a:t>Robotics ($TSLA, $NVDA, $ABB, $FANUY, Figure AI)</a:t>
            </a:r>
            <a:endParaRPr lang="en-US" sz="1100" dirty="0"/>
          </a:p>
        </p:txBody>
      </p:sp>
      <p:sp>
        <p:nvSpPr>
          <p:cNvPr id="45" name="Text 43"/>
          <p:cNvSpPr/>
          <p:nvPr/>
        </p:nvSpPr>
        <p:spPr>
          <a:xfrm>
            <a:off x="1965960" y="4617720"/>
            <a:ext cx="6583680" cy="182880"/>
          </a:xfrm>
          <a:prstGeom prst="rect">
            <a:avLst/>
          </a:prstGeom>
          <a:noFill/>
          <a:ln/>
        </p:spPr>
        <p:txBody>
          <a:bodyPr wrap="square" lIns="0" tIns="0" rIns="0" bIns="0" rtlCol="0" anchor="ctr"/>
          <a:lstStyle/>
          <a:p>
            <a:pPr marL="0" indent="0">
              <a:buNone/>
            </a:pPr>
            <a:r>
              <a:rPr lang="en-US" sz="900" dirty="0">
                <a:solidFill>
                  <a:srgbClr val="94A3B8"/>
                </a:solidFill>
              </a:rPr>
              <a:t>Physical AI — the next trillion-dollar frontier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0" y="-457200"/>
            <a:ext cx="5486400" cy="5486400"/>
          </a:xfrm>
          <a:prstGeom prst="ellipse">
            <a:avLst/>
          </a:prstGeom>
          <a:solidFill>
            <a:srgbClr val="1E54B7">
              <a:alpha val="8000"/>
            </a:srgbClr>
          </a:solidFill>
          <a:ln/>
        </p:spPr>
      </p:sp>
      <p:sp>
        <p:nvSpPr>
          <p:cNvPr id="3" name="Text 1"/>
          <p:cNvSpPr/>
          <p:nvPr/>
        </p:nvSpPr>
        <p:spPr>
          <a:xfrm>
            <a:off x="457200" y="274320"/>
            <a:ext cx="8229600" cy="502920"/>
          </a:xfrm>
          <a:prstGeom prst="rect">
            <a:avLst/>
          </a:prstGeom>
          <a:noFill/>
          <a:ln/>
        </p:spPr>
        <p:txBody>
          <a:bodyPr wrap="square" rtlCol="0" anchor="ctr"/>
          <a:lstStyle/>
          <a:p>
            <a:pPr marL="0" indent="0" algn="ctr">
              <a:buNone/>
            </a:pPr>
            <a:r>
              <a:rPr lang="en-US" sz="2800" b="1" dirty="0">
                <a:solidFill>
                  <a:srgbClr val="FFFFFF"/>
                </a:solidFill>
              </a:rPr>
              <a:t>The AI Infrastructure Supercycle</a:t>
            </a:r>
            <a:endParaRPr lang="en-US" sz="2800" dirty="0"/>
          </a:p>
        </p:txBody>
      </p:sp>
      <p:sp>
        <p:nvSpPr>
          <p:cNvPr id="4" name="Text 2"/>
          <p:cNvSpPr/>
          <p:nvPr/>
        </p:nvSpPr>
        <p:spPr>
          <a:xfrm>
            <a:off x="457200" y="777240"/>
            <a:ext cx="8229600" cy="365760"/>
          </a:xfrm>
          <a:prstGeom prst="rect">
            <a:avLst/>
          </a:prstGeom>
          <a:noFill/>
          <a:ln/>
        </p:spPr>
        <p:txBody>
          <a:bodyPr wrap="square" rtlCol="0" anchor="ctr"/>
          <a:lstStyle/>
          <a:p>
            <a:pPr marL="0" indent="0" algn="ctr">
              <a:buNone/>
            </a:pPr>
            <a:r>
              <a:rPr lang="en-US" sz="1300" dirty="0">
                <a:solidFill>
                  <a:srgbClr val="06B6D4"/>
                </a:solidFill>
              </a:rPr>
              <a:t>AI is a multi-decade capital expenditure cycle — bigger than mobile, cloud, or the internet buildout</a:t>
            </a:r>
            <a:endParaRPr lang="en-US" sz="1300" dirty="0"/>
          </a:p>
        </p:txBody>
      </p:sp>
      <p:sp>
        <p:nvSpPr>
          <p:cNvPr id="5" name="Shape 3"/>
          <p:cNvSpPr/>
          <p:nvPr/>
        </p:nvSpPr>
        <p:spPr>
          <a:xfrm>
            <a:off x="320040" y="1417320"/>
            <a:ext cx="1965960" cy="141732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6" name="Text 4"/>
          <p:cNvSpPr/>
          <p:nvPr/>
        </p:nvSpPr>
        <p:spPr>
          <a:xfrm>
            <a:off x="320040" y="1508760"/>
            <a:ext cx="1965960" cy="685800"/>
          </a:xfrm>
          <a:prstGeom prst="rect">
            <a:avLst/>
          </a:prstGeom>
          <a:noFill/>
          <a:ln/>
        </p:spPr>
        <p:txBody>
          <a:bodyPr wrap="square" rtlCol="0" anchor="ctr"/>
          <a:lstStyle/>
          <a:p>
            <a:pPr marL="0" indent="0" algn="ctr">
              <a:buNone/>
            </a:pPr>
            <a:r>
              <a:rPr lang="en-US" sz="3200" b="1" dirty="0">
                <a:solidFill>
                  <a:srgbClr val="F59E0B"/>
                </a:solidFill>
              </a:rPr>
              <a:t>$2T+</a:t>
            </a:r>
            <a:endParaRPr lang="en-US" sz="3200" dirty="0"/>
          </a:p>
        </p:txBody>
      </p:sp>
      <p:sp>
        <p:nvSpPr>
          <p:cNvPr id="7" name="Text 5"/>
          <p:cNvSpPr/>
          <p:nvPr/>
        </p:nvSpPr>
        <p:spPr>
          <a:xfrm>
            <a:off x="320040" y="2148840"/>
            <a:ext cx="1965960" cy="594360"/>
          </a:xfrm>
          <a:prstGeom prst="rect">
            <a:avLst/>
          </a:prstGeom>
          <a:noFill/>
          <a:ln/>
        </p:spPr>
        <p:txBody>
          <a:bodyPr wrap="square" rtlCol="0" anchor="ctr"/>
          <a:lstStyle/>
          <a:p>
            <a:pPr marL="0" indent="0" algn="ctr">
              <a:buNone/>
            </a:pPr>
            <a:r>
              <a:rPr lang="en-US" sz="950" dirty="0">
                <a:solidFill>
                  <a:srgbClr val="F0F4FF"/>
                </a:solidFill>
              </a:rPr>
              <a:t>Projected AI Infrastructure</a:t>
            </a:r>
            <a:endParaRPr lang="en-US" sz="950" dirty="0"/>
          </a:p>
          <a:p>
            <a:pPr marL="0" indent="0" algn="ctr">
              <a:buNone/>
            </a:pPr>
            <a:r>
              <a:rPr lang="en-US" sz="950" dirty="0">
                <a:solidFill>
                  <a:srgbClr val="F0F4FF"/>
                </a:solidFill>
              </a:rPr>
              <a:t>Investment 2024–2030</a:t>
            </a:r>
            <a:endParaRPr lang="en-US" sz="950" dirty="0"/>
          </a:p>
        </p:txBody>
      </p:sp>
      <p:sp>
        <p:nvSpPr>
          <p:cNvPr id="8" name="Shape 6"/>
          <p:cNvSpPr/>
          <p:nvPr/>
        </p:nvSpPr>
        <p:spPr>
          <a:xfrm>
            <a:off x="2468880" y="1417320"/>
            <a:ext cx="1965960" cy="141732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9" name="Text 7"/>
          <p:cNvSpPr/>
          <p:nvPr/>
        </p:nvSpPr>
        <p:spPr>
          <a:xfrm>
            <a:off x="2468880" y="1508760"/>
            <a:ext cx="1965960" cy="685800"/>
          </a:xfrm>
          <a:prstGeom prst="rect">
            <a:avLst/>
          </a:prstGeom>
          <a:noFill/>
          <a:ln/>
        </p:spPr>
        <p:txBody>
          <a:bodyPr wrap="square" rtlCol="0" anchor="ctr"/>
          <a:lstStyle/>
          <a:p>
            <a:pPr marL="0" indent="0" algn="ctr">
              <a:buNone/>
            </a:pPr>
            <a:r>
              <a:rPr lang="en-US" sz="3200" b="1" dirty="0">
                <a:solidFill>
                  <a:srgbClr val="10B981"/>
                </a:solidFill>
              </a:rPr>
              <a:t>300%</a:t>
            </a:r>
            <a:endParaRPr lang="en-US" sz="3200" dirty="0"/>
          </a:p>
        </p:txBody>
      </p:sp>
      <p:sp>
        <p:nvSpPr>
          <p:cNvPr id="10" name="Text 8"/>
          <p:cNvSpPr/>
          <p:nvPr/>
        </p:nvSpPr>
        <p:spPr>
          <a:xfrm>
            <a:off x="2468880" y="2148840"/>
            <a:ext cx="1965960" cy="594360"/>
          </a:xfrm>
          <a:prstGeom prst="rect">
            <a:avLst/>
          </a:prstGeom>
          <a:noFill/>
          <a:ln/>
        </p:spPr>
        <p:txBody>
          <a:bodyPr wrap="square" rtlCol="0" anchor="ctr"/>
          <a:lstStyle/>
          <a:p>
            <a:pPr marL="0" indent="0" algn="ctr">
              <a:buNone/>
            </a:pPr>
            <a:r>
              <a:rPr lang="en-US" sz="950" dirty="0">
                <a:solidFill>
                  <a:srgbClr val="F0F4FF"/>
                </a:solidFill>
              </a:rPr>
              <a:t>Data Center Power Demand</a:t>
            </a:r>
            <a:endParaRPr lang="en-US" sz="950" dirty="0"/>
          </a:p>
          <a:p>
            <a:pPr marL="0" indent="0" algn="ctr">
              <a:buNone/>
            </a:pPr>
            <a:r>
              <a:rPr lang="en-US" sz="950" dirty="0">
                <a:solidFill>
                  <a:srgbClr val="F0F4FF"/>
                </a:solidFill>
              </a:rPr>
              <a:t>Increase by 2030</a:t>
            </a:r>
            <a:endParaRPr lang="en-US" sz="950" dirty="0"/>
          </a:p>
        </p:txBody>
      </p:sp>
      <p:sp>
        <p:nvSpPr>
          <p:cNvPr id="11" name="Shape 9"/>
          <p:cNvSpPr/>
          <p:nvPr/>
        </p:nvSpPr>
        <p:spPr>
          <a:xfrm>
            <a:off x="4617720" y="1417320"/>
            <a:ext cx="1965960" cy="141732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2" name="Text 10"/>
          <p:cNvSpPr/>
          <p:nvPr/>
        </p:nvSpPr>
        <p:spPr>
          <a:xfrm>
            <a:off x="4617720" y="1508760"/>
            <a:ext cx="1965960" cy="685800"/>
          </a:xfrm>
          <a:prstGeom prst="rect">
            <a:avLst/>
          </a:prstGeom>
          <a:noFill/>
          <a:ln/>
        </p:spPr>
        <p:txBody>
          <a:bodyPr wrap="square" rtlCol="0" anchor="ctr"/>
          <a:lstStyle/>
          <a:p>
            <a:pPr marL="0" indent="0" algn="ctr">
              <a:buNone/>
            </a:pPr>
            <a:r>
              <a:rPr lang="en-US" sz="3200" b="1" dirty="0">
                <a:solidFill>
                  <a:srgbClr val="06B6D4"/>
                </a:solidFill>
              </a:rPr>
              <a:t>$400B</a:t>
            </a:r>
            <a:endParaRPr lang="en-US" sz="3200" dirty="0"/>
          </a:p>
        </p:txBody>
      </p:sp>
      <p:sp>
        <p:nvSpPr>
          <p:cNvPr id="13" name="Text 11"/>
          <p:cNvSpPr/>
          <p:nvPr/>
        </p:nvSpPr>
        <p:spPr>
          <a:xfrm>
            <a:off x="4617720" y="2148840"/>
            <a:ext cx="1965960" cy="594360"/>
          </a:xfrm>
          <a:prstGeom prst="rect">
            <a:avLst/>
          </a:prstGeom>
          <a:noFill/>
          <a:ln/>
        </p:spPr>
        <p:txBody>
          <a:bodyPr wrap="square" rtlCol="0" anchor="ctr"/>
          <a:lstStyle/>
          <a:p>
            <a:pPr marL="0" indent="0" algn="ctr">
              <a:buNone/>
            </a:pPr>
            <a:r>
              <a:rPr lang="en-US" sz="950" dirty="0">
                <a:solidFill>
                  <a:srgbClr val="F0F4FF"/>
                </a:solidFill>
              </a:rPr>
              <a:t>AI Accelerator TAM</a:t>
            </a:r>
            <a:endParaRPr lang="en-US" sz="950" dirty="0"/>
          </a:p>
          <a:p>
            <a:pPr marL="0" indent="0" algn="ctr">
              <a:buNone/>
            </a:pPr>
            <a:r>
              <a:rPr lang="en-US" sz="950" dirty="0">
                <a:solidFill>
                  <a:srgbClr val="F0F4FF"/>
                </a:solidFill>
              </a:rPr>
              <a:t>by 2027</a:t>
            </a:r>
            <a:endParaRPr lang="en-US" sz="950" dirty="0"/>
          </a:p>
        </p:txBody>
      </p:sp>
      <p:sp>
        <p:nvSpPr>
          <p:cNvPr id="14" name="Shape 12"/>
          <p:cNvSpPr/>
          <p:nvPr/>
        </p:nvSpPr>
        <p:spPr>
          <a:xfrm>
            <a:off x="6766560" y="1417320"/>
            <a:ext cx="1965960" cy="141732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5" name="Text 13"/>
          <p:cNvSpPr/>
          <p:nvPr/>
        </p:nvSpPr>
        <p:spPr>
          <a:xfrm>
            <a:off x="6766560" y="1508760"/>
            <a:ext cx="1965960" cy="685800"/>
          </a:xfrm>
          <a:prstGeom prst="rect">
            <a:avLst/>
          </a:prstGeom>
          <a:noFill/>
          <a:ln/>
        </p:spPr>
        <p:txBody>
          <a:bodyPr wrap="square" rtlCol="0" anchor="ctr"/>
          <a:lstStyle/>
          <a:p>
            <a:pPr marL="0" indent="0" algn="ctr">
              <a:buNone/>
            </a:pPr>
            <a:r>
              <a:rPr lang="en-US" sz="3200" b="1" dirty="0">
                <a:solidFill>
                  <a:srgbClr val="A855F7"/>
                </a:solidFill>
              </a:rPr>
              <a:t>10×</a:t>
            </a:r>
            <a:endParaRPr lang="en-US" sz="3200" dirty="0"/>
          </a:p>
        </p:txBody>
      </p:sp>
      <p:sp>
        <p:nvSpPr>
          <p:cNvPr id="16" name="Text 14"/>
          <p:cNvSpPr/>
          <p:nvPr/>
        </p:nvSpPr>
        <p:spPr>
          <a:xfrm>
            <a:off x="6766560" y="2148840"/>
            <a:ext cx="1965960" cy="594360"/>
          </a:xfrm>
          <a:prstGeom prst="rect">
            <a:avLst/>
          </a:prstGeom>
          <a:noFill/>
          <a:ln/>
        </p:spPr>
        <p:txBody>
          <a:bodyPr wrap="square" rtlCol="0" anchor="ctr"/>
          <a:lstStyle/>
          <a:p>
            <a:pPr marL="0" indent="0" algn="ctr">
              <a:buNone/>
            </a:pPr>
            <a:r>
              <a:rPr lang="en-US" sz="950" dirty="0">
                <a:solidFill>
                  <a:srgbClr val="F0F4FF"/>
                </a:solidFill>
              </a:rPr>
              <a:t>ROI Expansion</a:t>
            </a:r>
            <a:endParaRPr lang="en-US" sz="950" dirty="0"/>
          </a:p>
          <a:p>
            <a:pPr marL="0" indent="0" algn="ctr">
              <a:buNone/>
            </a:pPr>
            <a:r>
              <a:rPr lang="en-US" sz="950" dirty="0">
                <a:solidFill>
                  <a:srgbClr val="F0F4FF"/>
                </a:solidFill>
              </a:rPr>
              <a:t>for AI-Enabled Enterprises</a:t>
            </a:r>
            <a:endParaRPr lang="en-US" sz="950" dirty="0"/>
          </a:p>
        </p:txBody>
      </p:sp>
      <p:sp>
        <p:nvSpPr>
          <p:cNvPr id="17" name="Shape 15"/>
          <p:cNvSpPr/>
          <p:nvPr/>
        </p:nvSpPr>
        <p:spPr>
          <a:xfrm>
            <a:off x="320040" y="3063240"/>
            <a:ext cx="2651760" cy="1828800"/>
          </a:xfrm>
          <a:prstGeom prst="rect">
            <a:avLst/>
          </a:prstGeom>
          <a:solidFill>
            <a:srgbClr val="1A3278"/>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8" name="Text 16"/>
          <p:cNvSpPr/>
          <p:nvPr/>
        </p:nvSpPr>
        <p:spPr>
          <a:xfrm>
            <a:off x="457200" y="3200400"/>
            <a:ext cx="2377440" cy="320040"/>
          </a:xfrm>
          <a:prstGeom prst="rect">
            <a:avLst/>
          </a:prstGeom>
          <a:noFill/>
          <a:ln/>
        </p:spPr>
        <p:txBody>
          <a:bodyPr wrap="square" rtlCol="0" anchor="ctr"/>
          <a:lstStyle/>
          <a:p>
            <a:pPr marL="0" indent="0" algn="ctr">
              <a:buNone/>
            </a:pPr>
            <a:r>
              <a:rPr lang="en-US" sz="1200" b="1" dirty="0">
                <a:solidFill>
                  <a:srgbClr val="F59E0B"/>
                </a:solidFill>
              </a:rPr>
              <a:t>Infrastructure First</a:t>
            </a:r>
            <a:endParaRPr lang="en-US" sz="1200" dirty="0"/>
          </a:p>
        </p:txBody>
      </p:sp>
      <p:sp>
        <p:nvSpPr>
          <p:cNvPr id="19" name="Text 17"/>
          <p:cNvSpPr/>
          <p:nvPr/>
        </p:nvSpPr>
        <p:spPr>
          <a:xfrm>
            <a:off x="457200" y="3547872"/>
            <a:ext cx="2377440" cy="1234440"/>
          </a:xfrm>
          <a:prstGeom prst="rect">
            <a:avLst/>
          </a:prstGeom>
          <a:noFill/>
          <a:ln/>
        </p:spPr>
        <p:txBody>
          <a:bodyPr wrap="square" rtlCol="0" anchor="ctr"/>
          <a:lstStyle/>
          <a:p>
            <a:pPr marL="0" indent="0" algn="ctr">
              <a:buNone/>
            </a:pPr>
            <a:r>
              <a:rPr lang="en-US" sz="1000" dirty="0">
                <a:solidFill>
                  <a:srgbClr val="F0F4FF"/>
                </a:solidFill>
              </a:rPr>
              <a:t>The picks-and-shovels of AI — power, chips, and data centers — generate returns regardless of which AI model wins. Own the rails, not just the trains.</a:t>
            </a:r>
            <a:endParaRPr lang="en-US" sz="1000" dirty="0"/>
          </a:p>
        </p:txBody>
      </p:sp>
      <p:sp>
        <p:nvSpPr>
          <p:cNvPr id="20" name="Shape 18"/>
          <p:cNvSpPr/>
          <p:nvPr/>
        </p:nvSpPr>
        <p:spPr>
          <a:xfrm>
            <a:off x="3246120" y="3063240"/>
            <a:ext cx="2651760" cy="1828800"/>
          </a:xfrm>
          <a:prstGeom prst="rect">
            <a:avLst/>
          </a:prstGeom>
          <a:solidFill>
            <a:srgbClr val="1A3278"/>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21" name="Text 19"/>
          <p:cNvSpPr/>
          <p:nvPr/>
        </p:nvSpPr>
        <p:spPr>
          <a:xfrm>
            <a:off x="3383280" y="3200400"/>
            <a:ext cx="2377440" cy="320040"/>
          </a:xfrm>
          <a:prstGeom prst="rect">
            <a:avLst/>
          </a:prstGeom>
          <a:noFill/>
          <a:ln/>
        </p:spPr>
        <p:txBody>
          <a:bodyPr wrap="square" rtlCol="0" anchor="ctr"/>
          <a:lstStyle/>
          <a:p>
            <a:pPr marL="0" indent="0" algn="ctr">
              <a:buNone/>
            </a:pPr>
            <a:r>
              <a:rPr lang="en-US" sz="1200" b="1" dirty="0">
                <a:solidFill>
                  <a:srgbClr val="3B82F6"/>
                </a:solidFill>
              </a:rPr>
              <a:t>Winner-Takes-Most</a:t>
            </a:r>
            <a:endParaRPr lang="en-US" sz="1200" dirty="0"/>
          </a:p>
        </p:txBody>
      </p:sp>
      <p:sp>
        <p:nvSpPr>
          <p:cNvPr id="22" name="Text 20"/>
          <p:cNvSpPr/>
          <p:nvPr/>
        </p:nvSpPr>
        <p:spPr>
          <a:xfrm>
            <a:off x="3383280" y="3547872"/>
            <a:ext cx="2377440" cy="1234440"/>
          </a:xfrm>
          <a:prstGeom prst="rect">
            <a:avLst/>
          </a:prstGeom>
          <a:noFill/>
          <a:ln/>
        </p:spPr>
        <p:txBody>
          <a:bodyPr wrap="square" rtlCol="0" anchor="ctr"/>
          <a:lstStyle/>
          <a:p>
            <a:pPr marL="0" indent="0" algn="ctr">
              <a:buNone/>
            </a:pPr>
            <a:r>
              <a:rPr lang="en-US" sz="1000" dirty="0">
                <a:solidFill>
                  <a:srgbClr val="F0F4FF"/>
                </a:solidFill>
              </a:rPr>
              <a:t>AI has massive economies of scale. First-movers with training data, compute, and distribution will compound advantages. Own the hyperscalers early.</a:t>
            </a:r>
            <a:endParaRPr lang="en-US" sz="1000" dirty="0"/>
          </a:p>
        </p:txBody>
      </p:sp>
      <p:sp>
        <p:nvSpPr>
          <p:cNvPr id="23" name="Shape 21"/>
          <p:cNvSpPr/>
          <p:nvPr/>
        </p:nvSpPr>
        <p:spPr>
          <a:xfrm>
            <a:off x="6172200" y="3063240"/>
            <a:ext cx="2651760" cy="1828800"/>
          </a:xfrm>
          <a:prstGeom prst="rect">
            <a:avLst/>
          </a:prstGeom>
          <a:solidFill>
            <a:srgbClr val="1A3278"/>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24" name="Text 22"/>
          <p:cNvSpPr/>
          <p:nvPr/>
        </p:nvSpPr>
        <p:spPr>
          <a:xfrm>
            <a:off x="6309360" y="3200400"/>
            <a:ext cx="2377440" cy="320040"/>
          </a:xfrm>
          <a:prstGeom prst="rect">
            <a:avLst/>
          </a:prstGeom>
          <a:noFill/>
          <a:ln/>
        </p:spPr>
        <p:txBody>
          <a:bodyPr wrap="square" rtlCol="0" anchor="ctr"/>
          <a:lstStyle/>
          <a:p>
            <a:pPr marL="0" indent="0" algn="ctr">
              <a:buNone/>
            </a:pPr>
            <a:r>
              <a:rPr lang="en-US" sz="1200" b="1" dirty="0">
                <a:solidFill>
                  <a:srgbClr val="A855F7"/>
                </a:solidFill>
              </a:rPr>
              <a:t>Emerging Frontier</a:t>
            </a:r>
            <a:endParaRPr lang="en-US" sz="1200" dirty="0"/>
          </a:p>
        </p:txBody>
      </p:sp>
      <p:sp>
        <p:nvSpPr>
          <p:cNvPr id="25" name="Text 23"/>
          <p:cNvSpPr/>
          <p:nvPr/>
        </p:nvSpPr>
        <p:spPr>
          <a:xfrm>
            <a:off x="6309360" y="3547872"/>
            <a:ext cx="2377440" cy="1234440"/>
          </a:xfrm>
          <a:prstGeom prst="rect">
            <a:avLst/>
          </a:prstGeom>
          <a:noFill/>
          <a:ln/>
        </p:spPr>
        <p:txBody>
          <a:bodyPr wrap="square" rtlCol="0" anchor="ctr"/>
          <a:lstStyle/>
          <a:p>
            <a:pPr marL="0" indent="0" algn="ctr">
              <a:buNone/>
            </a:pPr>
            <a:r>
              <a:rPr lang="en-US" sz="1000" dirty="0">
                <a:solidFill>
                  <a:srgbClr val="F0F4FF"/>
                </a:solidFill>
              </a:rPr>
              <a:t>Robotics + physical AI represent the next wave. Labor replacement + industrial automation creates a multi-decade secular growth story beyond software.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0D1226"/>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36576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WHY NOW: THREE CONVERGING FORCES</a:t>
            </a:r>
            <a:endParaRPr lang="en-US" sz="2600" dirty="0"/>
          </a:p>
        </p:txBody>
      </p:sp>
      <p:sp>
        <p:nvSpPr>
          <p:cNvPr id="3" name="Text 1"/>
          <p:cNvSpPr/>
          <p:nvPr/>
        </p:nvSpPr>
        <p:spPr>
          <a:xfrm>
            <a:off x="365760" y="685800"/>
            <a:ext cx="8412480" cy="365760"/>
          </a:xfrm>
          <a:prstGeom prst="rect">
            <a:avLst/>
          </a:prstGeom>
          <a:noFill/>
          <a:ln/>
        </p:spPr>
        <p:txBody>
          <a:bodyPr wrap="square" rtlCol="0" anchor="ctr"/>
          <a:lstStyle/>
          <a:p>
            <a:pPr marL="0" indent="0" algn="ctr">
              <a:buNone/>
            </a:pPr>
            <a:r>
              <a:rPr lang="en-US" sz="1200" dirty="0">
                <a:solidFill>
                  <a:srgbClr val="06B6D4"/>
                </a:solidFill>
              </a:rPr>
              <a:t>AI and robotics are not independent trends — they are the same compute-driven revolution entering physical space</a:t>
            </a:r>
            <a:endParaRPr lang="en-US" sz="1200" dirty="0"/>
          </a:p>
        </p:txBody>
      </p:sp>
      <p:sp>
        <p:nvSpPr>
          <p:cNvPr id="4" name="Shape 2"/>
          <p:cNvSpPr/>
          <p:nvPr/>
        </p:nvSpPr>
        <p:spPr>
          <a:xfrm>
            <a:off x="274320" y="1188720"/>
            <a:ext cx="2788920" cy="365760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5" name="Shape 3"/>
          <p:cNvSpPr/>
          <p:nvPr/>
        </p:nvSpPr>
        <p:spPr>
          <a:xfrm>
            <a:off x="274320" y="1188720"/>
            <a:ext cx="2788920" cy="384048"/>
          </a:xfrm>
          <a:prstGeom prst="rect">
            <a:avLst/>
          </a:prstGeom>
          <a:solidFill>
            <a:srgbClr val="3B82F6">
              <a:alpha val="80000"/>
            </a:srgbClr>
          </a:solidFill>
          <a:ln/>
        </p:spPr>
      </p:sp>
      <p:sp>
        <p:nvSpPr>
          <p:cNvPr id="6" name="Text 4"/>
          <p:cNvSpPr/>
          <p:nvPr/>
        </p:nvSpPr>
        <p:spPr>
          <a:xfrm>
            <a:off x="384048" y="1188720"/>
            <a:ext cx="2606040" cy="384048"/>
          </a:xfrm>
          <a:prstGeom prst="rect">
            <a:avLst/>
          </a:prstGeom>
          <a:noFill/>
          <a:ln/>
        </p:spPr>
        <p:txBody>
          <a:bodyPr wrap="square" lIns="0" tIns="0" rIns="0" bIns="0" rtlCol="0" anchor="ctr"/>
          <a:lstStyle/>
          <a:p>
            <a:pPr marL="0" indent="0">
              <a:buNone/>
            </a:pPr>
            <a:r>
              <a:rPr lang="en-US" sz="1100" b="1" dirty="0">
                <a:solidFill>
                  <a:srgbClr val="FFFFFF"/>
                </a:solidFill>
              </a:rPr>
              <a:t>1.  Compute Scaling Laws</a:t>
            </a:r>
            <a:endParaRPr lang="en-US" sz="1100" dirty="0"/>
          </a:p>
        </p:txBody>
      </p:sp>
      <p:sp>
        <p:nvSpPr>
          <p:cNvPr id="7" name="Shape 5"/>
          <p:cNvSpPr/>
          <p:nvPr/>
        </p:nvSpPr>
        <p:spPr>
          <a:xfrm>
            <a:off x="457200" y="1755648"/>
            <a:ext cx="91440" cy="91440"/>
          </a:xfrm>
          <a:prstGeom prst="ellipse">
            <a:avLst/>
          </a:prstGeom>
          <a:solidFill>
            <a:srgbClr val="3B82F6"/>
          </a:solidFill>
          <a:ln/>
        </p:spPr>
      </p:sp>
      <p:sp>
        <p:nvSpPr>
          <p:cNvPr id="8" name="Text 6"/>
          <p:cNvSpPr/>
          <p:nvPr/>
        </p:nvSpPr>
        <p:spPr>
          <a:xfrm>
            <a:off x="621792" y="1709928"/>
            <a:ext cx="2331720" cy="457200"/>
          </a:xfrm>
          <a:prstGeom prst="rect">
            <a:avLst/>
          </a:prstGeom>
          <a:noFill/>
          <a:ln/>
        </p:spPr>
        <p:txBody>
          <a:bodyPr wrap="square" lIns="0" tIns="0" rIns="0" bIns="0" rtlCol="0" anchor="ctr"/>
          <a:lstStyle/>
          <a:p>
            <a:pPr marL="0" indent="0">
              <a:buNone/>
            </a:pPr>
            <a:r>
              <a:rPr lang="en-US" sz="950" dirty="0">
                <a:solidFill>
                  <a:srgbClr val="E2E8F5"/>
                </a:solidFill>
              </a:rPr>
              <a:t>Transformer models scale predictably with data + compute (Chinchilla law)</a:t>
            </a:r>
            <a:endParaRPr lang="en-US" sz="950" dirty="0"/>
          </a:p>
        </p:txBody>
      </p:sp>
      <p:sp>
        <p:nvSpPr>
          <p:cNvPr id="9" name="Shape 7"/>
          <p:cNvSpPr/>
          <p:nvPr/>
        </p:nvSpPr>
        <p:spPr>
          <a:xfrm>
            <a:off x="457200" y="2267712"/>
            <a:ext cx="91440" cy="91440"/>
          </a:xfrm>
          <a:prstGeom prst="ellipse">
            <a:avLst/>
          </a:prstGeom>
          <a:solidFill>
            <a:srgbClr val="3B82F6"/>
          </a:solidFill>
          <a:ln/>
        </p:spPr>
      </p:sp>
      <p:sp>
        <p:nvSpPr>
          <p:cNvPr id="10" name="Text 8"/>
          <p:cNvSpPr/>
          <p:nvPr/>
        </p:nvSpPr>
        <p:spPr>
          <a:xfrm>
            <a:off x="621792" y="2221992"/>
            <a:ext cx="2331720" cy="457200"/>
          </a:xfrm>
          <a:prstGeom prst="rect">
            <a:avLst/>
          </a:prstGeom>
          <a:noFill/>
          <a:ln/>
        </p:spPr>
        <p:txBody>
          <a:bodyPr wrap="square" lIns="0" tIns="0" rIns="0" bIns="0" rtlCol="0" anchor="ctr"/>
          <a:lstStyle/>
          <a:p>
            <a:pPr marL="0" indent="0">
              <a:buNone/>
            </a:pPr>
            <a:r>
              <a:rPr lang="en-US" sz="950" dirty="0">
                <a:solidFill>
                  <a:srgbClr val="E2E8F5"/>
                </a:solidFill>
              </a:rPr>
              <a:t>Each 10× compute increase unlocks qualitatively new capabilities — not just "better"</a:t>
            </a:r>
            <a:endParaRPr lang="en-US" sz="950" dirty="0"/>
          </a:p>
        </p:txBody>
      </p:sp>
      <p:sp>
        <p:nvSpPr>
          <p:cNvPr id="11" name="Shape 9"/>
          <p:cNvSpPr/>
          <p:nvPr/>
        </p:nvSpPr>
        <p:spPr>
          <a:xfrm>
            <a:off x="457200" y="2779776"/>
            <a:ext cx="91440" cy="91440"/>
          </a:xfrm>
          <a:prstGeom prst="ellipse">
            <a:avLst/>
          </a:prstGeom>
          <a:solidFill>
            <a:srgbClr val="3B82F6"/>
          </a:solidFill>
          <a:ln/>
        </p:spPr>
      </p:sp>
      <p:sp>
        <p:nvSpPr>
          <p:cNvPr id="12" name="Text 10"/>
          <p:cNvSpPr/>
          <p:nvPr/>
        </p:nvSpPr>
        <p:spPr>
          <a:xfrm>
            <a:off x="621792" y="2734056"/>
            <a:ext cx="2331720" cy="457200"/>
          </a:xfrm>
          <a:prstGeom prst="rect">
            <a:avLst/>
          </a:prstGeom>
          <a:noFill/>
          <a:ln/>
        </p:spPr>
        <p:txBody>
          <a:bodyPr wrap="square" lIns="0" tIns="0" rIns="0" bIns="0" rtlCol="0" anchor="ctr"/>
          <a:lstStyle/>
          <a:p>
            <a:pPr marL="0" indent="0">
              <a:buNone/>
            </a:pPr>
            <a:r>
              <a:rPr lang="en-US" sz="950" dirty="0">
                <a:solidFill>
                  <a:srgbClr val="E2E8F5"/>
                </a:solidFill>
              </a:rPr>
              <a:t>This creates a structural arms race: whoever stops scaling, falls behind</a:t>
            </a:r>
            <a:endParaRPr lang="en-US" sz="950" dirty="0"/>
          </a:p>
        </p:txBody>
      </p:sp>
      <p:sp>
        <p:nvSpPr>
          <p:cNvPr id="13" name="Shape 11"/>
          <p:cNvSpPr/>
          <p:nvPr/>
        </p:nvSpPr>
        <p:spPr>
          <a:xfrm>
            <a:off x="457200" y="3291840"/>
            <a:ext cx="91440" cy="91440"/>
          </a:xfrm>
          <a:prstGeom prst="ellipse">
            <a:avLst/>
          </a:prstGeom>
          <a:solidFill>
            <a:srgbClr val="3B82F6"/>
          </a:solidFill>
          <a:ln/>
        </p:spPr>
      </p:sp>
      <p:sp>
        <p:nvSpPr>
          <p:cNvPr id="14" name="Text 12"/>
          <p:cNvSpPr/>
          <p:nvPr/>
        </p:nvSpPr>
        <p:spPr>
          <a:xfrm>
            <a:off x="621792" y="3246120"/>
            <a:ext cx="2331720" cy="457200"/>
          </a:xfrm>
          <a:prstGeom prst="rect">
            <a:avLst/>
          </a:prstGeom>
          <a:noFill/>
          <a:ln/>
        </p:spPr>
        <p:txBody>
          <a:bodyPr wrap="square" lIns="0" tIns="0" rIns="0" bIns="0" rtlCol="0" anchor="ctr"/>
          <a:lstStyle/>
          <a:p>
            <a:pPr marL="0" indent="0">
              <a:buNone/>
            </a:pPr>
            <a:r>
              <a:rPr lang="en-US" sz="950" dirty="0">
                <a:solidFill>
                  <a:srgbClr val="E2E8F5"/>
                </a:solidFill>
              </a:rPr>
              <a:t>GPT-4 used ~10²³ FLOPs. Next-gen frontier models: 10²⁵–10²⁶ FLOPs</a:t>
            </a:r>
            <a:endParaRPr lang="en-US" sz="950" dirty="0"/>
          </a:p>
        </p:txBody>
      </p:sp>
      <p:sp>
        <p:nvSpPr>
          <p:cNvPr id="15" name="Shape 13"/>
          <p:cNvSpPr/>
          <p:nvPr/>
        </p:nvSpPr>
        <p:spPr>
          <a:xfrm>
            <a:off x="457200" y="3803904"/>
            <a:ext cx="91440" cy="91440"/>
          </a:xfrm>
          <a:prstGeom prst="ellipse">
            <a:avLst/>
          </a:prstGeom>
          <a:solidFill>
            <a:srgbClr val="3B82F6"/>
          </a:solidFill>
          <a:ln/>
        </p:spPr>
      </p:sp>
      <p:sp>
        <p:nvSpPr>
          <p:cNvPr id="16" name="Text 14"/>
          <p:cNvSpPr/>
          <p:nvPr/>
        </p:nvSpPr>
        <p:spPr>
          <a:xfrm>
            <a:off x="621792" y="3758184"/>
            <a:ext cx="2331720" cy="457200"/>
          </a:xfrm>
          <a:prstGeom prst="rect">
            <a:avLst/>
          </a:prstGeom>
          <a:noFill/>
          <a:ln/>
        </p:spPr>
        <p:txBody>
          <a:bodyPr wrap="square" lIns="0" tIns="0" rIns="0" bIns="0" rtlCol="0" anchor="ctr"/>
          <a:lstStyle/>
          <a:p>
            <a:pPr marL="0" indent="0">
              <a:buNone/>
            </a:pPr>
            <a:r>
              <a:rPr lang="en-US" sz="950" dirty="0">
                <a:solidFill>
                  <a:srgbClr val="E2E8F5"/>
                </a:solidFill>
              </a:rPr>
              <a:t>Implication: demand for GPUs, memory, power is NOT a bubble — it is physics</a:t>
            </a:r>
            <a:endParaRPr lang="en-US" sz="950" dirty="0"/>
          </a:p>
        </p:txBody>
      </p:sp>
      <p:sp>
        <p:nvSpPr>
          <p:cNvPr id="17" name="Shape 15"/>
          <p:cNvSpPr/>
          <p:nvPr/>
        </p:nvSpPr>
        <p:spPr>
          <a:xfrm>
            <a:off x="3246120" y="1188720"/>
            <a:ext cx="2788920" cy="365760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18" name="Shape 16"/>
          <p:cNvSpPr/>
          <p:nvPr/>
        </p:nvSpPr>
        <p:spPr>
          <a:xfrm>
            <a:off x="3246120" y="1188720"/>
            <a:ext cx="2788920" cy="384048"/>
          </a:xfrm>
          <a:prstGeom prst="rect">
            <a:avLst/>
          </a:prstGeom>
          <a:solidFill>
            <a:srgbClr val="10B981">
              <a:alpha val="80000"/>
            </a:srgbClr>
          </a:solidFill>
          <a:ln/>
        </p:spPr>
      </p:sp>
      <p:sp>
        <p:nvSpPr>
          <p:cNvPr id="19" name="Text 17"/>
          <p:cNvSpPr/>
          <p:nvPr/>
        </p:nvSpPr>
        <p:spPr>
          <a:xfrm>
            <a:off x="3355848" y="1188720"/>
            <a:ext cx="2606040" cy="384048"/>
          </a:xfrm>
          <a:prstGeom prst="rect">
            <a:avLst/>
          </a:prstGeom>
          <a:noFill/>
          <a:ln/>
        </p:spPr>
        <p:txBody>
          <a:bodyPr wrap="square" lIns="0" tIns="0" rIns="0" bIns="0" rtlCol="0" anchor="ctr"/>
          <a:lstStyle/>
          <a:p>
            <a:pPr marL="0" indent="0">
              <a:buNone/>
            </a:pPr>
            <a:r>
              <a:rPr lang="en-US" sz="1100" b="1" dirty="0">
                <a:solidFill>
                  <a:srgbClr val="FFFFFF"/>
                </a:solidFill>
              </a:rPr>
              <a:t>2.  Software Eating the Physical World</a:t>
            </a:r>
            <a:endParaRPr lang="en-US" sz="1100" dirty="0"/>
          </a:p>
        </p:txBody>
      </p:sp>
      <p:sp>
        <p:nvSpPr>
          <p:cNvPr id="20" name="Shape 18"/>
          <p:cNvSpPr/>
          <p:nvPr/>
        </p:nvSpPr>
        <p:spPr>
          <a:xfrm>
            <a:off x="3429000" y="1755648"/>
            <a:ext cx="91440" cy="91440"/>
          </a:xfrm>
          <a:prstGeom prst="ellipse">
            <a:avLst/>
          </a:prstGeom>
          <a:solidFill>
            <a:srgbClr val="10B981"/>
          </a:solidFill>
          <a:ln/>
        </p:spPr>
      </p:sp>
      <p:sp>
        <p:nvSpPr>
          <p:cNvPr id="21" name="Text 19"/>
          <p:cNvSpPr/>
          <p:nvPr/>
        </p:nvSpPr>
        <p:spPr>
          <a:xfrm>
            <a:off x="3593592" y="1709928"/>
            <a:ext cx="2331720" cy="457200"/>
          </a:xfrm>
          <a:prstGeom prst="rect">
            <a:avLst/>
          </a:prstGeom>
          <a:noFill/>
          <a:ln/>
        </p:spPr>
        <p:txBody>
          <a:bodyPr wrap="square" lIns="0" tIns="0" rIns="0" bIns="0" rtlCol="0" anchor="ctr"/>
          <a:lstStyle/>
          <a:p>
            <a:pPr marL="0" indent="0">
              <a:buNone/>
            </a:pPr>
            <a:r>
              <a:rPr lang="en-US" sz="950" dirty="0">
                <a:solidFill>
                  <a:srgbClr val="E2E8F5"/>
                </a:solidFill>
              </a:rPr>
              <a:t>AI models trained in simulation can control physical actuators (Sim-to-Real transfer)</a:t>
            </a:r>
            <a:endParaRPr lang="en-US" sz="950" dirty="0"/>
          </a:p>
        </p:txBody>
      </p:sp>
      <p:sp>
        <p:nvSpPr>
          <p:cNvPr id="22" name="Shape 20"/>
          <p:cNvSpPr/>
          <p:nvPr/>
        </p:nvSpPr>
        <p:spPr>
          <a:xfrm>
            <a:off x="3429000" y="2267712"/>
            <a:ext cx="91440" cy="91440"/>
          </a:xfrm>
          <a:prstGeom prst="ellipse">
            <a:avLst/>
          </a:prstGeom>
          <a:solidFill>
            <a:srgbClr val="10B981"/>
          </a:solidFill>
          <a:ln/>
        </p:spPr>
      </p:sp>
      <p:sp>
        <p:nvSpPr>
          <p:cNvPr id="23" name="Text 21"/>
          <p:cNvSpPr/>
          <p:nvPr/>
        </p:nvSpPr>
        <p:spPr>
          <a:xfrm>
            <a:off x="3593592" y="2221992"/>
            <a:ext cx="2331720" cy="457200"/>
          </a:xfrm>
          <a:prstGeom prst="rect">
            <a:avLst/>
          </a:prstGeom>
          <a:noFill/>
          <a:ln/>
        </p:spPr>
        <p:txBody>
          <a:bodyPr wrap="square" lIns="0" tIns="0" rIns="0" bIns="0" rtlCol="0" anchor="ctr"/>
          <a:lstStyle/>
          <a:p>
            <a:pPr marL="0" indent="0">
              <a:buNone/>
            </a:pPr>
            <a:r>
              <a:rPr lang="en-US" sz="950" dirty="0">
                <a:solidFill>
                  <a:srgbClr val="E2E8F5"/>
                </a:solidFill>
              </a:rPr>
              <a:t>Sensor costs collapsed: LiDAR from $75K (2012) → $500 (2024)</a:t>
            </a:r>
            <a:endParaRPr lang="en-US" sz="950" dirty="0"/>
          </a:p>
        </p:txBody>
      </p:sp>
      <p:sp>
        <p:nvSpPr>
          <p:cNvPr id="24" name="Shape 22"/>
          <p:cNvSpPr/>
          <p:nvPr/>
        </p:nvSpPr>
        <p:spPr>
          <a:xfrm>
            <a:off x="3429000" y="2779776"/>
            <a:ext cx="91440" cy="91440"/>
          </a:xfrm>
          <a:prstGeom prst="ellipse">
            <a:avLst/>
          </a:prstGeom>
          <a:solidFill>
            <a:srgbClr val="10B981"/>
          </a:solidFill>
          <a:ln/>
        </p:spPr>
      </p:sp>
      <p:sp>
        <p:nvSpPr>
          <p:cNvPr id="25" name="Text 23"/>
          <p:cNvSpPr/>
          <p:nvPr/>
        </p:nvSpPr>
        <p:spPr>
          <a:xfrm>
            <a:off x="3593592" y="2734056"/>
            <a:ext cx="2331720" cy="457200"/>
          </a:xfrm>
          <a:prstGeom prst="rect">
            <a:avLst/>
          </a:prstGeom>
          <a:noFill/>
          <a:ln/>
        </p:spPr>
        <p:txBody>
          <a:bodyPr wrap="square" lIns="0" tIns="0" rIns="0" bIns="0" rtlCol="0" anchor="ctr"/>
          <a:lstStyle/>
          <a:p>
            <a:pPr marL="0" indent="0">
              <a:buNone/>
            </a:pPr>
            <a:r>
              <a:rPr lang="en-US" sz="950" dirty="0">
                <a:solidFill>
                  <a:srgbClr val="E2E8F5"/>
                </a:solidFill>
              </a:rPr>
              <a:t>Robot OS (ROS2), IsaacSim, MuJoCo enable model training at zero marginal cost</a:t>
            </a:r>
            <a:endParaRPr lang="en-US" sz="950" dirty="0"/>
          </a:p>
        </p:txBody>
      </p:sp>
      <p:sp>
        <p:nvSpPr>
          <p:cNvPr id="26" name="Shape 24"/>
          <p:cNvSpPr/>
          <p:nvPr/>
        </p:nvSpPr>
        <p:spPr>
          <a:xfrm>
            <a:off x="3429000" y="3291840"/>
            <a:ext cx="91440" cy="91440"/>
          </a:xfrm>
          <a:prstGeom prst="ellipse">
            <a:avLst/>
          </a:prstGeom>
          <a:solidFill>
            <a:srgbClr val="10B981"/>
          </a:solidFill>
          <a:ln/>
        </p:spPr>
      </p:sp>
      <p:sp>
        <p:nvSpPr>
          <p:cNvPr id="27" name="Text 25"/>
          <p:cNvSpPr/>
          <p:nvPr/>
        </p:nvSpPr>
        <p:spPr>
          <a:xfrm>
            <a:off x="3593592" y="3246120"/>
            <a:ext cx="2331720" cy="457200"/>
          </a:xfrm>
          <a:prstGeom prst="rect">
            <a:avLst/>
          </a:prstGeom>
          <a:noFill/>
          <a:ln/>
        </p:spPr>
        <p:txBody>
          <a:bodyPr wrap="square" lIns="0" tIns="0" rIns="0" bIns="0" rtlCol="0" anchor="ctr"/>
          <a:lstStyle/>
          <a:p>
            <a:pPr marL="0" indent="0">
              <a:buNone/>
            </a:pPr>
            <a:r>
              <a:rPr lang="en-US" sz="950" dirty="0">
                <a:solidFill>
                  <a:srgbClr val="E2E8F5"/>
                </a:solidFill>
              </a:rPr>
              <a:t>Foundation models (GPT-style) now generalize to robot motion planning</a:t>
            </a:r>
            <a:endParaRPr lang="en-US" sz="950" dirty="0"/>
          </a:p>
        </p:txBody>
      </p:sp>
      <p:sp>
        <p:nvSpPr>
          <p:cNvPr id="28" name="Shape 26"/>
          <p:cNvSpPr/>
          <p:nvPr/>
        </p:nvSpPr>
        <p:spPr>
          <a:xfrm>
            <a:off x="3429000" y="3803904"/>
            <a:ext cx="91440" cy="91440"/>
          </a:xfrm>
          <a:prstGeom prst="ellipse">
            <a:avLst/>
          </a:prstGeom>
          <a:solidFill>
            <a:srgbClr val="10B981"/>
          </a:solidFill>
          <a:ln/>
        </p:spPr>
      </p:sp>
      <p:sp>
        <p:nvSpPr>
          <p:cNvPr id="29" name="Text 27"/>
          <p:cNvSpPr/>
          <p:nvPr/>
        </p:nvSpPr>
        <p:spPr>
          <a:xfrm>
            <a:off x="3593592" y="3758184"/>
            <a:ext cx="2331720" cy="457200"/>
          </a:xfrm>
          <a:prstGeom prst="rect">
            <a:avLst/>
          </a:prstGeom>
          <a:noFill/>
          <a:ln/>
        </p:spPr>
        <p:txBody>
          <a:bodyPr wrap="square" lIns="0" tIns="0" rIns="0" bIns="0" rtlCol="0" anchor="ctr"/>
          <a:lstStyle/>
          <a:p>
            <a:pPr marL="0" indent="0">
              <a:buNone/>
            </a:pPr>
            <a:r>
              <a:rPr lang="en-US" sz="950" dirty="0">
                <a:solidFill>
                  <a:srgbClr val="E2E8F5"/>
                </a:solidFill>
              </a:rPr>
              <a:t>This collapses the barrier between "software AI" and "physical AI"</a:t>
            </a:r>
            <a:endParaRPr lang="en-US" sz="950" dirty="0"/>
          </a:p>
        </p:txBody>
      </p:sp>
      <p:sp>
        <p:nvSpPr>
          <p:cNvPr id="30" name="Shape 28"/>
          <p:cNvSpPr/>
          <p:nvPr/>
        </p:nvSpPr>
        <p:spPr>
          <a:xfrm>
            <a:off x="6217920" y="1188720"/>
            <a:ext cx="2788920" cy="365760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31" name="Shape 29"/>
          <p:cNvSpPr/>
          <p:nvPr/>
        </p:nvSpPr>
        <p:spPr>
          <a:xfrm>
            <a:off x="6217920" y="1188720"/>
            <a:ext cx="2788920" cy="384048"/>
          </a:xfrm>
          <a:prstGeom prst="rect">
            <a:avLst/>
          </a:prstGeom>
          <a:solidFill>
            <a:srgbClr val="F59E0B">
              <a:alpha val="80000"/>
            </a:srgbClr>
          </a:solidFill>
          <a:ln/>
        </p:spPr>
      </p:sp>
      <p:sp>
        <p:nvSpPr>
          <p:cNvPr id="32" name="Text 30"/>
          <p:cNvSpPr/>
          <p:nvPr/>
        </p:nvSpPr>
        <p:spPr>
          <a:xfrm>
            <a:off x="6327648" y="1188720"/>
            <a:ext cx="2606040" cy="384048"/>
          </a:xfrm>
          <a:prstGeom prst="rect">
            <a:avLst/>
          </a:prstGeom>
          <a:noFill/>
          <a:ln/>
        </p:spPr>
        <p:txBody>
          <a:bodyPr wrap="square" lIns="0" tIns="0" rIns="0" bIns="0" rtlCol="0" anchor="ctr"/>
          <a:lstStyle/>
          <a:p>
            <a:pPr marL="0" indent="0">
              <a:buNone/>
            </a:pPr>
            <a:r>
              <a:rPr lang="en-US" sz="1100" b="1" dirty="0">
                <a:solidFill>
                  <a:srgbClr val="FFFFFF"/>
                </a:solidFill>
              </a:rPr>
              <a:t>3.  Demographic &amp; Labor Economics</a:t>
            </a:r>
            <a:endParaRPr lang="en-US" sz="1100" dirty="0"/>
          </a:p>
        </p:txBody>
      </p:sp>
      <p:sp>
        <p:nvSpPr>
          <p:cNvPr id="33" name="Shape 31"/>
          <p:cNvSpPr/>
          <p:nvPr/>
        </p:nvSpPr>
        <p:spPr>
          <a:xfrm>
            <a:off x="6400800" y="1755648"/>
            <a:ext cx="91440" cy="91440"/>
          </a:xfrm>
          <a:prstGeom prst="ellipse">
            <a:avLst/>
          </a:prstGeom>
          <a:solidFill>
            <a:srgbClr val="F59E0B"/>
          </a:solidFill>
          <a:ln/>
        </p:spPr>
      </p:sp>
      <p:sp>
        <p:nvSpPr>
          <p:cNvPr id="34" name="Text 32"/>
          <p:cNvSpPr/>
          <p:nvPr/>
        </p:nvSpPr>
        <p:spPr>
          <a:xfrm>
            <a:off x="6565392" y="1709928"/>
            <a:ext cx="2331720" cy="457200"/>
          </a:xfrm>
          <a:prstGeom prst="rect">
            <a:avLst/>
          </a:prstGeom>
          <a:noFill/>
          <a:ln/>
        </p:spPr>
        <p:txBody>
          <a:bodyPr wrap="square" lIns="0" tIns="0" rIns="0" bIns="0" rtlCol="0" anchor="ctr"/>
          <a:lstStyle/>
          <a:p>
            <a:pPr marL="0" indent="0">
              <a:buNone/>
            </a:pPr>
            <a:r>
              <a:rPr lang="en-US" sz="950" dirty="0">
                <a:solidFill>
                  <a:srgbClr val="E2E8F5"/>
                </a:solidFill>
              </a:rPr>
              <a:t>Working-age population SHRINKING in US, EU, Japan, China simultaneously</a:t>
            </a:r>
            <a:endParaRPr lang="en-US" sz="950" dirty="0"/>
          </a:p>
        </p:txBody>
      </p:sp>
      <p:sp>
        <p:nvSpPr>
          <p:cNvPr id="35" name="Shape 33"/>
          <p:cNvSpPr/>
          <p:nvPr/>
        </p:nvSpPr>
        <p:spPr>
          <a:xfrm>
            <a:off x="6400800" y="2267712"/>
            <a:ext cx="91440" cy="91440"/>
          </a:xfrm>
          <a:prstGeom prst="ellipse">
            <a:avLst/>
          </a:prstGeom>
          <a:solidFill>
            <a:srgbClr val="F59E0B"/>
          </a:solidFill>
          <a:ln/>
        </p:spPr>
      </p:sp>
      <p:sp>
        <p:nvSpPr>
          <p:cNvPr id="36" name="Text 34"/>
          <p:cNvSpPr/>
          <p:nvPr/>
        </p:nvSpPr>
        <p:spPr>
          <a:xfrm>
            <a:off x="6565392" y="2221992"/>
            <a:ext cx="2331720" cy="457200"/>
          </a:xfrm>
          <a:prstGeom prst="rect">
            <a:avLst/>
          </a:prstGeom>
          <a:noFill/>
          <a:ln/>
        </p:spPr>
        <p:txBody>
          <a:bodyPr wrap="square" lIns="0" tIns="0" rIns="0" bIns="0" rtlCol="0" anchor="ctr"/>
          <a:lstStyle/>
          <a:p>
            <a:pPr marL="0" indent="0">
              <a:buNone/>
            </a:pPr>
            <a:r>
              <a:rPr lang="en-US" sz="950" dirty="0">
                <a:solidFill>
                  <a:srgbClr val="E2E8F5"/>
                </a:solidFill>
              </a:rPr>
              <a:t>Manufacturing labor cost arbitrage eroding: Chinese wages up 5× since 2005</a:t>
            </a:r>
            <a:endParaRPr lang="en-US" sz="950" dirty="0"/>
          </a:p>
        </p:txBody>
      </p:sp>
      <p:sp>
        <p:nvSpPr>
          <p:cNvPr id="37" name="Shape 35"/>
          <p:cNvSpPr/>
          <p:nvPr/>
        </p:nvSpPr>
        <p:spPr>
          <a:xfrm>
            <a:off x="6400800" y="2779776"/>
            <a:ext cx="91440" cy="91440"/>
          </a:xfrm>
          <a:prstGeom prst="ellipse">
            <a:avLst/>
          </a:prstGeom>
          <a:solidFill>
            <a:srgbClr val="F59E0B"/>
          </a:solidFill>
          <a:ln/>
        </p:spPr>
      </p:sp>
      <p:sp>
        <p:nvSpPr>
          <p:cNvPr id="38" name="Text 36"/>
          <p:cNvSpPr/>
          <p:nvPr/>
        </p:nvSpPr>
        <p:spPr>
          <a:xfrm>
            <a:off x="6565392" y="2734056"/>
            <a:ext cx="2331720" cy="457200"/>
          </a:xfrm>
          <a:prstGeom prst="rect">
            <a:avLst/>
          </a:prstGeom>
          <a:noFill/>
          <a:ln/>
        </p:spPr>
        <p:txBody>
          <a:bodyPr wrap="square" lIns="0" tIns="0" rIns="0" bIns="0" rtlCol="0" anchor="ctr"/>
          <a:lstStyle/>
          <a:p>
            <a:pPr marL="0" indent="0">
              <a:buNone/>
            </a:pPr>
            <a:r>
              <a:rPr lang="en-US" sz="950" dirty="0">
                <a:solidFill>
                  <a:srgbClr val="E2E8F5"/>
                </a:solidFill>
              </a:rPr>
              <a:t>A robot at $20K total cost replaces $35K/yr labor — ROI under 2 years</a:t>
            </a:r>
            <a:endParaRPr lang="en-US" sz="950" dirty="0"/>
          </a:p>
        </p:txBody>
      </p:sp>
      <p:sp>
        <p:nvSpPr>
          <p:cNvPr id="39" name="Shape 37"/>
          <p:cNvSpPr/>
          <p:nvPr/>
        </p:nvSpPr>
        <p:spPr>
          <a:xfrm>
            <a:off x="6400800" y="3291840"/>
            <a:ext cx="91440" cy="91440"/>
          </a:xfrm>
          <a:prstGeom prst="ellipse">
            <a:avLst/>
          </a:prstGeom>
          <a:solidFill>
            <a:srgbClr val="F59E0B"/>
          </a:solidFill>
          <a:ln/>
        </p:spPr>
      </p:sp>
      <p:sp>
        <p:nvSpPr>
          <p:cNvPr id="40" name="Text 38"/>
          <p:cNvSpPr/>
          <p:nvPr/>
        </p:nvSpPr>
        <p:spPr>
          <a:xfrm>
            <a:off x="6565392" y="3246120"/>
            <a:ext cx="2331720" cy="457200"/>
          </a:xfrm>
          <a:prstGeom prst="rect">
            <a:avLst/>
          </a:prstGeom>
          <a:noFill/>
          <a:ln/>
        </p:spPr>
        <p:txBody>
          <a:bodyPr wrap="square" lIns="0" tIns="0" rIns="0" bIns="0" rtlCol="0" anchor="ctr"/>
          <a:lstStyle/>
          <a:p>
            <a:pPr marL="0" indent="0">
              <a:buNone/>
            </a:pPr>
            <a:r>
              <a:rPr lang="en-US" sz="950" dirty="0">
                <a:solidFill>
                  <a:srgbClr val="E2E8F5"/>
                </a:solidFill>
              </a:rPr>
              <a:t>Aging populations create healthcare robotics demand: rehabilitation, elder care</a:t>
            </a:r>
            <a:endParaRPr lang="en-US" sz="950" dirty="0"/>
          </a:p>
        </p:txBody>
      </p:sp>
      <p:sp>
        <p:nvSpPr>
          <p:cNvPr id="41" name="Shape 39"/>
          <p:cNvSpPr/>
          <p:nvPr/>
        </p:nvSpPr>
        <p:spPr>
          <a:xfrm>
            <a:off x="6400800" y="3803904"/>
            <a:ext cx="91440" cy="91440"/>
          </a:xfrm>
          <a:prstGeom prst="ellipse">
            <a:avLst/>
          </a:prstGeom>
          <a:solidFill>
            <a:srgbClr val="F59E0B"/>
          </a:solidFill>
          <a:ln/>
        </p:spPr>
      </p:sp>
      <p:sp>
        <p:nvSpPr>
          <p:cNvPr id="42" name="Text 40"/>
          <p:cNvSpPr/>
          <p:nvPr/>
        </p:nvSpPr>
        <p:spPr>
          <a:xfrm>
            <a:off x="6565392" y="3758184"/>
            <a:ext cx="2331720" cy="457200"/>
          </a:xfrm>
          <a:prstGeom prst="rect">
            <a:avLst/>
          </a:prstGeom>
          <a:noFill/>
          <a:ln/>
        </p:spPr>
        <p:txBody>
          <a:bodyPr wrap="square" lIns="0" tIns="0" rIns="0" bIns="0" rtlCol="0" anchor="ctr"/>
          <a:lstStyle/>
          <a:p>
            <a:pPr marL="0" indent="0">
              <a:buNone/>
            </a:pPr>
            <a:r>
              <a:rPr lang="en-US" sz="950" dirty="0">
                <a:solidFill>
                  <a:srgbClr val="E2E8F5"/>
                </a:solidFill>
              </a:rPr>
              <a:t>Governments funding domestic manufacturing = pull for automation</a:t>
            </a:r>
            <a:endParaRPr lang="en-US" sz="950" dirty="0"/>
          </a:p>
        </p:txBody>
      </p:sp>
      <p:sp>
        <p:nvSpPr>
          <p:cNvPr id="43" name="Text 41"/>
          <p:cNvSpPr/>
          <p:nvPr/>
        </p:nvSpPr>
        <p:spPr>
          <a:xfrm>
            <a:off x="274320" y="4846320"/>
            <a:ext cx="8595360" cy="365760"/>
          </a:xfrm>
          <a:prstGeom prst="rect">
            <a:avLst/>
          </a:prstGeom>
          <a:noFill/>
          <a:ln/>
        </p:spPr>
        <p:txBody>
          <a:bodyPr wrap="square" rtlCol="0" anchor="ctr"/>
          <a:lstStyle/>
          <a:p>
            <a:pPr marL="0" indent="0" algn="ctr">
              <a:buNone/>
            </a:pPr>
            <a:r>
              <a:rPr lang="en-US" sz="1000" dirty="0">
                <a:solidFill>
                  <a:srgbClr val="64748B"/>
                </a:solidFill>
              </a:rPr>
              <a:t>These three forces reinforce each other: better AI → better robots → more demand for AI → more compute demand → more infrastructure needed.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50A1A"/>
          </a:solidFill>
          <a:ln/>
        </p:spPr>
      </p:sp>
      <p:sp>
        <p:nvSpPr>
          <p:cNvPr id="3" name="Shape 1"/>
          <p:cNvSpPr/>
          <p:nvPr/>
        </p:nvSpPr>
        <p:spPr>
          <a:xfrm>
            <a:off x="0" y="0"/>
            <a:ext cx="9144000" cy="64008"/>
          </a:xfrm>
          <a:prstGeom prst="rect">
            <a:avLst/>
          </a:prstGeom>
          <a:solidFill>
            <a:srgbClr val="1D4ED8"/>
          </a:solidFill>
          <a:ln/>
        </p:spPr>
      </p:sp>
      <p:sp>
        <p:nvSpPr>
          <p:cNvPr id="4" name="Text 2"/>
          <p:cNvSpPr/>
          <p:nvPr/>
        </p:nvSpPr>
        <p:spPr>
          <a:xfrm>
            <a:off x="182880" y="64008"/>
            <a:ext cx="8778240" cy="548640"/>
          </a:xfrm>
          <a:prstGeom prst="rect">
            <a:avLst/>
          </a:prstGeom>
          <a:noFill/>
          <a:ln/>
        </p:spPr>
        <p:txBody>
          <a:bodyPr wrap="square" rtlCol="0" anchor="ctr"/>
          <a:lstStyle/>
          <a:p>
            <a:pPr marL="0" indent="0" algn="ctr">
              <a:buNone/>
            </a:pPr>
            <a:r>
              <a:rPr lang="en-US" b="1" dirty="0">
                <a:solidFill>
                  <a:srgbClr val="FFFFFF"/>
                </a:solidFill>
              </a:rPr>
              <a:t>MACRO LANDSCAPE — THE $700B AI INFRASTRUCTURE ARMS RACE</a:t>
            </a:r>
            <a:endParaRPr lang="en-US" dirty="0"/>
          </a:p>
        </p:txBody>
      </p:sp>
      <p:sp>
        <p:nvSpPr>
          <p:cNvPr id="5" name="Text 3"/>
          <p:cNvSpPr/>
          <p:nvPr/>
        </p:nvSpPr>
        <p:spPr>
          <a:xfrm>
            <a:off x="228600" y="515693"/>
            <a:ext cx="8778240" cy="274320"/>
          </a:xfrm>
          <a:prstGeom prst="rect">
            <a:avLst/>
          </a:prstGeom>
          <a:noFill/>
          <a:ln/>
        </p:spPr>
        <p:txBody>
          <a:bodyPr wrap="square" rtlCol="0" anchor="ctr"/>
          <a:lstStyle/>
          <a:p>
            <a:pPr marL="0" indent="0" algn="ctr">
              <a:buNone/>
            </a:pPr>
            <a:r>
              <a:rPr lang="en-US" sz="1100" i="1" dirty="0">
                <a:solidFill>
                  <a:srgbClr val="06B6D4"/>
                </a:solidFill>
              </a:rPr>
              <a:t>The largest coordinated capital deployment in technology history — dwarfing the internet build-out</a:t>
            </a:r>
            <a:endParaRPr lang="en-US" sz="1100" dirty="0"/>
          </a:p>
        </p:txBody>
      </p:sp>
      <p:sp>
        <p:nvSpPr>
          <p:cNvPr id="6" name="Shape 4"/>
          <p:cNvSpPr/>
          <p:nvPr/>
        </p:nvSpPr>
        <p:spPr>
          <a:xfrm>
            <a:off x="182880" y="1005840"/>
            <a:ext cx="2103120" cy="1554480"/>
          </a:xfrm>
          <a:prstGeom prst="rect">
            <a:avLst/>
          </a:prstGeom>
          <a:solidFill>
            <a:srgbClr val="0F1F3D"/>
          </a:solidFill>
          <a:ln/>
          <a:effectLst>
            <a:outerShdw blurRad="127000" dist="50800" dir="8100000" algn="bl" rotWithShape="0">
              <a:srgbClr val="000000">
                <a:alpha val="25000"/>
              </a:srgbClr>
            </a:outerShdw>
          </a:effectLst>
        </p:spPr>
      </p:sp>
      <p:sp>
        <p:nvSpPr>
          <p:cNvPr id="7" name="Shape 5"/>
          <p:cNvSpPr/>
          <p:nvPr/>
        </p:nvSpPr>
        <p:spPr>
          <a:xfrm>
            <a:off x="182880" y="1005840"/>
            <a:ext cx="2103120" cy="64008"/>
          </a:xfrm>
          <a:prstGeom prst="rect">
            <a:avLst/>
          </a:prstGeom>
          <a:solidFill>
            <a:srgbClr val="1D4ED8"/>
          </a:solidFill>
          <a:ln/>
        </p:spPr>
      </p:sp>
      <p:sp>
        <p:nvSpPr>
          <p:cNvPr id="8" name="Text 6"/>
          <p:cNvSpPr/>
          <p:nvPr/>
        </p:nvSpPr>
        <p:spPr>
          <a:xfrm>
            <a:off x="256032" y="1042416"/>
            <a:ext cx="1956816" cy="566928"/>
          </a:xfrm>
          <a:prstGeom prst="rect">
            <a:avLst/>
          </a:prstGeom>
          <a:noFill/>
          <a:ln/>
        </p:spPr>
        <p:txBody>
          <a:bodyPr wrap="square" rtlCol="0" anchor="ctr"/>
          <a:lstStyle/>
          <a:p>
            <a:pPr marL="0" indent="0" algn="ctr">
              <a:buNone/>
            </a:pPr>
            <a:r>
              <a:rPr lang="en-US" sz="3000" b="1" dirty="0">
                <a:solidFill>
                  <a:srgbClr val="06B6D4"/>
                </a:solidFill>
              </a:rPr>
              <a:t>$700B+</a:t>
            </a:r>
            <a:endParaRPr lang="en-US" sz="3000" dirty="0"/>
          </a:p>
        </p:txBody>
      </p:sp>
      <p:sp>
        <p:nvSpPr>
          <p:cNvPr id="9" name="Text 7"/>
          <p:cNvSpPr/>
          <p:nvPr/>
        </p:nvSpPr>
        <p:spPr>
          <a:xfrm>
            <a:off x="256032" y="1591056"/>
            <a:ext cx="1956816" cy="621792"/>
          </a:xfrm>
          <a:prstGeom prst="rect">
            <a:avLst/>
          </a:prstGeom>
          <a:noFill/>
          <a:ln/>
        </p:spPr>
        <p:txBody>
          <a:bodyPr wrap="square" rtlCol="0" anchor="ctr"/>
          <a:lstStyle/>
          <a:p>
            <a:pPr marL="0" indent="0" algn="ctr">
              <a:buNone/>
            </a:pPr>
            <a:r>
              <a:rPr lang="en-US" sz="900" dirty="0">
                <a:solidFill>
                  <a:srgbClr val="E2E8F0"/>
                </a:solidFill>
              </a:rPr>
              <a:t>Hyperscaler CapEx 2026</a:t>
            </a:r>
            <a:endParaRPr lang="en-US" sz="900" dirty="0"/>
          </a:p>
          <a:p>
            <a:pPr marL="0" indent="0" algn="ctr">
              <a:buNone/>
            </a:pPr>
            <a:r>
              <a:rPr lang="en-US" sz="900" dirty="0">
                <a:solidFill>
                  <a:srgbClr val="E2E8F0"/>
                </a:solidFill>
              </a:rPr>
              <a:t>(MSFT $190B, AMZN $200B</a:t>
            </a:r>
            <a:endParaRPr lang="en-US" sz="900" dirty="0"/>
          </a:p>
          <a:p>
            <a:pPr marL="0" indent="0" algn="ctr">
              <a:buNone/>
            </a:pPr>
            <a:r>
              <a:rPr lang="en-US" sz="900" dirty="0">
                <a:solidFill>
                  <a:srgbClr val="E2E8F0"/>
                </a:solidFill>
              </a:rPr>
              <a:t>Alphabet $185B, Meta $135B)</a:t>
            </a:r>
            <a:endParaRPr lang="en-US" sz="900" dirty="0"/>
          </a:p>
        </p:txBody>
      </p:sp>
      <p:sp>
        <p:nvSpPr>
          <p:cNvPr id="10" name="Text 8"/>
          <p:cNvSpPr/>
          <p:nvPr/>
        </p:nvSpPr>
        <p:spPr>
          <a:xfrm>
            <a:off x="256032" y="2194560"/>
            <a:ext cx="1956816" cy="320040"/>
          </a:xfrm>
          <a:prstGeom prst="rect">
            <a:avLst/>
          </a:prstGeom>
          <a:noFill/>
          <a:ln/>
        </p:spPr>
        <p:txBody>
          <a:bodyPr wrap="square" rtlCol="0" anchor="ctr"/>
          <a:lstStyle/>
          <a:p>
            <a:pPr marL="0" indent="0" algn="ctr">
              <a:buNone/>
            </a:pPr>
            <a:r>
              <a:rPr lang="en-US" sz="850" i="1" dirty="0">
                <a:solidFill>
                  <a:srgbClr val="64748B"/>
                </a:solidFill>
              </a:rPr>
              <a:t>~$388B in 2025</a:t>
            </a:r>
            <a:endParaRPr lang="en-US" sz="850" dirty="0"/>
          </a:p>
        </p:txBody>
      </p:sp>
      <p:sp>
        <p:nvSpPr>
          <p:cNvPr id="11" name="Shape 9"/>
          <p:cNvSpPr/>
          <p:nvPr/>
        </p:nvSpPr>
        <p:spPr>
          <a:xfrm>
            <a:off x="2414016" y="1005840"/>
            <a:ext cx="2103120" cy="1554480"/>
          </a:xfrm>
          <a:prstGeom prst="rect">
            <a:avLst/>
          </a:prstGeom>
          <a:solidFill>
            <a:srgbClr val="0F1F3D"/>
          </a:solidFill>
          <a:ln/>
          <a:effectLst>
            <a:outerShdw blurRad="127000" dist="50800" dir="8100000" algn="bl" rotWithShape="0">
              <a:srgbClr val="000000">
                <a:alpha val="25000"/>
              </a:srgbClr>
            </a:outerShdw>
          </a:effectLst>
        </p:spPr>
      </p:sp>
      <p:sp>
        <p:nvSpPr>
          <p:cNvPr id="12" name="Shape 10"/>
          <p:cNvSpPr/>
          <p:nvPr/>
        </p:nvSpPr>
        <p:spPr>
          <a:xfrm>
            <a:off x="2414016" y="1005840"/>
            <a:ext cx="2103120" cy="64008"/>
          </a:xfrm>
          <a:prstGeom prst="rect">
            <a:avLst/>
          </a:prstGeom>
          <a:solidFill>
            <a:srgbClr val="1D4ED8"/>
          </a:solidFill>
          <a:ln/>
        </p:spPr>
      </p:sp>
      <p:sp>
        <p:nvSpPr>
          <p:cNvPr id="13" name="Text 11"/>
          <p:cNvSpPr/>
          <p:nvPr/>
        </p:nvSpPr>
        <p:spPr>
          <a:xfrm>
            <a:off x="2487168" y="1042416"/>
            <a:ext cx="1956816" cy="566928"/>
          </a:xfrm>
          <a:prstGeom prst="rect">
            <a:avLst/>
          </a:prstGeom>
          <a:noFill/>
          <a:ln/>
        </p:spPr>
        <p:txBody>
          <a:bodyPr wrap="square" rtlCol="0" anchor="ctr"/>
          <a:lstStyle/>
          <a:p>
            <a:pPr marL="0" indent="0" algn="ctr">
              <a:buNone/>
            </a:pPr>
            <a:r>
              <a:rPr lang="en-US" sz="3000" b="1" dirty="0">
                <a:solidFill>
                  <a:srgbClr val="06B6D4"/>
                </a:solidFill>
              </a:rPr>
              <a:t>$1T+</a:t>
            </a:r>
            <a:endParaRPr lang="en-US" sz="3000" dirty="0"/>
          </a:p>
        </p:txBody>
      </p:sp>
      <p:sp>
        <p:nvSpPr>
          <p:cNvPr id="14" name="Text 12"/>
          <p:cNvSpPr/>
          <p:nvPr/>
        </p:nvSpPr>
        <p:spPr>
          <a:xfrm>
            <a:off x="2487168" y="1591056"/>
            <a:ext cx="1956816" cy="621792"/>
          </a:xfrm>
          <a:prstGeom prst="rect">
            <a:avLst/>
          </a:prstGeom>
          <a:noFill/>
          <a:ln/>
        </p:spPr>
        <p:txBody>
          <a:bodyPr wrap="square" rtlCol="0" anchor="ctr"/>
          <a:lstStyle/>
          <a:p>
            <a:pPr marL="0" indent="0" algn="ctr">
              <a:buNone/>
            </a:pPr>
            <a:r>
              <a:rPr lang="en-US" sz="900" dirty="0">
                <a:solidFill>
                  <a:srgbClr val="E2E8F0"/>
                </a:solidFill>
              </a:rPr>
              <a:t>Analyst Forecast 2027</a:t>
            </a:r>
            <a:endParaRPr lang="en-US" sz="900" dirty="0"/>
          </a:p>
          <a:p>
            <a:pPr marL="0" indent="0" algn="ctr">
              <a:buNone/>
            </a:pPr>
            <a:r>
              <a:rPr lang="en-US" sz="900" dirty="0">
                <a:solidFill>
                  <a:srgbClr val="E2E8F0"/>
                </a:solidFill>
              </a:rPr>
              <a:t>(Barclays, Evercore, BofA</a:t>
            </a:r>
            <a:endParaRPr lang="en-US" sz="900" dirty="0"/>
          </a:p>
          <a:p>
            <a:pPr marL="0" indent="0" algn="ctr">
              <a:buNone/>
            </a:pPr>
            <a:r>
              <a:rPr lang="en-US" sz="900" dirty="0">
                <a:solidFill>
                  <a:srgbClr val="E2E8F0"/>
                </a:solidFill>
              </a:rPr>
              <a:t>all project &gt;$1T)</a:t>
            </a:r>
            <a:endParaRPr lang="en-US" sz="900" dirty="0"/>
          </a:p>
        </p:txBody>
      </p:sp>
      <p:sp>
        <p:nvSpPr>
          <p:cNvPr id="15" name="Text 13"/>
          <p:cNvSpPr/>
          <p:nvPr/>
        </p:nvSpPr>
        <p:spPr>
          <a:xfrm>
            <a:off x="2487168" y="2194560"/>
            <a:ext cx="1956816" cy="320040"/>
          </a:xfrm>
          <a:prstGeom prst="rect">
            <a:avLst/>
          </a:prstGeom>
          <a:noFill/>
          <a:ln/>
        </p:spPr>
        <p:txBody>
          <a:bodyPr wrap="square" rtlCol="0" anchor="ctr"/>
          <a:lstStyle/>
          <a:p>
            <a:pPr marL="0" indent="0" algn="ctr">
              <a:buNone/>
            </a:pPr>
            <a:r>
              <a:rPr lang="en-US" sz="850" i="1" dirty="0">
                <a:solidFill>
                  <a:srgbClr val="64748B"/>
                </a:solidFill>
              </a:rPr>
              <a:t>62% YoY from 2026</a:t>
            </a:r>
            <a:endParaRPr lang="en-US" sz="850" dirty="0"/>
          </a:p>
        </p:txBody>
      </p:sp>
      <p:sp>
        <p:nvSpPr>
          <p:cNvPr id="16" name="Shape 14"/>
          <p:cNvSpPr/>
          <p:nvPr/>
        </p:nvSpPr>
        <p:spPr>
          <a:xfrm>
            <a:off x="4645152" y="1005840"/>
            <a:ext cx="2103120" cy="1554480"/>
          </a:xfrm>
          <a:prstGeom prst="rect">
            <a:avLst/>
          </a:prstGeom>
          <a:solidFill>
            <a:srgbClr val="0F1F3D"/>
          </a:solidFill>
          <a:ln/>
          <a:effectLst>
            <a:outerShdw blurRad="127000" dist="50800" dir="8100000" algn="bl" rotWithShape="0">
              <a:srgbClr val="000000">
                <a:alpha val="25000"/>
              </a:srgbClr>
            </a:outerShdw>
          </a:effectLst>
        </p:spPr>
      </p:sp>
      <p:sp>
        <p:nvSpPr>
          <p:cNvPr id="17" name="Shape 15"/>
          <p:cNvSpPr/>
          <p:nvPr/>
        </p:nvSpPr>
        <p:spPr>
          <a:xfrm>
            <a:off x="4645152" y="1005840"/>
            <a:ext cx="2103120" cy="64008"/>
          </a:xfrm>
          <a:prstGeom prst="rect">
            <a:avLst/>
          </a:prstGeom>
          <a:solidFill>
            <a:srgbClr val="1D4ED8"/>
          </a:solidFill>
          <a:ln/>
        </p:spPr>
      </p:sp>
      <p:sp>
        <p:nvSpPr>
          <p:cNvPr id="18" name="Text 16"/>
          <p:cNvSpPr/>
          <p:nvPr/>
        </p:nvSpPr>
        <p:spPr>
          <a:xfrm>
            <a:off x="4718304" y="1042416"/>
            <a:ext cx="1956816" cy="566928"/>
          </a:xfrm>
          <a:prstGeom prst="rect">
            <a:avLst/>
          </a:prstGeom>
          <a:noFill/>
          <a:ln/>
        </p:spPr>
        <p:txBody>
          <a:bodyPr wrap="square" rtlCol="0" anchor="ctr"/>
          <a:lstStyle/>
          <a:p>
            <a:pPr marL="0" indent="0" algn="ctr">
              <a:buNone/>
            </a:pPr>
            <a:r>
              <a:rPr lang="en-US" sz="3000" b="1" dirty="0">
                <a:solidFill>
                  <a:srgbClr val="06B6D4"/>
                </a:solidFill>
              </a:rPr>
              <a:t>50%+</a:t>
            </a:r>
            <a:endParaRPr lang="en-US" sz="3000" dirty="0"/>
          </a:p>
        </p:txBody>
      </p:sp>
      <p:sp>
        <p:nvSpPr>
          <p:cNvPr id="19" name="Text 17"/>
          <p:cNvSpPr/>
          <p:nvPr/>
        </p:nvSpPr>
        <p:spPr>
          <a:xfrm>
            <a:off x="4718304" y="1591056"/>
            <a:ext cx="1956816" cy="621792"/>
          </a:xfrm>
          <a:prstGeom prst="rect">
            <a:avLst/>
          </a:prstGeom>
          <a:noFill/>
          <a:ln/>
        </p:spPr>
        <p:txBody>
          <a:bodyPr wrap="square" rtlCol="0" anchor="ctr"/>
          <a:lstStyle/>
          <a:p>
            <a:pPr marL="0" indent="0" algn="ctr">
              <a:buNone/>
            </a:pPr>
            <a:r>
              <a:rPr lang="en-US" sz="900" dirty="0">
                <a:solidFill>
                  <a:srgbClr val="E2E8F0"/>
                </a:solidFill>
              </a:rPr>
              <a:t>Humanoid Robot CAGR</a:t>
            </a:r>
            <a:endParaRPr lang="en-US" sz="900" dirty="0"/>
          </a:p>
          <a:p>
            <a:pPr marL="0" indent="0" algn="ctr">
              <a:buNone/>
            </a:pPr>
            <a:r>
              <a:rPr lang="en-US" sz="900" dirty="0">
                <a:solidFill>
                  <a:srgbClr val="E2E8F0"/>
                </a:solidFill>
              </a:rPr>
              <a:t>(2026–2034 per Fortune</a:t>
            </a:r>
            <a:endParaRPr lang="en-US" sz="900" dirty="0"/>
          </a:p>
          <a:p>
            <a:pPr marL="0" indent="0" algn="ctr">
              <a:buNone/>
            </a:pPr>
            <a:r>
              <a:rPr lang="en-US" sz="900" dirty="0">
                <a:solidFill>
                  <a:srgbClr val="E2E8F0"/>
                </a:solidFill>
              </a:rPr>
              <a:t>Business Insights)</a:t>
            </a:r>
            <a:endParaRPr lang="en-US" sz="900" dirty="0"/>
          </a:p>
        </p:txBody>
      </p:sp>
      <p:sp>
        <p:nvSpPr>
          <p:cNvPr id="20" name="Text 18"/>
          <p:cNvSpPr/>
          <p:nvPr/>
        </p:nvSpPr>
        <p:spPr>
          <a:xfrm>
            <a:off x="4718304" y="2194560"/>
            <a:ext cx="1956816" cy="320040"/>
          </a:xfrm>
          <a:prstGeom prst="rect">
            <a:avLst/>
          </a:prstGeom>
          <a:noFill/>
          <a:ln/>
        </p:spPr>
        <p:txBody>
          <a:bodyPr wrap="square" rtlCol="0" anchor="ctr"/>
          <a:lstStyle/>
          <a:p>
            <a:pPr marL="0" indent="0" algn="ctr">
              <a:buNone/>
            </a:pPr>
            <a:r>
              <a:rPr lang="en-US" sz="850" i="1" dirty="0">
                <a:solidFill>
                  <a:srgbClr val="64748B"/>
                </a:solidFill>
              </a:rPr>
              <a:t>$6B → $165B by 2034</a:t>
            </a:r>
            <a:endParaRPr lang="en-US" sz="850" dirty="0"/>
          </a:p>
        </p:txBody>
      </p:sp>
      <p:sp>
        <p:nvSpPr>
          <p:cNvPr id="21" name="Shape 19"/>
          <p:cNvSpPr/>
          <p:nvPr/>
        </p:nvSpPr>
        <p:spPr>
          <a:xfrm>
            <a:off x="6876288" y="1005840"/>
            <a:ext cx="2103120" cy="1554480"/>
          </a:xfrm>
          <a:prstGeom prst="rect">
            <a:avLst/>
          </a:prstGeom>
          <a:solidFill>
            <a:srgbClr val="0F1F3D"/>
          </a:solidFill>
          <a:ln/>
          <a:effectLst>
            <a:outerShdw blurRad="127000" dist="50800" dir="8100000" algn="bl" rotWithShape="0">
              <a:srgbClr val="000000">
                <a:alpha val="25000"/>
              </a:srgbClr>
            </a:outerShdw>
          </a:effectLst>
        </p:spPr>
      </p:sp>
      <p:sp>
        <p:nvSpPr>
          <p:cNvPr id="22" name="Shape 20"/>
          <p:cNvSpPr/>
          <p:nvPr/>
        </p:nvSpPr>
        <p:spPr>
          <a:xfrm>
            <a:off x="6876288" y="1005840"/>
            <a:ext cx="2103120" cy="64008"/>
          </a:xfrm>
          <a:prstGeom prst="rect">
            <a:avLst/>
          </a:prstGeom>
          <a:solidFill>
            <a:srgbClr val="1D4ED8"/>
          </a:solidFill>
          <a:ln/>
        </p:spPr>
      </p:sp>
      <p:sp>
        <p:nvSpPr>
          <p:cNvPr id="23" name="Text 21"/>
          <p:cNvSpPr/>
          <p:nvPr/>
        </p:nvSpPr>
        <p:spPr>
          <a:xfrm>
            <a:off x="6949440" y="1042416"/>
            <a:ext cx="1956816" cy="566928"/>
          </a:xfrm>
          <a:prstGeom prst="rect">
            <a:avLst/>
          </a:prstGeom>
          <a:noFill/>
          <a:ln/>
        </p:spPr>
        <p:txBody>
          <a:bodyPr wrap="square" rtlCol="0" anchor="ctr"/>
          <a:lstStyle/>
          <a:p>
            <a:pPr marL="0" indent="0" algn="ctr">
              <a:buNone/>
            </a:pPr>
            <a:r>
              <a:rPr lang="en-US" sz="3000" b="1" dirty="0">
                <a:solidFill>
                  <a:srgbClr val="06B6D4"/>
                </a:solidFill>
              </a:rPr>
              <a:t>$30T</a:t>
            </a:r>
            <a:endParaRPr lang="en-US" sz="3000" dirty="0"/>
          </a:p>
        </p:txBody>
      </p:sp>
      <p:sp>
        <p:nvSpPr>
          <p:cNvPr id="24" name="Text 22"/>
          <p:cNvSpPr/>
          <p:nvPr/>
        </p:nvSpPr>
        <p:spPr>
          <a:xfrm>
            <a:off x="6949440" y="1591056"/>
            <a:ext cx="1956816" cy="621792"/>
          </a:xfrm>
          <a:prstGeom prst="rect">
            <a:avLst/>
          </a:prstGeom>
          <a:noFill/>
          <a:ln/>
        </p:spPr>
        <p:txBody>
          <a:bodyPr wrap="square" rtlCol="0" anchor="ctr"/>
          <a:lstStyle/>
          <a:p>
            <a:pPr marL="0" indent="0" algn="ctr">
              <a:buNone/>
            </a:pPr>
            <a:r>
              <a:rPr lang="en-US" sz="900" dirty="0">
                <a:solidFill>
                  <a:srgbClr val="E2E8F0"/>
                </a:solidFill>
              </a:rPr>
              <a:t>Global Labor Market TAM</a:t>
            </a:r>
            <a:endParaRPr lang="en-US" sz="900" dirty="0"/>
          </a:p>
          <a:p>
            <a:pPr marL="0" indent="0" algn="ctr">
              <a:buNone/>
            </a:pPr>
            <a:r>
              <a:rPr lang="en-US" sz="900" dirty="0">
                <a:solidFill>
                  <a:srgbClr val="E2E8F0"/>
                </a:solidFill>
              </a:rPr>
              <a:t>Humanoid robots targeting</a:t>
            </a:r>
            <a:endParaRPr lang="en-US" sz="900" dirty="0"/>
          </a:p>
          <a:p>
            <a:pPr marL="0" indent="0" algn="ctr">
              <a:buNone/>
            </a:pPr>
            <a:r>
              <a:rPr lang="en-US" sz="900" dirty="0">
                <a:solidFill>
                  <a:srgbClr val="E2E8F0"/>
                </a:solidFill>
              </a:rPr>
              <a:t>this ultimate prize</a:t>
            </a:r>
            <a:endParaRPr lang="en-US" sz="900" dirty="0"/>
          </a:p>
        </p:txBody>
      </p:sp>
      <p:sp>
        <p:nvSpPr>
          <p:cNvPr id="25" name="Text 23"/>
          <p:cNvSpPr/>
          <p:nvPr/>
        </p:nvSpPr>
        <p:spPr>
          <a:xfrm>
            <a:off x="6949440" y="2194560"/>
            <a:ext cx="1956816" cy="320040"/>
          </a:xfrm>
          <a:prstGeom prst="rect">
            <a:avLst/>
          </a:prstGeom>
          <a:noFill/>
          <a:ln/>
        </p:spPr>
        <p:txBody>
          <a:bodyPr wrap="square" rtlCol="0" anchor="ctr"/>
          <a:lstStyle/>
          <a:p>
            <a:pPr marL="0" indent="0" algn="ctr">
              <a:buNone/>
            </a:pPr>
            <a:r>
              <a:rPr lang="en-US" sz="850" i="1" dirty="0">
                <a:solidFill>
                  <a:srgbClr val="64748B"/>
                </a:solidFill>
              </a:rPr>
              <a:t>The 'holy grail' end market</a:t>
            </a:r>
            <a:endParaRPr lang="en-US" sz="850" dirty="0"/>
          </a:p>
        </p:txBody>
      </p:sp>
      <p:sp>
        <p:nvSpPr>
          <p:cNvPr id="26" name="Text 24"/>
          <p:cNvSpPr/>
          <p:nvPr/>
        </p:nvSpPr>
        <p:spPr>
          <a:xfrm>
            <a:off x="182880" y="2633472"/>
            <a:ext cx="8778240" cy="256032"/>
          </a:xfrm>
          <a:prstGeom prst="rect">
            <a:avLst/>
          </a:prstGeom>
          <a:noFill/>
          <a:ln/>
        </p:spPr>
        <p:txBody>
          <a:bodyPr wrap="square" rtlCol="0" anchor="ctr"/>
          <a:lstStyle/>
          <a:p>
            <a:pPr marL="0" indent="0">
              <a:buNone/>
            </a:pPr>
            <a:r>
              <a:rPr lang="en-US" sz="1100" b="1" dirty="0">
                <a:solidFill>
                  <a:srgbClr val="F59E0B"/>
                </a:solidFill>
              </a:rPr>
              <a:t>KEY CATALYSTS DRIVING THE SUPER-CYCLE</a:t>
            </a:r>
            <a:endParaRPr lang="en-US" sz="1100" dirty="0"/>
          </a:p>
        </p:txBody>
      </p:sp>
      <p:sp>
        <p:nvSpPr>
          <p:cNvPr id="27" name="Shape 25"/>
          <p:cNvSpPr/>
          <p:nvPr/>
        </p:nvSpPr>
        <p:spPr>
          <a:xfrm>
            <a:off x="182880" y="2926080"/>
            <a:ext cx="1664208" cy="2103120"/>
          </a:xfrm>
          <a:prstGeom prst="rect">
            <a:avLst/>
          </a:prstGeom>
          <a:solidFill>
            <a:srgbClr val="0A1628"/>
          </a:solidFill>
          <a:ln/>
          <a:effectLst>
            <a:outerShdw blurRad="127000" dist="50800" dir="8100000" algn="bl" rotWithShape="0">
              <a:srgbClr val="000000">
                <a:alpha val="25000"/>
              </a:srgbClr>
            </a:outerShdw>
          </a:effectLst>
        </p:spPr>
      </p:sp>
      <p:sp>
        <p:nvSpPr>
          <p:cNvPr id="28" name="Shape 26"/>
          <p:cNvSpPr/>
          <p:nvPr/>
        </p:nvSpPr>
        <p:spPr>
          <a:xfrm>
            <a:off x="182880" y="2926080"/>
            <a:ext cx="1664208" cy="320040"/>
          </a:xfrm>
          <a:prstGeom prst="rect">
            <a:avLst/>
          </a:prstGeom>
          <a:solidFill>
            <a:srgbClr val="7C3AED"/>
          </a:solidFill>
          <a:ln/>
        </p:spPr>
      </p:sp>
      <p:sp>
        <p:nvSpPr>
          <p:cNvPr id="29" name="Text 27"/>
          <p:cNvSpPr/>
          <p:nvPr/>
        </p:nvSpPr>
        <p:spPr>
          <a:xfrm>
            <a:off x="228600" y="2926080"/>
            <a:ext cx="1572768" cy="320040"/>
          </a:xfrm>
          <a:prstGeom prst="rect">
            <a:avLst/>
          </a:prstGeom>
          <a:noFill/>
          <a:ln/>
        </p:spPr>
        <p:txBody>
          <a:bodyPr wrap="square" rtlCol="0" anchor="ctr"/>
          <a:lstStyle/>
          <a:p>
            <a:pPr marL="0" indent="0">
              <a:buNone/>
            </a:pPr>
            <a:r>
              <a:rPr lang="en-US" sz="1000" b="1" dirty="0">
                <a:solidFill>
                  <a:srgbClr val="FFFFFF"/>
                </a:solidFill>
              </a:rPr>
              <a:t>2022–23</a:t>
            </a:r>
            <a:endParaRPr lang="en-US" sz="1000" dirty="0"/>
          </a:p>
        </p:txBody>
      </p:sp>
      <p:sp>
        <p:nvSpPr>
          <p:cNvPr id="30" name="Text 28"/>
          <p:cNvSpPr/>
          <p:nvPr/>
        </p:nvSpPr>
        <p:spPr>
          <a:xfrm>
            <a:off x="228600" y="3273552"/>
            <a:ext cx="1572768" cy="320040"/>
          </a:xfrm>
          <a:prstGeom prst="rect">
            <a:avLst/>
          </a:prstGeom>
          <a:noFill/>
          <a:ln/>
        </p:spPr>
        <p:txBody>
          <a:bodyPr wrap="square" rtlCol="0" anchor="ctr"/>
          <a:lstStyle/>
          <a:p>
            <a:pPr marL="0" indent="0">
              <a:buNone/>
            </a:pPr>
            <a:r>
              <a:rPr lang="en-US" sz="950" b="1" dirty="0">
                <a:solidFill>
                  <a:srgbClr val="06B6D4"/>
                </a:solidFill>
              </a:rPr>
              <a:t>ChatGPT / LLM Explosion</a:t>
            </a:r>
            <a:endParaRPr lang="en-US" sz="950" dirty="0"/>
          </a:p>
        </p:txBody>
      </p:sp>
      <p:sp>
        <p:nvSpPr>
          <p:cNvPr id="31" name="Text 29"/>
          <p:cNvSpPr/>
          <p:nvPr/>
        </p:nvSpPr>
        <p:spPr>
          <a:xfrm>
            <a:off x="228600" y="3593592"/>
            <a:ext cx="1572768" cy="1389888"/>
          </a:xfrm>
          <a:prstGeom prst="rect">
            <a:avLst/>
          </a:prstGeom>
          <a:noFill/>
          <a:ln/>
        </p:spPr>
        <p:txBody>
          <a:bodyPr wrap="square" rtlCol="0" anchor="ctr"/>
          <a:lstStyle/>
          <a:p>
            <a:pPr marL="0" indent="0">
              <a:buNone/>
            </a:pPr>
            <a:r>
              <a:rPr lang="en-US" sz="850" dirty="0">
                <a:solidFill>
                  <a:srgbClr val="E2E8F0"/>
                </a:solidFill>
              </a:rPr>
              <a:t>Generative AI proves commercial viability. Enterprise adoption begins. NVIDIA H100 demand goes supernova. The catalyst that started it all.</a:t>
            </a:r>
            <a:endParaRPr lang="en-US" sz="850" dirty="0"/>
          </a:p>
        </p:txBody>
      </p:sp>
      <p:sp>
        <p:nvSpPr>
          <p:cNvPr id="32" name="Shape 30"/>
          <p:cNvSpPr/>
          <p:nvPr/>
        </p:nvSpPr>
        <p:spPr>
          <a:xfrm>
            <a:off x="1947672" y="2926080"/>
            <a:ext cx="1664208" cy="2103120"/>
          </a:xfrm>
          <a:prstGeom prst="rect">
            <a:avLst/>
          </a:prstGeom>
          <a:solidFill>
            <a:srgbClr val="0A1628"/>
          </a:solidFill>
          <a:ln/>
          <a:effectLst>
            <a:outerShdw blurRad="127000" dist="50800" dir="8100000" algn="bl" rotWithShape="0">
              <a:srgbClr val="000000">
                <a:alpha val="25000"/>
              </a:srgbClr>
            </a:outerShdw>
          </a:effectLst>
        </p:spPr>
      </p:sp>
      <p:sp>
        <p:nvSpPr>
          <p:cNvPr id="33" name="Shape 31"/>
          <p:cNvSpPr/>
          <p:nvPr/>
        </p:nvSpPr>
        <p:spPr>
          <a:xfrm>
            <a:off x="1947672" y="2926080"/>
            <a:ext cx="1664208" cy="320040"/>
          </a:xfrm>
          <a:prstGeom prst="rect">
            <a:avLst/>
          </a:prstGeom>
          <a:solidFill>
            <a:srgbClr val="7C3AED"/>
          </a:solidFill>
          <a:ln/>
        </p:spPr>
      </p:sp>
      <p:sp>
        <p:nvSpPr>
          <p:cNvPr id="34" name="Text 32"/>
          <p:cNvSpPr/>
          <p:nvPr/>
        </p:nvSpPr>
        <p:spPr>
          <a:xfrm>
            <a:off x="1993392" y="2926080"/>
            <a:ext cx="1572768" cy="320040"/>
          </a:xfrm>
          <a:prstGeom prst="rect">
            <a:avLst/>
          </a:prstGeom>
          <a:noFill/>
          <a:ln/>
        </p:spPr>
        <p:txBody>
          <a:bodyPr wrap="square" rtlCol="0" anchor="ctr"/>
          <a:lstStyle/>
          <a:p>
            <a:pPr marL="0" indent="0">
              <a:buNone/>
            </a:pPr>
            <a:r>
              <a:rPr lang="en-US" sz="1000" b="1" dirty="0">
                <a:solidFill>
                  <a:srgbClr val="FFFFFF"/>
                </a:solidFill>
              </a:rPr>
              <a:t>2024</a:t>
            </a:r>
            <a:endParaRPr lang="en-US" sz="1000" dirty="0"/>
          </a:p>
        </p:txBody>
      </p:sp>
      <p:sp>
        <p:nvSpPr>
          <p:cNvPr id="35" name="Text 33"/>
          <p:cNvSpPr/>
          <p:nvPr/>
        </p:nvSpPr>
        <p:spPr>
          <a:xfrm>
            <a:off x="1993392" y="3273552"/>
            <a:ext cx="1572768" cy="320040"/>
          </a:xfrm>
          <a:prstGeom prst="rect">
            <a:avLst/>
          </a:prstGeom>
          <a:noFill/>
          <a:ln/>
        </p:spPr>
        <p:txBody>
          <a:bodyPr wrap="square" rtlCol="0" anchor="ctr"/>
          <a:lstStyle/>
          <a:p>
            <a:pPr marL="0" indent="0">
              <a:buNone/>
            </a:pPr>
            <a:r>
              <a:rPr lang="en-US" sz="950" b="1" dirty="0">
                <a:solidFill>
                  <a:srgbClr val="06B6D4"/>
                </a:solidFill>
              </a:rPr>
              <a:t>Physical AI Declared</a:t>
            </a:r>
            <a:endParaRPr lang="en-US" sz="950" dirty="0"/>
          </a:p>
        </p:txBody>
      </p:sp>
      <p:sp>
        <p:nvSpPr>
          <p:cNvPr id="36" name="Text 34"/>
          <p:cNvSpPr/>
          <p:nvPr/>
        </p:nvSpPr>
        <p:spPr>
          <a:xfrm>
            <a:off x="1993392" y="3593592"/>
            <a:ext cx="1572768" cy="1389888"/>
          </a:xfrm>
          <a:prstGeom prst="rect">
            <a:avLst/>
          </a:prstGeom>
          <a:noFill/>
          <a:ln/>
        </p:spPr>
        <p:txBody>
          <a:bodyPr wrap="square" rtlCol="0" anchor="ctr"/>
          <a:lstStyle/>
          <a:p>
            <a:pPr marL="0" indent="0">
              <a:buNone/>
            </a:pPr>
            <a:r>
              <a:rPr lang="en-US" sz="850" dirty="0">
                <a:solidFill>
                  <a:srgbClr val="E2E8F0"/>
                </a:solidFill>
              </a:rPr>
              <a:t>NVIDIA's Jensen Huang declares 'Physical AI' as next frontier at CES 2024. Isaac platform, GR00T foundation model, Cosmos simulation. Robots as the target.</a:t>
            </a:r>
            <a:endParaRPr lang="en-US" sz="850" dirty="0"/>
          </a:p>
        </p:txBody>
      </p:sp>
      <p:sp>
        <p:nvSpPr>
          <p:cNvPr id="37" name="Shape 35"/>
          <p:cNvSpPr/>
          <p:nvPr/>
        </p:nvSpPr>
        <p:spPr>
          <a:xfrm>
            <a:off x="3712464" y="2926080"/>
            <a:ext cx="1664208" cy="2103120"/>
          </a:xfrm>
          <a:prstGeom prst="rect">
            <a:avLst/>
          </a:prstGeom>
          <a:solidFill>
            <a:srgbClr val="0A1628"/>
          </a:solidFill>
          <a:ln/>
          <a:effectLst>
            <a:outerShdw blurRad="127000" dist="50800" dir="8100000" algn="bl" rotWithShape="0">
              <a:srgbClr val="000000">
                <a:alpha val="25000"/>
              </a:srgbClr>
            </a:outerShdw>
          </a:effectLst>
        </p:spPr>
      </p:sp>
      <p:sp>
        <p:nvSpPr>
          <p:cNvPr id="38" name="Shape 36"/>
          <p:cNvSpPr/>
          <p:nvPr/>
        </p:nvSpPr>
        <p:spPr>
          <a:xfrm>
            <a:off x="3712464" y="2926080"/>
            <a:ext cx="1664208" cy="320040"/>
          </a:xfrm>
          <a:prstGeom prst="rect">
            <a:avLst/>
          </a:prstGeom>
          <a:solidFill>
            <a:srgbClr val="1D4ED8"/>
          </a:solidFill>
          <a:ln/>
        </p:spPr>
      </p:sp>
      <p:sp>
        <p:nvSpPr>
          <p:cNvPr id="39" name="Text 37"/>
          <p:cNvSpPr/>
          <p:nvPr/>
        </p:nvSpPr>
        <p:spPr>
          <a:xfrm>
            <a:off x="3758184" y="2926080"/>
            <a:ext cx="1572768" cy="320040"/>
          </a:xfrm>
          <a:prstGeom prst="rect">
            <a:avLst/>
          </a:prstGeom>
          <a:noFill/>
          <a:ln/>
        </p:spPr>
        <p:txBody>
          <a:bodyPr wrap="square" rtlCol="0" anchor="ctr"/>
          <a:lstStyle/>
          <a:p>
            <a:pPr marL="0" indent="0">
              <a:buNone/>
            </a:pPr>
            <a:r>
              <a:rPr lang="en-US" sz="1000" b="1" dirty="0">
                <a:solidFill>
                  <a:srgbClr val="FFFFFF"/>
                </a:solidFill>
              </a:rPr>
              <a:t>2025</a:t>
            </a:r>
            <a:endParaRPr lang="en-US" sz="1000" dirty="0"/>
          </a:p>
        </p:txBody>
      </p:sp>
      <p:sp>
        <p:nvSpPr>
          <p:cNvPr id="40" name="Text 38"/>
          <p:cNvSpPr/>
          <p:nvPr/>
        </p:nvSpPr>
        <p:spPr>
          <a:xfrm>
            <a:off x="3758184" y="3273552"/>
            <a:ext cx="1572768" cy="320040"/>
          </a:xfrm>
          <a:prstGeom prst="rect">
            <a:avLst/>
          </a:prstGeom>
          <a:noFill/>
          <a:ln/>
        </p:spPr>
        <p:txBody>
          <a:bodyPr wrap="square" rtlCol="0" anchor="ctr"/>
          <a:lstStyle/>
          <a:p>
            <a:pPr marL="0" indent="0">
              <a:buNone/>
            </a:pPr>
            <a:r>
              <a:rPr lang="en-US" sz="950" b="1" dirty="0">
                <a:solidFill>
                  <a:srgbClr val="06B6D4"/>
                </a:solidFill>
              </a:rPr>
              <a:t>Humanoid Pilot Deployments</a:t>
            </a:r>
            <a:endParaRPr lang="en-US" sz="950" dirty="0"/>
          </a:p>
        </p:txBody>
      </p:sp>
      <p:sp>
        <p:nvSpPr>
          <p:cNvPr id="41" name="Text 39"/>
          <p:cNvSpPr/>
          <p:nvPr/>
        </p:nvSpPr>
        <p:spPr>
          <a:xfrm>
            <a:off x="3758184" y="3593592"/>
            <a:ext cx="1572768" cy="1389888"/>
          </a:xfrm>
          <a:prstGeom prst="rect">
            <a:avLst/>
          </a:prstGeom>
          <a:noFill/>
          <a:ln/>
        </p:spPr>
        <p:txBody>
          <a:bodyPr wrap="square" rtlCol="0" anchor="ctr"/>
          <a:lstStyle/>
          <a:p>
            <a:pPr marL="0" indent="0">
              <a:buNone/>
            </a:pPr>
            <a:r>
              <a:rPr lang="en-US" sz="850" dirty="0">
                <a:solidFill>
                  <a:srgbClr val="E2E8F0"/>
                </a:solidFill>
              </a:rPr>
              <a:t>Agility Digit in Amazon warehouses. Figure 02 at BMW Spartanburg. Boston Dynamics Atlas at Hyundai. Prototypes → production pilots.</a:t>
            </a:r>
            <a:endParaRPr lang="en-US" sz="850" dirty="0"/>
          </a:p>
        </p:txBody>
      </p:sp>
      <p:sp>
        <p:nvSpPr>
          <p:cNvPr id="42" name="Shape 40"/>
          <p:cNvSpPr/>
          <p:nvPr/>
        </p:nvSpPr>
        <p:spPr>
          <a:xfrm>
            <a:off x="5477256" y="2926080"/>
            <a:ext cx="1664208" cy="2103120"/>
          </a:xfrm>
          <a:prstGeom prst="rect">
            <a:avLst/>
          </a:prstGeom>
          <a:solidFill>
            <a:srgbClr val="0A1628"/>
          </a:solidFill>
          <a:ln/>
          <a:effectLst>
            <a:outerShdw blurRad="127000" dist="50800" dir="8100000" algn="bl" rotWithShape="0">
              <a:srgbClr val="000000">
                <a:alpha val="25000"/>
              </a:srgbClr>
            </a:outerShdw>
          </a:effectLst>
        </p:spPr>
      </p:sp>
      <p:sp>
        <p:nvSpPr>
          <p:cNvPr id="43" name="Shape 41"/>
          <p:cNvSpPr/>
          <p:nvPr/>
        </p:nvSpPr>
        <p:spPr>
          <a:xfrm>
            <a:off x="5477256" y="2926080"/>
            <a:ext cx="1664208" cy="320040"/>
          </a:xfrm>
          <a:prstGeom prst="rect">
            <a:avLst/>
          </a:prstGeom>
          <a:solidFill>
            <a:srgbClr val="1D4ED8"/>
          </a:solidFill>
          <a:ln/>
        </p:spPr>
      </p:sp>
      <p:sp>
        <p:nvSpPr>
          <p:cNvPr id="44" name="Text 42"/>
          <p:cNvSpPr/>
          <p:nvPr/>
        </p:nvSpPr>
        <p:spPr>
          <a:xfrm>
            <a:off x="5522976" y="2926080"/>
            <a:ext cx="1572768" cy="320040"/>
          </a:xfrm>
          <a:prstGeom prst="rect">
            <a:avLst/>
          </a:prstGeom>
          <a:noFill/>
          <a:ln/>
        </p:spPr>
        <p:txBody>
          <a:bodyPr wrap="square" rtlCol="0" anchor="ctr"/>
          <a:lstStyle/>
          <a:p>
            <a:pPr marL="0" indent="0">
              <a:buNone/>
            </a:pPr>
            <a:r>
              <a:rPr lang="en-US" sz="1000" b="1" dirty="0">
                <a:solidFill>
                  <a:srgbClr val="FFFFFF"/>
                </a:solidFill>
              </a:rPr>
              <a:t>2026</a:t>
            </a:r>
            <a:endParaRPr lang="en-US" sz="1000" dirty="0"/>
          </a:p>
        </p:txBody>
      </p:sp>
      <p:sp>
        <p:nvSpPr>
          <p:cNvPr id="45" name="Text 43"/>
          <p:cNvSpPr/>
          <p:nvPr/>
        </p:nvSpPr>
        <p:spPr>
          <a:xfrm>
            <a:off x="5522976" y="3273552"/>
            <a:ext cx="1572768" cy="320040"/>
          </a:xfrm>
          <a:prstGeom prst="rect">
            <a:avLst/>
          </a:prstGeom>
          <a:noFill/>
          <a:ln/>
        </p:spPr>
        <p:txBody>
          <a:bodyPr wrap="square" rtlCol="0" anchor="ctr"/>
          <a:lstStyle/>
          <a:p>
            <a:pPr marL="0" indent="0">
              <a:buNone/>
            </a:pPr>
            <a:r>
              <a:rPr lang="en-US" sz="950" b="1" dirty="0">
                <a:solidFill>
                  <a:srgbClr val="06B6D4"/>
                </a:solidFill>
              </a:rPr>
              <a:t>$700B+ CapEx Commitment</a:t>
            </a:r>
            <a:endParaRPr lang="en-US" sz="950" dirty="0"/>
          </a:p>
        </p:txBody>
      </p:sp>
      <p:sp>
        <p:nvSpPr>
          <p:cNvPr id="46" name="Text 44"/>
          <p:cNvSpPr/>
          <p:nvPr/>
        </p:nvSpPr>
        <p:spPr>
          <a:xfrm>
            <a:off x="5522976" y="3593592"/>
            <a:ext cx="1572768" cy="1389888"/>
          </a:xfrm>
          <a:prstGeom prst="rect">
            <a:avLst/>
          </a:prstGeom>
          <a:noFill/>
          <a:ln/>
        </p:spPr>
        <p:txBody>
          <a:bodyPr wrap="square" rtlCol="0" anchor="ctr"/>
          <a:lstStyle/>
          <a:p>
            <a:pPr marL="0" indent="0">
              <a:buNone/>
            </a:pPr>
            <a:r>
              <a:rPr lang="en-US" sz="850" dirty="0">
                <a:solidFill>
                  <a:srgbClr val="E2E8F0"/>
                </a:solidFill>
              </a:rPr>
              <a:t>Hyperscalers commit record capital. Tesla fremont converts to Optimus factory. Waymo hits 250K+ weekly rides. Mexico and US manufacturing reshoring drives robot demand.</a:t>
            </a:r>
            <a:endParaRPr lang="en-US" sz="850" dirty="0"/>
          </a:p>
        </p:txBody>
      </p:sp>
      <p:sp>
        <p:nvSpPr>
          <p:cNvPr id="47" name="Shape 45"/>
          <p:cNvSpPr/>
          <p:nvPr/>
        </p:nvSpPr>
        <p:spPr>
          <a:xfrm>
            <a:off x="7242048" y="2926080"/>
            <a:ext cx="1664208" cy="2103120"/>
          </a:xfrm>
          <a:prstGeom prst="rect">
            <a:avLst/>
          </a:prstGeom>
          <a:solidFill>
            <a:srgbClr val="0A1628"/>
          </a:solidFill>
          <a:ln/>
          <a:effectLst>
            <a:outerShdw blurRad="127000" dist="50800" dir="8100000" algn="bl" rotWithShape="0">
              <a:srgbClr val="000000">
                <a:alpha val="25000"/>
              </a:srgbClr>
            </a:outerShdw>
          </a:effectLst>
        </p:spPr>
      </p:sp>
      <p:sp>
        <p:nvSpPr>
          <p:cNvPr id="48" name="Shape 46"/>
          <p:cNvSpPr/>
          <p:nvPr/>
        </p:nvSpPr>
        <p:spPr>
          <a:xfrm>
            <a:off x="7242048" y="2926080"/>
            <a:ext cx="1664208" cy="320040"/>
          </a:xfrm>
          <a:prstGeom prst="rect">
            <a:avLst/>
          </a:prstGeom>
          <a:solidFill>
            <a:srgbClr val="10B981"/>
          </a:solidFill>
          <a:ln/>
        </p:spPr>
      </p:sp>
      <p:sp>
        <p:nvSpPr>
          <p:cNvPr id="49" name="Text 47"/>
          <p:cNvSpPr/>
          <p:nvPr/>
        </p:nvSpPr>
        <p:spPr>
          <a:xfrm>
            <a:off x="7287768" y="2926080"/>
            <a:ext cx="1572768" cy="320040"/>
          </a:xfrm>
          <a:prstGeom prst="rect">
            <a:avLst/>
          </a:prstGeom>
          <a:noFill/>
          <a:ln/>
        </p:spPr>
        <p:txBody>
          <a:bodyPr wrap="square" rtlCol="0" anchor="ctr"/>
          <a:lstStyle/>
          <a:p>
            <a:pPr marL="0" indent="0">
              <a:buNone/>
            </a:pPr>
            <a:r>
              <a:rPr lang="en-US" sz="1000" b="1" dirty="0">
                <a:solidFill>
                  <a:srgbClr val="FFFFFF"/>
                </a:solidFill>
              </a:rPr>
              <a:t>2027–30</a:t>
            </a:r>
            <a:endParaRPr lang="en-US" sz="1000" dirty="0"/>
          </a:p>
        </p:txBody>
      </p:sp>
      <p:sp>
        <p:nvSpPr>
          <p:cNvPr id="50" name="Text 48"/>
          <p:cNvSpPr/>
          <p:nvPr/>
        </p:nvSpPr>
        <p:spPr>
          <a:xfrm>
            <a:off x="7287768" y="3273552"/>
            <a:ext cx="1572768" cy="320040"/>
          </a:xfrm>
          <a:prstGeom prst="rect">
            <a:avLst/>
          </a:prstGeom>
          <a:noFill/>
          <a:ln/>
        </p:spPr>
        <p:txBody>
          <a:bodyPr wrap="square" rtlCol="0" anchor="ctr"/>
          <a:lstStyle/>
          <a:p>
            <a:pPr marL="0" indent="0">
              <a:buNone/>
            </a:pPr>
            <a:r>
              <a:rPr lang="en-US" sz="950" b="1" dirty="0">
                <a:solidFill>
                  <a:srgbClr val="06B6D4"/>
                </a:solidFill>
              </a:rPr>
              <a:t>Mass Production Phase</a:t>
            </a:r>
            <a:endParaRPr lang="en-US" sz="950" dirty="0"/>
          </a:p>
        </p:txBody>
      </p:sp>
      <p:sp>
        <p:nvSpPr>
          <p:cNvPr id="51" name="Text 49"/>
          <p:cNvSpPr/>
          <p:nvPr/>
        </p:nvSpPr>
        <p:spPr>
          <a:xfrm>
            <a:off x="7287768" y="3593592"/>
            <a:ext cx="1572768" cy="1389888"/>
          </a:xfrm>
          <a:prstGeom prst="rect">
            <a:avLst/>
          </a:prstGeom>
          <a:noFill/>
          <a:ln/>
        </p:spPr>
        <p:txBody>
          <a:bodyPr wrap="square" rtlCol="0" anchor="ctr"/>
          <a:lstStyle/>
          <a:p>
            <a:pPr marL="0" indent="0">
              <a:buNone/>
            </a:pPr>
            <a:r>
              <a:rPr lang="en-US" sz="850" dirty="0">
                <a:solidFill>
                  <a:srgbClr val="E2E8F0"/>
                </a:solidFill>
              </a:rPr>
              <a:t>Humanoid price targets $20K–30K. Millions of units targeted annually. Goldman Sachs forecasts 1M+ units by 2030. Labor market disruption begins.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651510"/>
          </a:xfrm>
          <a:prstGeom prst="rect">
            <a:avLst/>
          </a:prstGeom>
          <a:solidFill>
            <a:srgbClr val="101828"/>
          </a:solidFill>
          <a:ln/>
        </p:spPr>
      </p:sp>
      <p:sp>
        <p:nvSpPr>
          <p:cNvPr id="3" name="Text 1"/>
          <p:cNvSpPr/>
          <p:nvPr/>
        </p:nvSpPr>
        <p:spPr>
          <a:xfrm>
            <a:off x="240030" y="-10287"/>
            <a:ext cx="6172200" cy="514350"/>
          </a:xfrm>
          <a:prstGeom prst="rect">
            <a:avLst/>
          </a:prstGeom>
          <a:noFill/>
          <a:ln/>
        </p:spPr>
        <p:txBody>
          <a:bodyPr wrap="square" lIns="0" tIns="0" rIns="0" bIns="0" rtlCol="0" anchor="ctr"/>
          <a:lstStyle/>
          <a:p>
            <a:r>
              <a:rPr lang="en-US" sz="2000" b="1" dirty="0">
                <a:solidFill>
                  <a:srgbClr val="4F9CF9"/>
                </a:solidFill>
                <a:latin typeface="Calibri" pitchFamily="34" charset="0"/>
                <a:ea typeface="Calibri" pitchFamily="34" charset="-122"/>
                <a:cs typeface="Calibri" pitchFamily="34" charset="-120"/>
              </a:rPr>
              <a:t>THE AI INFRASTRUCTURE SUPERCYCLE</a:t>
            </a:r>
            <a:endParaRPr lang="en-US" sz="2000" dirty="0"/>
          </a:p>
        </p:txBody>
      </p:sp>
      <p:sp>
        <p:nvSpPr>
          <p:cNvPr id="4" name="Text 2"/>
          <p:cNvSpPr/>
          <p:nvPr/>
        </p:nvSpPr>
        <p:spPr>
          <a:xfrm>
            <a:off x="240030" y="377190"/>
            <a:ext cx="8229600" cy="260604"/>
          </a:xfrm>
          <a:prstGeom prst="rect">
            <a:avLst/>
          </a:prstGeom>
          <a:noFill/>
          <a:ln/>
        </p:spPr>
        <p:txBody>
          <a:bodyPr wrap="square" lIns="0" tIns="0" rIns="0" bIns="0" rtlCol="0" anchor="ctr"/>
          <a:lstStyle/>
          <a:p>
            <a:r>
              <a:rPr lang="en-US" sz="1000" dirty="0">
                <a:solidFill>
                  <a:srgbClr val="94A3B8"/>
                </a:solidFill>
                <a:latin typeface="Calibri" pitchFamily="34" charset="0"/>
                <a:ea typeface="Calibri" pitchFamily="34" charset="-122"/>
                <a:cs typeface="Calibri" pitchFamily="34" charset="-120"/>
              </a:rPr>
              <a:t>Why the entire data center stack is a once-in-a-generation opportunity</a:t>
            </a:r>
            <a:endParaRPr lang="en-US" sz="1000" dirty="0"/>
          </a:p>
        </p:txBody>
      </p:sp>
      <p:sp>
        <p:nvSpPr>
          <p:cNvPr id="7" name="Shape 5"/>
          <p:cNvSpPr/>
          <p:nvPr/>
        </p:nvSpPr>
        <p:spPr>
          <a:xfrm>
            <a:off x="240030" y="754380"/>
            <a:ext cx="2743200" cy="2194560"/>
          </a:xfrm>
          <a:prstGeom prst="roundRect">
            <a:avLst>
              <a:gd name="adj" fmla="val 2500"/>
            </a:avLst>
          </a:prstGeom>
          <a:solidFill>
            <a:srgbClr val="131F35"/>
          </a:solidFill>
          <a:ln/>
          <a:effectLst>
            <a:outerShdw blurRad="127000" dist="38100" dir="2700000" algn="bl" rotWithShape="0">
              <a:srgbClr val="000000">
                <a:alpha val="30000"/>
              </a:srgbClr>
            </a:outerShdw>
          </a:effectLst>
        </p:spPr>
      </p:sp>
      <p:sp>
        <p:nvSpPr>
          <p:cNvPr id="8" name="Text 6"/>
          <p:cNvSpPr/>
          <p:nvPr/>
        </p:nvSpPr>
        <p:spPr>
          <a:xfrm>
            <a:off x="377190" y="822960"/>
            <a:ext cx="548640" cy="411480"/>
          </a:xfrm>
          <a:prstGeom prst="rect">
            <a:avLst/>
          </a:prstGeom>
          <a:noFill/>
          <a:ln/>
        </p:spPr>
        <p:txBody>
          <a:bodyPr wrap="square" lIns="0" tIns="0" rIns="0" bIns="0" rtlCol="0" anchor="ctr"/>
          <a:lstStyle/>
          <a:p>
            <a:r>
              <a:rPr lang="en-US" sz="2100" b="1" dirty="0">
                <a:solidFill>
                  <a:srgbClr val="4F9CF9"/>
                </a:solidFill>
                <a:latin typeface="Cambria" pitchFamily="34" charset="0"/>
                <a:ea typeface="Cambria" pitchFamily="34" charset="-122"/>
                <a:cs typeface="Cambria" pitchFamily="34" charset="-120"/>
              </a:rPr>
              <a:t>01</a:t>
            </a:r>
            <a:endParaRPr lang="en-US" sz="2100" dirty="0"/>
          </a:p>
        </p:txBody>
      </p:sp>
      <p:sp>
        <p:nvSpPr>
          <p:cNvPr id="9" name="Text 7"/>
          <p:cNvSpPr/>
          <p:nvPr/>
        </p:nvSpPr>
        <p:spPr>
          <a:xfrm>
            <a:off x="342900" y="1200150"/>
            <a:ext cx="2537460" cy="308610"/>
          </a:xfrm>
          <a:prstGeom prst="rect">
            <a:avLst/>
          </a:prstGeom>
          <a:noFill/>
          <a:ln/>
        </p:spPr>
        <p:txBody>
          <a:bodyPr wrap="square" lIns="0" tIns="0" rIns="0" bIns="0" rtlCol="0" anchor="ctr"/>
          <a:lstStyle/>
          <a:p>
            <a:r>
              <a:rPr lang="en-US" sz="1125" b="1" dirty="0">
                <a:solidFill>
                  <a:srgbClr val="FFFFFF"/>
                </a:solidFill>
                <a:latin typeface="Calibri" pitchFamily="34" charset="0"/>
                <a:ea typeface="Calibri" pitchFamily="34" charset="-122"/>
                <a:cs typeface="Calibri" pitchFamily="34" charset="-120"/>
              </a:rPr>
              <a:t>Capital Tsunami</a:t>
            </a:r>
            <a:endParaRPr lang="en-US" sz="1125" dirty="0"/>
          </a:p>
        </p:txBody>
      </p:sp>
      <p:sp>
        <p:nvSpPr>
          <p:cNvPr id="10" name="Text 8"/>
          <p:cNvSpPr/>
          <p:nvPr/>
        </p:nvSpPr>
        <p:spPr>
          <a:xfrm>
            <a:off x="342900" y="1522476"/>
            <a:ext cx="2537460" cy="1337310"/>
          </a:xfrm>
          <a:prstGeom prst="rect">
            <a:avLst/>
          </a:prstGeom>
          <a:noFill/>
          <a:ln/>
        </p:spPr>
        <p:txBody>
          <a:bodyPr wrap="square" lIns="0" tIns="0" rIns="0" bIns="0" rtlCol="0" anchor="ctr"/>
          <a:lstStyle/>
          <a:p>
            <a:r>
              <a:rPr lang="en-US" sz="1200" dirty="0">
                <a:solidFill>
                  <a:srgbClr val="E2E8F0"/>
                </a:solidFill>
                <a:latin typeface="Calibri" pitchFamily="34" charset="0"/>
                <a:ea typeface="Calibri" pitchFamily="34" charset="-122"/>
                <a:cs typeface="Calibri" pitchFamily="34" charset="-120"/>
              </a:rPr>
              <a:t>$690B in 2026 hyperscaler capex — nearly double 2025 levels. Amazon ($200B), Alphabet ($175–185B), Microsoft ($190B), Meta ($115–135B), Oracle ($50B). AI capex tripled from $162B in 2022 to $448B in 2025.</a:t>
            </a:r>
            <a:endParaRPr lang="en-US" sz="1200" dirty="0"/>
          </a:p>
        </p:txBody>
      </p:sp>
      <p:sp>
        <p:nvSpPr>
          <p:cNvPr id="11" name="Shape 9"/>
          <p:cNvSpPr/>
          <p:nvPr/>
        </p:nvSpPr>
        <p:spPr>
          <a:xfrm>
            <a:off x="3175254" y="754380"/>
            <a:ext cx="2743200" cy="2194560"/>
          </a:xfrm>
          <a:prstGeom prst="roundRect">
            <a:avLst>
              <a:gd name="adj" fmla="val 2500"/>
            </a:avLst>
          </a:prstGeom>
          <a:solidFill>
            <a:srgbClr val="131F35"/>
          </a:solidFill>
          <a:ln/>
          <a:effectLst>
            <a:outerShdw blurRad="127000" dist="38100" dir="2700000" algn="bl" rotWithShape="0">
              <a:srgbClr val="000000">
                <a:alpha val="30000"/>
              </a:srgbClr>
            </a:outerShdw>
          </a:effectLst>
        </p:spPr>
      </p:sp>
      <p:sp>
        <p:nvSpPr>
          <p:cNvPr id="12" name="Text 10"/>
          <p:cNvSpPr/>
          <p:nvPr/>
        </p:nvSpPr>
        <p:spPr>
          <a:xfrm>
            <a:off x="3312414" y="822960"/>
            <a:ext cx="548640" cy="411480"/>
          </a:xfrm>
          <a:prstGeom prst="rect">
            <a:avLst/>
          </a:prstGeom>
          <a:noFill/>
          <a:ln/>
        </p:spPr>
        <p:txBody>
          <a:bodyPr wrap="square" lIns="0" tIns="0" rIns="0" bIns="0" rtlCol="0" anchor="ctr"/>
          <a:lstStyle/>
          <a:p>
            <a:r>
              <a:rPr lang="en-US" sz="2100" b="1" dirty="0">
                <a:solidFill>
                  <a:srgbClr val="7B5CF5"/>
                </a:solidFill>
                <a:latin typeface="Cambria" pitchFamily="34" charset="0"/>
                <a:ea typeface="Cambria" pitchFamily="34" charset="-122"/>
                <a:cs typeface="Cambria" pitchFamily="34" charset="-120"/>
              </a:rPr>
              <a:t>02</a:t>
            </a:r>
            <a:endParaRPr lang="en-US" sz="2100" dirty="0"/>
          </a:p>
        </p:txBody>
      </p:sp>
      <p:sp>
        <p:nvSpPr>
          <p:cNvPr id="13" name="Text 11"/>
          <p:cNvSpPr/>
          <p:nvPr/>
        </p:nvSpPr>
        <p:spPr>
          <a:xfrm>
            <a:off x="3278124" y="1200150"/>
            <a:ext cx="2537460" cy="308610"/>
          </a:xfrm>
          <a:prstGeom prst="rect">
            <a:avLst/>
          </a:prstGeom>
          <a:noFill/>
          <a:ln/>
        </p:spPr>
        <p:txBody>
          <a:bodyPr wrap="square" lIns="0" tIns="0" rIns="0" bIns="0" rtlCol="0" anchor="ctr"/>
          <a:lstStyle/>
          <a:p>
            <a:r>
              <a:rPr lang="en-US" sz="1125" b="1" dirty="0">
                <a:solidFill>
                  <a:srgbClr val="FFFFFF"/>
                </a:solidFill>
                <a:latin typeface="Calibri" pitchFamily="34" charset="0"/>
                <a:ea typeface="Calibri" pitchFamily="34" charset="-122"/>
                <a:cs typeface="Calibri" pitchFamily="34" charset="-120"/>
              </a:rPr>
              <a:t>Structural Constraints</a:t>
            </a:r>
            <a:endParaRPr lang="en-US" sz="1125" dirty="0"/>
          </a:p>
        </p:txBody>
      </p:sp>
      <p:sp>
        <p:nvSpPr>
          <p:cNvPr id="14" name="Text 12"/>
          <p:cNvSpPr/>
          <p:nvPr/>
        </p:nvSpPr>
        <p:spPr>
          <a:xfrm>
            <a:off x="3278124" y="1522476"/>
            <a:ext cx="2537460" cy="1337310"/>
          </a:xfrm>
          <a:prstGeom prst="rect">
            <a:avLst/>
          </a:prstGeom>
          <a:noFill/>
          <a:ln/>
        </p:spPr>
        <p:txBody>
          <a:bodyPr wrap="square" lIns="0" tIns="0" rIns="0" bIns="0" rtlCol="0" anchor="ctr"/>
          <a:lstStyle/>
          <a:p>
            <a:r>
              <a:rPr lang="en-US" sz="1200" dirty="0">
                <a:solidFill>
                  <a:srgbClr val="E2E8F0"/>
                </a:solidFill>
                <a:latin typeface="Calibri" pitchFamily="34" charset="0"/>
                <a:ea typeface="Calibri" pitchFamily="34" charset="-122"/>
                <a:cs typeface="Calibri" pitchFamily="34" charset="-120"/>
              </a:rPr>
              <a:t>Data centers take 3–5 years to permit &amp; build. Power permitting can take 7+ years. GPU CoWoS packaging is constrained at TSMC. These bottlenecks create pricing power for companies that already have scale.</a:t>
            </a:r>
            <a:endParaRPr lang="en-US" sz="1200" dirty="0"/>
          </a:p>
        </p:txBody>
      </p:sp>
      <p:sp>
        <p:nvSpPr>
          <p:cNvPr id="15" name="Shape 13"/>
          <p:cNvSpPr/>
          <p:nvPr/>
        </p:nvSpPr>
        <p:spPr>
          <a:xfrm>
            <a:off x="6110478" y="754380"/>
            <a:ext cx="2743200" cy="2194560"/>
          </a:xfrm>
          <a:prstGeom prst="roundRect">
            <a:avLst>
              <a:gd name="adj" fmla="val 2500"/>
            </a:avLst>
          </a:prstGeom>
          <a:solidFill>
            <a:srgbClr val="131F35"/>
          </a:solidFill>
          <a:ln/>
          <a:effectLst>
            <a:outerShdw blurRad="127000" dist="38100" dir="2700000" algn="bl" rotWithShape="0">
              <a:srgbClr val="000000">
                <a:alpha val="30000"/>
              </a:srgbClr>
            </a:outerShdw>
          </a:effectLst>
        </p:spPr>
      </p:sp>
      <p:sp>
        <p:nvSpPr>
          <p:cNvPr id="16" name="Text 14"/>
          <p:cNvSpPr/>
          <p:nvPr/>
        </p:nvSpPr>
        <p:spPr>
          <a:xfrm>
            <a:off x="6247638" y="822960"/>
            <a:ext cx="548640" cy="411480"/>
          </a:xfrm>
          <a:prstGeom prst="rect">
            <a:avLst/>
          </a:prstGeom>
          <a:noFill/>
          <a:ln/>
        </p:spPr>
        <p:txBody>
          <a:bodyPr wrap="square" lIns="0" tIns="0" rIns="0" bIns="0" rtlCol="0" anchor="ctr"/>
          <a:lstStyle/>
          <a:p>
            <a:r>
              <a:rPr lang="en-US" sz="2100" b="1" dirty="0">
                <a:solidFill>
                  <a:srgbClr val="22C55E"/>
                </a:solidFill>
                <a:latin typeface="Cambria" pitchFamily="34" charset="0"/>
                <a:ea typeface="Cambria" pitchFamily="34" charset="-122"/>
                <a:cs typeface="Cambria" pitchFamily="34" charset="-120"/>
              </a:rPr>
              <a:t>03</a:t>
            </a:r>
            <a:endParaRPr lang="en-US" sz="2100" dirty="0"/>
          </a:p>
        </p:txBody>
      </p:sp>
      <p:sp>
        <p:nvSpPr>
          <p:cNvPr id="17" name="Text 15"/>
          <p:cNvSpPr/>
          <p:nvPr/>
        </p:nvSpPr>
        <p:spPr>
          <a:xfrm>
            <a:off x="6213348" y="1200150"/>
            <a:ext cx="2537460" cy="308610"/>
          </a:xfrm>
          <a:prstGeom prst="rect">
            <a:avLst/>
          </a:prstGeom>
          <a:noFill/>
          <a:ln/>
        </p:spPr>
        <p:txBody>
          <a:bodyPr wrap="square" lIns="0" tIns="0" rIns="0" bIns="0" rtlCol="0" anchor="ctr"/>
          <a:lstStyle/>
          <a:p>
            <a:r>
              <a:rPr lang="en-US" sz="1125" b="1" dirty="0">
                <a:solidFill>
                  <a:srgbClr val="FFFFFF"/>
                </a:solidFill>
                <a:latin typeface="Calibri" pitchFamily="34" charset="0"/>
                <a:ea typeface="Calibri" pitchFamily="34" charset="-122"/>
                <a:cs typeface="Calibri" pitchFamily="34" charset="-120"/>
              </a:rPr>
              <a:t>Compounding Returns</a:t>
            </a:r>
            <a:endParaRPr lang="en-US" sz="1125" dirty="0"/>
          </a:p>
        </p:txBody>
      </p:sp>
      <p:sp>
        <p:nvSpPr>
          <p:cNvPr id="18" name="Text 16"/>
          <p:cNvSpPr/>
          <p:nvPr/>
        </p:nvSpPr>
        <p:spPr>
          <a:xfrm>
            <a:off x="6213348" y="1522476"/>
            <a:ext cx="2537460" cy="1337310"/>
          </a:xfrm>
          <a:prstGeom prst="rect">
            <a:avLst/>
          </a:prstGeom>
          <a:noFill/>
          <a:ln/>
        </p:spPr>
        <p:txBody>
          <a:bodyPr wrap="square" lIns="0" tIns="0" rIns="0" bIns="0" rtlCol="0" anchor="ctr"/>
          <a:lstStyle/>
          <a:p>
            <a:r>
              <a:rPr lang="en-US" sz="1200" dirty="0">
                <a:solidFill>
                  <a:srgbClr val="E2E8F0"/>
                </a:solidFill>
                <a:latin typeface="Calibri" pitchFamily="34" charset="0"/>
                <a:ea typeface="Calibri" pitchFamily="34" charset="-122"/>
                <a:cs typeface="Calibri" pitchFamily="34" charset="-120"/>
              </a:rPr>
              <a:t>Training → Inference → Agents → Robotics. Each wave requires 10x more compute. NVIDIA data center revenue grew from $15B (2022) → $100B+ (2024) → $194B (FY2026). The stack multiplies.</a:t>
            </a:r>
            <a:endParaRPr lang="en-US" sz="1200" dirty="0"/>
          </a:p>
        </p:txBody>
      </p:sp>
      <p:sp>
        <p:nvSpPr>
          <p:cNvPr id="19" name="Shape 17"/>
          <p:cNvSpPr/>
          <p:nvPr/>
        </p:nvSpPr>
        <p:spPr>
          <a:xfrm>
            <a:off x="240030" y="3086100"/>
            <a:ext cx="8641080" cy="27432"/>
          </a:xfrm>
          <a:prstGeom prst="rect">
            <a:avLst/>
          </a:prstGeom>
          <a:solidFill>
            <a:srgbClr val="4F9CF9">
              <a:alpha val="40000"/>
            </a:srgbClr>
          </a:solidFill>
          <a:ln/>
        </p:spPr>
      </p:sp>
      <p:sp>
        <p:nvSpPr>
          <p:cNvPr id="20" name="Text 18"/>
          <p:cNvSpPr/>
          <p:nvPr/>
        </p:nvSpPr>
        <p:spPr>
          <a:xfrm>
            <a:off x="240030" y="3188970"/>
            <a:ext cx="1371600" cy="342900"/>
          </a:xfrm>
          <a:prstGeom prst="rect">
            <a:avLst/>
          </a:prstGeom>
          <a:noFill/>
          <a:ln/>
        </p:spPr>
        <p:txBody>
          <a:bodyPr wrap="square" lIns="0" tIns="0" rIns="0" bIns="0" rtlCol="0" anchor="ctr"/>
          <a:lstStyle/>
          <a:p>
            <a:pPr algn="ctr"/>
            <a:r>
              <a:rPr lang="en-US" sz="1650" b="1" dirty="0">
                <a:solidFill>
                  <a:srgbClr val="F5C842"/>
                </a:solidFill>
                <a:latin typeface="Cambria" pitchFamily="34" charset="0"/>
                <a:ea typeface="Cambria" pitchFamily="34" charset="-122"/>
                <a:cs typeface="Cambria" pitchFamily="34" charset="-120"/>
              </a:rPr>
              <a:t>$194B</a:t>
            </a:r>
            <a:endParaRPr lang="en-US" sz="1650" dirty="0"/>
          </a:p>
        </p:txBody>
      </p:sp>
      <p:sp>
        <p:nvSpPr>
          <p:cNvPr id="21" name="Text 19"/>
          <p:cNvSpPr/>
          <p:nvPr/>
        </p:nvSpPr>
        <p:spPr>
          <a:xfrm>
            <a:off x="240030" y="3511296"/>
            <a:ext cx="1371600" cy="240030"/>
          </a:xfrm>
          <a:prstGeom prst="rect">
            <a:avLst/>
          </a:prstGeom>
          <a:noFill/>
          <a:ln/>
        </p:spPr>
        <p:txBody>
          <a:bodyPr wrap="square" lIns="0" tIns="0" rIns="0" bIns="0" rtlCol="0" anchor="ctr"/>
          <a:lstStyle/>
          <a:p>
            <a:pPr algn="ctr"/>
            <a:r>
              <a:rPr lang="en-US" sz="800" dirty="0">
                <a:solidFill>
                  <a:srgbClr val="94A3B8"/>
                </a:solidFill>
                <a:latin typeface="Calibri" pitchFamily="34" charset="0"/>
                <a:ea typeface="Calibri" pitchFamily="34" charset="-122"/>
                <a:cs typeface="Calibri" pitchFamily="34" charset="-120"/>
              </a:rPr>
              <a:t>NVDA FY26 DC Revenue</a:t>
            </a:r>
            <a:endParaRPr lang="en-US" sz="800" dirty="0"/>
          </a:p>
        </p:txBody>
      </p:sp>
      <p:sp>
        <p:nvSpPr>
          <p:cNvPr id="22" name="Text 20"/>
          <p:cNvSpPr/>
          <p:nvPr/>
        </p:nvSpPr>
        <p:spPr>
          <a:xfrm>
            <a:off x="1680210" y="3188970"/>
            <a:ext cx="1371600" cy="342900"/>
          </a:xfrm>
          <a:prstGeom prst="rect">
            <a:avLst/>
          </a:prstGeom>
          <a:noFill/>
          <a:ln/>
        </p:spPr>
        <p:txBody>
          <a:bodyPr wrap="square" lIns="0" tIns="0" rIns="0" bIns="0" rtlCol="0" anchor="ctr"/>
          <a:lstStyle/>
          <a:p>
            <a:pPr algn="ctr"/>
            <a:r>
              <a:rPr lang="en-US" sz="1650" b="1" dirty="0">
                <a:solidFill>
                  <a:srgbClr val="F5C842"/>
                </a:solidFill>
                <a:latin typeface="Cambria" pitchFamily="34" charset="0"/>
                <a:ea typeface="Cambria" pitchFamily="34" charset="-122"/>
                <a:cs typeface="Cambria" pitchFamily="34" charset="-120"/>
              </a:rPr>
              <a:t>86%</a:t>
            </a:r>
            <a:endParaRPr lang="en-US" sz="1650" dirty="0"/>
          </a:p>
        </p:txBody>
      </p:sp>
      <p:sp>
        <p:nvSpPr>
          <p:cNvPr id="23" name="Text 21"/>
          <p:cNvSpPr/>
          <p:nvPr/>
        </p:nvSpPr>
        <p:spPr>
          <a:xfrm>
            <a:off x="1680210" y="3511296"/>
            <a:ext cx="1371600" cy="240030"/>
          </a:xfrm>
          <a:prstGeom prst="rect">
            <a:avLst/>
          </a:prstGeom>
          <a:noFill/>
          <a:ln/>
        </p:spPr>
        <p:txBody>
          <a:bodyPr wrap="square" lIns="0" tIns="0" rIns="0" bIns="0" rtlCol="0" anchor="ctr"/>
          <a:lstStyle/>
          <a:p>
            <a:pPr algn="ctr"/>
            <a:r>
              <a:rPr lang="en-US" sz="800" dirty="0">
                <a:solidFill>
                  <a:srgbClr val="94A3B8"/>
                </a:solidFill>
                <a:latin typeface="Calibri" pitchFamily="34" charset="0"/>
                <a:ea typeface="Calibri" pitchFamily="34" charset="-122"/>
                <a:cs typeface="Calibri" pitchFamily="34" charset="-120"/>
              </a:rPr>
              <a:t>NVDA AI Market Share</a:t>
            </a:r>
            <a:endParaRPr lang="en-US" sz="800" dirty="0"/>
          </a:p>
        </p:txBody>
      </p:sp>
      <p:sp>
        <p:nvSpPr>
          <p:cNvPr id="24" name="Text 22"/>
          <p:cNvSpPr/>
          <p:nvPr/>
        </p:nvSpPr>
        <p:spPr>
          <a:xfrm>
            <a:off x="3120390" y="3188970"/>
            <a:ext cx="1371600" cy="342900"/>
          </a:xfrm>
          <a:prstGeom prst="rect">
            <a:avLst/>
          </a:prstGeom>
          <a:noFill/>
          <a:ln/>
        </p:spPr>
        <p:txBody>
          <a:bodyPr wrap="square" lIns="0" tIns="0" rIns="0" bIns="0" rtlCol="0" anchor="ctr"/>
          <a:lstStyle/>
          <a:p>
            <a:pPr algn="ctr"/>
            <a:r>
              <a:rPr lang="en-US" sz="1650" b="1" dirty="0">
                <a:solidFill>
                  <a:srgbClr val="F5C842"/>
                </a:solidFill>
                <a:latin typeface="Cambria" pitchFamily="34" charset="0"/>
                <a:ea typeface="Cambria" pitchFamily="34" charset="-122"/>
                <a:cs typeface="Cambria" pitchFamily="34" charset="-120"/>
              </a:rPr>
              <a:t>$55B</a:t>
            </a:r>
            <a:endParaRPr lang="en-US" sz="1650" dirty="0"/>
          </a:p>
        </p:txBody>
      </p:sp>
      <p:sp>
        <p:nvSpPr>
          <p:cNvPr id="25" name="Text 23"/>
          <p:cNvSpPr/>
          <p:nvPr/>
        </p:nvSpPr>
        <p:spPr>
          <a:xfrm>
            <a:off x="3120390" y="3511296"/>
            <a:ext cx="1371600" cy="240030"/>
          </a:xfrm>
          <a:prstGeom prst="rect">
            <a:avLst/>
          </a:prstGeom>
          <a:noFill/>
          <a:ln/>
        </p:spPr>
        <p:txBody>
          <a:bodyPr wrap="square" lIns="0" tIns="0" rIns="0" bIns="0" rtlCol="0" anchor="ctr"/>
          <a:lstStyle/>
          <a:p>
            <a:pPr algn="ctr"/>
            <a:r>
              <a:rPr lang="en-US" sz="800" dirty="0">
                <a:solidFill>
                  <a:srgbClr val="94A3B8"/>
                </a:solidFill>
                <a:latin typeface="Calibri" pitchFamily="34" charset="0"/>
                <a:ea typeface="Calibri" pitchFamily="34" charset="-122"/>
                <a:cs typeface="Calibri" pitchFamily="34" charset="-120"/>
              </a:rPr>
              <a:t>CoreWeave Backlog</a:t>
            </a:r>
            <a:endParaRPr lang="en-US" sz="800" dirty="0"/>
          </a:p>
        </p:txBody>
      </p:sp>
      <p:sp>
        <p:nvSpPr>
          <p:cNvPr id="26" name="Text 24"/>
          <p:cNvSpPr/>
          <p:nvPr/>
        </p:nvSpPr>
        <p:spPr>
          <a:xfrm>
            <a:off x="4560570" y="3188970"/>
            <a:ext cx="1371600" cy="342900"/>
          </a:xfrm>
          <a:prstGeom prst="rect">
            <a:avLst/>
          </a:prstGeom>
          <a:noFill/>
          <a:ln/>
        </p:spPr>
        <p:txBody>
          <a:bodyPr wrap="square" lIns="0" tIns="0" rIns="0" bIns="0" rtlCol="0" anchor="ctr"/>
          <a:lstStyle/>
          <a:p>
            <a:pPr algn="ctr"/>
            <a:r>
              <a:rPr lang="en-US" sz="1650" b="1" dirty="0">
                <a:solidFill>
                  <a:srgbClr val="F5C842"/>
                </a:solidFill>
                <a:latin typeface="Cambria" pitchFamily="34" charset="0"/>
                <a:ea typeface="Cambria" pitchFamily="34" charset="-122"/>
                <a:cs typeface="Cambria" pitchFamily="34" charset="-120"/>
              </a:rPr>
              <a:t>81%</a:t>
            </a:r>
            <a:endParaRPr lang="en-US" sz="1650" dirty="0"/>
          </a:p>
        </p:txBody>
      </p:sp>
      <p:sp>
        <p:nvSpPr>
          <p:cNvPr id="27" name="Text 25"/>
          <p:cNvSpPr/>
          <p:nvPr/>
        </p:nvSpPr>
        <p:spPr>
          <a:xfrm>
            <a:off x="4560570" y="3511296"/>
            <a:ext cx="1371600" cy="240030"/>
          </a:xfrm>
          <a:prstGeom prst="rect">
            <a:avLst/>
          </a:prstGeom>
          <a:noFill/>
          <a:ln/>
        </p:spPr>
        <p:txBody>
          <a:bodyPr wrap="square" lIns="0" tIns="0" rIns="0" bIns="0" rtlCol="0" anchor="ctr"/>
          <a:lstStyle/>
          <a:p>
            <a:pPr algn="ctr"/>
            <a:r>
              <a:rPr lang="en-US" sz="800" dirty="0">
                <a:solidFill>
                  <a:srgbClr val="94A3B8"/>
                </a:solidFill>
                <a:latin typeface="Calibri" pitchFamily="34" charset="0"/>
                <a:ea typeface="Calibri" pitchFamily="34" charset="-122"/>
                <a:cs typeface="Calibri" pitchFamily="34" charset="-120"/>
              </a:rPr>
              <a:t>Micron FQ3 Gross Margin</a:t>
            </a:r>
            <a:endParaRPr lang="en-US" sz="800" dirty="0"/>
          </a:p>
        </p:txBody>
      </p:sp>
      <p:sp>
        <p:nvSpPr>
          <p:cNvPr id="28" name="Text 26"/>
          <p:cNvSpPr/>
          <p:nvPr/>
        </p:nvSpPr>
        <p:spPr>
          <a:xfrm>
            <a:off x="6000750" y="3188970"/>
            <a:ext cx="1371600" cy="342900"/>
          </a:xfrm>
          <a:prstGeom prst="rect">
            <a:avLst/>
          </a:prstGeom>
          <a:noFill/>
          <a:ln/>
        </p:spPr>
        <p:txBody>
          <a:bodyPr wrap="square" lIns="0" tIns="0" rIns="0" bIns="0" rtlCol="0" anchor="ctr"/>
          <a:lstStyle/>
          <a:p>
            <a:pPr algn="ctr"/>
            <a:r>
              <a:rPr lang="en-US" sz="1650" b="1" dirty="0">
                <a:solidFill>
                  <a:srgbClr val="F5C842"/>
                </a:solidFill>
                <a:latin typeface="Cambria" pitchFamily="34" charset="0"/>
                <a:ea typeface="Cambria" pitchFamily="34" charset="-122"/>
                <a:cs typeface="Cambria" pitchFamily="34" charset="-120"/>
              </a:rPr>
              <a:t>$13B</a:t>
            </a:r>
            <a:endParaRPr lang="en-US" sz="1650" dirty="0"/>
          </a:p>
        </p:txBody>
      </p:sp>
      <p:sp>
        <p:nvSpPr>
          <p:cNvPr id="29" name="Text 27"/>
          <p:cNvSpPr/>
          <p:nvPr/>
        </p:nvSpPr>
        <p:spPr>
          <a:xfrm>
            <a:off x="6000750" y="3511296"/>
            <a:ext cx="1371600" cy="240030"/>
          </a:xfrm>
          <a:prstGeom prst="rect">
            <a:avLst/>
          </a:prstGeom>
          <a:noFill/>
          <a:ln/>
        </p:spPr>
        <p:txBody>
          <a:bodyPr wrap="square" lIns="0" tIns="0" rIns="0" bIns="0" rtlCol="0" anchor="ctr"/>
          <a:lstStyle/>
          <a:p>
            <a:pPr algn="ctr"/>
            <a:r>
              <a:rPr lang="en-US" sz="800" dirty="0">
                <a:solidFill>
                  <a:srgbClr val="94A3B8"/>
                </a:solidFill>
                <a:latin typeface="Calibri" pitchFamily="34" charset="0"/>
                <a:ea typeface="Calibri" pitchFamily="34" charset="-122"/>
                <a:cs typeface="Calibri" pitchFamily="34" charset="-120"/>
              </a:rPr>
              <a:t>MSFT AI ARR (2025)</a:t>
            </a:r>
            <a:endParaRPr lang="en-US" sz="800" dirty="0"/>
          </a:p>
        </p:txBody>
      </p:sp>
      <p:sp>
        <p:nvSpPr>
          <p:cNvPr id="30" name="Text 28"/>
          <p:cNvSpPr/>
          <p:nvPr/>
        </p:nvSpPr>
        <p:spPr>
          <a:xfrm>
            <a:off x="7440930" y="3188970"/>
            <a:ext cx="1371600" cy="342900"/>
          </a:xfrm>
          <a:prstGeom prst="rect">
            <a:avLst/>
          </a:prstGeom>
          <a:noFill/>
          <a:ln/>
        </p:spPr>
        <p:txBody>
          <a:bodyPr wrap="square" lIns="0" tIns="0" rIns="0" bIns="0" rtlCol="0" anchor="ctr"/>
          <a:lstStyle/>
          <a:p>
            <a:pPr algn="ctr"/>
            <a:r>
              <a:rPr lang="en-US" sz="1650" b="1" dirty="0">
                <a:solidFill>
                  <a:srgbClr val="F5C842"/>
                </a:solidFill>
                <a:latin typeface="Cambria" pitchFamily="34" charset="0"/>
                <a:ea typeface="Cambria" pitchFamily="34" charset="-122"/>
                <a:cs typeface="Cambria" pitchFamily="34" charset="-120"/>
              </a:rPr>
              <a:t>85%</a:t>
            </a:r>
            <a:endParaRPr lang="en-US" sz="1650" dirty="0"/>
          </a:p>
        </p:txBody>
      </p:sp>
      <p:sp>
        <p:nvSpPr>
          <p:cNvPr id="31" name="Text 29"/>
          <p:cNvSpPr/>
          <p:nvPr/>
        </p:nvSpPr>
        <p:spPr>
          <a:xfrm>
            <a:off x="7440930" y="3511296"/>
            <a:ext cx="1371600" cy="240030"/>
          </a:xfrm>
          <a:prstGeom prst="rect">
            <a:avLst/>
          </a:prstGeom>
          <a:noFill/>
          <a:ln/>
        </p:spPr>
        <p:txBody>
          <a:bodyPr wrap="square" lIns="0" tIns="0" rIns="0" bIns="0" rtlCol="0" anchor="ctr"/>
          <a:lstStyle/>
          <a:p>
            <a:pPr algn="ctr"/>
            <a:r>
              <a:rPr lang="en-US" sz="800" dirty="0">
                <a:solidFill>
                  <a:srgbClr val="94A3B8"/>
                </a:solidFill>
                <a:latin typeface="Calibri" pitchFamily="34" charset="0"/>
                <a:ea typeface="Calibri" pitchFamily="34" charset="-122"/>
                <a:cs typeface="Calibri" pitchFamily="34" charset="-120"/>
              </a:rPr>
              <a:t>Palantir Q1'26 Rev Growth YoY</a:t>
            </a:r>
            <a:endParaRPr lang="en-US" sz="800" dirty="0"/>
          </a:p>
        </p:txBody>
      </p:sp>
      <p:sp>
        <p:nvSpPr>
          <p:cNvPr id="32" name="Text 30"/>
          <p:cNvSpPr/>
          <p:nvPr/>
        </p:nvSpPr>
        <p:spPr>
          <a:xfrm>
            <a:off x="240030" y="3895344"/>
            <a:ext cx="3889284" cy="150876"/>
          </a:xfrm>
          <a:prstGeom prst="rect">
            <a:avLst/>
          </a:prstGeom>
          <a:noFill/>
          <a:ln/>
        </p:spPr>
        <p:txBody>
          <a:bodyPr wrap="square" lIns="0" tIns="0" rIns="0" bIns="0" rtlCol="0" anchor="ctr"/>
          <a:lstStyle/>
          <a:p>
            <a:pPr algn="ctr"/>
            <a:r>
              <a:rPr lang="en-US" sz="1200" b="1" kern="0" spc="150" dirty="0">
                <a:solidFill>
                  <a:srgbClr val="4F9CF9"/>
                </a:solidFill>
                <a:latin typeface="Calibri" pitchFamily="34" charset="0"/>
                <a:ea typeface="Calibri" pitchFamily="34" charset="-122"/>
                <a:cs typeface="Calibri" pitchFamily="34" charset="-120"/>
              </a:rPr>
              <a:t>THE 5-LAYER STACK</a:t>
            </a:r>
            <a:endParaRPr lang="en-US" sz="1200" dirty="0"/>
          </a:p>
        </p:txBody>
      </p:sp>
      <p:grpSp>
        <p:nvGrpSpPr>
          <p:cNvPr id="46" name="Group 45">
            <a:extLst>
              <a:ext uri="{FF2B5EF4-FFF2-40B4-BE49-F238E27FC236}">
                <a16:creationId xmlns:a16="http://schemas.microsoft.com/office/drawing/2014/main" id="{61052B29-8A0C-815A-1B11-06436997F3A0}"/>
              </a:ext>
            </a:extLst>
          </p:cNvPr>
          <p:cNvGrpSpPr/>
          <p:nvPr/>
        </p:nvGrpSpPr>
        <p:grpSpPr>
          <a:xfrm>
            <a:off x="240030" y="4114800"/>
            <a:ext cx="3889284" cy="973836"/>
            <a:chOff x="240030" y="4114800"/>
            <a:chExt cx="2743200" cy="768096"/>
          </a:xfrm>
        </p:grpSpPr>
        <p:sp>
          <p:nvSpPr>
            <p:cNvPr id="33" name="Shape 31"/>
            <p:cNvSpPr/>
            <p:nvPr/>
          </p:nvSpPr>
          <p:spPr>
            <a:xfrm>
              <a:off x="240030" y="4114800"/>
              <a:ext cx="2743200" cy="137160"/>
            </a:xfrm>
            <a:prstGeom prst="roundRect">
              <a:avLst>
                <a:gd name="adj" fmla="val 15000"/>
              </a:avLst>
            </a:prstGeom>
            <a:solidFill>
              <a:srgbClr val="FB923C">
                <a:alpha val="75000"/>
              </a:srgbClr>
            </a:solidFill>
            <a:ln/>
          </p:spPr>
        </p:sp>
        <p:sp>
          <p:nvSpPr>
            <p:cNvPr id="34" name="Text 32"/>
            <p:cNvSpPr/>
            <p:nvPr/>
          </p:nvSpPr>
          <p:spPr>
            <a:xfrm>
              <a:off x="274320" y="4114800"/>
              <a:ext cx="2674620" cy="137160"/>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APPLICATIONS   PLTR · TSLA · NOW · SNOW · CRM</a:t>
              </a:r>
              <a:endParaRPr lang="en-US" sz="1000" dirty="0"/>
            </a:p>
          </p:txBody>
        </p:sp>
        <p:sp>
          <p:nvSpPr>
            <p:cNvPr id="35" name="Shape 33"/>
            <p:cNvSpPr/>
            <p:nvPr/>
          </p:nvSpPr>
          <p:spPr>
            <a:xfrm>
              <a:off x="291465" y="4272534"/>
              <a:ext cx="2640330" cy="137160"/>
            </a:xfrm>
            <a:prstGeom prst="roundRect">
              <a:avLst>
                <a:gd name="adj" fmla="val 15000"/>
              </a:avLst>
            </a:prstGeom>
            <a:solidFill>
              <a:srgbClr val="F472B6">
                <a:alpha val="75000"/>
              </a:srgbClr>
            </a:solidFill>
            <a:ln/>
          </p:spPr>
        </p:sp>
        <p:sp>
          <p:nvSpPr>
            <p:cNvPr id="36" name="Text 34"/>
            <p:cNvSpPr/>
            <p:nvPr/>
          </p:nvSpPr>
          <p:spPr>
            <a:xfrm>
              <a:off x="325755" y="4272534"/>
              <a:ext cx="2571750" cy="137160"/>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AI MODELS   MSFT · GOOGL · META · AMZN · ORCL</a:t>
              </a:r>
              <a:endParaRPr lang="en-US" sz="1000" dirty="0"/>
            </a:p>
          </p:txBody>
        </p:sp>
        <p:sp>
          <p:nvSpPr>
            <p:cNvPr id="37" name="Shape 35"/>
            <p:cNvSpPr/>
            <p:nvPr/>
          </p:nvSpPr>
          <p:spPr>
            <a:xfrm>
              <a:off x="342900" y="4430268"/>
              <a:ext cx="2537460" cy="137160"/>
            </a:xfrm>
            <a:prstGeom prst="roundRect">
              <a:avLst>
                <a:gd name="adj" fmla="val 15000"/>
              </a:avLst>
            </a:prstGeom>
            <a:solidFill>
              <a:srgbClr val="34D399">
                <a:alpha val="75000"/>
              </a:srgbClr>
            </a:solidFill>
            <a:ln/>
          </p:spPr>
        </p:sp>
        <p:sp>
          <p:nvSpPr>
            <p:cNvPr id="38" name="Text 36"/>
            <p:cNvSpPr/>
            <p:nvPr/>
          </p:nvSpPr>
          <p:spPr>
            <a:xfrm>
              <a:off x="377190" y="4430268"/>
              <a:ext cx="2468880" cy="137160"/>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CLOUD / DATA CENTERS   NBIS · IREN · CRWV · APLD · CIFR</a:t>
              </a:r>
              <a:endParaRPr lang="en-US" sz="1000" dirty="0"/>
            </a:p>
          </p:txBody>
        </p:sp>
        <p:sp>
          <p:nvSpPr>
            <p:cNvPr id="39" name="Shape 37"/>
            <p:cNvSpPr/>
            <p:nvPr/>
          </p:nvSpPr>
          <p:spPr>
            <a:xfrm>
              <a:off x="394335" y="4588002"/>
              <a:ext cx="2434590" cy="137160"/>
            </a:xfrm>
            <a:prstGeom prst="roundRect">
              <a:avLst>
                <a:gd name="adj" fmla="val 15000"/>
              </a:avLst>
            </a:prstGeom>
            <a:solidFill>
              <a:srgbClr val="A855F7">
                <a:alpha val="75000"/>
              </a:srgbClr>
            </a:solidFill>
            <a:ln/>
          </p:spPr>
        </p:sp>
        <p:sp>
          <p:nvSpPr>
            <p:cNvPr id="40" name="Text 38"/>
            <p:cNvSpPr/>
            <p:nvPr/>
          </p:nvSpPr>
          <p:spPr>
            <a:xfrm>
              <a:off x="428625" y="4588002"/>
              <a:ext cx="2366010" cy="137160"/>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CHIPS &amp; COMPUTING   NVDA · AMD · TSM · MU · ARM</a:t>
              </a:r>
              <a:endParaRPr lang="en-US" sz="1000" dirty="0"/>
            </a:p>
          </p:txBody>
        </p:sp>
        <p:sp>
          <p:nvSpPr>
            <p:cNvPr id="41" name="Shape 39"/>
            <p:cNvSpPr/>
            <p:nvPr/>
          </p:nvSpPr>
          <p:spPr>
            <a:xfrm>
              <a:off x="445770" y="4745736"/>
              <a:ext cx="2331720" cy="137160"/>
            </a:xfrm>
            <a:prstGeom prst="roundRect">
              <a:avLst>
                <a:gd name="adj" fmla="val 15000"/>
              </a:avLst>
            </a:prstGeom>
            <a:solidFill>
              <a:srgbClr val="22D3EE">
                <a:alpha val="75000"/>
              </a:srgbClr>
            </a:solidFill>
            <a:ln/>
          </p:spPr>
        </p:sp>
        <p:sp>
          <p:nvSpPr>
            <p:cNvPr id="42" name="Text 40"/>
            <p:cNvSpPr/>
            <p:nvPr/>
          </p:nvSpPr>
          <p:spPr>
            <a:xfrm>
              <a:off x="480060" y="4745736"/>
              <a:ext cx="2263140" cy="137160"/>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ENERGY   CEG · VST · OKLO · EOSE · GEV</a:t>
              </a:r>
              <a:endParaRPr lang="en-US" sz="1000" dirty="0"/>
            </a:p>
          </p:txBody>
        </p:sp>
      </p:grpSp>
      <p:sp>
        <p:nvSpPr>
          <p:cNvPr id="43" name="Shape 41"/>
          <p:cNvSpPr/>
          <p:nvPr/>
        </p:nvSpPr>
        <p:spPr>
          <a:xfrm>
            <a:off x="4937760" y="3806190"/>
            <a:ext cx="3943350" cy="1200150"/>
          </a:xfrm>
          <a:prstGeom prst="roundRect">
            <a:avLst>
              <a:gd name="adj" fmla="val 4848"/>
            </a:avLst>
          </a:prstGeom>
          <a:solidFill>
            <a:srgbClr val="0D1A30"/>
          </a:solidFill>
          <a:ln/>
          <a:effectLst>
            <a:outerShdw blurRad="127000" dist="38100" dir="2700000" algn="bl" rotWithShape="0">
              <a:srgbClr val="000000">
                <a:alpha val="30000"/>
              </a:srgbClr>
            </a:outerShdw>
          </a:effectLst>
        </p:spPr>
      </p:sp>
      <p:sp>
        <p:nvSpPr>
          <p:cNvPr id="44" name="Text 42"/>
          <p:cNvSpPr/>
          <p:nvPr/>
        </p:nvSpPr>
        <p:spPr>
          <a:xfrm>
            <a:off x="5040630" y="3854196"/>
            <a:ext cx="3771900" cy="205740"/>
          </a:xfrm>
          <a:prstGeom prst="rect">
            <a:avLst/>
          </a:prstGeom>
          <a:noFill/>
          <a:ln/>
        </p:spPr>
        <p:txBody>
          <a:bodyPr wrap="square" lIns="0" tIns="0" rIns="0" bIns="0" rtlCol="0" anchor="ctr"/>
          <a:lstStyle/>
          <a:p>
            <a:r>
              <a:rPr lang="en-US" sz="750" b="1" kern="0" spc="150" dirty="0">
                <a:solidFill>
                  <a:srgbClr val="4F9CF9"/>
                </a:solidFill>
                <a:latin typeface="Calibri" pitchFamily="34" charset="0"/>
                <a:ea typeface="Calibri" pitchFamily="34" charset="-122"/>
                <a:cs typeface="Calibri" pitchFamily="34" charset="-120"/>
              </a:rPr>
              <a:t>CORE THESIS</a:t>
            </a:r>
            <a:endParaRPr lang="en-US" sz="750" dirty="0"/>
          </a:p>
        </p:txBody>
      </p:sp>
      <p:sp>
        <p:nvSpPr>
          <p:cNvPr id="45" name="Text 43"/>
          <p:cNvSpPr/>
          <p:nvPr/>
        </p:nvSpPr>
        <p:spPr>
          <a:xfrm>
            <a:off x="5040630" y="4080510"/>
            <a:ext cx="3771900" cy="788670"/>
          </a:xfrm>
          <a:prstGeom prst="rect">
            <a:avLst/>
          </a:prstGeom>
          <a:noFill/>
          <a:ln/>
        </p:spPr>
        <p:txBody>
          <a:bodyPr wrap="square" lIns="0" tIns="0" rIns="0" bIns="0" rtlCol="0" anchor="ctr"/>
          <a:lstStyle/>
          <a:p>
            <a:r>
              <a:rPr lang="en-US" sz="1000" dirty="0">
                <a:solidFill>
                  <a:srgbClr val="E2E8F0"/>
                </a:solidFill>
                <a:latin typeface="Calibri" pitchFamily="34" charset="0"/>
                <a:ea typeface="Calibri" pitchFamily="34" charset="-122"/>
                <a:cs typeface="Calibri" pitchFamily="34" charset="-120"/>
              </a:rPr>
              <a:t>The AI supercycle is a capital war. Winners are those who control the bottlenecks: CUDA software moat (NVDA), advanced packaging (TSMC), carbon-free baseload power (CEG/VST), sovereign GPU clouds (CRWV/NBIS), and decision-intelligence platforms with defensible data (PLTR). The applications layer is still early innings — value accrual has yet to shift from infrastructure to software.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Shape 1"/>
          <p:cNvSpPr/>
          <p:nvPr/>
        </p:nvSpPr>
        <p:spPr>
          <a:xfrm>
            <a:off x="320040" y="182880"/>
            <a:ext cx="822960" cy="502920"/>
          </a:xfrm>
          <a:prstGeom prst="roundRect">
            <a:avLst>
              <a:gd name="adj" fmla="val 14545"/>
            </a:avLst>
          </a:prstGeom>
          <a:solidFill>
            <a:srgbClr val="F59E0B">
              <a:alpha val="80000"/>
            </a:srgbClr>
          </a:solidFill>
          <a:ln/>
        </p:spPr>
      </p:sp>
      <p:sp>
        <p:nvSpPr>
          <p:cNvPr id="4" name="Text 2"/>
          <p:cNvSpPr/>
          <p:nvPr/>
        </p:nvSpPr>
        <p:spPr>
          <a:xfrm>
            <a:off x="320040" y="182880"/>
            <a:ext cx="822960" cy="502920"/>
          </a:xfrm>
          <a:prstGeom prst="rect">
            <a:avLst/>
          </a:prstGeom>
          <a:noFill/>
          <a:ln/>
        </p:spPr>
        <p:txBody>
          <a:bodyPr wrap="square" rtlCol="0" anchor="ctr"/>
          <a:lstStyle/>
          <a:p>
            <a:pPr marL="0" indent="0" algn="ctr">
              <a:buNone/>
            </a:pPr>
            <a:r>
              <a:rPr lang="en-US" sz="2200" b="1" dirty="0">
                <a:solidFill>
                  <a:srgbClr val="FFFFFF"/>
                </a:solidFill>
              </a:rPr>
              <a:t>01</a:t>
            </a:r>
            <a:endParaRPr lang="en-US" sz="2200" dirty="0"/>
          </a:p>
        </p:txBody>
      </p:sp>
      <p:sp>
        <p:nvSpPr>
          <p:cNvPr id="5" name="Text 3"/>
          <p:cNvSpPr/>
          <p:nvPr/>
        </p:nvSpPr>
        <p:spPr>
          <a:xfrm>
            <a:off x="1280160" y="182880"/>
            <a:ext cx="2743200" cy="256032"/>
          </a:xfrm>
          <a:prstGeom prst="rect">
            <a:avLst/>
          </a:prstGeom>
          <a:noFill/>
          <a:ln/>
        </p:spPr>
        <p:txBody>
          <a:bodyPr wrap="square" lIns="0" tIns="0" rIns="0" bIns="0" rtlCol="0" anchor="ctr"/>
          <a:lstStyle/>
          <a:p>
            <a:pPr marL="0" indent="0">
              <a:buNone/>
            </a:pPr>
            <a:r>
              <a:rPr lang="en-US" sz="900" b="1" kern="0" spc="300" dirty="0">
                <a:solidFill>
                  <a:srgbClr val="F59E0B"/>
                </a:solidFill>
              </a:rPr>
              <a:t>SECTOR ANALYSIS</a:t>
            </a:r>
            <a:endParaRPr lang="en-US" sz="900" dirty="0"/>
          </a:p>
        </p:txBody>
      </p:sp>
      <p:sp>
        <p:nvSpPr>
          <p:cNvPr id="6" name="Text 4"/>
          <p:cNvSpPr/>
          <p:nvPr/>
        </p:nvSpPr>
        <p:spPr>
          <a:xfrm>
            <a:off x="1280160" y="402336"/>
            <a:ext cx="6400800" cy="365760"/>
          </a:xfrm>
          <a:prstGeom prst="rect">
            <a:avLst/>
          </a:prstGeom>
          <a:noFill/>
          <a:ln/>
        </p:spPr>
        <p:txBody>
          <a:bodyPr wrap="square" lIns="0" tIns="0" rIns="0" bIns="0" rtlCol="0" anchor="ctr"/>
          <a:lstStyle/>
          <a:p>
            <a:pPr marL="0" indent="0">
              <a:buNone/>
            </a:pPr>
            <a:r>
              <a:rPr lang="en-US" sz="2600" b="1" dirty="0">
                <a:solidFill>
                  <a:srgbClr val="FFFFFF"/>
                </a:solidFill>
              </a:rPr>
              <a:t>ENERGY</a:t>
            </a:r>
            <a:endParaRPr lang="en-US" sz="2600" dirty="0"/>
          </a:p>
        </p:txBody>
      </p:sp>
      <p:sp>
        <p:nvSpPr>
          <p:cNvPr id="7" name="Text 5"/>
          <p:cNvSpPr/>
          <p:nvPr/>
        </p:nvSpPr>
        <p:spPr>
          <a:xfrm>
            <a:off x="320040" y="868680"/>
            <a:ext cx="8503920" cy="320040"/>
          </a:xfrm>
          <a:prstGeom prst="rect">
            <a:avLst/>
          </a:prstGeom>
          <a:noFill/>
          <a:ln/>
        </p:spPr>
        <p:txBody>
          <a:bodyPr wrap="square" rtlCol="0" anchor="ctr"/>
          <a:lstStyle/>
          <a:p>
            <a:pPr marL="0" indent="0" algn="l">
              <a:buNone/>
            </a:pPr>
            <a:r>
              <a:rPr lang="en-US" sz="1300" dirty="0">
                <a:solidFill>
                  <a:srgbClr val="94A3B8"/>
                </a:solidFill>
              </a:rPr>
              <a:t>The backbone of AI infrastructure — power generation &amp; storage</a:t>
            </a:r>
            <a:endParaRPr lang="en-US" sz="1300" dirty="0"/>
          </a:p>
        </p:txBody>
      </p:sp>
      <p:sp>
        <p:nvSpPr>
          <p:cNvPr id="8" name="Shape 6"/>
          <p:cNvSpPr/>
          <p:nvPr/>
        </p:nvSpPr>
        <p:spPr>
          <a:xfrm>
            <a:off x="320040" y="1261872"/>
            <a:ext cx="8503920" cy="457200"/>
          </a:xfrm>
          <a:prstGeom prst="rect">
            <a:avLst/>
          </a:prstGeom>
          <a:solidFill>
            <a:srgbClr val="2A1E00"/>
          </a:solidFill>
          <a:ln w="6350">
            <a:solidFill>
              <a:srgbClr val="FFFFFF">
                <a:alpha val="10000"/>
              </a:srgbClr>
            </a:solidFill>
            <a:prstDash val="solid"/>
          </a:ln>
        </p:spPr>
      </p:sp>
      <p:sp>
        <p:nvSpPr>
          <p:cNvPr id="9" name="Shape 7"/>
          <p:cNvSpPr/>
          <p:nvPr/>
        </p:nvSpPr>
        <p:spPr>
          <a:xfrm>
            <a:off x="320040" y="1261872"/>
            <a:ext cx="64008" cy="457200"/>
          </a:xfrm>
          <a:prstGeom prst="rect">
            <a:avLst/>
          </a:prstGeom>
          <a:solidFill>
            <a:srgbClr val="F59E0B"/>
          </a:solidFill>
          <a:ln/>
        </p:spPr>
      </p:sp>
      <p:sp>
        <p:nvSpPr>
          <p:cNvPr id="10" name="Text 8"/>
          <p:cNvSpPr/>
          <p:nvPr/>
        </p:nvSpPr>
        <p:spPr>
          <a:xfrm>
            <a:off x="502920" y="1298448"/>
            <a:ext cx="1371600" cy="182880"/>
          </a:xfrm>
          <a:prstGeom prst="rect">
            <a:avLst/>
          </a:prstGeom>
          <a:noFill/>
          <a:ln/>
        </p:spPr>
        <p:txBody>
          <a:bodyPr wrap="square" lIns="0" tIns="0" rIns="0" bIns="0" rtlCol="0" anchor="ctr"/>
          <a:lstStyle/>
          <a:p>
            <a:pPr marL="0" indent="0">
              <a:buNone/>
            </a:pPr>
            <a:r>
              <a:rPr lang="en-US" sz="800" b="1" kern="0" spc="200" dirty="0">
                <a:solidFill>
                  <a:srgbClr val="F59E0B"/>
                </a:solidFill>
              </a:rPr>
              <a:t>KEY METRIC  </a:t>
            </a:r>
            <a:endParaRPr lang="en-US" sz="800" dirty="0"/>
          </a:p>
        </p:txBody>
      </p:sp>
      <p:sp>
        <p:nvSpPr>
          <p:cNvPr id="11" name="Text 9"/>
          <p:cNvSpPr/>
          <p:nvPr/>
        </p:nvSpPr>
        <p:spPr>
          <a:xfrm>
            <a:off x="502920" y="1472184"/>
            <a:ext cx="8046720" cy="182880"/>
          </a:xfrm>
          <a:prstGeom prst="rect">
            <a:avLst/>
          </a:prstGeom>
          <a:noFill/>
          <a:ln/>
        </p:spPr>
        <p:txBody>
          <a:bodyPr wrap="square" lIns="0" tIns="0" rIns="0" bIns="0" rtlCol="0" anchor="ctr"/>
          <a:lstStyle/>
          <a:p>
            <a:pPr marL="0" indent="0">
              <a:buNone/>
            </a:pPr>
            <a:r>
              <a:rPr lang="en-US" sz="1100" b="1" dirty="0">
                <a:solidFill>
                  <a:srgbClr val="FFFFFF"/>
                </a:solidFill>
              </a:rPr>
              <a:t>Data center power demand: 200+ TWh/yr by 2030</a:t>
            </a:r>
            <a:endParaRPr lang="en-US" sz="1100" dirty="0"/>
          </a:p>
        </p:txBody>
      </p:sp>
      <p:sp>
        <p:nvSpPr>
          <p:cNvPr id="12" name="Text 10"/>
          <p:cNvSpPr/>
          <p:nvPr/>
        </p:nvSpPr>
        <p:spPr>
          <a:xfrm>
            <a:off x="320040" y="1874520"/>
            <a:ext cx="3657600" cy="256032"/>
          </a:xfrm>
          <a:prstGeom prst="rect">
            <a:avLst/>
          </a:prstGeom>
          <a:noFill/>
          <a:ln/>
        </p:spPr>
        <p:txBody>
          <a:bodyPr wrap="square" lIns="0" tIns="0" rIns="0" bIns="0" rtlCol="0" anchor="ctr"/>
          <a:lstStyle/>
          <a:p>
            <a:pPr marL="0" indent="0">
              <a:buNone/>
            </a:pPr>
            <a:r>
              <a:rPr lang="en-US" sz="900" b="1" kern="0" spc="200" dirty="0">
                <a:solidFill>
                  <a:srgbClr val="F59E0B"/>
                </a:solidFill>
              </a:rPr>
              <a:t>INVESTMENT THESIS</a:t>
            </a:r>
            <a:endParaRPr lang="en-US" sz="900" dirty="0"/>
          </a:p>
        </p:txBody>
      </p:sp>
      <p:sp>
        <p:nvSpPr>
          <p:cNvPr id="13" name="Shape 11"/>
          <p:cNvSpPr/>
          <p:nvPr/>
        </p:nvSpPr>
        <p:spPr>
          <a:xfrm>
            <a:off x="320040" y="2121408"/>
            <a:ext cx="4114800" cy="150876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4" name="Text 12"/>
          <p:cNvSpPr/>
          <p:nvPr/>
        </p:nvSpPr>
        <p:spPr>
          <a:xfrm>
            <a:off x="475488" y="2212848"/>
            <a:ext cx="3794760" cy="1325880"/>
          </a:xfrm>
          <a:prstGeom prst="rect">
            <a:avLst/>
          </a:prstGeom>
          <a:noFill/>
          <a:ln/>
        </p:spPr>
        <p:txBody>
          <a:bodyPr wrap="square" rtlCol="0" anchor="ctr"/>
          <a:lstStyle/>
          <a:p>
            <a:pPr marL="0" indent="0" algn="l">
              <a:buNone/>
            </a:pPr>
            <a:r>
              <a:rPr lang="en-US" sz="1100" dirty="0">
                <a:solidFill>
                  <a:srgbClr val="F0F4FF"/>
                </a:solidFill>
              </a:rPr>
              <a:t>AI data centers are projected to consume 3–4× more electricity by 2030. Nuclear, battery storage, and gas peakers are critical plays as hyperscalers sign 20-year PPAs.</a:t>
            </a:r>
            <a:endParaRPr lang="en-US" sz="1100" dirty="0"/>
          </a:p>
        </p:txBody>
      </p:sp>
      <p:sp>
        <p:nvSpPr>
          <p:cNvPr id="15" name="Text 13"/>
          <p:cNvSpPr/>
          <p:nvPr/>
        </p:nvSpPr>
        <p:spPr>
          <a:xfrm>
            <a:off x="4709160" y="1874520"/>
            <a:ext cx="4114800" cy="256032"/>
          </a:xfrm>
          <a:prstGeom prst="rect">
            <a:avLst/>
          </a:prstGeom>
          <a:noFill/>
          <a:ln/>
        </p:spPr>
        <p:txBody>
          <a:bodyPr wrap="square" lIns="0" tIns="0" rIns="0" bIns="0" rtlCol="0" anchor="ctr"/>
          <a:lstStyle/>
          <a:p>
            <a:pPr marL="0" indent="0">
              <a:buNone/>
            </a:pPr>
            <a:r>
              <a:rPr lang="en-US" sz="900" b="1" kern="0" spc="200" dirty="0">
                <a:solidFill>
                  <a:srgbClr val="F59E0B"/>
                </a:solidFill>
              </a:rPr>
              <a:t>KEY CATALYSTS</a:t>
            </a:r>
            <a:endParaRPr lang="en-US" sz="900" dirty="0"/>
          </a:p>
        </p:txBody>
      </p:sp>
      <p:sp>
        <p:nvSpPr>
          <p:cNvPr id="16" name="Shape 14"/>
          <p:cNvSpPr/>
          <p:nvPr/>
        </p:nvSpPr>
        <p:spPr>
          <a:xfrm>
            <a:off x="4709160" y="2121408"/>
            <a:ext cx="4114800" cy="150876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7" name="Shape 15"/>
          <p:cNvSpPr/>
          <p:nvPr/>
        </p:nvSpPr>
        <p:spPr>
          <a:xfrm>
            <a:off x="4892040" y="2304288"/>
            <a:ext cx="128016" cy="128016"/>
          </a:xfrm>
          <a:prstGeom prst="ellipse">
            <a:avLst/>
          </a:prstGeom>
          <a:solidFill>
            <a:srgbClr val="F59E0B"/>
          </a:solidFill>
          <a:ln/>
        </p:spPr>
      </p:sp>
      <p:sp>
        <p:nvSpPr>
          <p:cNvPr id="18" name="Text 16"/>
          <p:cNvSpPr/>
          <p:nvPr/>
        </p:nvSpPr>
        <p:spPr>
          <a:xfrm>
            <a:off x="5120640" y="2249424"/>
            <a:ext cx="3566160" cy="256032"/>
          </a:xfrm>
          <a:prstGeom prst="rect">
            <a:avLst/>
          </a:prstGeom>
          <a:noFill/>
          <a:ln/>
        </p:spPr>
        <p:txBody>
          <a:bodyPr wrap="square" lIns="0" tIns="0" rIns="0" bIns="0" rtlCol="0" anchor="ctr"/>
          <a:lstStyle/>
          <a:p>
            <a:pPr marL="0" indent="0">
              <a:buNone/>
            </a:pPr>
            <a:r>
              <a:rPr lang="en-US" sz="1050" dirty="0">
                <a:solidFill>
                  <a:srgbClr val="F0F4FF"/>
                </a:solidFill>
              </a:rPr>
              <a:t>Nuclear PPA signings</a:t>
            </a:r>
            <a:endParaRPr lang="en-US" sz="1050" dirty="0"/>
          </a:p>
        </p:txBody>
      </p:sp>
      <p:sp>
        <p:nvSpPr>
          <p:cNvPr id="19" name="Shape 17"/>
          <p:cNvSpPr/>
          <p:nvPr/>
        </p:nvSpPr>
        <p:spPr>
          <a:xfrm>
            <a:off x="4892040" y="2633472"/>
            <a:ext cx="128016" cy="128016"/>
          </a:xfrm>
          <a:prstGeom prst="ellipse">
            <a:avLst/>
          </a:prstGeom>
          <a:solidFill>
            <a:srgbClr val="F59E0B"/>
          </a:solidFill>
          <a:ln/>
        </p:spPr>
      </p:sp>
      <p:sp>
        <p:nvSpPr>
          <p:cNvPr id="20" name="Text 18"/>
          <p:cNvSpPr/>
          <p:nvPr/>
        </p:nvSpPr>
        <p:spPr>
          <a:xfrm>
            <a:off x="5120640" y="2578608"/>
            <a:ext cx="3566160" cy="256032"/>
          </a:xfrm>
          <a:prstGeom prst="rect">
            <a:avLst/>
          </a:prstGeom>
          <a:noFill/>
          <a:ln/>
        </p:spPr>
        <p:txBody>
          <a:bodyPr wrap="square" lIns="0" tIns="0" rIns="0" bIns="0" rtlCol="0" anchor="ctr"/>
          <a:lstStyle/>
          <a:p>
            <a:pPr marL="0" indent="0">
              <a:buNone/>
            </a:pPr>
            <a:r>
              <a:rPr lang="en-US" sz="1050" dirty="0">
                <a:solidFill>
                  <a:srgbClr val="F0F4FF"/>
                </a:solidFill>
              </a:rPr>
              <a:t>SMR regulatory approvals</a:t>
            </a:r>
            <a:endParaRPr lang="en-US" sz="1050" dirty="0"/>
          </a:p>
        </p:txBody>
      </p:sp>
      <p:sp>
        <p:nvSpPr>
          <p:cNvPr id="21" name="Shape 19"/>
          <p:cNvSpPr/>
          <p:nvPr/>
        </p:nvSpPr>
        <p:spPr>
          <a:xfrm>
            <a:off x="4892040" y="2962656"/>
            <a:ext cx="128016" cy="128016"/>
          </a:xfrm>
          <a:prstGeom prst="ellipse">
            <a:avLst/>
          </a:prstGeom>
          <a:solidFill>
            <a:srgbClr val="F59E0B"/>
          </a:solidFill>
          <a:ln/>
        </p:spPr>
      </p:sp>
      <p:sp>
        <p:nvSpPr>
          <p:cNvPr id="22" name="Text 20"/>
          <p:cNvSpPr/>
          <p:nvPr/>
        </p:nvSpPr>
        <p:spPr>
          <a:xfrm>
            <a:off x="5120640" y="2907792"/>
            <a:ext cx="3566160" cy="256032"/>
          </a:xfrm>
          <a:prstGeom prst="rect">
            <a:avLst/>
          </a:prstGeom>
          <a:noFill/>
          <a:ln/>
        </p:spPr>
        <p:txBody>
          <a:bodyPr wrap="square" lIns="0" tIns="0" rIns="0" bIns="0" rtlCol="0" anchor="ctr"/>
          <a:lstStyle/>
          <a:p>
            <a:pPr marL="0" indent="0">
              <a:buNone/>
            </a:pPr>
            <a:r>
              <a:rPr lang="en-US" sz="1050" dirty="0">
                <a:solidFill>
                  <a:srgbClr val="F0F4FF"/>
                </a:solidFill>
              </a:rPr>
              <a:t>IRA production tax credits</a:t>
            </a:r>
            <a:endParaRPr lang="en-US" sz="1050" dirty="0"/>
          </a:p>
        </p:txBody>
      </p:sp>
      <p:sp>
        <p:nvSpPr>
          <p:cNvPr id="23" name="Shape 21"/>
          <p:cNvSpPr/>
          <p:nvPr/>
        </p:nvSpPr>
        <p:spPr>
          <a:xfrm>
            <a:off x="4892040" y="3291840"/>
            <a:ext cx="128016" cy="128016"/>
          </a:xfrm>
          <a:prstGeom prst="ellipse">
            <a:avLst/>
          </a:prstGeom>
          <a:solidFill>
            <a:srgbClr val="F59E0B"/>
          </a:solidFill>
          <a:ln/>
        </p:spPr>
      </p:sp>
      <p:sp>
        <p:nvSpPr>
          <p:cNvPr id="24" name="Text 22"/>
          <p:cNvSpPr/>
          <p:nvPr/>
        </p:nvSpPr>
        <p:spPr>
          <a:xfrm>
            <a:off x="5120640" y="3236976"/>
            <a:ext cx="3566160" cy="256032"/>
          </a:xfrm>
          <a:prstGeom prst="rect">
            <a:avLst/>
          </a:prstGeom>
          <a:noFill/>
          <a:ln/>
        </p:spPr>
        <p:txBody>
          <a:bodyPr wrap="square" lIns="0" tIns="0" rIns="0" bIns="0" rtlCol="0" anchor="ctr"/>
          <a:lstStyle/>
          <a:p>
            <a:pPr marL="0" indent="0">
              <a:buNone/>
            </a:pPr>
            <a:r>
              <a:rPr lang="en-US" sz="1050" dirty="0">
                <a:solidFill>
                  <a:srgbClr val="F0F4FF"/>
                </a:solidFill>
              </a:rPr>
              <a:t>Grid upgrade mandates</a:t>
            </a:r>
            <a:endParaRPr lang="en-US" sz="1050" dirty="0"/>
          </a:p>
        </p:txBody>
      </p:sp>
      <p:sp>
        <p:nvSpPr>
          <p:cNvPr id="25" name="Text 23"/>
          <p:cNvSpPr/>
          <p:nvPr/>
        </p:nvSpPr>
        <p:spPr>
          <a:xfrm>
            <a:off x="320040" y="3730752"/>
            <a:ext cx="3657600" cy="256032"/>
          </a:xfrm>
          <a:prstGeom prst="rect">
            <a:avLst/>
          </a:prstGeom>
          <a:noFill/>
          <a:ln/>
        </p:spPr>
        <p:txBody>
          <a:bodyPr wrap="square" lIns="0" tIns="0" rIns="0" bIns="0" rtlCol="0" anchor="ctr"/>
          <a:lstStyle/>
          <a:p>
            <a:pPr marL="0" indent="0">
              <a:buNone/>
            </a:pPr>
            <a:r>
              <a:rPr lang="en-US" sz="900" b="1" kern="0" spc="200" dirty="0">
                <a:solidFill>
                  <a:srgbClr val="EF4444"/>
                </a:solidFill>
              </a:rPr>
              <a:t>KEY RISKS</a:t>
            </a:r>
            <a:endParaRPr lang="en-US" sz="900" dirty="0"/>
          </a:p>
        </p:txBody>
      </p:sp>
      <p:sp>
        <p:nvSpPr>
          <p:cNvPr id="26" name="Shape 24"/>
          <p:cNvSpPr/>
          <p:nvPr/>
        </p:nvSpPr>
        <p:spPr>
          <a:xfrm>
            <a:off x="320040" y="3977640"/>
            <a:ext cx="8503920" cy="914400"/>
          </a:xfrm>
          <a:prstGeom prst="rect">
            <a:avLst/>
          </a:prstGeom>
          <a:solidFill>
            <a:srgbClr val="162050"/>
          </a:solidFill>
          <a:ln w="6350">
            <a:solidFill>
              <a:srgbClr val="FFFFFF">
                <a:alpha val="10000"/>
              </a:srgbClr>
            </a:solidFill>
            <a:prstDash val="solid"/>
          </a:ln>
        </p:spPr>
      </p:sp>
      <p:sp>
        <p:nvSpPr>
          <p:cNvPr id="27" name="Shape 25"/>
          <p:cNvSpPr/>
          <p:nvPr/>
        </p:nvSpPr>
        <p:spPr>
          <a:xfrm>
            <a:off x="502920" y="4114800"/>
            <a:ext cx="2468880" cy="640080"/>
          </a:xfrm>
          <a:prstGeom prst="roundRect">
            <a:avLst>
              <a:gd name="adj" fmla="val 8571"/>
            </a:avLst>
          </a:prstGeom>
          <a:solidFill>
            <a:srgbClr val="EF4444">
              <a:alpha val="15000"/>
            </a:srgbClr>
          </a:solidFill>
          <a:ln/>
        </p:spPr>
      </p:sp>
      <p:sp>
        <p:nvSpPr>
          <p:cNvPr id="28" name="Text 26"/>
          <p:cNvSpPr/>
          <p:nvPr/>
        </p:nvSpPr>
        <p:spPr>
          <a:xfrm>
            <a:off x="502920" y="4114800"/>
            <a:ext cx="2468880" cy="640080"/>
          </a:xfrm>
          <a:prstGeom prst="rect">
            <a:avLst/>
          </a:prstGeom>
          <a:noFill/>
          <a:ln/>
        </p:spPr>
        <p:txBody>
          <a:bodyPr wrap="square" rtlCol="0" anchor="ctr"/>
          <a:lstStyle/>
          <a:p>
            <a:pPr marL="0" indent="0" algn="ctr">
              <a:buNone/>
            </a:pPr>
            <a:r>
              <a:rPr lang="en-US" sz="1000" dirty="0">
                <a:solidFill>
                  <a:srgbClr val="F0F4FF"/>
                </a:solidFill>
              </a:rPr>
              <a:t>⚠ Regulatory delays</a:t>
            </a:r>
            <a:endParaRPr lang="en-US" sz="1000" dirty="0"/>
          </a:p>
        </p:txBody>
      </p:sp>
      <p:sp>
        <p:nvSpPr>
          <p:cNvPr id="29" name="Shape 27"/>
          <p:cNvSpPr/>
          <p:nvPr/>
        </p:nvSpPr>
        <p:spPr>
          <a:xfrm>
            <a:off x="3337560" y="4114800"/>
            <a:ext cx="2468880" cy="640080"/>
          </a:xfrm>
          <a:prstGeom prst="roundRect">
            <a:avLst>
              <a:gd name="adj" fmla="val 8571"/>
            </a:avLst>
          </a:prstGeom>
          <a:solidFill>
            <a:srgbClr val="EF4444">
              <a:alpha val="15000"/>
            </a:srgbClr>
          </a:solidFill>
          <a:ln/>
        </p:spPr>
      </p:sp>
      <p:sp>
        <p:nvSpPr>
          <p:cNvPr id="30" name="Text 28"/>
          <p:cNvSpPr/>
          <p:nvPr/>
        </p:nvSpPr>
        <p:spPr>
          <a:xfrm>
            <a:off x="3337560" y="4114800"/>
            <a:ext cx="2468880" cy="640080"/>
          </a:xfrm>
          <a:prstGeom prst="rect">
            <a:avLst/>
          </a:prstGeom>
          <a:noFill/>
          <a:ln/>
        </p:spPr>
        <p:txBody>
          <a:bodyPr wrap="square" rtlCol="0" anchor="ctr"/>
          <a:lstStyle/>
          <a:p>
            <a:pPr marL="0" indent="0" algn="ctr">
              <a:buNone/>
            </a:pPr>
            <a:r>
              <a:rPr lang="en-US" sz="1000" dirty="0">
                <a:solidFill>
                  <a:srgbClr val="F0F4FF"/>
                </a:solidFill>
              </a:rPr>
              <a:t>⚠ Power price caps</a:t>
            </a:r>
            <a:endParaRPr lang="en-US" sz="1000" dirty="0"/>
          </a:p>
        </p:txBody>
      </p:sp>
      <p:sp>
        <p:nvSpPr>
          <p:cNvPr id="31" name="Shape 29"/>
          <p:cNvSpPr/>
          <p:nvPr/>
        </p:nvSpPr>
        <p:spPr>
          <a:xfrm>
            <a:off x="6172200" y="4114800"/>
            <a:ext cx="2468880" cy="640080"/>
          </a:xfrm>
          <a:prstGeom prst="roundRect">
            <a:avLst>
              <a:gd name="adj" fmla="val 8571"/>
            </a:avLst>
          </a:prstGeom>
          <a:solidFill>
            <a:srgbClr val="EF4444">
              <a:alpha val="15000"/>
            </a:srgbClr>
          </a:solidFill>
          <a:ln/>
        </p:spPr>
      </p:sp>
      <p:sp>
        <p:nvSpPr>
          <p:cNvPr id="32" name="Text 30"/>
          <p:cNvSpPr/>
          <p:nvPr/>
        </p:nvSpPr>
        <p:spPr>
          <a:xfrm>
            <a:off x="6172200" y="4114800"/>
            <a:ext cx="2468880" cy="640080"/>
          </a:xfrm>
          <a:prstGeom prst="rect">
            <a:avLst/>
          </a:prstGeom>
          <a:noFill/>
          <a:ln/>
        </p:spPr>
        <p:txBody>
          <a:bodyPr wrap="square" rtlCol="0" anchor="ctr"/>
          <a:lstStyle/>
          <a:p>
            <a:pPr marL="0" indent="0" algn="ctr">
              <a:buNone/>
            </a:pPr>
            <a:r>
              <a:rPr lang="en-US" sz="1000" dirty="0">
                <a:solidFill>
                  <a:srgbClr val="F0F4FF"/>
                </a:solidFill>
              </a:rPr>
              <a:t>⚠ Renewable competition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0D0A0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9E0B"/>
          </a:solidFill>
          <a:ln/>
        </p:spPr>
      </p:sp>
      <p:sp>
        <p:nvSpPr>
          <p:cNvPr id="3" name="Text 1"/>
          <p:cNvSpPr/>
          <p:nvPr/>
        </p:nvSpPr>
        <p:spPr>
          <a:xfrm>
            <a:off x="320040" y="137160"/>
            <a:ext cx="1097280" cy="502920"/>
          </a:xfrm>
          <a:prstGeom prst="rect">
            <a:avLst/>
          </a:prstGeom>
          <a:noFill/>
          <a:ln/>
        </p:spPr>
        <p:txBody>
          <a:bodyPr wrap="square" rtlCol="0" anchor="ctr"/>
          <a:lstStyle/>
          <a:p>
            <a:pPr marL="0" indent="0" algn="ctr">
              <a:buNone/>
            </a:pPr>
            <a:r>
              <a:rPr lang="en-US" sz="2800" b="1" dirty="0">
                <a:solidFill>
                  <a:srgbClr val="F59E0B"/>
                </a:solidFill>
              </a:rPr>
              <a:t>01</a:t>
            </a:r>
            <a:endParaRPr lang="en-US" sz="2800" dirty="0"/>
          </a:p>
        </p:txBody>
      </p:sp>
      <p:sp>
        <p:nvSpPr>
          <p:cNvPr id="4" name="Text 2"/>
          <p:cNvSpPr/>
          <p:nvPr/>
        </p:nvSpPr>
        <p:spPr>
          <a:xfrm>
            <a:off x="1508760" y="137160"/>
            <a:ext cx="6858000" cy="256032"/>
          </a:xfrm>
          <a:prstGeom prst="rect">
            <a:avLst/>
          </a:prstGeom>
          <a:noFill/>
          <a:ln/>
        </p:spPr>
        <p:txBody>
          <a:bodyPr wrap="square" lIns="0" tIns="0" rIns="0" bIns="0" rtlCol="0" anchor="ctr"/>
          <a:lstStyle/>
          <a:p>
            <a:pPr marL="0" indent="0">
              <a:buNone/>
            </a:pPr>
            <a:r>
              <a:rPr lang="en-US" sz="900" b="1" kern="0" spc="300" dirty="0">
                <a:solidFill>
                  <a:srgbClr val="F59E0B"/>
                </a:solidFill>
              </a:rPr>
              <a:t>LAYER 1 — ENERGY</a:t>
            </a:r>
            <a:endParaRPr lang="en-US" sz="900" dirty="0"/>
          </a:p>
        </p:txBody>
      </p:sp>
      <p:sp>
        <p:nvSpPr>
          <p:cNvPr id="5" name="Text 3"/>
          <p:cNvSpPr/>
          <p:nvPr/>
        </p:nvSpPr>
        <p:spPr>
          <a:xfrm>
            <a:off x="1508760" y="365760"/>
            <a:ext cx="6858000" cy="347472"/>
          </a:xfrm>
          <a:prstGeom prst="rect">
            <a:avLst/>
          </a:prstGeom>
          <a:noFill/>
          <a:ln/>
        </p:spPr>
        <p:txBody>
          <a:bodyPr wrap="square" lIns="0" tIns="0" rIns="0" bIns="0" rtlCol="0" anchor="ctr"/>
          <a:lstStyle/>
          <a:p>
            <a:pPr marL="0" indent="0">
              <a:buNone/>
            </a:pPr>
            <a:r>
              <a:rPr lang="en-US" sz="1400" b="1" dirty="0">
                <a:solidFill>
                  <a:srgbClr val="FFFFFF"/>
                </a:solidFill>
              </a:rPr>
              <a:t>The binding constraint of the AI era — power generation, transmission &amp; storage</a:t>
            </a:r>
            <a:endParaRPr lang="en-US" sz="1400" dirty="0"/>
          </a:p>
        </p:txBody>
      </p:sp>
      <p:sp>
        <p:nvSpPr>
          <p:cNvPr id="6" name="Shape 4"/>
          <p:cNvSpPr/>
          <p:nvPr/>
        </p:nvSpPr>
        <p:spPr>
          <a:xfrm>
            <a:off x="274320" y="822960"/>
            <a:ext cx="4114800" cy="1737360"/>
          </a:xfrm>
          <a:prstGeom prst="rect">
            <a:avLst/>
          </a:prstGeom>
          <a:solidFill>
            <a:srgbClr val="1A0E00"/>
          </a:solidFill>
          <a:ln w="6350">
            <a:solidFill>
              <a:srgbClr val="FFFFFF">
                <a:alpha val="6000"/>
              </a:srgbClr>
            </a:solidFill>
            <a:prstDash val="solid"/>
          </a:ln>
        </p:spPr>
      </p:sp>
      <p:sp>
        <p:nvSpPr>
          <p:cNvPr id="7" name="Text 5"/>
          <p:cNvSpPr/>
          <p:nvPr/>
        </p:nvSpPr>
        <p:spPr>
          <a:xfrm>
            <a:off x="411480" y="868680"/>
            <a:ext cx="3840480" cy="256032"/>
          </a:xfrm>
          <a:prstGeom prst="rect">
            <a:avLst/>
          </a:prstGeom>
          <a:noFill/>
          <a:ln/>
        </p:spPr>
        <p:txBody>
          <a:bodyPr wrap="square" lIns="0" tIns="0" rIns="0" bIns="0" rtlCol="0" anchor="ctr"/>
          <a:lstStyle/>
          <a:p>
            <a:pPr marL="0" indent="0">
              <a:buNone/>
            </a:pPr>
            <a:r>
              <a:rPr lang="en-US" sz="900" b="1" kern="0" spc="200" dirty="0">
                <a:solidFill>
                  <a:srgbClr val="F59E0B"/>
                </a:solidFill>
              </a:rPr>
              <a:t>THE DEMAND REALITY</a:t>
            </a:r>
            <a:endParaRPr lang="en-US" sz="900" dirty="0"/>
          </a:p>
        </p:txBody>
      </p:sp>
      <p:sp>
        <p:nvSpPr>
          <p:cNvPr id="8" name="Shape 6"/>
          <p:cNvSpPr/>
          <p:nvPr/>
        </p:nvSpPr>
        <p:spPr>
          <a:xfrm>
            <a:off x="438912" y="1234440"/>
            <a:ext cx="91440" cy="91440"/>
          </a:xfrm>
          <a:prstGeom prst="ellipse">
            <a:avLst/>
          </a:prstGeom>
          <a:solidFill>
            <a:srgbClr val="F59E0B"/>
          </a:solidFill>
          <a:ln/>
        </p:spPr>
      </p:sp>
      <p:sp>
        <p:nvSpPr>
          <p:cNvPr id="9" name="Text 7"/>
          <p:cNvSpPr/>
          <p:nvPr/>
        </p:nvSpPr>
        <p:spPr>
          <a:xfrm>
            <a:off x="621792" y="1188720"/>
            <a:ext cx="3611880" cy="237744"/>
          </a:xfrm>
          <a:prstGeom prst="rect">
            <a:avLst/>
          </a:prstGeom>
          <a:noFill/>
          <a:ln/>
        </p:spPr>
        <p:txBody>
          <a:bodyPr wrap="square" lIns="0" tIns="0" rIns="0" bIns="0" rtlCol="0" anchor="ctr"/>
          <a:lstStyle/>
          <a:p>
            <a:pPr marL="0" indent="0">
              <a:buNone/>
            </a:pPr>
            <a:r>
              <a:rPr lang="en-US" sz="850" dirty="0">
                <a:solidFill>
                  <a:srgbClr val="E2E8F5"/>
                </a:solidFill>
              </a:rPr>
              <a:t>1 large AI training cluster (50,000 GPUs): consumes 150–250 MW continuously</a:t>
            </a:r>
            <a:endParaRPr lang="en-US" sz="850" dirty="0"/>
          </a:p>
        </p:txBody>
      </p:sp>
      <p:sp>
        <p:nvSpPr>
          <p:cNvPr id="10" name="Shape 8"/>
          <p:cNvSpPr/>
          <p:nvPr/>
        </p:nvSpPr>
        <p:spPr>
          <a:xfrm>
            <a:off x="438912" y="1490472"/>
            <a:ext cx="91440" cy="91440"/>
          </a:xfrm>
          <a:prstGeom prst="ellipse">
            <a:avLst/>
          </a:prstGeom>
          <a:solidFill>
            <a:srgbClr val="F59E0B"/>
          </a:solidFill>
          <a:ln/>
        </p:spPr>
      </p:sp>
      <p:sp>
        <p:nvSpPr>
          <p:cNvPr id="11" name="Text 9"/>
          <p:cNvSpPr/>
          <p:nvPr/>
        </p:nvSpPr>
        <p:spPr>
          <a:xfrm>
            <a:off x="621792" y="1444752"/>
            <a:ext cx="3611880" cy="237744"/>
          </a:xfrm>
          <a:prstGeom prst="rect">
            <a:avLst/>
          </a:prstGeom>
          <a:noFill/>
          <a:ln/>
        </p:spPr>
        <p:txBody>
          <a:bodyPr wrap="square" lIns="0" tIns="0" rIns="0" bIns="0" rtlCol="0" anchor="ctr"/>
          <a:lstStyle/>
          <a:p>
            <a:pPr marL="0" indent="0">
              <a:buNone/>
            </a:pPr>
            <a:r>
              <a:rPr lang="en-US" sz="850" dirty="0">
                <a:solidFill>
                  <a:srgbClr val="E2E8F5"/>
                </a:solidFill>
              </a:rPr>
              <a:t>US data centers consumed 200 TWh in 2023. Projected 600+ TWh by 2030 (3× growth)</a:t>
            </a:r>
            <a:endParaRPr lang="en-US" sz="850" dirty="0"/>
          </a:p>
        </p:txBody>
      </p:sp>
      <p:sp>
        <p:nvSpPr>
          <p:cNvPr id="12" name="Shape 10"/>
          <p:cNvSpPr/>
          <p:nvPr/>
        </p:nvSpPr>
        <p:spPr>
          <a:xfrm>
            <a:off x="438912" y="1746504"/>
            <a:ext cx="91440" cy="91440"/>
          </a:xfrm>
          <a:prstGeom prst="ellipse">
            <a:avLst/>
          </a:prstGeom>
          <a:solidFill>
            <a:srgbClr val="F59E0B"/>
          </a:solidFill>
          <a:ln/>
        </p:spPr>
      </p:sp>
      <p:sp>
        <p:nvSpPr>
          <p:cNvPr id="13" name="Text 11"/>
          <p:cNvSpPr/>
          <p:nvPr/>
        </p:nvSpPr>
        <p:spPr>
          <a:xfrm>
            <a:off x="621792" y="1700784"/>
            <a:ext cx="3611880" cy="237744"/>
          </a:xfrm>
          <a:prstGeom prst="rect">
            <a:avLst/>
          </a:prstGeom>
          <a:noFill/>
          <a:ln/>
        </p:spPr>
        <p:txBody>
          <a:bodyPr wrap="square" lIns="0" tIns="0" rIns="0" bIns="0" rtlCol="0" anchor="ctr"/>
          <a:lstStyle/>
          <a:p>
            <a:pPr marL="0" indent="0">
              <a:buNone/>
            </a:pPr>
            <a:r>
              <a:rPr lang="en-US" sz="850" dirty="0">
                <a:solidFill>
                  <a:srgbClr val="E2E8F5"/>
                </a:solidFill>
              </a:rPr>
              <a:t>A single H100 GPU draws ~700W. A rack of 8 = 5.6 kW. A pod of 1,000 GPUs = 700 kW</a:t>
            </a:r>
            <a:endParaRPr lang="en-US" sz="850" dirty="0"/>
          </a:p>
        </p:txBody>
      </p:sp>
      <p:sp>
        <p:nvSpPr>
          <p:cNvPr id="14" name="Shape 12"/>
          <p:cNvSpPr/>
          <p:nvPr/>
        </p:nvSpPr>
        <p:spPr>
          <a:xfrm>
            <a:off x="438912" y="2002536"/>
            <a:ext cx="91440" cy="91440"/>
          </a:xfrm>
          <a:prstGeom prst="ellipse">
            <a:avLst/>
          </a:prstGeom>
          <a:solidFill>
            <a:srgbClr val="F59E0B"/>
          </a:solidFill>
          <a:ln/>
        </p:spPr>
      </p:sp>
      <p:sp>
        <p:nvSpPr>
          <p:cNvPr id="15" name="Text 13"/>
          <p:cNvSpPr/>
          <p:nvPr/>
        </p:nvSpPr>
        <p:spPr>
          <a:xfrm>
            <a:off x="621792" y="1956816"/>
            <a:ext cx="3611880" cy="237744"/>
          </a:xfrm>
          <a:prstGeom prst="rect">
            <a:avLst/>
          </a:prstGeom>
          <a:noFill/>
          <a:ln/>
        </p:spPr>
        <p:txBody>
          <a:bodyPr wrap="square" lIns="0" tIns="0" rIns="0" bIns="0" rtlCol="0" anchor="ctr"/>
          <a:lstStyle/>
          <a:p>
            <a:pPr marL="0" indent="0">
              <a:buNone/>
            </a:pPr>
            <a:r>
              <a:rPr lang="en-US" sz="850" dirty="0">
                <a:solidFill>
                  <a:srgbClr val="E2E8F5"/>
                </a:solidFill>
              </a:rPr>
              <a:t>Average US grid carbon intensity cannot meet hyperscaler net-zero commitments → forces nuclear</a:t>
            </a:r>
            <a:endParaRPr lang="en-US" sz="850" dirty="0"/>
          </a:p>
        </p:txBody>
      </p:sp>
      <p:sp>
        <p:nvSpPr>
          <p:cNvPr id="16" name="Shape 14"/>
          <p:cNvSpPr/>
          <p:nvPr/>
        </p:nvSpPr>
        <p:spPr>
          <a:xfrm>
            <a:off x="438912" y="2258568"/>
            <a:ext cx="91440" cy="91440"/>
          </a:xfrm>
          <a:prstGeom prst="ellipse">
            <a:avLst/>
          </a:prstGeom>
          <a:solidFill>
            <a:srgbClr val="F59E0B"/>
          </a:solidFill>
          <a:ln/>
        </p:spPr>
      </p:sp>
      <p:sp>
        <p:nvSpPr>
          <p:cNvPr id="17" name="Text 15"/>
          <p:cNvSpPr/>
          <p:nvPr/>
        </p:nvSpPr>
        <p:spPr>
          <a:xfrm>
            <a:off x="621792" y="2212848"/>
            <a:ext cx="3611880" cy="237744"/>
          </a:xfrm>
          <a:prstGeom prst="rect">
            <a:avLst/>
          </a:prstGeom>
          <a:noFill/>
          <a:ln/>
        </p:spPr>
        <p:txBody>
          <a:bodyPr wrap="square" lIns="0" tIns="0" rIns="0" bIns="0" rtlCol="0" anchor="ctr"/>
          <a:lstStyle/>
          <a:p>
            <a:pPr marL="0" indent="0">
              <a:buNone/>
            </a:pPr>
            <a:r>
              <a:rPr lang="en-US" sz="850" dirty="0">
                <a:solidFill>
                  <a:srgbClr val="E2E8F5"/>
                </a:solidFill>
              </a:rPr>
              <a:t>Grid connection queues in Virginia (data center alley): 5–7 year wait</a:t>
            </a:r>
            <a:endParaRPr lang="en-US" sz="850" dirty="0"/>
          </a:p>
        </p:txBody>
      </p:sp>
      <p:sp>
        <p:nvSpPr>
          <p:cNvPr id="18" name="Shape 16"/>
          <p:cNvSpPr/>
          <p:nvPr/>
        </p:nvSpPr>
        <p:spPr>
          <a:xfrm>
            <a:off x="4617720" y="822960"/>
            <a:ext cx="4206240" cy="1737360"/>
          </a:xfrm>
          <a:prstGeom prst="rect">
            <a:avLst/>
          </a:prstGeom>
          <a:solidFill>
            <a:srgbClr val="1A0E00"/>
          </a:solidFill>
          <a:ln w="6350">
            <a:solidFill>
              <a:srgbClr val="FFFFFF">
                <a:alpha val="6000"/>
              </a:srgbClr>
            </a:solidFill>
            <a:prstDash val="solid"/>
          </a:ln>
        </p:spPr>
      </p:sp>
      <p:sp>
        <p:nvSpPr>
          <p:cNvPr id="19" name="Text 17"/>
          <p:cNvSpPr/>
          <p:nvPr/>
        </p:nvSpPr>
        <p:spPr>
          <a:xfrm>
            <a:off x="4754880" y="868680"/>
            <a:ext cx="3931920" cy="256032"/>
          </a:xfrm>
          <a:prstGeom prst="rect">
            <a:avLst/>
          </a:prstGeom>
          <a:noFill/>
          <a:ln/>
        </p:spPr>
        <p:txBody>
          <a:bodyPr wrap="square" lIns="0" tIns="0" rIns="0" bIns="0" rtlCol="0" anchor="ctr"/>
          <a:lstStyle/>
          <a:p>
            <a:pPr marL="0" indent="0">
              <a:buNone/>
            </a:pPr>
            <a:r>
              <a:rPr lang="en-US" sz="900" b="1" kern="0" spc="100" dirty="0">
                <a:solidFill>
                  <a:srgbClr val="F59E0B"/>
                </a:solidFill>
              </a:rPr>
              <a:t>POWER SOURCE COMPARISON FOR AI DATA CENTERS</a:t>
            </a:r>
            <a:endParaRPr lang="en-US" sz="900" dirty="0"/>
          </a:p>
        </p:txBody>
      </p:sp>
      <p:sp>
        <p:nvSpPr>
          <p:cNvPr id="20" name="Text 18"/>
          <p:cNvSpPr/>
          <p:nvPr/>
        </p:nvSpPr>
        <p:spPr>
          <a:xfrm>
            <a:off x="4709160" y="1170432"/>
            <a:ext cx="1234440" cy="219456"/>
          </a:xfrm>
          <a:prstGeom prst="rect">
            <a:avLst/>
          </a:prstGeom>
          <a:noFill/>
          <a:ln/>
        </p:spPr>
        <p:txBody>
          <a:bodyPr wrap="square" lIns="0" tIns="0" rIns="0" bIns="0" rtlCol="0" anchor="ctr"/>
          <a:lstStyle/>
          <a:p>
            <a:pPr marL="0" indent="0">
              <a:buNone/>
            </a:pPr>
            <a:r>
              <a:rPr lang="en-US" sz="800" b="1" dirty="0">
                <a:solidFill>
                  <a:srgbClr val="64748B"/>
                </a:solidFill>
              </a:rPr>
              <a:t>Source</a:t>
            </a:r>
            <a:endParaRPr lang="en-US" sz="800" dirty="0"/>
          </a:p>
        </p:txBody>
      </p:sp>
      <p:sp>
        <p:nvSpPr>
          <p:cNvPr id="21" name="Text 19"/>
          <p:cNvSpPr/>
          <p:nvPr/>
        </p:nvSpPr>
        <p:spPr>
          <a:xfrm>
            <a:off x="5989320" y="1170432"/>
            <a:ext cx="502920" cy="219456"/>
          </a:xfrm>
          <a:prstGeom prst="rect">
            <a:avLst/>
          </a:prstGeom>
          <a:noFill/>
          <a:ln/>
        </p:spPr>
        <p:txBody>
          <a:bodyPr wrap="square" lIns="0" tIns="0" rIns="0" bIns="0" rtlCol="0" anchor="ctr"/>
          <a:lstStyle/>
          <a:p>
            <a:pPr marL="0" indent="0">
              <a:buNone/>
            </a:pPr>
            <a:r>
              <a:rPr lang="en-US" sz="800" b="1" dirty="0">
                <a:solidFill>
                  <a:srgbClr val="64748B"/>
                </a:solidFill>
              </a:rPr>
              <a:t>Firm?</a:t>
            </a:r>
            <a:endParaRPr lang="en-US" sz="800" dirty="0"/>
          </a:p>
        </p:txBody>
      </p:sp>
      <p:sp>
        <p:nvSpPr>
          <p:cNvPr id="22" name="Text 20"/>
          <p:cNvSpPr/>
          <p:nvPr/>
        </p:nvSpPr>
        <p:spPr>
          <a:xfrm>
            <a:off x="6537960" y="1170432"/>
            <a:ext cx="594360" cy="219456"/>
          </a:xfrm>
          <a:prstGeom prst="rect">
            <a:avLst/>
          </a:prstGeom>
          <a:noFill/>
          <a:ln/>
        </p:spPr>
        <p:txBody>
          <a:bodyPr wrap="square" lIns="0" tIns="0" rIns="0" bIns="0" rtlCol="0" anchor="ctr"/>
          <a:lstStyle/>
          <a:p>
            <a:pPr marL="0" indent="0">
              <a:buNone/>
            </a:pPr>
            <a:r>
              <a:rPr lang="en-US" sz="800" b="1" dirty="0">
                <a:solidFill>
                  <a:srgbClr val="64748B"/>
                </a:solidFill>
              </a:rPr>
              <a:t>Cost</a:t>
            </a:r>
            <a:endParaRPr lang="en-US" sz="800" dirty="0"/>
          </a:p>
        </p:txBody>
      </p:sp>
      <p:sp>
        <p:nvSpPr>
          <p:cNvPr id="23" name="Text 21"/>
          <p:cNvSpPr/>
          <p:nvPr/>
        </p:nvSpPr>
        <p:spPr>
          <a:xfrm>
            <a:off x="7178040" y="1170432"/>
            <a:ext cx="594360" cy="219456"/>
          </a:xfrm>
          <a:prstGeom prst="rect">
            <a:avLst/>
          </a:prstGeom>
          <a:noFill/>
          <a:ln/>
        </p:spPr>
        <p:txBody>
          <a:bodyPr wrap="square" lIns="0" tIns="0" rIns="0" bIns="0" rtlCol="0" anchor="ctr"/>
          <a:lstStyle/>
          <a:p>
            <a:pPr marL="0" indent="0">
              <a:buNone/>
            </a:pPr>
            <a:r>
              <a:rPr lang="en-US" sz="800" b="1" dirty="0">
                <a:solidFill>
                  <a:srgbClr val="64748B"/>
                </a:solidFill>
              </a:rPr>
              <a:t>Scale</a:t>
            </a:r>
            <a:endParaRPr lang="en-US" sz="800" dirty="0"/>
          </a:p>
        </p:txBody>
      </p:sp>
      <p:sp>
        <p:nvSpPr>
          <p:cNvPr id="24" name="Text 22"/>
          <p:cNvSpPr/>
          <p:nvPr/>
        </p:nvSpPr>
        <p:spPr>
          <a:xfrm>
            <a:off x="7772400" y="1170432"/>
            <a:ext cx="960120" cy="219456"/>
          </a:xfrm>
          <a:prstGeom prst="rect">
            <a:avLst/>
          </a:prstGeom>
          <a:noFill/>
          <a:ln/>
        </p:spPr>
        <p:txBody>
          <a:bodyPr wrap="square" lIns="0" tIns="0" rIns="0" bIns="0" rtlCol="0" anchor="ctr"/>
          <a:lstStyle/>
          <a:p>
            <a:pPr marL="0" indent="0">
              <a:buNone/>
            </a:pPr>
            <a:r>
              <a:rPr lang="en-US" sz="800" b="1" dirty="0">
                <a:solidFill>
                  <a:srgbClr val="64748B"/>
                </a:solidFill>
              </a:rPr>
              <a:t>AI Fit</a:t>
            </a:r>
            <a:endParaRPr lang="en-US" sz="800" dirty="0"/>
          </a:p>
        </p:txBody>
      </p:sp>
      <p:sp>
        <p:nvSpPr>
          <p:cNvPr id="25" name="Shape 23"/>
          <p:cNvSpPr/>
          <p:nvPr/>
        </p:nvSpPr>
        <p:spPr>
          <a:xfrm>
            <a:off x="4617720" y="1426464"/>
            <a:ext cx="4206240" cy="219456"/>
          </a:xfrm>
          <a:prstGeom prst="rect">
            <a:avLst/>
          </a:prstGeom>
          <a:solidFill>
            <a:srgbClr val="1A1200"/>
          </a:solidFill>
          <a:ln w="12700">
            <a:solidFill>
              <a:srgbClr val="FFFFFF">
                <a:alpha val="3000"/>
              </a:srgbClr>
            </a:solidFill>
            <a:prstDash val="solid"/>
          </a:ln>
        </p:spPr>
      </p:sp>
      <p:sp>
        <p:nvSpPr>
          <p:cNvPr id="26" name="Text 24"/>
          <p:cNvSpPr/>
          <p:nvPr/>
        </p:nvSpPr>
        <p:spPr>
          <a:xfrm>
            <a:off x="4709160" y="1426464"/>
            <a:ext cx="1234440" cy="219456"/>
          </a:xfrm>
          <a:prstGeom prst="rect">
            <a:avLst/>
          </a:prstGeom>
          <a:noFill/>
          <a:ln/>
        </p:spPr>
        <p:txBody>
          <a:bodyPr wrap="square" lIns="0" tIns="0" rIns="0" bIns="0" rtlCol="0" anchor="ctr"/>
          <a:lstStyle/>
          <a:p>
            <a:pPr marL="0" indent="0">
              <a:buNone/>
            </a:pPr>
            <a:r>
              <a:rPr lang="en-US" sz="800" dirty="0">
                <a:solidFill>
                  <a:srgbClr val="E2E8F5"/>
                </a:solidFill>
              </a:rPr>
              <a:t>Nuclear (existing)</a:t>
            </a:r>
            <a:endParaRPr lang="en-US" sz="800" dirty="0"/>
          </a:p>
        </p:txBody>
      </p:sp>
      <p:sp>
        <p:nvSpPr>
          <p:cNvPr id="27" name="Text 25"/>
          <p:cNvSpPr/>
          <p:nvPr/>
        </p:nvSpPr>
        <p:spPr>
          <a:xfrm>
            <a:off x="5989320" y="1426464"/>
            <a:ext cx="502920" cy="219456"/>
          </a:xfrm>
          <a:prstGeom prst="rect">
            <a:avLst/>
          </a:prstGeom>
          <a:noFill/>
          <a:ln/>
        </p:spPr>
        <p:txBody>
          <a:bodyPr wrap="square" lIns="0" tIns="0" rIns="0" bIns="0" rtlCol="0" anchor="ctr"/>
          <a:lstStyle/>
          <a:p>
            <a:pPr marL="0" indent="0">
              <a:buNone/>
            </a:pPr>
            <a:r>
              <a:rPr lang="en-US" sz="800" b="1" dirty="0">
                <a:solidFill>
                  <a:srgbClr val="10B981"/>
                </a:solidFill>
              </a:rPr>
              <a:t>Yes</a:t>
            </a:r>
            <a:endParaRPr lang="en-US" sz="800" dirty="0"/>
          </a:p>
        </p:txBody>
      </p:sp>
      <p:sp>
        <p:nvSpPr>
          <p:cNvPr id="28" name="Text 26"/>
          <p:cNvSpPr/>
          <p:nvPr/>
        </p:nvSpPr>
        <p:spPr>
          <a:xfrm>
            <a:off x="6537960" y="1426464"/>
            <a:ext cx="594360" cy="219456"/>
          </a:xfrm>
          <a:prstGeom prst="rect">
            <a:avLst/>
          </a:prstGeom>
          <a:noFill/>
          <a:ln/>
        </p:spPr>
        <p:txBody>
          <a:bodyPr wrap="square" lIns="0" tIns="0" rIns="0" bIns="0" rtlCol="0" anchor="ctr"/>
          <a:lstStyle/>
          <a:p>
            <a:pPr marL="0" indent="0">
              <a:buNone/>
            </a:pPr>
            <a:r>
              <a:rPr lang="en-US" sz="750" dirty="0">
                <a:solidFill>
                  <a:srgbClr val="E2E8F5"/>
                </a:solidFill>
              </a:rPr>
              <a:t>$30–50/MWh</a:t>
            </a:r>
            <a:endParaRPr lang="en-US" sz="750" dirty="0"/>
          </a:p>
        </p:txBody>
      </p:sp>
      <p:sp>
        <p:nvSpPr>
          <p:cNvPr id="29" name="Text 27"/>
          <p:cNvSpPr/>
          <p:nvPr/>
        </p:nvSpPr>
        <p:spPr>
          <a:xfrm>
            <a:off x="7178040" y="1426464"/>
            <a:ext cx="594360" cy="219456"/>
          </a:xfrm>
          <a:prstGeom prst="rect">
            <a:avLst/>
          </a:prstGeom>
          <a:noFill/>
          <a:ln/>
        </p:spPr>
        <p:txBody>
          <a:bodyPr wrap="square" lIns="0" tIns="0" rIns="0" bIns="0" rtlCol="0" anchor="ctr"/>
          <a:lstStyle/>
          <a:p>
            <a:pPr marL="0" indent="0">
              <a:buNone/>
            </a:pPr>
            <a:r>
              <a:rPr lang="en-US" sz="750" dirty="0">
                <a:solidFill>
                  <a:srgbClr val="E2E8F5"/>
                </a:solidFill>
              </a:rPr>
              <a:t>High</a:t>
            </a:r>
            <a:endParaRPr lang="en-US" sz="750" dirty="0"/>
          </a:p>
        </p:txBody>
      </p:sp>
      <p:sp>
        <p:nvSpPr>
          <p:cNvPr id="30" name="Text 28"/>
          <p:cNvSpPr/>
          <p:nvPr/>
        </p:nvSpPr>
        <p:spPr>
          <a:xfrm>
            <a:off x="7772400" y="1426464"/>
            <a:ext cx="960120" cy="219456"/>
          </a:xfrm>
          <a:prstGeom prst="rect">
            <a:avLst/>
          </a:prstGeom>
          <a:noFill/>
          <a:ln/>
        </p:spPr>
        <p:txBody>
          <a:bodyPr wrap="square" lIns="0" tIns="0" rIns="0" bIns="0" rtlCol="0" anchor="ctr"/>
          <a:lstStyle/>
          <a:p>
            <a:pPr marL="0" indent="0">
              <a:buNone/>
            </a:pPr>
            <a:r>
              <a:rPr lang="en-US" sz="750" dirty="0">
                <a:solidFill>
                  <a:srgbClr val="10B981"/>
                </a:solidFill>
              </a:rPr>
              <a:t>Best — firm 24/7 zero-carbon</a:t>
            </a:r>
            <a:endParaRPr lang="en-US" sz="750" dirty="0"/>
          </a:p>
        </p:txBody>
      </p:sp>
      <p:sp>
        <p:nvSpPr>
          <p:cNvPr id="31" name="Shape 29"/>
          <p:cNvSpPr/>
          <p:nvPr/>
        </p:nvSpPr>
        <p:spPr>
          <a:xfrm>
            <a:off x="4617720" y="1655064"/>
            <a:ext cx="4206240" cy="219456"/>
          </a:xfrm>
          <a:prstGeom prst="rect">
            <a:avLst/>
          </a:prstGeom>
          <a:solidFill>
            <a:srgbClr val="151000"/>
          </a:solidFill>
          <a:ln w="12700">
            <a:solidFill>
              <a:srgbClr val="FFFFFF">
                <a:alpha val="3000"/>
              </a:srgbClr>
            </a:solidFill>
            <a:prstDash val="solid"/>
          </a:ln>
        </p:spPr>
      </p:sp>
      <p:sp>
        <p:nvSpPr>
          <p:cNvPr id="32" name="Text 30"/>
          <p:cNvSpPr/>
          <p:nvPr/>
        </p:nvSpPr>
        <p:spPr>
          <a:xfrm>
            <a:off x="4709160" y="1655064"/>
            <a:ext cx="1234440" cy="219456"/>
          </a:xfrm>
          <a:prstGeom prst="rect">
            <a:avLst/>
          </a:prstGeom>
          <a:noFill/>
          <a:ln/>
        </p:spPr>
        <p:txBody>
          <a:bodyPr wrap="square" lIns="0" tIns="0" rIns="0" bIns="0" rtlCol="0" anchor="ctr"/>
          <a:lstStyle/>
          <a:p>
            <a:pPr marL="0" indent="0">
              <a:buNone/>
            </a:pPr>
            <a:r>
              <a:rPr lang="en-US" sz="800" dirty="0">
                <a:solidFill>
                  <a:srgbClr val="E2E8F5"/>
                </a:solidFill>
              </a:rPr>
              <a:t>Gas (CCGT)</a:t>
            </a:r>
            <a:endParaRPr lang="en-US" sz="800" dirty="0"/>
          </a:p>
        </p:txBody>
      </p:sp>
      <p:sp>
        <p:nvSpPr>
          <p:cNvPr id="33" name="Text 31"/>
          <p:cNvSpPr/>
          <p:nvPr/>
        </p:nvSpPr>
        <p:spPr>
          <a:xfrm>
            <a:off x="5989320" y="1655064"/>
            <a:ext cx="502920" cy="219456"/>
          </a:xfrm>
          <a:prstGeom prst="rect">
            <a:avLst/>
          </a:prstGeom>
          <a:noFill/>
          <a:ln/>
        </p:spPr>
        <p:txBody>
          <a:bodyPr wrap="square" lIns="0" tIns="0" rIns="0" bIns="0" rtlCol="0" anchor="ctr"/>
          <a:lstStyle/>
          <a:p>
            <a:pPr marL="0" indent="0">
              <a:buNone/>
            </a:pPr>
            <a:r>
              <a:rPr lang="en-US" sz="800" b="1" dirty="0">
                <a:solidFill>
                  <a:srgbClr val="10B981"/>
                </a:solidFill>
              </a:rPr>
              <a:t>Yes</a:t>
            </a:r>
            <a:endParaRPr lang="en-US" sz="800" dirty="0"/>
          </a:p>
        </p:txBody>
      </p:sp>
      <p:sp>
        <p:nvSpPr>
          <p:cNvPr id="34" name="Text 32"/>
          <p:cNvSpPr/>
          <p:nvPr/>
        </p:nvSpPr>
        <p:spPr>
          <a:xfrm>
            <a:off x="6537960" y="1655064"/>
            <a:ext cx="594360" cy="219456"/>
          </a:xfrm>
          <a:prstGeom prst="rect">
            <a:avLst/>
          </a:prstGeom>
          <a:noFill/>
          <a:ln/>
        </p:spPr>
        <p:txBody>
          <a:bodyPr wrap="square" lIns="0" tIns="0" rIns="0" bIns="0" rtlCol="0" anchor="ctr"/>
          <a:lstStyle/>
          <a:p>
            <a:pPr marL="0" indent="0">
              <a:buNone/>
            </a:pPr>
            <a:r>
              <a:rPr lang="en-US" sz="750" dirty="0">
                <a:solidFill>
                  <a:srgbClr val="E2E8F5"/>
                </a:solidFill>
              </a:rPr>
              <a:t>$40–70/MWh</a:t>
            </a:r>
            <a:endParaRPr lang="en-US" sz="750" dirty="0"/>
          </a:p>
        </p:txBody>
      </p:sp>
      <p:sp>
        <p:nvSpPr>
          <p:cNvPr id="35" name="Text 33"/>
          <p:cNvSpPr/>
          <p:nvPr/>
        </p:nvSpPr>
        <p:spPr>
          <a:xfrm>
            <a:off x="7178040" y="1655064"/>
            <a:ext cx="594360" cy="219456"/>
          </a:xfrm>
          <a:prstGeom prst="rect">
            <a:avLst/>
          </a:prstGeom>
          <a:noFill/>
          <a:ln/>
        </p:spPr>
        <p:txBody>
          <a:bodyPr wrap="square" lIns="0" tIns="0" rIns="0" bIns="0" rtlCol="0" anchor="ctr"/>
          <a:lstStyle/>
          <a:p>
            <a:pPr marL="0" indent="0">
              <a:buNone/>
            </a:pPr>
            <a:r>
              <a:rPr lang="en-US" sz="750" dirty="0">
                <a:solidFill>
                  <a:srgbClr val="E2E8F5"/>
                </a:solidFill>
              </a:rPr>
              <a:t>Fastest</a:t>
            </a:r>
            <a:endParaRPr lang="en-US" sz="750" dirty="0"/>
          </a:p>
        </p:txBody>
      </p:sp>
      <p:sp>
        <p:nvSpPr>
          <p:cNvPr id="36" name="Text 34"/>
          <p:cNvSpPr/>
          <p:nvPr/>
        </p:nvSpPr>
        <p:spPr>
          <a:xfrm>
            <a:off x="7772400" y="1655064"/>
            <a:ext cx="960120" cy="219456"/>
          </a:xfrm>
          <a:prstGeom prst="rect">
            <a:avLst/>
          </a:prstGeom>
          <a:noFill/>
          <a:ln/>
        </p:spPr>
        <p:txBody>
          <a:bodyPr wrap="square" lIns="0" tIns="0" rIns="0" bIns="0" rtlCol="0" anchor="ctr"/>
          <a:lstStyle/>
          <a:p>
            <a:pPr marL="0" indent="0">
              <a:buNone/>
            </a:pPr>
            <a:r>
              <a:rPr lang="en-US" sz="750" dirty="0">
                <a:solidFill>
                  <a:srgbClr val="F59E0B"/>
                </a:solidFill>
              </a:rPr>
              <a:t>Good — dispatchable, carbon offset</a:t>
            </a:r>
            <a:endParaRPr lang="en-US" sz="750" dirty="0"/>
          </a:p>
        </p:txBody>
      </p:sp>
      <p:sp>
        <p:nvSpPr>
          <p:cNvPr id="37" name="Shape 35"/>
          <p:cNvSpPr/>
          <p:nvPr/>
        </p:nvSpPr>
        <p:spPr>
          <a:xfrm>
            <a:off x="4617720" y="1883664"/>
            <a:ext cx="4206240" cy="219456"/>
          </a:xfrm>
          <a:prstGeom prst="rect">
            <a:avLst/>
          </a:prstGeom>
          <a:solidFill>
            <a:srgbClr val="1A1200"/>
          </a:solidFill>
          <a:ln w="12700">
            <a:solidFill>
              <a:srgbClr val="FFFFFF">
                <a:alpha val="3000"/>
              </a:srgbClr>
            </a:solidFill>
            <a:prstDash val="solid"/>
          </a:ln>
        </p:spPr>
      </p:sp>
      <p:sp>
        <p:nvSpPr>
          <p:cNvPr id="38" name="Text 36"/>
          <p:cNvSpPr/>
          <p:nvPr/>
        </p:nvSpPr>
        <p:spPr>
          <a:xfrm>
            <a:off x="4709160" y="1883664"/>
            <a:ext cx="1234440" cy="219456"/>
          </a:xfrm>
          <a:prstGeom prst="rect">
            <a:avLst/>
          </a:prstGeom>
          <a:noFill/>
          <a:ln/>
        </p:spPr>
        <p:txBody>
          <a:bodyPr wrap="square" lIns="0" tIns="0" rIns="0" bIns="0" rtlCol="0" anchor="ctr"/>
          <a:lstStyle/>
          <a:p>
            <a:pPr marL="0" indent="0">
              <a:buNone/>
            </a:pPr>
            <a:r>
              <a:rPr lang="en-US" sz="800" dirty="0">
                <a:solidFill>
                  <a:srgbClr val="E2E8F5"/>
                </a:solidFill>
              </a:rPr>
              <a:t>Solar + Battery</a:t>
            </a:r>
            <a:endParaRPr lang="en-US" sz="800" dirty="0"/>
          </a:p>
        </p:txBody>
      </p:sp>
      <p:sp>
        <p:nvSpPr>
          <p:cNvPr id="39" name="Text 37"/>
          <p:cNvSpPr/>
          <p:nvPr/>
        </p:nvSpPr>
        <p:spPr>
          <a:xfrm>
            <a:off x="5989320" y="1883664"/>
            <a:ext cx="502920" cy="219456"/>
          </a:xfrm>
          <a:prstGeom prst="rect">
            <a:avLst/>
          </a:prstGeom>
          <a:noFill/>
          <a:ln/>
        </p:spPr>
        <p:txBody>
          <a:bodyPr wrap="square" lIns="0" tIns="0" rIns="0" bIns="0" rtlCol="0" anchor="ctr"/>
          <a:lstStyle/>
          <a:p>
            <a:pPr marL="0" indent="0">
              <a:buNone/>
            </a:pPr>
            <a:r>
              <a:rPr lang="en-US" sz="800" b="1" dirty="0">
                <a:solidFill>
                  <a:srgbClr val="EF4444"/>
                </a:solidFill>
              </a:rPr>
              <a:t>No</a:t>
            </a:r>
            <a:endParaRPr lang="en-US" sz="800" dirty="0"/>
          </a:p>
        </p:txBody>
      </p:sp>
      <p:sp>
        <p:nvSpPr>
          <p:cNvPr id="40" name="Text 38"/>
          <p:cNvSpPr/>
          <p:nvPr/>
        </p:nvSpPr>
        <p:spPr>
          <a:xfrm>
            <a:off x="6537960" y="1883664"/>
            <a:ext cx="594360" cy="219456"/>
          </a:xfrm>
          <a:prstGeom prst="rect">
            <a:avLst/>
          </a:prstGeom>
          <a:noFill/>
          <a:ln/>
        </p:spPr>
        <p:txBody>
          <a:bodyPr wrap="square" lIns="0" tIns="0" rIns="0" bIns="0" rtlCol="0" anchor="ctr"/>
          <a:lstStyle/>
          <a:p>
            <a:pPr marL="0" indent="0">
              <a:buNone/>
            </a:pPr>
            <a:r>
              <a:rPr lang="en-US" sz="750" dirty="0">
                <a:solidFill>
                  <a:srgbClr val="E2E8F5"/>
                </a:solidFill>
              </a:rPr>
              <a:t>$35–55/MWh</a:t>
            </a:r>
            <a:endParaRPr lang="en-US" sz="750" dirty="0"/>
          </a:p>
        </p:txBody>
      </p:sp>
      <p:sp>
        <p:nvSpPr>
          <p:cNvPr id="41" name="Text 39"/>
          <p:cNvSpPr/>
          <p:nvPr/>
        </p:nvSpPr>
        <p:spPr>
          <a:xfrm>
            <a:off x="7178040" y="1883664"/>
            <a:ext cx="594360" cy="219456"/>
          </a:xfrm>
          <a:prstGeom prst="rect">
            <a:avLst/>
          </a:prstGeom>
          <a:noFill/>
          <a:ln/>
        </p:spPr>
        <p:txBody>
          <a:bodyPr wrap="square" lIns="0" tIns="0" rIns="0" bIns="0" rtlCol="0" anchor="ctr"/>
          <a:lstStyle/>
          <a:p>
            <a:pPr marL="0" indent="0">
              <a:buNone/>
            </a:pPr>
            <a:r>
              <a:rPr lang="en-US" sz="750" dirty="0">
                <a:solidFill>
                  <a:srgbClr val="E2E8F5"/>
                </a:solidFill>
              </a:rPr>
              <a:t>Good</a:t>
            </a:r>
            <a:endParaRPr lang="en-US" sz="750" dirty="0"/>
          </a:p>
        </p:txBody>
      </p:sp>
      <p:sp>
        <p:nvSpPr>
          <p:cNvPr id="42" name="Text 40"/>
          <p:cNvSpPr/>
          <p:nvPr/>
        </p:nvSpPr>
        <p:spPr>
          <a:xfrm>
            <a:off x="7772400" y="1883664"/>
            <a:ext cx="960120" cy="219456"/>
          </a:xfrm>
          <a:prstGeom prst="rect">
            <a:avLst/>
          </a:prstGeom>
          <a:noFill/>
          <a:ln/>
        </p:spPr>
        <p:txBody>
          <a:bodyPr wrap="square" lIns="0" tIns="0" rIns="0" bIns="0" rtlCol="0" anchor="ctr"/>
          <a:lstStyle/>
          <a:p>
            <a:pPr marL="0" indent="0">
              <a:buNone/>
            </a:pPr>
            <a:r>
              <a:rPr lang="en-US" sz="750" dirty="0">
                <a:solidFill>
                  <a:srgbClr val="EF4444"/>
                </a:solidFill>
              </a:rPr>
              <a:t>Poor — intermittent, low density</a:t>
            </a:r>
            <a:endParaRPr lang="en-US" sz="750" dirty="0"/>
          </a:p>
        </p:txBody>
      </p:sp>
      <p:sp>
        <p:nvSpPr>
          <p:cNvPr id="43" name="Shape 41"/>
          <p:cNvSpPr/>
          <p:nvPr/>
        </p:nvSpPr>
        <p:spPr>
          <a:xfrm>
            <a:off x="4617720" y="2112264"/>
            <a:ext cx="4206240" cy="219456"/>
          </a:xfrm>
          <a:prstGeom prst="rect">
            <a:avLst/>
          </a:prstGeom>
          <a:solidFill>
            <a:srgbClr val="151000"/>
          </a:solidFill>
          <a:ln w="12700">
            <a:solidFill>
              <a:srgbClr val="FFFFFF">
                <a:alpha val="3000"/>
              </a:srgbClr>
            </a:solidFill>
            <a:prstDash val="solid"/>
          </a:ln>
        </p:spPr>
      </p:sp>
      <p:sp>
        <p:nvSpPr>
          <p:cNvPr id="44" name="Text 42"/>
          <p:cNvSpPr/>
          <p:nvPr/>
        </p:nvSpPr>
        <p:spPr>
          <a:xfrm>
            <a:off x="4709160" y="2112264"/>
            <a:ext cx="1234440" cy="219456"/>
          </a:xfrm>
          <a:prstGeom prst="rect">
            <a:avLst/>
          </a:prstGeom>
          <a:noFill/>
          <a:ln/>
        </p:spPr>
        <p:txBody>
          <a:bodyPr wrap="square" lIns="0" tIns="0" rIns="0" bIns="0" rtlCol="0" anchor="ctr"/>
          <a:lstStyle/>
          <a:p>
            <a:pPr marL="0" indent="0">
              <a:buNone/>
            </a:pPr>
            <a:r>
              <a:rPr lang="en-US" sz="800" dirty="0">
                <a:solidFill>
                  <a:srgbClr val="E2E8F5"/>
                </a:solidFill>
              </a:rPr>
              <a:t>Nuclear (new SMR)</a:t>
            </a:r>
            <a:endParaRPr lang="en-US" sz="800" dirty="0"/>
          </a:p>
        </p:txBody>
      </p:sp>
      <p:sp>
        <p:nvSpPr>
          <p:cNvPr id="45" name="Text 43"/>
          <p:cNvSpPr/>
          <p:nvPr/>
        </p:nvSpPr>
        <p:spPr>
          <a:xfrm>
            <a:off x="5989320" y="2112264"/>
            <a:ext cx="502920" cy="219456"/>
          </a:xfrm>
          <a:prstGeom prst="rect">
            <a:avLst/>
          </a:prstGeom>
          <a:noFill/>
          <a:ln/>
        </p:spPr>
        <p:txBody>
          <a:bodyPr wrap="square" lIns="0" tIns="0" rIns="0" bIns="0" rtlCol="0" anchor="ctr"/>
          <a:lstStyle/>
          <a:p>
            <a:pPr marL="0" indent="0">
              <a:buNone/>
            </a:pPr>
            <a:r>
              <a:rPr lang="en-US" sz="800" b="1" dirty="0">
                <a:solidFill>
                  <a:srgbClr val="10B981"/>
                </a:solidFill>
              </a:rPr>
              <a:t>Yes</a:t>
            </a:r>
            <a:endParaRPr lang="en-US" sz="800" dirty="0"/>
          </a:p>
        </p:txBody>
      </p:sp>
      <p:sp>
        <p:nvSpPr>
          <p:cNvPr id="46" name="Text 44"/>
          <p:cNvSpPr/>
          <p:nvPr/>
        </p:nvSpPr>
        <p:spPr>
          <a:xfrm>
            <a:off x="6537960" y="2112264"/>
            <a:ext cx="594360" cy="219456"/>
          </a:xfrm>
          <a:prstGeom prst="rect">
            <a:avLst/>
          </a:prstGeom>
          <a:noFill/>
          <a:ln/>
        </p:spPr>
        <p:txBody>
          <a:bodyPr wrap="square" lIns="0" tIns="0" rIns="0" bIns="0" rtlCol="0" anchor="ctr"/>
          <a:lstStyle/>
          <a:p>
            <a:pPr marL="0" indent="0">
              <a:buNone/>
            </a:pPr>
            <a:r>
              <a:rPr lang="en-US" sz="750" dirty="0">
                <a:solidFill>
                  <a:srgbClr val="E2E8F5"/>
                </a:solidFill>
              </a:rPr>
              <a:t>$80–120/MWh</a:t>
            </a:r>
            <a:endParaRPr lang="en-US" sz="750" dirty="0"/>
          </a:p>
        </p:txBody>
      </p:sp>
      <p:sp>
        <p:nvSpPr>
          <p:cNvPr id="47" name="Text 45"/>
          <p:cNvSpPr/>
          <p:nvPr/>
        </p:nvSpPr>
        <p:spPr>
          <a:xfrm>
            <a:off x="7178040" y="2112264"/>
            <a:ext cx="594360" cy="219456"/>
          </a:xfrm>
          <a:prstGeom prst="rect">
            <a:avLst/>
          </a:prstGeom>
          <a:noFill/>
          <a:ln/>
        </p:spPr>
        <p:txBody>
          <a:bodyPr wrap="square" lIns="0" tIns="0" rIns="0" bIns="0" rtlCol="0" anchor="ctr"/>
          <a:lstStyle/>
          <a:p>
            <a:pPr marL="0" indent="0">
              <a:buNone/>
            </a:pPr>
            <a:r>
              <a:rPr lang="en-US" sz="750" dirty="0">
                <a:solidFill>
                  <a:srgbClr val="E2E8F5"/>
                </a:solidFill>
              </a:rPr>
              <a:t>Limited</a:t>
            </a:r>
            <a:endParaRPr lang="en-US" sz="750" dirty="0"/>
          </a:p>
        </p:txBody>
      </p:sp>
      <p:sp>
        <p:nvSpPr>
          <p:cNvPr id="48" name="Text 46"/>
          <p:cNvSpPr/>
          <p:nvPr/>
        </p:nvSpPr>
        <p:spPr>
          <a:xfrm>
            <a:off x="7772400" y="2112264"/>
            <a:ext cx="960120" cy="219456"/>
          </a:xfrm>
          <a:prstGeom prst="rect">
            <a:avLst/>
          </a:prstGeom>
          <a:noFill/>
          <a:ln/>
        </p:spPr>
        <p:txBody>
          <a:bodyPr wrap="square" lIns="0" tIns="0" rIns="0" bIns="0" rtlCol="0" anchor="ctr"/>
          <a:lstStyle/>
          <a:p>
            <a:pPr marL="0" indent="0">
              <a:buNone/>
            </a:pPr>
            <a:r>
              <a:rPr lang="en-US" sz="750" dirty="0">
                <a:solidFill>
                  <a:srgbClr val="3B82F6"/>
                </a:solidFill>
              </a:rPr>
              <a:t>Excellent long-term, 5-10yr build</a:t>
            </a:r>
            <a:endParaRPr lang="en-US" sz="750" dirty="0"/>
          </a:p>
        </p:txBody>
      </p:sp>
      <p:sp>
        <p:nvSpPr>
          <p:cNvPr id="49" name="Shape 47"/>
          <p:cNvSpPr/>
          <p:nvPr/>
        </p:nvSpPr>
        <p:spPr>
          <a:xfrm>
            <a:off x="4617720" y="2340864"/>
            <a:ext cx="4206240" cy="219456"/>
          </a:xfrm>
          <a:prstGeom prst="rect">
            <a:avLst/>
          </a:prstGeom>
          <a:solidFill>
            <a:srgbClr val="1A1200"/>
          </a:solidFill>
          <a:ln w="12700">
            <a:solidFill>
              <a:srgbClr val="FFFFFF">
                <a:alpha val="3000"/>
              </a:srgbClr>
            </a:solidFill>
            <a:prstDash val="solid"/>
          </a:ln>
        </p:spPr>
      </p:sp>
      <p:sp>
        <p:nvSpPr>
          <p:cNvPr id="50" name="Text 48"/>
          <p:cNvSpPr/>
          <p:nvPr/>
        </p:nvSpPr>
        <p:spPr>
          <a:xfrm>
            <a:off x="4709160" y="2340864"/>
            <a:ext cx="1234440" cy="219456"/>
          </a:xfrm>
          <a:prstGeom prst="rect">
            <a:avLst/>
          </a:prstGeom>
          <a:noFill/>
          <a:ln/>
        </p:spPr>
        <p:txBody>
          <a:bodyPr wrap="square" lIns="0" tIns="0" rIns="0" bIns="0" rtlCol="0" anchor="ctr"/>
          <a:lstStyle/>
          <a:p>
            <a:pPr marL="0" indent="0">
              <a:buNone/>
            </a:pPr>
            <a:r>
              <a:rPr lang="en-US" sz="800" dirty="0">
                <a:solidFill>
                  <a:srgbClr val="E2E8F5"/>
                </a:solidFill>
              </a:rPr>
              <a:t>Wind + Storage</a:t>
            </a:r>
            <a:endParaRPr lang="en-US" sz="800" dirty="0"/>
          </a:p>
        </p:txBody>
      </p:sp>
      <p:sp>
        <p:nvSpPr>
          <p:cNvPr id="51" name="Text 49"/>
          <p:cNvSpPr/>
          <p:nvPr/>
        </p:nvSpPr>
        <p:spPr>
          <a:xfrm>
            <a:off x="5989320" y="2340864"/>
            <a:ext cx="502920" cy="219456"/>
          </a:xfrm>
          <a:prstGeom prst="rect">
            <a:avLst/>
          </a:prstGeom>
          <a:noFill/>
          <a:ln/>
        </p:spPr>
        <p:txBody>
          <a:bodyPr wrap="square" lIns="0" tIns="0" rIns="0" bIns="0" rtlCol="0" anchor="ctr"/>
          <a:lstStyle/>
          <a:p>
            <a:pPr marL="0" indent="0">
              <a:buNone/>
            </a:pPr>
            <a:r>
              <a:rPr lang="en-US" sz="800" b="1" dirty="0">
                <a:solidFill>
                  <a:srgbClr val="EF4444"/>
                </a:solidFill>
              </a:rPr>
              <a:t>No</a:t>
            </a:r>
            <a:endParaRPr lang="en-US" sz="800" dirty="0"/>
          </a:p>
        </p:txBody>
      </p:sp>
      <p:sp>
        <p:nvSpPr>
          <p:cNvPr id="52" name="Text 50"/>
          <p:cNvSpPr/>
          <p:nvPr/>
        </p:nvSpPr>
        <p:spPr>
          <a:xfrm>
            <a:off x="6537960" y="2340864"/>
            <a:ext cx="594360" cy="219456"/>
          </a:xfrm>
          <a:prstGeom prst="rect">
            <a:avLst/>
          </a:prstGeom>
          <a:noFill/>
          <a:ln/>
        </p:spPr>
        <p:txBody>
          <a:bodyPr wrap="square" lIns="0" tIns="0" rIns="0" bIns="0" rtlCol="0" anchor="ctr"/>
          <a:lstStyle/>
          <a:p>
            <a:pPr marL="0" indent="0">
              <a:buNone/>
            </a:pPr>
            <a:r>
              <a:rPr lang="en-US" sz="750" dirty="0">
                <a:solidFill>
                  <a:srgbClr val="E2E8F5"/>
                </a:solidFill>
              </a:rPr>
              <a:t>$45–65/MWh</a:t>
            </a:r>
            <a:endParaRPr lang="en-US" sz="750" dirty="0"/>
          </a:p>
        </p:txBody>
      </p:sp>
      <p:sp>
        <p:nvSpPr>
          <p:cNvPr id="53" name="Text 51"/>
          <p:cNvSpPr/>
          <p:nvPr/>
        </p:nvSpPr>
        <p:spPr>
          <a:xfrm>
            <a:off x="7178040" y="2340864"/>
            <a:ext cx="594360" cy="219456"/>
          </a:xfrm>
          <a:prstGeom prst="rect">
            <a:avLst/>
          </a:prstGeom>
          <a:noFill/>
          <a:ln/>
        </p:spPr>
        <p:txBody>
          <a:bodyPr wrap="square" lIns="0" tIns="0" rIns="0" bIns="0" rtlCol="0" anchor="ctr"/>
          <a:lstStyle/>
          <a:p>
            <a:pPr marL="0" indent="0">
              <a:buNone/>
            </a:pPr>
            <a:r>
              <a:rPr lang="en-US" sz="750" dirty="0">
                <a:solidFill>
                  <a:srgbClr val="E2E8F5"/>
                </a:solidFill>
              </a:rPr>
              <a:t>Medium</a:t>
            </a:r>
            <a:endParaRPr lang="en-US" sz="750" dirty="0"/>
          </a:p>
        </p:txBody>
      </p:sp>
      <p:sp>
        <p:nvSpPr>
          <p:cNvPr id="54" name="Text 52"/>
          <p:cNvSpPr/>
          <p:nvPr/>
        </p:nvSpPr>
        <p:spPr>
          <a:xfrm>
            <a:off x="7772400" y="2340864"/>
            <a:ext cx="960120" cy="219456"/>
          </a:xfrm>
          <a:prstGeom prst="rect">
            <a:avLst/>
          </a:prstGeom>
          <a:noFill/>
          <a:ln/>
        </p:spPr>
        <p:txBody>
          <a:bodyPr wrap="square" lIns="0" tIns="0" rIns="0" bIns="0" rtlCol="0" anchor="ctr"/>
          <a:lstStyle/>
          <a:p>
            <a:pPr marL="0" indent="0">
              <a:buNone/>
            </a:pPr>
            <a:r>
              <a:rPr lang="en-US" sz="750" dirty="0">
                <a:solidFill>
                  <a:srgbClr val="F97316"/>
                </a:solidFill>
              </a:rPr>
              <a:t>Poor — geography-constrained</a:t>
            </a:r>
            <a:endParaRPr lang="en-US" sz="750" dirty="0"/>
          </a:p>
        </p:txBody>
      </p:sp>
      <p:sp>
        <p:nvSpPr>
          <p:cNvPr id="55" name="Shape 53"/>
          <p:cNvSpPr/>
          <p:nvPr/>
        </p:nvSpPr>
        <p:spPr>
          <a:xfrm>
            <a:off x="274320" y="2697480"/>
            <a:ext cx="8549640" cy="224028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56" name="Text 54"/>
          <p:cNvSpPr/>
          <p:nvPr/>
        </p:nvSpPr>
        <p:spPr>
          <a:xfrm>
            <a:off x="411480" y="2743200"/>
            <a:ext cx="8229600" cy="256032"/>
          </a:xfrm>
          <a:prstGeom prst="rect">
            <a:avLst/>
          </a:prstGeom>
          <a:noFill/>
          <a:ln/>
        </p:spPr>
        <p:txBody>
          <a:bodyPr wrap="square" lIns="0" tIns="0" rIns="0" bIns="0" rtlCol="0" anchor="ctr"/>
          <a:lstStyle/>
          <a:p>
            <a:pPr marL="0" indent="0">
              <a:buNone/>
            </a:pPr>
            <a:r>
              <a:rPr lang="en-US" sz="900" b="1" kern="0" spc="200" dirty="0">
                <a:solidFill>
                  <a:srgbClr val="F59E0B"/>
                </a:solidFill>
              </a:rPr>
              <a:t>KEY PLAYERS &amp; THEIR SPECIFIC MOAT / BUSINESS AREA</a:t>
            </a:r>
            <a:endParaRPr lang="en-US" sz="900" dirty="0"/>
          </a:p>
        </p:txBody>
      </p:sp>
      <p:sp>
        <p:nvSpPr>
          <p:cNvPr id="57" name="Shape 55"/>
          <p:cNvSpPr/>
          <p:nvPr/>
        </p:nvSpPr>
        <p:spPr>
          <a:xfrm>
            <a:off x="384048" y="3010845"/>
            <a:ext cx="4023360" cy="749808"/>
          </a:xfrm>
          <a:prstGeom prst="roundRect">
            <a:avLst>
              <a:gd name="adj" fmla="val 7317"/>
            </a:avLst>
          </a:prstGeom>
          <a:solidFill>
            <a:srgbClr val="111830"/>
          </a:solidFill>
          <a:ln/>
        </p:spPr>
      </p:sp>
      <p:sp>
        <p:nvSpPr>
          <p:cNvPr id="58" name="Text 56"/>
          <p:cNvSpPr/>
          <p:nvPr/>
        </p:nvSpPr>
        <p:spPr>
          <a:xfrm>
            <a:off x="493776" y="3047421"/>
            <a:ext cx="3749040" cy="219456"/>
          </a:xfrm>
          <a:prstGeom prst="rect">
            <a:avLst/>
          </a:prstGeom>
          <a:noFill/>
          <a:ln/>
        </p:spPr>
        <p:txBody>
          <a:bodyPr wrap="square" lIns="0" tIns="0" rIns="0" bIns="0" rtlCol="0" anchor="ctr"/>
          <a:lstStyle/>
          <a:p>
            <a:pPr marL="0" indent="0">
              <a:buNone/>
            </a:pPr>
            <a:r>
              <a:rPr lang="en-US" sz="950" b="1" dirty="0">
                <a:solidFill>
                  <a:srgbClr val="F59E0B"/>
                </a:solidFill>
              </a:rPr>
              <a:t>Constellation Energy ($CEG)</a:t>
            </a:r>
            <a:endParaRPr lang="en-US" sz="950" dirty="0"/>
          </a:p>
        </p:txBody>
      </p:sp>
      <p:sp>
        <p:nvSpPr>
          <p:cNvPr id="59" name="Text 57"/>
          <p:cNvSpPr/>
          <p:nvPr/>
        </p:nvSpPr>
        <p:spPr>
          <a:xfrm>
            <a:off x="493776" y="3266877"/>
            <a:ext cx="3749040" cy="201168"/>
          </a:xfrm>
          <a:prstGeom prst="rect">
            <a:avLst/>
          </a:prstGeom>
          <a:noFill/>
          <a:ln/>
        </p:spPr>
        <p:txBody>
          <a:bodyPr wrap="square" lIns="0" tIns="0" rIns="0" bIns="0" rtlCol="0" anchor="ctr"/>
          <a:lstStyle/>
          <a:p>
            <a:pPr marL="0" indent="0">
              <a:buNone/>
            </a:pPr>
            <a:r>
              <a:rPr lang="en-US" sz="750" dirty="0">
                <a:solidFill>
                  <a:srgbClr val="E2E8F5"/>
                </a:solidFill>
              </a:rPr>
              <a:t>MOAT: Largest US nuclear fleet (21 GW). Moat: existing licenses are irreplaceable — new nuclear </a:t>
            </a:r>
            <a:endParaRPr lang="en-US" sz="750" dirty="0"/>
          </a:p>
        </p:txBody>
      </p:sp>
      <p:sp>
        <p:nvSpPr>
          <p:cNvPr id="60" name="Text 58"/>
          <p:cNvSpPr/>
          <p:nvPr/>
        </p:nvSpPr>
        <p:spPr>
          <a:xfrm>
            <a:off x="493776" y="3468045"/>
            <a:ext cx="3749040" cy="256032"/>
          </a:xfrm>
          <a:prstGeom prst="rect">
            <a:avLst/>
          </a:prstGeom>
          <a:noFill/>
          <a:ln/>
        </p:spPr>
        <p:txBody>
          <a:bodyPr wrap="square" lIns="0" tIns="0" rIns="0" bIns="0" rtlCol="0" anchor="ctr"/>
          <a:lstStyle/>
          <a:p>
            <a:pPr marL="0" indent="0">
              <a:buNone/>
            </a:pPr>
            <a:r>
              <a:rPr lang="en-US" sz="750" dirty="0">
                <a:solidFill>
                  <a:srgbClr val="64748B"/>
                </a:solidFill>
              </a:rPr>
              <a:t>BUSINESS: Nuclear generation → direct PPA contracts with hyperscalers</a:t>
            </a:r>
            <a:endParaRPr lang="en-US" sz="750" dirty="0"/>
          </a:p>
        </p:txBody>
      </p:sp>
      <p:sp>
        <p:nvSpPr>
          <p:cNvPr id="61" name="Shape 59"/>
          <p:cNvSpPr/>
          <p:nvPr/>
        </p:nvSpPr>
        <p:spPr>
          <a:xfrm>
            <a:off x="4663440" y="3010845"/>
            <a:ext cx="4023360" cy="749808"/>
          </a:xfrm>
          <a:prstGeom prst="roundRect">
            <a:avLst>
              <a:gd name="adj" fmla="val 7317"/>
            </a:avLst>
          </a:prstGeom>
          <a:solidFill>
            <a:srgbClr val="111830"/>
          </a:solidFill>
          <a:ln/>
        </p:spPr>
      </p:sp>
      <p:sp>
        <p:nvSpPr>
          <p:cNvPr id="62" name="Text 60"/>
          <p:cNvSpPr/>
          <p:nvPr/>
        </p:nvSpPr>
        <p:spPr>
          <a:xfrm>
            <a:off x="4773168" y="3047421"/>
            <a:ext cx="3749040" cy="219456"/>
          </a:xfrm>
          <a:prstGeom prst="rect">
            <a:avLst/>
          </a:prstGeom>
          <a:noFill/>
          <a:ln/>
        </p:spPr>
        <p:txBody>
          <a:bodyPr wrap="square" lIns="0" tIns="0" rIns="0" bIns="0" rtlCol="0" anchor="ctr"/>
          <a:lstStyle/>
          <a:p>
            <a:pPr marL="0" indent="0">
              <a:buNone/>
            </a:pPr>
            <a:r>
              <a:rPr lang="en-US" sz="950" b="1" dirty="0">
                <a:solidFill>
                  <a:srgbClr val="F59E0B"/>
                </a:solidFill>
              </a:rPr>
              <a:t>Vistra Energy ($VST)</a:t>
            </a:r>
            <a:endParaRPr lang="en-US" sz="950" dirty="0"/>
          </a:p>
        </p:txBody>
      </p:sp>
      <p:sp>
        <p:nvSpPr>
          <p:cNvPr id="63" name="Text 61"/>
          <p:cNvSpPr/>
          <p:nvPr/>
        </p:nvSpPr>
        <p:spPr>
          <a:xfrm>
            <a:off x="4773168" y="3266877"/>
            <a:ext cx="3749040" cy="201168"/>
          </a:xfrm>
          <a:prstGeom prst="rect">
            <a:avLst/>
          </a:prstGeom>
          <a:noFill/>
          <a:ln/>
        </p:spPr>
        <p:txBody>
          <a:bodyPr wrap="square" lIns="0" tIns="0" rIns="0" bIns="0" rtlCol="0" anchor="ctr"/>
          <a:lstStyle/>
          <a:p>
            <a:pPr marL="0" indent="0">
              <a:buNone/>
            </a:pPr>
            <a:r>
              <a:rPr lang="en-US" sz="750" dirty="0">
                <a:solidFill>
                  <a:srgbClr val="E2E8F5"/>
                </a:solidFill>
              </a:rPr>
              <a:t>MOAT: Diversified: nuclear + gas + batteries in deregulated markets. Moat: operational complexit</a:t>
            </a:r>
            <a:endParaRPr lang="en-US" sz="750" dirty="0"/>
          </a:p>
        </p:txBody>
      </p:sp>
      <p:sp>
        <p:nvSpPr>
          <p:cNvPr id="64" name="Text 62"/>
          <p:cNvSpPr/>
          <p:nvPr/>
        </p:nvSpPr>
        <p:spPr>
          <a:xfrm>
            <a:off x="4773168" y="3468045"/>
            <a:ext cx="3749040" cy="256032"/>
          </a:xfrm>
          <a:prstGeom prst="rect">
            <a:avLst/>
          </a:prstGeom>
          <a:noFill/>
          <a:ln/>
        </p:spPr>
        <p:txBody>
          <a:bodyPr wrap="square" lIns="0" tIns="0" rIns="0" bIns="0" rtlCol="0" anchor="ctr"/>
          <a:lstStyle/>
          <a:p>
            <a:pPr marL="0" indent="0">
              <a:buNone/>
            </a:pPr>
            <a:r>
              <a:rPr lang="en-US" sz="750" dirty="0">
                <a:solidFill>
                  <a:srgbClr val="64748B"/>
                </a:solidFill>
              </a:rPr>
              <a:t>BUSINESS: Merchant power generation + retail electricity in deregulated US markets</a:t>
            </a:r>
            <a:endParaRPr lang="en-US" sz="750" dirty="0"/>
          </a:p>
        </p:txBody>
      </p:sp>
      <p:sp>
        <p:nvSpPr>
          <p:cNvPr id="65" name="Shape 63"/>
          <p:cNvSpPr/>
          <p:nvPr/>
        </p:nvSpPr>
        <p:spPr>
          <a:xfrm>
            <a:off x="384048" y="3815517"/>
            <a:ext cx="4023360" cy="749808"/>
          </a:xfrm>
          <a:prstGeom prst="roundRect">
            <a:avLst>
              <a:gd name="adj" fmla="val 7317"/>
            </a:avLst>
          </a:prstGeom>
          <a:solidFill>
            <a:srgbClr val="111830"/>
          </a:solidFill>
          <a:ln/>
        </p:spPr>
      </p:sp>
      <p:sp>
        <p:nvSpPr>
          <p:cNvPr id="66" name="Text 64"/>
          <p:cNvSpPr/>
          <p:nvPr/>
        </p:nvSpPr>
        <p:spPr>
          <a:xfrm>
            <a:off x="493776" y="3852093"/>
            <a:ext cx="3749040" cy="219456"/>
          </a:xfrm>
          <a:prstGeom prst="rect">
            <a:avLst/>
          </a:prstGeom>
          <a:noFill/>
          <a:ln/>
        </p:spPr>
        <p:txBody>
          <a:bodyPr wrap="square" lIns="0" tIns="0" rIns="0" bIns="0" rtlCol="0" anchor="ctr"/>
          <a:lstStyle/>
          <a:p>
            <a:pPr marL="0" indent="0">
              <a:buNone/>
            </a:pPr>
            <a:r>
              <a:rPr lang="en-US" sz="950" b="1" dirty="0">
                <a:solidFill>
                  <a:srgbClr val="F59E0B"/>
                </a:solidFill>
              </a:rPr>
              <a:t>GE Vernova ($GEV)</a:t>
            </a:r>
            <a:endParaRPr lang="en-US" sz="950" dirty="0"/>
          </a:p>
        </p:txBody>
      </p:sp>
      <p:sp>
        <p:nvSpPr>
          <p:cNvPr id="67" name="Text 65"/>
          <p:cNvSpPr/>
          <p:nvPr/>
        </p:nvSpPr>
        <p:spPr>
          <a:xfrm>
            <a:off x="493776" y="4071549"/>
            <a:ext cx="3749040" cy="201168"/>
          </a:xfrm>
          <a:prstGeom prst="rect">
            <a:avLst/>
          </a:prstGeom>
          <a:noFill/>
          <a:ln/>
        </p:spPr>
        <p:txBody>
          <a:bodyPr wrap="square" lIns="0" tIns="0" rIns="0" bIns="0" rtlCol="0" anchor="ctr"/>
          <a:lstStyle/>
          <a:p>
            <a:pPr marL="0" indent="0">
              <a:buNone/>
            </a:pPr>
            <a:r>
              <a:rPr lang="en-US" sz="750" dirty="0">
                <a:solidFill>
                  <a:srgbClr val="E2E8F5"/>
                </a:solidFill>
              </a:rPr>
              <a:t>MOAT: Sole-source supplier of the largest gas turbines (HA-class: 64% efficiency). Backlog exten</a:t>
            </a:r>
            <a:endParaRPr lang="en-US" sz="750" dirty="0"/>
          </a:p>
        </p:txBody>
      </p:sp>
      <p:sp>
        <p:nvSpPr>
          <p:cNvPr id="68" name="Text 66"/>
          <p:cNvSpPr/>
          <p:nvPr/>
        </p:nvSpPr>
        <p:spPr>
          <a:xfrm>
            <a:off x="493776" y="4272717"/>
            <a:ext cx="3749040" cy="256032"/>
          </a:xfrm>
          <a:prstGeom prst="rect">
            <a:avLst/>
          </a:prstGeom>
          <a:noFill/>
          <a:ln/>
        </p:spPr>
        <p:txBody>
          <a:bodyPr wrap="square" lIns="0" tIns="0" rIns="0" bIns="0" rtlCol="0" anchor="ctr"/>
          <a:lstStyle/>
          <a:p>
            <a:pPr marL="0" indent="0">
              <a:buNone/>
            </a:pPr>
            <a:r>
              <a:rPr lang="en-US" sz="750" dirty="0">
                <a:solidFill>
                  <a:srgbClr val="64748B"/>
                </a:solidFill>
              </a:rPr>
              <a:t>BUSINESS: Gas turbines + grid infrastructure equipment + offshore wind</a:t>
            </a:r>
            <a:endParaRPr lang="en-US" sz="750" dirty="0"/>
          </a:p>
        </p:txBody>
      </p:sp>
      <p:sp>
        <p:nvSpPr>
          <p:cNvPr id="69" name="Shape 67"/>
          <p:cNvSpPr/>
          <p:nvPr/>
        </p:nvSpPr>
        <p:spPr>
          <a:xfrm>
            <a:off x="4663440" y="3815517"/>
            <a:ext cx="4023360" cy="749808"/>
          </a:xfrm>
          <a:prstGeom prst="roundRect">
            <a:avLst>
              <a:gd name="adj" fmla="val 7317"/>
            </a:avLst>
          </a:prstGeom>
          <a:solidFill>
            <a:srgbClr val="111830"/>
          </a:solidFill>
          <a:ln/>
        </p:spPr>
      </p:sp>
      <p:sp>
        <p:nvSpPr>
          <p:cNvPr id="70" name="Text 68"/>
          <p:cNvSpPr/>
          <p:nvPr/>
        </p:nvSpPr>
        <p:spPr>
          <a:xfrm>
            <a:off x="4773168" y="3852093"/>
            <a:ext cx="3749040" cy="219456"/>
          </a:xfrm>
          <a:prstGeom prst="rect">
            <a:avLst/>
          </a:prstGeom>
          <a:noFill/>
          <a:ln/>
        </p:spPr>
        <p:txBody>
          <a:bodyPr wrap="square" lIns="0" tIns="0" rIns="0" bIns="0" rtlCol="0" anchor="ctr"/>
          <a:lstStyle/>
          <a:p>
            <a:pPr marL="0" indent="0">
              <a:buNone/>
            </a:pPr>
            <a:r>
              <a:rPr lang="en-US" sz="950" b="1" dirty="0">
                <a:solidFill>
                  <a:srgbClr val="F59E0B"/>
                </a:solidFill>
              </a:rPr>
              <a:t>Oklo ($OKLO)</a:t>
            </a:r>
            <a:endParaRPr lang="en-US" sz="950" dirty="0"/>
          </a:p>
        </p:txBody>
      </p:sp>
      <p:sp>
        <p:nvSpPr>
          <p:cNvPr id="71" name="Text 69"/>
          <p:cNvSpPr/>
          <p:nvPr/>
        </p:nvSpPr>
        <p:spPr>
          <a:xfrm>
            <a:off x="4773168" y="4071549"/>
            <a:ext cx="3749040" cy="201168"/>
          </a:xfrm>
          <a:prstGeom prst="rect">
            <a:avLst/>
          </a:prstGeom>
          <a:noFill/>
          <a:ln/>
        </p:spPr>
        <p:txBody>
          <a:bodyPr wrap="square" lIns="0" tIns="0" rIns="0" bIns="0" rtlCol="0" anchor="ctr"/>
          <a:lstStyle/>
          <a:p>
            <a:pPr marL="0" indent="0">
              <a:buNone/>
            </a:pPr>
            <a:r>
              <a:rPr lang="en-US" sz="750" dirty="0">
                <a:solidFill>
                  <a:srgbClr val="E2E8F5"/>
                </a:solidFill>
              </a:rPr>
              <a:t>MOAT: First advanced fission company with a signed commercial agreement. Moat is REGULATORY: NRC</a:t>
            </a:r>
            <a:endParaRPr lang="en-US" sz="750" dirty="0"/>
          </a:p>
        </p:txBody>
      </p:sp>
      <p:sp>
        <p:nvSpPr>
          <p:cNvPr id="72" name="Text 70"/>
          <p:cNvSpPr/>
          <p:nvPr/>
        </p:nvSpPr>
        <p:spPr>
          <a:xfrm>
            <a:off x="4773168" y="4272717"/>
            <a:ext cx="3749040" cy="256032"/>
          </a:xfrm>
          <a:prstGeom prst="rect">
            <a:avLst/>
          </a:prstGeom>
          <a:noFill/>
          <a:ln/>
        </p:spPr>
        <p:txBody>
          <a:bodyPr wrap="square" lIns="0" tIns="0" rIns="0" bIns="0" rtlCol="0" anchor="ctr"/>
          <a:lstStyle/>
          <a:p>
            <a:pPr marL="0" indent="0">
              <a:buNone/>
            </a:pPr>
            <a:r>
              <a:rPr lang="en-US" sz="750" dirty="0">
                <a:solidFill>
                  <a:srgbClr val="64748B"/>
                </a:solidFill>
              </a:rPr>
              <a:t>BUSINESS: Micro-nuclear reactors for on-site data center power — 10-year build cycle</a:t>
            </a:r>
            <a:endParaRPr lang="en-US" sz="750" dirty="0"/>
          </a:p>
        </p:txBody>
      </p:sp>
      <p:sp>
        <p:nvSpPr>
          <p:cNvPr id="73" name="Shape 71"/>
          <p:cNvSpPr/>
          <p:nvPr/>
        </p:nvSpPr>
        <p:spPr>
          <a:xfrm>
            <a:off x="384048" y="4620189"/>
            <a:ext cx="8321040" cy="201168"/>
          </a:xfrm>
          <a:prstGeom prst="roundRect">
            <a:avLst>
              <a:gd name="adj" fmla="val 18182"/>
            </a:avLst>
          </a:prstGeom>
          <a:solidFill>
            <a:srgbClr val="111830"/>
          </a:solidFill>
          <a:ln/>
        </p:spPr>
      </p:sp>
      <p:sp>
        <p:nvSpPr>
          <p:cNvPr id="74" name="Text 72"/>
          <p:cNvSpPr/>
          <p:nvPr/>
        </p:nvSpPr>
        <p:spPr>
          <a:xfrm>
            <a:off x="502920" y="4598418"/>
            <a:ext cx="8138160" cy="274320"/>
          </a:xfrm>
          <a:prstGeom prst="rect">
            <a:avLst/>
          </a:prstGeom>
          <a:noFill/>
          <a:ln/>
        </p:spPr>
        <p:txBody>
          <a:bodyPr wrap="square" lIns="0" tIns="0" rIns="0" bIns="0" rtlCol="0" anchor="ctr"/>
          <a:lstStyle/>
          <a:p>
            <a:pPr marL="0" indent="0">
              <a:buNone/>
            </a:pPr>
            <a:r>
              <a:rPr lang="en-US" sz="750" dirty="0">
                <a:solidFill>
                  <a:srgbClr val="E2E8F5"/>
                </a:solidFill>
              </a:rPr>
              <a:t>Eos Energy ($EOSE) — MOAT: Zinc-based aqueous battery — no lithium, no cobalt, no flammable chemistry. Moat: safer chemistry enables indo — BUSINESS: Grid-scale battery storage; backup power for data centers; renewable firming</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9E0B"/>
          </a:solidFill>
          <a:ln/>
        </p:spPr>
      </p:sp>
      <p:sp>
        <p:nvSpPr>
          <p:cNvPr id="3" name="Text 1"/>
          <p:cNvSpPr/>
          <p:nvPr/>
        </p:nvSpPr>
        <p:spPr>
          <a:xfrm>
            <a:off x="320040" y="137160"/>
            <a:ext cx="6400800" cy="457200"/>
          </a:xfrm>
          <a:prstGeom prst="rect">
            <a:avLst/>
          </a:prstGeom>
          <a:noFill/>
          <a:ln/>
        </p:spPr>
        <p:txBody>
          <a:bodyPr wrap="square" lIns="0" tIns="0" rIns="0" bIns="0" rtlCol="0" anchor="ctr"/>
          <a:lstStyle/>
          <a:p>
            <a:pPr marL="0" indent="0">
              <a:buNone/>
            </a:pPr>
            <a:r>
              <a:rPr lang="en-US" sz="2200" b="1" dirty="0">
                <a:solidFill>
                  <a:srgbClr val="FFFFFF"/>
                </a:solidFill>
              </a:rPr>
              <a:t>ENERGY — STOCK PICKS</a:t>
            </a:r>
            <a:endParaRPr lang="en-US" sz="2200" dirty="0"/>
          </a:p>
        </p:txBody>
      </p:sp>
      <p:sp>
        <p:nvSpPr>
          <p:cNvPr id="4" name="Text 2"/>
          <p:cNvSpPr/>
          <p:nvPr/>
        </p:nvSpPr>
        <p:spPr>
          <a:xfrm>
            <a:off x="320040" y="594360"/>
            <a:ext cx="8229600" cy="274320"/>
          </a:xfrm>
          <a:prstGeom prst="rect">
            <a:avLst/>
          </a:prstGeom>
          <a:noFill/>
          <a:ln/>
        </p:spPr>
        <p:txBody>
          <a:bodyPr wrap="square" rtlCol="0" anchor="ctr"/>
          <a:lstStyle/>
          <a:p>
            <a:pPr marL="0" indent="0">
              <a:buNone/>
            </a:pPr>
            <a:r>
              <a:rPr lang="en-US" sz="1100" dirty="0">
                <a:solidFill>
                  <a:srgbClr val="94A3B8"/>
                </a:solidFill>
              </a:rPr>
              <a:t>Investment perspective &amp; analyst targets</a:t>
            </a:r>
            <a:endParaRPr lang="en-US" sz="1100" dirty="0"/>
          </a:p>
        </p:txBody>
      </p:sp>
      <p:sp>
        <p:nvSpPr>
          <p:cNvPr id="5" name="Shape 3"/>
          <p:cNvSpPr/>
          <p:nvPr/>
        </p:nvSpPr>
        <p:spPr>
          <a:xfrm>
            <a:off x="320040" y="96012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6" name="Shape 4"/>
          <p:cNvSpPr/>
          <p:nvPr/>
        </p:nvSpPr>
        <p:spPr>
          <a:xfrm>
            <a:off x="457200" y="1051560"/>
            <a:ext cx="1280160" cy="566928"/>
          </a:xfrm>
          <a:prstGeom prst="roundRect">
            <a:avLst>
              <a:gd name="adj" fmla="val 11290"/>
            </a:avLst>
          </a:prstGeom>
          <a:solidFill>
            <a:srgbClr val="F59E0B">
              <a:alpha val="85000"/>
            </a:srgbClr>
          </a:solidFill>
          <a:ln/>
        </p:spPr>
      </p:sp>
      <p:sp>
        <p:nvSpPr>
          <p:cNvPr id="7" name="Text 5"/>
          <p:cNvSpPr/>
          <p:nvPr/>
        </p:nvSpPr>
        <p:spPr>
          <a:xfrm>
            <a:off x="457200" y="105156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$CEG</a:t>
            </a:r>
            <a:endParaRPr lang="en-US" sz="1400" dirty="0"/>
          </a:p>
        </p:txBody>
      </p:sp>
      <p:sp>
        <p:nvSpPr>
          <p:cNvPr id="8" name="Text 6"/>
          <p:cNvSpPr/>
          <p:nvPr/>
        </p:nvSpPr>
        <p:spPr>
          <a:xfrm>
            <a:off x="457200" y="136245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Constellation Energy</a:t>
            </a:r>
            <a:endParaRPr lang="en-US" sz="750" dirty="0"/>
          </a:p>
        </p:txBody>
      </p:sp>
      <p:sp>
        <p:nvSpPr>
          <p:cNvPr id="9" name="Text 7"/>
          <p:cNvSpPr/>
          <p:nvPr/>
        </p:nvSpPr>
        <p:spPr>
          <a:xfrm>
            <a:off x="1920240" y="1051560"/>
            <a:ext cx="4846320" cy="566928"/>
          </a:xfrm>
          <a:prstGeom prst="rect">
            <a:avLst/>
          </a:prstGeom>
          <a:noFill/>
          <a:ln/>
        </p:spPr>
        <p:txBody>
          <a:bodyPr wrap="square" rtlCol="0" anchor="ctr"/>
          <a:lstStyle/>
          <a:p>
            <a:pPr marL="0" indent="0">
              <a:buNone/>
            </a:pPr>
            <a:r>
              <a:rPr lang="en-US" sz="1100" dirty="0">
                <a:solidFill>
                  <a:srgbClr val="F0F4FF"/>
                </a:solidFill>
              </a:rPr>
              <a:t>Largest nuclear operator in US; direct PPA deals with MSFT &amp; GOOGL</a:t>
            </a:r>
            <a:endParaRPr lang="en-US" sz="1100" dirty="0"/>
          </a:p>
        </p:txBody>
      </p:sp>
      <p:sp>
        <p:nvSpPr>
          <p:cNvPr id="14" name="Shape 12"/>
          <p:cNvSpPr/>
          <p:nvPr/>
        </p:nvSpPr>
        <p:spPr>
          <a:xfrm>
            <a:off x="8046720" y="1216152"/>
            <a:ext cx="237744" cy="237744"/>
          </a:xfrm>
          <a:prstGeom prst="ellipse">
            <a:avLst/>
          </a:prstGeom>
          <a:solidFill>
            <a:srgbClr val="F59E0B">
              <a:alpha val="30000"/>
            </a:srgbClr>
          </a:solidFill>
          <a:ln/>
        </p:spPr>
      </p:sp>
      <p:sp>
        <p:nvSpPr>
          <p:cNvPr id="15" name="Shape 13"/>
          <p:cNvSpPr/>
          <p:nvPr/>
        </p:nvSpPr>
        <p:spPr>
          <a:xfrm>
            <a:off x="320040" y="178308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6" name="Shape 14"/>
          <p:cNvSpPr/>
          <p:nvPr/>
        </p:nvSpPr>
        <p:spPr>
          <a:xfrm>
            <a:off x="457200" y="1874520"/>
            <a:ext cx="1280160" cy="566928"/>
          </a:xfrm>
          <a:prstGeom prst="roundRect">
            <a:avLst>
              <a:gd name="adj" fmla="val 11290"/>
            </a:avLst>
          </a:prstGeom>
          <a:solidFill>
            <a:srgbClr val="F59E0B">
              <a:alpha val="85000"/>
            </a:srgbClr>
          </a:solidFill>
          <a:ln/>
        </p:spPr>
      </p:sp>
      <p:sp>
        <p:nvSpPr>
          <p:cNvPr id="17" name="Text 15"/>
          <p:cNvSpPr/>
          <p:nvPr/>
        </p:nvSpPr>
        <p:spPr>
          <a:xfrm>
            <a:off x="457200" y="187452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$VST</a:t>
            </a:r>
            <a:endParaRPr lang="en-US" sz="1400" dirty="0"/>
          </a:p>
        </p:txBody>
      </p:sp>
      <p:sp>
        <p:nvSpPr>
          <p:cNvPr id="18" name="Text 16"/>
          <p:cNvSpPr/>
          <p:nvPr/>
        </p:nvSpPr>
        <p:spPr>
          <a:xfrm>
            <a:off x="457200" y="218541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Vistra Energy</a:t>
            </a:r>
            <a:endParaRPr lang="en-US" sz="750" dirty="0"/>
          </a:p>
        </p:txBody>
      </p:sp>
      <p:sp>
        <p:nvSpPr>
          <p:cNvPr id="19" name="Text 17"/>
          <p:cNvSpPr/>
          <p:nvPr/>
        </p:nvSpPr>
        <p:spPr>
          <a:xfrm>
            <a:off x="1920240" y="1874520"/>
            <a:ext cx="4846320" cy="566928"/>
          </a:xfrm>
          <a:prstGeom prst="rect">
            <a:avLst/>
          </a:prstGeom>
          <a:noFill/>
          <a:ln/>
        </p:spPr>
        <p:txBody>
          <a:bodyPr wrap="square" rtlCol="0" anchor="ctr"/>
          <a:lstStyle/>
          <a:p>
            <a:pPr marL="0" indent="0">
              <a:buNone/>
            </a:pPr>
            <a:r>
              <a:rPr lang="en-US" sz="1100" dirty="0">
                <a:solidFill>
                  <a:srgbClr val="F0F4FF"/>
                </a:solidFill>
              </a:rPr>
              <a:t>Diversified power with nuclear + gas mix; strong FCF generation</a:t>
            </a:r>
            <a:endParaRPr lang="en-US" sz="1100" dirty="0"/>
          </a:p>
        </p:txBody>
      </p:sp>
      <p:sp>
        <p:nvSpPr>
          <p:cNvPr id="24" name="Shape 22"/>
          <p:cNvSpPr/>
          <p:nvPr/>
        </p:nvSpPr>
        <p:spPr>
          <a:xfrm>
            <a:off x="8046720" y="2039112"/>
            <a:ext cx="237744" cy="237744"/>
          </a:xfrm>
          <a:prstGeom prst="ellipse">
            <a:avLst/>
          </a:prstGeom>
          <a:solidFill>
            <a:srgbClr val="F59E0B">
              <a:alpha val="30000"/>
            </a:srgbClr>
          </a:solidFill>
          <a:ln/>
        </p:spPr>
      </p:sp>
      <p:sp>
        <p:nvSpPr>
          <p:cNvPr id="25" name="Shape 23"/>
          <p:cNvSpPr/>
          <p:nvPr/>
        </p:nvSpPr>
        <p:spPr>
          <a:xfrm>
            <a:off x="320040" y="260604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26" name="Shape 24"/>
          <p:cNvSpPr/>
          <p:nvPr/>
        </p:nvSpPr>
        <p:spPr>
          <a:xfrm>
            <a:off x="457200" y="2697480"/>
            <a:ext cx="1280160" cy="566928"/>
          </a:xfrm>
          <a:prstGeom prst="roundRect">
            <a:avLst>
              <a:gd name="adj" fmla="val 11290"/>
            </a:avLst>
          </a:prstGeom>
          <a:solidFill>
            <a:srgbClr val="F59E0B">
              <a:alpha val="85000"/>
            </a:srgbClr>
          </a:solidFill>
          <a:ln/>
        </p:spPr>
      </p:sp>
      <p:sp>
        <p:nvSpPr>
          <p:cNvPr id="27" name="Text 25"/>
          <p:cNvSpPr/>
          <p:nvPr/>
        </p:nvSpPr>
        <p:spPr>
          <a:xfrm>
            <a:off x="457200" y="269748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$OKLO</a:t>
            </a:r>
            <a:endParaRPr lang="en-US" sz="1400" dirty="0"/>
          </a:p>
        </p:txBody>
      </p:sp>
      <p:sp>
        <p:nvSpPr>
          <p:cNvPr id="28" name="Text 26"/>
          <p:cNvSpPr/>
          <p:nvPr/>
        </p:nvSpPr>
        <p:spPr>
          <a:xfrm>
            <a:off x="457200" y="300837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Oklo Inc.</a:t>
            </a:r>
            <a:endParaRPr lang="en-US" sz="750" dirty="0"/>
          </a:p>
        </p:txBody>
      </p:sp>
      <p:sp>
        <p:nvSpPr>
          <p:cNvPr id="29" name="Text 27"/>
          <p:cNvSpPr/>
          <p:nvPr/>
        </p:nvSpPr>
        <p:spPr>
          <a:xfrm>
            <a:off x="1920240" y="2697480"/>
            <a:ext cx="4846320" cy="566928"/>
          </a:xfrm>
          <a:prstGeom prst="rect">
            <a:avLst/>
          </a:prstGeom>
          <a:noFill/>
          <a:ln/>
        </p:spPr>
        <p:txBody>
          <a:bodyPr wrap="square" rtlCol="0" anchor="ctr"/>
          <a:lstStyle/>
          <a:p>
            <a:pPr marL="0" indent="0">
              <a:buNone/>
            </a:pPr>
            <a:r>
              <a:rPr lang="en-US" sz="1100" dirty="0">
                <a:solidFill>
                  <a:srgbClr val="F0F4FF"/>
                </a:solidFill>
              </a:rPr>
              <a:t>Small modular reactor (SMR) pure-play; high-risk, high-reward</a:t>
            </a:r>
            <a:endParaRPr lang="en-US" sz="1100" dirty="0"/>
          </a:p>
        </p:txBody>
      </p:sp>
      <p:sp>
        <p:nvSpPr>
          <p:cNvPr id="34" name="Shape 32"/>
          <p:cNvSpPr/>
          <p:nvPr/>
        </p:nvSpPr>
        <p:spPr>
          <a:xfrm>
            <a:off x="8046720" y="2862072"/>
            <a:ext cx="237744" cy="237744"/>
          </a:xfrm>
          <a:prstGeom prst="ellipse">
            <a:avLst/>
          </a:prstGeom>
          <a:solidFill>
            <a:srgbClr val="F59E0B">
              <a:alpha val="30000"/>
            </a:srgbClr>
          </a:solidFill>
          <a:ln/>
        </p:spPr>
      </p:sp>
      <p:sp>
        <p:nvSpPr>
          <p:cNvPr id="35" name="Shape 33"/>
          <p:cNvSpPr/>
          <p:nvPr/>
        </p:nvSpPr>
        <p:spPr>
          <a:xfrm>
            <a:off x="320040" y="342900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36" name="Shape 34"/>
          <p:cNvSpPr/>
          <p:nvPr/>
        </p:nvSpPr>
        <p:spPr>
          <a:xfrm>
            <a:off x="457200" y="3520440"/>
            <a:ext cx="1280160" cy="566928"/>
          </a:xfrm>
          <a:prstGeom prst="roundRect">
            <a:avLst>
              <a:gd name="adj" fmla="val 11290"/>
            </a:avLst>
          </a:prstGeom>
          <a:solidFill>
            <a:srgbClr val="F59E0B">
              <a:alpha val="85000"/>
            </a:srgbClr>
          </a:solidFill>
          <a:ln/>
        </p:spPr>
      </p:sp>
      <p:sp>
        <p:nvSpPr>
          <p:cNvPr id="37" name="Text 35"/>
          <p:cNvSpPr/>
          <p:nvPr/>
        </p:nvSpPr>
        <p:spPr>
          <a:xfrm>
            <a:off x="457200" y="352044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$EOSE</a:t>
            </a:r>
            <a:endParaRPr lang="en-US" sz="1400" dirty="0"/>
          </a:p>
        </p:txBody>
      </p:sp>
      <p:sp>
        <p:nvSpPr>
          <p:cNvPr id="38" name="Text 36"/>
          <p:cNvSpPr/>
          <p:nvPr/>
        </p:nvSpPr>
        <p:spPr>
          <a:xfrm>
            <a:off x="457200" y="383133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Eos Energy</a:t>
            </a:r>
            <a:endParaRPr lang="en-US" sz="750" dirty="0"/>
          </a:p>
        </p:txBody>
      </p:sp>
      <p:sp>
        <p:nvSpPr>
          <p:cNvPr id="39" name="Text 37"/>
          <p:cNvSpPr/>
          <p:nvPr/>
        </p:nvSpPr>
        <p:spPr>
          <a:xfrm>
            <a:off x="1920240" y="3520440"/>
            <a:ext cx="4846320" cy="566928"/>
          </a:xfrm>
          <a:prstGeom prst="rect">
            <a:avLst/>
          </a:prstGeom>
          <a:noFill/>
          <a:ln/>
        </p:spPr>
        <p:txBody>
          <a:bodyPr wrap="square" rtlCol="0" anchor="ctr"/>
          <a:lstStyle/>
          <a:p>
            <a:pPr marL="0" indent="0">
              <a:buNone/>
            </a:pPr>
            <a:r>
              <a:rPr lang="en-US" sz="1100" dirty="0">
                <a:solidFill>
                  <a:srgbClr val="F0F4FF"/>
                </a:solidFill>
              </a:rPr>
              <a:t>Zinc-based battery storage; grid-scale solutions for data centers</a:t>
            </a:r>
            <a:endParaRPr lang="en-US" sz="1100" dirty="0"/>
          </a:p>
        </p:txBody>
      </p:sp>
      <p:sp>
        <p:nvSpPr>
          <p:cNvPr id="44" name="Shape 42"/>
          <p:cNvSpPr/>
          <p:nvPr/>
        </p:nvSpPr>
        <p:spPr>
          <a:xfrm>
            <a:off x="8046720" y="3685032"/>
            <a:ext cx="237744" cy="237744"/>
          </a:xfrm>
          <a:prstGeom prst="ellipse">
            <a:avLst/>
          </a:prstGeom>
          <a:solidFill>
            <a:srgbClr val="F59E0B">
              <a:alpha val="30000"/>
            </a:srgbClr>
          </a:solidFill>
          <a:ln/>
        </p:spPr>
      </p:sp>
      <p:sp>
        <p:nvSpPr>
          <p:cNvPr id="45" name="Shape 43"/>
          <p:cNvSpPr/>
          <p:nvPr/>
        </p:nvSpPr>
        <p:spPr>
          <a:xfrm>
            <a:off x="320040" y="425196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46" name="Shape 44"/>
          <p:cNvSpPr/>
          <p:nvPr/>
        </p:nvSpPr>
        <p:spPr>
          <a:xfrm>
            <a:off x="457200" y="4343400"/>
            <a:ext cx="1280160" cy="566928"/>
          </a:xfrm>
          <a:prstGeom prst="roundRect">
            <a:avLst>
              <a:gd name="adj" fmla="val 11290"/>
            </a:avLst>
          </a:prstGeom>
          <a:solidFill>
            <a:srgbClr val="F59E0B">
              <a:alpha val="85000"/>
            </a:srgbClr>
          </a:solidFill>
          <a:ln/>
        </p:spPr>
      </p:sp>
      <p:sp>
        <p:nvSpPr>
          <p:cNvPr id="47" name="Text 45"/>
          <p:cNvSpPr/>
          <p:nvPr/>
        </p:nvSpPr>
        <p:spPr>
          <a:xfrm>
            <a:off x="457200" y="434340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$GEV</a:t>
            </a:r>
            <a:endParaRPr lang="en-US" sz="1400" dirty="0"/>
          </a:p>
        </p:txBody>
      </p:sp>
      <p:sp>
        <p:nvSpPr>
          <p:cNvPr id="48" name="Text 46"/>
          <p:cNvSpPr/>
          <p:nvPr/>
        </p:nvSpPr>
        <p:spPr>
          <a:xfrm>
            <a:off x="457200" y="465429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GE Vernova</a:t>
            </a:r>
            <a:endParaRPr lang="en-US" sz="750" dirty="0"/>
          </a:p>
        </p:txBody>
      </p:sp>
      <p:sp>
        <p:nvSpPr>
          <p:cNvPr id="49" name="Text 47"/>
          <p:cNvSpPr/>
          <p:nvPr/>
        </p:nvSpPr>
        <p:spPr>
          <a:xfrm>
            <a:off x="1920240" y="4343400"/>
            <a:ext cx="4846320" cy="566928"/>
          </a:xfrm>
          <a:prstGeom prst="rect">
            <a:avLst/>
          </a:prstGeom>
          <a:noFill/>
          <a:ln/>
        </p:spPr>
        <p:txBody>
          <a:bodyPr wrap="square" rtlCol="0" anchor="ctr"/>
          <a:lstStyle/>
          <a:p>
            <a:pPr marL="0" indent="0">
              <a:buNone/>
            </a:pPr>
            <a:r>
              <a:rPr lang="en-US" sz="1100" dirty="0">
                <a:solidFill>
                  <a:srgbClr val="F0F4FF"/>
                </a:solidFill>
              </a:rPr>
              <a:t>Gas turbines &amp; grid infrastructure; beneficiary of data center buildout</a:t>
            </a:r>
            <a:endParaRPr lang="en-US" sz="1100" dirty="0"/>
          </a:p>
        </p:txBody>
      </p:sp>
      <p:sp>
        <p:nvSpPr>
          <p:cNvPr id="54" name="Shape 52"/>
          <p:cNvSpPr/>
          <p:nvPr/>
        </p:nvSpPr>
        <p:spPr>
          <a:xfrm>
            <a:off x="8046720" y="4507992"/>
            <a:ext cx="237744" cy="237744"/>
          </a:xfrm>
          <a:prstGeom prst="ellipse">
            <a:avLst/>
          </a:prstGeom>
          <a:solidFill>
            <a:srgbClr val="F59E0B">
              <a:alpha val="30000"/>
            </a:srgbClr>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651510"/>
          </a:xfrm>
          <a:prstGeom prst="rect">
            <a:avLst/>
          </a:prstGeom>
          <a:solidFill>
            <a:srgbClr val="101828"/>
          </a:solidFill>
          <a:ln/>
        </p:spPr>
      </p:sp>
      <p:sp>
        <p:nvSpPr>
          <p:cNvPr id="3" name="Text 1"/>
          <p:cNvSpPr/>
          <p:nvPr/>
        </p:nvSpPr>
        <p:spPr>
          <a:xfrm>
            <a:off x="240030" y="54864"/>
            <a:ext cx="6172200" cy="514350"/>
          </a:xfrm>
          <a:prstGeom prst="rect">
            <a:avLst/>
          </a:prstGeom>
          <a:noFill/>
          <a:ln/>
        </p:spPr>
        <p:txBody>
          <a:bodyPr wrap="square" lIns="0" tIns="0" rIns="0" bIns="0" rtlCol="0" anchor="ctr"/>
          <a:lstStyle/>
          <a:p>
            <a:r>
              <a:rPr lang="en-US" sz="1650" b="1" dirty="0">
                <a:solidFill>
                  <a:srgbClr val="22D3EE"/>
                </a:solidFill>
                <a:latin typeface="Calibri" pitchFamily="34" charset="0"/>
                <a:ea typeface="Calibri" pitchFamily="34" charset="-122"/>
                <a:cs typeface="Calibri" pitchFamily="34" charset="-120"/>
              </a:rPr>
              <a:t>ENERGY</a:t>
            </a:r>
            <a:endParaRPr lang="en-US" sz="1650" dirty="0"/>
          </a:p>
        </p:txBody>
      </p:sp>
      <p:sp>
        <p:nvSpPr>
          <p:cNvPr id="4" name="Text 2"/>
          <p:cNvSpPr/>
          <p:nvPr/>
        </p:nvSpPr>
        <p:spPr>
          <a:xfrm>
            <a:off x="240030" y="377190"/>
            <a:ext cx="8229600" cy="260604"/>
          </a:xfrm>
          <a:prstGeom prst="rect">
            <a:avLst/>
          </a:prstGeom>
          <a:noFill/>
          <a:ln/>
        </p:spPr>
        <p:txBody>
          <a:bodyPr wrap="square" lIns="0" tIns="0" rIns="0" bIns="0" rtlCol="0" anchor="ctr"/>
          <a:lstStyle/>
          <a:p>
            <a:r>
              <a:rPr lang="en-US" sz="825" dirty="0">
                <a:solidFill>
                  <a:srgbClr val="94A3B8"/>
                </a:solidFill>
                <a:latin typeface="Calibri" pitchFamily="34" charset="0"/>
                <a:ea typeface="Calibri" pitchFamily="34" charset="-122"/>
                <a:cs typeface="Calibri" pitchFamily="34" charset="-120"/>
              </a:rPr>
              <a:t>CEG · VST · OKLO · EOSE · GEV  |  Powering the AI Revolution</a:t>
            </a:r>
            <a:endParaRPr lang="en-US" sz="825" dirty="0"/>
          </a:p>
        </p:txBody>
      </p:sp>
      <p:sp>
        <p:nvSpPr>
          <p:cNvPr id="7" name="Shape 5"/>
          <p:cNvSpPr/>
          <p:nvPr/>
        </p:nvSpPr>
        <p:spPr>
          <a:xfrm>
            <a:off x="240030" y="720090"/>
            <a:ext cx="1234440" cy="192024"/>
          </a:xfrm>
          <a:prstGeom prst="roundRect">
            <a:avLst>
              <a:gd name="adj" fmla="val 17857"/>
            </a:avLst>
          </a:prstGeom>
          <a:solidFill>
            <a:srgbClr val="22D3EE">
              <a:alpha val="80000"/>
            </a:srgbClr>
          </a:solidFill>
          <a:ln/>
        </p:spPr>
      </p:sp>
      <p:sp>
        <p:nvSpPr>
          <p:cNvPr id="8" name="Text 6"/>
          <p:cNvSpPr/>
          <p:nvPr/>
        </p:nvSpPr>
        <p:spPr>
          <a:xfrm>
            <a:off x="240030" y="720090"/>
            <a:ext cx="1234440" cy="192024"/>
          </a:xfrm>
          <a:prstGeom prst="rect">
            <a:avLst/>
          </a:prstGeom>
          <a:noFill/>
          <a:ln/>
        </p:spPr>
        <p:txBody>
          <a:bodyPr wrap="square" lIns="0" tIns="0" rIns="0" bIns="0" rtlCol="0" anchor="ctr"/>
          <a:lstStyle/>
          <a:p>
            <a:pPr algn="ctr"/>
            <a:r>
              <a:rPr lang="en-US" sz="638" b="1" dirty="0">
                <a:solidFill>
                  <a:srgbClr val="FFFFFF"/>
                </a:solidFill>
                <a:latin typeface="Calibri" pitchFamily="34" charset="0"/>
                <a:ea typeface="Calibri" pitchFamily="34" charset="-122"/>
                <a:cs typeface="Calibri" pitchFamily="34" charset="-120"/>
              </a:rPr>
              <a:t>ENERGY LAYER</a:t>
            </a:r>
            <a:endParaRPr lang="en-US" sz="638" dirty="0"/>
          </a:p>
        </p:txBody>
      </p:sp>
      <p:sp>
        <p:nvSpPr>
          <p:cNvPr id="9" name="Text 7"/>
          <p:cNvSpPr/>
          <p:nvPr/>
        </p:nvSpPr>
        <p:spPr>
          <a:xfrm>
            <a:off x="112616" y="1097279"/>
            <a:ext cx="8641080" cy="308610"/>
          </a:xfrm>
          <a:prstGeom prst="rect">
            <a:avLst/>
          </a:prstGeom>
          <a:noFill/>
          <a:ln/>
        </p:spPr>
        <p:txBody>
          <a:bodyPr wrap="square" lIns="0" tIns="0" rIns="0" bIns="0" rtlCol="0" anchor="ctr"/>
          <a:lstStyle/>
          <a:p>
            <a:r>
              <a:rPr lang="en-US" sz="825" dirty="0">
                <a:solidFill>
                  <a:schemeClr val="bg1"/>
                </a:solidFill>
                <a:latin typeface="Calibri" pitchFamily="34" charset="0"/>
                <a:ea typeface="Calibri" pitchFamily="34" charset="-122"/>
                <a:cs typeface="Calibri" pitchFamily="34" charset="-120"/>
              </a:rPr>
              <a:t>AI data centers consume 10–50x more power per sq ft than traditional data centers. A single hyperscale campus can require 500–1,000 MW — equal to entire cities. Clean, reliable, 24/7 power is now the #1 infrastructure constraint.</a:t>
            </a:r>
            <a:endParaRPr lang="en-US" sz="825" dirty="0">
              <a:solidFill>
                <a:schemeClr val="bg1"/>
              </a:solidFill>
            </a:endParaRPr>
          </a:p>
        </p:txBody>
      </p:sp>
      <p:grpSp>
        <p:nvGrpSpPr>
          <p:cNvPr id="75" name="Group 74">
            <a:extLst>
              <a:ext uri="{FF2B5EF4-FFF2-40B4-BE49-F238E27FC236}">
                <a16:creationId xmlns:a16="http://schemas.microsoft.com/office/drawing/2014/main" id="{AD0854BA-2A42-5E09-04F2-7F4909961603}"/>
              </a:ext>
            </a:extLst>
          </p:cNvPr>
          <p:cNvGrpSpPr/>
          <p:nvPr/>
        </p:nvGrpSpPr>
        <p:grpSpPr>
          <a:xfrm>
            <a:off x="104736" y="1529334"/>
            <a:ext cx="8888027" cy="3470148"/>
            <a:chOff x="139647" y="2039112"/>
            <a:chExt cx="11850703" cy="4626864"/>
          </a:xfrm>
        </p:grpSpPr>
        <p:sp>
          <p:nvSpPr>
            <p:cNvPr id="10" name="Shape 8"/>
            <p:cNvSpPr/>
            <p:nvPr/>
          </p:nvSpPr>
          <p:spPr>
            <a:xfrm>
              <a:off x="139647" y="2048256"/>
              <a:ext cx="3931920" cy="2194560"/>
            </a:xfrm>
            <a:prstGeom prst="roundRect">
              <a:avLst>
                <a:gd name="adj" fmla="val 3333"/>
              </a:avLst>
            </a:prstGeom>
            <a:solidFill>
              <a:srgbClr val="131F35"/>
            </a:solidFill>
            <a:ln/>
            <a:effectLst>
              <a:outerShdw blurRad="127000" dist="38100" dir="2700000" algn="bl" rotWithShape="0">
                <a:srgbClr val="000000">
                  <a:alpha val="30000"/>
                </a:srgbClr>
              </a:outerShdw>
            </a:effectLst>
          </p:spPr>
        </p:sp>
        <p:sp>
          <p:nvSpPr>
            <p:cNvPr id="11" name="Shape 9"/>
            <p:cNvSpPr/>
            <p:nvPr/>
          </p:nvSpPr>
          <p:spPr>
            <a:xfrm>
              <a:off x="249375" y="2139696"/>
              <a:ext cx="347472" cy="347472"/>
            </a:xfrm>
            <a:prstGeom prst="ellipse">
              <a:avLst/>
            </a:prstGeom>
            <a:solidFill>
              <a:srgbClr val="F5C842"/>
            </a:solidFill>
            <a:ln/>
          </p:spPr>
        </p:sp>
        <p:sp>
          <p:nvSpPr>
            <p:cNvPr id="12" name="Text 10"/>
            <p:cNvSpPr/>
            <p:nvPr/>
          </p:nvSpPr>
          <p:spPr>
            <a:xfrm>
              <a:off x="249375" y="2139696"/>
              <a:ext cx="347472" cy="347472"/>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#1</a:t>
              </a:r>
              <a:endParaRPr lang="en-US" sz="825" dirty="0"/>
            </a:p>
          </p:txBody>
        </p:sp>
        <p:sp>
          <p:nvSpPr>
            <p:cNvPr id="13" name="Text 11"/>
            <p:cNvSpPr/>
            <p:nvPr/>
          </p:nvSpPr>
          <p:spPr>
            <a:xfrm>
              <a:off x="688287" y="2121408"/>
              <a:ext cx="1371600" cy="320040"/>
            </a:xfrm>
            <a:prstGeom prst="rect">
              <a:avLst/>
            </a:prstGeom>
            <a:noFill/>
            <a:ln/>
          </p:spPr>
          <p:txBody>
            <a:bodyPr wrap="square" lIns="0" tIns="0" rIns="0" bIns="0" rtlCol="0" anchor="ctr"/>
            <a:lstStyle/>
            <a:p>
              <a:r>
                <a:rPr lang="en-US" sz="1200" b="1" dirty="0">
                  <a:solidFill>
                    <a:srgbClr val="22D3EE"/>
                  </a:solidFill>
                  <a:latin typeface="Cambria" pitchFamily="34" charset="0"/>
                  <a:ea typeface="Cambria" pitchFamily="34" charset="-122"/>
                  <a:cs typeface="Cambria" pitchFamily="34" charset="-120"/>
                </a:rPr>
                <a:t>CEG</a:t>
              </a:r>
              <a:endParaRPr lang="en-US" sz="1200" dirty="0"/>
            </a:p>
          </p:txBody>
        </p:sp>
        <p:sp>
          <p:nvSpPr>
            <p:cNvPr id="14" name="Text 12"/>
            <p:cNvSpPr/>
            <p:nvPr/>
          </p:nvSpPr>
          <p:spPr>
            <a:xfrm>
              <a:off x="688287" y="2432304"/>
              <a:ext cx="3108960" cy="256032"/>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Constellation Energy</a:t>
              </a:r>
              <a:endParaRPr lang="en-US" sz="638" dirty="0"/>
            </a:p>
          </p:txBody>
        </p:sp>
        <p:sp>
          <p:nvSpPr>
            <p:cNvPr id="15" name="Text 13"/>
            <p:cNvSpPr/>
            <p:nvPr/>
          </p:nvSpPr>
          <p:spPr>
            <a:xfrm>
              <a:off x="276807" y="2761488"/>
              <a:ext cx="548640" cy="228600"/>
            </a:xfrm>
            <a:prstGeom prst="rect">
              <a:avLst/>
            </a:prstGeom>
            <a:noFill/>
            <a:ln/>
          </p:spPr>
          <p:txBody>
            <a:bodyPr wrap="square" lIns="0" tIns="0" rIns="0" bIns="0" rtlCol="0" anchor="ctr"/>
            <a:lstStyle/>
            <a:p>
              <a:r>
                <a:rPr lang="en-US" sz="600" b="1" dirty="0">
                  <a:solidFill>
                    <a:srgbClr val="22D3EE"/>
                  </a:solidFill>
                  <a:latin typeface="Calibri" pitchFamily="34" charset="0"/>
                  <a:ea typeface="Calibri" pitchFamily="34" charset="-122"/>
                  <a:cs typeface="Calibri" pitchFamily="34" charset="-120"/>
                </a:rPr>
                <a:t>Moat: </a:t>
              </a:r>
              <a:endParaRPr lang="en-US" sz="600" dirty="0"/>
            </a:p>
          </p:txBody>
        </p:sp>
        <p:sp>
          <p:nvSpPr>
            <p:cNvPr id="16" name="Text 14"/>
            <p:cNvSpPr/>
            <p:nvPr/>
          </p:nvSpPr>
          <p:spPr>
            <a:xfrm>
              <a:off x="798015" y="2761488"/>
              <a:ext cx="3108960" cy="36576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Only US operator of 100% nuclear fleet at scale (21 plants, ~22 GW). Zero-carbon, always-on baseload — exactly what hyperscalers need.</a:t>
              </a:r>
              <a:endParaRPr lang="en-US" sz="675" dirty="0"/>
            </a:p>
          </p:txBody>
        </p:sp>
        <p:sp>
          <p:nvSpPr>
            <p:cNvPr id="17" name="Text 15"/>
            <p:cNvSpPr/>
            <p:nvPr/>
          </p:nvSpPr>
          <p:spPr>
            <a:xfrm>
              <a:off x="276807" y="3163824"/>
              <a:ext cx="731520" cy="228600"/>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18" name="Text 16"/>
            <p:cNvSpPr/>
            <p:nvPr/>
          </p:nvSpPr>
          <p:spPr>
            <a:xfrm>
              <a:off x="962607" y="3163824"/>
              <a:ext cx="2926080" cy="36576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20-year Microsoft Three Mile Island restart deal. 20-year Meta nuclear PPA. $26.6B Calpine acquisition adds gas backup. $460B cloud contract backlog visibility.</a:t>
              </a:r>
              <a:endParaRPr lang="en-US" sz="675" dirty="0"/>
            </a:p>
          </p:txBody>
        </p:sp>
        <p:sp>
          <p:nvSpPr>
            <p:cNvPr id="19" name="Text 17"/>
            <p:cNvSpPr/>
            <p:nvPr/>
          </p:nvSpPr>
          <p:spPr>
            <a:xfrm>
              <a:off x="276807" y="3566160"/>
              <a:ext cx="502920" cy="228600"/>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20" name="Text 18"/>
            <p:cNvSpPr/>
            <p:nvPr/>
          </p:nvSpPr>
          <p:spPr>
            <a:xfrm>
              <a:off x="752295" y="3566160"/>
              <a:ext cx="3154680" cy="32004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Regulatory risk on nuclear restarts. High capex for Crane Clean Energy Center. Interest rate sensitivity on long-term PPAs.</a:t>
              </a:r>
              <a:endParaRPr lang="en-US" sz="675" dirty="0"/>
            </a:p>
          </p:txBody>
        </p:sp>
        <p:sp>
          <p:nvSpPr>
            <p:cNvPr id="21" name="Text 19"/>
            <p:cNvSpPr/>
            <p:nvPr/>
          </p:nvSpPr>
          <p:spPr>
            <a:xfrm>
              <a:off x="249375" y="3922776"/>
              <a:ext cx="3703320" cy="256032"/>
            </a:xfrm>
            <a:prstGeom prst="rect">
              <a:avLst/>
            </a:prstGeom>
            <a:noFill/>
            <a:ln/>
          </p:spPr>
          <p:txBody>
            <a:bodyPr wrap="square" lIns="0" tIns="0" rIns="0" bIns="0" rtlCol="0" anchor="ctr"/>
            <a:lstStyle/>
            <a:p>
              <a:r>
                <a:rPr lang="en-US" sz="600" b="1" dirty="0">
                  <a:solidFill>
                    <a:srgbClr val="F5C842"/>
                  </a:solidFill>
                  <a:latin typeface="Calibri" pitchFamily="34" charset="0"/>
                  <a:ea typeface="Calibri" pitchFamily="34" charset="-122"/>
                  <a:cs typeface="Calibri" pitchFamily="34" charset="-120"/>
                </a:rPr>
                <a:t>STANDOUT WINNER. Nuclear is the only 24/7 carbon-free power source that can scale to meet AI demands. CEG has the fleet, the contracts, and the regulatory relationships.</a:t>
              </a:r>
              <a:endParaRPr lang="en-US" sz="600" dirty="0"/>
            </a:p>
          </p:txBody>
        </p:sp>
        <p:sp>
          <p:nvSpPr>
            <p:cNvPr id="22" name="Shape 20"/>
            <p:cNvSpPr/>
            <p:nvPr/>
          </p:nvSpPr>
          <p:spPr>
            <a:xfrm>
              <a:off x="4127714" y="2039112"/>
              <a:ext cx="3931920" cy="2194560"/>
            </a:xfrm>
            <a:prstGeom prst="roundRect">
              <a:avLst>
                <a:gd name="adj" fmla="val 3333"/>
              </a:avLst>
            </a:prstGeom>
            <a:solidFill>
              <a:srgbClr val="131F35"/>
            </a:solidFill>
            <a:ln/>
            <a:effectLst>
              <a:outerShdw blurRad="127000" dist="38100" dir="2700000" algn="bl" rotWithShape="0">
                <a:srgbClr val="000000">
                  <a:alpha val="30000"/>
                </a:srgbClr>
              </a:outerShdw>
            </a:effectLst>
          </p:spPr>
        </p:sp>
        <p:sp>
          <p:nvSpPr>
            <p:cNvPr id="23" name="Shape 21"/>
            <p:cNvSpPr/>
            <p:nvPr/>
          </p:nvSpPr>
          <p:spPr>
            <a:xfrm>
              <a:off x="4237442" y="2130552"/>
              <a:ext cx="347472" cy="347472"/>
            </a:xfrm>
            <a:prstGeom prst="ellipse">
              <a:avLst/>
            </a:prstGeom>
            <a:solidFill>
              <a:srgbClr val="4F9CF9"/>
            </a:solidFill>
            <a:ln/>
          </p:spPr>
        </p:sp>
        <p:sp>
          <p:nvSpPr>
            <p:cNvPr id="24" name="Text 22"/>
            <p:cNvSpPr/>
            <p:nvPr/>
          </p:nvSpPr>
          <p:spPr>
            <a:xfrm>
              <a:off x="4237442" y="2130552"/>
              <a:ext cx="347472" cy="347472"/>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#2</a:t>
              </a:r>
              <a:endParaRPr lang="en-US" sz="825" dirty="0"/>
            </a:p>
          </p:txBody>
        </p:sp>
        <p:sp>
          <p:nvSpPr>
            <p:cNvPr id="25" name="Text 23"/>
            <p:cNvSpPr/>
            <p:nvPr/>
          </p:nvSpPr>
          <p:spPr>
            <a:xfrm>
              <a:off x="4676354" y="2112264"/>
              <a:ext cx="1371600" cy="320040"/>
            </a:xfrm>
            <a:prstGeom prst="rect">
              <a:avLst/>
            </a:prstGeom>
            <a:noFill/>
            <a:ln/>
          </p:spPr>
          <p:txBody>
            <a:bodyPr wrap="square" lIns="0" tIns="0" rIns="0" bIns="0" rtlCol="0" anchor="ctr"/>
            <a:lstStyle/>
            <a:p>
              <a:r>
                <a:rPr lang="en-US" sz="1200" b="1" dirty="0">
                  <a:solidFill>
                    <a:srgbClr val="22D3EE"/>
                  </a:solidFill>
                  <a:latin typeface="Cambria" pitchFamily="34" charset="0"/>
                  <a:ea typeface="Cambria" pitchFamily="34" charset="-122"/>
                  <a:cs typeface="Cambria" pitchFamily="34" charset="-120"/>
                </a:rPr>
                <a:t>VST</a:t>
              </a:r>
              <a:endParaRPr lang="en-US" sz="1200" dirty="0"/>
            </a:p>
          </p:txBody>
        </p:sp>
        <p:sp>
          <p:nvSpPr>
            <p:cNvPr id="26" name="Text 24"/>
            <p:cNvSpPr/>
            <p:nvPr/>
          </p:nvSpPr>
          <p:spPr>
            <a:xfrm>
              <a:off x="4676354" y="2423160"/>
              <a:ext cx="3108960" cy="256032"/>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Vistra Corp</a:t>
              </a:r>
              <a:endParaRPr lang="en-US" sz="638" dirty="0"/>
            </a:p>
          </p:txBody>
        </p:sp>
        <p:sp>
          <p:nvSpPr>
            <p:cNvPr id="27" name="Text 25"/>
            <p:cNvSpPr/>
            <p:nvPr/>
          </p:nvSpPr>
          <p:spPr>
            <a:xfrm>
              <a:off x="4264874" y="2752344"/>
              <a:ext cx="548640" cy="228600"/>
            </a:xfrm>
            <a:prstGeom prst="rect">
              <a:avLst/>
            </a:prstGeom>
            <a:noFill/>
            <a:ln/>
          </p:spPr>
          <p:txBody>
            <a:bodyPr wrap="square" lIns="0" tIns="0" rIns="0" bIns="0" rtlCol="0" anchor="ctr"/>
            <a:lstStyle/>
            <a:p>
              <a:r>
                <a:rPr lang="en-US" sz="600" b="1" dirty="0">
                  <a:solidFill>
                    <a:srgbClr val="22D3EE"/>
                  </a:solidFill>
                  <a:latin typeface="Calibri" pitchFamily="34" charset="0"/>
                  <a:ea typeface="Calibri" pitchFamily="34" charset="-122"/>
                  <a:cs typeface="Calibri" pitchFamily="34" charset="-120"/>
                </a:rPr>
                <a:t>Moat: </a:t>
              </a:r>
              <a:endParaRPr lang="en-US" sz="600" dirty="0"/>
            </a:p>
          </p:txBody>
        </p:sp>
        <p:sp>
          <p:nvSpPr>
            <p:cNvPr id="28" name="Text 26"/>
            <p:cNvSpPr/>
            <p:nvPr/>
          </p:nvSpPr>
          <p:spPr>
            <a:xfrm>
              <a:off x="4786082" y="2752344"/>
              <a:ext cx="3108960" cy="36576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Largest competitive power generator in US. Nuclear + gas = dispatchable 24/7 power. Executing 'largest corporate nuclear uprate in history'.</a:t>
              </a:r>
              <a:endParaRPr lang="en-US" sz="675" dirty="0"/>
            </a:p>
          </p:txBody>
        </p:sp>
        <p:sp>
          <p:nvSpPr>
            <p:cNvPr id="29" name="Text 27"/>
            <p:cNvSpPr/>
            <p:nvPr/>
          </p:nvSpPr>
          <p:spPr>
            <a:xfrm>
              <a:off x="4264874" y="3154680"/>
              <a:ext cx="731520" cy="228600"/>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30" name="Text 28"/>
            <p:cNvSpPr/>
            <p:nvPr/>
          </p:nvSpPr>
          <p:spPr>
            <a:xfrm>
              <a:off x="4950674" y="3154680"/>
              <a:ext cx="2926080" cy="36576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Multi-year Meta nuclear PPA. Long-term AI data center supply agreements. 3-year return of 7x. Contracted uprate pipeline.</a:t>
              </a:r>
              <a:endParaRPr lang="en-US" sz="675" dirty="0"/>
            </a:p>
          </p:txBody>
        </p:sp>
        <p:sp>
          <p:nvSpPr>
            <p:cNvPr id="31" name="Text 29"/>
            <p:cNvSpPr/>
            <p:nvPr/>
          </p:nvSpPr>
          <p:spPr>
            <a:xfrm>
              <a:off x="4264874" y="3557016"/>
              <a:ext cx="502920" cy="228600"/>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32" name="Text 30"/>
            <p:cNvSpPr/>
            <p:nvPr/>
          </p:nvSpPr>
          <p:spPr>
            <a:xfrm>
              <a:off x="4740362" y="3557016"/>
              <a:ext cx="3154680" cy="32004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More gas-heavy than CEG (carbon risk). Interest coverage concerns. Less prestigious customer roster. Debt load from nuclear uprate program.</a:t>
              </a:r>
              <a:endParaRPr lang="en-US" sz="675" dirty="0"/>
            </a:p>
          </p:txBody>
        </p:sp>
        <p:sp>
          <p:nvSpPr>
            <p:cNvPr id="33" name="Text 31"/>
            <p:cNvSpPr/>
            <p:nvPr/>
          </p:nvSpPr>
          <p:spPr>
            <a:xfrm>
              <a:off x="4237442" y="3913632"/>
              <a:ext cx="3703320" cy="256032"/>
            </a:xfrm>
            <a:prstGeom prst="rect">
              <a:avLst/>
            </a:prstGeom>
            <a:noFill/>
            <a:ln/>
          </p:spPr>
          <p:txBody>
            <a:bodyPr wrap="square" lIns="0" tIns="0" rIns="0" bIns="0" rtlCol="0" anchor="ctr"/>
            <a:lstStyle/>
            <a:p>
              <a:r>
                <a:rPr lang="en-US" sz="600" b="1" dirty="0">
                  <a:solidFill>
                    <a:srgbClr val="F5C842"/>
                  </a:solidFill>
                  <a:latin typeface="Calibri" pitchFamily="34" charset="0"/>
                  <a:ea typeface="Calibri" pitchFamily="34" charset="-122"/>
                  <a:cs typeface="Calibri" pitchFamily="34" charset="-120"/>
                </a:rPr>
                <a:t>STRONG #2. Viable alternative to CEG with strong momentum but higher financial leverage and more gas exposure.</a:t>
              </a:r>
              <a:endParaRPr lang="en-US" sz="600" dirty="0"/>
            </a:p>
          </p:txBody>
        </p:sp>
        <p:sp>
          <p:nvSpPr>
            <p:cNvPr id="34" name="Shape 32"/>
            <p:cNvSpPr/>
            <p:nvPr/>
          </p:nvSpPr>
          <p:spPr>
            <a:xfrm>
              <a:off x="8115781" y="2048255"/>
              <a:ext cx="3874569" cy="2194560"/>
            </a:xfrm>
            <a:prstGeom prst="roundRect">
              <a:avLst>
                <a:gd name="adj" fmla="val 3333"/>
              </a:avLst>
            </a:prstGeom>
            <a:solidFill>
              <a:srgbClr val="131F35"/>
            </a:solidFill>
            <a:ln/>
            <a:effectLst>
              <a:outerShdw blurRad="127000" dist="38100" dir="2700000" algn="bl" rotWithShape="0">
                <a:srgbClr val="000000">
                  <a:alpha val="30000"/>
                </a:srgbClr>
              </a:outerShdw>
            </a:effectLst>
          </p:spPr>
        </p:sp>
        <p:sp>
          <p:nvSpPr>
            <p:cNvPr id="35" name="Shape 33"/>
            <p:cNvSpPr/>
            <p:nvPr/>
          </p:nvSpPr>
          <p:spPr>
            <a:xfrm>
              <a:off x="8225509" y="2139695"/>
              <a:ext cx="347472" cy="347472"/>
            </a:xfrm>
            <a:prstGeom prst="ellipse">
              <a:avLst/>
            </a:prstGeom>
            <a:solidFill>
              <a:srgbClr val="7B5CF5"/>
            </a:solidFill>
            <a:ln/>
          </p:spPr>
        </p:sp>
        <p:sp>
          <p:nvSpPr>
            <p:cNvPr id="36" name="Text 34"/>
            <p:cNvSpPr/>
            <p:nvPr/>
          </p:nvSpPr>
          <p:spPr>
            <a:xfrm>
              <a:off x="8225509" y="2139695"/>
              <a:ext cx="347472" cy="347472"/>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#3</a:t>
              </a:r>
              <a:endParaRPr lang="en-US" sz="825" dirty="0"/>
            </a:p>
          </p:txBody>
        </p:sp>
        <p:sp>
          <p:nvSpPr>
            <p:cNvPr id="37" name="Text 35"/>
            <p:cNvSpPr/>
            <p:nvPr/>
          </p:nvSpPr>
          <p:spPr>
            <a:xfrm>
              <a:off x="8664421" y="2121407"/>
              <a:ext cx="1371600" cy="320040"/>
            </a:xfrm>
            <a:prstGeom prst="rect">
              <a:avLst/>
            </a:prstGeom>
            <a:noFill/>
            <a:ln/>
          </p:spPr>
          <p:txBody>
            <a:bodyPr wrap="square" lIns="0" tIns="0" rIns="0" bIns="0" rtlCol="0" anchor="ctr"/>
            <a:lstStyle/>
            <a:p>
              <a:r>
                <a:rPr lang="en-US" sz="1200" b="1" dirty="0">
                  <a:solidFill>
                    <a:srgbClr val="22D3EE"/>
                  </a:solidFill>
                  <a:latin typeface="Cambria" pitchFamily="34" charset="0"/>
                  <a:ea typeface="Cambria" pitchFamily="34" charset="-122"/>
                  <a:cs typeface="Cambria" pitchFamily="34" charset="-120"/>
                </a:rPr>
                <a:t>OKLO</a:t>
              </a:r>
              <a:endParaRPr lang="en-US" sz="1200" dirty="0"/>
            </a:p>
          </p:txBody>
        </p:sp>
        <p:sp>
          <p:nvSpPr>
            <p:cNvPr id="38" name="Text 36"/>
            <p:cNvSpPr/>
            <p:nvPr/>
          </p:nvSpPr>
          <p:spPr>
            <a:xfrm>
              <a:off x="8664421" y="2432303"/>
              <a:ext cx="3108960" cy="256032"/>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Oklo Inc</a:t>
              </a:r>
              <a:endParaRPr lang="en-US" sz="638" dirty="0"/>
            </a:p>
          </p:txBody>
        </p:sp>
        <p:sp>
          <p:nvSpPr>
            <p:cNvPr id="39" name="Text 37"/>
            <p:cNvSpPr/>
            <p:nvPr/>
          </p:nvSpPr>
          <p:spPr>
            <a:xfrm>
              <a:off x="8252941" y="2761487"/>
              <a:ext cx="548640" cy="228600"/>
            </a:xfrm>
            <a:prstGeom prst="rect">
              <a:avLst/>
            </a:prstGeom>
            <a:noFill/>
            <a:ln/>
          </p:spPr>
          <p:txBody>
            <a:bodyPr wrap="square" lIns="0" tIns="0" rIns="0" bIns="0" rtlCol="0" anchor="ctr"/>
            <a:lstStyle/>
            <a:p>
              <a:r>
                <a:rPr lang="en-US" sz="600" b="1" dirty="0">
                  <a:solidFill>
                    <a:srgbClr val="22D3EE"/>
                  </a:solidFill>
                  <a:latin typeface="Calibri" pitchFamily="34" charset="0"/>
                  <a:ea typeface="Calibri" pitchFamily="34" charset="-122"/>
                  <a:cs typeface="Calibri" pitchFamily="34" charset="-120"/>
                </a:rPr>
                <a:t>Moat: </a:t>
              </a:r>
              <a:endParaRPr lang="en-US" sz="600" dirty="0"/>
            </a:p>
          </p:txBody>
        </p:sp>
        <p:sp>
          <p:nvSpPr>
            <p:cNvPr id="40" name="Text 38"/>
            <p:cNvSpPr/>
            <p:nvPr/>
          </p:nvSpPr>
          <p:spPr>
            <a:xfrm>
              <a:off x="8774149" y="2761487"/>
              <a:ext cx="3108960" cy="36576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Next-generation micro-reactor (Aurora) targeting 15–50 MW deployments. Co-founded by Sam Altman (OpenAI CEO). Meta 1.2 GW Ohio campus deal.</a:t>
              </a:r>
              <a:endParaRPr lang="en-US" sz="675" dirty="0"/>
            </a:p>
          </p:txBody>
        </p:sp>
        <p:sp>
          <p:nvSpPr>
            <p:cNvPr id="41" name="Text 39"/>
            <p:cNvSpPr/>
            <p:nvPr/>
          </p:nvSpPr>
          <p:spPr>
            <a:xfrm>
              <a:off x="8252941" y="3163823"/>
              <a:ext cx="731520" cy="228600"/>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42" name="Text 40"/>
            <p:cNvSpPr/>
            <p:nvPr/>
          </p:nvSpPr>
          <p:spPr>
            <a:xfrm>
              <a:off x="8938741" y="3163823"/>
              <a:ext cx="2926080" cy="36576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First-mover in small modular reactors (SMRs). Government + tech alignment. Unique customer base for edge compute power.</a:t>
              </a:r>
              <a:endParaRPr lang="en-US" sz="675" dirty="0"/>
            </a:p>
          </p:txBody>
        </p:sp>
        <p:sp>
          <p:nvSpPr>
            <p:cNvPr id="43" name="Text 41"/>
            <p:cNvSpPr/>
            <p:nvPr/>
          </p:nvSpPr>
          <p:spPr>
            <a:xfrm>
              <a:off x="8252941" y="3566159"/>
              <a:ext cx="502920" cy="228600"/>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44" name="Text 42"/>
            <p:cNvSpPr/>
            <p:nvPr/>
          </p:nvSpPr>
          <p:spPr>
            <a:xfrm>
              <a:off x="8728429" y="3566159"/>
              <a:ext cx="3154680" cy="32004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Pre-revenue. First commercial Aurora reactor not until 2027+. Regulatory approval risk. Extreme execution risk. Speculative.</a:t>
              </a:r>
              <a:endParaRPr lang="en-US" sz="675" dirty="0"/>
            </a:p>
          </p:txBody>
        </p:sp>
        <p:sp>
          <p:nvSpPr>
            <p:cNvPr id="45" name="Text 43"/>
            <p:cNvSpPr/>
            <p:nvPr/>
          </p:nvSpPr>
          <p:spPr>
            <a:xfrm>
              <a:off x="8225509" y="3922775"/>
              <a:ext cx="3703320" cy="256032"/>
            </a:xfrm>
            <a:prstGeom prst="rect">
              <a:avLst/>
            </a:prstGeom>
            <a:noFill/>
            <a:ln/>
          </p:spPr>
          <p:txBody>
            <a:bodyPr wrap="square" lIns="0" tIns="0" rIns="0" bIns="0" rtlCol="0" anchor="ctr"/>
            <a:lstStyle/>
            <a:p>
              <a:r>
                <a:rPr lang="en-US" sz="600" b="1" dirty="0">
                  <a:solidFill>
                    <a:srgbClr val="F5C842"/>
                  </a:solidFill>
                  <a:latin typeface="Calibri" pitchFamily="34" charset="0"/>
                  <a:ea typeface="Calibri" pitchFamily="34" charset="-122"/>
                  <a:cs typeface="Calibri" pitchFamily="34" charset="-120"/>
                </a:rPr>
                <a:t>HIGH RISK / HIGH REWARD. A pure option on SMR technology. Not for conservative investors. Potential to be generational if SMRs commercialize.</a:t>
              </a:r>
              <a:endParaRPr lang="en-US" sz="600" dirty="0"/>
            </a:p>
          </p:txBody>
        </p:sp>
        <p:sp>
          <p:nvSpPr>
            <p:cNvPr id="46" name="Shape 44"/>
            <p:cNvSpPr/>
            <p:nvPr/>
          </p:nvSpPr>
          <p:spPr>
            <a:xfrm>
              <a:off x="139647" y="4471416"/>
              <a:ext cx="3931920" cy="2194560"/>
            </a:xfrm>
            <a:prstGeom prst="roundRect">
              <a:avLst>
                <a:gd name="adj" fmla="val 3333"/>
              </a:avLst>
            </a:prstGeom>
            <a:solidFill>
              <a:srgbClr val="131F35"/>
            </a:solidFill>
            <a:ln/>
            <a:effectLst>
              <a:outerShdw blurRad="127000" dist="38100" dir="2700000" algn="bl" rotWithShape="0">
                <a:srgbClr val="000000">
                  <a:alpha val="30000"/>
                </a:srgbClr>
              </a:outerShdw>
            </a:effectLst>
          </p:spPr>
        </p:sp>
        <p:sp>
          <p:nvSpPr>
            <p:cNvPr id="47" name="Shape 45"/>
            <p:cNvSpPr/>
            <p:nvPr/>
          </p:nvSpPr>
          <p:spPr>
            <a:xfrm>
              <a:off x="249375" y="4562856"/>
              <a:ext cx="347472" cy="347472"/>
            </a:xfrm>
            <a:prstGeom prst="ellipse">
              <a:avLst/>
            </a:prstGeom>
            <a:solidFill>
              <a:srgbClr val="EF4444"/>
            </a:solidFill>
            <a:ln/>
          </p:spPr>
        </p:sp>
        <p:sp>
          <p:nvSpPr>
            <p:cNvPr id="48" name="Text 46"/>
            <p:cNvSpPr/>
            <p:nvPr/>
          </p:nvSpPr>
          <p:spPr>
            <a:xfrm>
              <a:off x="249375" y="4562856"/>
              <a:ext cx="347472" cy="347472"/>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#5</a:t>
              </a:r>
              <a:endParaRPr lang="en-US" sz="825" dirty="0"/>
            </a:p>
          </p:txBody>
        </p:sp>
        <p:sp>
          <p:nvSpPr>
            <p:cNvPr id="49" name="Text 47"/>
            <p:cNvSpPr/>
            <p:nvPr/>
          </p:nvSpPr>
          <p:spPr>
            <a:xfrm>
              <a:off x="688287" y="4544568"/>
              <a:ext cx="1371600" cy="320040"/>
            </a:xfrm>
            <a:prstGeom prst="rect">
              <a:avLst/>
            </a:prstGeom>
            <a:noFill/>
            <a:ln/>
          </p:spPr>
          <p:txBody>
            <a:bodyPr wrap="square" lIns="0" tIns="0" rIns="0" bIns="0" rtlCol="0" anchor="ctr"/>
            <a:lstStyle/>
            <a:p>
              <a:r>
                <a:rPr lang="en-US" sz="1200" b="1" dirty="0">
                  <a:solidFill>
                    <a:srgbClr val="22D3EE"/>
                  </a:solidFill>
                  <a:latin typeface="Cambria" pitchFamily="34" charset="0"/>
                  <a:ea typeface="Cambria" pitchFamily="34" charset="-122"/>
                  <a:cs typeface="Cambria" pitchFamily="34" charset="-120"/>
                </a:rPr>
                <a:t>EOSE</a:t>
              </a:r>
              <a:endParaRPr lang="en-US" sz="1200" dirty="0"/>
            </a:p>
          </p:txBody>
        </p:sp>
        <p:sp>
          <p:nvSpPr>
            <p:cNvPr id="50" name="Text 48"/>
            <p:cNvSpPr/>
            <p:nvPr/>
          </p:nvSpPr>
          <p:spPr>
            <a:xfrm>
              <a:off x="688287" y="4855464"/>
              <a:ext cx="3108960" cy="256032"/>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Eos Energy</a:t>
              </a:r>
              <a:endParaRPr lang="en-US" sz="638" dirty="0"/>
            </a:p>
          </p:txBody>
        </p:sp>
        <p:sp>
          <p:nvSpPr>
            <p:cNvPr id="51" name="Text 49"/>
            <p:cNvSpPr/>
            <p:nvPr/>
          </p:nvSpPr>
          <p:spPr>
            <a:xfrm>
              <a:off x="276807" y="5184648"/>
              <a:ext cx="548640" cy="228600"/>
            </a:xfrm>
            <a:prstGeom prst="rect">
              <a:avLst/>
            </a:prstGeom>
            <a:noFill/>
            <a:ln/>
          </p:spPr>
          <p:txBody>
            <a:bodyPr wrap="square" lIns="0" tIns="0" rIns="0" bIns="0" rtlCol="0" anchor="ctr"/>
            <a:lstStyle/>
            <a:p>
              <a:r>
                <a:rPr lang="en-US" sz="600" b="1" dirty="0">
                  <a:solidFill>
                    <a:srgbClr val="22D3EE"/>
                  </a:solidFill>
                  <a:latin typeface="Calibri" pitchFamily="34" charset="0"/>
                  <a:ea typeface="Calibri" pitchFamily="34" charset="-122"/>
                  <a:cs typeface="Calibri" pitchFamily="34" charset="-120"/>
                </a:rPr>
                <a:t>Moat: </a:t>
              </a:r>
              <a:endParaRPr lang="en-US" sz="600" dirty="0"/>
            </a:p>
          </p:txBody>
        </p:sp>
        <p:sp>
          <p:nvSpPr>
            <p:cNvPr id="52" name="Text 50"/>
            <p:cNvSpPr/>
            <p:nvPr/>
          </p:nvSpPr>
          <p:spPr>
            <a:xfrm>
              <a:off x="798015" y="5184648"/>
              <a:ext cx="3108960" cy="36576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Zinc-based battery storage for grid backup. US-manufactured. Targets 2–12 hour storage gaps where lithium is uneconomic.</a:t>
              </a:r>
              <a:endParaRPr lang="en-US" sz="675" dirty="0"/>
            </a:p>
          </p:txBody>
        </p:sp>
        <p:sp>
          <p:nvSpPr>
            <p:cNvPr id="53" name="Text 51"/>
            <p:cNvSpPr/>
            <p:nvPr/>
          </p:nvSpPr>
          <p:spPr>
            <a:xfrm>
              <a:off x="276807" y="5586984"/>
              <a:ext cx="731520" cy="228600"/>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54" name="Text 52"/>
            <p:cNvSpPr/>
            <p:nvPr/>
          </p:nvSpPr>
          <p:spPr>
            <a:xfrm>
              <a:off x="962607" y="5586984"/>
              <a:ext cx="2926080" cy="36576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Unique chemistry (aqueous zinc) not subject to lithium supply chain. US DOE loan guarantee support. AI data center backup storage need.</a:t>
              </a:r>
              <a:endParaRPr lang="en-US" sz="675" dirty="0"/>
            </a:p>
          </p:txBody>
        </p:sp>
        <p:sp>
          <p:nvSpPr>
            <p:cNvPr id="55" name="Text 53"/>
            <p:cNvSpPr/>
            <p:nvPr/>
          </p:nvSpPr>
          <p:spPr>
            <a:xfrm>
              <a:off x="276807" y="5989320"/>
              <a:ext cx="502920" cy="228600"/>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56" name="Text 54"/>
            <p:cNvSpPr/>
            <p:nvPr/>
          </p:nvSpPr>
          <p:spPr>
            <a:xfrm>
              <a:off x="752295" y="5989320"/>
              <a:ext cx="3154680" cy="32004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Tiny revenue base. Not yet profitable. Low volume manufacturing. Highly speculative. Vulnerable to better-financed competitors.</a:t>
              </a:r>
              <a:endParaRPr lang="en-US" sz="675" dirty="0"/>
            </a:p>
          </p:txBody>
        </p:sp>
        <p:sp>
          <p:nvSpPr>
            <p:cNvPr id="57" name="Text 55"/>
            <p:cNvSpPr/>
            <p:nvPr/>
          </p:nvSpPr>
          <p:spPr>
            <a:xfrm>
              <a:off x="249375" y="6345936"/>
              <a:ext cx="3703320" cy="256032"/>
            </a:xfrm>
            <a:prstGeom prst="rect">
              <a:avLst/>
            </a:prstGeom>
            <a:noFill/>
            <a:ln/>
          </p:spPr>
          <p:txBody>
            <a:bodyPr wrap="square" lIns="0" tIns="0" rIns="0" bIns="0" rtlCol="0" anchor="ctr"/>
            <a:lstStyle/>
            <a:p>
              <a:r>
                <a:rPr lang="en-US" sz="600" b="1" dirty="0">
                  <a:solidFill>
                    <a:srgbClr val="F5C842"/>
                  </a:solidFill>
                  <a:latin typeface="Calibri" pitchFamily="34" charset="0"/>
                  <a:ea typeface="Calibri" pitchFamily="34" charset="-122"/>
                  <a:cs typeface="Calibri" pitchFamily="34" charset="-120"/>
                </a:rPr>
                <a:t>SPECULATIVE. Interesting technology niche but significant execution and funding risk. Very early stage.</a:t>
              </a:r>
              <a:endParaRPr lang="en-US" sz="600" dirty="0"/>
            </a:p>
          </p:txBody>
        </p:sp>
        <p:sp>
          <p:nvSpPr>
            <p:cNvPr id="58" name="Shape 56"/>
            <p:cNvSpPr/>
            <p:nvPr/>
          </p:nvSpPr>
          <p:spPr>
            <a:xfrm>
              <a:off x="4127714" y="4462272"/>
              <a:ext cx="3931920" cy="2194560"/>
            </a:xfrm>
            <a:prstGeom prst="roundRect">
              <a:avLst>
                <a:gd name="adj" fmla="val 3333"/>
              </a:avLst>
            </a:prstGeom>
            <a:solidFill>
              <a:srgbClr val="131F35"/>
            </a:solidFill>
            <a:ln/>
            <a:effectLst>
              <a:outerShdw blurRad="127000" dist="38100" dir="2700000" algn="bl" rotWithShape="0">
                <a:srgbClr val="000000">
                  <a:alpha val="30000"/>
                </a:srgbClr>
              </a:outerShdw>
            </a:effectLst>
          </p:spPr>
        </p:sp>
        <p:sp>
          <p:nvSpPr>
            <p:cNvPr id="59" name="Shape 57"/>
            <p:cNvSpPr/>
            <p:nvPr/>
          </p:nvSpPr>
          <p:spPr>
            <a:xfrm>
              <a:off x="4237442" y="4553712"/>
              <a:ext cx="347472" cy="347472"/>
            </a:xfrm>
            <a:prstGeom prst="ellipse">
              <a:avLst/>
            </a:prstGeom>
            <a:solidFill>
              <a:srgbClr val="F97316"/>
            </a:solidFill>
            <a:ln/>
          </p:spPr>
        </p:sp>
        <p:sp>
          <p:nvSpPr>
            <p:cNvPr id="60" name="Text 58"/>
            <p:cNvSpPr/>
            <p:nvPr/>
          </p:nvSpPr>
          <p:spPr>
            <a:xfrm>
              <a:off x="4237442" y="4553712"/>
              <a:ext cx="347472" cy="347472"/>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#4</a:t>
              </a:r>
              <a:endParaRPr lang="en-US" sz="825" dirty="0"/>
            </a:p>
          </p:txBody>
        </p:sp>
        <p:sp>
          <p:nvSpPr>
            <p:cNvPr id="61" name="Text 59"/>
            <p:cNvSpPr/>
            <p:nvPr/>
          </p:nvSpPr>
          <p:spPr>
            <a:xfrm>
              <a:off x="4676354" y="4535424"/>
              <a:ext cx="1371600" cy="320040"/>
            </a:xfrm>
            <a:prstGeom prst="rect">
              <a:avLst/>
            </a:prstGeom>
            <a:noFill/>
            <a:ln/>
          </p:spPr>
          <p:txBody>
            <a:bodyPr wrap="square" lIns="0" tIns="0" rIns="0" bIns="0" rtlCol="0" anchor="ctr"/>
            <a:lstStyle/>
            <a:p>
              <a:r>
                <a:rPr lang="en-US" sz="1200" b="1" dirty="0">
                  <a:solidFill>
                    <a:srgbClr val="22D3EE"/>
                  </a:solidFill>
                  <a:latin typeface="Cambria" pitchFamily="34" charset="0"/>
                  <a:ea typeface="Cambria" pitchFamily="34" charset="-122"/>
                  <a:cs typeface="Cambria" pitchFamily="34" charset="-120"/>
                </a:rPr>
                <a:t>GEV</a:t>
              </a:r>
              <a:endParaRPr lang="en-US" sz="1200" dirty="0"/>
            </a:p>
          </p:txBody>
        </p:sp>
        <p:sp>
          <p:nvSpPr>
            <p:cNvPr id="62" name="Text 60"/>
            <p:cNvSpPr/>
            <p:nvPr/>
          </p:nvSpPr>
          <p:spPr>
            <a:xfrm>
              <a:off x="4676354" y="4846320"/>
              <a:ext cx="3108960" cy="256032"/>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GE Vernova</a:t>
              </a:r>
              <a:endParaRPr lang="en-US" sz="638" dirty="0"/>
            </a:p>
          </p:txBody>
        </p:sp>
        <p:sp>
          <p:nvSpPr>
            <p:cNvPr id="63" name="Text 61"/>
            <p:cNvSpPr/>
            <p:nvPr/>
          </p:nvSpPr>
          <p:spPr>
            <a:xfrm>
              <a:off x="4264874" y="5175504"/>
              <a:ext cx="548640" cy="228600"/>
            </a:xfrm>
            <a:prstGeom prst="rect">
              <a:avLst/>
            </a:prstGeom>
            <a:noFill/>
            <a:ln/>
          </p:spPr>
          <p:txBody>
            <a:bodyPr wrap="square" lIns="0" tIns="0" rIns="0" bIns="0" rtlCol="0" anchor="ctr"/>
            <a:lstStyle/>
            <a:p>
              <a:r>
                <a:rPr lang="en-US" sz="600" b="1" dirty="0">
                  <a:solidFill>
                    <a:srgbClr val="22D3EE"/>
                  </a:solidFill>
                  <a:latin typeface="Calibri" pitchFamily="34" charset="0"/>
                  <a:ea typeface="Calibri" pitchFamily="34" charset="-122"/>
                  <a:cs typeface="Calibri" pitchFamily="34" charset="-120"/>
                </a:rPr>
                <a:t>Moat: </a:t>
              </a:r>
              <a:endParaRPr lang="en-US" sz="600" dirty="0"/>
            </a:p>
          </p:txBody>
        </p:sp>
        <p:sp>
          <p:nvSpPr>
            <p:cNvPr id="64" name="Text 62"/>
            <p:cNvSpPr/>
            <p:nvPr/>
          </p:nvSpPr>
          <p:spPr>
            <a:xfrm>
              <a:off x="4786082" y="5175504"/>
              <a:ext cx="3108960" cy="36576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Dominant global gas turbine OEM. Also wind turbines and grid technology. Critical for data center backup power and grid modernization.</a:t>
              </a:r>
              <a:endParaRPr lang="en-US" sz="675" dirty="0"/>
            </a:p>
          </p:txBody>
        </p:sp>
        <p:sp>
          <p:nvSpPr>
            <p:cNvPr id="65" name="Text 63"/>
            <p:cNvSpPr/>
            <p:nvPr/>
          </p:nvSpPr>
          <p:spPr>
            <a:xfrm>
              <a:off x="4264874" y="5577840"/>
              <a:ext cx="731520" cy="228600"/>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66" name="Text 64"/>
            <p:cNvSpPr/>
            <p:nvPr/>
          </p:nvSpPr>
          <p:spPr>
            <a:xfrm>
              <a:off x="4950674" y="5577840"/>
              <a:ext cx="2926080" cy="36576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Record $44B+ order backlog in 2025. AI data center power demand driving gas turbine orders. 50%+ turbine market share in US.</a:t>
              </a:r>
              <a:endParaRPr lang="en-US" sz="675" dirty="0"/>
            </a:p>
          </p:txBody>
        </p:sp>
        <p:sp>
          <p:nvSpPr>
            <p:cNvPr id="67" name="Text 65"/>
            <p:cNvSpPr/>
            <p:nvPr/>
          </p:nvSpPr>
          <p:spPr>
            <a:xfrm>
              <a:off x="4264874" y="5980176"/>
              <a:ext cx="502920" cy="228600"/>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68" name="Text 66"/>
            <p:cNvSpPr/>
            <p:nvPr/>
          </p:nvSpPr>
          <p:spPr>
            <a:xfrm>
              <a:off x="4740362" y="5980176"/>
              <a:ext cx="3154680" cy="32004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Cyclical revenue. Wind segment headwinds. Supply chain constraints. Not a pure AI play — diversified industrial.</a:t>
              </a:r>
              <a:endParaRPr lang="en-US" sz="675" dirty="0"/>
            </a:p>
          </p:txBody>
        </p:sp>
        <p:sp>
          <p:nvSpPr>
            <p:cNvPr id="69" name="Text 67"/>
            <p:cNvSpPr/>
            <p:nvPr/>
          </p:nvSpPr>
          <p:spPr>
            <a:xfrm>
              <a:off x="4237442" y="6336792"/>
              <a:ext cx="3703320" cy="256032"/>
            </a:xfrm>
            <a:prstGeom prst="rect">
              <a:avLst/>
            </a:prstGeom>
            <a:noFill/>
            <a:ln/>
          </p:spPr>
          <p:txBody>
            <a:bodyPr wrap="square" lIns="0" tIns="0" rIns="0" bIns="0" rtlCol="0" anchor="ctr"/>
            <a:lstStyle/>
            <a:p>
              <a:r>
                <a:rPr lang="en-US" sz="600" b="1" dirty="0">
                  <a:solidFill>
                    <a:srgbClr val="F5C842"/>
                  </a:solidFill>
                  <a:latin typeface="Calibri" pitchFamily="34" charset="0"/>
                  <a:ea typeface="Calibri" pitchFamily="34" charset="-122"/>
                  <a:cs typeface="Calibri" pitchFamily="34" charset="-120"/>
                </a:rPr>
                <a:t>SOLID INDUSTRIAL PLAY. Not pure AI, but a necessary component of the power infrastructure build-out. Less exciting but more defensible than EOSE/OKLO.</a:t>
              </a:r>
              <a:endParaRPr lang="en-US" sz="600" dirty="0"/>
            </a:p>
          </p:txBody>
        </p:sp>
        <p:sp>
          <p:nvSpPr>
            <p:cNvPr id="70" name="Shape 68"/>
            <p:cNvSpPr/>
            <p:nvPr/>
          </p:nvSpPr>
          <p:spPr>
            <a:xfrm>
              <a:off x="8151074" y="4471416"/>
              <a:ext cx="3839276" cy="2194560"/>
            </a:xfrm>
            <a:prstGeom prst="roundRect">
              <a:avLst>
                <a:gd name="adj" fmla="val 3333"/>
              </a:avLst>
            </a:prstGeom>
            <a:solidFill>
              <a:srgbClr val="0A1A12"/>
            </a:solidFill>
            <a:ln/>
            <a:effectLst>
              <a:outerShdw blurRad="127000" dist="38100" dir="2700000" algn="bl" rotWithShape="0">
                <a:srgbClr val="000000">
                  <a:alpha val="30000"/>
                </a:srgbClr>
              </a:outerShdw>
            </a:effectLst>
          </p:spPr>
        </p:sp>
        <p:sp>
          <p:nvSpPr>
            <p:cNvPr id="71" name="Text 69"/>
            <p:cNvSpPr/>
            <p:nvPr/>
          </p:nvSpPr>
          <p:spPr>
            <a:xfrm>
              <a:off x="8288233" y="4562856"/>
              <a:ext cx="3702117" cy="292608"/>
            </a:xfrm>
            <a:prstGeom prst="rect">
              <a:avLst/>
            </a:prstGeom>
            <a:noFill/>
            <a:ln/>
          </p:spPr>
          <p:txBody>
            <a:bodyPr wrap="square" lIns="0" tIns="0" rIns="0" bIns="0" rtlCol="0" anchor="ctr"/>
            <a:lstStyle/>
            <a:p>
              <a:r>
                <a:rPr lang="en-US" sz="750" b="1" dirty="0">
                  <a:solidFill>
                    <a:srgbClr val="22D3EE"/>
                  </a:solidFill>
                  <a:latin typeface="Calibri" pitchFamily="34" charset="0"/>
                  <a:ea typeface="Calibri" pitchFamily="34" charset="-122"/>
                  <a:cs typeface="Calibri" pitchFamily="34" charset="-120"/>
                </a:rPr>
                <a:t>⚡ LAYER WINNER</a:t>
              </a:r>
              <a:endParaRPr lang="en-US" sz="750" dirty="0"/>
            </a:p>
          </p:txBody>
        </p:sp>
        <p:sp>
          <p:nvSpPr>
            <p:cNvPr id="72" name="Text 70"/>
            <p:cNvSpPr/>
            <p:nvPr/>
          </p:nvSpPr>
          <p:spPr>
            <a:xfrm>
              <a:off x="8288233" y="4882896"/>
              <a:ext cx="3702117" cy="502920"/>
            </a:xfrm>
            <a:prstGeom prst="rect">
              <a:avLst/>
            </a:prstGeom>
            <a:noFill/>
            <a:ln/>
          </p:spPr>
          <p:txBody>
            <a:bodyPr wrap="square" lIns="0" tIns="0" rIns="0" bIns="0" rtlCol="0" anchor="ctr"/>
            <a:lstStyle/>
            <a:p>
              <a:r>
                <a:rPr lang="en-US" sz="2400" b="1" dirty="0">
                  <a:solidFill>
                    <a:srgbClr val="F5C842"/>
                  </a:solidFill>
                  <a:latin typeface="Cambria" pitchFamily="34" charset="0"/>
                  <a:ea typeface="Cambria" pitchFamily="34" charset="-122"/>
                  <a:cs typeface="Cambria" pitchFamily="34" charset="-120"/>
                </a:rPr>
                <a:t>$CEG</a:t>
              </a:r>
              <a:endParaRPr lang="en-US" sz="2400" dirty="0"/>
            </a:p>
          </p:txBody>
        </p:sp>
        <p:sp>
          <p:nvSpPr>
            <p:cNvPr id="73" name="Text 71"/>
            <p:cNvSpPr/>
            <p:nvPr/>
          </p:nvSpPr>
          <p:spPr>
            <a:xfrm>
              <a:off x="8288233" y="5358384"/>
              <a:ext cx="3702117" cy="256032"/>
            </a:xfrm>
            <a:prstGeom prst="rect">
              <a:avLst/>
            </a:prstGeom>
            <a:noFill/>
            <a:ln/>
          </p:spPr>
          <p:txBody>
            <a:bodyPr wrap="square" lIns="0" tIns="0" rIns="0" bIns="0" rtlCol="0" anchor="ctr"/>
            <a:lstStyle/>
            <a:p>
              <a:r>
                <a:rPr lang="en-US" sz="825" dirty="0">
                  <a:solidFill>
                    <a:srgbClr val="FFFFFF"/>
                  </a:solidFill>
                  <a:latin typeface="Calibri" pitchFamily="34" charset="0"/>
                  <a:ea typeface="Calibri" pitchFamily="34" charset="-122"/>
                  <a:cs typeface="Calibri" pitchFamily="34" charset="-120"/>
                </a:rPr>
                <a:t>Constellation Energy</a:t>
              </a:r>
              <a:endParaRPr lang="en-US" sz="825" dirty="0"/>
            </a:p>
          </p:txBody>
        </p:sp>
        <p:sp>
          <p:nvSpPr>
            <p:cNvPr id="74" name="Text 72"/>
            <p:cNvSpPr/>
            <p:nvPr/>
          </p:nvSpPr>
          <p:spPr>
            <a:xfrm>
              <a:off x="8288233" y="5660136"/>
              <a:ext cx="3702117" cy="868680"/>
            </a:xfrm>
            <a:prstGeom prst="rect">
              <a:avLst/>
            </a:prstGeom>
            <a:noFill/>
            <a:ln/>
          </p:spPr>
          <p:txBody>
            <a:bodyPr wrap="square" lIns="0" tIns="0" rIns="0" bIns="0" rtlCol="0" anchor="ctr"/>
            <a:lstStyle/>
            <a:p>
              <a:r>
                <a:rPr lang="en-US" sz="675" dirty="0">
                  <a:solidFill>
                    <a:srgbClr val="E2E8F0"/>
                  </a:solidFill>
                  <a:latin typeface="Calibri" pitchFamily="34" charset="0"/>
                  <a:ea typeface="Calibri" pitchFamily="34" charset="-122"/>
                  <a:cs typeface="Calibri" pitchFamily="34" charset="-120"/>
                </a:rPr>
                <a:t>Why it wins: The only US company capable of delivering 20+ GW of clean, 24/7, contracted nuclear power to hyperscalers. Three Mile Island restart + Calpine acquisition = unmatched clean baseload.</a:t>
              </a:r>
              <a:endParaRPr lang="en-US" sz="675"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p:spPr>
      </p:sp>
      <p:sp>
        <p:nvSpPr>
          <p:cNvPr id="3" name="Shape 1"/>
          <p:cNvSpPr/>
          <p:nvPr/>
        </p:nvSpPr>
        <p:spPr>
          <a:xfrm>
            <a:off x="320040" y="182880"/>
            <a:ext cx="822960" cy="502920"/>
          </a:xfrm>
          <a:prstGeom prst="roundRect">
            <a:avLst>
              <a:gd name="adj" fmla="val 14545"/>
            </a:avLst>
          </a:prstGeom>
          <a:solidFill>
            <a:srgbClr val="10B981">
              <a:alpha val="80000"/>
            </a:srgbClr>
          </a:solidFill>
          <a:ln/>
        </p:spPr>
      </p:sp>
      <p:sp>
        <p:nvSpPr>
          <p:cNvPr id="4" name="Text 2"/>
          <p:cNvSpPr/>
          <p:nvPr/>
        </p:nvSpPr>
        <p:spPr>
          <a:xfrm>
            <a:off x="320040" y="182880"/>
            <a:ext cx="822960" cy="502920"/>
          </a:xfrm>
          <a:prstGeom prst="rect">
            <a:avLst/>
          </a:prstGeom>
          <a:noFill/>
          <a:ln/>
        </p:spPr>
        <p:txBody>
          <a:bodyPr wrap="square" rtlCol="0" anchor="ctr"/>
          <a:lstStyle/>
          <a:p>
            <a:pPr marL="0" indent="0" algn="ctr">
              <a:buNone/>
            </a:pPr>
            <a:r>
              <a:rPr lang="en-US" sz="2200" b="1" dirty="0">
                <a:solidFill>
                  <a:srgbClr val="FFFFFF"/>
                </a:solidFill>
              </a:rPr>
              <a:t>02</a:t>
            </a:r>
            <a:endParaRPr lang="en-US" sz="2200" dirty="0"/>
          </a:p>
        </p:txBody>
      </p:sp>
      <p:sp>
        <p:nvSpPr>
          <p:cNvPr id="5" name="Text 3"/>
          <p:cNvSpPr/>
          <p:nvPr/>
        </p:nvSpPr>
        <p:spPr>
          <a:xfrm>
            <a:off x="1280160" y="182880"/>
            <a:ext cx="2743200" cy="256032"/>
          </a:xfrm>
          <a:prstGeom prst="rect">
            <a:avLst/>
          </a:prstGeom>
          <a:noFill/>
          <a:ln/>
        </p:spPr>
        <p:txBody>
          <a:bodyPr wrap="square" lIns="0" tIns="0" rIns="0" bIns="0" rtlCol="0" anchor="ctr"/>
          <a:lstStyle/>
          <a:p>
            <a:pPr marL="0" indent="0">
              <a:buNone/>
            </a:pPr>
            <a:r>
              <a:rPr lang="en-US" sz="900" b="1" kern="0" spc="300" dirty="0">
                <a:solidFill>
                  <a:srgbClr val="10B981"/>
                </a:solidFill>
              </a:rPr>
              <a:t>SECTOR ANALYSIS</a:t>
            </a:r>
            <a:endParaRPr lang="en-US" sz="900" dirty="0"/>
          </a:p>
        </p:txBody>
      </p:sp>
      <p:sp>
        <p:nvSpPr>
          <p:cNvPr id="6" name="Text 4"/>
          <p:cNvSpPr/>
          <p:nvPr/>
        </p:nvSpPr>
        <p:spPr>
          <a:xfrm>
            <a:off x="1280160" y="402336"/>
            <a:ext cx="6400800" cy="365760"/>
          </a:xfrm>
          <a:prstGeom prst="rect">
            <a:avLst/>
          </a:prstGeom>
          <a:noFill/>
          <a:ln/>
        </p:spPr>
        <p:txBody>
          <a:bodyPr wrap="square" lIns="0" tIns="0" rIns="0" bIns="0" rtlCol="0" anchor="ctr"/>
          <a:lstStyle/>
          <a:p>
            <a:pPr marL="0" indent="0">
              <a:buNone/>
            </a:pPr>
            <a:r>
              <a:rPr lang="en-US" sz="2600" b="1" dirty="0">
                <a:solidFill>
                  <a:srgbClr val="FFFFFF"/>
                </a:solidFill>
              </a:rPr>
              <a:t>CHIPS &amp; COMPUTING</a:t>
            </a:r>
            <a:endParaRPr lang="en-US" sz="2600" dirty="0"/>
          </a:p>
        </p:txBody>
      </p:sp>
      <p:sp>
        <p:nvSpPr>
          <p:cNvPr id="7" name="Text 5"/>
          <p:cNvSpPr/>
          <p:nvPr/>
        </p:nvSpPr>
        <p:spPr>
          <a:xfrm>
            <a:off x="320040" y="868680"/>
            <a:ext cx="8503920" cy="320040"/>
          </a:xfrm>
          <a:prstGeom prst="rect">
            <a:avLst/>
          </a:prstGeom>
          <a:noFill/>
          <a:ln/>
        </p:spPr>
        <p:txBody>
          <a:bodyPr wrap="square" rtlCol="0" anchor="ctr"/>
          <a:lstStyle/>
          <a:p>
            <a:pPr marL="0" indent="0" algn="l">
              <a:buNone/>
            </a:pPr>
            <a:r>
              <a:rPr lang="en-US" sz="1300" dirty="0">
                <a:solidFill>
                  <a:srgbClr val="94A3B8"/>
                </a:solidFill>
              </a:rPr>
              <a:t>Silicon that powers the AI revolution — GPUs, CPUs, memory &amp; foundries</a:t>
            </a:r>
            <a:endParaRPr lang="en-US" sz="1300" dirty="0"/>
          </a:p>
        </p:txBody>
      </p:sp>
      <p:sp>
        <p:nvSpPr>
          <p:cNvPr id="8" name="Shape 6"/>
          <p:cNvSpPr/>
          <p:nvPr/>
        </p:nvSpPr>
        <p:spPr>
          <a:xfrm>
            <a:off x="320040" y="1261872"/>
            <a:ext cx="8503920" cy="457200"/>
          </a:xfrm>
          <a:prstGeom prst="rect">
            <a:avLst/>
          </a:prstGeom>
          <a:solidFill>
            <a:srgbClr val="001F10"/>
          </a:solidFill>
          <a:ln w="6350">
            <a:solidFill>
              <a:srgbClr val="FFFFFF">
                <a:alpha val="10000"/>
              </a:srgbClr>
            </a:solidFill>
            <a:prstDash val="solid"/>
          </a:ln>
        </p:spPr>
      </p:sp>
      <p:sp>
        <p:nvSpPr>
          <p:cNvPr id="9" name="Shape 7"/>
          <p:cNvSpPr/>
          <p:nvPr/>
        </p:nvSpPr>
        <p:spPr>
          <a:xfrm>
            <a:off x="320040" y="1261872"/>
            <a:ext cx="64008" cy="457200"/>
          </a:xfrm>
          <a:prstGeom prst="rect">
            <a:avLst/>
          </a:prstGeom>
          <a:solidFill>
            <a:srgbClr val="10B981"/>
          </a:solidFill>
          <a:ln/>
        </p:spPr>
      </p:sp>
      <p:sp>
        <p:nvSpPr>
          <p:cNvPr id="10" name="Text 8"/>
          <p:cNvSpPr/>
          <p:nvPr/>
        </p:nvSpPr>
        <p:spPr>
          <a:xfrm>
            <a:off x="502920" y="1298448"/>
            <a:ext cx="1371600" cy="182880"/>
          </a:xfrm>
          <a:prstGeom prst="rect">
            <a:avLst/>
          </a:prstGeom>
          <a:noFill/>
          <a:ln/>
        </p:spPr>
        <p:txBody>
          <a:bodyPr wrap="square" lIns="0" tIns="0" rIns="0" bIns="0" rtlCol="0" anchor="ctr"/>
          <a:lstStyle/>
          <a:p>
            <a:pPr marL="0" indent="0">
              <a:buNone/>
            </a:pPr>
            <a:r>
              <a:rPr lang="en-US" sz="800" b="1" kern="0" spc="200" dirty="0">
                <a:solidFill>
                  <a:srgbClr val="10B981"/>
                </a:solidFill>
              </a:rPr>
              <a:t>KEY METRIC  </a:t>
            </a:r>
            <a:endParaRPr lang="en-US" sz="800" dirty="0"/>
          </a:p>
        </p:txBody>
      </p:sp>
      <p:sp>
        <p:nvSpPr>
          <p:cNvPr id="11" name="Text 9"/>
          <p:cNvSpPr/>
          <p:nvPr/>
        </p:nvSpPr>
        <p:spPr>
          <a:xfrm>
            <a:off x="502920" y="1472184"/>
            <a:ext cx="8046720" cy="182880"/>
          </a:xfrm>
          <a:prstGeom prst="rect">
            <a:avLst/>
          </a:prstGeom>
          <a:noFill/>
          <a:ln/>
        </p:spPr>
        <p:txBody>
          <a:bodyPr wrap="square" lIns="0" tIns="0" rIns="0" bIns="0" rtlCol="0" anchor="ctr"/>
          <a:lstStyle/>
          <a:p>
            <a:pPr marL="0" indent="0">
              <a:buNone/>
            </a:pPr>
            <a:r>
              <a:rPr lang="en-US" sz="1100" b="1" dirty="0">
                <a:solidFill>
                  <a:srgbClr val="FFFFFF"/>
                </a:solidFill>
              </a:rPr>
              <a:t>AI Accelerator TAM: $400B+ by 2027</a:t>
            </a:r>
            <a:endParaRPr lang="en-US" sz="1100" dirty="0"/>
          </a:p>
        </p:txBody>
      </p:sp>
      <p:sp>
        <p:nvSpPr>
          <p:cNvPr id="12" name="Text 10"/>
          <p:cNvSpPr/>
          <p:nvPr/>
        </p:nvSpPr>
        <p:spPr>
          <a:xfrm>
            <a:off x="320040" y="1874520"/>
            <a:ext cx="3657600" cy="256032"/>
          </a:xfrm>
          <a:prstGeom prst="rect">
            <a:avLst/>
          </a:prstGeom>
          <a:noFill/>
          <a:ln/>
        </p:spPr>
        <p:txBody>
          <a:bodyPr wrap="square" lIns="0" tIns="0" rIns="0" bIns="0" rtlCol="0" anchor="ctr"/>
          <a:lstStyle/>
          <a:p>
            <a:pPr marL="0" indent="0">
              <a:buNone/>
            </a:pPr>
            <a:r>
              <a:rPr lang="en-US" sz="900" b="1" kern="0" spc="200" dirty="0">
                <a:solidFill>
                  <a:srgbClr val="10B981"/>
                </a:solidFill>
              </a:rPr>
              <a:t>INVESTMENT THESIS</a:t>
            </a:r>
            <a:endParaRPr lang="en-US" sz="900" dirty="0"/>
          </a:p>
        </p:txBody>
      </p:sp>
      <p:sp>
        <p:nvSpPr>
          <p:cNvPr id="13" name="Shape 11"/>
          <p:cNvSpPr/>
          <p:nvPr/>
        </p:nvSpPr>
        <p:spPr>
          <a:xfrm>
            <a:off x="320040" y="2121408"/>
            <a:ext cx="4114800" cy="150876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4" name="Text 12"/>
          <p:cNvSpPr/>
          <p:nvPr/>
        </p:nvSpPr>
        <p:spPr>
          <a:xfrm>
            <a:off x="475488" y="2212848"/>
            <a:ext cx="3794760" cy="1325880"/>
          </a:xfrm>
          <a:prstGeom prst="rect">
            <a:avLst/>
          </a:prstGeom>
          <a:noFill/>
          <a:ln/>
        </p:spPr>
        <p:txBody>
          <a:bodyPr wrap="square" rtlCol="0" anchor="ctr"/>
          <a:lstStyle/>
          <a:p>
            <a:pPr marL="0" indent="0" algn="l">
              <a:buNone/>
            </a:pPr>
            <a:r>
              <a:rPr lang="en-US" sz="1100" dirty="0">
                <a:solidFill>
                  <a:srgbClr val="F0F4FF"/>
                </a:solidFill>
              </a:rPr>
              <a:t>AI accelerator TAM to reach $400B+ by 2027. GPU scarcity driving unprecedented pricing power. Memory bandwidth becoming the new bottleneck, lifting HBM demand.</a:t>
            </a:r>
            <a:endParaRPr lang="en-US" sz="1100" dirty="0"/>
          </a:p>
        </p:txBody>
      </p:sp>
      <p:sp>
        <p:nvSpPr>
          <p:cNvPr id="15" name="Text 13"/>
          <p:cNvSpPr/>
          <p:nvPr/>
        </p:nvSpPr>
        <p:spPr>
          <a:xfrm>
            <a:off x="4709160" y="1874520"/>
            <a:ext cx="4114800" cy="256032"/>
          </a:xfrm>
          <a:prstGeom prst="rect">
            <a:avLst/>
          </a:prstGeom>
          <a:noFill/>
          <a:ln/>
        </p:spPr>
        <p:txBody>
          <a:bodyPr wrap="square" lIns="0" tIns="0" rIns="0" bIns="0" rtlCol="0" anchor="ctr"/>
          <a:lstStyle/>
          <a:p>
            <a:pPr marL="0" indent="0">
              <a:buNone/>
            </a:pPr>
            <a:r>
              <a:rPr lang="en-US" sz="900" b="1" kern="0" spc="200" dirty="0">
                <a:solidFill>
                  <a:srgbClr val="10B981"/>
                </a:solidFill>
              </a:rPr>
              <a:t>KEY CATALYSTS</a:t>
            </a:r>
            <a:endParaRPr lang="en-US" sz="900" dirty="0"/>
          </a:p>
        </p:txBody>
      </p:sp>
      <p:sp>
        <p:nvSpPr>
          <p:cNvPr id="16" name="Shape 14"/>
          <p:cNvSpPr/>
          <p:nvPr/>
        </p:nvSpPr>
        <p:spPr>
          <a:xfrm>
            <a:off x="4709160" y="2121408"/>
            <a:ext cx="4114800" cy="150876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7" name="Shape 15"/>
          <p:cNvSpPr/>
          <p:nvPr/>
        </p:nvSpPr>
        <p:spPr>
          <a:xfrm>
            <a:off x="4892040" y="2304288"/>
            <a:ext cx="128016" cy="128016"/>
          </a:xfrm>
          <a:prstGeom prst="ellipse">
            <a:avLst/>
          </a:prstGeom>
          <a:solidFill>
            <a:srgbClr val="10B981"/>
          </a:solidFill>
          <a:ln/>
        </p:spPr>
      </p:sp>
      <p:sp>
        <p:nvSpPr>
          <p:cNvPr id="18" name="Text 16"/>
          <p:cNvSpPr/>
          <p:nvPr/>
        </p:nvSpPr>
        <p:spPr>
          <a:xfrm>
            <a:off x="5120640" y="2249424"/>
            <a:ext cx="3566160" cy="256032"/>
          </a:xfrm>
          <a:prstGeom prst="rect">
            <a:avLst/>
          </a:prstGeom>
          <a:noFill/>
          <a:ln/>
        </p:spPr>
        <p:txBody>
          <a:bodyPr wrap="square" lIns="0" tIns="0" rIns="0" bIns="0" rtlCol="0" anchor="ctr"/>
          <a:lstStyle/>
          <a:p>
            <a:pPr marL="0" indent="0">
              <a:buNone/>
            </a:pPr>
            <a:r>
              <a:rPr lang="en-US" sz="1050" dirty="0">
                <a:solidFill>
                  <a:srgbClr val="F0F4FF"/>
                </a:solidFill>
              </a:rPr>
              <a:t>Blackwell/GB200 ramp</a:t>
            </a:r>
            <a:endParaRPr lang="en-US" sz="1050" dirty="0"/>
          </a:p>
        </p:txBody>
      </p:sp>
      <p:sp>
        <p:nvSpPr>
          <p:cNvPr id="19" name="Shape 17"/>
          <p:cNvSpPr/>
          <p:nvPr/>
        </p:nvSpPr>
        <p:spPr>
          <a:xfrm>
            <a:off x="4892040" y="2633472"/>
            <a:ext cx="128016" cy="128016"/>
          </a:xfrm>
          <a:prstGeom prst="ellipse">
            <a:avLst/>
          </a:prstGeom>
          <a:solidFill>
            <a:srgbClr val="10B981"/>
          </a:solidFill>
          <a:ln/>
        </p:spPr>
      </p:sp>
      <p:sp>
        <p:nvSpPr>
          <p:cNvPr id="20" name="Text 18"/>
          <p:cNvSpPr/>
          <p:nvPr/>
        </p:nvSpPr>
        <p:spPr>
          <a:xfrm>
            <a:off x="5120640" y="2578608"/>
            <a:ext cx="3566160" cy="256032"/>
          </a:xfrm>
          <a:prstGeom prst="rect">
            <a:avLst/>
          </a:prstGeom>
          <a:noFill/>
          <a:ln/>
        </p:spPr>
        <p:txBody>
          <a:bodyPr wrap="square" lIns="0" tIns="0" rIns="0" bIns="0" rtlCol="0" anchor="ctr"/>
          <a:lstStyle/>
          <a:p>
            <a:pPr marL="0" indent="0">
              <a:buNone/>
            </a:pPr>
            <a:r>
              <a:rPr lang="en-US" sz="1050" dirty="0">
                <a:solidFill>
                  <a:srgbClr val="F0F4FF"/>
                </a:solidFill>
              </a:rPr>
              <a:t>China export controls easing</a:t>
            </a:r>
            <a:endParaRPr lang="en-US" sz="1050" dirty="0"/>
          </a:p>
        </p:txBody>
      </p:sp>
      <p:sp>
        <p:nvSpPr>
          <p:cNvPr id="21" name="Shape 19"/>
          <p:cNvSpPr/>
          <p:nvPr/>
        </p:nvSpPr>
        <p:spPr>
          <a:xfrm>
            <a:off x="4892040" y="2962656"/>
            <a:ext cx="128016" cy="128016"/>
          </a:xfrm>
          <a:prstGeom prst="ellipse">
            <a:avLst/>
          </a:prstGeom>
          <a:solidFill>
            <a:srgbClr val="10B981"/>
          </a:solidFill>
          <a:ln/>
        </p:spPr>
      </p:sp>
      <p:sp>
        <p:nvSpPr>
          <p:cNvPr id="22" name="Text 20"/>
          <p:cNvSpPr/>
          <p:nvPr/>
        </p:nvSpPr>
        <p:spPr>
          <a:xfrm>
            <a:off x="5120640" y="2907792"/>
            <a:ext cx="3566160" cy="256032"/>
          </a:xfrm>
          <a:prstGeom prst="rect">
            <a:avLst/>
          </a:prstGeom>
          <a:noFill/>
          <a:ln/>
        </p:spPr>
        <p:txBody>
          <a:bodyPr wrap="square" lIns="0" tIns="0" rIns="0" bIns="0" rtlCol="0" anchor="ctr"/>
          <a:lstStyle/>
          <a:p>
            <a:pPr marL="0" indent="0">
              <a:buNone/>
            </a:pPr>
            <a:r>
              <a:rPr lang="en-US" sz="1050" dirty="0">
                <a:solidFill>
                  <a:srgbClr val="F0F4FF"/>
                </a:solidFill>
              </a:rPr>
              <a:t>HBM supply tightening</a:t>
            </a:r>
            <a:endParaRPr lang="en-US" sz="1050" dirty="0"/>
          </a:p>
        </p:txBody>
      </p:sp>
      <p:sp>
        <p:nvSpPr>
          <p:cNvPr id="23" name="Shape 21"/>
          <p:cNvSpPr/>
          <p:nvPr/>
        </p:nvSpPr>
        <p:spPr>
          <a:xfrm>
            <a:off x="4892040" y="3291840"/>
            <a:ext cx="128016" cy="128016"/>
          </a:xfrm>
          <a:prstGeom prst="ellipse">
            <a:avLst/>
          </a:prstGeom>
          <a:solidFill>
            <a:srgbClr val="10B981"/>
          </a:solidFill>
          <a:ln/>
        </p:spPr>
      </p:sp>
      <p:sp>
        <p:nvSpPr>
          <p:cNvPr id="24" name="Text 22"/>
          <p:cNvSpPr/>
          <p:nvPr/>
        </p:nvSpPr>
        <p:spPr>
          <a:xfrm>
            <a:off x="5120640" y="3236976"/>
            <a:ext cx="3566160" cy="256032"/>
          </a:xfrm>
          <a:prstGeom prst="rect">
            <a:avLst/>
          </a:prstGeom>
          <a:noFill/>
          <a:ln/>
        </p:spPr>
        <p:txBody>
          <a:bodyPr wrap="square" lIns="0" tIns="0" rIns="0" bIns="0" rtlCol="0" anchor="ctr"/>
          <a:lstStyle/>
          <a:p>
            <a:pPr marL="0" indent="0">
              <a:buNone/>
            </a:pPr>
            <a:r>
              <a:rPr lang="en-US" sz="1050" dirty="0">
                <a:solidFill>
                  <a:srgbClr val="F0F4FF"/>
                </a:solidFill>
              </a:rPr>
              <a:t>Custom ASIC delays at hyperscalers</a:t>
            </a:r>
            <a:endParaRPr lang="en-US" sz="1050" dirty="0"/>
          </a:p>
        </p:txBody>
      </p:sp>
      <p:sp>
        <p:nvSpPr>
          <p:cNvPr id="25" name="Text 23"/>
          <p:cNvSpPr/>
          <p:nvPr/>
        </p:nvSpPr>
        <p:spPr>
          <a:xfrm>
            <a:off x="320040" y="3730752"/>
            <a:ext cx="3657600" cy="256032"/>
          </a:xfrm>
          <a:prstGeom prst="rect">
            <a:avLst/>
          </a:prstGeom>
          <a:noFill/>
          <a:ln/>
        </p:spPr>
        <p:txBody>
          <a:bodyPr wrap="square" lIns="0" tIns="0" rIns="0" bIns="0" rtlCol="0" anchor="ctr"/>
          <a:lstStyle/>
          <a:p>
            <a:pPr marL="0" indent="0">
              <a:buNone/>
            </a:pPr>
            <a:r>
              <a:rPr lang="en-US" sz="900" b="1" kern="0" spc="200" dirty="0">
                <a:solidFill>
                  <a:srgbClr val="EF4444"/>
                </a:solidFill>
              </a:rPr>
              <a:t>KEY RISKS</a:t>
            </a:r>
            <a:endParaRPr lang="en-US" sz="900" dirty="0"/>
          </a:p>
        </p:txBody>
      </p:sp>
      <p:sp>
        <p:nvSpPr>
          <p:cNvPr id="26" name="Shape 24"/>
          <p:cNvSpPr/>
          <p:nvPr/>
        </p:nvSpPr>
        <p:spPr>
          <a:xfrm>
            <a:off x="320040" y="3977640"/>
            <a:ext cx="8503920" cy="914400"/>
          </a:xfrm>
          <a:prstGeom prst="rect">
            <a:avLst/>
          </a:prstGeom>
          <a:solidFill>
            <a:srgbClr val="162050"/>
          </a:solidFill>
          <a:ln w="6350">
            <a:solidFill>
              <a:srgbClr val="FFFFFF">
                <a:alpha val="10000"/>
              </a:srgbClr>
            </a:solidFill>
            <a:prstDash val="solid"/>
          </a:ln>
        </p:spPr>
      </p:sp>
      <p:sp>
        <p:nvSpPr>
          <p:cNvPr id="27" name="Shape 25"/>
          <p:cNvSpPr/>
          <p:nvPr/>
        </p:nvSpPr>
        <p:spPr>
          <a:xfrm>
            <a:off x="502920" y="4114800"/>
            <a:ext cx="1750102" cy="640080"/>
          </a:xfrm>
          <a:prstGeom prst="roundRect">
            <a:avLst>
              <a:gd name="adj" fmla="val 8571"/>
            </a:avLst>
          </a:prstGeom>
          <a:solidFill>
            <a:srgbClr val="EF4444">
              <a:alpha val="15000"/>
            </a:srgbClr>
          </a:solidFill>
          <a:ln/>
        </p:spPr>
      </p:sp>
      <p:sp>
        <p:nvSpPr>
          <p:cNvPr id="28" name="Text 26"/>
          <p:cNvSpPr/>
          <p:nvPr/>
        </p:nvSpPr>
        <p:spPr>
          <a:xfrm>
            <a:off x="502920" y="4114800"/>
            <a:ext cx="1750102" cy="640080"/>
          </a:xfrm>
          <a:prstGeom prst="rect">
            <a:avLst/>
          </a:prstGeom>
          <a:noFill/>
          <a:ln/>
        </p:spPr>
        <p:txBody>
          <a:bodyPr wrap="square" rtlCol="0" anchor="ctr"/>
          <a:lstStyle/>
          <a:p>
            <a:pPr marL="0" indent="0" algn="ctr">
              <a:buNone/>
            </a:pPr>
            <a:r>
              <a:rPr lang="en-US" sz="1000" dirty="0">
                <a:solidFill>
                  <a:srgbClr val="F0F4FF"/>
                </a:solidFill>
              </a:rPr>
              <a:t>⚠ Export restrictions</a:t>
            </a:r>
            <a:endParaRPr lang="en-US" sz="1000" dirty="0"/>
          </a:p>
        </p:txBody>
      </p:sp>
      <p:sp>
        <p:nvSpPr>
          <p:cNvPr id="29" name="Shape 27"/>
          <p:cNvSpPr/>
          <p:nvPr/>
        </p:nvSpPr>
        <p:spPr>
          <a:xfrm>
            <a:off x="2538508" y="4114800"/>
            <a:ext cx="1750102" cy="640080"/>
          </a:xfrm>
          <a:prstGeom prst="roundRect">
            <a:avLst>
              <a:gd name="adj" fmla="val 8571"/>
            </a:avLst>
          </a:prstGeom>
          <a:solidFill>
            <a:srgbClr val="EF4444">
              <a:alpha val="15000"/>
            </a:srgbClr>
          </a:solidFill>
          <a:ln/>
        </p:spPr>
      </p:sp>
      <p:sp>
        <p:nvSpPr>
          <p:cNvPr id="30" name="Text 28"/>
          <p:cNvSpPr/>
          <p:nvPr/>
        </p:nvSpPr>
        <p:spPr>
          <a:xfrm>
            <a:off x="2563167" y="4125593"/>
            <a:ext cx="1667955" cy="640080"/>
          </a:xfrm>
          <a:prstGeom prst="rect">
            <a:avLst/>
          </a:prstGeom>
          <a:noFill/>
          <a:ln/>
        </p:spPr>
        <p:txBody>
          <a:bodyPr wrap="square" rtlCol="0" anchor="ctr"/>
          <a:lstStyle/>
          <a:p>
            <a:pPr marL="0" indent="0" algn="ctr">
              <a:buNone/>
            </a:pPr>
            <a:r>
              <a:rPr lang="en-US" sz="1000" dirty="0">
                <a:solidFill>
                  <a:srgbClr val="F0F4FF"/>
                </a:solidFill>
              </a:rPr>
              <a:t>⚠ Geopolitical Taiwan risk</a:t>
            </a:r>
            <a:endParaRPr lang="en-US" sz="1000" dirty="0"/>
          </a:p>
        </p:txBody>
      </p:sp>
      <p:sp>
        <p:nvSpPr>
          <p:cNvPr id="31" name="Shape 29"/>
          <p:cNvSpPr/>
          <p:nvPr/>
        </p:nvSpPr>
        <p:spPr>
          <a:xfrm>
            <a:off x="4574097" y="4133088"/>
            <a:ext cx="1750102" cy="640080"/>
          </a:xfrm>
          <a:prstGeom prst="roundRect">
            <a:avLst>
              <a:gd name="adj" fmla="val 8571"/>
            </a:avLst>
          </a:prstGeom>
          <a:solidFill>
            <a:srgbClr val="EF4444">
              <a:alpha val="15000"/>
            </a:srgbClr>
          </a:solidFill>
          <a:ln/>
        </p:spPr>
      </p:sp>
      <p:sp>
        <p:nvSpPr>
          <p:cNvPr id="33" name="Shape 31"/>
          <p:cNvSpPr/>
          <p:nvPr/>
        </p:nvSpPr>
        <p:spPr>
          <a:xfrm>
            <a:off x="6591174" y="4142232"/>
            <a:ext cx="2025247" cy="640080"/>
          </a:xfrm>
          <a:prstGeom prst="roundRect">
            <a:avLst>
              <a:gd name="adj" fmla="val 8571"/>
            </a:avLst>
          </a:prstGeom>
          <a:solidFill>
            <a:srgbClr val="EF4444">
              <a:alpha val="15000"/>
            </a:srgbClr>
          </a:solidFill>
          <a:ln/>
        </p:spPr>
      </p:sp>
      <p:sp>
        <p:nvSpPr>
          <p:cNvPr id="32" name="Text 30"/>
          <p:cNvSpPr/>
          <p:nvPr/>
        </p:nvSpPr>
        <p:spPr>
          <a:xfrm>
            <a:off x="6381687" y="4123944"/>
            <a:ext cx="2468880" cy="640080"/>
          </a:xfrm>
          <a:prstGeom prst="rect">
            <a:avLst/>
          </a:prstGeom>
          <a:noFill/>
          <a:ln/>
        </p:spPr>
        <p:txBody>
          <a:bodyPr wrap="square" rtlCol="0" anchor="ctr"/>
          <a:lstStyle/>
          <a:p>
            <a:pPr marL="0" indent="0" algn="ctr">
              <a:buNone/>
            </a:pPr>
            <a:r>
              <a:rPr lang="en-US" sz="1000" dirty="0">
                <a:solidFill>
                  <a:srgbClr val="F0F4FF"/>
                </a:solidFill>
              </a:rPr>
              <a:t>⚠ Customer ASICs displacing</a:t>
            </a:r>
            <a:endParaRPr lang="en-US" sz="1000" dirty="0"/>
          </a:p>
        </p:txBody>
      </p:sp>
      <p:sp>
        <p:nvSpPr>
          <p:cNvPr id="34" name="Text 32"/>
          <p:cNvSpPr/>
          <p:nvPr/>
        </p:nvSpPr>
        <p:spPr>
          <a:xfrm>
            <a:off x="4155123" y="4101084"/>
            <a:ext cx="2468880" cy="640080"/>
          </a:xfrm>
          <a:prstGeom prst="rect">
            <a:avLst/>
          </a:prstGeom>
          <a:noFill/>
          <a:ln/>
        </p:spPr>
        <p:txBody>
          <a:bodyPr wrap="square" rtlCol="0" anchor="ctr"/>
          <a:lstStyle/>
          <a:p>
            <a:pPr marL="0" indent="0" algn="ctr">
              <a:buNone/>
            </a:pPr>
            <a:r>
              <a:rPr lang="en-US" sz="1000" dirty="0">
                <a:solidFill>
                  <a:srgbClr val="F0F4FF"/>
                </a:solidFill>
              </a:rPr>
              <a:t>⚠ Demand pull-forward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0B981"/>
          </a:solidFill>
          <a:ln/>
        </p:spPr>
      </p:sp>
      <p:sp>
        <p:nvSpPr>
          <p:cNvPr id="3" name="Text 1"/>
          <p:cNvSpPr/>
          <p:nvPr/>
        </p:nvSpPr>
        <p:spPr>
          <a:xfrm>
            <a:off x="320040" y="137160"/>
            <a:ext cx="1097280" cy="502920"/>
          </a:xfrm>
          <a:prstGeom prst="rect">
            <a:avLst/>
          </a:prstGeom>
          <a:noFill/>
          <a:ln/>
        </p:spPr>
        <p:txBody>
          <a:bodyPr wrap="square" rtlCol="0" anchor="ctr"/>
          <a:lstStyle/>
          <a:p>
            <a:pPr marL="0" indent="0" algn="ctr">
              <a:buNone/>
            </a:pPr>
            <a:r>
              <a:rPr lang="en-US" sz="2800" b="1" dirty="0">
                <a:solidFill>
                  <a:srgbClr val="10B981"/>
                </a:solidFill>
              </a:rPr>
              <a:t>02</a:t>
            </a:r>
            <a:endParaRPr lang="en-US" sz="2800" dirty="0"/>
          </a:p>
        </p:txBody>
      </p:sp>
      <p:sp>
        <p:nvSpPr>
          <p:cNvPr id="4" name="Text 2"/>
          <p:cNvSpPr/>
          <p:nvPr/>
        </p:nvSpPr>
        <p:spPr>
          <a:xfrm>
            <a:off x="1508760" y="137160"/>
            <a:ext cx="7315200" cy="256032"/>
          </a:xfrm>
          <a:prstGeom prst="rect">
            <a:avLst/>
          </a:prstGeom>
          <a:noFill/>
          <a:ln/>
        </p:spPr>
        <p:txBody>
          <a:bodyPr wrap="square" lIns="0" tIns="0" rIns="0" bIns="0" rtlCol="0" anchor="ctr"/>
          <a:lstStyle/>
          <a:p>
            <a:pPr marL="0" indent="0">
              <a:buNone/>
            </a:pPr>
            <a:r>
              <a:rPr lang="en-US" sz="900" b="1" kern="0" spc="300" dirty="0">
                <a:solidFill>
                  <a:srgbClr val="10B981"/>
                </a:solidFill>
              </a:rPr>
              <a:t>LAYER 2 — SEMICONDUCTORS</a:t>
            </a:r>
            <a:endParaRPr lang="en-US" sz="900" dirty="0"/>
          </a:p>
        </p:txBody>
      </p:sp>
      <p:sp>
        <p:nvSpPr>
          <p:cNvPr id="5" name="Text 3"/>
          <p:cNvSpPr/>
          <p:nvPr/>
        </p:nvSpPr>
        <p:spPr>
          <a:xfrm>
            <a:off x="1508760" y="288036"/>
            <a:ext cx="7315200" cy="347472"/>
          </a:xfrm>
          <a:prstGeom prst="rect">
            <a:avLst/>
          </a:prstGeom>
          <a:noFill/>
          <a:ln/>
        </p:spPr>
        <p:txBody>
          <a:bodyPr wrap="square" lIns="0" tIns="0" rIns="0" bIns="0" rtlCol="0" anchor="ctr"/>
          <a:lstStyle/>
          <a:p>
            <a:pPr marL="0" indent="0">
              <a:buNone/>
            </a:pPr>
            <a:r>
              <a:rPr lang="en-US" sz="1400" b="1" dirty="0">
                <a:solidFill>
                  <a:srgbClr val="FFFFFF"/>
                </a:solidFill>
              </a:rPr>
              <a:t>The value-density capital of the AI economy — logic, memory, foundry &amp; design tools</a:t>
            </a:r>
            <a:endParaRPr lang="en-US" sz="1400" dirty="0"/>
          </a:p>
        </p:txBody>
      </p:sp>
      <p:sp>
        <p:nvSpPr>
          <p:cNvPr id="6" name="Shape 4"/>
          <p:cNvSpPr/>
          <p:nvPr/>
        </p:nvSpPr>
        <p:spPr>
          <a:xfrm>
            <a:off x="274320" y="822960"/>
            <a:ext cx="8595360" cy="1316736"/>
          </a:xfrm>
          <a:prstGeom prst="rect">
            <a:avLst/>
          </a:prstGeom>
          <a:solidFill>
            <a:srgbClr val="1A2850"/>
          </a:solidFill>
          <a:ln w="6350">
            <a:solidFill>
              <a:srgbClr val="FFFFFF">
                <a:alpha val="6000"/>
              </a:srgbClr>
            </a:solidFill>
            <a:prstDash val="solid"/>
          </a:ln>
        </p:spPr>
      </p:sp>
      <p:sp>
        <p:nvSpPr>
          <p:cNvPr id="7" name="Text 5"/>
          <p:cNvSpPr/>
          <p:nvPr/>
        </p:nvSpPr>
        <p:spPr>
          <a:xfrm>
            <a:off x="411480" y="797117"/>
            <a:ext cx="8229600" cy="256032"/>
          </a:xfrm>
          <a:prstGeom prst="rect">
            <a:avLst/>
          </a:prstGeom>
          <a:noFill/>
          <a:ln/>
        </p:spPr>
        <p:txBody>
          <a:bodyPr wrap="square" lIns="0" tIns="0" rIns="0" bIns="0" rtlCol="0" anchor="ctr"/>
          <a:lstStyle/>
          <a:p>
            <a:pPr marL="0" indent="0">
              <a:buNone/>
            </a:pPr>
            <a:r>
              <a:rPr lang="en-US" sz="900" b="1" kern="0" spc="200" dirty="0">
                <a:solidFill>
                  <a:srgbClr val="10B981"/>
                </a:solidFill>
              </a:rPr>
              <a:t>THE CHIP ECOSYSTEM: FIVE DISTINCT SUB-INDUSTRIES</a:t>
            </a:r>
            <a:endParaRPr lang="en-US" sz="900" dirty="0"/>
          </a:p>
        </p:txBody>
      </p:sp>
      <p:sp>
        <p:nvSpPr>
          <p:cNvPr id="8" name="Shape 6"/>
          <p:cNvSpPr/>
          <p:nvPr/>
        </p:nvSpPr>
        <p:spPr>
          <a:xfrm>
            <a:off x="274320" y="1051561"/>
            <a:ext cx="1627632" cy="987552"/>
          </a:xfrm>
          <a:prstGeom prst="roundRect">
            <a:avLst>
              <a:gd name="adj" fmla="val 7407"/>
            </a:avLst>
          </a:prstGeom>
          <a:solidFill>
            <a:srgbClr val="065F46"/>
          </a:solidFill>
          <a:ln/>
        </p:spPr>
      </p:sp>
      <p:sp>
        <p:nvSpPr>
          <p:cNvPr id="9" name="Text 7"/>
          <p:cNvSpPr/>
          <p:nvPr/>
        </p:nvSpPr>
        <p:spPr>
          <a:xfrm>
            <a:off x="274320" y="1069849"/>
            <a:ext cx="1627632" cy="347472"/>
          </a:xfrm>
          <a:prstGeom prst="rect">
            <a:avLst/>
          </a:prstGeom>
          <a:noFill/>
          <a:ln/>
        </p:spPr>
        <p:txBody>
          <a:bodyPr wrap="square" rtlCol="0" anchor="ctr"/>
          <a:lstStyle/>
          <a:p>
            <a:pPr marL="0" indent="0" algn="ctr">
              <a:buNone/>
            </a:pPr>
            <a:r>
              <a:rPr lang="en-US" sz="1050" b="1" dirty="0">
                <a:solidFill>
                  <a:srgbClr val="FFFFFF"/>
                </a:solidFill>
              </a:rPr>
              <a:t>EDA</a:t>
            </a:r>
            <a:r>
              <a:rPr lang="en-US" sz="1050" dirty="0"/>
              <a:t> </a:t>
            </a:r>
            <a:r>
              <a:rPr lang="en-US" sz="1050" b="1" dirty="0">
                <a:solidFill>
                  <a:srgbClr val="FFFFFF"/>
                </a:solidFill>
              </a:rPr>
              <a:t>Software</a:t>
            </a:r>
            <a:endParaRPr lang="en-US" sz="1050" dirty="0"/>
          </a:p>
        </p:txBody>
      </p:sp>
      <p:sp>
        <p:nvSpPr>
          <p:cNvPr id="10" name="Text 8"/>
          <p:cNvSpPr/>
          <p:nvPr/>
        </p:nvSpPr>
        <p:spPr>
          <a:xfrm>
            <a:off x="347472" y="1351327"/>
            <a:ext cx="1481328" cy="228600"/>
          </a:xfrm>
          <a:prstGeom prst="rect">
            <a:avLst/>
          </a:prstGeom>
          <a:noFill/>
          <a:ln/>
        </p:spPr>
        <p:txBody>
          <a:bodyPr wrap="square" rtlCol="0" anchor="ctr"/>
          <a:lstStyle/>
          <a:p>
            <a:pPr marL="0" indent="0" algn="ctr">
              <a:buNone/>
            </a:pPr>
            <a:r>
              <a:rPr lang="en-US" sz="800" dirty="0">
                <a:solidFill>
                  <a:srgbClr val="E2E8F5"/>
                </a:solidFill>
              </a:rPr>
              <a:t>Synopsys</a:t>
            </a:r>
            <a:r>
              <a:rPr lang="en-US" sz="800" dirty="0"/>
              <a:t>, </a:t>
            </a:r>
            <a:r>
              <a:rPr lang="en-US" sz="800" dirty="0">
                <a:solidFill>
                  <a:srgbClr val="E2E8F5"/>
                </a:solidFill>
              </a:rPr>
              <a:t>Cadence</a:t>
            </a:r>
            <a:endParaRPr lang="en-US" sz="800" dirty="0"/>
          </a:p>
          <a:p>
            <a:pPr marL="0" indent="0" algn="ctr">
              <a:buNone/>
            </a:pPr>
            <a:r>
              <a:rPr lang="en-US" sz="800" dirty="0">
                <a:solidFill>
                  <a:srgbClr val="E2E8F5"/>
                </a:solidFill>
              </a:rPr>
              <a:t>Siemens EDA</a:t>
            </a:r>
            <a:endParaRPr lang="en-US" sz="800" dirty="0"/>
          </a:p>
        </p:txBody>
      </p:sp>
      <p:sp>
        <p:nvSpPr>
          <p:cNvPr id="11" name="Text 9"/>
          <p:cNvSpPr/>
          <p:nvPr/>
        </p:nvSpPr>
        <p:spPr>
          <a:xfrm>
            <a:off x="320040" y="1609345"/>
            <a:ext cx="1536192" cy="347472"/>
          </a:xfrm>
          <a:prstGeom prst="rect">
            <a:avLst/>
          </a:prstGeom>
          <a:noFill/>
          <a:ln/>
        </p:spPr>
        <p:txBody>
          <a:bodyPr wrap="square" rtlCol="0" anchor="ctr"/>
          <a:lstStyle/>
          <a:p>
            <a:pPr marL="0" indent="0" algn="ctr">
              <a:buNone/>
            </a:pPr>
            <a:r>
              <a:rPr lang="en-US" sz="800" dirty="0">
                <a:solidFill>
                  <a:srgbClr val="84CC16"/>
                </a:solidFill>
              </a:rPr>
              <a:t>Duopoly with 25+ yr switching cost. Every chip ever designed uses their tools.</a:t>
            </a:r>
            <a:endParaRPr lang="en-US" sz="800" dirty="0"/>
          </a:p>
        </p:txBody>
      </p:sp>
      <p:sp>
        <p:nvSpPr>
          <p:cNvPr id="12" name="Shape 10"/>
          <p:cNvSpPr/>
          <p:nvPr/>
        </p:nvSpPr>
        <p:spPr>
          <a:xfrm>
            <a:off x="2011680" y="1051561"/>
            <a:ext cx="1627632" cy="987552"/>
          </a:xfrm>
          <a:prstGeom prst="roundRect">
            <a:avLst>
              <a:gd name="adj" fmla="val 7407"/>
            </a:avLst>
          </a:prstGeom>
          <a:solidFill>
            <a:srgbClr val="064E3B"/>
          </a:solidFill>
          <a:ln/>
        </p:spPr>
      </p:sp>
      <p:sp>
        <p:nvSpPr>
          <p:cNvPr id="13" name="Text 11"/>
          <p:cNvSpPr/>
          <p:nvPr/>
        </p:nvSpPr>
        <p:spPr>
          <a:xfrm>
            <a:off x="2011680" y="1069849"/>
            <a:ext cx="1627632" cy="347472"/>
          </a:xfrm>
          <a:prstGeom prst="rect">
            <a:avLst/>
          </a:prstGeom>
          <a:noFill/>
          <a:ln/>
        </p:spPr>
        <p:txBody>
          <a:bodyPr wrap="square" rtlCol="0" anchor="ctr"/>
          <a:lstStyle/>
          <a:p>
            <a:pPr marL="0" indent="0" algn="ctr">
              <a:buNone/>
            </a:pPr>
            <a:r>
              <a:rPr lang="en-US" sz="1050" b="1" dirty="0">
                <a:solidFill>
                  <a:srgbClr val="FFFFFF"/>
                </a:solidFill>
              </a:rPr>
              <a:t>Materials</a:t>
            </a:r>
            <a:r>
              <a:rPr lang="en-US" sz="1050" dirty="0"/>
              <a:t> </a:t>
            </a:r>
            <a:r>
              <a:rPr lang="en-US" sz="1050" b="1" dirty="0">
                <a:solidFill>
                  <a:srgbClr val="FFFFFF"/>
                </a:solidFill>
              </a:rPr>
              <a:t>&amp; Gases</a:t>
            </a:r>
            <a:endParaRPr lang="en-US" sz="1050" dirty="0"/>
          </a:p>
        </p:txBody>
      </p:sp>
      <p:sp>
        <p:nvSpPr>
          <p:cNvPr id="14" name="Text 12"/>
          <p:cNvSpPr/>
          <p:nvPr/>
        </p:nvSpPr>
        <p:spPr>
          <a:xfrm>
            <a:off x="2084832" y="1359278"/>
            <a:ext cx="1481328" cy="228600"/>
          </a:xfrm>
          <a:prstGeom prst="rect">
            <a:avLst/>
          </a:prstGeom>
          <a:noFill/>
          <a:ln/>
        </p:spPr>
        <p:txBody>
          <a:bodyPr wrap="square" rtlCol="0" anchor="ctr"/>
          <a:lstStyle/>
          <a:p>
            <a:pPr marL="0" indent="0" algn="ctr">
              <a:buNone/>
            </a:pPr>
            <a:r>
              <a:rPr lang="en-US" sz="800" dirty="0">
                <a:solidFill>
                  <a:srgbClr val="E2E8F5"/>
                </a:solidFill>
              </a:rPr>
              <a:t>Air Products</a:t>
            </a:r>
            <a:r>
              <a:rPr lang="en-US" sz="800" dirty="0"/>
              <a:t>, </a:t>
            </a:r>
            <a:r>
              <a:rPr lang="en-US" sz="800" dirty="0">
                <a:solidFill>
                  <a:srgbClr val="E2E8F5"/>
                </a:solidFill>
              </a:rPr>
              <a:t>Linde</a:t>
            </a:r>
            <a:endParaRPr lang="en-US" sz="800" dirty="0"/>
          </a:p>
          <a:p>
            <a:pPr marL="0" indent="0" algn="ctr">
              <a:buNone/>
            </a:pPr>
            <a:r>
              <a:rPr lang="en-US" sz="800" dirty="0">
                <a:solidFill>
                  <a:srgbClr val="E2E8F5"/>
                </a:solidFill>
              </a:rPr>
              <a:t>Showa Denko</a:t>
            </a:r>
            <a:endParaRPr lang="en-US" sz="800" dirty="0"/>
          </a:p>
        </p:txBody>
      </p:sp>
      <p:sp>
        <p:nvSpPr>
          <p:cNvPr id="15" name="Text 13"/>
          <p:cNvSpPr/>
          <p:nvPr/>
        </p:nvSpPr>
        <p:spPr>
          <a:xfrm>
            <a:off x="2057400" y="1609345"/>
            <a:ext cx="1536192" cy="347472"/>
          </a:xfrm>
          <a:prstGeom prst="rect">
            <a:avLst/>
          </a:prstGeom>
          <a:noFill/>
          <a:ln/>
        </p:spPr>
        <p:txBody>
          <a:bodyPr wrap="square" rtlCol="0" anchor="ctr"/>
          <a:lstStyle/>
          <a:p>
            <a:pPr marL="0" indent="0" algn="ctr">
              <a:buNone/>
            </a:pPr>
            <a:r>
              <a:rPr lang="en-US" sz="800" dirty="0">
                <a:solidFill>
                  <a:srgbClr val="84CC16"/>
                </a:solidFill>
              </a:rPr>
              <a:t>Ultra-pure gases (neon, argon, silane) — specs so tight only incumbents qualify.</a:t>
            </a:r>
            <a:endParaRPr lang="en-US" sz="800" dirty="0"/>
          </a:p>
        </p:txBody>
      </p:sp>
      <p:sp>
        <p:nvSpPr>
          <p:cNvPr id="16" name="Shape 14"/>
          <p:cNvSpPr/>
          <p:nvPr/>
        </p:nvSpPr>
        <p:spPr>
          <a:xfrm>
            <a:off x="3749040" y="1051561"/>
            <a:ext cx="1627632" cy="987552"/>
          </a:xfrm>
          <a:prstGeom prst="roundRect">
            <a:avLst>
              <a:gd name="adj" fmla="val 7407"/>
            </a:avLst>
          </a:prstGeom>
          <a:solidFill>
            <a:srgbClr val="065F46"/>
          </a:solidFill>
          <a:ln/>
        </p:spPr>
      </p:sp>
      <p:sp>
        <p:nvSpPr>
          <p:cNvPr id="17" name="Text 15"/>
          <p:cNvSpPr/>
          <p:nvPr/>
        </p:nvSpPr>
        <p:spPr>
          <a:xfrm>
            <a:off x="3749040" y="1069849"/>
            <a:ext cx="1627632" cy="347472"/>
          </a:xfrm>
          <a:prstGeom prst="rect">
            <a:avLst/>
          </a:prstGeom>
          <a:noFill/>
          <a:ln/>
        </p:spPr>
        <p:txBody>
          <a:bodyPr wrap="square" rtlCol="0" anchor="ctr"/>
          <a:lstStyle/>
          <a:p>
            <a:pPr marL="0" indent="0" algn="ctr">
              <a:buNone/>
            </a:pPr>
            <a:r>
              <a:rPr lang="en-US" sz="1050" b="1" dirty="0">
                <a:solidFill>
                  <a:srgbClr val="FFFFFF"/>
                </a:solidFill>
              </a:rPr>
              <a:t>Lithography (EUV)</a:t>
            </a:r>
            <a:endParaRPr lang="en-US" sz="1050" dirty="0"/>
          </a:p>
        </p:txBody>
      </p:sp>
      <p:sp>
        <p:nvSpPr>
          <p:cNvPr id="18" name="Text 16"/>
          <p:cNvSpPr/>
          <p:nvPr/>
        </p:nvSpPr>
        <p:spPr>
          <a:xfrm>
            <a:off x="3822192" y="1351327"/>
            <a:ext cx="1481328" cy="228600"/>
          </a:xfrm>
          <a:prstGeom prst="rect">
            <a:avLst/>
          </a:prstGeom>
          <a:noFill/>
          <a:ln/>
        </p:spPr>
        <p:txBody>
          <a:bodyPr wrap="square" rtlCol="0" anchor="ctr"/>
          <a:lstStyle/>
          <a:p>
            <a:pPr marL="0" indent="0" algn="ctr">
              <a:buNone/>
            </a:pPr>
            <a:r>
              <a:rPr lang="en-US" sz="800" dirty="0">
                <a:solidFill>
                  <a:srgbClr val="E2E8F5"/>
                </a:solidFill>
              </a:rPr>
              <a:t>ASML</a:t>
            </a:r>
            <a:r>
              <a:rPr lang="en-US" sz="800" dirty="0"/>
              <a:t>, </a:t>
            </a:r>
            <a:r>
              <a:rPr lang="en-US" sz="800" dirty="0">
                <a:solidFill>
                  <a:srgbClr val="E2E8F5"/>
                </a:solidFill>
              </a:rPr>
              <a:t>Nikon, Canon</a:t>
            </a:r>
            <a:endParaRPr lang="en-US" sz="800" dirty="0"/>
          </a:p>
        </p:txBody>
      </p:sp>
      <p:sp>
        <p:nvSpPr>
          <p:cNvPr id="19" name="Text 17"/>
          <p:cNvSpPr/>
          <p:nvPr/>
        </p:nvSpPr>
        <p:spPr>
          <a:xfrm>
            <a:off x="3794760" y="1609345"/>
            <a:ext cx="1536192" cy="347472"/>
          </a:xfrm>
          <a:prstGeom prst="rect">
            <a:avLst/>
          </a:prstGeom>
          <a:noFill/>
          <a:ln/>
        </p:spPr>
        <p:txBody>
          <a:bodyPr wrap="square" rtlCol="0" anchor="ctr"/>
          <a:lstStyle/>
          <a:p>
            <a:pPr marL="0" indent="0" algn="ctr">
              <a:buNone/>
            </a:pPr>
            <a:r>
              <a:rPr lang="en-US" sz="800" dirty="0">
                <a:solidFill>
                  <a:srgbClr val="84CC16"/>
                </a:solidFill>
              </a:rPr>
              <a:t>ASML is absolute monopoly on EUV. 30 years of IP in 100,000+ components.</a:t>
            </a:r>
            <a:endParaRPr lang="en-US" sz="800" dirty="0"/>
          </a:p>
        </p:txBody>
      </p:sp>
      <p:sp>
        <p:nvSpPr>
          <p:cNvPr id="20" name="Shape 18"/>
          <p:cNvSpPr/>
          <p:nvPr/>
        </p:nvSpPr>
        <p:spPr>
          <a:xfrm>
            <a:off x="5486400" y="1051561"/>
            <a:ext cx="1627632" cy="987552"/>
          </a:xfrm>
          <a:prstGeom prst="roundRect">
            <a:avLst>
              <a:gd name="adj" fmla="val 7407"/>
            </a:avLst>
          </a:prstGeom>
          <a:solidFill>
            <a:srgbClr val="064E3B"/>
          </a:solidFill>
          <a:ln/>
        </p:spPr>
      </p:sp>
      <p:sp>
        <p:nvSpPr>
          <p:cNvPr id="21" name="Text 19"/>
          <p:cNvSpPr/>
          <p:nvPr/>
        </p:nvSpPr>
        <p:spPr>
          <a:xfrm>
            <a:off x="5486400" y="1069849"/>
            <a:ext cx="1627632" cy="347472"/>
          </a:xfrm>
          <a:prstGeom prst="rect">
            <a:avLst/>
          </a:prstGeom>
          <a:noFill/>
          <a:ln/>
        </p:spPr>
        <p:txBody>
          <a:bodyPr wrap="square" rtlCol="0" anchor="ctr"/>
          <a:lstStyle/>
          <a:p>
            <a:pPr marL="0" indent="0" algn="ctr">
              <a:buNone/>
            </a:pPr>
            <a:r>
              <a:rPr lang="en-US" sz="1050" b="1" dirty="0">
                <a:solidFill>
                  <a:srgbClr val="FFFFFF"/>
                </a:solidFill>
              </a:rPr>
              <a:t>Foundry</a:t>
            </a:r>
            <a:r>
              <a:rPr lang="en-US" sz="1050" dirty="0"/>
              <a:t> </a:t>
            </a:r>
            <a:r>
              <a:rPr lang="en-US" sz="1050" b="1" dirty="0">
                <a:solidFill>
                  <a:srgbClr val="FFFFFF"/>
                </a:solidFill>
              </a:rPr>
              <a:t>(Fab)</a:t>
            </a:r>
            <a:endParaRPr lang="en-US" sz="1050" dirty="0"/>
          </a:p>
        </p:txBody>
      </p:sp>
      <p:sp>
        <p:nvSpPr>
          <p:cNvPr id="22" name="Text 20"/>
          <p:cNvSpPr/>
          <p:nvPr/>
        </p:nvSpPr>
        <p:spPr>
          <a:xfrm>
            <a:off x="5559552" y="1343376"/>
            <a:ext cx="1481328" cy="228600"/>
          </a:xfrm>
          <a:prstGeom prst="rect">
            <a:avLst/>
          </a:prstGeom>
          <a:noFill/>
          <a:ln/>
        </p:spPr>
        <p:txBody>
          <a:bodyPr wrap="square" rtlCol="0" anchor="ctr"/>
          <a:lstStyle/>
          <a:p>
            <a:pPr marL="0" indent="0" algn="ctr">
              <a:buNone/>
            </a:pPr>
            <a:r>
              <a:rPr lang="en-US" sz="800" dirty="0">
                <a:solidFill>
                  <a:srgbClr val="E2E8F5"/>
                </a:solidFill>
              </a:rPr>
              <a:t>TSMC</a:t>
            </a:r>
            <a:r>
              <a:rPr lang="en-US" sz="800" dirty="0"/>
              <a:t>, </a:t>
            </a:r>
            <a:r>
              <a:rPr lang="en-US" sz="800" dirty="0">
                <a:solidFill>
                  <a:srgbClr val="E2E8F5"/>
                </a:solidFill>
              </a:rPr>
              <a:t>Samsung, Intel Foundry</a:t>
            </a:r>
            <a:endParaRPr lang="en-US" sz="800" dirty="0"/>
          </a:p>
        </p:txBody>
      </p:sp>
      <p:sp>
        <p:nvSpPr>
          <p:cNvPr id="23" name="Text 21"/>
          <p:cNvSpPr/>
          <p:nvPr/>
        </p:nvSpPr>
        <p:spPr>
          <a:xfrm>
            <a:off x="5532120" y="1609345"/>
            <a:ext cx="1536192" cy="347472"/>
          </a:xfrm>
          <a:prstGeom prst="rect">
            <a:avLst/>
          </a:prstGeom>
          <a:noFill/>
          <a:ln/>
        </p:spPr>
        <p:txBody>
          <a:bodyPr wrap="square" rtlCol="0" anchor="ctr"/>
          <a:lstStyle/>
          <a:p>
            <a:pPr marL="0" indent="0" algn="ctr">
              <a:buNone/>
            </a:pPr>
            <a:r>
              <a:rPr lang="en-US" sz="800" dirty="0">
                <a:solidFill>
                  <a:srgbClr val="84CC16"/>
                </a:solidFill>
              </a:rPr>
              <a:t>TSMC 3nm = 90%+ share. 5-year yield learning curve. Cannot be replicated quickly.</a:t>
            </a:r>
            <a:endParaRPr lang="en-US" sz="800" dirty="0"/>
          </a:p>
        </p:txBody>
      </p:sp>
      <p:sp>
        <p:nvSpPr>
          <p:cNvPr id="24" name="Shape 22"/>
          <p:cNvSpPr/>
          <p:nvPr/>
        </p:nvSpPr>
        <p:spPr>
          <a:xfrm>
            <a:off x="7223760" y="1051561"/>
            <a:ext cx="1627632" cy="987552"/>
          </a:xfrm>
          <a:prstGeom prst="roundRect">
            <a:avLst>
              <a:gd name="adj" fmla="val 7407"/>
            </a:avLst>
          </a:prstGeom>
          <a:solidFill>
            <a:srgbClr val="065F46"/>
          </a:solidFill>
          <a:ln/>
        </p:spPr>
      </p:sp>
      <p:sp>
        <p:nvSpPr>
          <p:cNvPr id="25" name="Text 23"/>
          <p:cNvSpPr/>
          <p:nvPr/>
        </p:nvSpPr>
        <p:spPr>
          <a:xfrm>
            <a:off x="7221772" y="1031682"/>
            <a:ext cx="1627632" cy="347472"/>
          </a:xfrm>
          <a:prstGeom prst="rect">
            <a:avLst/>
          </a:prstGeom>
          <a:noFill/>
          <a:ln/>
        </p:spPr>
        <p:txBody>
          <a:bodyPr wrap="square" rtlCol="0" anchor="ctr"/>
          <a:lstStyle/>
          <a:p>
            <a:pPr marL="0" indent="0" algn="ctr">
              <a:buNone/>
            </a:pPr>
            <a:r>
              <a:rPr lang="en-US" sz="1050" b="1" dirty="0">
                <a:solidFill>
                  <a:srgbClr val="FFFFFF"/>
                </a:solidFill>
              </a:rPr>
              <a:t>Memory</a:t>
            </a:r>
            <a:endParaRPr lang="en-US" sz="1050" dirty="0"/>
          </a:p>
          <a:p>
            <a:pPr marL="0" indent="0" algn="ctr">
              <a:buNone/>
            </a:pPr>
            <a:r>
              <a:rPr lang="en-US" sz="1050" b="1" dirty="0">
                <a:solidFill>
                  <a:srgbClr val="FFFFFF"/>
                </a:solidFill>
              </a:rPr>
              <a:t>(HBM/DRAM)</a:t>
            </a:r>
            <a:endParaRPr lang="en-US" sz="1050" dirty="0"/>
          </a:p>
        </p:txBody>
      </p:sp>
      <p:sp>
        <p:nvSpPr>
          <p:cNvPr id="26" name="Text 24"/>
          <p:cNvSpPr/>
          <p:nvPr/>
        </p:nvSpPr>
        <p:spPr>
          <a:xfrm>
            <a:off x="7269480" y="1352121"/>
            <a:ext cx="1508760" cy="211903"/>
          </a:xfrm>
          <a:prstGeom prst="rect">
            <a:avLst/>
          </a:prstGeom>
          <a:noFill/>
          <a:ln/>
        </p:spPr>
        <p:txBody>
          <a:bodyPr wrap="square" rtlCol="0" anchor="ctr"/>
          <a:lstStyle/>
          <a:p>
            <a:pPr marL="0" indent="0" algn="ctr">
              <a:buNone/>
            </a:pPr>
            <a:r>
              <a:rPr lang="en-US" sz="800" dirty="0">
                <a:solidFill>
                  <a:srgbClr val="E2E8F5"/>
                </a:solidFill>
              </a:rPr>
              <a:t>SK Hynix</a:t>
            </a:r>
            <a:r>
              <a:rPr lang="en-US" sz="800" dirty="0"/>
              <a:t>  </a:t>
            </a:r>
            <a:r>
              <a:rPr lang="en-US" sz="800" dirty="0">
                <a:solidFill>
                  <a:srgbClr val="E2E8F5"/>
                </a:solidFill>
              </a:rPr>
              <a:t>Samsung</a:t>
            </a:r>
            <a:r>
              <a:rPr lang="en-US" sz="800" dirty="0"/>
              <a:t>, </a:t>
            </a:r>
            <a:r>
              <a:rPr lang="en-US" sz="800" dirty="0">
                <a:solidFill>
                  <a:srgbClr val="E2E8F5"/>
                </a:solidFill>
              </a:rPr>
              <a:t>Micron</a:t>
            </a:r>
            <a:endParaRPr lang="en-US" sz="800" dirty="0"/>
          </a:p>
        </p:txBody>
      </p:sp>
      <p:sp>
        <p:nvSpPr>
          <p:cNvPr id="27" name="Text 25"/>
          <p:cNvSpPr/>
          <p:nvPr/>
        </p:nvSpPr>
        <p:spPr>
          <a:xfrm>
            <a:off x="7269480" y="1609345"/>
            <a:ext cx="1536192" cy="347472"/>
          </a:xfrm>
          <a:prstGeom prst="rect">
            <a:avLst/>
          </a:prstGeom>
          <a:noFill/>
          <a:ln/>
        </p:spPr>
        <p:txBody>
          <a:bodyPr wrap="square" rtlCol="0" anchor="ctr"/>
          <a:lstStyle/>
          <a:p>
            <a:pPr marL="0" indent="0" algn="ctr">
              <a:buNone/>
            </a:pPr>
            <a:r>
              <a:rPr lang="en-US" sz="800" dirty="0">
                <a:solidFill>
                  <a:srgbClr val="84CC16"/>
                </a:solidFill>
              </a:rPr>
              <a:t>HBM: SK Hynix 50% share. Process integration with GPU via CoWoS is the moat.</a:t>
            </a:r>
            <a:endParaRPr lang="en-US" sz="800" dirty="0"/>
          </a:p>
        </p:txBody>
      </p:sp>
      <p:sp>
        <p:nvSpPr>
          <p:cNvPr id="28" name="Shape 26"/>
          <p:cNvSpPr/>
          <p:nvPr/>
        </p:nvSpPr>
        <p:spPr>
          <a:xfrm>
            <a:off x="228202" y="2218016"/>
            <a:ext cx="8595360" cy="256032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29" name="Text 27"/>
          <p:cNvSpPr/>
          <p:nvPr/>
        </p:nvSpPr>
        <p:spPr>
          <a:xfrm>
            <a:off x="365362" y="2185419"/>
            <a:ext cx="8229600" cy="256032"/>
          </a:xfrm>
          <a:prstGeom prst="rect">
            <a:avLst/>
          </a:prstGeom>
          <a:noFill/>
          <a:ln/>
        </p:spPr>
        <p:txBody>
          <a:bodyPr wrap="square" lIns="0" tIns="0" rIns="0" bIns="0" rtlCol="0" anchor="ctr"/>
          <a:lstStyle/>
          <a:p>
            <a:pPr marL="0" indent="0">
              <a:buNone/>
            </a:pPr>
            <a:r>
              <a:rPr lang="en-US" sz="900" b="1" kern="0" spc="200" dirty="0">
                <a:solidFill>
                  <a:srgbClr val="10B981"/>
                </a:solidFill>
              </a:rPr>
              <a:t>PLAYER DEEP-DIVE: MOAT ANATOMY</a:t>
            </a:r>
            <a:endParaRPr lang="en-US" sz="900" dirty="0"/>
          </a:p>
        </p:txBody>
      </p:sp>
      <p:sp>
        <p:nvSpPr>
          <p:cNvPr id="30" name="Shape 28"/>
          <p:cNvSpPr/>
          <p:nvPr/>
        </p:nvSpPr>
        <p:spPr>
          <a:xfrm>
            <a:off x="301354" y="2417598"/>
            <a:ext cx="4224528" cy="1325880"/>
          </a:xfrm>
          <a:prstGeom prst="roundRect">
            <a:avLst>
              <a:gd name="adj" fmla="val 4828"/>
            </a:avLst>
          </a:prstGeom>
          <a:solidFill>
            <a:srgbClr val="111830"/>
          </a:solidFill>
          <a:ln/>
        </p:spPr>
      </p:sp>
      <p:sp>
        <p:nvSpPr>
          <p:cNvPr id="31" name="Text 29"/>
          <p:cNvSpPr/>
          <p:nvPr/>
        </p:nvSpPr>
        <p:spPr>
          <a:xfrm>
            <a:off x="411082" y="2454174"/>
            <a:ext cx="2847996" cy="237744"/>
          </a:xfrm>
          <a:prstGeom prst="rect">
            <a:avLst/>
          </a:prstGeom>
          <a:noFill/>
          <a:ln/>
        </p:spPr>
        <p:txBody>
          <a:bodyPr wrap="square" lIns="0" tIns="0" rIns="0" bIns="0" rtlCol="0" anchor="ctr"/>
          <a:lstStyle/>
          <a:p>
            <a:pPr marL="0" indent="0">
              <a:buNone/>
            </a:pPr>
            <a:r>
              <a:rPr lang="en-US" sz="1000" b="1" dirty="0">
                <a:solidFill>
                  <a:srgbClr val="10B981"/>
                </a:solidFill>
              </a:rPr>
              <a:t>NVIDIA $NVDA</a:t>
            </a:r>
            <a:endParaRPr lang="en-US" sz="1000" dirty="0"/>
          </a:p>
        </p:txBody>
      </p:sp>
      <p:sp>
        <p:nvSpPr>
          <p:cNvPr id="32" name="Text 30"/>
          <p:cNvSpPr/>
          <p:nvPr/>
        </p:nvSpPr>
        <p:spPr>
          <a:xfrm>
            <a:off x="411081" y="2691918"/>
            <a:ext cx="3987195" cy="256032"/>
          </a:xfrm>
          <a:prstGeom prst="rect">
            <a:avLst/>
          </a:prstGeom>
          <a:noFill/>
          <a:ln/>
        </p:spPr>
        <p:txBody>
          <a:bodyPr wrap="square" lIns="0" tIns="0" rIns="0" bIns="0" rtlCol="0" anchor="ctr"/>
          <a:lstStyle/>
          <a:p>
            <a:pPr marL="0" indent="0">
              <a:buNone/>
            </a:pPr>
            <a:r>
              <a:rPr lang="en-US" sz="750" dirty="0">
                <a:solidFill>
                  <a:srgbClr val="E2E8F5"/>
                </a:solidFill>
              </a:rPr>
              <a:t>MOAT: CUDA ecosystem: 3.5 million developers locked in since 2006. To switch to AMD you must rewrite all ML code. CU</a:t>
            </a:r>
            <a:endParaRPr lang="en-US" sz="750" dirty="0"/>
          </a:p>
        </p:txBody>
      </p:sp>
      <p:sp>
        <p:nvSpPr>
          <p:cNvPr id="33" name="Text 31"/>
          <p:cNvSpPr/>
          <p:nvPr/>
        </p:nvSpPr>
        <p:spPr>
          <a:xfrm>
            <a:off x="411081" y="2947950"/>
            <a:ext cx="3987195" cy="237744"/>
          </a:xfrm>
          <a:prstGeom prst="rect">
            <a:avLst/>
          </a:prstGeom>
          <a:noFill/>
          <a:ln/>
        </p:spPr>
        <p:txBody>
          <a:bodyPr wrap="square" lIns="0" tIns="0" rIns="0" bIns="0" rtlCol="0" anchor="ctr"/>
          <a:lstStyle/>
          <a:p>
            <a:pPr marL="0" indent="0">
              <a:buNone/>
            </a:pPr>
            <a:r>
              <a:rPr lang="en-US" sz="750" dirty="0">
                <a:solidFill>
                  <a:srgbClr val="64748B"/>
                </a:solidFill>
              </a:rPr>
              <a:t>BUSINESS: Designs AI accelerators (GPUs) and the software stack (CUDA, cuDNN, TensorRT) that makes them useful. Fabless </a:t>
            </a:r>
            <a:endParaRPr lang="en-US" sz="750" dirty="0"/>
          </a:p>
        </p:txBody>
      </p:sp>
      <p:sp>
        <p:nvSpPr>
          <p:cNvPr id="34" name="Text 32"/>
          <p:cNvSpPr/>
          <p:nvPr/>
        </p:nvSpPr>
        <p:spPr>
          <a:xfrm>
            <a:off x="411081" y="3185694"/>
            <a:ext cx="3987195" cy="438912"/>
          </a:xfrm>
          <a:prstGeom prst="rect">
            <a:avLst/>
          </a:prstGeom>
          <a:noFill/>
          <a:ln/>
        </p:spPr>
        <p:txBody>
          <a:bodyPr wrap="square" lIns="0" tIns="0" rIns="0" bIns="0" rtlCol="0" anchor="ctr"/>
          <a:lstStyle/>
          <a:p>
            <a:pPr marL="0" indent="0">
              <a:buNone/>
            </a:pPr>
            <a:r>
              <a:rPr lang="en-US" sz="750" dirty="0">
                <a:solidFill>
                  <a:srgbClr val="F97316"/>
                </a:solidFill>
              </a:rPr>
              <a:t>CONSTRAINT: CoWoS advanced packaging at TSMC. Can only grow as fast as TSMC can add packaging capacity (2-year lead time per ne</a:t>
            </a:r>
            <a:endParaRPr lang="en-US" sz="750" dirty="0"/>
          </a:p>
        </p:txBody>
      </p:sp>
      <p:sp>
        <p:nvSpPr>
          <p:cNvPr id="35" name="Shape 33"/>
          <p:cNvSpPr/>
          <p:nvPr/>
        </p:nvSpPr>
        <p:spPr>
          <a:xfrm>
            <a:off x="4599034" y="2417598"/>
            <a:ext cx="4224528" cy="1325880"/>
          </a:xfrm>
          <a:prstGeom prst="roundRect">
            <a:avLst>
              <a:gd name="adj" fmla="val 4828"/>
            </a:avLst>
          </a:prstGeom>
          <a:solidFill>
            <a:srgbClr val="111830"/>
          </a:solidFill>
          <a:ln/>
        </p:spPr>
      </p:sp>
      <p:sp>
        <p:nvSpPr>
          <p:cNvPr id="36" name="Text 34"/>
          <p:cNvSpPr/>
          <p:nvPr/>
        </p:nvSpPr>
        <p:spPr>
          <a:xfrm>
            <a:off x="4708762" y="2454174"/>
            <a:ext cx="2847996" cy="237744"/>
          </a:xfrm>
          <a:prstGeom prst="rect">
            <a:avLst/>
          </a:prstGeom>
          <a:noFill/>
          <a:ln/>
        </p:spPr>
        <p:txBody>
          <a:bodyPr wrap="square" lIns="0" tIns="0" rIns="0" bIns="0" rtlCol="0" anchor="ctr"/>
          <a:lstStyle/>
          <a:p>
            <a:pPr marL="0" indent="0">
              <a:buNone/>
            </a:pPr>
            <a:r>
              <a:rPr lang="en-US" sz="1000" b="1" dirty="0">
                <a:solidFill>
                  <a:srgbClr val="84CC16"/>
                </a:solidFill>
              </a:rPr>
              <a:t>TSMC $TSM</a:t>
            </a:r>
            <a:endParaRPr lang="en-US" sz="1000" dirty="0"/>
          </a:p>
        </p:txBody>
      </p:sp>
      <p:sp>
        <p:nvSpPr>
          <p:cNvPr id="37" name="Text 35"/>
          <p:cNvSpPr/>
          <p:nvPr/>
        </p:nvSpPr>
        <p:spPr>
          <a:xfrm>
            <a:off x="4708761" y="2691918"/>
            <a:ext cx="3987195" cy="256032"/>
          </a:xfrm>
          <a:prstGeom prst="rect">
            <a:avLst/>
          </a:prstGeom>
          <a:noFill/>
          <a:ln/>
        </p:spPr>
        <p:txBody>
          <a:bodyPr wrap="square" lIns="0" tIns="0" rIns="0" bIns="0" rtlCol="0" anchor="ctr"/>
          <a:lstStyle/>
          <a:p>
            <a:pPr marL="0" indent="0">
              <a:buNone/>
            </a:pPr>
            <a:r>
              <a:rPr lang="en-US" sz="750" dirty="0">
                <a:solidFill>
                  <a:srgbClr val="E2E8F5"/>
                </a:solidFill>
              </a:rPr>
              <a:t>MOAT: Process node leadership (3nm, then 2nm). Moat is 5 years of yield learning on each node — Intel failed to clos</a:t>
            </a:r>
            <a:endParaRPr lang="en-US" sz="750" dirty="0"/>
          </a:p>
        </p:txBody>
      </p:sp>
      <p:sp>
        <p:nvSpPr>
          <p:cNvPr id="38" name="Text 36"/>
          <p:cNvSpPr/>
          <p:nvPr/>
        </p:nvSpPr>
        <p:spPr>
          <a:xfrm>
            <a:off x="4708761" y="2947950"/>
            <a:ext cx="3987195" cy="237744"/>
          </a:xfrm>
          <a:prstGeom prst="rect">
            <a:avLst/>
          </a:prstGeom>
          <a:noFill/>
          <a:ln/>
        </p:spPr>
        <p:txBody>
          <a:bodyPr wrap="square" lIns="0" tIns="0" rIns="0" bIns="0" rtlCol="0" anchor="ctr"/>
          <a:lstStyle/>
          <a:p>
            <a:pPr marL="0" indent="0">
              <a:buNone/>
            </a:pPr>
            <a:r>
              <a:rPr lang="en-US" sz="750" dirty="0">
                <a:solidFill>
                  <a:srgbClr val="64748B"/>
                </a:solidFill>
              </a:rPr>
              <a:t>BUSINESS: Pure-play foundry: manufactures chips designed by others. Runs the most advanced logic processes on Earth. CoW</a:t>
            </a:r>
            <a:endParaRPr lang="en-US" sz="750" dirty="0"/>
          </a:p>
        </p:txBody>
      </p:sp>
      <p:sp>
        <p:nvSpPr>
          <p:cNvPr id="39" name="Text 37"/>
          <p:cNvSpPr/>
          <p:nvPr/>
        </p:nvSpPr>
        <p:spPr>
          <a:xfrm>
            <a:off x="4708761" y="3185694"/>
            <a:ext cx="3987195" cy="438912"/>
          </a:xfrm>
          <a:prstGeom prst="rect">
            <a:avLst/>
          </a:prstGeom>
          <a:noFill/>
          <a:ln/>
        </p:spPr>
        <p:txBody>
          <a:bodyPr wrap="square" lIns="0" tIns="0" rIns="0" bIns="0" rtlCol="0" anchor="ctr"/>
          <a:lstStyle/>
          <a:p>
            <a:pPr marL="0" indent="0">
              <a:buNone/>
            </a:pPr>
            <a:r>
              <a:rPr lang="en-US" sz="750" dirty="0">
                <a:solidFill>
                  <a:srgbClr val="F97316"/>
                </a:solidFill>
              </a:rPr>
              <a:t>CONSTRAINT: Constrained by EUV machine delivery (ASML: 60 machines/yr max). Each additional 3nm expansion requires 2-3 new EUV </a:t>
            </a:r>
            <a:endParaRPr lang="en-US" sz="750" dirty="0"/>
          </a:p>
        </p:txBody>
      </p:sp>
      <p:sp>
        <p:nvSpPr>
          <p:cNvPr id="40" name="Shape 38"/>
          <p:cNvSpPr/>
          <p:nvPr/>
        </p:nvSpPr>
        <p:spPr>
          <a:xfrm>
            <a:off x="301354" y="3807486"/>
            <a:ext cx="4224528" cy="1117953"/>
          </a:xfrm>
          <a:prstGeom prst="roundRect">
            <a:avLst>
              <a:gd name="adj" fmla="val 4828"/>
            </a:avLst>
          </a:prstGeom>
          <a:solidFill>
            <a:srgbClr val="111830"/>
          </a:solidFill>
          <a:ln/>
        </p:spPr>
      </p:sp>
      <p:sp>
        <p:nvSpPr>
          <p:cNvPr id="41" name="Text 39"/>
          <p:cNvSpPr/>
          <p:nvPr/>
        </p:nvSpPr>
        <p:spPr>
          <a:xfrm>
            <a:off x="411082" y="3844062"/>
            <a:ext cx="2847996" cy="237744"/>
          </a:xfrm>
          <a:prstGeom prst="rect">
            <a:avLst/>
          </a:prstGeom>
          <a:noFill/>
          <a:ln/>
        </p:spPr>
        <p:txBody>
          <a:bodyPr wrap="square" lIns="0" tIns="0" rIns="0" bIns="0" rtlCol="0" anchor="ctr"/>
          <a:lstStyle/>
          <a:p>
            <a:pPr marL="0" indent="0">
              <a:buNone/>
            </a:pPr>
            <a:r>
              <a:rPr lang="en-US" sz="1000" b="1" dirty="0">
                <a:solidFill>
                  <a:srgbClr val="0D9488"/>
                </a:solidFill>
              </a:rPr>
              <a:t>SK Hynix KRX:000660</a:t>
            </a:r>
            <a:endParaRPr lang="en-US" sz="1000" dirty="0"/>
          </a:p>
        </p:txBody>
      </p:sp>
      <p:sp>
        <p:nvSpPr>
          <p:cNvPr id="42" name="Text 40"/>
          <p:cNvSpPr/>
          <p:nvPr/>
        </p:nvSpPr>
        <p:spPr>
          <a:xfrm>
            <a:off x="411081" y="4081806"/>
            <a:ext cx="3987195" cy="256032"/>
          </a:xfrm>
          <a:prstGeom prst="rect">
            <a:avLst/>
          </a:prstGeom>
          <a:noFill/>
          <a:ln/>
        </p:spPr>
        <p:txBody>
          <a:bodyPr wrap="square" lIns="0" tIns="0" rIns="0" bIns="0" rtlCol="0" anchor="ctr"/>
          <a:lstStyle/>
          <a:p>
            <a:pPr marL="0" indent="0">
              <a:buNone/>
            </a:pPr>
            <a:r>
              <a:rPr lang="en-US" sz="750" dirty="0">
                <a:solidFill>
                  <a:srgbClr val="E2E8F5"/>
                </a:solidFill>
              </a:rPr>
              <a:t>MOAT: First to mass-produce HBM3E memory at yield rates NVIDIA accepts. The physics of HBM (stacking DRAM dies with </a:t>
            </a:r>
            <a:endParaRPr lang="en-US" sz="750" dirty="0"/>
          </a:p>
        </p:txBody>
      </p:sp>
      <p:sp>
        <p:nvSpPr>
          <p:cNvPr id="43" name="Text 41"/>
          <p:cNvSpPr/>
          <p:nvPr/>
        </p:nvSpPr>
        <p:spPr>
          <a:xfrm>
            <a:off x="411081" y="4337838"/>
            <a:ext cx="3987195" cy="237744"/>
          </a:xfrm>
          <a:prstGeom prst="rect">
            <a:avLst/>
          </a:prstGeom>
          <a:noFill/>
          <a:ln/>
        </p:spPr>
        <p:txBody>
          <a:bodyPr wrap="square" lIns="0" tIns="0" rIns="0" bIns="0" rtlCol="0" anchor="ctr"/>
          <a:lstStyle/>
          <a:p>
            <a:pPr marL="0" indent="0">
              <a:buNone/>
            </a:pPr>
            <a:r>
              <a:rPr lang="en-US" sz="750" dirty="0">
                <a:solidFill>
                  <a:srgbClr val="64748B"/>
                </a:solidFill>
              </a:rPr>
              <a:t>BUSINESS: Manufactures DRAM and NAND flash. HBM is a premium DRAM product — higher ASP, co-development with NVIDIA. With</a:t>
            </a:r>
            <a:endParaRPr lang="en-US" sz="750" dirty="0"/>
          </a:p>
        </p:txBody>
      </p:sp>
      <p:sp>
        <p:nvSpPr>
          <p:cNvPr id="44" name="Text 42"/>
          <p:cNvSpPr/>
          <p:nvPr/>
        </p:nvSpPr>
        <p:spPr>
          <a:xfrm>
            <a:off x="411081" y="4511970"/>
            <a:ext cx="3987195" cy="438912"/>
          </a:xfrm>
          <a:prstGeom prst="rect">
            <a:avLst/>
          </a:prstGeom>
          <a:noFill/>
          <a:ln/>
        </p:spPr>
        <p:txBody>
          <a:bodyPr wrap="square" lIns="0" tIns="0" rIns="0" bIns="0" rtlCol="0" anchor="ctr"/>
          <a:lstStyle/>
          <a:p>
            <a:pPr marL="0" indent="0">
              <a:buNone/>
            </a:pPr>
            <a:r>
              <a:rPr lang="en-US" sz="750" dirty="0">
                <a:solidFill>
                  <a:srgbClr val="F97316"/>
                </a:solidFill>
              </a:rPr>
              <a:t>CONSTRAINT: TSV (Through-Silicon Via) manufacturing capacity. Each HBM stack is 8-12 DRAM dies connected by 50,000+ micro-conne</a:t>
            </a:r>
            <a:endParaRPr lang="en-US" sz="750" dirty="0"/>
          </a:p>
        </p:txBody>
      </p:sp>
      <p:sp>
        <p:nvSpPr>
          <p:cNvPr id="45" name="Shape 43"/>
          <p:cNvSpPr/>
          <p:nvPr/>
        </p:nvSpPr>
        <p:spPr>
          <a:xfrm>
            <a:off x="4599034" y="3816824"/>
            <a:ext cx="4224528" cy="1117953"/>
          </a:xfrm>
          <a:prstGeom prst="roundRect">
            <a:avLst>
              <a:gd name="adj" fmla="val 4828"/>
            </a:avLst>
          </a:prstGeom>
          <a:solidFill>
            <a:srgbClr val="111830"/>
          </a:solidFill>
          <a:ln/>
        </p:spPr>
      </p:sp>
      <p:sp>
        <p:nvSpPr>
          <p:cNvPr id="46" name="Text 44"/>
          <p:cNvSpPr/>
          <p:nvPr/>
        </p:nvSpPr>
        <p:spPr>
          <a:xfrm>
            <a:off x="4708762" y="3844062"/>
            <a:ext cx="2847996" cy="237744"/>
          </a:xfrm>
          <a:prstGeom prst="rect">
            <a:avLst/>
          </a:prstGeom>
          <a:noFill/>
          <a:ln/>
        </p:spPr>
        <p:txBody>
          <a:bodyPr wrap="square" lIns="0" tIns="0" rIns="0" bIns="0" rtlCol="0" anchor="ctr"/>
          <a:lstStyle/>
          <a:p>
            <a:pPr marL="0" indent="0">
              <a:buNone/>
            </a:pPr>
            <a:r>
              <a:rPr lang="en-US" sz="1000" b="1" dirty="0">
                <a:solidFill>
                  <a:srgbClr val="3B82F6"/>
                </a:solidFill>
              </a:rPr>
              <a:t>ASML $ASML</a:t>
            </a:r>
            <a:endParaRPr lang="en-US" sz="1000" dirty="0"/>
          </a:p>
        </p:txBody>
      </p:sp>
      <p:sp>
        <p:nvSpPr>
          <p:cNvPr id="47" name="Text 45"/>
          <p:cNvSpPr/>
          <p:nvPr/>
        </p:nvSpPr>
        <p:spPr>
          <a:xfrm>
            <a:off x="4708761" y="4081806"/>
            <a:ext cx="3987195" cy="256032"/>
          </a:xfrm>
          <a:prstGeom prst="rect">
            <a:avLst/>
          </a:prstGeom>
          <a:noFill/>
          <a:ln/>
        </p:spPr>
        <p:txBody>
          <a:bodyPr wrap="square" lIns="0" tIns="0" rIns="0" bIns="0" rtlCol="0" anchor="ctr"/>
          <a:lstStyle/>
          <a:p>
            <a:pPr marL="0" indent="0">
              <a:buNone/>
            </a:pPr>
            <a:r>
              <a:rPr lang="en-US" sz="750" dirty="0">
                <a:solidFill>
                  <a:srgbClr val="E2E8F5"/>
                </a:solidFill>
              </a:rPr>
              <a:t>MOAT: Absolute monopoly on EUV (Extreme Ultraviolet) lithography. Each machine has 100,000+ precision components, 13</a:t>
            </a:r>
            <a:endParaRPr lang="en-US" sz="750" dirty="0"/>
          </a:p>
        </p:txBody>
      </p:sp>
      <p:sp>
        <p:nvSpPr>
          <p:cNvPr id="48" name="Text 46"/>
          <p:cNvSpPr/>
          <p:nvPr/>
        </p:nvSpPr>
        <p:spPr>
          <a:xfrm>
            <a:off x="4708761" y="4337838"/>
            <a:ext cx="3987195" cy="237744"/>
          </a:xfrm>
          <a:prstGeom prst="rect">
            <a:avLst/>
          </a:prstGeom>
          <a:noFill/>
          <a:ln/>
        </p:spPr>
        <p:txBody>
          <a:bodyPr wrap="square" lIns="0" tIns="0" rIns="0" bIns="0" rtlCol="0" anchor="ctr"/>
          <a:lstStyle/>
          <a:p>
            <a:pPr marL="0" indent="0">
              <a:buNone/>
            </a:pPr>
            <a:r>
              <a:rPr lang="en-US" sz="750" dirty="0">
                <a:solidFill>
                  <a:srgbClr val="64748B"/>
                </a:solidFill>
              </a:rPr>
              <a:t>BUSINESS: Makes lithography machines that expose chip patterns onto silicon wafers. EUV uses 13.5nm wavelength light to </a:t>
            </a:r>
            <a:endParaRPr lang="en-US" sz="750" dirty="0"/>
          </a:p>
        </p:txBody>
      </p:sp>
      <p:sp>
        <p:nvSpPr>
          <p:cNvPr id="49" name="Text 47"/>
          <p:cNvSpPr/>
          <p:nvPr/>
        </p:nvSpPr>
        <p:spPr>
          <a:xfrm>
            <a:off x="4708761" y="4511970"/>
            <a:ext cx="3987195" cy="438912"/>
          </a:xfrm>
          <a:prstGeom prst="rect">
            <a:avLst/>
          </a:prstGeom>
          <a:noFill/>
          <a:ln/>
        </p:spPr>
        <p:txBody>
          <a:bodyPr wrap="square" lIns="0" tIns="0" rIns="0" bIns="0" rtlCol="0" anchor="ctr"/>
          <a:lstStyle/>
          <a:p>
            <a:pPr marL="0" indent="0">
              <a:buNone/>
            </a:pPr>
            <a:r>
              <a:rPr lang="en-US" sz="750" dirty="0">
                <a:solidFill>
                  <a:srgbClr val="F97316"/>
                </a:solidFill>
              </a:rPr>
              <a:t>CONSTRAINT: Manufacturing capacity: ~60 EUV machines/year. High-NA EUV (next generation): 20/year by 2026. Physics, not capital</a:t>
            </a:r>
            <a:endParaRPr lang="en-US" sz="750" dirty="0"/>
          </a:p>
        </p:txBody>
      </p:sp>
    </p:spTree>
    <p:extLst>
      <p:ext uri="{BB962C8B-B14F-4D97-AF65-F5344CB8AC3E}">
        <p14:creationId xmlns:p14="http://schemas.microsoft.com/office/powerpoint/2010/main" val="3934483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0B981"/>
          </a:solidFill>
          <a:ln/>
        </p:spPr>
      </p:sp>
      <p:sp>
        <p:nvSpPr>
          <p:cNvPr id="3" name="Text 1"/>
          <p:cNvSpPr/>
          <p:nvPr/>
        </p:nvSpPr>
        <p:spPr>
          <a:xfrm>
            <a:off x="320040" y="137160"/>
            <a:ext cx="6400800" cy="457200"/>
          </a:xfrm>
          <a:prstGeom prst="rect">
            <a:avLst/>
          </a:prstGeom>
          <a:noFill/>
          <a:ln/>
        </p:spPr>
        <p:txBody>
          <a:bodyPr wrap="square" lIns="0" tIns="0" rIns="0" bIns="0" rtlCol="0" anchor="ctr"/>
          <a:lstStyle/>
          <a:p>
            <a:pPr marL="0" indent="0">
              <a:buNone/>
            </a:pPr>
            <a:r>
              <a:rPr lang="en-US" sz="2200" b="1" dirty="0">
                <a:solidFill>
                  <a:srgbClr val="FFFFFF"/>
                </a:solidFill>
              </a:rPr>
              <a:t>CHIPS &amp; COMPUTING — STOCK PICKS</a:t>
            </a:r>
            <a:endParaRPr lang="en-US" sz="2200" dirty="0"/>
          </a:p>
        </p:txBody>
      </p:sp>
      <p:sp>
        <p:nvSpPr>
          <p:cNvPr id="4" name="Text 2"/>
          <p:cNvSpPr/>
          <p:nvPr/>
        </p:nvSpPr>
        <p:spPr>
          <a:xfrm>
            <a:off x="320040" y="594360"/>
            <a:ext cx="8229600" cy="274320"/>
          </a:xfrm>
          <a:prstGeom prst="rect">
            <a:avLst/>
          </a:prstGeom>
          <a:noFill/>
          <a:ln/>
        </p:spPr>
        <p:txBody>
          <a:bodyPr wrap="square" rtlCol="0" anchor="ctr"/>
          <a:lstStyle/>
          <a:p>
            <a:pPr marL="0" indent="0">
              <a:buNone/>
            </a:pPr>
            <a:r>
              <a:rPr lang="en-US" sz="1100" dirty="0">
                <a:solidFill>
                  <a:srgbClr val="94A3B8"/>
                </a:solidFill>
              </a:rPr>
              <a:t>Investment perspective &amp; analyst targets</a:t>
            </a:r>
            <a:endParaRPr lang="en-US" sz="1100" dirty="0"/>
          </a:p>
        </p:txBody>
      </p:sp>
      <p:sp>
        <p:nvSpPr>
          <p:cNvPr id="5" name="Shape 3"/>
          <p:cNvSpPr/>
          <p:nvPr/>
        </p:nvSpPr>
        <p:spPr>
          <a:xfrm>
            <a:off x="320040" y="96012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6" name="Shape 4"/>
          <p:cNvSpPr/>
          <p:nvPr/>
        </p:nvSpPr>
        <p:spPr>
          <a:xfrm>
            <a:off x="457200" y="1051560"/>
            <a:ext cx="1280160" cy="566928"/>
          </a:xfrm>
          <a:prstGeom prst="roundRect">
            <a:avLst>
              <a:gd name="adj" fmla="val 11290"/>
            </a:avLst>
          </a:prstGeom>
          <a:solidFill>
            <a:srgbClr val="10B981">
              <a:alpha val="85000"/>
            </a:srgbClr>
          </a:solidFill>
          <a:ln/>
        </p:spPr>
      </p:sp>
      <p:sp>
        <p:nvSpPr>
          <p:cNvPr id="7" name="Text 5"/>
          <p:cNvSpPr/>
          <p:nvPr/>
        </p:nvSpPr>
        <p:spPr>
          <a:xfrm>
            <a:off x="457200" y="105156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$NVDA</a:t>
            </a:r>
            <a:endParaRPr lang="en-US" sz="1400" dirty="0"/>
          </a:p>
        </p:txBody>
      </p:sp>
      <p:sp>
        <p:nvSpPr>
          <p:cNvPr id="8" name="Text 6"/>
          <p:cNvSpPr/>
          <p:nvPr/>
        </p:nvSpPr>
        <p:spPr>
          <a:xfrm>
            <a:off x="457200" y="136245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NVIDIA</a:t>
            </a:r>
            <a:endParaRPr lang="en-US" sz="750" dirty="0"/>
          </a:p>
        </p:txBody>
      </p:sp>
      <p:sp>
        <p:nvSpPr>
          <p:cNvPr id="9" name="Text 7"/>
          <p:cNvSpPr/>
          <p:nvPr/>
        </p:nvSpPr>
        <p:spPr>
          <a:xfrm>
            <a:off x="1920240" y="1051560"/>
            <a:ext cx="4846320" cy="566928"/>
          </a:xfrm>
          <a:prstGeom prst="rect">
            <a:avLst/>
          </a:prstGeom>
          <a:noFill/>
          <a:ln/>
        </p:spPr>
        <p:txBody>
          <a:bodyPr wrap="square" rtlCol="0" anchor="ctr"/>
          <a:lstStyle/>
          <a:p>
            <a:pPr marL="0" indent="0">
              <a:buNone/>
            </a:pPr>
            <a:r>
              <a:rPr lang="en-US" sz="1100" dirty="0">
                <a:solidFill>
                  <a:srgbClr val="F0F4FF"/>
                </a:solidFill>
              </a:rPr>
              <a:t>Dominant GPU monopoly; CUDA ecosystem moat; Blackwell ramp</a:t>
            </a:r>
            <a:endParaRPr lang="en-US" sz="1100" dirty="0"/>
          </a:p>
        </p:txBody>
      </p:sp>
      <p:sp>
        <p:nvSpPr>
          <p:cNvPr id="14" name="Shape 12"/>
          <p:cNvSpPr/>
          <p:nvPr/>
        </p:nvSpPr>
        <p:spPr>
          <a:xfrm>
            <a:off x="8046720" y="1216152"/>
            <a:ext cx="237744" cy="237744"/>
          </a:xfrm>
          <a:prstGeom prst="ellipse">
            <a:avLst/>
          </a:prstGeom>
          <a:solidFill>
            <a:srgbClr val="10B981">
              <a:alpha val="30000"/>
            </a:srgbClr>
          </a:solidFill>
          <a:ln/>
        </p:spPr>
      </p:sp>
      <p:sp>
        <p:nvSpPr>
          <p:cNvPr id="15" name="Shape 13"/>
          <p:cNvSpPr/>
          <p:nvPr/>
        </p:nvSpPr>
        <p:spPr>
          <a:xfrm>
            <a:off x="320040" y="178308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6" name="Shape 14"/>
          <p:cNvSpPr/>
          <p:nvPr/>
        </p:nvSpPr>
        <p:spPr>
          <a:xfrm>
            <a:off x="457200" y="1874520"/>
            <a:ext cx="1280160" cy="566928"/>
          </a:xfrm>
          <a:prstGeom prst="roundRect">
            <a:avLst>
              <a:gd name="adj" fmla="val 11290"/>
            </a:avLst>
          </a:prstGeom>
          <a:solidFill>
            <a:srgbClr val="10B981">
              <a:alpha val="85000"/>
            </a:srgbClr>
          </a:solidFill>
          <a:ln/>
        </p:spPr>
      </p:sp>
      <p:sp>
        <p:nvSpPr>
          <p:cNvPr id="17" name="Text 15"/>
          <p:cNvSpPr/>
          <p:nvPr/>
        </p:nvSpPr>
        <p:spPr>
          <a:xfrm>
            <a:off x="457200" y="187452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$AMD</a:t>
            </a:r>
            <a:endParaRPr lang="en-US" sz="1400" dirty="0"/>
          </a:p>
        </p:txBody>
      </p:sp>
      <p:sp>
        <p:nvSpPr>
          <p:cNvPr id="18" name="Text 16"/>
          <p:cNvSpPr/>
          <p:nvPr/>
        </p:nvSpPr>
        <p:spPr>
          <a:xfrm>
            <a:off x="457200" y="218541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AMD</a:t>
            </a:r>
            <a:endParaRPr lang="en-US" sz="750" dirty="0"/>
          </a:p>
        </p:txBody>
      </p:sp>
      <p:sp>
        <p:nvSpPr>
          <p:cNvPr id="19" name="Text 17"/>
          <p:cNvSpPr/>
          <p:nvPr/>
        </p:nvSpPr>
        <p:spPr>
          <a:xfrm>
            <a:off x="1920240" y="1874520"/>
            <a:ext cx="4846320" cy="566928"/>
          </a:xfrm>
          <a:prstGeom prst="rect">
            <a:avLst/>
          </a:prstGeom>
          <a:noFill/>
          <a:ln/>
        </p:spPr>
        <p:txBody>
          <a:bodyPr wrap="square" rtlCol="0" anchor="ctr"/>
          <a:lstStyle/>
          <a:p>
            <a:pPr marL="0" indent="0">
              <a:buNone/>
            </a:pPr>
            <a:r>
              <a:rPr lang="en-US" sz="1100" dirty="0">
                <a:solidFill>
                  <a:srgbClr val="F0F4FF"/>
                </a:solidFill>
              </a:rPr>
              <a:t>MI300X challenging NVDA; strong CPU + GPU combination play</a:t>
            </a:r>
            <a:endParaRPr lang="en-US" sz="1100" dirty="0"/>
          </a:p>
        </p:txBody>
      </p:sp>
      <p:sp>
        <p:nvSpPr>
          <p:cNvPr id="24" name="Shape 22"/>
          <p:cNvSpPr/>
          <p:nvPr/>
        </p:nvSpPr>
        <p:spPr>
          <a:xfrm>
            <a:off x="8046720" y="2039112"/>
            <a:ext cx="237744" cy="237744"/>
          </a:xfrm>
          <a:prstGeom prst="ellipse">
            <a:avLst/>
          </a:prstGeom>
          <a:solidFill>
            <a:srgbClr val="10B981">
              <a:alpha val="30000"/>
            </a:srgbClr>
          </a:solidFill>
          <a:ln/>
        </p:spPr>
      </p:sp>
      <p:sp>
        <p:nvSpPr>
          <p:cNvPr id="25" name="Shape 23"/>
          <p:cNvSpPr/>
          <p:nvPr/>
        </p:nvSpPr>
        <p:spPr>
          <a:xfrm>
            <a:off x="320040" y="260604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26" name="Shape 24"/>
          <p:cNvSpPr/>
          <p:nvPr/>
        </p:nvSpPr>
        <p:spPr>
          <a:xfrm>
            <a:off x="457200" y="2697480"/>
            <a:ext cx="1280160" cy="566928"/>
          </a:xfrm>
          <a:prstGeom prst="roundRect">
            <a:avLst>
              <a:gd name="adj" fmla="val 11290"/>
            </a:avLst>
          </a:prstGeom>
          <a:solidFill>
            <a:srgbClr val="10B981">
              <a:alpha val="85000"/>
            </a:srgbClr>
          </a:solidFill>
          <a:ln/>
        </p:spPr>
      </p:sp>
      <p:sp>
        <p:nvSpPr>
          <p:cNvPr id="27" name="Text 25"/>
          <p:cNvSpPr/>
          <p:nvPr/>
        </p:nvSpPr>
        <p:spPr>
          <a:xfrm>
            <a:off x="457200" y="269748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$TSM</a:t>
            </a:r>
            <a:endParaRPr lang="en-US" sz="1400" dirty="0"/>
          </a:p>
        </p:txBody>
      </p:sp>
      <p:sp>
        <p:nvSpPr>
          <p:cNvPr id="28" name="Text 26"/>
          <p:cNvSpPr/>
          <p:nvPr/>
        </p:nvSpPr>
        <p:spPr>
          <a:xfrm>
            <a:off x="457200" y="300837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TSMC</a:t>
            </a:r>
            <a:endParaRPr lang="en-US" sz="750" dirty="0"/>
          </a:p>
        </p:txBody>
      </p:sp>
      <p:sp>
        <p:nvSpPr>
          <p:cNvPr id="29" name="Text 27"/>
          <p:cNvSpPr/>
          <p:nvPr/>
        </p:nvSpPr>
        <p:spPr>
          <a:xfrm>
            <a:off x="1920240" y="2697480"/>
            <a:ext cx="4846320" cy="566928"/>
          </a:xfrm>
          <a:prstGeom prst="rect">
            <a:avLst/>
          </a:prstGeom>
          <a:noFill/>
          <a:ln/>
        </p:spPr>
        <p:txBody>
          <a:bodyPr wrap="square" rtlCol="0" anchor="ctr"/>
          <a:lstStyle/>
          <a:p>
            <a:pPr marL="0" indent="0">
              <a:buNone/>
            </a:pPr>
            <a:r>
              <a:rPr lang="en-US" sz="1100" dirty="0">
                <a:solidFill>
                  <a:srgbClr val="F0F4FF"/>
                </a:solidFill>
              </a:rPr>
              <a:t>Only foundry capable of 3nm/2nm; irreplaceable position</a:t>
            </a:r>
            <a:endParaRPr lang="en-US" sz="1100" dirty="0"/>
          </a:p>
        </p:txBody>
      </p:sp>
      <p:sp>
        <p:nvSpPr>
          <p:cNvPr id="34" name="Shape 32"/>
          <p:cNvSpPr/>
          <p:nvPr/>
        </p:nvSpPr>
        <p:spPr>
          <a:xfrm>
            <a:off x="8046720" y="2862072"/>
            <a:ext cx="237744" cy="237744"/>
          </a:xfrm>
          <a:prstGeom prst="ellipse">
            <a:avLst/>
          </a:prstGeom>
          <a:solidFill>
            <a:srgbClr val="10B981">
              <a:alpha val="30000"/>
            </a:srgbClr>
          </a:solidFill>
          <a:ln/>
        </p:spPr>
      </p:sp>
      <p:sp>
        <p:nvSpPr>
          <p:cNvPr id="35" name="Shape 33"/>
          <p:cNvSpPr/>
          <p:nvPr/>
        </p:nvSpPr>
        <p:spPr>
          <a:xfrm>
            <a:off x="320040" y="342900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36" name="Shape 34"/>
          <p:cNvSpPr/>
          <p:nvPr/>
        </p:nvSpPr>
        <p:spPr>
          <a:xfrm>
            <a:off x="457200" y="3520440"/>
            <a:ext cx="1280160" cy="566928"/>
          </a:xfrm>
          <a:prstGeom prst="roundRect">
            <a:avLst>
              <a:gd name="adj" fmla="val 11290"/>
            </a:avLst>
          </a:prstGeom>
          <a:solidFill>
            <a:srgbClr val="10B981">
              <a:alpha val="85000"/>
            </a:srgbClr>
          </a:solidFill>
          <a:ln/>
        </p:spPr>
      </p:sp>
      <p:sp>
        <p:nvSpPr>
          <p:cNvPr id="37" name="Text 35"/>
          <p:cNvSpPr/>
          <p:nvPr/>
        </p:nvSpPr>
        <p:spPr>
          <a:xfrm>
            <a:off x="457200" y="352044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$MU</a:t>
            </a:r>
            <a:endParaRPr lang="en-US" sz="1400" dirty="0"/>
          </a:p>
        </p:txBody>
      </p:sp>
      <p:sp>
        <p:nvSpPr>
          <p:cNvPr id="38" name="Text 36"/>
          <p:cNvSpPr/>
          <p:nvPr/>
        </p:nvSpPr>
        <p:spPr>
          <a:xfrm>
            <a:off x="457200" y="383133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Micron Technology</a:t>
            </a:r>
            <a:endParaRPr lang="en-US" sz="750" dirty="0"/>
          </a:p>
        </p:txBody>
      </p:sp>
      <p:sp>
        <p:nvSpPr>
          <p:cNvPr id="39" name="Text 37"/>
          <p:cNvSpPr/>
          <p:nvPr/>
        </p:nvSpPr>
        <p:spPr>
          <a:xfrm>
            <a:off x="1920240" y="3520440"/>
            <a:ext cx="4846320" cy="566928"/>
          </a:xfrm>
          <a:prstGeom prst="rect">
            <a:avLst/>
          </a:prstGeom>
          <a:noFill/>
          <a:ln/>
        </p:spPr>
        <p:txBody>
          <a:bodyPr wrap="square" rtlCol="0" anchor="ctr"/>
          <a:lstStyle/>
          <a:p>
            <a:pPr marL="0" indent="0">
              <a:buNone/>
            </a:pPr>
            <a:r>
              <a:rPr lang="en-US" sz="1100" dirty="0">
                <a:solidFill>
                  <a:srgbClr val="F0F4FF"/>
                </a:solidFill>
              </a:rPr>
              <a:t>HBM3E memory for AI; underpenetrated vs SK Hynix — closing gap</a:t>
            </a:r>
            <a:endParaRPr lang="en-US" sz="1100" dirty="0"/>
          </a:p>
        </p:txBody>
      </p:sp>
      <p:sp>
        <p:nvSpPr>
          <p:cNvPr id="44" name="Shape 42"/>
          <p:cNvSpPr/>
          <p:nvPr/>
        </p:nvSpPr>
        <p:spPr>
          <a:xfrm>
            <a:off x="8046720" y="3685032"/>
            <a:ext cx="237744" cy="237744"/>
          </a:xfrm>
          <a:prstGeom prst="ellipse">
            <a:avLst/>
          </a:prstGeom>
          <a:solidFill>
            <a:srgbClr val="10B981">
              <a:alpha val="30000"/>
            </a:srgbClr>
          </a:solidFill>
          <a:ln/>
        </p:spPr>
      </p:sp>
      <p:sp>
        <p:nvSpPr>
          <p:cNvPr id="45" name="Shape 43"/>
          <p:cNvSpPr/>
          <p:nvPr/>
        </p:nvSpPr>
        <p:spPr>
          <a:xfrm>
            <a:off x="320040" y="425196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46" name="Shape 44"/>
          <p:cNvSpPr/>
          <p:nvPr/>
        </p:nvSpPr>
        <p:spPr>
          <a:xfrm>
            <a:off x="457200" y="4343400"/>
            <a:ext cx="1280160" cy="566928"/>
          </a:xfrm>
          <a:prstGeom prst="roundRect">
            <a:avLst>
              <a:gd name="adj" fmla="val 11290"/>
            </a:avLst>
          </a:prstGeom>
          <a:solidFill>
            <a:srgbClr val="10B981">
              <a:alpha val="85000"/>
            </a:srgbClr>
          </a:solidFill>
          <a:ln/>
        </p:spPr>
      </p:sp>
      <p:sp>
        <p:nvSpPr>
          <p:cNvPr id="47" name="Text 45"/>
          <p:cNvSpPr/>
          <p:nvPr/>
        </p:nvSpPr>
        <p:spPr>
          <a:xfrm>
            <a:off x="457200" y="434340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$ARM</a:t>
            </a:r>
            <a:endParaRPr lang="en-US" sz="1400" dirty="0"/>
          </a:p>
        </p:txBody>
      </p:sp>
      <p:sp>
        <p:nvSpPr>
          <p:cNvPr id="48" name="Text 46"/>
          <p:cNvSpPr/>
          <p:nvPr/>
        </p:nvSpPr>
        <p:spPr>
          <a:xfrm>
            <a:off x="457200" y="465429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ARM Holdings</a:t>
            </a:r>
            <a:endParaRPr lang="en-US" sz="750" dirty="0"/>
          </a:p>
        </p:txBody>
      </p:sp>
      <p:sp>
        <p:nvSpPr>
          <p:cNvPr id="49" name="Text 47"/>
          <p:cNvSpPr/>
          <p:nvPr/>
        </p:nvSpPr>
        <p:spPr>
          <a:xfrm>
            <a:off x="1920240" y="4343400"/>
            <a:ext cx="4846320" cy="566928"/>
          </a:xfrm>
          <a:prstGeom prst="rect">
            <a:avLst/>
          </a:prstGeom>
          <a:noFill/>
          <a:ln/>
        </p:spPr>
        <p:txBody>
          <a:bodyPr wrap="square" rtlCol="0" anchor="ctr"/>
          <a:lstStyle/>
          <a:p>
            <a:pPr marL="0" indent="0">
              <a:buNone/>
            </a:pPr>
            <a:r>
              <a:rPr lang="en-US" sz="1100" dirty="0">
                <a:solidFill>
                  <a:srgbClr val="F0F4FF"/>
                </a:solidFill>
              </a:rPr>
              <a:t>Royalty model on every AI chip; edge AI + data center expansion</a:t>
            </a:r>
            <a:endParaRPr lang="en-US" sz="1100" dirty="0"/>
          </a:p>
        </p:txBody>
      </p:sp>
      <p:sp>
        <p:nvSpPr>
          <p:cNvPr id="54" name="Shape 52"/>
          <p:cNvSpPr/>
          <p:nvPr/>
        </p:nvSpPr>
        <p:spPr>
          <a:xfrm>
            <a:off x="8046720" y="4507992"/>
            <a:ext cx="237744" cy="237744"/>
          </a:xfrm>
          <a:prstGeom prst="ellipse">
            <a:avLst/>
          </a:prstGeom>
          <a:solidFill>
            <a:srgbClr val="10B981">
              <a:alpha val="30000"/>
            </a:srgbClr>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651510"/>
          </a:xfrm>
          <a:prstGeom prst="rect">
            <a:avLst/>
          </a:prstGeom>
          <a:solidFill>
            <a:srgbClr val="101828"/>
          </a:solidFill>
          <a:ln/>
        </p:spPr>
      </p:sp>
      <p:sp>
        <p:nvSpPr>
          <p:cNvPr id="3" name="Text 1"/>
          <p:cNvSpPr/>
          <p:nvPr/>
        </p:nvSpPr>
        <p:spPr>
          <a:xfrm>
            <a:off x="240030" y="54864"/>
            <a:ext cx="6172200" cy="514350"/>
          </a:xfrm>
          <a:prstGeom prst="rect">
            <a:avLst/>
          </a:prstGeom>
          <a:noFill/>
          <a:ln/>
        </p:spPr>
        <p:txBody>
          <a:bodyPr wrap="square" lIns="0" tIns="0" rIns="0" bIns="0" rtlCol="0" anchor="ctr"/>
          <a:lstStyle/>
          <a:p>
            <a:r>
              <a:rPr lang="en-US" sz="1650" b="1" dirty="0">
                <a:solidFill>
                  <a:srgbClr val="A855F7"/>
                </a:solidFill>
                <a:latin typeface="Calibri" pitchFamily="34" charset="0"/>
                <a:ea typeface="Calibri" pitchFamily="34" charset="-122"/>
                <a:cs typeface="Calibri" pitchFamily="34" charset="-120"/>
              </a:rPr>
              <a:t>CHIPS &amp; COMPUTING</a:t>
            </a:r>
            <a:endParaRPr lang="en-US" sz="1650" dirty="0"/>
          </a:p>
        </p:txBody>
      </p:sp>
      <p:sp>
        <p:nvSpPr>
          <p:cNvPr id="4" name="Text 2"/>
          <p:cNvSpPr/>
          <p:nvPr/>
        </p:nvSpPr>
        <p:spPr>
          <a:xfrm>
            <a:off x="240030" y="377190"/>
            <a:ext cx="8229600" cy="260604"/>
          </a:xfrm>
          <a:prstGeom prst="rect">
            <a:avLst/>
          </a:prstGeom>
          <a:noFill/>
          <a:ln/>
        </p:spPr>
        <p:txBody>
          <a:bodyPr wrap="square" lIns="0" tIns="0" rIns="0" bIns="0" rtlCol="0" anchor="ctr"/>
          <a:lstStyle/>
          <a:p>
            <a:r>
              <a:rPr lang="en-US" sz="825" dirty="0">
                <a:solidFill>
                  <a:srgbClr val="94A3B8"/>
                </a:solidFill>
                <a:latin typeface="Calibri" pitchFamily="34" charset="0"/>
                <a:ea typeface="Calibri" pitchFamily="34" charset="-122"/>
                <a:cs typeface="Calibri" pitchFamily="34" charset="-120"/>
              </a:rPr>
              <a:t>NVDA · AMD · TSM · MU · ARM  |  The Silicon Backbone of AI</a:t>
            </a:r>
            <a:endParaRPr lang="en-US" sz="825" dirty="0"/>
          </a:p>
        </p:txBody>
      </p:sp>
      <p:sp>
        <p:nvSpPr>
          <p:cNvPr id="7" name="Text 5"/>
          <p:cNvSpPr/>
          <p:nvPr/>
        </p:nvSpPr>
        <p:spPr>
          <a:xfrm>
            <a:off x="240030" y="740664"/>
            <a:ext cx="8641080" cy="288036"/>
          </a:xfrm>
          <a:prstGeom prst="rect">
            <a:avLst/>
          </a:prstGeom>
          <a:noFill/>
          <a:ln/>
        </p:spPr>
        <p:txBody>
          <a:bodyPr wrap="square" lIns="0" tIns="0" rIns="0" bIns="0" rtlCol="0" anchor="ctr"/>
          <a:lstStyle/>
          <a:p>
            <a:r>
              <a:rPr lang="en-US" sz="750" dirty="0">
                <a:solidFill>
                  <a:srgbClr val="94A3B8"/>
                </a:solidFill>
                <a:latin typeface="Calibri" pitchFamily="34" charset="0"/>
                <a:ea typeface="Calibri" pitchFamily="34" charset="-122"/>
                <a:cs typeface="Calibri" pitchFamily="34" charset="-120"/>
              </a:rPr>
              <a:t>This is the epicenter of the AI supercycle. Every AI model trained, every inference served, every robot programmed runs on chips. $194B in NVIDIA data center revenue in FY2026. TSMC's AI accelerator segment growing at mid-40% CAGR.</a:t>
            </a:r>
            <a:endParaRPr lang="en-US" sz="750" dirty="0"/>
          </a:p>
        </p:txBody>
      </p:sp>
      <p:sp>
        <p:nvSpPr>
          <p:cNvPr id="8" name="Shape 6"/>
          <p:cNvSpPr/>
          <p:nvPr/>
        </p:nvSpPr>
        <p:spPr>
          <a:xfrm>
            <a:off x="155689" y="1152144"/>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9" name="Shape 7"/>
          <p:cNvSpPr/>
          <p:nvPr/>
        </p:nvSpPr>
        <p:spPr>
          <a:xfrm>
            <a:off x="237985" y="1220724"/>
            <a:ext cx="260604" cy="260604"/>
          </a:xfrm>
          <a:prstGeom prst="ellipse">
            <a:avLst/>
          </a:prstGeom>
          <a:solidFill>
            <a:srgbClr val="F5C842"/>
          </a:solidFill>
          <a:ln/>
        </p:spPr>
      </p:sp>
      <p:sp>
        <p:nvSpPr>
          <p:cNvPr id="10" name="Text 8"/>
          <p:cNvSpPr/>
          <p:nvPr/>
        </p:nvSpPr>
        <p:spPr>
          <a:xfrm>
            <a:off x="237985" y="1220724"/>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#1</a:t>
            </a:r>
            <a:endParaRPr lang="en-US" sz="825" dirty="0"/>
          </a:p>
        </p:txBody>
      </p:sp>
      <p:sp>
        <p:nvSpPr>
          <p:cNvPr id="11" name="Text 9"/>
          <p:cNvSpPr/>
          <p:nvPr/>
        </p:nvSpPr>
        <p:spPr>
          <a:xfrm>
            <a:off x="567169" y="1207008"/>
            <a:ext cx="1097280" cy="240030"/>
          </a:xfrm>
          <a:prstGeom prst="rect">
            <a:avLst/>
          </a:prstGeom>
          <a:noFill/>
          <a:ln/>
        </p:spPr>
        <p:txBody>
          <a:bodyPr wrap="square" lIns="0" tIns="0" rIns="0" bIns="0" rtlCol="0" anchor="ctr"/>
          <a:lstStyle/>
          <a:p>
            <a:r>
              <a:rPr lang="en-US" sz="1200" b="1" dirty="0">
                <a:solidFill>
                  <a:srgbClr val="A855F7"/>
                </a:solidFill>
                <a:latin typeface="Cambria" pitchFamily="34" charset="0"/>
                <a:ea typeface="Cambria" pitchFamily="34" charset="-122"/>
                <a:cs typeface="Cambria" pitchFamily="34" charset="-120"/>
              </a:rPr>
              <a:t>NVDA</a:t>
            </a:r>
            <a:endParaRPr lang="en-US" sz="1200" dirty="0"/>
          </a:p>
        </p:txBody>
      </p:sp>
      <p:sp>
        <p:nvSpPr>
          <p:cNvPr id="12" name="Text 10"/>
          <p:cNvSpPr/>
          <p:nvPr/>
        </p:nvSpPr>
        <p:spPr>
          <a:xfrm>
            <a:off x="567169" y="1440180"/>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NVIDIA Corp</a:t>
            </a:r>
            <a:endParaRPr lang="en-US" sz="638" dirty="0"/>
          </a:p>
        </p:txBody>
      </p:sp>
      <p:sp>
        <p:nvSpPr>
          <p:cNvPr id="13" name="Text 11"/>
          <p:cNvSpPr/>
          <p:nvPr/>
        </p:nvSpPr>
        <p:spPr>
          <a:xfrm>
            <a:off x="258559" y="1652778"/>
            <a:ext cx="411480" cy="150876"/>
          </a:xfrm>
          <a:prstGeom prst="rect">
            <a:avLst/>
          </a:prstGeom>
          <a:noFill/>
          <a:ln/>
        </p:spPr>
        <p:txBody>
          <a:bodyPr wrap="square" lIns="0" tIns="0" rIns="0" bIns="0" rtlCol="0" anchor="ctr"/>
          <a:lstStyle/>
          <a:p>
            <a:r>
              <a:rPr lang="en-US" sz="600" b="1" dirty="0">
                <a:solidFill>
                  <a:srgbClr val="A855F7"/>
                </a:solidFill>
                <a:latin typeface="Calibri" pitchFamily="34" charset="0"/>
                <a:ea typeface="Calibri" pitchFamily="34" charset="-122"/>
                <a:cs typeface="Calibri" pitchFamily="34" charset="-120"/>
              </a:rPr>
              <a:t>Moat: </a:t>
            </a:r>
            <a:endParaRPr lang="en-US" sz="600" dirty="0"/>
          </a:p>
        </p:txBody>
      </p:sp>
      <p:sp>
        <p:nvSpPr>
          <p:cNvPr id="14" name="Text 12"/>
          <p:cNvSpPr/>
          <p:nvPr/>
        </p:nvSpPr>
        <p:spPr>
          <a:xfrm>
            <a:off x="649465" y="1652778"/>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CUDA ecosystem lock-in: 19 years of accumulated developer tools (cuDNN, cuBLAS, NCCL, PyTorch/TensorFlow optimization). 80–90% AI accelerator market share. Switching cost exceeds any performance advantage from competitors.</a:t>
            </a:r>
            <a:endParaRPr lang="en-US" sz="600" dirty="0"/>
          </a:p>
        </p:txBody>
      </p:sp>
      <p:sp>
        <p:nvSpPr>
          <p:cNvPr id="15" name="Text 13"/>
          <p:cNvSpPr/>
          <p:nvPr/>
        </p:nvSpPr>
        <p:spPr>
          <a:xfrm>
            <a:off x="258559" y="2023110"/>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16" name="Text 14"/>
          <p:cNvSpPr/>
          <p:nvPr/>
        </p:nvSpPr>
        <p:spPr>
          <a:xfrm>
            <a:off x="772909" y="2023110"/>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FY26 Data Center revenue $194B. Blackwell 'sold out' through 2026. H100 sells for $28K vs $3.3K manufacturing cost (88% gross margin). $57B Q3 FY26 revenue (+62% YoY). Rubin architecture already in development.</a:t>
            </a:r>
            <a:endParaRPr lang="en-US" sz="600" dirty="0"/>
          </a:p>
        </p:txBody>
      </p:sp>
      <p:sp>
        <p:nvSpPr>
          <p:cNvPr id="17" name="Text 15"/>
          <p:cNvSpPr/>
          <p:nvPr/>
        </p:nvSpPr>
        <p:spPr>
          <a:xfrm>
            <a:off x="258559" y="2359152"/>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18" name="Text 16"/>
          <p:cNvSpPr/>
          <p:nvPr/>
        </p:nvSpPr>
        <p:spPr>
          <a:xfrm>
            <a:off x="615175" y="2359152"/>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Export controls on China (H20) costing $15–16B annually. Hyperscalers developing custom ASICs (TPUs, Trainium, Inferentia). AMD MI300X/MI450 gaining traction. Customer concentration in top 5 hyperscalers.</a:t>
            </a:r>
            <a:endParaRPr lang="en-US" sz="600" dirty="0"/>
          </a:p>
        </p:txBody>
      </p:sp>
      <p:sp>
        <p:nvSpPr>
          <p:cNvPr id="19" name="Text 17"/>
          <p:cNvSpPr/>
          <p:nvPr/>
        </p:nvSpPr>
        <p:spPr>
          <a:xfrm>
            <a:off x="237985" y="2647188"/>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UNDISPUTED CHAMPION. The CUDA moat is 19 years deep. No competitor can replicate the developer ecosystem in the near term. Every AI dollar flows through NVDA.</a:t>
            </a:r>
            <a:endParaRPr lang="en-US" sz="563" dirty="0"/>
          </a:p>
        </p:txBody>
      </p:sp>
      <p:sp>
        <p:nvSpPr>
          <p:cNvPr id="20" name="Shape 18"/>
          <p:cNvSpPr/>
          <p:nvPr/>
        </p:nvSpPr>
        <p:spPr>
          <a:xfrm>
            <a:off x="3173209" y="1152144"/>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21" name="Shape 19"/>
          <p:cNvSpPr/>
          <p:nvPr/>
        </p:nvSpPr>
        <p:spPr>
          <a:xfrm>
            <a:off x="3255505" y="1220724"/>
            <a:ext cx="260604" cy="260604"/>
          </a:xfrm>
          <a:prstGeom prst="ellipse">
            <a:avLst/>
          </a:prstGeom>
          <a:solidFill>
            <a:srgbClr val="4F9CF9"/>
          </a:solidFill>
          <a:ln/>
        </p:spPr>
      </p:sp>
      <p:sp>
        <p:nvSpPr>
          <p:cNvPr id="22" name="Text 20"/>
          <p:cNvSpPr/>
          <p:nvPr/>
        </p:nvSpPr>
        <p:spPr>
          <a:xfrm>
            <a:off x="3255505" y="1220724"/>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#2</a:t>
            </a:r>
            <a:endParaRPr lang="en-US" sz="825" dirty="0"/>
          </a:p>
        </p:txBody>
      </p:sp>
      <p:sp>
        <p:nvSpPr>
          <p:cNvPr id="23" name="Text 21"/>
          <p:cNvSpPr/>
          <p:nvPr/>
        </p:nvSpPr>
        <p:spPr>
          <a:xfrm>
            <a:off x="3584689" y="1207008"/>
            <a:ext cx="1097280" cy="240030"/>
          </a:xfrm>
          <a:prstGeom prst="rect">
            <a:avLst/>
          </a:prstGeom>
          <a:noFill/>
          <a:ln/>
        </p:spPr>
        <p:txBody>
          <a:bodyPr wrap="square" lIns="0" tIns="0" rIns="0" bIns="0" rtlCol="0" anchor="ctr"/>
          <a:lstStyle/>
          <a:p>
            <a:r>
              <a:rPr lang="en-US" sz="1200" b="1" dirty="0">
                <a:solidFill>
                  <a:srgbClr val="A855F7"/>
                </a:solidFill>
                <a:latin typeface="Cambria" pitchFamily="34" charset="0"/>
                <a:ea typeface="Cambria" pitchFamily="34" charset="-122"/>
                <a:cs typeface="Cambria" pitchFamily="34" charset="-120"/>
              </a:rPr>
              <a:t>TSM</a:t>
            </a:r>
            <a:endParaRPr lang="en-US" sz="1200" dirty="0"/>
          </a:p>
        </p:txBody>
      </p:sp>
      <p:sp>
        <p:nvSpPr>
          <p:cNvPr id="24" name="Text 22"/>
          <p:cNvSpPr/>
          <p:nvPr/>
        </p:nvSpPr>
        <p:spPr>
          <a:xfrm>
            <a:off x="3584689" y="1440180"/>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TSMC</a:t>
            </a:r>
            <a:endParaRPr lang="en-US" sz="638" dirty="0"/>
          </a:p>
        </p:txBody>
      </p:sp>
      <p:sp>
        <p:nvSpPr>
          <p:cNvPr id="25" name="Text 23"/>
          <p:cNvSpPr/>
          <p:nvPr/>
        </p:nvSpPr>
        <p:spPr>
          <a:xfrm>
            <a:off x="3276079" y="1652778"/>
            <a:ext cx="411480" cy="150876"/>
          </a:xfrm>
          <a:prstGeom prst="rect">
            <a:avLst/>
          </a:prstGeom>
          <a:noFill/>
          <a:ln/>
        </p:spPr>
        <p:txBody>
          <a:bodyPr wrap="square" lIns="0" tIns="0" rIns="0" bIns="0" rtlCol="0" anchor="ctr"/>
          <a:lstStyle/>
          <a:p>
            <a:r>
              <a:rPr lang="en-US" sz="600" b="1" dirty="0">
                <a:solidFill>
                  <a:srgbClr val="A855F7"/>
                </a:solidFill>
                <a:latin typeface="Calibri" pitchFamily="34" charset="0"/>
                <a:ea typeface="Calibri" pitchFamily="34" charset="-122"/>
                <a:cs typeface="Calibri" pitchFamily="34" charset="-120"/>
              </a:rPr>
              <a:t>Moat: </a:t>
            </a:r>
            <a:endParaRPr lang="en-US" sz="600" dirty="0"/>
          </a:p>
        </p:txBody>
      </p:sp>
      <p:sp>
        <p:nvSpPr>
          <p:cNvPr id="26" name="Text 24"/>
          <p:cNvSpPr/>
          <p:nvPr/>
        </p:nvSpPr>
        <p:spPr>
          <a:xfrm>
            <a:off x="3666985" y="1652778"/>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Only foundry capable of N3/N2 leading-edge manufacturing. Every AI chip — NVIDIA, AMD, Apple, Google TPU — is made by TSMC. CoWoS advanced packaging has multi-year backlog. 2026 revenue +30% YoY expected.</a:t>
            </a:r>
            <a:endParaRPr lang="en-US" sz="600" dirty="0"/>
          </a:p>
        </p:txBody>
      </p:sp>
      <p:sp>
        <p:nvSpPr>
          <p:cNvPr id="27" name="Text 25"/>
          <p:cNvSpPr/>
          <p:nvPr/>
        </p:nvSpPr>
        <p:spPr>
          <a:xfrm>
            <a:off x="3276079" y="2023110"/>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28" name="Text 26"/>
          <p:cNvSpPr/>
          <p:nvPr/>
        </p:nvSpPr>
        <p:spPr>
          <a:xfrm>
            <a:off x="3790429" y="2023110"/>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AI accelerator segment = high-teens % of 2025 revenue, growing mid-40% CAGR. HPC = 57% of revenue. Cloud contract backlog $460B. N2 enters volume production in 2025/2026. US/Japan/Europe fab expansion.</a:t>
            </a:r>
            <a:endParaRPr lang="en-US" sz="600" dirty="0"/>
          </a:p>
        </p:txBody>
      </p:sp>
      <p:sp>
        <p:nvSpPr>
          <p:cNvPr id="29" name="Text 27"/>
          <p:cNvSpPr/>
          <p:nvPr/>
        </p:nvSpPr>
        <p:spPr>
          <a:xfrm>
            <a:off x="3276079" y="2359152"/>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30" name="Text 28"/>
          <p:cNvSpPr/>
          <p:nvPr/>
        </p:nvSpPr>
        <p:spPr>
          <a:xfrm>
            <a:off x="3632695" y="2359152"/>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Geopolitical risk (Taiwan Strait). Overseas fab margin dilution (1–2% headwind). US CHIPS Act compliance costs. Currency risk (TWD/USD). CoWoS capacity still constrained.</a:t>
            </a:r>
            <a:endParaRPr lang="en-US" sz="600" dirty="0"/>
          </a:p>
        </p:txBody>
      </p:sp>
      <p:sp>
        <p:nvSpPr>
          <p:cNvPr id="31" name="Text 29"/>
          <p:cNvSpPr/>
          <p:nvPr/>
        </p:nvSpPr>
        <p:spPr>
          <a:xfrm>
            <a:off x="3255505" y="2647188"/>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THE TOLL BOOTH. Every major AI chip goes through TSMC. Cannot be replicated for 5–10+ years. Geopolitical risk is real but priced in — the US government is incentivizing diversification.</a:t>
            </a:r>
            <a:endParaRPr lang="en-US" sz="563" dirty="0"/>
          </a:p>
        </p:txBody>
      </p:sp>
      <p:sp>
        <p:nvSpPr>
          <p:cNvPr id="32" name="Shape 30"/>
          <p:cNvSpPr/>
          <p:nvPr/>
        </p:nvSpPr>
        <p:spPr>
          <a:xfrm>
            <a:off x="6225019" y="1176147"/>
            <a:ext cx="2859786"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33" name="Shape 31"/>
          <p:cNvSpPr/>
          <p:nvPr/>
        </p:nvSpPr>
        <p:spPr>
          <a:xfrm>
            <a:off x="6307315" y="1244727"/>
            <a:ext cx="260604" cy="260604"/>
          </a:xfrm>
          <a:prstGeom prst="ellipse">
            <a:avLst/>
          </a:prstGeom>
          <a:solidFill>
            <a:srgbClr val="7B5CF5"/>
          </a:solidFill>
          <a:ln/>
        </p:spPr>
      </p:sp>
      <p:sp>
        <p:nvSpPr>
          <p:cNvPr id="34" name="Text 32"/>
          <p:cNvSpPr/>
          <p:nvPr/>
        </p:nvSpPr>
        <p:spPr>
          <a:xfrm>
            <a:off x="6307315" y="1244727"/>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#3</a:t>
            </a:r>
            <a:endParaRPr lang="en-US" sz="825" dirty="0"/>
          </a:p>
        </p:txBody>
      </p:sp>
      <p:sp>
        <p:nvSpPr>
          <p:cNvPr id="35" name="Text 33"/>
          <p:cNvSpPr/>
          <p:nvPr/>
        </p:nvSpPr>
        <p:spPr>
          <a:xfrm>
            <a:off x="6636499" y="1231011"/>
            <a:ext cx="1097280" cy="240030"/>
          </a:xfrm>
          <a:prstGeom prst="rect">
            <a:avLst/>
          </a:prstGeom>
          <a:noFill/>
          <a:ln/>
        </p:spPr>
        <p:txBody>
          <a:bodyPr wrap="square" lIns="0" tIns="0" rIns="0" bIns="0" rtlCol="0" anchor="ctr"/>
          <a:lstStyle/>
          <a:p>
            <a:r>
              <a:rPr lang="en-US" sz="1200" b="1" dirty="0">
                <a:solidFill>
                  <a:srgbClr val="A855F7"/>
                </a:solidFill>
                <a:latin typeface="Cambria" pitchFamily="34" charset="0"/>
                <a:ea typeface="Cambria" pitchFamily="34" charset="-122"/>
                <a:cs typeface="Cambria" pitchFamily="34" charset="-120"/>
              </a:rPr>
              <a:t>MU</a:t>
            </a:r>
            <a:endParaRPr lang="en-US" sz="1200" dirty="0"/>
          </a:p>
        </p:txBody>
      </p:sp>
      <p:sp>
        <p:nvSpPr>
          <p:cNvPr id="36" name="Text 34"/>
          <p:cNvSpPr/>
          <p:nvPr/>
        </p:nvSpPr>
        <p:spPr>
          <a:xfrm>
            <a:off x="6636499" y="1464183"/>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Micron Technology</a:t>
            </a:r>
            <a:endParaRPr lang="en-US" sz="638" dirty="0"/>
          </a:p>
        </p:txBody>
      </p:sp>
      <p:sp>
        <p:nvSpPr>
          <p:cNvPr id="37" name="Text 35"/>
          <p:cNvSpPr/>
          <p:nvPr/>
        </p:nvSpPr>
        <p:spPr>
          <a:xfrm>
            <a:off x="6327889" y="1676781"/>
            <a:ext cx="411480" cy="150876"/>
          </a:xfrm>
          <a:prstGeom prst="rect">
            <a:avLst/>
          </a:prstGeom>
          <a:noFill/>
          <a:ln/>
        </p:spPr>
        <p:txBody>
          <a:bodyPr wrap="square" lIns="0" tIns="0" rIns="0" bIns="0" rtlCol="0" anchor="ctr"/>
          <a:lstStyle/>
          <a:p>
            <a:r>
              <a:rPr lang="en-US" sz="600" b="1" dirty="0">
                <a:solidFill>
                  <a:srgbClr val="A855F7"/>
                </a:solidFill>
                <a:latin typeface="Calibri" pitchFamily="34" charset="0"/>
                <a:ea typeface="Calibri" pitchFamily="34" charset="-122"/>
                <a:cs typeface="Calibri" pitchFamily="34" charset="-120"/>
              </a:rPr>
              <a:t>Moat: </a:t>
            </a:r>
            <a:endParaRPr lang="en-US" sz="600" dirty="0"/>
          </a:p>
        </p:txBody>
      </p:sp>
      <p:sp>
        <p:nvSpPr>
          <p:cNvPr id="38" name="Text 36"/>
          <p:cNvSpPr/>
          <p:nvPr/>
        </p:nvSpPr>
        <p:spPr>
          <a:xfrm>
            <a:off x="6718795" y="1676781"/>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Only US-based memory manufacturer. HBM3E memory is physically inside every NVIDIA Blackwell GPU — no NVDA chip ships without Micron's memory. Record FQ3 2026 revenue guidance $33.5B at 81% gross margin.</a:t>
            </a:r>
            <a:endParaRPr lang="en-US" sz="600" dirty="0"/>
          </a:p>
        </p:txBody>
      </p:sp>
      <p:sp>
        <p:nvSpPr>
          <p:cNvPr id="39" name="Text 37"/>
          <p:cNvSpPr/>
          <p:nvPr/>
        </p:nvSpPr>
        <p:spPr>
          <a:xfrm>
            <a:off x="6327889" y="2047113"/>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40" name="Text 38"/>
          <p:cNvSpPr/>
          <p:nvPr/>
        </p:nvSpPr>
        <p:spPr>
          <a:xfrm>
            <a:off x="6842239" y="2047113"/>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HBM revenue +50% sequentially (Q3 FY25). Record Q2 FY26 at $33.5B guided. 30% dividend increase. AI data center memory doubling YoY. Strategic US government support as sole US DRAM maker.</a:t>
            </a:r>
            <a:endParaRPr lang="en-US" sz="600" dirty="0"/>
          </a:p>
        </p:txBody>
      </p:sp>
      <p:sp>
        <p:nvSpPr>
          <p:cNvPr id="41" name="Text 39"/>
          <p:cNvSpPr/>
          <p:nvPr/>
        </p:nvSpPr>
        <p:spPr>
          <a:xfrm>
            <a:off x="6327889" y="2383155"/>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42" name="Text 40"/>
          <p:cNvSpPr/>
          <p:nvPr/>
        </p:nvSpPr>
        <p:spPr>
          <a:xfrm>
            <a:off x="6684505" y="2383155"/>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Cyclical commodity business — memory prices can crash. DRAM oversupply risk if AI investment slows. Samsung/SK Hynix competition. HBM allocation still behind SK Hynix.</a:t>
            </a:r>
            <a:endParaRPr lang="en-US" sz="600" dirty="0"/>
          </a:p>
        </p:txBody>
      </p:sp>
      <p:sp>
        <p:nvSpPr>
          <p:cNvPr id="43" name="Text 41"/>
          <p:cNvSpPr/>
          <p:nvPr/>
        </p:nvSpPr>
        <p:spPr>
          <a:xfrm>
            <a:off x="6307315" y="2671191"/>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HIDDEN GEM. Micron is the 'picks and shovels' of the picks and shovels. Every NVDA GPU needs HBM. Margins at record levels, US gov backing, and demand accelerating.</a:t>
            </a:r>
            <a:endParaRPr lang="en-US" sz="563" dirty="0"/>
          </a:p>
        </p:txBody>
      </p:sp>
      <p:sp>
        <p:nvSpPr>
          <p:cNvPr id="44" name="Shape 42"/>
          <p:cNvSpPr/>
          <p:nvPr/>
        </p:nvSpPr>
        <p:spPr>
          <a:xfrm>
            <a:off x="155689" y="3038094"/>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45" name="Shape 43"/>
          <p:cNvSpPr/>
          <p:nvPr/>
        </p:nvSpPr>
        <p:spPr>
          <a:xfrm>
            <a:off x="237985" y="3106674"/>
            <a:ext cx="260604" cy="260604"/>
          </a:xfrm>
          <a:prstGeom prst="ellipse">
            <a:avLst/>
          </a:prstGeom>
          <a:solidFill>
            <a:srgbClr val="F97316"/>
          </a:solidFill>
          <a:ln/>
        </p:spPr>
      </p:sp>
      <p:sp>
        <p:nvSpPr>
          <p:cNvPr id="46" name="Text 44"/>
          <p:cNvSpPr/>
          <p:nvPr/>
        </p:nvSpPr>
        <p:spPr>
          <a:xfrm>
            <a:off x="237985" y="3106674"/>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#4</a:t>
            </a:r>
            <a:endParaRPr lang="en-US" sz="825" dirty="0"/>
          </a:p>
        </p:txBody>
      </p:sp>
      <p:sp>
        <p:nvSpPr>
          <p:cNvPr id="47" name="Text 45"/>
          <p:cNvSpPr/>
          <p:nvPr/>
        </p:nvSpPr>
        <p:spPr>
          <a:xfrm>
            <a:off x="567169" y="3092958"/>
            <a:ext cx="1097280" cy="240030"/>
          </a:xfrm>
          <a:prstGeom prst="rect">
            <a:avLst/>
          </a:prstGeom>
          <a:noFill/>
          <a:ln/>
        </p:spPr>
        <p:txBody>
          <a:bodyPr wrap="square" lIns="0" tIns="0" rIns="0" bIns="0" rtlCol="0" anchor="ctr"/>
          <a:lstStyle/>
          <a:p>
            <a:r>
              <a:rPr lang="en-US" sz="1200" b="1" dirty="0">
                <a:solidFill>
                  <a:srgbClr val="A855F7"/>
                </a:solidFill>
                <a:latin typeface="Cambria" pitchFamily="34" charset="0"/>
                <a:ea typeface="Cambria" pitchFamily="34" charset="-122"/>
                <a:cs typeface="Cambria" pitchFamily="34" charset="-120"/>
              </a:rPr>
              <a:t>AMD</a:t>
            </a:r>
            <a:endParaRPr lang="en-US" sz="1200" dirty="0"/>
          </a:p>
        </p:txBody>
      </p:sp>
      <p:sp>
        <p:nvSpPr>
          <p:cNvPr id="48" name="Text 46"/>
          <p:cNvSpPr/>
          <p:nvPr/>
        </p:nvSpPr>
        <p:spPr>
          <a:xfrm>
            <a:off x="567169" y="3326130"/>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Advanced Micro Devices</a:t>
            </a:r>
            <a:endParaRPr lang="en-US" sz="638" dirty="0"/>
          </a:p>
        </p:txBody>
      </p:sp>
      <p:sp>
        <p:nvSpPr>
          <p:cNvPr id="49" name="Text 47"/>
          <p:cNvSpPr/>
          <p:nvPr/>
        </p:nvSpPr>
        <p:spPr>
          <a:xfrm>
            <a:off x="258559" y="3538728"/>
            <a:ext cx="411480" cy="150876"/>
          </a:xfrm>
          <a:prstGeom prst="rect">
            <a:avLst/>
          </a:prstGeom>
          <a:noFill/>
          <a:ln/>
        </p:spPr>
        <p:txBody>
          <a:bodyPr wrap="square" lIns="0" tIns="0" rIns="0" bIns="0" rtlCol="0" anchor="ctr"/>
          <a:lstStyle/>
          <a:p>
            <a:r>
              <a:rPr lang="en-US" sz="600" b="1" dirty="0">
                <a:solidFill>
                  <a:srgbClr val="A855F7"/>
                </a:solidFill>
                <a:latin typeface="Calibri" pitchFamily="34" charset="0"/>
                <a:ea typeface="Calibri" pitchFamily="34" charset="-122"/>
                <a:cs typeface="Calibri" pitchFamily="34" charset="-120"/>
              </a:rPr>
              <a:t>Moat: </a:t>
            </a:r>
            <a:endParaRPr lang="en-US" sz="600" dirty="0"/>
          </a:p>
        </p:txBody>
      </p:sp>
      <p:sp>
        <p:nvSpPr>
          <p:cNvPr id="50" name="Text 48"/>
          <p:cNvSpPr/>
          <p:nvPr/>
        </p:nvSpPr>
        <p:spPr>
          <a:xfrm>
            <a:off x="649465" y="3538728"/>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Best alternative to NVDA for AI training &amp; inference. MI300X/MI450 series gaining hyperscaler validation. EPYC CPUs dominate server market. Also benefits from ROCm 7 software improvements.</a:t>
            </a:r>
            <a:endParaRPr lang="en-US" sz="600" dirty="0"/>
          </a:p>
        </p:txBody>
      </p:sp>
      <p:sp>
        <p:nvSpPr>
          <p:cNvPr id="51" name="Text 49"/>
          <p:cNvSpPr/>
          <p:nvPr/>
        </p:nvSpPr>
        <p:spPr>
          <a:xfrm>
            <a:off x="258559" y="3909060"/>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52" name="Text 50"/>
          <p:cNvSpPr/>
          <p:nvPr/>
        </p:nvSpPr>
        <p:spPr>
          <a:xfrm>
            <a:off x="772909" y="3909060"/>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Q4 2025 revenue $10.3B (+34% YoY), 57% non-GAAP gross margin. OpenAI partnership for 6 GW of MI400/MI450 deployments starting 2H 2026. EPYC CPUs + Instinct GPUs = full stack server play.</a:t>
            </a:r>
            <a:endParaRPr lang="en-US" sz="600" dirty="0"/>
          </a:p>
        </p:txBody>
      </p:sp>
      <p:sp>
        <p:nvSpPr>
          <p:cNvPr id="53" name="Text 51"/>
          <p:cNvSpPr/>
          <p:nvPr/>
        </p:nvSpPr>
        <p:spPr>
          <a:xfrm>
            <a:off x="258559" y="4245102"/>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54" name="Text 52"/>
          <p:cNvSpPr/>
          <p:nvPr/>
        </p:nvSpPr>
        <p:spPr>
          <a:xfrm>
            <a:off x="615175" y="4245102"/>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Still 5–10% AI accelerator market share vs NVDA's 80%. ROCm software ecosystem far behind CUDA. Does not need to beat NVDA — but must keep closing the gap. Supply chain constraints.</a:t>
            </a:r>
            <a:endParaRPr lang="en-US" sz="600" dirty="0"/>
          </a:p>
        </p:txBody>
      </p:sp>
      <p:sp>
        <p:nvSpPr>
          <p:cNvPr id="55" name="Text 53"/>
          <p:cNvSpPr/>
          <p:nvPr/>
        </p:nvSpPr>
        <p:spPr>
          <a:xfrm>
            <a:off x="237985" y="4533138"/>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STRONG #2 IN CHIPS. AMD doesn't need to beat NVDA, it just needs to take profitable share in a massive market. OpenAI deal is a major validator. The ROCm gap is closing.</a:t>
            </a:r>
            <a:endParaRPr lang="en-US" sz="563" dirty="0"/>
          </a:p>
        </p:txBody>
      </p:sp>
      <p:sp>
        <p:nvSpPr>
          <p:cNvPr id="56" name="Shape 54"/>
          <p:cNvSpPr/>
          <p:nvPr/>
        </p:nvSpPr>
        <p:spPr>
          <a:xfrm>
            <a:off x="3173209" y="3038094"/>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57" name="Shape 55"/>
          <p:cNvSpPr/>
          <p:nvPr/>
        </p:nvSpPr>
        <p:spPr>
          <a:xfrm>
            <a:off x="3255505" y="3106674"/>
            <a:ext cx="260604" cy="260604"/>
          </a:xfrm>
          <a:prstGeom prst="ellipse">
            <a:avLst/>
          </a:prstGeom>
          <a:solidFill>
            <a:srgbClr val="22C55E"/>
          </a:solidFill>
          <a:ln/>
        </p:spPr>
      </p:sp>
      <p:sp>
        <p:nvSpPr>
          <p:cNvPr id="58" name="Text 56"/>
          <p:cNvSpPr/>
          <p:nvPr/>
        </p:nvSpPr>
        <p:spPr>
          <a:xfrm>
            <a:off x="3255505" y="3106674"/>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#5</a:t>
            </a:r>
            <a:endParaRPr lang="en-US" sz="825" dirty="0"/>
          </a:p>
        </p:txBody>
      </p:sp>
      <p:sp>
        <p:nvSpPr>
          <p:cNvPr id="59" name="Text 57"/>
          <p:cNvSpPr/>
          <p:nvPr/>
        </p:nvSpPr>
        <p:spPr>
          <a:xfrm>
            <a:off x="3584689" y="3092958"/>
            <a:ext cx="1097280" cy="240030"/>
          </a:xfrm>
          <a:prstGeom prst="rect">
            <a:avLst/>
          </a:prstGeom>
          <a:noFill/>
          <a:ln/>
        </p:spPr>
        <p:txBody>
          <a:bodyPr wrap="square" lIns="0" tIns="0" rIns="0" bIns="0" rtlCol="0" anchor="ctr"/>
          <a:lstStyle/>
          <a:p>
            <a:r>
              <a:rPr lang="en-US" sz="1200" b="1" dirty="0">
                <a:solidFill>
                  <a:srgbClr val="A855F7"/>
                </a:solidFill>
                <a:latin typeface="Cambria" pitchFamily="34" charset="0"/>
                <a:ea typeface="Cambria" pitchFamily="34" charset="-122"/>
                <a:cs typeface="Cambria" pitchFamily="34" charset="-120"/>
              </a:rPr>
              <a:t>ARM</a:t>
            </a:r>
            <a:endParaRPr lang="en-US" sz="1200" dirty="0"/>
          </a:p>
        </p:txBody>
      </p:sp>
      <p:sp>
        <p:nvSpPr>
          <p:cNvPr id="60" name="Text 58"/>
          <p:cNvSpPr/>
          <p:nvPr/>
        </p:nvSpPr>
        <p:spPr>
          <a:xfrm>
            <a:off x="3584689" y="3326130"/>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Arm Holdings</a:t>
            </a:r>
            <a:endParaRPr lang="en-US" sz="638" dirty="0"/>
          </a:p>
        </p:txBody>
      </p:sp>
      <p:sp>
        <p:nvSpPr>
          <p:cNvPr id="61" name="Text 59"/>
          <p:cNvSpPr/>
          <p:nvPr/>
        </p:nvSpPr>
        <p:spPr>
          <a:xfrm>
            <a:off x="3276079" y="3538728"/>
            <a:ext cx="411480" cy="150876"/>
          </a:xfrm>
          <a:prstGeom prst="rect">
            <a:avLst/>
          </a:prstGeom>
          <a:noFill/>
          <a:ln/>
        </p:spPr>
        <p:txBody>
          <a:bodyPr wrap="square" lIns="0" tIns="0" rIns="0" bIns="0" rtlCol="0" anchor="ctr"/>
          <a:lstStyle/>
          <a:p>
            <a:r>
              <a:rPr lang="en-US" sz="600" b="1" dirty="0">
                <a:solidFill>
                  <a:srgbClr val="A855F7"/>
                </a:solidFill>
                <a:latin typeface="Calibri" pitchFamily="34" charset="0"/>
                <a:ea typeface="Calibri" pitchFamily="34" charset="-122"/>
                <a:cs typeface="Calibri" pitchFamily="34" charset="-120"/>
              </a:rPr>
              <a:t>Moat: </a:t>
            </a:r>
            <a:endParaRPr lang="en-US" sz="600" dirty="0"/>
          </a:p>
        </p:txBody>
      </p:sp>
      <p:sp>
        <p:nvSpPr>
          <p:cNvPr id="62" name="Text 60"/>
          <p:cNvSpPr/>
          <p:nvPr/>
        </p:nvSpPr>
        <p:spPr>
          <a:xfrm>
            <a:off x="3666985" y="3538728"/>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Designs the instruction set architecture (ISA) used in essentially every smartphone chip and a growing % of data center CPUs. Every Apple M-series, AWS Graviton, Qualcomm Snapdragon uses ARM. Royalty business model = high-margin annuity.</a:t>
            </a:r>
            <a:endParaRPr lang="en-US" sz="600" dirty="0"/>
          </a:p>
        </p:txBody>
      </p:sp>
      <p:sp>
        <p:nvSpPr>
          <p:cNvPr id="63" name="Text 61"/>
          <p:cNvSpPr/>
          <p:nvPr/>
        </p:nvSpPr>
        <p:spPr>
          <a:xfrm>
            <a:off x="3276079" y="3909060"/>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64" name="Text 62"/>
          <p:cNvSpPr/>
          <p:nvPr/>
        </p:nvSpPr>
        <p:spPr>
          <a:xfrm>
            <a:off x="3790429" y="3909060"/>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ARM architecture in 99% of smartphones. Graviton4 (AWS) + Neoverse V3: AI inference at CPU level. NVIDIA Blackwell uses ARM cores for management. Royalty + licensing = ~50% operating margin.</a:t>
            </a:r>
            <a:endParaRPr lang="en-US" sz="600" dirty="0"/>
          </a:p>
        </p:txBody>
      </p:sp>
      <p:sp>
        <p:nvSpPr>
          <p:cNvPr id="65" name="Text 63"/>
          <p:cNvSpPr/>
          <p:nvPr/>
        </p:nvSpPr>
        <p:spPr>
          <a:xfrm>
            <a:off x="3276079" y="4245102"/>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66" name="Text 64"/>
          <p:cNvSpPr/>
          <p:nvPr/>
        </p:nvSpPr>
        <p:spPr>
          <a:xfrm>
            <a:off x="3632695" y="4245102"/>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Doesn't manufacture chips — pure IP. Customer Qualcomm/Apple are also biggest risks. China revenue uncertainty. Limited exposure to GPU/accelerator boom directly.</a:t>
            </a:r>
            <a:endParaRPr lang="en-US" sz="600" dirty="0"/>
          </a:p>
        </p:txBody>
      </p:sp>
      <p:sp>
        <p:nvSpPr>
          <p:cNvPr id="67" name="Text 65"/>
          <p:cNvSpPr/>
          <p:nvPr/>
        </p:nvSpPr>
        <p:spPr>
          <a:xfrm>
            <a:off x="3255505" y="4533138"/>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ROYALTY PLATFORM. ARM is the IP layer that will be embedded in edge AI and autonomous robotics. Less direct exposure to training, more to inference and edge — a long-duration winner.</a:t>
            </a:r>
            <a:endParaRPr lang="en-US" sz="563" dirty="0"/>
          </a:p>
        </p:txBody>
      </p:sp>
      <p:sp>
        <p:nvSpPr>
          <p:cNvPr id="68" name="Shape 66"/>
          <p:cNvSpPr/>
          <p:nvPr/>
        </p:nvSpPr>
        <p:spPr>
          <a:xfrm>
            <a:off x="6225019" y="3038094"/>
            <a:ext cx="2194560" cy="1714500"/>
          </a:xfrm>
          <a:prstGeom prst="roundRect">
            <a:avLst>
              <a:gd name="adj" fmla="val 3200"/>
            </a:avLst>
          </a:prstGeom>
          <a:solidFill>
            <a:srgbClr val="0F0A1A"/>
          </a:solidFill>
          <a:ln/>
          <a:effectLst>
            <a:outerShdw blurRad="127000" dist="38100" dir="2700000" algn="bl" rotWithShape="0">
              <a:srgbClr val="000000">
                <a:alpha val="30000"/>
              </a:srgbClr>
            </a:outerShdw>
          </a:effectLst>
        </p:spPr>
      </p:sp>
      <p:sp>
        <p:nvSpPr>
          <p:cNvPr id="69" name="Text 67"/>
          <p:cNvSpPr/>
          <p:nvPr/>
        </p:nvSpPr>
        <p:spPr>
          <a:xfrm>
            <a:off x="6327889" y="3106674"/>
            <a:ext cx="2057400" cy="205740"/>
          </a:xfrm>
          <a:prstGeom prst="rect">
            <a:avLst/>
          </a:prstGeom>
          <a:noFill/>
          <a:ln/>
        </p:spPr>
        <p:txBody>
          <a:bodyPr wrap="square" lIns="0" tIns="0" rIns="0" bIns="0" rtlCol="0" anchor="ctr"/>
          <a:lstStyle/>
          <a:p>
            <a:r>
              <a:rPr lang="en-US" sz="750" b="1" dirty="0">
                <a:solidFill>
                  <a:srgbClr val="A855F7"/>
                </a:solidFill>
                <a:latin typeface="Calibri" pitchFamily="34" charset="0"/>
                <a:ea typeface="Calibri" pitchFamily="34" charset="-122"/>
                <a:cs typeface="Calibri" pitchFamily="34" charset="-120"/>
              </a:rPr>
              <a:t>🏆 LAYER WINNER</a:t>
            </a:r>
            <a:endParaRPr lang="en-US" sz="750" dirty="0"/>
          </a:p>
        </p:txBody>
      </p:sp>
      <p:sp>
        <p:nvSpPr>
          <p:cNvPr id="70" name="Text 68"/>
          <p:cNvSpPr/>
          <p:nvPr/>
        </p:nvSpPr>
        <p:spPr>
          <a:xfrm>
            <a:off x="6327889" y="3332988"/>
            <a:ext cx="2057400" cy="356616"/>
          </a:xfrm>
          <a:prstGeom prst="rect">
            <a:avLst/>
          </a:prstGeom>
          <a:noFill/>
          <a:ln/>
        </p:spPr>
        <p:txBody>
          <a:bodyPr wrap="square" lIns="0" tIns="0" rIns="0" bIns="0" rtlCol="0" anchor="ctr"/>
          <a:lstStyle/>
          <a:p>
            <a:r>
              <a:rPr lang="en-US" sz="2250" b="1" dirty="0">
                <a:solidFill>
                  <a:srgbClr val="F5C842"/>
                </a:solidFill>
                <a:latin typeface="Cambria" pitchFamily="34" charset="0"/>
                <a:ea typeface="Cambria" pitchFamily="34" charset="-122"/>
                <a:cs typeface="Cambria" pitchFamily="34" charset="-120"/>
              </a:rPr>
              <a:t>$NVDA</a:t>
            </a:r>
            <a:endParaRPr lang="en-US" sz="2250" dirty="0"/>
          </a:p>
        </p:txBody>
      </p:sp>
      <p:sp>
        <p:nvSpPr>
          <p:cNvPr id="71" name="Text 69"/>
          <p:cNvSpPr/>
          <p:nvPr/>
        </p:nvSpPr>
        <p:spPr>
          <a:xfrm>
            <a:off x="6327889" y="3675888"/>
            <a:ext cx="2057400" cy="192024"/>
          </a:xfrm>
          <a:prstGeom prst="rect">
            <a:avLst/>
          </a:prstGeom>
          <a:noFill/>
          <a:ln/>
        </p:spPr>
        <p:txBody>
          <a:bodyPr wrap="square" lIns="0" tIns="0" rIns="0" bIns="0" rtlCol="0" anchor="ctr"/>
          <a:lstStyle/>
          <a:p>
            <a:r>
              <a:rPr lang="en-US" sz="825" dirty="0">
                <a:solidFill>
                  <a:srgbClr val="FFFFFF"/>
                </a:solidFill>
                <a:latin typeface="Calibri" pitchFamily="34" charset="0"/>
                <a:ea typeface="Calibri" pitchFamily="34" charset="-122"/>
                <a:cs typeface="Calibri" pitchFamily="34" charset="-120"/>
              </a:rPr>
              <a:t>NVIDIA Corporation</a:t>
            </a:r>
            <a:endParaRPr lang="en-US" sz="825" dirty="0"/>
          </a:p>
        </p:txBody>
      </p:sp>
      <p:sp>
        <p:nvSpPr>
          <p:cNvPr id="72" name="Text 70"/>
          <p:cNvSpPr/>
          <p:nvPr/>
        </p:nvSpPr>
        <p:spPr>
          <a:xfrm>
            <a:off x="6327889" y="3895344"/>
            <a:ext cx="2057400" cy="80924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Why it wins: 19-year CUDA moat. 80%+ market share. Blackwell sold out through 2026. The H100/H200/B200 ecosystem is not a product — it is a platform that trains all AI. Rubin coming. The compounding moat deepens every year.</a:t>
            </a:r>
            <a:endParaRPr lang="en-US" sz="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7C3AED"/>
          </a:solidFill>
          <a:ln/>
        </p:spPr>
      </p:sp>
      <p:sp>
        <p:nvSpPr>
          <p:cNvPr id="3" name="Text 1"/>
          <p:cNvSpPr/>
          <p:nvPr/>
        </p:nvSpPr>
        <p:spPr>
          <a:xfrm>
            <a:off x="190831" y="-176221"/>
            <a:ext cx="8778240" cy="621792"/>
          </a:xfrm>
          <a:prstGeom prst="rect">
            <a:avLst/>
          </a:prstGeom>
          <a:noFill/>
          <a:ln/>
        </p:spPr>
        <p:txBody>
          <a:bodyPr wrap="square" rtlCol="0" anchor="ctr"/>
          <a:lstStyle/>
          <a:p>
            <a:pPr marL="0" indent="0">
              <a:buNone/>
            </a:pPr>
            <a:r>
              <a:rPr lang="en-US" sz="1300" b="1" dirty="0">
                <a:solidFill>
                  <a:srgbClr val="FFFFFF"/>
                </a:solidFill>
              </a:rPr>
              <a:t>AI CHIPS &amp; COMPUTING — NVIDIA (NVDA)</a:t>
            </a:r>
            <a:endParaRPr lang="en-US" sz="1300" dirty="0"/>
          </a:p>
        </p:txBody>
      </p:sp>
      <p:sp>
        <p:nvSpPr>
          <p:cNvPr id="4" name="Text 2"/>
          <p:cNvSpPr/>
          <p:nvPr/>
        </p:nvSpPr>
        <p:spPr>
          <a:xfrm>
            <a:off x="182880" y="290123"/>
            <a:ext cx="4259911" cy="256032"/>
          </a:xfrm>
          <a:prstGeom prst="rect">
            <a:avLst/>
          </a:prstGeom>
          <a:noFill/>
          <a:ln/>
        </p:spPr>
        <p:txBody>
          <a:bodyPr wrap="square" rtlCol="0" anchor="ctr"/>
          <a:lstStyle/>
          <a:p>
            <a:pPr marL="0" indent="0">
              <a:buNone/>
            </a:pPr>
            <a:r>
              <a:rPr lang="en-US" sz="1100" i="1" dirty="0">
                <a:solidFill>
                  <a:srgbClr val="06B6D4"/>
                </a:solidFill>
              </a:rPr>
              <a:t>The Foundational Infrastructure Layer — Every AI model, every robot, every data center runs on NVIDIA</a:t>
            </a:r>
            <a:endParaRPr lang="en-US" sz="1100" dirty="0"/>
          </a:p>
        </p:txBody>
      </p:sp>
      <p:sp>
        <p:nvSpPr>
          <p:cNvPr id="5" name="Shape 3"/>
          <p:cNvSpPr/>
          <p:nvPr/>
        </p:nvSpPr>
        <p:spPr>
          <a:xfrm>
            <a:off x="182880" y="763524"/>
            <a:ext cx="4251960" cy="384048"/>
          </a:xfrm>
          <a:prstGeom prst="rect">
            <a:avLst/>
          </a:prstGeom>
          <a:solidFill>
            <a:srgbClr val="0F1F3D"/>
          </a:solidFill>
          <a:ln/>
          <a:effectLst>
            <a:outerShdw blurRad="127000" dist="50800" dir="8100000" algn="bl" rotWithShape="0">
              <a:srgbClr val="000000">
                <a:alpha val="25000"/>
              </a:srgbClr>
            </a:outerShdw>
          </a:effectLst>
        </p:spPr>
      </p:sp>
      <p:sp>
        <p:nvSpPr>
          <p:cNvPr id="6" name="Text 4"/>
          <p:cNvSpPr/>
          <p:nvPr/>
        </p:nvSpPr>
        <p:spPr>
          <a:xfrm>
            <a:off x="256032" y="781812"/>
            <a:ext cx="1371600" cy="347472"/>
          </a:xfrm>
          <a:prstGeom prst="rect">
            <a:avLst/>
          </a:prstGeom>
          <a:noFill/>
          <a:ln/>
        </p:spPr>
        <p:txBody>
          <a:bodyPr wrap="square" rtlCol="0" anchor="ctr"/>
          <a:lstStyle/>
          <a:p>
            <a:pPr marL="0" indent="0">
              <a:buNone/>
            </a:pPr>
            <a:r>
              <a:rPr lang="en-US" sz="950" dirty="0">
                <a:solidFill>
                  <a:srgbClr val="64748B"/>
                </a:solidFill>
              </a:rPr>
              <a:t>Founded</a:t>
            </a:r>
            <a:endParaRPr lang="en-US" sz="950" dirty="0"/>
          </a:p>
        </p:txBody>
      </p:sp>
      <p:sp>
        <p:nvSpPr>
          <p:cNvPr id="7" name="Text 5"/>
          <p:cNvSpPr/>
          <p:nvPr/>
        </p:nvSpPr>
        <p:spPr>
          <a:xfrm>
            <a:off x="1691640" y="781812"/>
            <a:ext cx="2670048" cy="347472"/>
          </a:xfrm>
          <a:prstGeom prst="rect">
            <a:avLst/>
          </a:prstGeom>
          <a:noFill/>
          <a:ln/>
        </p:spPr>
        <p:txBody>
          <a:bodyPr wrap="square" rtlCol="0" anchor="ctr"/>
          <a:lstStyle/>
          <a:p>
            <a:pPr marL="0" indent="0">
              <a:buNone/>
            </a:pPr>
            <a:r>
              <a:rPr lang="en-US" sz="950" dirty="0">
                <a:solidFill>
                  <a:srgbClr val="E2E8F0"/>
                </a:solidFill>
              </a:rPr>
              <a:t>1993 (Jensen Huang, Chris Malachowsky, Curtis Priem)</a:t>
            </a:r>
            <a:endParaRPr lang="en-US" sz="950" dirty="0"/>
          </a:p>
        </p:txBody>
      </p:sp>
      <p:sp>
        <p:nvSpPr>
          <p:cNvPr id="8" name="Shape 6"/>
          <p:cNvSpPr/>
          <p:nvPr/>
        </p:nvSpPr>
        <p:spPr>
          <a:xfrm>
            <a:off x="182880" y="1193292"/>
            <a:ext cx="4251960" cy="384048"/>
          </a:xfrm>
          <a:prstGeom prst="rect">
            <a:avLst/>
          </a:prstGeom>
          <a:solidFill>
            <a:srgbClr val="0F1F3D"/>
          </a:solidFill>
          <a:ln/>
          <a:effectLst>
            <a:outerShdw blurRad="127000" dist="50800" dir="8100000" algn="bl" rotWithShape="0">
              <a:srgbClr val="000000">
                <a:alpha val="25000"/>
              </a:srgbClr>
            </a:outerShdw>
          </a:effectLst>
        </p:spPr>
      </p:sp>
      <p:sp>
        <p:nvSpPr>
          <p:cNvPr id="9" name="Text 7"/>
          <p:cNvSpPr/>
          <p:nvPr/>
        </p:nvSpPr>
        <p:spPr>
          <a:xfrm>
            <a:off x="256032" y="1211580"/>
            <a:ext cx="1371600" cy="347472"/>
          </a:xfrm>
          <a:prstGeom prst="rect">
            <a:avLst/>
          </a:prstGeom>
          <a:noFill/>
          <a:ln/>
        </p:spPr>
        <p:txBody>
          <a:bodyPr wrap="square" rtlCol="0" anchor="ctr"/>
          <a:lstStyle/>
          <a:p>
            <a:pPr marL="0" indent="0">
              <a:buNone/>
            </a:pPr>
            <a:r>
              <a:rPr lang="en-US" sz="950" dirty="0">
                <a:solidFill>
                  <a:srgbClr val="64748B"/>
                </a:solidFill>
              </a:rPr>
              <a:t>Headquarters</a:t>
            </a:r>
            <a:endParaRPr lang="en-US" sz="950" dirty="0"/>
          </a:p>
        </p:txBody>
      </p:sp>
      <p:sp>
        <p:nvSpPr>
          <p:cNvPr id="10" name="Text 8"/>
          <p:cNvSpPr/>
          <p:nvPr/>
        </p:nvSpPr>
        <p:spPr>
          <a:xfrm>
            <a:off x="1691640" y="1211580"/>
            <a:ext cx="2670048" cy="347472"/>
          </a:xfrm>
          <a:prstGeom prst="rect">
            <a:avLst/>
          </a:prstGeom>
          <a:noFill/>
          <a:ln/>
        </p:spPr>
        <p:txBody>
          <a:bodyPr wrap="square" rtlCol="0" anchor="ctr"/>
          <a:lstStyle/>
          <a:p>
            <a:pPr marL="0" indent="0">
              <a:buNone/>
            </a:pPr>
            <a:r>
              <a:rPr lang="en-US" sz="950" dirty="0">
                <a:solidFill>
                  <a:srgbClr val="E2E8F0"/>
                </a:solidFill>
              </a:rPr>
              <a:t>Santa Clara, CA</a:t>
            </a:r>
            <a:endParaRPr lang="en-US" sz="950" dirty="0"/>
          </a:p>
        </p:txBody>
      </p:sp>
      <p:sp>
        <p:nvSpPr>
          <p:cNvPr id="11" name="Shape 9"/>
          <p:cNvSpPr/>
          <p:nvPr/>
        </p:nvSpPr>
        <p:spPr>
          <a:xfrm>
            <a:off x="182880" y="1623060"/>
            <a:ext cx="4251960" cy="384048"/>
          </a:xfrm>
          <a:prstGeom prst="rect">
            <a:avLst/>
          </a:prstGeom>
          <a:solidFill>
            <a:srgbClr val="0F1F3D"/>
          </a:solidFill>
          <a:ln/>
          <a:effectLst>
            <a:outerShdw blurRad="127000" dist="50800" dir="8100000" algn="bl" rotWithShape="0">
              <a:srgbClr val="000000">
                <a:alpha val="25000"/>
              </a:srgbClr>
            </a:outerShdw>
          </a:effectLst>
        </p:spPr>
      </p:sp>
      <p:sp>
        <p:nvSpPr>
          <p:cNvPr id="12" name="Text 10"/>
          <p:cNvSpPr/>
          <p:nvPr/>
        </p:nvSpPr>
        <p:spPr>
          <a:xfrm>
            <a:off x="256032" y="1641348"/>
            <a:ext cx="1371600" cy="347472"/>
          </a:xfrm>
          <a:prstGeom prst="rect">
            <a:avLst/>
          </a:prstGeom>
          <a:noFill/>
          <a:ln/>
        </p:spPr>
        <p:txBody>
          <a:bodyPr wrap="square" rtlCol="0" anchor="ctr"/>
          <a:lstStyle/>
          <a:p>
            <a:pPr marL="0" indent="0">
              <a:buNone/>
            </a:pPr>
            <a:r>
              <a:rPr lang="en-US" sz="950" dirty="0">
                <a:solidFill>
                  <a:srgbClr val="64748B"/>
                </a:solidFill>
              </a:rPr>
              <a:t>Core Business</a:t>
            </a:r>
            <a:endParaRPr lang="en-US" sz="950" dirty="0"/>
          </a:p>
        </p:txBody>
      </p:sp>
      <p:sp>
        <p:nvSpPr>
          <p:cNvPr id="13" name="Text 11"/>
          <p:cNvSpPr/>
          <p:nvPr/>
        </p:nvSpPr>
        <p:spPr>
          <a:xfrm>
            <a:off x="1691640" y="1641348"/>
            <a:ext cx="2670048" cy="347472"/>
          </a:xfrm>
          <a:prstGeom prst="rect">
            <a:avLst/>
          </a:prstGeom>
          <a:noFill/>
          <a:ln/>
        </p:spPr>
        <p:txBody>
          <a:bodyPr wrap="square" rtlCol="0" anchor="ctr"/>
          <a:lstStyle/>
          <a:p>
            <a:pPr marL="0" indent="0">
              <a:buNone/>
            </a:pPr>
            <a:r>
              <a:rPr lang="en-US" sz="950" dirty="0">
                <a:solidFill>
                  <a:srgbClr val="E2E8F0"/>
                </a:solidFill>
              </a:rPr>
              <a:t>GPU design + AI compute platforms (fabless semiconductor)</a:t>
            </a:r>
            <a:endParaRPr lang="en-US" sz="950" dirty="0"/>
          </a:p>
        </p:txBody>
      </p:sp>
      <p:sp>
        <p:nvSpPr>
          <p:cNvPr id="14" name="Shape 12"/>
          <p:cNvSpPr/>
          <p:nvPr/>
        </p:nvSpPr>
        <p:spPr>
          <a:xfrm>
            <a:off x="182880" y="2052828"/>
            <a:ext cx="4251960" cy="384048"/>
          </a:xfrm>
          <a:prstGeom prst="rect">
            <a:avLst/>
          </a:prstGeom>
          <a:solidFill>
            <a:srgbClr val="0F1F3D"/>
          </a:solidFill>
          <a:ln/>
          <a:effectLst>
            <a:outerShdw blurRad="127000" dist="50800" dir="8100000" algn="bl" rotWithShape="0">
              <a:srgbClr val="000000">
                <a:alpha val="25000"/>
              </a:srgbClr>
            </a:outerShdw>
          </a:effectLst>
        </p:spPr>
      </p:sp>
      <p:sp>
        <p:nvSpPr>
          <p:cNvPr id="15" name="Text 13"/>
          <p:cNvSpPr/>
          <p:nvPr/>
        </p:nvSpPr>
        <p:spPr>
          <a:xfrm>
            <a:off x="256032" y="2071116"/>
            <a:ext cx="1371600" cy="347472"/>
          </a:xfrm>
          <a:prstGeom prst="rect">
            <a:avLst/>
          </a:prstGeom>
          <a:noFill/>
          <a:ln/>
        </p:spPr>
        <p:txBody>
          <a:bodyPr wrap="square" rtlCol="0" anchor="ctr"/>
          <a:lstStyle/>
          <a:p>
            <a:pPr marL="0" indent="0">
              <a:buNone/>
            </a:pPr>
            <a:r>
              <a:rPr lang="en-US" sz="950" dirty="0">
                <a:solidFill>
                  <a:srgbClr val="64748B"/>
                </a:solidFill>
              </a:rPr>
              <a:t>Key Products</a:t>
            </a:r>
            <a:endParaRPr lang="en-US" sz="950" dirty="0"/>
          </a:p>
        </p:txBody>
      </p:sp>
      <p:sp>
        <p:nvSpPr>
          <p:cNvPr id="16" name="Text 14"/>
          <p:cNvSpPr/>
          <p:nvPr/>
        </p:nvSpPr>
        <p:spPr>
          <a:xfrm>
            <a:off x="1691640" y="2071116"/>
            <a:ext cx="2670048" cy="347472"/>
          </a:xfrm>
          <a:prstGeom prst="rect">
            <a:avLst/>
          </a:prstGeom>
          <a:noFill/>
          <a:ln/>
        </p:spPr>
        <p:txBody>
          <a:bodyPr wrap="square" rtlCol="0" anchor="ctr"/>
          <a:lstStyle/>
          <a:p>
            <a:pPr marL="0" indent="0">
              <a:buNone/>
            </a:pPr>
            <a:r>
              <a:rPr lang="en-US" sz="950" dirty="0">
                <a:solidFill>
                  <a:srgbClr val="E2E8F0"/>
                </a:solidFill>
              </a:rPr>
              <a:t>H100/H200 Hopper → Blackwell B100/B200/GB200 NVL72</a:t>
            </a:r>
            <a:endParaRPr lang="en-US" sz="950" dirty="0"/>
          </a:p>
        </p:txBody>
      </p:sp>
      <p:sp>
        <p:nvSpPr>
          <p:cNvPr id="17" name="Shape 15"/>
          <p:cNvSpPr/>
          <p:nvPr/>
        </p:nvSpPr>
        <p:spPr>
          <a:xfrm>
            <a:off x="182880" y="2482596"/>
            <a:ext cx="4251960" cy="384048"/>
          </a:xfrm>
          <a:prstGeom prst="rect">
            <a:avLst/>
          </a:prstGeom>
          <a:solidFill>
            <a:srgbClr val="0F1F3D"/>
          </a:solidFill>
          <a:ln/>
          <a:effectLst>
            <a:outerShdw blurRad="127000" dist="50800" dir="8100000" algn="bl" rotWithShape="0">
              <a:srgbClr val="000000">
                <a:alpha val="25000"/>
              </a:srgbClr>
            </a:outerShdw>
          </a:effectLst>
        </p:spPr>
      </p:sp>
      <p:sp>
        <p:nvSpPr>
          <p:cNvPr id="18" name="Text 16"/>
          <p:cNvSpPr/>
          <p:nvPr/>
        </p:nvSpPr>
        <p:spPr>
          <a:xfrm>
            <a:off x="256032" y="2500884"/>
            <a:ext cx="1371600" cy="347472"/>
          </a:xfrm>
          <a:prstGeom prst="rect">
            <a:avLst/>
          </a:prstGeom>
          <a:noFill/>
          <a:ln/>
        </p:spPr>
        <p:txBody>
          <a:bodyPr wrap="square" rtlCol="0" anchor="ctr"/>
          <a:lstStyle/>
          <a:p>
            <a:pPr marL="0" indent="0">
              <a:buNone/>
            </a:pPr>
            <a:r>
              <a:rPr lang="en-US" sz="950" dirty="0">
                <a:solidFill>
                  <a:srgbClr val="64748B"/>
                </a:solidFill>
              </a:rPr>
              <a:t>Robotics Platform</a:t>
            </a:r>
            <a:endParaRPr lang="en-US" sz="950" dirty="0"/>
          </a:p>
        </p:txBody>
      </p:sp>
      <p:sp>
        <p:nvSpPr>
          <p:cNvPr id="19" name="Text 17"/>
          <p:cNvSpPr/>
          <p:nvPr/>
        </p:nvSpPr>
        <p:spPr>
          <a:xfrm>
            <a:off x="1691640" y="2500884"/>
            <a:ext cx="2670048" cy="347472"/>
          </a:xfrm>
          <a:prstGeom prst="rect">
            <a:avLst/>
          </a:prstGeom>
          <a:noFill/>
          <a:ln/>
        </p:spPr>
        <p:txBody>
          <a:bodyPr wrap="square" rtlCol="0" anchor="ctr"/>
          <a:lstStyle/>
          <a:p>
            <a:pPr marL="0" indent="0">
              <a:buNone/>
            </a:pPr>
            <a:r>
              <a:rPr lang="en-US" sz="950" dirty="0">
                <a:solidFill>
                  <a:srgbClr val="E2E8F0"/>
                </a:solidFill>
              </a:rPr>
              <a:t>Isaac (simulation), GR00T (foundation model), Cosmos (world sim)</a:t>
            </a:r>
            <a:endParaRPr lang="en-US" sz="950" dirty="0"/>
          </a:p>
        </p:txBody>
      </p:sp>
      <p:sp>
        <p:nvSpPr>
          <p:cNvPr id="20" name="Shape 18"/>
          <p:cNvSpPr/>
          <p:nvPr/>
        </p:nvSpPr>
        <p:spPr>
          <a:xfrm>
            <a:off x="182880" y="2912364"/>
            <a:ext cx="4251960" cy="384048"/>
          </a:xfrm>
          <a:prstGeom prst="rect">
            <a:avLst/>
          </a:prstGeom>
          <a:solidFill>
            <a:srgbClr val="0F1F3D"/>
          </a:solidFill>
          <a:ln/>
          <a:effectLst>
            <a:outerShdw blurRad="127000" dist="50800" dir="8100000" algn="bl" rotWithShape="0">
              <a:srgbClr val="000000">
                <a:alpha val="25000"/>
              </a:srgbClr>
            </a:outerShdw>
          </a:effectLst>
        </p:spPr>
      </p:sp>
      <p:sp>
        <p:nvSpPr>
          <p:cNvPr id="21" name="Text 19"/>
          <p:cNvSpPr/>
          <p:nvPr/>
        </p:nvSpPr>
        <p:spPr>
          <a:xfrm>
            <a:off x="256032" y="2930652"/>
            <a:ext cx="1371600" cy="347472"/>
          </a:xfrm>
          <a:prstGeom prst="rect">
            <a:avLst/>
          </a:prstGeom>
          <a:noFill/>
          <a:ln/>
        </p:spPr>
        <p:txBody>
          <a:bodyPr wrap="square" rtlCol="0" anchor="ctr"/>
          <a:lstStyle/>
          <a:p>
            <a:pPr marL="0" indent="0">
              <a:buNone/>
            </a:pPr>
            <a:r>
              <a:rPr lang="en-US" sz="950" dirty="0">
                <a:solidFill>
                  <a:srgbClr val="64748B"/>
                </a:solidFill>
              </a:rPr>
              <a:t>Market Cap</a:t>
            </a:r>
            <a:endParaRPr lang="en-US" sz="950" dirty="0"/>
          </a:p>
        </p:txBody>
      </p:sp>
      <p:sp>
        <p:nvSpPr>
          <p:cNvPr id="22" name="Text 20"/>
          <p:cNvSpPr/>
          <p:nvPr/>
        </p:nvSpPr>
        <p:spPr>
          <a:xfrm>
            <a:off x="1691640" y="2930652"/>
            <a:ext cx="2670048" cy="347472"/>
          </a:xfrm>
          <a:prstGeom prst="rect">
            <a:avLst/>
          </a:prstGeom>
          <a:noFill/>
          <a:ln/>
        </p:spPr>
        <p:txBody>
          <a:bodyPr wrap="square" rtlCol="0" anchor="ctr"/>
          <a:lstStyle/>
          <a:p>
            <a:pPr marL="0" indent="0">
              <a:buNone/>
            </a:pPr>
            <a:r>
              <a:rPr lang="en-US" sz="950" dirty="0">
                <a:solidFill>
                  <a:srgbClr val="E2E8F0"/>
                </a:solidFill>
              </a:rPr>
              <a:t>~$3.3T (2026, largest company by market cap)</a:t>
            </a:r>
            <a:endParaRPr lang="en-US" sz="950" dirty="0"/>
          </a:p>
        </p:txBody>
      </p:sp>
      <p:sp>
        <p:nvSpPr>
          <p:cNvPr id="23" name="Text 21"/>
          <p:cNvSpPr/>
          <p:nvPr/>
        </p:nvSpPr>
        <p:spPr>
          <a:xfrm>
            <a:off x="6675120" y="397764"/>
            <a:ext cx="4297680" cy="256032"/>
          </a:xfrm>
          <a:prstGeom prst="rect">
            <a:avLst/>
          </a:prstGeom>
          <a:noFill/>
          <a:ln/>
        </p:spPr>
        <p:txBody>
          <a:bodyPr wrap="square" rtlCol="0" anchor="ctr"/>
          <a:lstStyle/>
          <a:p>
            <a:pPr marL="0" indent="0">
              <a:buNone/>
            </a:pPr>
            <a:r>
              <a:rPr lang="en-US" sz="1050" b="1" dirty="0"/>
              <a:t>COMPETITIVE MOAT ANALYSIS</a:t>
            </a:r>
            <a:endParaRPr lang="en-US" sz="1050" dirty="0"/>
          </a:p>
        </p:txBody>
      </p:sp>
      <p:sp>
        <p:nvSpPr>
          <p:cNvPr id="24" name="Shape 22"/>
          <p:cNvSpPr/>
          <p:nvPr/>
        </p:nvSpPr>
        <p:spPr>
          <a:xfrm>
            <a:off x="4773168" y="64205"/>
            <a:ext cx="4297680" cy="804672"/>
          </a:xfrm>
          <a:prstGeom prst="rect">
            <a:avLst/>
          </a:prstGeom>
          <a:solidFill>
            <a:srgbClr val="0F1F3D"/>
          </a:solidFill>
          <a:ln/>
          <a:effectLst>
            <a:outerShdw blurRad="127000" dist="50800" dir="8100000" algn="bl" rotWithShape="0">
              <a:srgbClr val="000000">
                <a:alpha val="25000"/>
              </a:srgbClr>
            </a:outerShdw>
          </a:effectLst>
        </p:spPr>
      </p:sp>
      <p:sp>
        <p:nvSpPr>
          <p:cNvPr id="25" name="Shape 23"/>
          <p:cNvSpPr/>
          <p:nvPr/>
        </p:nvSpPr>
        <p:spPr>
          <a:xfrm>
            <a:off x="4773168" y="64205"/>
            <a:ext cx="64008" cy="804672"/>
          </a:xfrm>
          <a:prstGeom prst="rect">
            <a:avLst/>
          </a:prstGeom>
          <a:solidFill>
            <a:srgbClr val="7C3AED"/>
          </a:solidFill>
          <a:ln/>
        </p:spPr>
      </p:sp>
      <p:sp>
        <p:nvSpPr>
          <p:cNvPr id="26" name="Text 24"/>
          <p:cNvSpPr/>
          <p:nvPr/>
        </p:nvSpPr>
        <p:spPr>
          <a:xfrm>
            <a:off x="4892040" y="100781"/>
            <a:ext cx="4050792" cy="219456"/>
          </a:xfrm>
          <a:prstGeom prst="rect">
            <a:avLst/>
          </a:prstGeom>
          <a:noFill/>
          <a:ln/>
        </p:spPr>
        <p:txBody>
          <a:bodyPr wrap="square" rtlCol="0" anchor="ctr"/>
          <a:lstStyle/>
          <a:p>
            <a:pPr marL="0" indent="0">
              <a:buNone/>
            </a:pPr>
            <a:r>
              <a:rPr lang="en-US" sz="1050" b="1" dirty="0">
                <a:solidFill>
                  <a:srgbClr val="FFFFFF"/>
                </a:solidFill>
              </a:rPr>
              <a:t>CUDA Ecosystem</a:t>
            </a:r>
            <a:endParaRPr lang="en-US" sz="1050" dirty="0"/>
          </a:p>
        </p:txBody>
      </p:sp>
      <p:sp>
        <p:nvSpPr>
          <p:cNvPr id="27" name="Text 25"/>
          <p:cNvSpPr/>
          <p:nvPr/>
        </p:nvSpPr>
        <p:spPr>
          <a:xfrm>
            <a:off x="4892040" y="320237"/>
            <a:ext cx="4050792" cy="512064"/>
          </a:xfrm>
          <a:prstGeom prst="rect">
            <a:avLst/>
          </a:prstGeom>
          <a:noFill/>
          <a:ln/>
        </p:spPr>
        <p:txBody>
          <a:bodyPr wrap="square" rtlCol="0" anchor="ctr"/>
          <a:lstStyle/>
          <a:p>
            <a:pPr marL="0" indent="0">
              <a:buNone/>
            </a:pPr>
            <a:r>
              <a:rPr lang="en-US" sz="900" dirty="0"/>
              <a:t>20+ year head start. 4M+ developers write CUDA code. Every AI researcher, every lab, every enterprise team — trained on CUDA. Switching cost is immense; retraining entire workforces.</a:t>
            </a:r>
          </a:p>
        </p:txBody>
      </p:sp>
      <p:sp>
        <p:nvSpPr>
          <p:cNvPr id="28" name="Shape 26"/>
          <p:cNvSpPr/>
          <p:nvPr/>
        </p:nvSpPr>
        <p:spPr>
          <a:xfrm>
            <a:off x="4773168" y="951173"/>
            <a:ext cx="4297680" cy="804672"/>
          </a:xfrm>
          <a:prstGeom prst="rect">
            <a:avLst/>
          </a:prstGeom>
          <a:solidFill>
            <a:srgbClr val="0F1F3D"/>
          </a:solidFill>
          <a:ln/>
          <a:effectLst>
            <a:outerShdw blurRad="127000" dist="50800" dir="8100000" algn="bl" rotWithShape="0">
              <a:srgbClr val="000000">
                <a:alpha val="25000"/>
              </a:srgbClr>
            </a:outerShdw>
          </a:effectLst>
        </p:spPr>
      </p:sp>
      <p:sp>
        <p:nvSpPr>
          <p:cNvPr id="29" name="Shape 27"/>
          <p:cNvSpPr/>
          <p:nvPr/>
        </p:nvSpPr>
        <p:spPr>
          <a:xfrm>
            <a:off x="4773168" y="951173"/>
            <a:ext cx="64008" cy="804672"/>
          </a:xfrm>
          <a:prstGeom prst="rect">
            <a:avLst/>
          </a:prstGeom>
          <a:solidFill>
            <a:srgbClr val="7C3AED"/>
          </a:solidFill>
          <a:ln/>
        </p:spPr>
      </p:sp>
      <p:sp>
        <p:nvSpPr>
          <p:cNvPr id="30" name="Text 28"/>
          <p:cNvSpPr/>
          <p:nvPr/>
        </p:nvSpPr>
        <p:spPr>
          <a:xfrm>
            <a:off x="4892040" y="987749"/>
            <a:ext cx="4050792" cy="219456"/>
          </a:xfrm>
          <a:prstGeom prst="rect">
            <a:avLst/>
          </a:prstGeom>
          <a:noFill/>
          <a:ln/>
        </p:spPr>
        <p:txBody>
          <a:bodyPr wrap="square" rtlCol="0" anchor="ctr"/>
          <a:lstStyle/>
          <a:p>
            <a:pPr marL="0" indent="0">
              <a:buNone/>
            </a:pPr>
            <a:r>
              <a:rPr lang="en-US" sz="1050" b="1" dirty="0">
                <a:solidFill>
                  <a:srgbClr val="FFFFFF"/>
                </a:solidFill>
              </a:rPr>
              <a:t>Full-Stack Integration</a:t>
            </a:r>
            <a:endParaRPr lang="en-US" sz="1050" dirty="0"/>
          </a:p>
        </p:txBody>
      </p:sp>
      <p:sp>
        <p:nvSpPr>
          <p:cNvPr id="31" name="Text 29"/>
          <p:cNvSpPr/>
          <p:nvPr/>
        </p:nvSpPr>
        <p:spPr>
          <a:xfrm>
            <a:off x="4892040" y="1207205"/>
            <a:ext cx="4050792" cy="512064"/>
          </a:xfrm>
          <a:prstGeom prst="rect">
            <a:avLst/>
          </a:prstGeom>
          <a:noFill/>
          <a:ln/>
        </p:spPr>
        <p:txBody>
          <a:bodyPr wrap="square" rtlCol="0" anchor="ctr"/>
          <a:lstStyle/>
          <a:p>
            <a:pPr marL="0" indent="0">
              <a:buNone/>
            </a:pPr>
            <a:r>
              <a:rPr lang="en-US" sz="900" dirty="0"/>
              <a:t>Not just chips — CUDA + cuDNN + TensorRT + NeMo + Omniverse + DGX systems + networking (Mellanox). NVIDIA sells the entire AI factory, not just a component.</a:t>
            </a:r>
          </a:p>
        </p:txBody>
      </p:sp>
      <p:sp>
        <p:nvSpPr>
          <p:cNvPr id="32" name="Shape 30"/>
          <p:cNvSpPr/>
          <p:nvPr/>
        </p:nvSpPr>
        <p:spPr>
          <a:xfrm>
            <a:off x="4773168" y="1838141"/>
            <a:ext cx="4297680" cy="804672"/>
          </a:xfrm>
          <a:prstGeom prst="rect">
            <a:avLst/>
          </a:prstGeom>
          <a:solidFill>
            <a:srgbClr val="0F1F3D"/>
          </a:solidFill>
          <a:ln/>
          <a:effectLst>
            <a:outerShdw blurRad="127000" dist="50800" dir="8100000" algn="bl" rotWithShape="0">
              <a:srgbClr val="000000">
                <a:alpha val="25000"/>
              </a:srgbClr>
            </a:outerShdw>
          </a:effectLst>
        </p:spPr>
      </p:sp>
      <p:sp>
        <p:nvSpPr>
          <p:cNvPr id="33" name="Shape 31"/>
          <p:cNvSpPr/>
          <p:nvPr/>
        </p:nvSpPr>
        <p:spPr>
          <a:xfrm>
            <a:off x="4773168" y="1838141"/>
            <a:ext cx="64008" cy="804672"/>
          </a:xfrm>
          <a:prstGeom prst="rect">
            <a:avLst/>
          </a:prstGeom>
          <a:solidFill>
            <a:srgbClr val="7C3AED"/>
          </a:solidFill>
          <a:ln/>
        </p:spPr>
      </p:sp>
      <p:sp>
        <p:nvSpPr>
          <p:cNvPr id="34" name="Text 32"/>
          <p:cNvSpPr/>
          <p:nvPr/>
        </p:nvSpPr>
        <p:spPr>
          <a:xfrm>
            <a:off x="4892040" y="1874717"/>
            <a:ext cx="4050792" cy="219456"/>
          </a:xfrm>
          <a:prstGeom prst="rect">
            <a:avLst/>
          </a:prstGeom>
          <a:noFill/>
          <a:ln/>
        </p:spPr>
        <p:txBody>
          <a:bodyPr wrap="square" rtlCol="0" anchor="ctr"/>
          <a:lstStyle/>
          <a:p>
            <a:pPr marL="0" indent="0">
              <a:buNone/>
            </a:pPr>
            <a:r>
              <a:rPr lang="en-US" sz="1050" b="1" dirty="0">
                <a:solidFill>
                  <a:srgbClr val="FFFFFF"/>
                </a:solidFill>
              </a:rPr>
              <a:t>Robotics OS Layer</a:t>
            </a:r>
            <a:endParaRPr lang="en-US" sz="1050" dirty="0"/>
          </a:p>
        </p:txBody>
      </p:sp>
      <p:sp>
        <p:nvSpPr>
          <p:cNvPr id="35" name="Text 33"/>
          <p:cNvSpPr/>
          <p:nvPr/>
        </p:nvSpPr>
        <p:spPr>
          <a:xfrm>
            <a:off x="4892040" y="2094173"/>
            <a:ext cx="4050792" cy="512064"/>
          </a:xfrm>
          <a:prstGeom prst="rect">
            <a:avLst/>
          </a:prstGeom>
          <a:noFill/>
          <a:ln/>
        </p:spPr>
        <p:txBody>
          <a:bodyPr wrap="square" rtlCol="0" anchor="ctr"/>
          <a:lstStyle/>
          <a:p>
            <a:pPr marL="0" indent="0">
              <a:buNone/>
            </a:pPr>
            <a:r>
              <a:rPr lang="en-US" sz="900" dirty="0"/>
              <a:t>Isaac platform provides simulation, training, and deployment for physical AI. GR00T foundation model for humanoid robots. Cosmos for photorealistic world simulation. NVIDIA is becoming the OS of robotics.</a:t>
            </a:r>
          </a:p>
        </p:txBody>
      </p:sp>
      <p:sp>
        <p:nvSpPr>
          <p:cNvPr id="36" name="Shape 34"/>
          <p:cNvSpPr/>
          <p:nvPr/>
        </p:nvSpPr>
        <p:spPr>
          <a:xfrm>
            <a:off x="4773168" y="2725905"/>
            <a:ext cx="4297680" cy="804672"/>
          </a:xfrm>
          <a:prstGeom prst="rect">
            <a:avLst/>
          </a:prstGeom>
          <a:solidFill>
            <a:srgbClr val="0F1F3D"/>
          </a:solidFill>
          <a:ln/>
          <a:effectLst>
            <a:outerShdw blurRad="127000" dist="50800" dir="8100000" algn="bl" rotWithShape="0">
              <a:srgbClr val="000000">
                <a:alpha val="25000"/>
              </a:srgbClr>
            </a:outerShdw>
          </a:effectLst>
        </p:spPr>
      </p:sp>
      <p:sp>
        <p:nvSpPr>
          <p:cNvPr id="37" name="Shape 35"/>
          <p:cNvSpPr/>
          <p:nvPr/>
        </p:nvSpPr>
        <p:spPr>
          <a:xfrm>
            <a:off x="4773168" y="2725905"/>
            <a:ext cx="64008" cy="804672"/>
          </a:xfrm>
          <a:prstGeom prst="rect">
            <a:avLst/>
          </a:prstGeom>
          <a:solidFill>
            <a:srgbClr val="7C3AED"/>
          </a:solidFill>
          <a:ln/>
        </p:spPr>
      </p:sp>
      <p:sp>
        <p:nvSpPr>
          <p:cNvPr id="38" name="Text 36"/>
          <p:cNvSpPr/>
          <p:nvPr/>
        </p:nvSpPr>
        <p:spPr>
          <a:xfrm>
            <a:off x="4928616" y="2752541"/>
            <a:ext cx="4050792" cy="219456"/>
          </a:xfrm>
          <a:prstGeom prst="rect">
            <a:avLst/>
          </a:prstGeom>
          <a:noFill/>
          <a:ln/>
        </p:spPr>
        <p:txBody>
          <a:bodyPr wrap="square" rtlCol="0" anchor="ctr"/>
          <a:lstStyle/>
          <a:p>
            <a:pPr marL="0" indent="0">
              <a:buNone/>
            </a:pPr>
            <a:r>
              <a:rPr lang="en-US" sz="1050" b="1" dirty="0">
                <a:solidFill>
                  <a:srgbClr val="FFFFFF"/>
                </a:solidFill>
              </a:rPr>
              <a:t>Data Center Moat</a:t>
            </a:r>
            <a:endParaRPr lang="en-US" sz="1050" dirty="0"/>
          </a:p>
        </p:txBody>
      </p:sp>
      <p:sp>
        <p:nvSpPr>
          <p:cNvPr id="39" name="Text 37"/>
          <p:cNvSpPr/>
          <p:nvPr/>
        </p:nvSpPr>
        <p:spPr>
          <a:xfrm>
            <a:off x="4892040" y="2981937"/>
            <a:ext cx="4050792" cy="512064"/>
          </a:xfrm>
          <a:prstGeom prst="rect">
            <a:avLst/>
          </a:prstGeom>
          <a:noFill/>
          <a:ln/>
        </p:spPr>
        <p:txBody>
          <a:bodyPr wrap="square" rtlCol="0" anchor="ctr"/>
          <a:lstStyle/>
          <a:p>
            <a:pPr marL="0" indent="0">
              <a:buNone/>
            </a:pPr>
            <a:r>
              <a:rPr lang="en-US" sz="900" dirty="0"/>
              <a:t>Every hyperscaler — AWS, Azure, GCP, Oracle — buys NVIDIA GPUs. Blackwell GPU revenue is the core of a $700B+ annual capex cycle. Supply constraints persist through 2026.</a:t>
            </a:r>
          </a:p>
        </p:txBody>
      </p:sp>
      <p:grpSp>
        <p:nvGrpSpPr>
          <p:cNvPr id="48" name="Group 47">
            <a:extLst>
              <a:ext uri="{FF2B5EF4-FFF2-40B4-BE49-F238E27FC236}">
                <a16:creationId xmlns:a16="http://schemas.microsoft.com/office/drawing/2014/main" id="{7570C590-32FE-D6B5-E687-66C7FB6DA9A9}"/>
              </a:ext>
            </a:extLst>
          </p:cNvPr>
          <p:cNvGrpSpPr/>
          <p:nvPr/>
        </p:nvGrpSpPr>
        <p:grpSpPr>
          <a:xfrm>
            <a:off x="103367" y="3617445"/>
            <a:ext cx="9415935" cy="1371600"/>
            <a:chOff x="219456" y="3734926"/>
            <a:chExt cx="9263270" cy="1371600"/>
          </a:xfrm>
        </p:grpSpPr>
        <p:sp>
          <p:nvSpPr>
            <p:cNvPr id="40" name="Shape 38"/>
            <p:cNvSpPr/>
            <p:nvPr/>
          </p:nvSpPr>
          <p:spPr>
            <a:xfrm>
              <a:off x="219456" y="3734926"/>
              <a:ext cx="8778240" cy="1371600"/>
            </a:xfrm>
            <a:prstGeom prst="rect">
              <a:avLst/>
            </a:prstGeom>
            <a:solidFill>
              <a:srgbClr val="0A1628"/>
            </a:solidFill>
            <a:ln/>
            <a:effectLst>
              <a:outerShdw blurRad="127000" dist="50800" dir="8100000" algn="bl" rotWithShape="0">
                <a:srgbClr val="000000">
                  <a:alpha val="25000"/>
                </a:srgbClr>
              </a:outerShdw>
            </a:effectLst>
          </p:spPr>
        </p:sp>
        <p:sp>
          <p:nvSpPr>
            <p:cNvPr id="41" name="Text 39"/>
            <p:cNvSpPr/>
            <p:nvPr/>
          </p:nvSpPr>
          <p:spPr>
            <a:xfrm>
              <a:off x="356616" y="3762358"/>
              <a:ext cx="8503920" cy="274320"/>
            </a:xfrm>
            <a:prstGeom prst="rect">
              <a:avLst/>
            </a:prstGeom>
            <a:noFill/>
            <a:ln/>
          </p:spPr>
          <p:txBody>
            <a:bodyPr wrap="square" rtlCol="0" anchor="ctr"/>
            <a:lstStyle/>
            <a:p>
              <a:pPr marL="0" indent="0">
                <a:buNone/>
              </a:pPr>
              <a:r>
                <a:rPr lang="en-US" sz="1000" b="1" dirty="0">
                  <a:solidFill>
                    <a:srgbClr val="F59E0B"/>
                  </a:solidFill>
                </a:rPr>
                <a:t>NVIDIA'S ROBOTICS MEGA-OPPORTUNITY — 'EVERY INDUSTRIAL COMPANY WILL BECOME A ROBOTICS COMPANY'  (Jensen Huang, CES 2024)</a:t>
              </a:r>
              <a:endParaRPr lang="en-US" sz="1000" dirty="0"/>
            </a:p>
          </p:txBody>
        </p:sp>
        <p:sp>
          <p:nvSpPr>
            <p:cNvPr id="42" name="Text 40"/>
            <p:cNvSpPr/>
            <p:nvPr/>
          </p:nvSpPr>
          <p:spPr>
            <a:xfrm>
              <a:off x="310896" y="4082398"/>
              <a:ext cx="2834640" cy="228600"/>
            </a:xfrm>
            <a:prstGeom prst="rect">
              <a:avLst/>
            </a:prstGeom>
            <a:noFill/>
            <a:ln/>
          </p:spPr>
          <p:txBody>
            <a:bodyPr wrap="square" rtlCol="0" anchor="ctr"/>
            <a:lstStyle/>
            <a:p>
              <a:pPr marL="0" indent="0">
                <a:buNone/>
              </a:pPr>
              <a:r>
                <a:rPr lang="en-US" sz="1000" b="1" dirty="0">
                  <a:solidFill>
                    <a:srgbClr val="06B6D4"/>
                  </a:solidFill>
                </a:rPr>
                <a:t>Isaac Platform</a:t>
              </a:r>
              <a:endParaRPr lang="en-US" sz="1000" dirty="0"/>
            </a:p>
          </p:txBody>
        </p:sp>
        <p:sp>
          <p:nvSpPr>
            <p:cNvPr id="43" name="Text 41"/>
            <p:cNvSpPr/>
            <p:nvPr/>
          </p:nvSpPr>
          <p:spPr>
            <a:xfrm>
              <a:off x="310896" y="4292710"/>
              <a:ext cx="2834640" cy="777240"/>
            </a:xfrm>
            <a:prstGeom prst="rect">
              <a:avLst/>
            </a:prstGeom>
            <a:noFill/>
            <a:ln/>
          </p:spPr>
          <p:txBody>
            <a:bodyPr wrap="square" rtlCol="0" anchor="ctr"/>
            <a:lstStyle/>
            <a:p>
              <a:pPr marL="0" indent="0">
                <a:buNone/>
              </a:pPr>
              <a:r>
                <a:rPr lang="en-US" sz="900" dirty="0">
                  <a:solidFill>
                    <a:srgbClr val="E2E8F0"/>
                  </a:solidFill>
                </a:rPr>
                <a:t>End-to-end robotics development framework. Isaac Sim (Omniverse-based), Isaac Lab (training), Isaac ROS. Used by 40+ humanoid robot companies including Figure, Boston Dynamics, Agility.</a:t>
              </a:r>
              <a:endParaRPr lang="en-US" sz="900" dirty="0"/>
            </a:p>
          </p:txBody>
        </p:sp>
        <p:sp>
          <p:nvSpPr>
            <p:cNvPr id="44" name="Text 42"/>
            <p:cNvSpPr/>
            <p:nvPr/>
          </p:nvSpPr>
          <p:spPr>
            <a:xfrm>
              <a:off x="3236976" y="4082398"/>
              <a:ext cx="2834640" cy="228600"/>
            </a:xfrm>
            <a:prstGeom prst="rect">
              <a:avLst/>
            </a:prstGeom>
            <a:noFill/>
            <a:ln/>
          </p:spPr>
          <p:txBody>
            <a:bodyPr wrap="square" rtlCol="0" anchor="ctr"/>
            <a:lstStyle/>
            <a:p>
              <a:pPr marL="0" indent="0">
                <a:buNone/>
              </a:pPr>
              <a:r>
                <a:rPr lang="en-US" sz="1000" b="1" dirty="0">
                  <a:solidFill>
                    <a:srgbClr val="06B6D4"/>
                  </a:solidFill>
                </a:rPr>
                <a:t>GR00T Model</a:t>
              </a:r>
              <a:endParaRPr lang="en-US" sz="1000" dirty="0"/>
            </a:p>
          </p:txBody>
        </p:sp>
        <p:sp>
          <p:nvSpPr>
            <p:cNvPr id="45" name="Text 43"/>
            <p:cNvSpPr/>
            <p:nvPr/>
          </p:nvSpPr>
          <p:spPr>
            <a:xfrm>
              <a:off x="3236976" y="4292710"/>
              <a:ext cx="2834640" cy="777240"/>
            </a:xfrm>
            <a:prstGeom prst="rect">
              <a:avLst/>
            </a:prstGeom>
            <a:noFill/>
            <a:ln/>
          </p:spPr>
          <p:txBody>
            <a:bodyPr wrap="square" rtlCol="0" anchor="ctr"/>
            <a:lstStyle/>
            <a:p>
              <a:pPr marL="0" indent="0">
                <a:buNone/>
              </a:pPr>
              <a:r>
                <a:rPr lang="en-US" sz="900" dirty="0">
                  <a:solidFill>
                    <a:srgbClr val="E2E8F0"/>
                  </a:solidFill>
                </a:rPr>
                <a:t>Generalist foundation model for humanoid robots. Trained on simulation + real-world data. Provides robots with general reasoning about physical tasks — the 'GPT moment' for robotics.</a:t>
              </a:r>
              <a:endParaRPr lang="en-US" sz="900" dirty="0"/>
            </a:p>
          </p:txBody>
        </p:sp>
        <p:sp>
          <p:nvSpPr>
            <p:cNvPr id="46" name="Text 44"/>
            <p:cNvSpPr/>
            <p:nvPr/>
          </p:nvSpPr>
          <p:spPr>
            <a:xfrm>
              <a:off x="6648086" y="4064110"/>
              <a:ext cx="2834640" cy="228600"/>
            </a:xfrm>
            <a:prstGeom prst="rect">
              <a:avLst/>
            </a:prstGeom>
            <a:noFill/>
            <a:ln/>
          </p:spPr>
          <p:txBody>
            <a:bodyPr wrap="square" rtlCol="0" anchor="ctr"/>
            <a:lstStyle/>
            <a:p>
              <a:pPr marL="0" indent="0">
                <a:buNone/>
              </a:pPr>
              <a:r>
                <a:rPr lang="en-US" sz="1000" b="1" dirty="0">
                  <a:solidFill>
                    <a:srgbClr val="06B6D4"/>
                  </a:solidFill>
                </a:rPr>
                <a:t>Cosmos World Sim</a:t>
              </a:r>
              <a:endParaRPr lang="en-US" sz="1000" dirty="0"/>
            </a:p>
          </p:txBody>
        </p:sp>
        <p:sp>
          <p:nvSpPr>
            <p:cNvPr id="47" name="Text 45"/>
            <p:cNvSpPr/>
            <p:nvPr/>
          </p:nvSpPr>
          <p:spPr>
            <a:xfrm>
              <a:off x="6163056" y="4292710"/>
              <a:ext cx="2834640" cy="777240"/>
            </a:xfrm>
            <a:prstGeom prst="rect">
              <a:avLst/>
            </a:prstGeom>
            <a:noFill/>
            <a:ln/>
          </p:spPr>
          <p:txBody>
            <a:bodyPr wrap="square" rtlCol="0" anchor="ctr"/>
            <a:lstStyle/>
            <a:p>
              <a:pPr marL="0" indent="0">
                <a:buNone/>
              </a:pPr>
              <a:r>
                <a:rPr lang="en-US" sz="900" dirty="0">
                  <a:solidFill>
                    <a:srgbClr val="E2E8F0"/>
                  </a:solidFill>
                </a:rPr>
                <a:t>Photorealistic world simulation for generating synthetic training data. Trains robots in virtual environments before physical deployment. Reduces real-world data collection cost by orders of magnitude.</a:t>
              </a:r>
              <a:endParaRPr lang="en-US" sz="900"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B82F6"/>
          </a:solidFill>
          <a:ln/>
        </p:spPr>
      </p:sp>
      <p:sp>
        <p:nvSpPr>
          <p:cNvPr id="3" name="Shape 1"/>
          <p:cNvSpPr/>
          <p:nvPr/>
        </p:nvSpPr>
        <p:spPr>
          <a:xfrm>
            <a:off x="320040" y="182880"/>
            <a:ext cx="822960" cy="502920"/>
          </a:xfrm>
          <a:prstGeom prst="roundRect">
            <a:avLst>
              <a:gd name="adj" fmla="val 14545"/>
            </a:avLst>
          </a:prstGeom>
          <a:solidFill>
            <a:srgbClr val="3B82F6">
              <a:alpha val="80000"/>
            </a:srgbClr>
          </a:solidFill>
          <a:ln/>
        </p:spPr>
      </p:sp>
      <p:sp>
        <p:nvSpPr>
          <p:cNvPr id="4" name="Text 2"/>
          <p:cNvSpPr/>
          <p:nvPr/>
        </p:nvSpPr>
        <p:spPr>
          <a:xfrm>
            <a:off x="320040" y="182880"/>
            <a:ext cx="822960" cy="502920"/>
          </a:xfrm>
          <a:prstGeom prst="rect">
            <a:avLst/>
          </a:prstGeom>
          <a:noFill/>
          <a:ln/>
        </p:spPr>
        <p:txBody>
          <a:bodyPr wrap="square" rtlCol="0" anchor="ctr"/>
          <a:lstStyle/>
          <a:p>
            <a:pPr marL="0" indent="0" algn="ctr">
              <a:buNone/>
            </a:pPr>
            <a:r>
              <a:rPr lang="en-US" sz="2200" b="1" dirty="0">
                <a:solidFill>
                  <a:srgbClr val="FFFFFF"/>
                </a:solidFill>
              </a:rPr>
              <a:t>03</a:t>
            </a:r>
            <a:endParaRPr lang="en-US" sz="2200" dirty="0"/>
          </a:p>
        </p:txBody>
      </p:sp>
      <p:sp>
        <p:nvSpPr>
          <p:cNvPr id="5" name="Text 3"/>
          <p:cNvSpPr/>
          <p:nvPr/>
        </p:nvSpPr>
        <p:spPr>
          <a:xfrm>
            <a:off x="1280160" y="182880"/>
            <a:ext cx="2743200" cy="256032"/>
          </a:xfrm>
          <a:prstGeom prst="rect">
            <a:avLst/>
          </a:prstGeom>
          <a:noFill/>
          <a:ln/>
        </p:spPr>
        <p:txBody>
          <a:bodyPr wrap="square" lIns="0" tIns="0" rIns="0" bIns="0" rtlCol="0" anchor="ctr"/>
          <a:lstStyle/>
          <a:p>
            <a:pPr marL="0" indent="0">
              <a:buNone/>
            </a:pPr>
            <a:r>
              <a:rPr lang="en-US" sz="900" b="1" kern="0" spc="300" dirty="0">
                <a:solidFill>
                  <a:srgbClr val="3B82F6"/>
                </a:solidFill>
              </a:rPr>
              <a:t>SECTOR ANALYSIS</a:t>
            </a:r>
            <a:endParaRPr lang="en-US" sz="900" dirty="0"/>
          </a:p>
        </p:txBody>
      </p:sp>
      <p:sp>
        <p:nvSpPr>
          <p:cNvPr id="6" name="Text 4"/>
          <p:cNvSpPr/>
          <p:nvPr/>
        </p:nvSpPr>
        <p:spPr>
          <a:xfrm>
            <a:off x="1280160" y="402336"/>
            <a:ext cx="6400800" cy="365760"/>
          </a:xfrm>
          <a:prstGeom prst="rect">
            <a:avLst/>
          </a:prstGeom>
          <a:noFill/>
          <a:ln/>
        </p:spPr>
        <p:txBody>
          <a:bodyPr wrap="square" lIns="0" tIns="0" rIns="0" bIns="0" rtlCol="0" anchor="ctr"/>
          <a:lstStyle/>
          <a:p>
            <a:pPr marL="0" indent="0">
              <a:buNone/>
            </a:pPr>
            <a:r>
              <a:rPr lang="en-US" sz="2600" b="1" dirty="0">
                <a:solidFill>
                  <a:srgbClr val="FFFFFF"/>
                </a:solidFill>
              </a:rPr>
              <a:t>CLOUD / DATA CENTERS</a:t>
            </a:r>
            <a:endParaRPr lang="en-US" sz="2600" dirty="0"/>
          </a:p>
        </p:txBody>
      </p:sp>
      <p:sp>
        <p:nvSpPr>
          <p:cNvPr id="7" name="Text 5"/>
          <p:cNvSpPr/>
          <p:nvPr/>
        </p:nvSpPr>
        <p:spPr>
          <a:xfrm>
            <a:off x="320040" y="868680"/>
            <a:ext cx="8503920" cy="320040"/>
          </a:xfrm>
          <a:prstGeom prst="rect">
            <a:avLst/>
          </a:prstGeom>
          <a:noFill/>
          <a:ln/>
        </p:spPr>
        <p:txBody>
          <a:bodyPr wrap="square" rtlCol="0" anchor="ctr"/>
          <a:lstStyle/>
          <a:p>
            <a:pPr marL="0" indent="0" algn="l">
              <a:buNone/>
            </a:pPr>
            <a:r>
              <a:rPr lang="en-US" sz="1300" dirty="0">
                <a:solidFill>
                  <a:srgbClr val="94A3B8"/>
                </a:solidFill>
              </a:rPr>
              <a:t>Physical &amp; virtual infrastructure — where AI models are trained and served</a:t>
            </a:r>
            <a:endParaRPr lang="en-US" sz="1300" dirty="0"/>
          </a:p>
        </p:txBody>
      </p:sp>
      <p:sp>
        <p:nvSpPr>
          <p:cNvPr id="8" name="Shape 6"/>
          <p:cNvSpPr/>
          <p:nvPr/>
        </p:nvSpPr>
        <p:spPr>
          <a:xfrm>
            <a:off x="320040" y="1261872"/>
            <a:ext cx="8503920" cy="457200"/>
          </a:xfrm>
          <a:prstGeom prst="rect">
            <a:avLst/>
          </a:prstGeom>
          <a:solidFill>
            <a:srgbClr val="001A47"/>
          </a:solidFill>
          <a:ln w="6350">
            <a:solidFill>
              <a:srgbClr val="FFFFFF">
                <a:alpha val="10000"/>
              </a:srgbClr>
            </a:solidFill>
            <a:prstDash val="solid"/>
          </a:ln>
        </p:spPr>
      </p:sp>
      <p:sp>
        <p:nvSpPr>
          <p:cNvPr id="9" name="Shape 7"/>
          <p:cNvSpPr/>
          <p:nvPr/>
        </p:nvSpPr>
        <p:spPr>
          <a:xfrm>
            <a:off x="320040" y="1261872"/>
            <a:ext cx="64008" cy="457200"/>
          </a:xfrm>
          <a:prstGeom prst="rect">
            <a:avLst/>
          </a:prstGeom>
          <a:solidFill>
            <a:srgbClr val="3B82F6"/>
          </a:solidFill>
          <a:ln/>
        </p:spPr>
      </p:sp>
      <p:sp>
        <p:nvSpPr>
          <p:cNvPr id="10" name="Text 8"/>
          <p:cNvSpPr/>
          <p:nvPr/>
        </p:nvSpPr>
        <p:spPr>
          <a:xfrm>
            <a:off x="502920" y="1298448"/>
            <a:ext cx="1371600" cy="182880"/>
          </a:xfrm>
          <a:prstGeom prst="rect">
            <a:avLst/>
          </a:prstGeom>
          <a:noFill/>
          <a:ln/>
        </p:spPr>
        <p:txBody>
          <a:bodyPr wrap="square" lIns="0" tIns="0" rIns="0" bIns="0" rtlCol="0" anchor="ctr"/>
          <a:lstStyle/>
          <a:p>
            <a:pPr marL="0" indent="0">
              <a:buNone/>
            </a:pPr>
            <a:r>
              <a:rPr lang="en-US" sz="800" b="1" kern="0" spc="200" dirty="0">
                <a:solidFill>
                  <a:srgbClr val="3B82F6"/>
                </a:solidFill>
              </a:rPr>
              <a:t>KEY METRIC  </a:t>
            </a:r>
            <a:endParaRPr lang="en-US" sz="800" dirty="0"/>
          </a:p>
        </p:txBody>
      </p:sp>
      <p:sp>
        <p:nvSpPr>
          <p:cNvPr id="11" name="Text 9"/>
          <p:cNvSpPr/>
          <p:nvPr/>
        </p:nvSpPr>
        <p:spPr>
          <a:xfrm>
            <a:off x="502920" y="1472184"/>
            <a:ext cx="8046720" cy="182880"/>
          </a:xfrm>
          <a:prstGeom prst="rect">
            <a:avLst/>
          </a:prstGeom>
          <a:noFill/>
          <a:ln/>
        </p:spPr>
        <p:txBody>
          <a:bodyPr wrap="square" lIns="0" tIns="0" rIns="0" bIns="0" rtlCol="0" anchor="ctr"/>
          <a:lstStyle/>
          <a:p>
            <a:pPr marL="0" indent="0">
              <a:buNone/>
            </a:pPr>
            <a:r>
              <a:rPr lang="en-US" sz="1100" b="1" dirty="0">
                <a:solidFill>
                  <a:srgbClr val="FFFFFF"/>
                </a:solidFill>
              </a:rPr>
              <a:t>Hyperscaler Capex 2025E: $300B+</a:t>
            </a:r>
            <a:endParaRPr lang="en-US" sz="1100" dirty="0"/>
          </a:p>
        </p:txBody>
      </p:sp>
      <p:sp>
        <p:nvSpPr>
          <p:cNvPr id="12" name="Text 10"/>
          <p:cNvSpPr/>
          <p:nvPr/>
        </p:nvSpPr>
        <p:spPr>
          <a:xfrm>
            <a:off x="320040" y="1874520"/>
            <a:ext cx="3657600" cy="256032"/>
          </a:xfrm>
          <a:prstGeom prst="rect">
            <a:avLst/>
          </a:prstGeom>
          <a:noFill/>
          <a:ln/>
        </p:spPr>
        <p:txBody>
          <a:bodyPr wrap="square" lIns="0" tIns="0" rIns="0" bIns="0" rtlCol="0" anchor="ctr"/>
          <a:lstStyle/>
          <a:p>
            <a:pPr marL="0" indent="0">
              <a:buNone/>
            </a:pPr>
            <a:r>
              <a:rPr lang="en-US" sz="900" b="1" kern="0" spc="200" dirty="0">
                <a:solidFill>
                  <a:srgbClr val="3B82F6"/>
                </a:solidFill>
              </a:rPr>
              <a:t>INVESTMENT THESIS</a:t>
            </a:r>
            <a:endParaRPr lang="en-US" sz="900" dirty="0"/>
          </a:p>
        </p:txBody>
      </p:sp>
      <p:sp>
        <p:nvSpPr>
          <p:cNvPr id="13" name="Shape 11"/>
          <p:cNvSpPr/>
          <p:nvPr/>
        </p:nvSpPr>
        <p:spPr>
          <a:xfrm>
            <a:off x="320040" y="2121408"/>
            <a:ext cx="4114800" cy="150876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4" name="Text 12"/>
          <p:cNvSpPr/>
          <p:nvPr/>
        </p:nvSpPr>
        <p:spPr>
          <a:xfrm>
            <a:off x="475488" y="2212848"/>
            <a:ext cx="3794760" cy="1325880"/>
          </a:xfrm>
          <a:prstGeom prst="rect">
            <a:avLst/>
          </a:prstGeom>
          <a:noFill/>
          <a:ln/>
        </p:spPr>
        <p:txBody>
          <a:bodyPr wrap="square" rtlCol="0" anchor="ctr"/>
          <a:lstStyle/>
          <a:p>
            <a:pPr marL="0" indent="0" algn="l">
              <a:buNone/>
            </a:pPr>
            <a:r>
              <a:rPr lang="en-US" sz="1100" dirty="0">
                <a:solidFill>
                  <a:srgbClr val="F0F4FF"/>
                </a:solidFill>
              </a:rPr>
              <a:t>Hyperscalers capex to exceed $300B in 2025. Independent data center operators are monetizing AI-driven GPU cluster demand with pricing premiums vs. traditional colocation.</a:t>
            </a:r>
            <a:endParaRPr lang="en-US" sz="1100" dirty="0"/>
          </a:p>
        </p:txBody>
      </p:sp>
      <p:sp>
        <p:nvSpPr>
          <p:cNvPr id="15" name="Text 13"/>
          <p:cNvSpPr/>
          <p:nvPr/>
        </p:nvSpPr>
        <p:spPr>
          <a:xfrm>
            <a:off x="4709160" y="1874520"/>
            <a:ext cx="4114800" cy="256032"/>
          </a:xfrm>
          <a:prstGeom prst="rect">
            <a:avLst/>
          </a:prstGeom>
          <a:noFill/>
          <a:ln/>
        </p:spPr>
        <p:txBody>
          <a:bodyPr wrap="square" lIns="0" tIns="0" rIns="0" bIns="0" rtlCol="0" anchor="ctr"/>
          <a:lstStyle/>
          <a:p>
            <a:pPr marL="0" indent="0">
              <a:buNone/>
            </a:pPr>
            <a:r>
              <a:rPr lang="en-US" sz="900" b="1" kern="0" spc="200" dirty="0">
                <a:solidFill>
                  <a:srgbClr val="3B82F6"/>
                </a:solidFill>
              </a:rPr>
              <a:t>KEY CATALYSTS</a:t>
            </a:r>
            <a:endParaRPr lang="en-US" sz="900" dirty="0"/>
          </a:p>
        </p:txBody>
      </p:sp>
      <p:sp>
        <p:nvSpPr>
          <p:cNvPr id="16" name="Shape 14"/>
          <p:cNvSpPr/>
          <p:nvPr/>
        </p:nvSpPr>
        <p:spPr>
          <a:xfrm>
            <a:off x="4709160" y="2121408"/>
            <a:ext cx="4114800" cy="150876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7" name="Shape 15"/>
          <p:cNvSpPr/>
          <p:nvPr/>
        </p:nvSpPr>
        <p:spPr>
          <a:xfrm>
            <a:off x="4892040" y="2304288"/>
            <a:ext cx="128016" cy="128016"/>
          </a:xfrm>
          <a:prstGeom prst="ellipse">
            <a:avLst/>
          </a:prstGeom>
          <a:solidFill>
            <a:srgbClr val="3B82F6"/>
          </a:solidFill>
          <a:ln/>
        </p:spPr>
      </p:sp>
      <p:sp>
        <p:nvSpPr>
          <p:cNvPr id="18" name="Text 16"/>
          <p:cNvSpPr/>
          <p:nvPr/>
        </p:nvSpPr>
        <p:spPr>
          <a:xfrm>
            <a:off x="5120640" y="2249424"/>
            <a:ext cx="3566160" cy="256032"/>
          </a:xfrm>
          <a:prstGeom prst="rect">
            <a:avLst/>
          </a:prstGeom>
          <a:noFill/>
          <a:ln/>
        </p:spPr>
        <p:txBody>
          <a:bodyPr wrap="square" lIns="0" tIns="0" rIns="0" bIns="0" rtlCol="0" anchor="ctr"/>
          <a:lstStyle/>
          <a:p>
            <a:pPr marL="0" indent="0">
              <a:buNone/>
            </a:pPr>
            <a:r>
              <a:rPr lang="en-US" sz="1050" dirty="0">
                <a:solidFill>
                  <a:srgbClr val="F0F4FF"/>
                </a:solidFill>
              </a:rPr>
              <a:t>GPU cloud pricing expansion</a:t>
            </a:r>
            <a:endParaRPr lang="en-US" sz="1050" dirty="0"/>
          </a:p>
        </p:txBody>
      </p:sp>
      <p:sp>
        <p:nvSpPr>
          <p:cNvPr id="19" name="Shape 17"/>
          <p:cNvSpPr/>
          <p:nvPr/>
        </p:nvSpPr>
        <p:spPr>
          <a:xfrm>
            <a:off x="4892040" y="2633472"/>
            <a:ext cx="128016" cy="128016"/>
          </a:xfrm>
          <a:prstGeom prst="ellipse">
            <a:avLst/>
          </a:prstGeom>
          <a:solidFill>
            <a:srgbClr val="3B82F6"/>
          </a:solidFill>
          <a:ln/>
        </p:spPr>
      </p:sp>
      <p:sp>
        <p:nvSpPr>
          <p:cNvPr id="20" name="Text 18"/>
          <p:cNvSpPr/>
          <p:nvPr/>
        </p:nvSpPr>
        <p:spPr>
          <a:xfrm>
            <a:off x="5120640" y="2578608"/>
            <a:ext cx="3566160" cy="256032"/>
          </a:xfrm>
          <a:prstGeom prst="rect">
            <a:avLst/>
          </a:prstGeom>
          <a:noFill/>
          <a:ln/>
        </p:spPr>
        <p:txBody>
          <a:bodyPr wrap="square" lIns="0" tIns="0" rIns="0" bIns="0" rtlCol="0" anchor="ctr"/>
          <a:lstStyle/>
          <a:p>
            <a:pPr marL="0" indent="0">
              <a:buNone/>
            </a:pPr>
            <a:r>
              <a:rPr lang="en-US" sz="1050" dirty="0">
                <a:solidFill>
                  <a:srgbClr val="F0F4FF"/>
                </a:solidFill>
              </a:rPr>
              <a:t>Hyperscaler outsourcing</a:t>
            </a:r>
            <a:endParaRPr lang="en-US" sz="1050" dirty="0"/>
          </a:p>
        </p:txBody>
      </p:sp>
      <p:sp>
        <p:nvSpPr>
          <p:cNvPr id="21" name="Shape 19"/>
          <p:cNvSpPr/>
          <p:nvPr/>
        </p:nvSpPr>
        <p:spPr>
          <a:xfrm>
            <a:off x="4892040" y="2962656"/>
            <a:ext cx="128016" cy="128016"/>
          </a:xfrm>
          <a:prstGeom prst="ellipse">
            <a:avLst/>
          </a:prstGeom>
          <a:solidFill>
            <a:srgbClr val="3B82F6"/>
          </a:solidFill>
          <a:ln/>
        </p:spPr>
      </p:sp>
      <p:sp>
        <p:nvSpPr>
          <p:cNvPr id="22" name="Text 20"/>
          <p:cNvSpPr/>
          <p:nvPr/>
        </p:nvSpPr>
        <p:spPr>
          <a:xfrm>
            <a:off x="5120640" y="2907792"/>
            <a:ext cx="3566160" cy="256032"/>
          </a:xfrm>
          <a:prstGeom prst="rect">
            <a:avLst/>
          </a:prstGeom>
          <a:noFill/>
          <a:ln/>
        </p:spPr>
        <p:txBody>
          <a:bodyPr wrap="square" lIns="0" tIns="0" rIns="0" bIns="0" rtlCol="0" anchor="ctr"/>
          <a:lstStyle/>
          <a:p>
            <a:pPr marL="0" indent="0">
              <a:buNone/>
            </a:pPr>
            <a:r>
              <a:rPr lang="en-US" sz="1050" dirty="0">
                <a:solidFill>
                  <a:srgbClr val="F0F4FF"/>
                </a:solidFill>
              </a:rPr>
              <a:t>Enterprise AI adoption</a:t>
            </a:r>
            <a:endParaRPr lang="en-US" sz="1050" dirty="0"/>
          </a:p>
        </p:txBody>
      </p:sp>
      <p:sp>
        <p:nvSpPr>
          <p:cNvPr id="23" name="Shape 21"/>
          <p:cNvSpPr/>
          <p:nvPr/>
        </p:nvSpPr>
        <p:spPr>
          <a:xfrm>
            <a:off x="4892040" y="3291840"/>
            <a:ext cx="128016" cy="128016"/>
          </a:xfrm>
          <a:prstGeom prst="ellipse">
            <a:avLst/>
          </a:prstGeom>
          <a:solidFill>
            <a:srgbClr val="3B82F6"/>
          </a:solidFill>
          <a:ln/>
        </p:spPr>
      </p:sp>
      <p:sp>
        <p:nvSpPr>
          <p:cNvPr id="24" name="Text 22"/>
          <p:cNvSpPr/>
          <p:nvPr/>
        </p:nvSpPr>
        <p:spPr>
          <a:xfrm>
            <a:off x="5120640" y="3236976"/>
            <a:ext cx="3566160" cy="256032"/>
          </a:xfrm>
          <a:prstGeom prst="rect">
            <a:avLst/>
          </a:prstGeom>
          <a:noFill/>
          <a:ln/>
        </p:spPr>
        <p:txBody>
          <a:bodyPr wrap="square" lIns="0" tIns="0" rIns="0" bIns="0" rtlCol="0" anchor="ctr"/>
          <a:lstStyle/>
          <a:p>
            <a:pPr marL="0" indent="0">
              <a:buNone/>
            </a:pPr>
            <a:r>
              <a:rPr lang="en-US" sz="1050" dirty="0">
                <a:solidFill>
                  <a:srgbClr val="F0F4FF"/>
                </a:solidFill>
              </a:rPr>
              <a:t>Power availability constraints</a:t>
            </a:r>
            <a:endParaRPr lang="en-US" sz="1050" dirty="0"/>
          </a:p>
        </p:txBody>
      </p:sp>
      <p:sp>
        <p:nvSpPr>
          <p:cNvPr id="25" name="Text 23"/>
          <p:cNvSpPr/>
          <p:nvPr/>
        </p:nvSpPr>
        <p:spPr>
          <a:xfrm>
            <a:off x="320040" y="3730752"/>
            <a:ext cx="3657600" cy="256032"/>
          </a:xfrm>
          <a:prstGeom prst="rect">
            <a:avLst/>
          </a:prstGeom>
          <a:noFill/>
          <a:ln/>
        </p:spPr>
        <p:txBody>
          <a:bodyPr wrap="square" lIns="0" tIns="0" rIns="0" bIns="0" rtlCol="0" anchor="ctr"/>
          <a:lstStyle/>
          <a:p>
            <a:pPr marL="0" indent="0">
              <a:buNone/>
            </a:pPr>
            <a:r>
              <a:rPr lang="en-US" sz="900" b="1" kern="0" spc="200" dirty="0">
                <a:solidFill>
                  <a:srgbClr val="EF4444"/>
                </a:solidFill>
              </a:rPr>
              <a:t>KEY RISKS</a:t>
            </a:r>
            <a:endParaRPr lang="en-US" sz="900" dirty="0"/>
          </a:p>
        </p:txBody>
      </p:sp>
      <p:sp>
        <p:nvSpPr>
          <p:cNvPr id="26" name="Shape 24"/>
          <p:cNvSpPr/>
          <p:nvPr/>
        </p:nvSpPr>
        <p:spPr>
          <a:xfrm>
            <a:off x="320040" y="3977640"/>
            <a:ext cx="8503920" cy="914400"/>
          </a:xfrm>
          <a:prstGeom prst="rect">
            <a:avLst/>
          </a:prstGeom>
          <a:solidFill>
            <a:srgbClr val="162050"/>
          </a:solidFill>
          <a:ln w="6350">
            <a:solidFill>
              <a:srgbClr val="FFFFFF">
                <a:alpha val="10000"/>
              </a:srgbClr>
            </a:solidFill>
            <a:prstDash val="solid"/>
          </a:ln>
        </p:spPr>
      </p:sp>
      <p:sp>
        <p:nvSpPr>
          <p:cNvPr id="27" name="Shape 25"/>
          <p:cNvSpPr/>
          <p:nvPr/>
        </p:nvSpPr>
        <p:spPr>
          <a:xfrm>
            <a:off x="502920" y="4114800"/>
            <a:ext cx="1573218" cy="640080"/>
          </a:xfrm>
          <a:prstGeom prst="roundRect">
            <a:avLst>
              <a:gd name="adj" fmla="val 8571"/>
            </a:avLst>
          </a:prstGeom>
          <a:solidFill>
            <a:srgbClr val="EF4444">
              <a:alpha val="15000"/>
            </a:srgbClr>
          </a:solidFill>
          <a:ln/>
        </p:spPr>
      </p:sp>
      <p:sp>
        <p:nvSpPr>
          <p:cNvPr id="28" name="Text 26"/>
          <p:cNvSpPr/>
          <p:nvPr/>
        </p:nvSpPr>
        <p:spPr>
          <a:xfrm>
            <a:off x="502920" y="4114800"/>
            <a:ext cx="1513257" cy="640080"/>
          </a:xfrm>
          <a:prstGeom prst="rect">
            <a:avLst/>
          </a:prstGeom>
          <a:noFill/>
          <a:ln/>
        </p:spPr>
        <p:txBody>
          <a:bodyPr wrap="square" rtlCol="0" anchor="ctr"/>
          <a:lstStyle/>
          <a:p>
            <a:pPr marL="0" indent="0" algn="ctr">
              <a:buNone/>
            </a:pPr>
            <a:r>
              <a:rPr lang="en-US" sz="1000" dirty="0">
                <a:solidFill>
                  <a:srgbClr val="F0F4FF"/>
                </a:solidFill>
              </a:rPr>
              <a:t>⚠ Hyperscaler insourcing</a:t>
            </a:r>
            <a:endParaRPr lang="en-US" sz="1000" dirty="0"/>
          </a:p>
        </p:txBody>
      </p:sp>
      <p:sp>
        <p:nvSpPr>
          <p:cNvPr id="29" name="Shape 27"/>
          <p:cNvSpPr/>
          <p:nvPr/>
        </p:nvSpPr>
        <p:spPr>
          <a:xfrm>
            <a:off x="2430280" y="4107305"/>
            <a:ext cx="1783080" cy="640080"/>
          </a:xfrm>
          <a:prstGeom prst="roundRect">
            <a:avLst>
              <a:gd name="adj" fmla="val 8571"/>
            </a:avLst>
          </a:prstGeom>
          <a:solidFill>
            <a:srgbClr val="EF4444">
              <a:alpha val="15000"/>
            </a:srgbClr>
          </a:solidFill>
          <a:ln/>
        </p:spPr>
      </p:sp>
      <p:sp>
        <p:nvSpPr>
          <p:cNvPr id="30" name="Text 28"/>
          <p:cNvSpPr/>
          <p:nvPr/>
        </p:nvSpPr>
        <p:spPr>
          <a:xfrm>
            <a:off x="2399926" y="4087368"/>
            <a:ext cx="1810061" cy="640080"/>
          </a:xfrm>
          <a:prstGeom prst="rect">
            <a:avLst/>
          </a:prstGeom>
          <a:noFill/>
          <a:ln/>
        </p:spPr>
        <p:txBody>
          <a:bodyPr wrap="square" rtlCol="0" anchor="ctr"/>
          <a:lstStyle/>
          <a:p>
            <a:pPr marL="0" indent="0" algn="ctr">
              <a:buNone/>
            </a:pPr>
            <a:r>
              <a:rPr lang="en-US" sz="1000" dirty="0">
                <a:solidFill>
                  <a:srgbClr val="F0F4FF"/>
                </a:solidFill>
              </a:rPr>
              <a:t>⚠ Bitcoin price correlation</a:t>
            </a:r>
            <a:endParaRPr lang="en-US" sz="1000" dirty="0"/>
          </a:p>
        </p:txBody>
      </p:sp>
      <p:sp>
        <p:nvSpPr>
          <p:cNvPr id="31" name="Shape 29"/>
          <p:cNvSpPr/>
          <p:nvPr/>
        </p:nvSpPr>
        <p:spPr>
          <a:xfrm>
            <a:off x="4729772" y="4122295"/>
            <a:ext cx="1810062" cy="640080"/>
          </a:xfrm>
          <a:prstGeom prst="roundRect">
            <a:avLst>
              <a:gd name="adj" fmla="val 8571"/>
            </a:avLst>
          </a:prstGeom>
          <a:solidFill>
            <a:srgbClr val="EF4444">
              <a:alpha val="15000"/>
            </a:srgbClr>
          </a:solidFill>
          <a:ln/>
        </p:spPr>
      </p:sp>
      <p:sp>
        <p:nvSpPr>
          <p:cNvPr id="32" name="Text 30"/>
          <p:cNvSpPr/>
          <p:nvPr/>
        </p:nvSpPr>
        <p:spPr>
          <a:xfrm>
            <a:off x="4340777" y="4089916"/>
            <a:ext cx="2468880" cy="640080"/>
          </a:xfrm>
          <a:prstGeom prst="rect">
            <a:avLst/>
          </a:prstGeom>
          <a:noFill/>
          <a:ln/>
        </p:spPr>
        <p:txBody>
          <a:bodyPr wrap="square" rtlCol="0" anchor="ctr"/>
          <a:lstStyle/>
          <a:p>
            <a:pPr marL="0" indent="0" algn="ctr">
              <a:buNone/>
            </a:pPr>
            <a:r>
              <a:rPr lang="en-US" sz="1000" dirty="0">
                <a:solidFill>
                  <a:srgbClr val="F0F4FF"/>
                </a:solidFill>
              </a:rPr>
              <a:t>⚠ Capital intensity</a:t>
            </a:r>
            <a:endParaRPr lang="en-US" sz="1000" dirty="0"/>
          </a:p>
        </p:txBody>
      </p:sp>
      <p:sp>
        <p:nvSpPr>
          <p:cNvPr id="33" name="Shape 31"/>
          <p:cNvSpPr/>
          <p:nvPr/>
        </p:nvSpPr>
        <p:spPr>
          <a:xfrm>
            <a:off x="7022143" y="4122295"/>
            <a:ext cx="1618937" cy="640080"/>
          </a:xfrm>
          <a:prstGeom prst="roundRect">
            <a:avLst>
              <a:gd name="adj" fmla="val 8571"/>
            </a:avLst>
          </a:prstGeom>
          <a:solidFill>
            <a:srgbClr val="EF4444">
              <a:alpha val="15000"/>
            </a:srgbClr>
          </a:solidFill>
          <a:ln/>
        </p:spPr>
      </p:sp>
      <p:sp>
        <p:nvSpPr>
          <p:cNvPr id="34" name="Text 32"/>
          <p:cNvSpPr/>
          <p:nvPr/>
        </p:nvSpPr>
        <p:spPr>
          <a:xfrm>
            <a:off x="6597171" y="4100334"/>
            <a:ext cx="2468880" cy="640080"/>
          </a:xfrm>
          <a:prstGeom prst="rect">
            <a:avLst/>
          </a:prstGeom>
          <a:noFill/>
          <a:ln/>
        </p:spPr>
        <p:txBody>
          <a:bodyPr wrap="square" rtlCol="0" anchor="ctr"/>
          <a:lstStyle/>
          <a:p>
            <a:pPr marL="0" indent="0" algn="ctr">
              <a:buNone/>
            </a:pPr>
            <a:r>
              <a:rPr lang="en-US" sz="1000" dirty="0">
                <a:solidFill>
                  <a:srgbClr val="F0F4FF"/>
                </a:solidFill>
              </a:rPr>
              <a:t>⚠ Customer concentration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B6D4"/>
          </a:solidFill>
          <a:ln/>
        </p:spPr>
      </p:sp>
      <p:sp>
        <p:nvSpPr>
          <p:cNvPr id="3" name="Text 1"/>
          <p:cNvSpPr/>
          <p:nvPr/>
        </p:nvSpPr>
        <p:spPr>
          <a:xfrm>
            <a:off x="320040" y="137160"/>
            <a:ext cx="1097280" cy="502920"/>
          </a:xfrm>
          <a:prstGeom prst="rect">
            <a:avLst/>
          </a:prstGeom>
          <a:noFill/>
          <a:ln/>
        </p:spPr>
        <p:txBody>
          <a:bodyPr wrap="square" rtlCol="0" anchor="ctr"/>
          <a:lstStyle/>
          <a:p>
            <a:pPr marL="0" indent="0" algn="ctr">
              <a:buNone/>
            </a:pPr>
            <a:r>
              <a:rPr lang="en-US" sz="2800" b="1" dirty="0">
                <a:solidFill>
                  <a:srgbClr val="06B6D4"/>
                </a:solidFill>
              </a:rPr>
              <a:t>03</a:t>
            </a:r>
            <a:endParaRPr lang="en-US" sz="2800" dirty="0"/>
          </a:p>
        </p:txBody>
      </p:sp>
      <p:sp>
        <p:nvSpPr>
          <p:cNvPr id="4" name="Text 2"/>
          <p:cNvSpPr/>
          <p:nvPr/>
        </p:nvSpPr>
        <p:spPr>
          <a:xfrm>
            <a:off x="1508760" y="137160"/>
            <a:ext cx="7315200" cy="256032"/>
          </a:xfrm>
          <a:prstGeom prst="rect">
            <a:avLst/>
          </a:prstGeom>
          <a:noFill/>
          <a:ln/>
        </p:spPr>
        <p:txBody>
          <a:bodyPr wrap="square" lIns="0" tIns="0" rIns="0" bIns="0" rtlCol="0" anchor="ctr"/>
          <a:lstStyle/>
          <a:p>
            <a:pPr marL="0" indent="0">
              <a:buNone/>
            </a:pPr>
            <a:r>
              <a:rPr lang="en-US" sz="900" b="1" kern="0" spc="300" dirty="0">
                <a:solidFill>
                  <a:srgbClr val="06B6D4"/>
                </a:solidFill>
              </a:rPr>
              <a:t>LAYER 3 — CLOUD &amp; DATA CENTER OPERATIONS</a:t>
            </a:r>
            <a:endParaRPr lang="en-US" sz="900" dirty="0"/>
          </a:p>
        </p:txBody>
      </p:sp>
      <p:sp>
        <p:nvSpPr>
          <p:cNvPr id="5" name="Text 3"/>
          <p:cNvSpPr/>
          <p:nvPr/>
        </p:nvSpPr>
        <p:spPr>
          <a:xfrm>
            <a:off x="1508760" y="365760"/>
            <a:ext cx="7315200" cy="347472"/>
          </a:xfrm>
          <a:prstGeom prst="rect">
            <a:avLst/>
          </a:prstGeom>
          <a:noFill/>
          <a:ln/>
        </p:spPr>
        <p:txBody>
          <a:bodyPr wrap="square" lIns="0" tIns="0" rIns="0" bIns="0" rtlCol="0" anchor="ctr"/>
          <a:lstStyle/>
          <a:p>
            <a:pPr marL="0" indent="0">
              <a:buNone/>
            </a:pPr>
            <a:r>
              <a:rPr lang="en-US" sz="1400" b="1" dirty="0">
                <a:solidFill>
                  <a:srgbClr val="FFFFFF"/>
                </a:solidFill>
              </a:rPr>
              <a:t>Hyperscalers, GPU clouds, colocation — the operational layer between chips and intelligence</a:t>
            </a:r>
            <a:endParaRPr lang="en-US" sz="1400" dirty="0"/>
          </a:p>
        </p:txBody>
      </p:sp>
      <p:sp>
        <p:nvSpPr>
          <p:cNvPr id="6" name="Shape 4"/>
          <p:cNvSpPr/>
          <p:nvPr/>
        </p:nvSpPr>
        <p:spPr>
          <a:xfrm>
            <a:off x="274320" y="804672"/>
            <a:ext cx="2852928" cy="406908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7" name="Shape 5"/>
          <p:cNvSpPr/>
          <p:nvPr/>
        </p:nvSpPr>
        <p:spPr>
          <a:xfrm>
            <a:off x="274320" y="804672"/>
            <a:ext cx="2852928" cy="320040"/>
          </a:xfrm>
          <a:prstGeom prst="rect">
            <a:avLst/>
          </a:prstGeom>
          <a:solidFill>
            <a:srgbClr val="06B6D4">
              <a:alpha val="78000"/>
            </a:srgbClr>
          </a:solidFill>
          <a:ln/>
        </p:spPr>
      </p:sp>
      <p:sp>
        <p:nvSpPr>
          <p:cNvPr id="8" name="Text 6"/>
          <p:cNvSpPr/>
          <p:nvPr/>
        </p:nvSpPr>
        <p:spPr>
          <a:xfrm>
            <a:off x="365760" y="804672"/>
            <a:ext cx="2743200" cy="320040"/>
          </a:xfrm>
          <a:prstGeom prst="rect">
            <a:avLst/>
          </a:prstGeom>
          <a:noFill/>
          <a:ln/>
        </p:spPr>
        <p:txBody>
          <a:bodyPr wrap="square" lIns="0" tIns="0" rIns="0" bIns="0" rtlCol="0" anchor="ctr"/>
          <a:lstStyle/>
          <a:p>
            <a:pPr marL="0" indent="0">
              <a:buNone/>
            </a:pPr>
            <a:r>
              <a:rPr lang="en-US" sz="1100" b="1" dirty="0">
                <a:solidFill>
                  <a:srgbClr val="FFFFFF"/>
                </a:solidFill>
              </a:rPr>
              <a:t>HYPERSCALERS</a:t>
            </a:r>
            <a:endParaRPr lang="en-US" sz="1100" dirty="0"/>
          </a:p>
        </p:txBody>
      </p:sp>
      <p:sp>
        <p:nvSpPr>
          <p:cNvPr id="9" name="Text 7"/>
          <p:cNvSpPr/>
          <p:nvPr/>
        </p:nvSpPr>
        <p:spPr>
          <a:xfrm>
            <a:off x="365760" y="1170432"/>
            <a:ext cx="2670048" cy="228600"/>
          </a:xfrm>
          <a:prstGeom prst="rect">
            <a:avLst/>
          </a:prstGeom>
          <a:noFill/>
          <a:ln/>
        </p:spPr>
        <p:txBody>
          <a:bodyPr wrap="square" lIns="0" tIns="0" rIns="0" bIns="0" rtlCol="0" anchor="ctr"/>
          <a:lstStyle/>
          <a:p>
            <a:pPr marL="0" indent="0">
              <a:buNone/>
            </a:pPr>
            <a:r>
              <a:rPr lang="en-US" sz="900" dirty="0">
                <a:solidFill>
                  <a:srgbClr val="06B6D4"/>
                </a:solidFill>
              </a:rPr>
              <a:t>AWS (Amazon) · Azure (Microsoft) · Google Cloud · Meta (internal)</a:t>
            </a:r>
            <a:endParaRPr lang="en-US" sz="900" dirty="0"/>
          </a:p>
        </p:txBody>
      </p:sp>
      <p:sp>
        <p:nvSpPr>
          <p:cNvPr id="10" name="Text 8"/>
          <p:cNvSpPr/>
          <p:nvPr/>
        </p:nvSpPr>
        <p:spPr>
          <a:xfrm>
            <a:off x="320040" y="1536589"/>
            <a:ext cx="2651760" cy="201168"/>
          </a:xfrm>
          <a:prstGeom prst="rect">
            <a:avLst/>
          </a:prstGeom>
          <a:noFill/>
          <a:ln/>
        </p:spPr>
        <p:txBody>
          <a:bodyPr wrap="square" lIns="0" tIns="0" rIns="0" bIns="0" rtlCol="0" anchor="ctr"/>
          <a:lstStyle/>
          <a:p>
            <a:pPr marL="0" indent="0">
              <a:buNone/>
            </a:pPr>
            <a:r>
              <a:rPr lang="en-US" sz="750" b="1" dirty="0">
                <a:solidFill>
                  <a:srgbClr val="64748B"/>
                </a:solidFill>
              </a:rPr>
              <a:t>MOAT:</a:t>
            </a:r>
            <a:endParaRPr lang="en-US" sz="750" dirty="0"/>
          </a:p>
        </p:txBody>
      </p:sp>
      <p:sp>
        <p:nvSpPr>
          <p:cNvPr id="11" name="Text 9"/>
          <p:cNvSpPr/>
          <p:nvPr/>
        </p:nvSpPr>
        <p:spPr>
          <a:xfrm>
            <a:off x="320040" y="1728613"/>
            <a:ext cx="2651760" cy="987552"/>
          </a:xfrm>
          <a:prstGeom prst="rect">
            <a:avLst/>
          </a:prstGeom>
          <a:noFill/>
          <a:ln/>
        </p:spPr>
        <p:txBody>
          <a:bodyPr wrap="square" rtlCol="0" anchor="ctr"/>
          <a:lstStyle/>
          <a:p>
            <a:pPr marL="0" indent="0">
              <a:buNone/>
            </a:pPr>
            <a:r>
              <a:rPr lang="en-US" sz="900" dirty="0">
                <a:solidFill>
                  <a:srgbClr val="E2E8F5"/>
                </a:solidFill>
              </a:rPr>
              <a:t>Vertical integration: own the chip design (Trainium, TPU, Graviton), the data center, the software stack, and the customers. Customer switching costs via proprietary APIs, databases, and ML pipelines. AWS has 30,000+ services — migration is a multi-year project.</a:t>
            </a:r>
            <a:endParaRPr lang="en-US" sz="900" dirty="0"/>
          </a:p>
        </p:txBody>
      </p:sp>
      <p:sp>
        <p:nvSpPr>
          <p:cNvPr id="12" name="Text 10"/>
          <p:cNvSpPr/>
          <p:nvPr/>
        </p:nvSpPr>
        <p:spPr>
          <a:xfrm>
            <a:off x="320040" y="2846965"/>
            <a:ext cx="2651760" cy="201168"/>
          </a:xfrm>
          <a:prstGeom prst="rect">
            <a:avLst/>
          </a:prstGeom>
          <a:noFill/>
          <a:ln/>
        </p:spPr>
        <p:txBody>
          <a:bodyPr wrap="square" lIns="0" tIns="0" rIns="0" bIns="0" rtlCol="0" anchor="ctr"/>
          <a:lstStyle/>
          <a:p>
            <a:pPr marL="0" indent="0">
              <a:buNone/>
            </a:pPr>
            <a:r>
              <a:rPr lang="en-US" sz="750" b="1" dirty="0">
                <a:solidFill>
                  <a:srgbClr val="64748B"/>
                </a:solidFill>
              </a:rPr>
              <a:t>BUSINESS:</a:t>
            </a:r>
            <a:endParaRPr lang="en-US" sz="750" dirty="0"/>
          </a:p>
        </p:txBody>
      </p:sp>
      <p:sp>
        <p:nvSpPr>
          <p:cNvPr id="13" name="Text 11"/>
          <p:cNvSpPr/>
          <p:nvPr/>
        </p:nvSpPr>
        <p:spPr>
          <a:xfrm>
            <a:off x="320040" y="3038989"/>
            <a:ext cx="2651760" cy="777240"/>
          </a:xfrm>
          <a:prstGeom prst="rect">
            <a:avLst/>
          </a:prstGeom>
          <a:noFill/>
          <a:ln/>
        </p:spPr>
        <p:txBody>
          <a:bodyPr wrap="square" rtlCol="0" anchor="ctr"/>
          <a:lstStyle/>
          <a:p>
            <a:pPr marL="0" indent="0">
              <a:buNone/>
            </a:pPr>
            <a:r>
              <a:rPr lang="en-US" sz="900" dirty="0">
                <a:solidFill>
                  <a:srgbClr val="E2E8F5"/>
                </a:solidFill>
              </a:rPr>
              <a:t>Rent compute, storage, networking as managed services. AI revenues from GPU instances (A100/H100 rentals), managed ML services (SageMaker, Vertex AI), and API inference endpoints. Hyperscalers are now designing custom AI chips to reduce NVIDIA dependency.</a:t>
            </a:r>
            <a:endParaRPr lang="en-US" sz="900" dirty="0"/>
          </a:p>
        </p:txBody>
      </p:sp>
      <p:sp>
        <p:nvSpPr>
          <p:cNvPr id="14" name="Text 12"/>
          <p:cNvSpPr/>
          <p:nvPr/>
        </p:nvSpPr>
        <p:spPr>
          <a:xfrm>
            <a:off x="320040" y="3994735"/>
            <a:ext cx="2651760" cy="201168"/>
          </a:xfrm>
          <a:prstGeom prst="rect">
            <a:avLst/>
          </a:prstGeom>
          <a:noFill/>
          <a:ln/>
        </p:spPr>
        <p:txBody>
          <a:bodyPr wrap="square" lIns="0" tIns="0" rIns="0" bIns="0" rtlCol="0" anchor="ctr"/>
          <a:lstStyle/>
          <a:p>
            <a:pPr marL="0" indent="0">
              <a:buNone/>
            </a:pPr>
            <a:r>
              <a:rPr lang="en-US" sz="750" b="1" dirty="0">
                <a:solidFill>
                  <a:srgbClr val="06B6D4"/>
                </a:solidFill>
              </a:rPr>
              <a:t>DEMAND DRIVER:</a:t>
            </a:r>
            <a:endParaRPr lang="en-US" sz="750" dirty="0"/>
          </a:p>
        </p:txBody>
      </p:sp>
      <p:sp>
        <p:nvSpPr>
          <p:cNvPr id="15" name="Text 13"/>
          <p:cNvSpPr/>
          <p:nvPr/>
        </p:nvSpPr>
        <p:spPr>
          <a:xfrm>
            <a:off x="320040" y="4186759"/>
            <a:ext cx="2651760" cy="548640"/>
          </a:xfrm>
          <a:prstGeom prst="rect">
            <a:avLst/>
          </a:prstGeom>
          <a:noFill/>
          <a:ln/>
        </p:spPr>
        <p:txBody>
          <a:bodyPr wrap="square" rtlCol="0" anchor="ctr"/>
          <a:lstStyle/>
          <a:p>
            <a:pPr marL="0" indent="0">
              <a:buNone/>
            </a:pPr>
            <a:r>
              <a:rPr lang="en-US" sz="900" dirty="0">
                <a:solidFill>
                  <a:srgbClr val="E2E8F5"/>
                </a:solidFill>
              </a:rPr>
              <a:t>Capex surging: AWS+Azure+GCP+Meta combined: $200B in 2024, projected $350B by 2026. Building ahead of demand is strategic — availability is a competitive weapon.</a:t>
            </a:r>
            <a:endParaRPr lang="en-US" sz="900" dirty="0"/>
          </a:p>
        </p:txBody>
      </p:sp>
      <p:sp>
        <p:nvSpPr>
          <p:cNvPr id="16" name="Shape 14"/>
          <p:cNvSpPr/>
          <p:nvPr/>
        </p:nvSpPr>
        <p:spPr>
          <a:xfrm>
            <a:off x="3246120" y="804672"/>
            <a:ext cx="2852928" cy="406908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17" name="Shape 15"/>
          <p:cNvSpPr/>
          <p:nvPr/>
        </p:nvSpPr>
        <p:spPr>
          <a:xfrm>
            <a:off x="3246120" y="804672"/>
            <a:ext cx="2852928" cy="320040"/>
          </a:xfrm>
          <a:prstGeom prst="rect">
            <a:avLst/>
          </a:prstGeom>
          <a:solidFill>
            <a:srgbClr val="3B82F6">
              <a:alpha val="78000"/>
            </a:srgbClr>
          </a:solidFill>
          <a:ln/>
        </p:spPr>
      </p:sp>
      <p:sp>
        <p:nvSpPr>
          <p:cNvPr id="18" name="Text 16"/>
          <p:cNvSpPr/>
          <p:nvPr/>
        </p:nvSpPr>
        <p:spPr>
          <a:xfrm>
            <a:off x="3337560" y="804672"/>
            <a:ext cx="2743200" cy="320040"/>
          </a:xfrm>
          <a:prstGeom prst="rect">
            <a:avLst/>
          </a:prstGeom>
          <a:noFill/>
          <a:ln/>
        </p:spPr>
        <p:txBody>
          <a:bodyPr wrap="square" lIns="0" tIns="0" rIns="0" bIns="0" rtlCol="0" anchor="ctr"/>
          <a:lstStyle/>
          <a:p>
            <a:pPr marL="0" indent="0">
              <a:buNone/>
            </a:pPr>
            <a:r>
              <a:rPr lang="en-US" sz="1100" b="1" dirty="0">
                <a:solidFill>
                  <a:srgbClr val="FFFFFF"/>
                </a:solidFill>
              </a:rPr>
              <a:t>INDEPENDENT GPU CLOUD</a:t>
            </a:r>
            <a:endParaRPr lang="en-US" sz="1100" dirty="0"/>
          </a:p>
        </p:txBody>
      </p:sp>
      <p:sp>
        <p:nvSpPr>
          <p:cNvPr id="19" name="Text 17"/>
          <p:cNvSpPr/>
          <p:nvPr/>
        </p:nvSpPr>
        <p:spPr>
          <a:xfrm>
            <a:off x="3337560" y="1170432"/>
            <a:ext cx="2670048" cy="228600"/>
          </a:xfrm>
          <a:prstGeom prst="rect">
            <a:avLst/>
          </a:prstGeom>
          <a:noFill/>
          <a:ln/>
        </p:spPr>
        <p:txBody>
          <a:bodyPr wrap="square" lIns="0" tIns="0" rIns="0" bIns="0" rtlCol="0" anchor="ctr"/>
          <a:lstStyle/>
          <a:p>
            <a:pPr marL="0" indent="0">
              <a:buNone/>
            </a:pPr>
            <a:r>
              <a:rPr lang="en-US" sz="900" dirty="0">
                <a:solidFill>
                  <a:srgbClr val="3B82F6"/>
                </a:solidFill>
              </a:rPr>
              <a:t>CoreWeave · Nebius Group · Lambda Labs · Vast.ai · Crusoe Energy</a:t>
            </a:r>
            <a:endParaRPr lang="en-US" sz="900" dirty="0"/>
          </a:p>
        </p:txBody>
      </p:sp>
      <p:sp>
        <p:nvSpPr>
          <p:cNvPr id="20" name="Text 18"/>
          <p:cNvSpPr/>
          <p:nvPr/>
        </p:nvSpPr>
        <p:spPr>
          <a:xfrm>
            <a:off x="3291840" y="1536589"/>
            <a:ext cx="2651760" cy="201168"/>
          </a:xfrm>
          <a:prstGeom prst="rect">
            <a:avLst/>
          </a:prstGeom>
          <a:noFill/>
          <a:ln/>
        </p:spPr>
        <p:txBody>
          <a:bodyPr wrap="square" lIns="0" tIns="0" rIns="0" bIns="0" rtlCol="0" anchor="ctr"/>
          <a:lstStyle/>
          <a:p>
            <a:pPr marL="0" indent="0">
              <a:buNone/>
            </a:pPr>
            <a:r>
              <a:rPr lang="en-US" sz="750" b="1" dirty="0">
                <a:solidFill>
                  <a:srgbClr val="64748B"/>
                </a:solidFill>
              </a:rPr>
              <a:t>MOAT:</a:t>
            </a:r>
            <a:endParaRPr lang="en-US" sz="750" dirty="0"/>
          </a:p>
        </p:txBody>
      </p:sp>
      <p:sp>
        <p:nvSpPr>
          <p:cNvPr id="21" name="Text 19"/>
          <p:cNvSpPr/>
          <p:nvPr/>
        </p:nvSpPr>
        <p:spPr>
          <a:xfrm>
            <a:off x="3291840" y="1728613"/>
            <a:ext cx="2651760" cy="987552"/>
          </a:xfrm>
          <a:prstGeom prst="rect">
            <a:avLst/>
          </a:prstGeom>
          <a:noFill/>
          <a:ln/>
        </p:spPr>
        <p:txBody>
          <a:bodyPr wrap="square" rtlCol="0" anchor="ctr"/>
          <a:lstStyle/>
          <a:p>
            <a:pPr marL="0" indent="0">
              <a:buNone/>
            </a:pPr>
            <a:r>
              <a:rPr lang="en-US" sz="900" dirty="0">
                <a:solidFill>
                  <a:srgbClr val="E2E8F5"/>
                </a:solidFill>
              </a:rPr>
              <a:t>Specialization and speed. CoreWeave deployed NVIDIA clusters faster than any hyperscaler — 48-hour SLA vs. weeks at AWS. Moat is operational (AI/ML specific workflows) + relationships (NVIDIA as investor/customer in CoreWeave). Lower overhead = can undercut hyperscalers on raw GPU pricing.</a:t>
            </a:r>
            <a:endParaRPr lang="en-US" sz="900" dirty="0"/>
          </a:p>
        </p:txBody>
      </p:sp>
      <p:sp>
        <p:nvSpPr>
          <p:cNvPr id="22" name="Text 20"/>
          <p:cNvSpPr/>
          <p:nvPr/>
        </p:nvSpPr>
        <p:spPr>
          <a:xfrm>
            <a:off x="3291840" y="2846965"/>
            <a:ext cx="2651760" cy="201168"/>
          </a:xfrm>
          <a:prstGeom prst="rect">
            <a:avLst/>
          </a:prstGeom>
          <a:noFill/>
          <a:ln/>
        </p:spPr>
        <p:txBody>
          <a:bodyPr wrap="square" lIns="0" tIns="0" rIns="0" bIns="0" rtlCol="0" anchor="ctr"/>
          <a:lstStyle/>
          <a:p>
            <a:pPr marL="0" indent="0">
              <a:buNone/>
            </a:pPr>
            <a:r>
              <a:rPr lang="en-US" sz="750" b="1" dirty="0">
                <a:solidFill>
                  <a:srgbClr val="64748B"/>
                </a:solidFill>
              </a:rPr>
              <a:t>BUSINESS:</a:t>
            </a:r>
            <a:endParaRPr lang="en-US" sz="750" dirty="0"/>
          </a:p>
        </p:txBody>
      </p:sp>
      <p:sp>
        <p:nvSpPr>
          <p:cNvPr id="23" name="Text 21"/>
          <p:cNvSpPr/>
          <p:nvPr/>
        </p:nvSpPr>
        <p:spPr>
          <a:xfrm>
            <a:off x="3291840" y="3038989"/>
            <a:ext cx="2651760" cy="777240"/>
          </a:xfrm>
          <a:prstGeom prst="rect">
            <a:avLst/>
          </a:prstGeom>
          <a:noFill/>
          <a:ln/>
        </p:spPr>
        <p:txBody>
          <a:bodyPr wrap="square" rtlCol="0" anchor="ctr"/>
          <a:lstStyle/>
          <a:p>
            <a:pPr marL="0" indent="0">
              <a:buNone/>
            </a:pPr>
            <a:r>
              <a:rPr lang="en-US" sz="900" dirty="0">
                <a:solidFill>
                  <a:srgbClr val="E2E8F5"/>
                </a:solidFill>
              </a:rPr>
              <a:t>Rent bare-metal GPU access at hourly/monthly rates. No proprietary lock-in. Serve AI startups and enterprises that want raw compute without hyperscaler overhead. CoreWeave: $4B+ contracted revenue, anchor customer Microsoft.</a:t>
            </a:r>
            <a:endParaRPr lang="en-US" sz="900" dirty="0"/>
          </a:p>
        </p:txBody>
      </p:sp>
      <p:sp>
        <p:nvSpPr>
          <p:cNvPr id="24" name="Text 22"/>
          <p:cNvSpPr/>
          <p:nvPr/>
        </p:nvSpPr>
        <p:spPr>
          <a:xfrm>
            <a:off x="3291840" y="3994735"/>
            <a:ext cx="2651760" cy="201168"/>
          </a:xfrm>
          <a:prstGeom prst="rect">
            <a:avLst/>
          </a:prstGeom>
          <a:noFill/>
          <a:ln/>
        </p:spPr>
        <p:txBody>
          <a:bodyPr wrap="square" lIns="0" tIns="0" rIns="0" bIns="0" rtlCol="0" anchor="ctr"/>
          <a:lstStyle/>
          <a:p>
            <a:pPr marL="0" indent="0">
              <a:buNone/>
            </a:pPr>
            <a:r>
              <a:rPr lang="en-US" sz="750" b="1" dirty="0">
                <a:solidFill>
                  <a:srgbClr val="3B82F6"/>
                </a:solidFill>
              </a:rPr>
              <a:t>DEMAND DRIVER:</a:t>
            </a:r>
            <a:endParaRPr lang="en-US" sz="750" dirty="0"/>
          </a:p>
        </p:txBody>
      </p:sp>
      <p:sp>
        <p:nvSpPr>
          <p:cNvPr id="25" name="Text 23"/>
          <p:cNvSpPr/>
          <p:nvPr/>
        </p:nvSpPr>
        <p:spPr>
          <a:xfrm>
            <a:off x="3291840" y="4186759"/>
            <a:ext cx="2651760" cy="548640"/>
          </a:xfrm>
          <a:prstGeom prst="rect">
            <a:avLst/>
          </a:prstGeom>
          <a:noFill/>
          <a:ln/>
        </p:spPr>
        <p:txBody>
          <a:bodyPr wrap="square" rtlCol="0" anchor="ctr"/>
          <a:lstStyle/>
          <a:p>
            <a:pPr marL="0" indent="0">
              <a:buNone/>
            </a:pPr>
            <a:r>
              <a:rPr lang="en-US" sz="900" dirty="0">
                <a:solidFill>
                  <a:srgbClr val="E2E8F5"/>
                </a:solidFill>
              </a:rPr>
              <a:t>Growing fastest: AI training market is supply-constrained. Any entity with NVIDIA H100 allocation and power can capture demand. Key risk: when hyperscalers catch up on supply, pricing pressure intensifies.</a:t>
            </a:r>
            <a:endParaRPr lang="en-US" sz="900" dirty="0"/>
          </a:p>
        </p:txBody>
      </p:sp>
      <p:sp>
        <p:nvSpPr>
          <p:cNvPr id="26" name="Shape 24"/>
          <p:cNvSpPr/>
          <p:nvPr/>
        </p:nvSpPr>
        <p:spPr>
          <a:xfrm>
            <a:off x="6217920" y="804672"/>
            <a:ext cx="2852928" cy="406908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27" name="Shape 25"/>
          <p:cNvSpPr/>
          <p:nvPr/>
        </p:nvSpPr>
        <p:spPr>
          <a:xfrm>
            <a:off x="6217920" y="804672"/>
            <a:ext cx="2852928" cy="320040"/>
          </a:xfrm>
          <a:prstGeom prst="rect">
            <a:avLst/>
          </a:prstGeom>
          <a:solidFill>
            <a:srgbClr val="0D9488">
              <a:alpha val="78000"/>
            </a:srgbClr>
          </a:solidFill>
          <a:ln/>
        </p:spPr>
      </p:sp>
      <p:sp>
        <p:nvSpPr>
          <p:cNvPr id="28" name="Text 26"/>
          <p:cNvSpPr/>
          <p:nvPr/>
        </p:nvSpPr>
        <p:spPr>
          <a:xfrm>
            <a:off x="6309360" y="804672"/>
            <a:ext cx="2743200" cy="320040"/>
          </a:xfrm>
          <a:prstGeom prst="rect">
            <a:avLst/>
          </a:prstGeom>
          <a:noFill/>
          <a:ln/>
        </p:spPr>
        <p:txBody>
          <a:bodyPr wrap="square" lIns="0" tIns="0" rIns="0" bIns="0" rtlCol="0" anchor="ctr"/>
          <a:lstStyle/>
          <a:p>
            <a:pPr marL="0" indent="0">
              <a:buNone/>
            </a:pPr>
            <a:r>
              <a:rPr lang="en-US" sz="1100" b="1" dirty="0">
                <a:solidFill>
                  <a:srgbClr val="FFFFFF"/>
                </a:solidFill>
              </a:rPr>
              <a:t>COLOCATION &amp; REAL ESTATE</a:t>
            </a:r>
            <a:endParaRPr lang="en-US" sz="1100" dirty="0"/>
          </a:p>
        </p:txBody>
      </p:sp>
      <p:sp>
        <p:nvSpPr>
          <p:cNvPr id="29" name="Text 27"/>
          <p:cNvSpPr/>
          <p:nvPr/>
        </p:nvSpPr>
        <p:spPr>
          <a:xfrm>
            <a:off x="6309360" y="1170432"/>
            <a:ext cx="2670048" cy="228600"/>
          </a:xfrm>
          <a:prstGeom prst="rect">
            <a:avLst/>
          </a:prstGeom>
          <a:noFill/>
          <a:ln/>
        </p:spPr>
        <p:txBody>
          <a:bodyPr wrap="square" lIns="0" tIns="0" rIns="0" bIns="0" rtlCol="0" anchor="ctr"/>
          <a:lstStyle/>
          <a:p>
            <a:pPr marL="0" indent="0">
              <a:buNone/>
            </a:pPr>
            <a:r>
              <a:rPr lang="en-US" sz="900" dirty="0">
                <a:solidFill>
                  <a:srgbClr val="0D9488"/>
                </a:solidFill>
              </a:rPr>
              <a:t>Equinix · Digital Realty · Iron Mountain · QTS · Cyrusone</a:t>
            </a:r>
            <a:endParaRPr lang="en-US" sz="900" dirty="0"/>
          </a:p>
        </p:txBody>
      </p:sp>
      <p:sp>
        <p:nvSpPr>
          <p:cNvPr id="30" name="Text 28"/>
          <p:cNvSpPr/>
          <p:nvPr/>
        </p:nvSpPr>
        <p:spPr>
          <a:xfrm>
            <a:off x="6263640" y="1536589"/>
            <a:ext cx="2651760" cy="201168"/>
          </a:xfrm>
          <a:prstGeom prst="rect">
            <a:avLst/>
          </a:prstGeom>
          <a:noFill/>
          <a:ln/>
        </p:spPr>
        <p:txBody>
          <a:bodyPr wrap="square" lIns="0" tIns="0" rIns="0" bIns="0" rtlCol="0" anchor="ctr"/>
          <a:lstStyle/>
          <a:p>
            <a:pPr marL="0" indent="0">
              <a:buNone/>
            </a:pPr>
            <a:r>
              <a:rPr lang="en-US" sz="750" b="1" dirty="0">
                <a:solidFill>
                  <a:srgbClr val="64748B"/>
                </a:solidFill>
              </a:rPr>
              <a:t>MOAT:</a:t>
            </a:r>
            <a:endParaRPr lang="en-US" sz="750" dirty="0"/>
          </a:p>
        </p:txBody>
      </p:sp>
      <p:sp>
        <p:nvSpPr>
          <p:cNvPr id="31" name="Text 29"/>
          <p:cNvSpPr/>
          <p:nvPr/>
        </p:nvSpPr>
        <p:spPr>
          <a:xfrm>
            <a:off x="6263640" y="1728613"/>
            <a:ext cx="2651760" cy="987552"/>
          </a:xfrm>
          <a:prstGeom prst="rect">
            <a:avLst/>
          </a:prstGeom>
          <a:noFill/>
          <a:ln/>
        </p:spPr>
        <p:txBody>
          <a:bodyPr wrap="square" rtlCol="0" anchor="ctr"/>
          <a:lstStyle/>
          <a:p>
            <a:pPr marL="0" indent="0">
              <a:buNone/>
            </a:pPr>
            <a:r>
              <a:rPr lang="en-US" sz="900" dirty="0">
                <a:solidFill>
                  <a:srgbClr val="E2E8F5"/>
                </a:solidFill>
              </a:rPr>
              <a:t>Location: a carrier-neutral colo in Frankfurt, Singapore, or Ashburn VA cannot be replicated. Network effects: 1,000+ networks terminate at Equinix IBX — leaving Equinix means losing low-latency peering with ALL of them. Real estate moat: data center zoning is years-long.</a:t>
            </a:r>
            <a:endParaRPr lang="en-US" sz="900" dirty="0"/>
          </a:p>
        </p:txBody>
      </p:sp>
      <p:sp>
        <p:nvSpPr>
          <p:cNvPr id="32" name="Text 30"/>
          <p:cNvSpPr/>
          <p:nvPr/>
        </p:nvSpPr>
        <p:spPr>
          <a:xfrm>
            <a:off x="6263640" y="2846965"/>
            <a:ext cx="2651760" cy="201168"/>
          </a:xfrm>
          <a:prstGeom prst="rect">
            <a:avLst/>
          </a:prstGeom>
          <a:noFill/>
          <a:ln/>
        </p:spPr>
        <p:txBody>
          <a:bodyPr wrap="square" lIns="0" tIns="0" rIns="0" bIns="0" rtlCol="0" anchor="ctr"/>
          <a:lstStyle/>
          <a:p>
            <a:pPr marL="0" indent="0">
              <a:buNone/>
            </a:pPr>
            <a:r>
              <a:rPr lang="en-US" sz="750" b="1" dirty="0">
                <a:solidFill>
                  <a:srgbClr val="64748B"/>
                </a:solidFill>
              </a:rPr>
              <a:t>BUSINESS:</a:t>
            </a:r>
            <a:endParaRPr lang="en-US" sz="750" dirty="0"/>
          </a:p>
        </p:txBody>
      </p:sp>
      <p:sp>
        <p:nvSpPr>
          <p:cNvPr id="33" name="Text 31"/>
          <p:cNvSpPr/>
          <p:nvPr/>
        </p:nvSpPr>
        <p:spPr>
          <a:xfrm>
            <a:off x="6263640" y="3038989"/>
            <a:ext cx="2651760" cy="777240"/>
          </a:xfrm>
          <a:prstGeom prst="rect">
            <a:avLst/>
          </a:prstGeom>
          <a:noFill/>
          <a:ln/>
        </p:spPr>
        <p:txBody>
          <a:bodyPr wrap="square" rtlCol="0" anchor="ctr"/>
          <a:lstStyle/>
          <a:p>
            <a:pPr marL="0" indent="0">
              <a:buNone/>
            </a:pPr>
            <a:r>
              <a:rPr lang="en-US" sz="900" dirty="0">
                <a:solidFill>
                  <a:srgbClr val="E2E8F5"/>
                </a:solidFill>
              </a:rPr>
              <a:t>Own and operate physical data center buildings. Rent space (per cabinet/kW) and power to tenants. No compute provided — pure infrastructure. Long-term leases (10+ years) provide stable cash flows. High CapEx upfront, then high operating leverage.</a:t>
            </a:r>
            <a:endParaRPr lang="en-US" sz="900" dirty="0"/>
          </a:p>
        </p:txBody>
      </p:sp>
      <p:sp>
        <p:nvSpPr>
          <p:cNvPr id="34" name="Text 32"/>
          <p:cNvSpPr/>
          <p:nvPr/>
        </p:nvSpPr>
        <p:spPr>
          <a:xfrm>
            <a:off x="6263640" y="3994735"/>
            <a:ext cx="2651760" cy="201168"/>
          </a:xfrm>
          <a:prstGeom prst="rect">
            <a:avLst/>
          </a:prstGeom>
          <a:noFill/>
          <a:ln/>
        </p:spPr>
        <p:txBody>
          <a:bodyPr wrap="square" lIns="0" tIns="0" rIns="0" bIns="0" rtlCol="0" anchor="ctr"/>
          <a:lstStyle/>
          <a:p>
            <a:pPr marL="0" indent="0">
              <a:buNone/>
            </a:pPr>
            <a:r>
              <a:rPr lang="en-US" sz="750" b="1" dirty="0">
                <a:solidFill>
                  <a:srgbClr val="0D9488"/>
                </a:solidFill>
              </a:rPr>
              <a:t>DEMAND DRIVER:</a:t>
            </a:r>
            <a:endParaRPr lang="en-US" sz="750" dirty="0"/>
          </a:p>
        </p:txBody>
      </p:sp>
      <p:sp>
        <p:nvSpPr>
          <p:cNvPr id="35" name="Text 33"/>
          <p:cNvSpPr/>
          <p:nvPr/>
        </p:nvSpPr>
        <p:spPr>
          <a:xfrm>
            <a:off x="6263640" y="4186759"/>
            <a:ext cx="2651760" cy="548640"/>
          </a:xfrm>
          <a:prstGeom prst="rect">
            <a:avLst/>
          </a:prstGeom>
          <a:noFill/>
          <a:ln/>
        </p:spPr>
        <p:txBody>
          <a:bodyPr wrap="square" rtlCol="0" anchor="ctr"/>
          <a:lstStyle/>
          <a:p>
            <a:pPr marL="0" indent="0">
              <a:buNone/>
            </a:pPr>
            <a:r>
              <a:rPr lang="en-US" sz="900" dirty="0">
                <a:solidFill>
                  <a:srgbClr val="E2E8F5"/>
                </a:solidFill>
              </a:rPr>
              <a:t>AI buildout is filling colos faster than they can build. Equinix waitlists in major metros. New builds: $1–2B per campus. Power procurement is the gating constraint, not capital.</a:t>
            </a:r>
            <a:endParaRPr lang="en-US" sz="900" dirty="0"/>
          </a:p>
        </p:txBody>
      </p:sp>
    </p:spTree>
    <p:extLst>
      <p:ext uri="{BB962C8B-B14F-4D97-AF65-F5344CB8AC3E}">
        <p14:creationId xmlns:p14="http://schemas.microsoft.com/office/powerpoint/2010/main" val="2402082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320040" y="137160"/>
            <a:ext cx="6400800" cy="457200"/>
          </a:xfrm>
          <a:prstGeom prst="rect">
            <a:avLst/>
          </a:prstGeom>
          <a:noFill/>
          <a:ln/>
        </p:spPr>
        <p:txBody>
          <a:bodyPr wrap="square" lIns="0" tIns="0" rIns="0" bIns="0" rtlCol="0" anchor="ctr"/>
          <a:lstStyle/>
          <a:p>
            <a:pPr marL="0" indent="0">
              <a:buNone/>
            </a:pPr>
            <a:r>
              <a:rPr lang="en-US" sz="2200" b="1" dirty="0">
                <a:solidFill>
                  <a:srgbClr val="FFFFFF"/>
                </a:solidFill>
              </a:rPr>
              <a:t>CLOUD / DATA CENTERS — STOCK PICKS</a:t>
            </a:r>
            <a:endParaRPr lang="en-US" sz="2200" dirty="0"/>
          </a:p>
        </p:txBody>
      </p:sp>
      <p:sp>
        <p:nvSpPr>
          <p:cNvPr id="4" name="Text 2"/>
          <p:cNvSpPr/>
          <p:nvPr/>
        </p:nvSpPr>
        <p:spPr>
          <a:xfrm>
            <a:off x="320040" y="594360"/>
            <a:ext cx="8229600" cy="274320"/>
          </a:xfrm>
          <a:prstGeom prst="rect">
            <a:avLst/>
          </a:prstGeom>
          <a:noFill/>
          <a:ln/>
        </p:spPr>
        <p:txBody>
          <a:bodyPr wrap="square" rtlCol="0" anchor="ctr"/>
          <a:lstStyle/>
          <a:p>
            <a:pPr marL="0" indent="0">
              <a:buNone/>
            </a:pPr>
            <a:r>
              <a:rPr lang="en-US" sz="1100" dirty="0">
                <a:solidFill>
                  <a:srgbClr val="94A3B8"/>
                </a:solidFill>
              </a:rPr>
              <a:t>Investment perspective &amp; analyst targets</a:t>
            </a:r>
            <a:endParaRPr lang="en-US" sz="1100" dirty="0"/>
          </a:p>
        </p:txBody>
      </p:sp>
      <p:sp>
        <p:nvSpPr>
          <p:cNvPr id="5" name="Shape 3"/>
          <p:cNvSpPr/>
          <p:nvPr/>
        </p:nvSpPr>
        <p:spPr>
          <a:xfrm>
            <a:off x="320040" y="96012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6" name="Shape 4"/>
          <p:cNvSpPr/>
          <p:nvPr/>
        </p:nvSpPr>
        <p:spPr>
          <a:xfrm>
            <a:off x="457200" y="1051560"/>
            <a:ext cx="1280160" cy="566928"/>
          </a:xfrm>
          <a:prstGeom prst="roundRect">
            <a:avLst>
              <a:gd name="adj" fmla="val 11290"/>
            </a:avLst>
          </a:prstGeom>
          <a:solidFill>
            <a:srgbClr val="3B82F6">
              <a:alpha val="85000"/>
            </a:srgbClr>
          </a:solidFill>
          <a:ln/>
        </p:spPr>
      </p:sp>
      <p:sp>
        <p:nvSpPr>
          <p:cNvPr id="7" name="Text 5"/>
          <p:cNvSpPr/>
          <p:nvPr/>
        </p:nvSpPr>
        <p:spPr>
          <a:xfrm>
            <a:off x="457200" y="105156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$NBIS</a:t>
            </a:r>
            <a:endParaRPr lang="en-US" sz="1400" dirty="0"/>
          </a:p>
        </p:txBody>
      </p:sp>
      <p:sp>
        <p:nvSpPr>
          <p:cNvPr id="8" name="Text 6"/>
          <p:cNvSpPr/>
          <p:nvPr/>
        </p:nvSpPr>
        <p:spPr>
          <a:xfrm>
            <a:off x="457200" y="136245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Nebius Group</a:t>
            </a:r>
            <a:endParaRPr lang="en-US" sz="750" dirty="0"/>
          </a:p>
        </p:txBody>
      </p:sp>
      <p:sp>
        <p:nvSpPr>
          <p:cNvPr id="9" name="Text 7"/>
          <p:cNvSpPr/>
          <p:nvPr/>
        </p:nvSpPr>
        <p:spPr>
          <a:xfrm>
            <a:off x="1920240" y="1051560"/>
            <a:ext cx="4846320" cy="566928"/>
          </a:xfrm>
          <a:prstGeom prst="rect">
            <a:avLst/>
          </a:prstGeom>
          <a:noFill/>
          <a:ln/>
        </p:spPr>
        <p:txBody>
          <a:bodyPr wrap="square" rtlCol="0" anchor="ctr"/>
          <a:lstStyle/>
          <a:p>
            <a:pPr marL="0" indent="0">
              <a:buNone/>
            </a:pPr>
            <a:r>
              <a:rPr lang="en-US" sz="1100" dirty="0">
                <a:solidFill>
                  <a:srgbClr val="F0F4FF"/>
                </a:solidFill>
              </a:rPr>
              <a:t>European AI cloud; GPU-as-a-service with NVDA exclusivity; undervalued</a:t>
            </a:r>
            <a:endParaRPr lang="en-US" sz="1100" dirty="0"/>
          </a:p>
        </p:txBody>
      </p:sp>
      <p:sp>
        <p:nvSpPr>
          <p:cNvPr id="14" name="Shape 12"/>
          <p:cNvSpPr/>
          <p:nvPr/>
        </p:nvSpPr>
        <p:spPr>
          <a:xfrm>
            <a:off x="8046720" y="1216152"/>
            <a:ext cx="237744" cy="237744"/>
          </a:xfrm>
          <a:prstGeom prst="ellipse">
            <a:avLst/>
          </a:prstGeom>
          <a:solidFill>
            <a:srgbClr val="3B82F6">
              <a:alpha val="30000"/>
            </a:srgbClr>
          </a:solidFill>
          <a:ln/>
        </p:spPr>
      </p:sp>
      <p:sp>
        <p:nvSpPr>
          <p:cNvPr id="15" name="Shape 13"/>
          <p:cNvSpPr/>
          <p:nvPr/>
        </p:nvSpPr>
        <p:spPr>
          <a:xfrm>
            <a:off x="320040" y="178308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6" name="Shape 14"/>
          <p:cNvSpPr/>
          <p:nvPr/>
        </p:nvSpPr>
        <p:spPr>
          <a:xfrm>
            <a:off x="457200" y="1874520"/>
            <a:ext cx="1280160" cy="566928"/>
          </a:xfrm>
          <a:prstGeom prst="roundRect">
            <a:avLst>
              <a:gd name="adj" fmla="val 11290"/>
            </a:avLst>
          </a:prstGeom>
          <a:solidFill>
            <a:srgbClr val="3B82F6">
              <a:alpha val="85000"/>
            </a:srgbClr>
          </a:solidFill>
          <a:ln/>
        </p:spPr>
      </p:sp>
      <p:sp>
        <p:nvSpPr>
          <p:cNvPr id="17" name="Text 15"/>
          <p:cNvSpPr/>
          <p:nvPr/>
        </p:nvSpPr>
        <p:spPr>
          <a:xfrm>
            <a:off x="457200" y="187452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$IREN</a:t>
            </a:r>
            <a:endParaRPr lang="en-US" sz="1400" dirty="0"/>
          </a:p>
        </p:txBody>
      </p:sp>
      <p:sp>
        <p:nvSpPr>
          <p:cNvPr id="18" name="Text 16"/>
          <p:cNvSpPr/>
          <p:nvPr/>
        </p:nvSpPr>
        <p:spPr>
          <a:xfrm>
            <a:off x="457200" y="218541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Iris Energy</a:t>
            </a:r>
            <a:endParaRPr lang="en-US" sz="750" dirty="0"/>
          </a:p>
        </p:txBody>
      </p:sp>
      <p:sp>
        <p:nvSpPr>
          <p:cNvPr id="19" name="Text 17"/>
          <p:cNvSpPr/>
          <p:nvPr/>
        </p:nvSpPr>
        <p:spPr>
          <a:xfrm>
            <a:off x="1920240" y="1874520"/>
            <a:ext cx="4846320" cy="566928"/>
          </a:xfrm>
          <a:prstGeom prst="rect">
            <a:avLst/>
          </a:prstGeom>
          <a:noFill/>
          <a:ln/>
        </p:spPr>
        <p:txBody>
          <a:bodyPr wrap="square" rtlCol="0" anchor="ctr"/>
          <a:lstStyle/>
          <a:p>
            <a:pPr marL="0" indent="0">
              <a:buNone/>
            </a:pPr>
            <a:r>
              <a:rPr lang="en-US" sz="1100" dirty="0">
                <a:solidFill>
                  <a:srgbClr val="F0F4FF"/>
                </a:solidFill>
              </a:rPr>
              <a:t>Bitcoin miner pivoting to AI compute; idle GPU capacity monetization</a:t>
            </a:r>
            <a:endParaRPr lang="en-US" sz="1100" dirty="0"/>
          </a:p>
        </p:txBody>
      </p:sp>
      <p:sp>
        <p:nvSpPr>
          <p:cNvPr id="24" name="Shape 22"/>
          <p:cNvSpPr/>
          <p:nvPr/>
        </p:nvSpPr>
        <p:spPr>
          <a:xfrm>
            <a:off x="8046720" y="2039112"/>
            <a:ext cx="237744" cy="237744"/>
          </a:xfrm>
          <a:prstGeom prst="ellipse">
            <a:avLst/>
          </a:prstGeom>
          <a:solidFill>
            <a:srgbClr val="3B82F6">
              <a:alpha val="30000"/>
            </a:srgbClr>
          </a:solidFill>
          <a:ln/>
        </p:spPr>
      </p:sp>
      <p:sp>
        <p:nvSpPr>
          <p:cNvPr id="25" name="Shape 23"/>
          <p:cNvSpPr/>
          <p:nvPr/>
        </p:nvSpPr>
        <p:spPr>
          <a:xfrm>
            <a:off x="320040" y="260604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26" name="Shape 24"/>
          <p:cNvSpPr/>
          <p:nvPr/>
        </p:nvSpPr>
        <p:spPr>
          <a:xfrm>
            <a:off x="457200" y="2697480"/>
            <a:ext cx="1280160" cy="566928"/>
          </a:xfrm>
          <a:prstGeom prst="roundRect">
            <a:avLst>
              <a:gd name="adj" fmla="val 11290"/>
            </a:avLst>
          </a:prstGeom>
          <a:solidFill>
            <a:srgbClr val="3B82F6">
              <a:alpha val="85000"/>
            </a:srgbClr>
          </a:solidFill>
          <a:ln/>
        </p:spPr>
      </p:sp>
      <p:sp>
        <p:nvSpPr>
          <p:cNvPr id="27" name="Text 25"/>
          <p:cNvSpPr/>
          <p:nvPr/>
        </p:nvSpPr>
        <p:spPr>
          <a:xfrm>
            <a:off x="457200" y="269748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$CRWV</a:t>
            </a:r>
            <a:endParaRPr lang="en-US" sz="1400" dirty="0"/>
          </a:p>
        </p:txBody>
      </p:sp>
      <p:sp>
        <p:nvSpPr>
          <p:cNvPr id="28" name="Text 26"/>
          <p:cNvSpPr/>
          <p:nvPr/>
        </p:nvSpPr>
        <p:spPr>
          <a:xfrm>
            <a:off x="457200" y="300837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CoreWeave</a:t>
            </a:r>
            <a:endParaRPr lang="en-US" sz="750" dirty="0"/>
          </a:p>
        </p:txBody>
      </p:sp>
      <p:sp>
        <p:nvSpPr>
          <p:cNvPr id="29" name="Text 27"/>
          <p:cNvSpPr/>
          <p:nvPr/>
        </p:nvSpPr>
        <p:spPr>
          <a:xfrm>
            <a:off x="1920240" y="2697480"/>
            <a:ext cx="4846320" cy="566928"/>
          </a:xfrm>
          <a:prstGeom prst="rect">
            <a:avLst/>
          </a:prstGeom>
          <a:noFill/>
          <a:ln/>
        </p:spPr>
        <p:txBody>
          <a:bodyPr wrap="square" rtlCol="0" anchor="ctr"/>
          <a:lstStyle/>
          <a:p>
            <a:pPr marL="0" indent="0">
              <a:buNone/>
            </a:pPr>
            <a:r>
              <a:rPr lang="en-US" sz="1100" dirty="0">
                <a:solidFill>
                  <a:srgbClr val="F0F4FF"/>
                </a:solidFill>
              </a:rPr>
              <a:t>NVDA-backed GPU cloud; $4B+ contracted revenue; MSFT anchor customer</a:t>
            </a:r>
            <a:endParaRPr lang="en-US" sz="1100" dirty="0"/>
          </a:p>
        </p:txBody>
      </p:sp>
      <p:sp>
        <p:nvSpPr>
          <p:cNvPr id="34" name="Shape 32"/>
          <p:cNvSpPr/>
          <p:nvPr/>
        </p:nvSpPr>
        <p:spPr>
          <a:xfrm>
            <a:off x="8046720" y="2862072"/>
            <a:ext cx="237744" cy="237744"/>
          </a:xfrm>
          <a:prstGeom prst="ellipse">
            <a:avLst/>
          </a:prstGeom>
          <a:solidFill>
            <a:srgbClr val="3B82F6">
              <a:alpha val="30000"/>
            </a:srgbClr>
          </a:solidFill>
          <a:ln/>
        </p:spPr>
      </p:sp>
      <p:sp>
        <p:nvSpPr>
          <p:cNvPr id="35" name="Shape 33"/>
          <p:cNvSpPr/>
          <p:nvPr/>
        </p:nvSpPr>
        <p:spPr>
          <a:xfrm>
            <a:off x="320040" y="342900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36" name="Shape 34"/>
          <p:cNvSpPr/>
          <p:nvPr/>
        </p:nvSpPr>
        <p:spPr>
          <a:xfrm>
            <a:off x="457200" y="3520440"/>
            <a:ext cx="1280160" cy="566928"/>
          </a:xfrm>
          <a:prstGeom prst="roundRect">
            <a:avLst>
              <a:gd name="adj" fmla="val 11290"/>
            </a:avLst>
          </a:prstGeom>
          <a:solidFill>
            <a:srgbClr val="3B82F6">
              <a:alpha val="85000"/>
            </a:srgbClr>
          </a:solidFill>
          <a:ln/>
        </p:spPr>
      </p:sp>
      <p:sp>
        <p:nvSpPr>
          <p:cNvPr id="37" name="Text 35"/>
          <p:cNvSpPr/>
          <p:nvPr/>
        </p:nvSpPr>
        <p:spPr>
          <a:xfrm>
            <a:off x="457200" y="352044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$APLD</a:t>
            </a:r>
            <a:endParaRPr lang="en-US" sz="1400" dirty="0"/>
          </a:p>
        </p:txBody>
      </p:sp>
      <p:sp>
        <p:nvSpPr>
          <p:cNvPr id="38" name="Text 36"/>
          <p:cNvSpPr/>
          <p:nvPr/>
        </p:nvSpPr>
        <p:spPr>
          <a:xfrm>
            <a:off x="457200" y="383133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Applied Digital</a:t>
            </a:r>
            <a:endParaRPr lang="en-US" sz="750" dirty="0"/>
          </a:p>
        </p:txBody>
      </p:sp>
      <p:sp>
        <p:nvSpPr>
          <p:cNvPr id="39" name="Text 37"/>
          <p:cNvSpPr/>
          <p:nvPr/>
        </p:nvSpPr>
        <p:spPr>
          <a:xfrm>
            <a:off x="1920240" y="3520440"/>
            <a:ext cx="4846320" cy="566928"/>
          </a:xfrm>
          <a:prstGeom prst="rect">
            <a:avLst/>
          </a:prstGeom>
          <a:noFill/>
          <a:ln/>
        </p:spPr>
        <p:txBody>
          <a:bodyPr wrap="square" rtlCol="0" anchor="ctr"/>
          <a:lstStyle/>
          <a:p>
            <a:pPr marL="0" indent="0">
              <a:buNone/>
            </a:pPr>
            <a:r>
              <a:rPr lang="en-US" sz="1100" dirty="0">
                <a:solidFill>
                  <a:srgbClr val="F0F4FF"/>
                </a:solidFill>
              </a:rPr>
              <a:t>Next-gen data centers for HPC/AI; low-cost power locations</a:t>
            </a:r>
            <a:endParaRPr lang="en-US" sz="1100" dirty="0"/>
          </a:p>
        </p:txBody>
      </p:sp>
      <p:sp>
        <p:nvSpPr>
          <p:cNvPr id="44" name="Shape 42"/>
          <p:cNvSpPr/>
          <p:nvPr/>
        </p:nvSpPr>
        <p:spPr>
          <a:xfrm>
            <a:off x="8046720" y="3685032"/>
            <a:ext cx="237744" cy="237744"/>
          </a:xfrm>
          <a:prstGeom prst="ellipse">
            <a:avLst/>
          </a:prstGeom>
          <a:solidFill>
            <a:srgbClr val="3B82F6">
              <a:alpha val="30000"/>
            </a:srgbClr>
          </a:solidFill>
          <a:ln/>
        </p:spPr>
      </p:sp>
      <p:sp>
        <p:nvSpPr>
          <p:cNvPr id="45" name="Shape 43"/>
          <p:cNvSpPr/>
          <p:nvPr/>
        </p:nvSpPr>
        <p:spPr>
          <a:xfrm>
            <a:off x="320040" y="425196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46" name="Shape 44"/>
          <p:cNvSpPr/>
          <p:nvPr/>
        </p:nvSpPr>
        <p:spPr>
          <a:xfrm>
            <a:off x="457200" y="4343400"/>
            <a:ext cx="1280160" cy="566928"/>
          </a:xfrm>
          <a:prstGeom prst="roundRect">
            <a:avLst>
              <a:gd name="adj" fmla="val 11290"/>
            </a:avLst>
          </a:prstGeom>
          <a:solidFill>
            <a:srgbClr val="3B82F6">
              <a:alpha val="85000"/>
            </a:srgbClr>
          </a:solidFill>
          <a:ln/>
        </p:spPr>
      </p:sp>
      <p:sp>
        <p:nvSpPr>
          <p:cNvPr id="47" name="Text 45"/>
          <p:cNvSpPr/>
          <p:nvPr/>
        </p:nvSpPr>
        <p:spPr>
          <a:xfrm>
            <a:off x="457200" y="434340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$CIFR</a:t>
            </a:r>
            <a:endParaRPr lang="en-US" sz="1400" dirty="0"/>
          </a:p>
        </p:txBody>
      </p:sp>
      <p:sp>
        <p:nvSpPr>
          <p:cNvPr id="48" name="Text 46"/>
          <p:cNvSpPr/>
          <p:nvPr/>
        </p:nvSpPr>
        <p:spPr>
          <a:xfrm>
            <a:off x="457200" y="465429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Cipher Mining</a:t>
            </a:r>
            <a:endParaRPr lang="en-US" sz="750" dirty="0"/>
          </a:p>
        </p:txBody>
      </p:sp>
      <p:sp>
        <p:nvSpPr>
          <p:cNvPr id="49" name="Text 47"/>
          <p:cNvSpPr/>
          <p:nvPr/>
        </p:nvSpPr>
        <p:spPr>
          <a:xfrm>
            <a:off x="1920240" y="4343400"/>
            <a:ext cx="4846320" cy="566928"/>
          </a:xfrm>
          <a:prstGeom prst="rect">
            <a:avLst/>
          </a:prstGeom>
          <a:noFill/>
          <a:ln/>
        </p:spPr>
        <p:txBody>
          <a:bodyPr wrap="square" rtlCol="0" anchor="ctr"/>
          <a:lstStyle/>
          <a:p>
            <a:pPr marL="0" indent="0">
              <a:buNone/>
            </a:pPr>
            <a:r>
              <a:rPr lang="en-US" sz="1100" dirty="0">
                <a:solidFill>
                  <a:srgbClr val="F0F4FF"/>
                </a:solidFill>
              </a:rPr>
              <a:t>AI infrastructure pivot; Texas power assets; optionality play</a:t>
            </a:r>
            <a:endParaRPr lang="en-US" sz="1100" dirty="0"/>
          </a:p>
        </p:txBody>
      </p:sp>
      <p:sp>
        <p:nvSpPr>
          <p:cNvPr id="54" name="Shape 52"/>
          <p:cNvSpPr/>
          <p:nvPr/>
        </p:nvSpPr>
        <p:spPr>
          <a:xfrm>
            <a:off x="8046720" y="4507992"/>
            <a:ext cx="237744" cy="237744"/>
          </a:xfrm>
          <a:prstGeom prst="ellipse">
            <a:avLst/>
          </a:prstGeom>
          <a:solidFill>
            <a:srgbClr val="3B82F6">
              <a:alpha val="30000"/>
            </a:srgbClr>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651510"/>
          </a:xfrm>
          <a:prstGeom prst="rect">
            <a:avLst/>
          </a:prstGeom>
          <a:solidFill>
            <a:srgbClr val="101828"/>
          </a:solidFill>
          <a:ln/>
        </p:spPr>
      </p:sp>
      <p:sp>
        <p:nvSpPr>
          <p:cNvPr id="3" name="Text 1"/>
          <p:cNvSpPr/>
          <p:nvPr/>
        </p:nvSpPr>
        <p:spPr>
          <a:xfrm>
            <a:off x="240030" y="54864"/>
            <a:ext cx="6172200" cy="514350"/>
          </a:xfrm>
          <a:prstGeom prst="rect">
            <a:avLst/>
          </a:prstGeom>
          <a:noFill/>
          <a:ln/>
        </p:spPr>
        <p:txBody>
          <a:bodyPr wrap="square" lIns="0" tIns="0" rIns="0" bIns="0" rtlCol="0" anchor="ctr"/>
          <a:lstStyle/>
          <a:p>
            <a:r>
              <a:rPr lang="en-US" sz="1650" b="1" dirty="0">
                <a:solidFill>
                  <a:srgbClr val="34D399"/>
                </a:solidFill>
                <a:latin typeface="Calibri" pitchFamily="34" charset="0"/>
                <a:ea typeface="Calibri" pitchFamily="34" charset="-122"/>
                <a:cs typeface="Calibri" pitchFamily="34" charset="-120"/>
              </a:rPr>
              <a:t>CLOUD / DATA CENTERS</a:t>
            </a:r>
            <a:endParaRPr lang="en-US" sz="1650" dirty="0"/>
          </a:p>
        </p:txBody>
      </p:sp>
      <p:sp>
        <p:nvSpPr>
          <p:cNvPr id="4" name="Text 2"/>
          <p:cNvSpPr/>
          <p:nvPr/>
        </p:nvSpPr>
        <p:spPr>
          <a:xfrm>
            <a:off x="240030" y="377190"/>
            <a:ext cx="8229600" cy="260604"/>
          </a:xfrm>
          <a:prstGeom prst="rect">
            <a:avLst/>
          </a:prstGeom>
          <a:noFill/>
          <a:ln/>
        </p:spPr>
        <p:txBody>
          <a:bodyPr wrap="square" lIns="0" tIns="0" rIns="0" bIns="0" rtlCol="0" anchor="ctr"/>
          <a:lstStyle/>
          <a:p>
            <a:r>
              <a:rPr lang="en-US" sz="825" dirty="0">
                <a:solidFill>
                  <a:srgbClr val="94A3B8"/>
                </a:solidFill>
                <a:latin typeface="Calibri" pitchFamily="34" charset="0"/>
                <a:ea typeface="Calibri" pitchFamily="34" charset="-122"/>
                <a:cs typeface="Calibri" pitchFamily="34" charset="-120"/>
              </a:rPr>
              <a:t>NBIS · IREN · CRWV · APLD · CIFR  |  The New Infrastructure Landlords</a:t>
            </a:r>
            <a:endParaRPr lang="en-US" sz="825" dirty="0"/>
          </a:p>
        </p:txBody>
      </p:sp>
      <p:sp>
        <p:nvSpPr>
          <p:cNvPr id="7" name="Text 5"/>
          <p:cNvSpPr/>
          <p:nvPr/>
        </p:nvSpPr>
        <p:spPr>
          <a:xfrm>
            <a:off x="240030" y="740664"/>
            <a:ext cx="8641080" cy="288036"/>
          </a:xfrm>
          <a:prstGeom prst="rect">
            <a:avLst/>
          </a:prstGeom>
          <a:noFill/>
          <a:ln/>
        </p:spPr>
        <p:txBody>
          <a:bodyPr wrap="square" lIns="0" tIns="0" rIns="0" bIns="0" rtlCol="0" anchor="ctr"/>
          <a:lstStyle/>
          <a:p>
            <a:r>
              <a:rPr lang="en-US" sz="750" dirty="0">
                <a:solidFill>
                  <a:srgbClr val="94A3B8"/>
                </a:solidFill>
                <a:latin typeface="Calibri" pitchFamily="34" charset="0"/>
                <a:ea typeface="Calibri" pitchFamily="34" charset="-122"/>
                <a:cs typeface="Calibri" pitchFamily="34" charset="-120"/>
              </a:rPr>
              <a:t>The 'neocloud' era: GPU cloud providers fill the gap between hyperscaler capex commitments and actual physical infrastructure delivery. New data centers take 3–5 years to build; these operators deliver GPU capacity in months. The bottleneck is not chips — it's power permits and construction.</a:t>
            </a:r>
            <a:endParaRPr lang="en-US" sz="750" dirty="0"/>
          </a:p>
        </p:txBody>
      </p:sp>
      <p:sp>
        <p:nvSpPr>
          <p:cNvPr id="8" name="Shape 6"/>
          <p:cNvSpPr/>
          <p:nvPr/>
        </p:nvSpPr>
        <p:spPr>
          <a:xfrm>
            <a:off x="114902" y="1124712"/>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9" name="Shape 7"/>
          <p:cNvSpPr/>
          <p:nvPr/>
        </p:nvSpPr>
        <p:spPr>
          <a:xfrm>
            <a:off x="197198" y="1193292"/>
            <a:ext cx="260604" cy="260604"/>
          </a:xfrm>
          <a:prstGeom prst="ellipse">
            <a:avLst/>
          </a:prstGeom>
          <a:solidFill>
            <a:srgbClr val="F5C842"/>
          </a:solidFill>
          <a:ln/>
        </p:spPr>
      </p:sp>
      <p:sp>
        <p:nvSpPr>
          <p:cNvPr id="10" name="Text 8"/>
          <p:cNvSpPr/>
          <p:nvPr/>
        </p:nvSpPr>
        <p:spPr>
          <a:xfrm>
            <a:off x="197198" y="1193292"/>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#1</a:t>
            </a:r>
            <a:endParaRPr lang="en-US" sz="825" dirty="0"/>
          </a:p>
        </p:txBody>
      </p:sp>
      <p:sp>
        <p:nvSpPr>
          <p:cNvPr id="11" name="Text 9"/>
          <p:cNvSpPr/>
          <p:nvPr/>
        </p:nvSpPr>
        <p:spPr>
          <a:xfrm>
            <a:off x="526382" y="1179576"/>
            <a:ext cx="1097280" cy="240030"/>
          </a:xfrm>
          <a:prstGeom prst="rect">
            <a:avLst/>
          </a:prstGeom>
          <a:noFill/>
          <a:ln/>
        </p:spPr>
        <p:txBody>
          <a:bodyPr wrap="square" lIns="0" tIns="0" rIns="0" bIns="0" rtlCol="0" anchor="ctr"/>
          <a:lstStyle/>
          <a:p>
            <a:r>
              <a:rPr lang="en-US" sz="1200" b="1" dirty="0">
                <a:solidFill>
                  <a:srgbClr val="34D399"/>
                </a:solidFill>
                <a:latin typeface="Cambria" pitchFamily="34" charset="0"/>
                <a:ea typeface="Cambria" pitchFamily="34" charset="-122"/>
                <a:cs typeface="Cambria" pitchFamily="34" charset="-120"/>
              </a:rPr>
              <a:t>CRWV</a:t>
            </a:r>
            <a:endParaRPr lang="en-US" sz="1200" dirty="0"/>
          </a:p>
        </p:txBody>
      </p:sp>
      <p:sp>
        <p:nvSpPr>
          <p:cNvPr id="12" name="Text 10"/>
          <p:cNvSpPr/>
          <p:nvPr/>
        </p:nvSpPr>
        <p:spPr>
          <a:xfrm>
            <a:off x="526382" y="1412748"/>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CoreWeave</a:t>
            </a:r>
            <a:endParaRPr lang="en-US" sz="638" dirty="0"/>
          </a:p>
        </p:txBody>
      </p:sp>
      <p:sp>
        <p:nvSpPr>
          <p:cNvPr id="13" name="Text 11"/>
          <p:cNvSpPr/>
          <p:nvPr/>
        </p:nvSpPr>
        <p:spPr>
          <a:xfrm>
            <a:off x="217772" y="1625346"/>
            <a:ext cx="411480" cy="150876"/>
          </a:xfrm>
          <a:prstGeom prst="rect">
            <a:avLst/>
          </a:prstGeom>
          <a:noFill/>
          <a:ln/>
        </p:spPr>
        <p:txBody>
          <a:bodyPr wrap="square" lIns="0" tIns="0" rIns="0" bIns="0" rtlCol="0" anchor="ctr"/>
          <a:lstStyle/>
          <a:p>
            <a:r>
              <a:rPr lang="en-US" sz="600" b="1" dirty="0">
                <a:solidFill>
                  <a:srgbClr val="34D399"/>
                </a:solidFill>
                <a:latin typeface="Calibri" pitchFamily="34" charset="0"/>
                <a:ea typeface="Calibri" pitchFamily="34" charset="-122"/>
                <a:cs typeface="Calibri" pitchFamily="34" charset="-120"/>
              </a:rPr>
              <a:t>Moat: </a:t>
            </a:r>
            <a:endParaRPr lang="en-US" sz="600" dirty="0"/>
          </a:p>
        </p:txBody>
      </p:sp>
      <p:sp>
        <p:nvSpPr>
          <p:cNvPr id="14" name="Text 12"/>
          <p:cNvSpPr/>
          <p:nvPr/>
        </p:nvSpPr>
        <p:spPr>
          <a:xfrm>
            <a:off x="608678" y="1625346"/>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Largest pure-play GPU cloud at scale. $55B+ contracted backlog. 250,000+ GPUs. $22.4B OpenAI commitment + $14.2B Meta contract. 32 data centers. NVIDIA invested $2B at $87.20/share.</a:t>
            </a:r>
            <a:endParaRPr lang="en-US" sz="600" dirty="0"/>
          </a:p>
        </p:txBody>
      </p:sp>
      <p:sp>
        <p:nvSpPr>
          <p:cNvPr id="15" name="Text 13"/>
          <p:cNvSpPr/>
          <p:nvPr/>
        </p:nvSpPr>
        <p:spPr>
          <a:xfrm>
            <a:off x="217772" y="1995678"/>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16" name="Text 14"/>
          <p:cNvSpPr/>
          <p:nvPr/>
        </p:nvSpPr>
        <p:spPr>
          <a:xfrm>
            <a:off x="732122" y="1995678"/>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2025 revenue guided $5.0–5.15B; 2026 projected $12B. Capacity sold out through 2026. IPO March 2025. Priority NVIDIA GPU allocation. Hyperscalers lease from CRWV rather than build.</a:t>
            </a:r>
            <a:endParaRPr lang="en-US" sz="600" dirty="0"/>
          </a:p>
        </p:txBody>
      </p:sp>
      <p:sp>
        <p:nvSpPr>
          <p:cNvPr id="17" name="Text 15"/>
          <p:cNvSpPr/>
          <p:nvPr/>
        </p:nvSpPr>
        <p:spPr>
          <a:xfrm>
            <a:off x="217772" y="2331720"/>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18" name="Text 16"/>
          <p:cNvSpPr/>
          <p:nvPr/>
        </p:nvSpPr>
        <p:spPr>
          <a:xfrm>
            <a:off x="574388" y="2331720"/>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4.8x debt-to-equity. $34B off-balance sheet leases. OpenAI + Microsoft = 70%+ revenue concentration. GPU rental rates down 60–75% from peak. Interest expense tripling YoY.</a:t>
            </a:r>
            <a:endParaRPr lang="en-US" sz="600" dirty="0"/>
          </a:p>
        </p:txBody>
      </p:sp>
      <p:sp>
        <p:nvSpPr>
          <p:cNvPr id="19" name="Text 17"/>
          <p:cNvSpPr/>
          <p:nvPr/>
        </p:nvSpPr>
        <p:spPr>
          <a:xfrm>
            <a:off x="197198" y="2619756"/>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DOMINANT NEOCLOUD. CoreWeave is the template. The backlog is real, the customers are credible, but the leverage is extreme. High conviction, high risk.</a:t>
            </a:r>
            <a:endParaRPr lang="en-US" sz="563" dirty="0"/>
          </a:p>
        </p:txBody>
      </p:sp>
      <p:sp>
        <p:nvSpPr>
          <p:cNvPr id="20" name="Shape 18"/>
          <p:cNvSpPr/>
          <p:nvPr/>
        </p:nvSpPr>
        <p:spPr>
          <a:xfrm>
            <a:off x="3131220" y="1124712"/>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21" name="Shape 19"/>
          <p:cNvSpPr/>
          <p:nvPr/>
        </p:nvSpPr>
        <p:spPr>
          <a:xfrm>
            <a:off x="3213516" y="1193292"/>
            <a:ext cx="260604" cy="260604"/>
          </a:xfrm>
          <a:prstGeom prst="ellipse">
            <a:avLst/>
          </a:prstGeom>
          <a:solidFill>
            <a:srgbClr val="4F9CF9"/>
          </a:solidFill>
          <a:ln/>
        </p:spPr>
      </p:sp>
      <p:sp>
        <p:nvSpPr>
          <p:cNvPr id="22" name="Text 20"/>
          <p:cNvSpPr/>
          <p:nvPr/>
        </p:nvSpPr>
        <p:spPr>
          <a:xfrm>
            <a:off x="3213516" y="1193292"/>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#2</a:t>
            </a:r>
            <a:endParaRPr lang="en-US" sz="825" dirty="0"/>
          </a:p>
        </p:txBody>
      </p:sp>
      <p:sp>
        <p:nvSpPr>
          <p:cNvPr id="23" name="Text 21"/>
          <p:cNvSpPr/>
          <p:nvPr/>
        </p:nvSpPr>
        <p:spPr>
          <a:xfrm>
            <a:off x="3542700" y="1179576"/>
            <a:ext cx="1097280" cy="240030"/>
          </a:xfrm>
          <a:prstGeom prst="rect">
            <a:avLst/>
          </a:prstGeom>
          <a:noFill/>
          <a:ln/>
        </p:spPr>
        <p:txBody>
          <a:bodyPr wrap="square" lIns="0" tIns="0" rIns="0" bIns="0" rtlCol="0" anchor="ctr"/>
          <a:lstStyle/>
          <a:p>
            <a:r>
              <a:rPr lang="en-US" sz="1200" b="1" dirty="0">
                <a:solidFill>
                  <a:srgbClr val="34D399"/>
                </a:solidFill>
                <a:latin typeface="Cambria" pitchFamily="34" charset="0"/>
                <a:ea typeface="Cambria" pitchFamily="34" charset="-122"/>
                <a:cs typeface="Cambria" pitchFamily="34" charset="-120"/>
              </a:rPr>
              <a:t>NBIS</a:t>
            </a:r>
            <a:endParaRPr lang="en-US" sz="1200" dirty="0"/>
          </a:p>
        </p:txBody>
      </p:sp>
      <p:sp>
        <p:nvSpPr>
          <p:cNvPr id="24" name="Text 22"/>
          <p:cNvSpPr/>
          <p:nvPr/>
        </p:nvSpPr>
        <p:spPr>
          <a:xfrm>
            <a:off x="3542700" y="1412748"/>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Nebius Group</a:t>
            </a:r>
            <a:endParaRPr lang="en-US" sz="638" dirty="0"/>
          </a:p>
        </p:txBody>
      </p:sp>
      <p:sp>
        <p:nvSpPr>
          <p:cNvPr id="25" name="Text 23"/>
          <p:cNvSpPr/>
          <p:nvPr/>
        </p:nvSpPr>
        <p:spPr>
          <a:xfrm>
            <a:off x="3234090" y="1625346"/>
            <a:ext cx="411480" cy="150876"/>
          </a:xfrm>
          <a:prstGeom prst="rect">
            <a:avLst/>
          </a:prstGeom>
          <a:noFill/>
          <a:ln/>
        </p:spPr>
        <p:txBody>
          <a:bodyPr wrap="square" lIns="0" tIns="0" rIns="0" bIns="0" rtlCol="0" anchor="ctr"/>
          <a:lstStyle/>
          <a:p>
            <a:r>
              <a:rPr lang="en-US" sz="600" b="1" dirty="0">
                <a:solidFill>
                  <a:srgbClr val="34D399"/>
                </a:solidFill>
                <a:latin typeface="Calibri" pitchFamily="34" charset="0"/>
                <a:ea typeface="Calibri" pitchFamily="34" charset="-122"/>
                <a:cs typeface="Calibri" pitchFamily="34" charset="-120"/>
              </a:rPr>
              <a:t>Moat: </a:t>
            </a:r>
            <a:endParaRPr lang="en-US" sz="600" dirty="0"/>
          </a:p>
        </p:txBody>
      </p:sp>
      <p:sp>
        <p:nvSpPr>
          <p:cNvPr id="26" name="Text 24"/>
          <p:cNvSpPr/>
          <p:nvPr/>
        </p:nvSpPr>
        <p:spPr>
          <a:xfrm>
            <a:off x="3624996" y="1625346"/>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Born from Yandex's tech DNA. Software-first GPU cloud with superior utilization rates and pricing power. Meta + Microsoft as anchor customers (80% of revenue). NVIDIA invested $100M+ for credibility.</a:t>
            </a:r>
            <a:endParaRPr lang="en-US" sz="600" dirty="0"/>
          </a:p>
        </p:txBody>
      </p:sp>
      <p:sp>
        <p:nvSpPr>
          <p:cNvPr id="27" name="Text 25"/>
          <p:cNvSpPr/>
          <p:nvPr/>
        </p:nvSpPr>
        <p:spPr>
          <a:xfrm>
            <a:off x="3234090" y="1995678"/>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28" name="Text 26"/>
          <p:cNvSpPr/>
          <p:nvPr/>
        </p:nvSpPr>
        <p:spPr>
          <a:xfrm>
            <a:off x="3748440" y="1995678"/>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Healthiest balance sheet of neoclouds: $1.8B cash, 0.3x debt-to-equity. Software efficiency layer = higher margins than pure-colocation peers. Unique tech DNA from ex-Yandex engineers.</a:t>
            </a:r>
            <a:endParaRPr lang="en-US" sz="600" dirty="0"/>
          </a:p>
        </p:txBody>
      </p:sp>
      <p:sp>
        <p:nvSpPr>
          <p:cNvPr id="29" name="Text 27"/>
          <p:cNvSpPr/>
          <p:nvPr/>
        </p:nvSpPr>
        <p:spPr>
          <a:xfrm>
            <a:off x="3234090" y="2331720"/>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30" name="Text 28"/>
          <p:cNvSpPr/>
          <p:nvPr/>
        </p:nvSpPr>
        <p:spPr>
          <a:xfrm>
            <a:off x="3590706" y="2331720"/>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Smaller scale than CRWV. Customer concentration (Meta/Microsoft = 80%). Less brand recognition. Russia/Yandex heritage creates some institutional investor hesitation.</a:t>
            </a:r>
            <a:endParaRPr lang="en-US" sz="600" dirty="0"/>
          </a:p>
        </p:txBody>
      </p:sp>
      <p:sp>
        <p:nvSpPr>
          <p:cNvPr id="31" name="Text 29"/>
          <p:cNvSpPr/>
          <p:nvPr/>
        </p:nvSpPr>
        <p:spPr>
          <a:xfrm>
            <a:off x="3213516" y="2619756"/>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BEST RISK/REWARD IN NEOCLOUD. Lower leverage, software moat, NVIDIA validation. The underappreciated alternative to CoreWeave.</a:t>
            </a:r>
            <a:endParaRPr lang="en-US" sz="563" dirty="0"/>
          </a:p>
        </p:txBody>
      </p:sp>
      <p:sp>
        <p:nvSpPr>
          <p:cNvPr id="32" name="Shape 30"/>
          <p:cNvSpPr/>
          <p:nvPr/>
        </p:nvSpPr>
        <p:spPr>
          <a:xfrm>
            <a:off x="6148740" y="1124712"/>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33" name="Shape 31"/>
          <p:cNvSpPr/>
          <p:nvPr/>
        </p:nvSpPr>
        <p:spPr>
          <a:xfrm>
            <a:off x="6231036" y="1193292"/>
            <a:ext cx="260604" cy="260604"/>
          </a:xfrm>
          <a:prstGeom prst="ellipse">
            <a:avLst/>
          </a:prstGeom>
          <a:solidFill>
            <a:srgbClr val="7B5CF5"/>
          </a:solidFill>
          <a:ln/>
        </p:spPr>
      </p:sp>
      <p:sp>
        <p:nvSpPr>
          <p:cNvPr id="34" name="Text 32"/>
          <p:cNvSpPr/>
          <p:nvPr/>
        </p:nvSpPr>
        <p:spPr>
          <a:xfrm>
            <a:off x="6231036" y="1193292"/>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#3</a:t>
            </a:r>
            <a:endParaRPr lang="en-US" sz="825" dirty="0"/>
          </a:p>
        </p:txBody>
      </p:sp>
      <p:sp>
        <p:nvSpPr>
          <p:cNvPr id="35" name="Text 33"/>
          <p:cNvSpPr/>
          <p:nvPr/>
        </p:nvSpPr>
        <p:spPr>
          <a:xfrm>
            <a:off x="6560220" y="1179576"/>
            <a:ext cx="1097280" cy="240030"/>
          </a:xfrm>
          <a:prstGeom prst="rect">
            <a:avLst/>
          </a:prstGeom>
          <a:noFill/>
          <a:ln/>
        </p:spPr>
        <p:txBody>
          <a:bodyPr wrap="square" lIns="0" tIns="0" rIns="0" bIns="0" rtlCol="0" anchor="ctr"/>
          <a:lstStyle/>
          <a:p>
            <a:r>
              <a:rPr lang="en-US" sz="1200" b="1" dirty="0">
                <a:solidFill>
                  <a:srgbClr val="34D399"/>
                </a:solidFill>
                <a:latin typeface="Cambria" pitchFamily="34" charset="0"/>
                <a:ea typeface="Cambria" pitchFamily="34" charset="-122"/>
                <a:cs typeface="Cambria" pitchFamily="34" charset="-120"/>
              </a:rPr>
              <a:t>IREN</a:t>
            </a:r>
            <a:endParaRPr lang="en-US" sz="1200" dirty="0"/>
          </a:p>
        </p:txBody>
      </p:sp>
      <p:sp>
        <p:nvSpPr>
          <p:cNvPr id="36" name="Text 34"/>
          <p:cNvSpPr/>
          <p:nvPr/>
        </p:nvSpPr>
        <p:spPr>
          <a:xfrm>
            <a:off x="6560220" y="1412748"/>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Iris Energy</a:t>
            </a:r>
            <a:endParaRPr lang="en-US" sz="638" dirty="0"/>
          </a:p>
        </p:txBody>
      </p:sp>
      <p:sp>
        <p:nvSpPr>
          <p:cNvPr id="37" name="Text 35"/>
          <p:cNvSpPr/>
          <p:nvPr/>
        </p:nvSpPr>
        <p:spPr>
          <a:xfrm>
            <a:off x="6251610" y="1625346"/>
            <a:ext cx="411480" cy="150876"/>
          </a:xfrm>
          <a:prstGeom prst="rect">
            <a:avLst/>
          </a:prstGeom>
          <a:noFill/>
          <a:ln/>
        </p:spPr>
        <p:txBody>
          <a:bodyPr wrap="square" lIns="0" tIns="0" rIns="0" bIns="0" rtlCol="0" anchor="ctr"/>
          <a:lstStyle/>
          <a:p>
            <a:r>
              <a:rPr lang="en-US" sz="600" b="1" dirty="0">
                <a:solidFill>
                  <a:srgbClr val="34D399"/>
                </a:solidFill>
                <a:latin typeface="Calibri" pitchFamily="34" charset="0"/>
                <a:ea typeface="Calibri" pitchFamily="34" charset="-122"/>
                <a:cs typeface="Calibri" pitchFamily="34" charset="-120"/>
              </a:rPr>
              <a:t>Moat: </a:t>
            </a:r>
            <a:endParaRPr lang="en-US" sz="600" dirty="0"/>
          </a:p>
        </p:txBody>
      </p:sp>
      <p:sp>
        <p:nvSpPr>
          <p:cNvPr id="38" name="Text 36"/>
          <p:cNvSpPr/>
          <p:nvPr/>
        </p:nvSpPr>
        <p:spPr>
          <a:xfrm>
            <a:off x="6642516" y="1625346"/>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Bitcoin mining origins provide owned power infrastructure. AI pivot: targeting 140,000 GPUs by end-2026. Microsoft as primary AI tenant (55% of projected 2026 AI revenue). Own physical data centers = lower long-run costs.</a:t>
            </a:r>
            <a:endParaRPr lang="en-US" sz="600" dirty="0"/>
          </a:p>
        </p:txBody>
      </p:sp>
      <p:sp>
        <p:nvSpPr>
          <p:cNvPr id="39" name="Text 37"/>
          <p:cNvSpPr/>
          <p:nvPr/>
        </p:nvSpPr>
        <p:spPr>
          <a:xfrm>
            <a:off x="6251610" y="1995678"/>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40" name="Text 38"/>
          <p:cNvSpPr/>
          <p:nvPr/>
        </p:nvSpPr>
        <p:spPr>
          <a:xfrm>
            <a:off x="6765960" y="1995678"/>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Self-owned power assets = structural cost advantage over rent-heavy peers. Microsoft validation. Canadian hydroelectric power (cheap + clean). GPU fleet scaling rapidly.</a:t>
            </a:r>
            <a:endParaRPr lang="en-US" sz="600" dirty="0"/>
          </a:p>
        </p:txBody>
      </p:sp>
      <p:sp>
        <p:nvSpPr>
          <p:cNvPr id="41" name="Text 39"/>
          <p:cNvSpPr/>
          <p:nvPr/>
        </p:nvSpPr>
        <p:spPr>
          <a:xfrm>
            <a:off x="6251610" y="2331720"/>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42" name="Text 40"/>
          <p:cNvSpPr/>
          <p:nvPr/>
        </p:nvSpPr>
        <p:spPr>
          <a:xfrm>
            <a:off x="6608226" y="2331720"/>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Still heavily Bitcoin-exposed (execution distraction). 140K GPU target is ambitious — delays would be a negative catalyst. Customer concentration (Microsoft).</a:t>
            </a:r>
            <a:endParaRPr lang="en-US" sz="600" dirty="0"/>
          </a:p>
        </p:txBody>
      </p:sp>
      <p:sp>
        <p:nvSpPr>
          <p:cNvPr id="43" name="Text 41"/>
          <p:cNvSpPr/>
          <p:nvPr/>
        </p:nvSpPr>
        <p:spPr>
          <a:xfrm>
            <a:off x="6231036" y="2619756"/>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ASSET-HEAVY UPSIDE. IREN's owned power infrastructure is a long-term competitive advantage. Microsoft backing is the key validation. Higher risk but differentiated model.</a:t>
            </a:r>
            <a:endParaRPr lang="en-US" sz="563" dirty="0"/>
          </a:p>
        </p:txBody>
      </p:sp>
      <p:sp>
        <p:nvSpPr>
          <p:cNvPr id="44" name="Shape 42"/>
          <p:cNvSpPr/>
          <p:nvPr/>
        </p:nvSpPr>
        <p:spPr>
          <a:xfrm>
            <a:off x="114902" y="3010662"/>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45" name="Shape 43"/>
          <p:cNvSpPr/>
          <p:nvPr/>
        </p:nvSpPr>
        <p:spPr>
          <a:xfrm>
            <a:off x="197198" y="3079242"/>
            <a:ext cx="260604" cy="260604"/>
          </a:xfrm>
          <a:prstGeom prst="ellipse">
            <a:avLst/>
          </a:prstGeom>
          <a:solidFill>
            <a:srgbClr val="F97316"/>
          </a:solidFill>
          <a:ln/>
        </p:spPr>
      </p:sp>
      <p:sp>
        <p:nvSpPr>
          <p:cNvPr id="46" name="Text 44"/>
          <p:cNvSpPr/>
          <p:nvPr/>
        </p:nvSpPr>
        <p:spPr>
          <a:xfrm>
            <a:off x="197198" y="3079242"/>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#4</a:t>
            </a:r>
            <a:endParaRPr lang="en-US" sz="825" dirty="0"/>
          </a:p>
        </p:txBody>
      </p:sp>
      <p:sp>
        <p:nvSpPr>
          <p:cNvPr id="47" name="Text 45"/>
          <p:cNvSpPr/>
          <p:nvPr/>
        </p:nvSpPr>
        <p:spPr>
          <a:xfrm>
            <a:off x="526382" y="3065526"/>
            <a:ext cx="1097280" cy="240030"/>
          </a:xfrm>
          <a:prstGeom prst="rect">
            <a:avLst/>
          </a:prstGeom>
          <a:noFill/>
          <a:ln/>
        </p:spPr>
        <p:txBody>
          <a:bodyPr wrap="square" lIns="0" tIns="0" rIns="0" bIns="0" rtlCol="0" anchor="ctr"/>
          <a:lstStyle/>
          <a:p>
            <a:r>
              <a:rPr lang="en-US" sz="1200" b="1" dirty="0">
                <a:solidFill>
                  <a:srgbClr val="34D399"/>
                </a:solidFill>
                <a:latin typeface="Cambria" pitchFamily="34" charset="0"/>
                <a:ea typeface="Cambria" pitchFamily="34" charset="-122"/>
                <a:cs typeface="Cambria" pitchFamily="34" charset="-120"/>
              </a:rPr>
              <a:t>APLD</a:t>
            </a:r>
            <a:endParaRPr lang="en-US" sz="1200" dirty="0"/>
          </a:p>
        </p:txBody>
      </p:sp>
      <p:sp>
        <p:nvSpPr>
          <p:cNvPr id="48" name="Text 46"/>
          <p:cNvSpPr/>
          <p:nvPr/>
        </p:nvSpPr>
        <p:spPr>
          <a:xfrm>
            <a:off x="526382" y="3298698"/>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Applied Digital</a:t>
            </a:r>
            <a:endParaRPr lang="en-US" sz="638" dirty="0"/>
          </a:p>
        </p:txBody>
      </p:sp>
      <p:sp>
        <p:nvSpPr>
          <p:cNvPr id="49" name="Text 47"/>
          <p:cNvSpPr/>
          <p:nvPr/>
        </p:nvSpPr>
        <p:spPr>
          <a:xfrm>
            <a:off x="217772" y="3511296"/>
            <a:ext cx="411480" cy="150876"/>
          </a:xfrm>
          <a:prstGeom prst="rect">
            <a:avLst/>
          </a:prstGeom>
          <a:noFill/>
          <a:ln/>
        </p:spPr>
        <p:txBody>
          <a:bodyPr wrap="square" lIns="0" tIns="0" rIns="0" bIns="0" rtlCol="0" anchor="ctr"/>
          <a:lstStyle/>
          <a:p>
            <a:r>
              <a:rPr lang="en-US" sz="600" b="1" dirty="0">
                <a:solidFill>
                  <a:srgbClr val="34D399"/>
                </a:solidFill>
                <a:latin typeface="Calibri" pitchFamily="34" charset="0"/>
                <a:ea typeface="Calibri" pitchFamily="34" charset="-122"/>
                <a:cs typeface="Calibri" pitchFamily="34" charset="-120"/>
              </a:rPr>
              <a:t>Moat: </a:t>
            </a:r>
            <a:endParaRPr lang="en-US" sz="600" dirty="0"/>
          </a:p>
        </p:txBody>
      </p:sp>
      <p:sp>
        <p:nvSpPr>
          <p:cNvPr id="50" name="Text 48"/>
          <p:cNvSpPr/>
          <p:nvPr/>
        </p:nvSpPr>
        <p:spPr>
          <a:xfrm>
            <a:off x="608678" y="3511296"/>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Data center campus developer/landlord. $16B in contracted lease revenue from CoreWeave (400 MW, $11B, 15-year) and a hyperscaler (200 MW, $5B, 15-year). Polaris Forge 1 already generating revenue.</a:t>
            </a:r>
            <a:endParaRPr lang="en-US" sz="600" dirty="0"/>
          </a:p>
        </p:txBody>
      </p:sp>
      <p:sp>
        <p:nvSpPr>
          <p:cNvPr id="51" name="Text 49"/>
          <p:cNvSpPr/>
          <p:nvPr/>
        </p:nvSpPr>
        <p:spPr>
          <a:xfrm>
            <a:off x="217772" y="3881628"/>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52" name="Text 50"/>
          <p:cNvSpPr/>
          <p:nvPr/>
        </p:nvSpPr>
        <p:spPr>
          <a:xfrm>
            <a:off x="732122" y="3881628"/>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1 GW+ contracted capacity. Fixed-fee lease model = predictable revenue. Long-term (15-year) contracts with investment-grade counterparties. Construction execution.</a:t>
            </a:r>
            <a:endParaRPr lang="en-US" sz="600" dirty="0"/>
          </a:p>
        </p:txBody>
      </p:sp>
      <p:sp>
        <p:nvSpPr>
          <p:cNvPr id="53" name="Text 51"/>
          <p:cNvSpPr/>
          <p:nvPr/>
        </p:nvSpPr>
        <p:spPr>
          <a:xfrm>
            <a:off x="217772" y="4217670"/>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54" name="Text 52"/>
          <p:cNvSpPr/>
          <p:nvPr/>
        </p:nvSpPr>
        <p:spPr>
          <a:xfrm>
            <a:off x="574388" y="4217670"/>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Heavily reliant on CoreWeave (concentration risk). Bitcoin exposure. Construction/delivery risk on multi-GW buildout. Not a cloud operator — landlord only.</a:t>
            </a:r>
            <a:endParaRPr lang="en-US" sz="600" dirty="0"/>
          </a:p>
        </p:txBody>
      </p:sp>
      <p:sp>
        <p:nvSpPr>
          <p:cNvPr id="55" name="Text 53"/>
          <p:cNvSpPr/>
          <p:nvPr/>
        </p:nvSpPr>
        <p:spPr>
          <a:xfrm>
            <a:off x="197198" y="4505706"/>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REAL ESTATE PLAY. If hyperscaler demand holds, APLD is a cash-generating landlord. If CoreWeave stumbles, APLD faces serious concentration risk.</a:t>
            </a:r>
            <a:endParaRPr lang="en-US" sz="563" dirty="0"/>
          </a:p>
        </p:txBody>
      </p:sp>
      <p:sp>
        <p:nvSpPr>
          <p:cNvPr id="56" name="Shape 54"/>
          <p:cNvSpPr/>
          <p:nvPr/>
        </p:nvSpPr>
        <p:spPr>
          <a:xfrm>
            <a:off x="3131220" y="3010662"/>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57" name="Shape 55"/>
          <p:cNvSpPr/>
          <p:nvPr/>
        </p:nvSpPr>
        <p:spPr>
          <a:xfrm>
            <a:off x="3213516" y="3079242"/>
            <a:ext cx="260604" cy="260604"/>
          </a:xfrm>
          <a:prstGeom prst="ellipse">
            <a:avLst/>
          </a:prstGeom>
          <a:solidFill>
            <a:srgbClr val="94A3B8"/>
          </a:solidFill>
          <a:ln/>
        </p:spPr>
      </p:sp>
      <p:sp>
        <p:nvSpPr>
          <p:cNvPr id="58" name="Text 56"/>
          <p:cNvSpPr/>
          <p:nvPr/>
        </p:nvSpPr>
        <p:spPr>
          <a:xfrm>
            <a:off x="3213516" y="3079242"/>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#5</a:t>
            </a:r>
            <a:endParaRPr lang="en-US" sz="825" dirty="0"/>
          </a:p>
        </p:txBody>
      </p:sp>
      <p:sp>
        <p:nvSpPr>
          <p:cNvPr id="59" name="Text 57"/>
          <p:cNvSpPr/>
          <p:nvPr/>
        </p:nvSpPr>
        <p:spPr>
          <a:xfrm>
            <a:off x="3542700" y="3065526"/>
            <a:ext cx="1097280" cy="240030"/>
          </a:xfrm>
          <a:prstGeom prst="rect">
            <a:avLst/>
          </a:prstGeom>
          <a:noFill/>
          <a:ln/>
        </p:spPr>
        <p:txBody>
          <a:bodyPr wrap="square" lIns="0" tIns="0" rIns="0" bIns="0" rtlCol="0" anchor="ctr"/>
          <a:lstStyle/>
          <a:p>
            <a:r>
              <a:rPr lang="en-US" sz="1200" b="1" dirty="0">
                <a:solidFill>
                  <a:srgbClr val="34D399"/>
                </a:solidFill>
                <a:latin typeface="Cambria" pitchFamily="34" charset="0"/>
                <a:ea typeface="Cambria" pitchFamily="34" charset="-122"/>
                <a:cs typeface="Cambria" pitchFamily="34" charset="-120"/>
              </a:rPr>
              <a:t>CIFR</a:t>
            </a:r>
            <a:endParaRPr lang="en-US" sz="1200" dirty="0"/>
          </a:p>
        </p:txBody>
      </p:sp>
      <p:sp>
        <p:nvSpPr>
          <p:cNvPr id="60" name="Text 58"/>
          <p:cNvSpPr/>
          <p:nvPr/>
        </p:nvSpPr>
        <p:spPr>
          <a:xfrm>
            <a:off x="3542700" y="3298698"/>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Cipher Mining</a:t>
            </a:r>
            <a:endParaRPr lang="en-US" sz="638" dirty="0"/>
          </a:p>
        </p:txBody>
      </p:sp>
      <p:sp>
        <p:nvSpPr>
          <p:cNvPr id="61" name="Text 59"/>
          <p:cNvSpPr/>
          <p:nvPr/>
        </p:nvSpPr>
        <p:spPr>
          <a:xfrm>
            <a:off x="3234090" y="3511296"/>
            <a:ext cx="411480" cy="150876"/>
          </a:xfrm>
          <a:prstGeom prst="rect">
            <a:avLst/>
          </a:prstGeom>
          <a:noFill/>
          <a:ln/>
        </p:spPr>
        <p:txBody>
          <a:bodyPr wrap="square" lIns="0" tIns="0" rIns="0" bIns="0" rtlCol="0" anchor="ctr"/>
          <a:lstStyle/>
          <a:p>
            <a:r>
              <a:rPr lang="en-US" sz="600" b="1" dirty="0">
                <a:solidFill>
                  <a:srgbClr val="34D399"/>
                </a:solidFill>
                <a:latin typeface="Calibri" pitchFamily="34" charset="0"/>
                <a:ea typeface="Calibri" pitchFamily="34" charset="-122"/>
                <a:cs typeface="Calibri" pitchFamily="34" charset="-120"/>
              </a:rPr>
              <a:t>Moat: </a:t>
            </a:r>
            <a:endParaRPr lang="en-US" sz="600" dirty="0"/>
          </a:p>
        </p:txBody>
      </p:sp>
      <p:sp>
        <p:nvSpPr>
          <p:cNvPr id="62" name="Text 60"/>
          <p:cNvSpPr/>
          <p:nvPr/>
        </p:nvSpPr>
        <p:spPr>
          <a:xfrm>
            <a:off x="3624996" y="3511296"/>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Former Bitcoin miner pivoting to AI/HPC. $8.5B in contracted AI/HPC value: Fluidstack (~$3B, Google-backed) + AWS (~$5.5B). Healthier balance sheet than many peers.</a:t>
            </a:r>
            <a:endParaRPr lang="en-US" sz="600" dirty="0"/>
          </a:p>
        </p:txBody>
      </p:sp>
      <p:sp>
        <p:nvSpPr>
          <p:cNvPr id="63" name="Text 61"/>
          <p:cNvSpPr/>
          <p:nvPr/>
        </p:nvSpPr>
        <p:spPr>
          <a:xfrm>
            <a:off x="3234090" y="3881628"/>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64" name="Text 62"/>
          <p:cNvSpPr/>
          <p:nvPr/>
        </p:nvSpPr>
        <p:spPr>
          <a:xfrm>
            <a:off x="3748440" y="3881628"/>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AWS and Google backstops reduce financial risk for lenders. Texas power access. Rapidly building AI data center capacity. $8.5B contracted is significant for a small-cap.</a:t>
            </a:r>
            <a:endParaRPr lang="en-US" sz="600" dirty="0"/>
          </a:p>
        </p:txBody>
      </p:sp>
      <p:sp>
        <p:nvSpPr>
          <p:cNvPr id="65" name="Text 63"/>
          <p:cNvSpPr/>
          <p:nvPr/>
        </p:nvSpPr>
        <p:spPr>
          <a:xfrm>
            <a:off x="3234090" y="4217670"/>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66" name="Text 64"/>
          <p:cNvSpPr/>
          <p:nvPr/>
        </p:nvSpPr>
        <p:spPr>
          <a:xfrm>
            <a:off x="3590706" y="4217670"/>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Still early in AI pivot — execution risk is high. Smaller scale than CRWV/IREN. Single-customer concentration (AWS). Bitcoin mining still a distraction.</a:t>
            </a:r>
            <a:endParaRPr lang="en-US" sz="600" dirty="0"/>
          </a:p>
        </p:txBody>
      </p:sp>
      <p:sp>
        <p:nvSpPr>
          <p:cNvPr id="67" name="Text 65"/>
          <p:cNvSpPr/>
          <p:nvPr/>
        </p:nvSpPr>
        <p:spPr>
          <a:xfrm>
            <a:off x="3213516" y="4505706"/>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HIGH-BETA OPTION. Smallest in the group but AWS/Google validation is real. High risk, high upside if AI data center demand holds.</a:t>
            </a:r>
            <a:endParaRPr lang="en-US" sz="563" dirty="0"/>
          </a:p>
        </p:txBody>
      </p:sp>
      <p:sp>
        <p:nvSpPr>
          <p:cNvPr id="68" name="Shape 66"/>
          <p:cNvSpPr/>
          <p:nvPr/>
        </p:nvSpPr>
        <p:spPr>
          <a:xfrm>
            <a:off x="6195752" y="3018216"/>
            <a:ext cx="2194560" cy="1714500"/>
          </a:xfrm>
          <a:prstGeom prst="roundRect">
            <a:avLst>
              <a:gd name="adj" fmla="val 3200"/>
            </a:avLst>
          </a:prstGeom>
          <a:solidFill>
            <a:srgbClr val="0A1A15"/>
          </a:solidFill>
          <a:ln/>
          <a:effectLst>
            <a:outerShdw blurRad="127000" dist="38100" dir="2700000" algn="bl" rotWithShape="0">
              <a:srgbClr val="000000">
                <a:alpha val="30000"/>
              </a:srgbClr>
            </a:outerShdw>
          </a:effectLst>
        </p:spPr>
      </p:sp>
      <p:sp>
        <p:nvSpPr>
          <p:cNvPr id="69" name="Text 67"/>
          <p:cNvSpPr/>
          <p:nvPr/>
        </p:nvSpPr>
        <p:spPr>
          <a:xfrm>
            <a:off x="6298622" y="3086796"/>
            <a:ext cx="2057400" cy="205740"/>
          </a:xfrm>
          <a:prstGeom prst="rect">
            <a:avLst/>
          </a:prstGeom>
          <a:noFill/>
          <a:ln/>
        </p:spPr>
        <p:txBody>
          <a:bodyPr wrap="square" lIns="0" tIns="0" rIns="0" bIns="0" rtlCol="0" anchor="ctr"/>
          <a:lstStyle/>
          <a:p>
            <a:r>
              <a:rPr lang="en-US" sz="750" b="1" dirty="0">
                <a:solidFill>
                  <a:srgbClr val="34D399"/>
                </a:solidFill>
                <a:latin typeface="Calibri" pitchFamily="34" charset="0"/>
                <a:ea typeface="Calibri" pitchFamily="34" charset="-122"/>
                <a:cs typeface="Calibri" pitchFamily="34" charset="-120"/>
              </a:rPr>
              <a:t>🏆 LAYER WINNER</a:t>
            </a:r>
            <a:endParaRPr lang="en-US" sz="750" dirty="0"/>
          </a:p>
        </p:txBody>
      </p:sp>
      <p:sp>
        <p:nvSpPr>
          <p:cNvPr id="70" name="Text 68"/>
          <p:cNvSpPr/>
          <p:nvPr/>
        </p:nvSpPr>
        <p:spPr>
          <a:xfrm>
            <a:off x="6298622" y="3313110"/>
            <a:ext cx="2057400" cy="356616"/>
          </a:xfrm>
          <a:prstGeom prst="rect">
            <a:avLst/>
          </a:prstGeom>
          <a:noFill/>
          <a:ln/>
        </p:spPr>
        <p:txBody>
          <a:bodyPr wrap="square" lIns="0" tIns="0" rIns="0" bIns="0" rtlCol="0" anchor="ctr"/>
          <a:lstStyle/>
          <a:p>
            <a:r>
              <a:rPr lang="en-US" sz="2250" b="1" dirty="0">
                <a:solidFill>
                  <a:srgbClr val="F5C842"/>
                </a:solidFill>
                <a:latin typeface="Cambria" pitchFamily="34" charset="0"/>
                <a:ea typeface="Cambria" pitchFamily="34" charset="-122"/>
                <a:cs typeface="Cambria" pitchFamily="34" charset="-120"/>
              </a:rPr>
              <a:t>$CRWV</a:t>
            </a:r>
            <a:endParaRPr lang="en-US" sz="2250" dirty="0"/>
          </a:p>
        </p:txBody>
      </p:sp>
      <p:sp>
        <p:nvSpPr>
          <p:cNvPr id="71" name="Text 69"/>
          <p:cNvSpPr/>
          <p:nvPr/>
        </p:nvSpPr>
        <p:spPr>
          <a:xfrm>
            <a:off x="6298622" y="3656010"/>
            <a:ext cx="2057400" cy="192024"/>
          </a:xfrm>
          <a:prstGeom prst="rect">
            <a:avLst/>
          </a:prstGeom>
          <a:noFill/>
          <a:ln/>
        </p:spPr>
        <p:txBody>
          <a:bodyPr wrap="square" lIns="0" tIns="0" rIns="0" bIns="0" rtlCol="0" anchor="ctr"/>
          <a:lstStyle/>
          <a:p>
            <a:r>
              <a:rPr lang="en-US" sz="825" dirty="0">
                <a:solidFill>
                  <a:srgbClr val="FFFFFF"/>
                </a:solidFill>
                <a:latin typeface="Calibri" pitchFamily="34" charset="0"/>
                <a:ea typeface="Calibri" pitchFamily="34" charset="-122"/>
                <a:cs typeface="Calibri" pitchFamily="34" charset="-120"/>
              </a:rPr>
              <a:t>CoreWeave</a:t>
            </a:r>
            <a:endParaRPr lang="en-US" sz="825" dirty="0"/>
          </a:p>
        </p:txBody>
      </p:sp>
      <p:sp>
        <p:nvSpPr>
          <p:cNvPr id="72" name="Text 70"/>
          <p:cNvSpPr/>
          <p:nvPr/>
        </p:nvSpPr>
        <p:spPr>
          <a:xfrm>
            <a:off x="6298622" y="3875466"/>
            <a:ext cx="2057400" cy="80924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Why it wins: $55B backlog, OpenAI + Meta as anchor tenants, NVIDIA as strategic investor. Capacity sold out. The blueprint for GPU cloud infrastructure at hyperscale. High leverage is the risk, but the demand is real. Closest alternative: NBIS for better balance sheet.</a:t>
            </a:r>
            <a:endParaRPr lang="en-US" sz="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B6D4"/>
          </a:solidFill>
          <a:ln/>
        </p:spPr>
      </p:sp>
      <p:sp>
        <p:nvSpPr>
          <p:cNvPr id="3" name="Shape 1"/>
          <p:cNvSpPr/>
          <p:nvPr/>
        </p:nvSpPr>
        <p:spPr>
          <a:xfrm>
            <a:off x="320040" y="182880"/>
            <a:ext cx="822960" cy="502920"/>
          </a:xfrm>
          <a:prstGeom prst="roundRect">
            <a:avLst>
              <a:gd name="adj" fmla="val 14545"/>
            </a:avLst>
          </a:prstGeom>
          <a:solidFill>
            <a:srgbClr val="06B6D4">
              <a:alpha val="80000"/>
            </a:srgbClr>
          </a:solidFill>
          <a:ln/>
        </p:spPr>
      </p:sp>
      <p:sp>
        <p:nvSpPr>
          <p:cNvPr id="4" name="Text 2"/>
          <p:cNvSpPr/>
          <p:nvPr/>
        </p:nvSpPr>
        <p:spPr>
          <a:xfrm>
            <a:off x="320040" y="182880"/>
            <a:ext cx="822960" cy="502920"/>
          </a:xfrm>
          <a:prstGeom prst="rect">
            <a:avLst/>
          </a:prstGeom>
          <a:noFill/>
          <a:ln/>
        </p:spPr>
        <p:txBody>
          <a:bodyPr wrap="square" rtlCol="0" anchor="ctr"/>
          <a:lstStyle/>
          <a:p>
            <a:pPr marL="0" indent="0" algn="ctr">
              <a:buNone/>
            </a:pPr>
            <a:r>
              <a:rPr lang="en-US" sz="2200" b="1" dirty="0">
                <a:solidFill>
                  <a:srgbClr val="FFFFFF"/>
                </a:solidFill>
              </a:rPr>
              <a:t>04</a:t>
            </a:r>
            <a:endParaRPr lang="en-US" sz="2200" dirty="0"/>
          </a:p>
        </p:txBody>
      </p:sp>
      <p:sp>
        <p:nvSpPr>
          <p:cNvPr id="5" name="Text 3"/>
          <p:cNvSpPr/>
          <p:nvPr/>
        </p:nvSpPr>
        <p:spPr>
          <a:xfrm>
            <a:off x="1280160" y="182880"/>
            <a:ext cx="2743200" cy="256032"/>
          </a:xfrm>
          <a:prstGeom prst="rect">
            <a:avLst/>
          </a:prstGeom>
          <a:noFill/>
          <a:ln/>
        </p:spPr>
        <p:txBody>
          <a:bodyPr wrap="square" lIns="0" tIns="0" rIns="0" bIns="0" rtlCol="0" anchor="ctr"/>
          <a:lstStyle/>
          <a:p>
            <a:pPr marL="0" indent="0">
              <a:buNone/>
            </a:pPr>
            <a:r>
              <a:rPr lang="en-US" sz="900" b="1" kern="0" spc="300" dirty="0">
                <a:solidFill>
                  <a:srgbClr val="06B6D4"/>
                </a:solidFill>
              </a:rPr>
              <a:t>SECTOR ANALYSIS</a:t>
            </a:r>
            <a:endParaRPr lang="en-US" sz="900" dirty="0"/>
          </a:p>
        </p:txBody>
      </p:sp>
      <p:sp>
        <p:nvSpPr>
          <p:cNvPr id="6" name="Text 4"/>
          <p:cNvSpPr/>
          <p:nvPr/>
        </p:nvSpPr>
        <p:spPr>
          <a:xfrm>
            <a:off x="1280160" y="402336"/>
            <a:ext cx="6400800" cy="365760"/>
          </a:xfrm>
          <a:prstGeom prst="rect">
            <a:avLst/>
          </a:prstGeom>
          <a:noFill/>
          <a:ln/>
        </p:spPr>
        <p:txBody>
          <a:bodyPr wrap="square" lIns="0" tIns="0" rIns="0" bIns="0" rtlCol="0" anchor="ctr"/>
          <a:lstStyle/>
          <a:p>
            <a:pPr marL="0" indent="0">
              <a:buNone/>
            </a:pPr>
            <a:r>
              <a:rPr lang="en-US" sz="2600" b="1" dirty="0">
                <a:solidFill>
                  <a:srgbClr val="FFFFFF"/>
                </a:solidFill>
              </a:rPr>
              <a:t>AI MODELS</a:t>
            </a:r>
            <a:endParaRPr lang="en-US" sz="2600" dirty="0"/>
          </a:p>
        </p:txBody>
      </p:sp>
      <p:sp>
        <p:nvSpPr>
          <p:cNvPr id="7" name="Text 5"/>
          <p:cNvSpPr/>
          <p:nvPr/>
        </p:nvSpPr>
        <p:spPr>
          <a:xfrm>
            <a:off x="320040" y="868680"/>
            <a:ext cx="8503920" cy="320040"/>
          </a:xfrm>
          <a:prstGeom prst="rect">
            <a:avLst/>
          </a:prstGeom>
          <a:noFill/>
          <a:ln/>
        </p:spPr>
        <p:txBody>
          <a:bodyPr wrap="square" rtlCol="0" anchor="ctr"/>
          <a:lstStyle/>
          <a:p>
            <a:pPr marL="0" indent="0" algn="l">
              <a:buNone/>
            </a:pPr>
            <a:r>
              <a:rPr lang="en-US" sz="1300" dirty="0">
                <a:solidFill>
                  <a:srgbClr val="94A3B8"/>
                </a:solidFill>
              </a:rPr>
              <a:t>The hyperscalers building, training &amp; deploying frontier AI models</a:t>
            </a:r>
            <a:endParaRPr lang="en-US" sz="1300" dirty="0"/>
          </a:p>
        </p:txBody>
      </p:sp>
      <p:sp>
        <p:nvSpPr>
          <p:cNvPr id="8" name="Shape 6"/>
          <p:cNvSpPr/>
          <p:nvPr/>
        </p:nvSpPr>
        <p:spPr>
          <a:xfrm>
            <a:off x="320040" y="1261872"/>
            <a:ext cx="8503920" cy="457200"/>
          </a:xfrm>
          <a:prstGeom prst="rect">
            <a:avLst/>
          </a:prstGeom>
          <a:solidFill>
            <a:srgbClr val="002229"/>
          </a:solidFill>
          <a:ln w="6350">
            <a:solidFill>
              <a:srgbClr val="FFFFFF">
                <a:alpha val="10000"/>
              </a:srgbClr>
            </a:solidFill>
            <a:prstDash val="solid"/>
          </a:ln>
        </p:spPr>
      </p:sp>
      <p:sp>
        <p:nvSpPr>
          <p:cNvPr id="9" name="Shape 7"/>
          <p:cNvSpPr/>
          <p:nvPr/>
        </p:nvSpPr>
        <p:spPr>
          <a:xfrm>
            <a:off x="320040" y="1261872"/>
            <a:ext cx="64008" cy="457200"/>
          </a:xfrm>
          <a:prstGeom prst="rect">
            <a:avLst/>
          </a:prstGeom>
          <a:solidFill>
            <a:srgbClr val="06B6D4"/>
          </a:solidFill>
          <a:ln/>
        </p:spPr>
      </p:sp>
      <p:sp>
        <p:nvSpPr>
          <p:cNvPr id="10" name="Text 8"/>
          <p:cNvSpPr/>
          <p:nvPr/>
        </p:nvSpPr>
        <p:spPr>
          <a:xfrm>
            <a:off x="502920" y="1298448"/>
            <a:ext cx="1371600" cy="182880"/>
          </a:xfrm>
          <a:prstGeom prst="rect">
            <a:avLst/>
          </a:prstGeom>
          <a:noFill/>
          <a:ln/>
        </p:spPr>
        <p:txBody>
          <a:bodyPr wrap="square" lIns="0" tIns="0" rIns="0" bIns="0" rtlCol="0" anchor="ctr"/>
          <a:lstStyle/>
          <a:p>
            <a:pPr marL="0" indent="0">
              <a:buNone/>
            </a:pPr>
            <a:r>
              <a:rPr lang="en-US" sz="800" b="1" kern="0" spc="200" dirty="0">
                <a:solidFill>
                  <a:srgbClr val="06B6D4"/>
                </a:solidFill>
              </a:rPr>
              <a:t>KEY METRIC  </a:t>
            </a:r>
            <a:endParaRPr lang="en-US" sz="800" dirty="0"/>
          </a:p>
        </p:txBody>
      </p:sp>
      <p:sp>
        <p:nvSpPr>
          <p:cNvPr id="11" name="Text 9"/>
          <p:cNvSpPr/>
          <p:nvPr/>
        </p:nvSpPr>
        <p:spPr>
          <a:xfrm>
            <a:off x="502920" y="1472184"/>
            <a:ext cx="8046720" cy="182880"/>
          </a:xfrm>
          <a:prstGeom prst="rect">
            <a:avLst/>
          </a:prstGeom>
          <a:noFill/>
          <a:ln/>
        </p:spPr>
        <p:txBody>
          <a:bodyPr wrap="square" lIns="0" tIns="0" rIns="0" bIns="0" rtlCol="0" anchor="ctr"/>
          <a:lstStyle/>
          <a:p>
            <a:pPr marL="0" indent="0">
              <a:buNone/>
            </a:pPr>
            <a:r>
              <a:rPr lang="en-US" sz="1100" b="1" dirty="0">
                <a:solidFill>
                  <a:srgbClr val="FFFFFF"/>
                </a:solidFill>
              </a:rPr>
              <a:t>Big Tech AI Capex 2025E: $350B+</a:t>
            </a:r>
            <a:endParaRPr lang="en-US" sz="1100" dirty="0"/>
          </a:p>
        </p:txBody>
      </p:sp>
      <p:sp>
        <p:nvSpPr>
          <p:cNvPr id="12" name="Text 10"/>
          <p:cNvSpPr/>
          <p:nvPr/>
        </p:nvSpPr>
        <p:spPr>
          <a:xfrm>
            <a:off x="320040" y="1874520"/>
            <a:ext cx="3657600" cy="256032"/>
          </a:xfrm>
          <a:prstGeom prst="rect">
            <a:avLst/>
          </a:prstGeom>
          <a:noFill/>
          <a:ln/>
        </p:spPr>
        <p:txBody>
          <a:bodyPr wrap="square" lIns="0" tIns="0" rIns="0" bIns="0" rtlCol="0" anchor="ctr"/>
          <a:lstStyle/>
          <a:p>
            <a:pPr marL="0" indent="0">
              <a:buNone/>
            </a:pPr>
            <a:r>
              <a:rPr lang="en-US" sz="900" b="1" kern="0" spc="200" dirty="0">
                <a:solidFill>
                  <a:srgbClr val="06B6D4"/>
                </a:solidFill>
              </a:rPr>
              <a:t>INVESTMENT THESIS</a:t>
            </a:r>
            <a:endParaRPr lang="en-US" sz="900" dirty="0"/>
          </a:p>
        </p:txBody>
      </p:sp>
      <p:sp>
        <p:nvSpPr>
          <p:cNvPr id="13" name="Shape 11"/>
          <p:cNvSpPr/>
          <p:nvPr/>
        </p:nvSpPr>
        <p:spPr>
          <a:xfrm>
            <a:off x="320040" y="2121408"/>
            <a:ext cx="4114800" cy="150876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4" name="Text 12"/>
          <p:cNvSpPr/>
          <p:nvPr/>
        </p:nvSpPr>
        <p:spPr>
          <a:xfrm>
            <a:off x="475488" y="2212848"/>
            <a:ext cx="3794760" cy="1325880"/>
          </a:xfrm>
          <a:prstGeom prst="rect">
            <a:avLst/>
          </a:prstGeom>
          <a:noFill/>
          <a:ln/>
        </p:spPr>
        <p:txBody>
          <a:bodyPr wrap="square" rtlCol="0" anchor="ctr"/>
          <a:lstStyle/>
          <a:p>
            <a:pPr marL="0" indent="0" algn="l">
              <a:buNone/>
            </a:pPr>
            <a:r>
              <a:rPr lang="en-US" sz="1100" dirty="0">
                <a:solidFill>
                  <a:srgbClr val="F0F4FF"/>
                </a:solidFill>
              </a:rPr>
              <a:t>Foundation model moat = data + compute + talent. Big Tech is spending $100B+ each to win AI. Monetization through cloud APIs, copilots, and ads is inflecting.</a:t>
            </a:r>
            <a:endParaRPr lang="en-US" sz="1100" dirty="0"/>
          </a:p>
        </p:txBody>
      </p:sp>
      <p:sp>
        <p:nvSpPr>
          <p:cNvPr id="15" name="Text 13"/>
          <p:cNvSpPr/>
          <p:nvPr/>
        </p:nvSpPr>
        <p:spPr>
          <a:xfrm>
            <a:off x="4709160" y="1874520"/>
            <a:ext cx="4114800" cy="256032"/>
          </a:xfrm>
          <a:prstGeom prst="rect">
            <a:avLst/>
          </a:prstGeom>
          <a:noFill/>
          <a:ln/>
        </p:spPr>
        <p:txBody>
          <a:bodyPr wrap="square" lIns="0" tIns="0" rIns="0" bIns="0" rtlCol="0" anchor="ctr"/>
          <a:lstStyle/>
          <a:p>
            <a:pPr marL="0" indent="0">
              <a:buNone/>
            </a:pPr>
            <a:r>
              <a:rPr lang="en-US" sz="900" b="1" kern="0" spc="200" dirty="0">
                <a:solidFill>
                  <a:srgbClr val="06B6D4"/>
                </a:solidFill>
              </a:rPr>
              <a:t>KEY CATALYSTS</a:t>
            </a:r>
            <a:endParaRPr lang="en-US" sz="900" dirty="0"/>
          </a:p>
        </p:txBody>
      </p:sp>
      <p:sp>
        <p:nvSpPr>
          <p:cNvPr id="16" name="Shape 14"/>
          <p:cNvSpPr/>
          <p:nvPr/>
        </p:nvSpPr>
        <p:spPr>
          <a:xfrm>
            <a:off x="4709160" y="2121408"/>
            <a:ext cx="4114800" cy="150876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7" name="Shape 15"/>
          <p:cNvSpPr/>
          <p:nvPr/>
        </p:nvSpPr>
        <p:spPr>
          <a:xfrm>
            <a:off x="4892040" y="2304288"/>
            <a:ext cx="128016" cy="128016"/>
          </a:xfrm>
          <a:prstGeom prst="ellipse">
            <a:avLst/>
          </a:prstGeom>
          <a:solidFill>
            <a:srgbClr val="06B6D4"/>
          </a:solidFill>
          <a:ln/>
        </p:spPr>
      </p:sp>
      <p:sp>
        <p:nvSpPr>
          <p:cNvPr id="18" name="Text 16"/>
          <p:cNvSpPr/>
          <p:nvPr/>
        </p:nvSpPr>
        <p:spPr>
          <a:xfrm>
            <a:off x="5120640" y="2249424"/>
            <a:ext cx="3566160" cy="256032"/>
          </a:xfrm>
          <a:prstGeom prst="rect">
            <a:avLst/>
          </a:prstGeom>
          <a:noFill/>
          <a:ln/>
        </p:spPr>
        <p:txBody>
          <a:bodyPr wrap="square" lIns="0" tIns="0" rIns="0" bIns="0" rtlCol="0" anchor="ctr"/>
          <a:lstStyle/>
          <a:p>
            <a:pPr marL="0" indent="0">
              <a:buNone/>
            </a:pPr>
            <a:r>
              <a:rPr lang="en-US" sz="1050" dirty="0">
                <a:solidFill>
                  <a:srgbClr val="F0F4FF"/>
                </a:solidFill>
              </a:rPr>
              <a:t>Copilot/AI assistant monetization</a:t>
            </a:r>
            <a:endParaRPr lang="en-US" sz="1050" dirty="0"/>
          </a:p>
        </p:txBody>
      </p:sp>
      <p:sp>
        <p:nvSpPr>
          <p:cNvPr id="19" name="Shape 17"/>
          <p:cNvSpPr/>
          <p:nvPr/>
        </p:nvSpPr>
        <p:spPr>
          <a:xfrm>
            <a:off x="4892040" y="2633472"/>
            <a:ext cx="128016" cy="128016"/>
          </a:xfrm>
          <a:prstGeom prst="ellipse">
            <a:avLst/>
          </a:prstGeom>
          <a:solidFill>
            <a:srgbClr val="06B6D4"/>
          </a:solidFill>
          <a:ln/>
        </p:spPr>
      </p:sp>
      <p:sp>
        <p:nvSpPr>
          <p:cNvPr id="20" name="Text 18"/>
          <p:cNvSpPr/>
          <p:nvPr/>
        </p:nvSpPr>
        <p:spPr>
          <a:xfrm>
            <a:off x="5120640" y="2578608"/>
            <a:ext cx="3566160" cy="256032"/>
          </a:xfrm>
          <a:prstGeom prst="rect">
            <a:avLst/>
          </a:prstGeom>
          <a:noFill/>
          <a:ln/>
        </p:spPr>
        <p:txBody>
          <a:bodyPr wrap="square" lIns="0" tIns="0" rIns="0" bIns="0" rtlCol="0" anchor="ctr"/>
          <a:lstStyle/>
          <a:p>
            <a:pPr marL="0" indent="0">
              <a:buNone/>
            </a:pPr>
            <a:r>
              <a:rPr lang="en-US" sz="1050" dirty="0">
                <a:solidFill>
                  <a:srgbClr val="F0F4FF"/>
                </a:solidFill>
              </a:rPr>
              <a:t>API pricing expansion</a:t>
            </a:r>
            <a:endParaRPr lang="en-US" sz="1050" dirty="0"/>
          </a:p>
        </p:txBody>
      </p:sp>
      <p:sp>
        <p:nvSpPr>
          <p:cNvPr id="21" name="Shape 19"/>
          <p:cNvSpPr/>
          <p:nvPr/>
        </p:nvSpPr>
        <p:spPr>
          <a:xfrm>
            <a:off x="4892040" y="2962656"/>
            <a:ext cx="128016" cy="128016"/>
          </a:xfrm>
          <a:prstGeom prst="ellipse">
            <a:avLst/>
          </a:prstGeom>
          <a:solidFill>
            <a:srgbClr val="06B6D4"/>
          </a:solidFill>
          <a:ln/>
        </p:spPr>
      </p:sp>
      <p:sp>
        <p:nvSpPr>
          <p:cNvPr id="22" name="Text 20"/>
          <p:cNvSpPr/>
          <p:nvPr/>
        </p:nvSpPr>
        <p:spPr>
          <a:xfrm>
            <a:off x="5120640" y="2907792"/>
            <a:ext cx="3566160" cy="256032"/>
          </a:xfrm>
          <a:prstGeom prst="rect">
            <a:avLst/>
          </a:prstGeom>
          <a:noFill/>
          <a:ln/>
        </p:spPr>
        <p:txBody>
          <a:bodyPr wrap="square" lIns="0" tIns="0" rIns="0" bIns="0" rtlCol="0" anchor="ctr"/>
          <a:lstStyle/>
          <a:p>
            <a:pPr marL="0" indent="0">
              <a:buNone/>
            </a:pPr>
            <a:r>
              <a:rPr lang="en-US" sz="1050" dirty="0">
                <a:solidFill>
                  <a:srgbClr val="F0F4FF"/>
                </a:solidFill>
              </a:rPr>
              <a:t>Agentic AI rollouts</a:t>
            </a:r>
            <a:endParaRPr lang="en-US" sz="1050" dirty="0"/>
          </a:p>
        </p:txBody>
      </p:sp>
      <p:sp>
        <p:nvSpPr>
          <p:cNvPr id="23" name="Shape 21"/>
          <p:cNvSpPr/>
          <p:nvPr/>
        </p:nvSpPr>
        <p:spPr>
          <a:xfrm>
            <a:off x="4892040" y="3291840"/>
            <a:ext cx="128016" cy="128016"/>
          </a:xfrm>
          <a:prstGeom prst="ellipse">
            <a:avLst/>
          </a:prstGeom>
          <a:solidFill>
            <a:srgbClr val="06B6D4"/>
          </a:solidFill>
          <a:ln/>
        </p:spPr>
      </p:sp>
      <p:sp>
        <p:nvSpPr>
          <p:cNvPr id="24" name="Text 22"/>
          <p:cNvSpPr/>
          <p:nvPr/>
        </p:nvSpPr>
        <p:spPr>
          <a:xfrm>
            <a:off x="5120640" y="3236976"/>
            <a:ext cx="3566160" cy="256032"/>
          </a:xfrm>
          <a:prstGeom prst="rect">
            <a:avLst/>
          </a:prstGeom>
          <a:noFill/>
          <a:ln/>
        </p:spPr>
        <p:txBody>
          <a:bodyPr wrap="square" lIns="0" tIns="0" rIns="0" bIns="0" rtlCol="0" anchor="ctr"/>
          <a:lstStyle/>
          <a:p>
            <a:pPr marL="0" indent="0">
              <a:buNone/>
            </a:pPr>
            <a:r>
              <a:rPr lang="en-US" sz="1050" dirty="0">
                <a:solidFill>
                  <a:srgbClr val="F0F4FF"/>
                </a:solidFill>
              </a:rPr>
              <a:t>Search AI integration</a:t>
            </a:r>
            <a:endParaRPr lang="en-US" sz="1050" dirty="0"/>
          </a:p>
        </p:txBody>
      </p:sp>
      <p:sp>
        <p:nvSpPr>
          <p:cNvPr id="25" name="Text 23"/>
          <p:cNvSpPr/>
          <p:nvPr/>
        </p:nvSpPr>
        <p:spPr>
          <a:xfrm>
            <a:off x="320040" y="3730752"/>
            <a:ext cx="3657600" cy="256032"/>
          </a:xfrm>
          <a:prstGeom prst="rect">
            <a:avLst/>
          </a:prstGeom>
          <a:noFill/>
          <a:ln/>
        </p:spPr>
        <p:txBody>
          <a:bodyPr wrap="square" lIns="0" tIns="0" rIns="0" bIns="0" rtlCol="0" anchor="ctr"/>
          <a:lstStyle/>
          <a:p>
            <a:pPr marL="0" indent="0">
              <a:buNone/>
            </a:pPr>
            <a:r>
              <a:rPr lang="en-US" sz="900" b="1" kern="0" spc="200" dirty="0">
                <a:solidFill>
                  <a:srgbClr val="EF4444"/>
                </a:solidFill>
              </a:rPr>
              <a:t>KEY RISKS</a:t>
            </a:r>
            <a:endParaRPr lang="en-US" sz="900" dirty="0"/>
          </a:p>
        </p:txBody>
      </p:sp>
      <p:sp>
        <p:nvSpPr>
          <p:cNvPr id="26" name="Shape 24"/>
          <p:cNvSpPr/>
          <p:nvPr/>
        </p:nvSpPr>
        <p:spPr>
          <a:xfrm>
            <a:off x="320040" y="3977640"/>
            <a:ext cx="8503920" cy="914400"/>
          </a:xfrm>
          <a:prstGeom prst="rect">
            <a:avLst/>
          </a:prstGeom>
          <a:solidFill>
            <a:srgbClr val="162050"/>
          </a:solidFill>
          <a:ln w="6350">
            <a:solidFill>
              <a:srgbClr val="FFFFFF">
                <a:alpha val="10000"/>
              </a:srgbClr>
            </a:solidFill>
            <a:prstDash val="solid"/>
          </a:ln>
        </p:spPr>
      </p:sp>
      <p:sp>
        <p:nvSpPr>
          <p:cNvPr id="27" name="Shape 25"/>
          <p:cNvSpPr/>
          <p:nvPr/>
        </p:nvSpPr>
        <p:spPr>
          <a:xfrm>
            <a:off x="502920" y="4114800"/>
            <a:ext cx="1648169" cy="640080"/>
          </a:xfrm>
          <a:prstGeom prst="roundRect">
            <a:avLst>
              <a:gd name="adj" fmla="val 8571"/>
            </a:avLst>
          </a:prstGeom>
          <a:solidFill>
            <a:srgbClr val="EF4444">
              <a:alpha val="15000"/>
            </a:srgbClr>
          </a:solidFill>
          <a:ln/>
        </p:spPr>
      </p:sp>
      <p:sp>
        <p:nvSpPr>
          <p:cNvPr id="28" name="Text 26"/>
          <p:cNvSpPr/>
          <p:nvPr/>
        </p:nvSpPr>
        <p:spPr>
          <a:xfrm>
            <a:off x="502920" y="4114800"/>
            <a:ext cx="1584464" cy="640080"/>
          </a:xfrm>
          <a:prstGeom prst="rect">
            <a:avLst/>
          </a:prstGeom>
          <a:noFill/>
          <a:ln/>
        </p:spPr>
        <p:txBody>
          <a:bodyPr wrap="square" rtlCol="0" anchor="ctr"/>
          <a:lstStyle/>
          <a:p>
            <a:pPr marL="0" indent="0" algn="ctr">
              <a:buNone/>
            </a:pPr>
            <a:r>
              <a:rPr lang="en-US" sz="1000" dirty="0">
                <a:solidFill>
                  <a:srgbClr val="F0F4FF"/>
                </a:solidFill>
              </a:rPr>
              <a:t>⚠ Regulatory antitrust</a:t>
            </a:r>
            <a:endParaRPr lang="en-US" sz="1000" dirty="0"/>
          </a:p>
        </p:txBody>
      </p:sp>
      <p:sp>
        <p:nvSpPr>
          <p:cNvPr id="29" name="Shape 27"/>
          <p:cNvSpPr/>
          <p:nvPr/>
        </p:nvSpPr>
        <p:spPr>
          <a:xfrm>
            <a:off x="2479375" y="4123944"/>
            <a:ext cx="1837794" cy="640080"/>
          </a:xfrm>
          <a:prstGeom prst="roundRect">
            <a:avLst>
              <a:gd name="adj" fmla="val 8571"/>
            </a:avLst>
          </a:prstGeom>
          <a:solidFill>
            <a:srgbClr val="EF4444">
              <a:alpha val="15000"/>
            </a:srgbClr>
          </a:solidFill>
          <a:ln/>
        </p:spPr>
      </p:sp>
      <p:sp>
        <p:nvSpPr>
          <p:cNvPr id="30" name="Text 28"/>
          <p:cNvSpPr/>
          <p:nvPr/>
        </p:nvSpPr>
        <p:spPr>
          <a:xfrm>
            <a:off x="2479376" y="4114800"/>
            <a:ext cx="1767344" cy="640080"/>
          </a:xfrm>
          <a:prstGeom prst="rect">
            <a:avLst/>
          </a:prstGeom>
          <a:noFill/>
          <a:ln/>
        </p:spPr>
        <p:txBody>
          <a:bodyPr wrap="square" rtlCol="0" anchor="ctr"/>
          <a:lstStyle/>
          <a:p>
            <a:pPr marL="0" indent="0" algn="ctr">
              <a:buNone/>
            </a:pPr>
            <a:r>
              <a:rPr lang="en-US" sz="1000" dirty="0">
                <a:solidFill>
                  <a:srgbClr val="F0F4FF"/>
                </a:solidFill>
              </a:rPr>
              <a:t>⚠ Open-source model commoditization</a:t>
            </a:r>
            <a:endParaRPr lang="en-US" sz="1000" dirty="0"/>
          </a:p>
        </p:txBody>
      </p:sp>
      <p:sp>
        <p:nvSpPr>
          <p:cNvPr id="31" name="Shape 29"/>
          <p:cNvSpPr/>
          <p:nvPr/>
        </p:nvSpPr>
        <p:spPr>
          <a:xfrm>
            <a:off x="4709160" y="4123944"/>
            <a:ext cx="1801218" cy="640080"/>
          </a:xfrm>
          <a:prstGeom prst="roundRect">
            <a:avLst>
              <a:gd name="adj" fmla="val 8571"/>
            </a:avLst>
          </a:prstGeom>
          <a:solidFill>
            <a:srgbClr val="EF4444">
              <a:alpha val="15000"/>
            </a:srgbClr>
          </a:solidFill>
          <a:ln/>
        </p:spPr>
      </p:sp>
      <p:sp>
        <p:nvSpPr>
          <p:cNvPr id="32" name="Text 30"/>
          <p:cNvSpPr/>
          <p:nvPr/>
        </p:nvSpPr>
        <p:spPr>
          <a:xfrm>
            <a:off x="4317169" y="4123944"/>
            <a:ext cx="2468880" cy="640080"/>
          </a:xfrm>
          <a:prstGeom prst="rect">
            <a:avLst/>
          </a:prstGeom>
          <a:noFill/>
          <a:ln/>
        </p:spPr>
        <p:txBody>
          <a:bodyPr wrap="square" rtlCol="0" anchor="ctr"/>
          <a:lstStyle/>
          <a:p>
            <a:pPr marL="0" indent="0" algn="ctr">
              <a:buNone/>
            </a:pPr>
            <a:r>
              <a:rPr lang="en-US" sz="1000" dirty="0">
                <a:solidFill>
                  <a:srgbClr val="F0F4FF"/>
                </a:solidFill>
              </a:rPr>
              <a:t>⚠ Compute cost inflation</a:t>
            </a:r>
            <a:endParaRPr lang="en-US" sz="1000" dirty="0"/>
          </a:p>
        </p:txBody>
      </p:sp>
      <p:sp>
        <p:nvSpPr>
          <p:cNvPr id="33" name="Shape 31"/>
          <p:cNvSpPr/>
          <p:nvPr/>
        </p:nvSpPr>
        <p:spPr>
          <a:xfrm>
            <a:off x="6876138" y="4123944"/>
            <a:ext cx="1732112" cy="640080"/>
          </a:xfrm>
          <a:prstGeom prst="roundRect">
            <a:avLst>
              <a:gd name="adj" fmla="val 8571"/>
            </a:avLst>
          </a:prstGeom>
          <a:solidFill>
            <a:srgbClr val="EF4444">
              <a:alpha val="15000"/>
            </a:srgbClr>
          </a:solidFill>
          <a:ln/>
        </p:spPr>
      </p:sp>
      <p:sp>
        <p:nvSpPr>
          <p:cNvPr id="34" name="Text 32"/>
          <p:cNvSpPr/>
          <p:nvPr/>
        </p:nvSpPr>
        <p:spPr>
          <a:xfrm>
            <a:off x="6492916" y="4114800"/>
            <a:ext cx="2468880" cy="640080"/>
          </a:xfrm>
          <a:prstGeom prst="rect">
            <a:avLst/>
          </a:prstGeom>
          <a:noFill/>
          <a:ln/>
        </p:spPr>
        <p:txBody>
          <a:bodyPr wrap="square" rtlCol="0" anchor="ctr"/>
          <a:lstStyle/>
          <a:p>
            <a:pPr marL="0" indent="0" algn="ctr">
              <a:buNone/>
            </a:pPr>
            <a:r>
              <a:rPr lang="en-US" sz="1000" dirty="0">
                <a:solidFill>
                  <a:srgbClr val="F0F4FF"/>
                </a:solidFill>
              </a:rPr>
              <a:t>⚠ Talent retention</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B82F6"/>
          </a:solidFill>
          <a:ln/>
        </p:spPr>
      </p:sp>
      <p:sp>
        <p:nvSpPr>
          <p:cNvPr id="3" name="Text 1"/>
          <p:cNvSpPr/>
          <p:nvPr/>
        </p:nvSpPr>
        <p:spPr>
          <a:xfrm>
            <a:off x="320040" y="137160"/>
            <a:ext cx="1097280" cy="502920"/>
          </a:xfrm>
          <a:prstGeom prst="rect">
            <a:avLst/>
          </a:prstGeom>
          <a:noFill/>
          <a:ln/>
        </p:spPr>
        <p:txBody>
          <a:bodyPr wrap="square" rtlCol="0" anchor="ctr"/>
          <a:lstStyle/>
          <a:p>
            <a:pPr marL="0" indent="0" algn="ctr">
              <a:buNone/>
            </a:pPr>
            <a:r>
              <a:rPr lang="en-US" sz="2800" b="1" dirty="0">
                <a:solidFill>
                  <a:srgbClr val="3B82F6"/>
                </a:solidFill>
              </a:rPr>
              <a:t>04</a:t>
            </a:r>
            <a:endParaRPr lang="en-US" sz="2800" dirty="0"/>
          </a:p>
        </p:txBody>
      </p:sp>
      <p:sp>
        <p:nvSpPr>
          <p:cNvPr id="4" name="Text 2"/>
          <p:cNvSpPr/>
          <p:nvPr/>
        </p:nvSpPr>
        <p:spPr>
          <a:xfrm>
            <a:off x="1508760" y="137160"/>
            <a:ext cx="7315200" cy="256032"/>
          </a:xfrm>
          <a:prstGeom prst="rect">
            <a:avLst/>
          </a:prstGeom>
          <a:noFill/>
          <a:ln/>
        </p:spPr>
        <p:txBody>
          <a:bodyPr wrap="square" lIns="0" tIns="0" rIns="0" bIns="0" rtlCol="0" anchor="ctr"/>
          <a:lstStyle/>
          <a:p>
            <a:pPr marL="0" indent="0">
              <a:buNone/>
            </a:pPr>
            <a:r>
              <a:rPr lang="en-US" sz="900" b="1" kern="0" spc="300" dirty="0">
                <a:solidFill>
                  <a:srgbClr val="3B82F6"/>
                </a:solidFill>
              </a:rPr>
              <a:t>LAYER 4 — HARDWARE SYSTEMS &amp; NETWORKING</a:t>
            </a:r>
            <a:endParaRPr lang="en-US" sz="900" dirty="0"/>
          </a:p>
        </p:txBody>
      </p:sp>
      <p:sp>
        <p:nvSpPr>
          <p:cNvPr id="5" name="Text 3"/>
          <p:cNvSpPr/>
          <p:nvPr/>
        </p:nvSpPr>
        <p:spPr>
          <a:xfrm>
            <a:off x="1508760" y="287334"/>
            <a:ext cx="7315200" cy="347472"/>
          </a:xfrm>
          <a:prstGeom prst="rect">
            <a:avLst/>
          </a:prstGeom>
          <a:noFill/>
          <a:ln/>
        </p:spPr>
        <p:txBody>
          <a:bodyPr wrap="square" lIns="0" tIns="0" rIns="0" bIns="0" rtlCol="0" anchor="ctr"/>
          <a:lstStyle/>
          <a:p>
            <a:pPr marL="0" indent="0">
              <a:buNone/>
            </a:pPr>
            <a:r>
              <a:rPr lang="en-US" sz="1400" b="1" dirty="0">
                <a:solidFill>
                  <a:srgbClr val="FFFFFF"/>
                </a:solidFill>
              </a:rPr>
              <a:t>AI servers, training cluster architecture, interconnect fabric, and cooling infrastructure</a:t>
            </a:r>
            <a:endParaRPr lang="en-US" sz="1400" dirty="0"/>
          </a:p>
        </p:txBody>
      </p:sp>
      <p:sp>
        <p:nvSpPr>
          <p:cNvPr id="6" name="Shape 4"/>
          <p:cNvSpPr/>
          <p:nvPr/>
        </p:nvSpPr>
        <p:spPr>
          <a:xfrm>
            <a:off x="274320" y="822960"/>
            <a:ext cx="4023360" cy="2561314"/>
          </a:xfrm>
          <a:prstGeom prst="rect">
            <a:avLst/>
          </a:prstGeom>
          <a:solidFill>
            <a:srgbClr val="1A2850"/>
          </a:solidFill>
          <a:ln w="6350">
            <a:solidFill>
              <a:srgbClr val="FFFFFF">
                <a:alpha val="6000"/>
              </a:srgbClr>
            </a:solidFill>
            <a:prstDash val="solid"/>
          </a:ln>
        </p:spPr>
      </p:sp>
      <p:sp>
        <p:nvSpPr>
          <p:cNvPr id="7" name="Text 5"/>
          <p:cNvSpPr/>
          <p:nvPr/>
        </p:nvSpPr>
        <p:spPr>
          <a:xfrm>
            <a:off x="373711" y="740290"/>
            <a:ext cx="3749040" cy="385685"/>
          </a:xfrm>
          <a:prstGeom prst="rect">
            <a:avLst/>
          </a:prstGeom>
          <a:noFill/>
          <a:ln/>
        </p:spPr>
        <p:txBody>
          <a:bodyPr wrap="square" lIns="0" tIns="0" rIns="0" bIns="0" rtlCol="0" anchor="ctr"/>
          <a:lstStyle/>
          <a:p>
            <a:pPr marL="0" indent="0">
              <a:buNone/>
            </a:pPr>
            <a:r>
              <a:rPr lang="en-US" sz="900" b="1" kern="0" spc="200" dirty="0">
                <a:solidFill>
                  <a:srgbClr val="3B82F6"/>
                </a:solidFill>
              </a:rPr>
              <a:t>HOW A TRAINING CLUSTER IS BUILT</a:t>
            </a:r>
            <a:endParaRPr lang="en-US" sz="900" dirty="0"/>
          </a:p>
        </p:txBody>
      </p:sp>
      <p:sp>
        <p:nvSpPr>
          <p:cNvPr id="8" name="Shape 6"/>
          <p:cNvSpPr/>
          <p:nvPr/>
        </p:nvSpPr>
        <p:spPr>
          <a:xfrm>
            <a:off x="373711" y="1108773"/>
            <a:ext cx="3657600" cy="523430"/>
          </a:xfrm>
          <a:prstGeom prst="roundRect">
            <a:avLst>
              <a:gd name="adj" fmla="val 13158"/>
            </a:avLst>
          </a:prstGeom>
          <a:solidFill>
            <a:srgbClr val="111830"/>
          </a:solidFill>
          <a:ln/>
        </p:spPr>
      </p:sp>
      <p:sp>
        <p:nvSpPr>
          <p:cNvPr id="9" name="Shape 7"/>
          <p:cNvSpPr/>
          <p:nvPr/>
        </p:nvSpPr>
        <p:spPr>
          <a:xfrm>
            <a:off x="492583" y="1151564"/>
            <a:ext cx="128016" cy="192843"/>
          </a:xfrm>
          <a:prstGeom prst="ellipse">
            <a:avLst/>
          </a:prstGeom>
          <a:solidFill>
            <a:srgbClr val="10B981"/>
          </a:solidFill>
          <a:ln/>
        </p:spPr>
      </p:sp>
      <p:sp>
        <p:nvSpPr>
          <p:cNvPr id="10" name="Text 8"/>
          <p:cNvSpPr/>
          <p:nvPr/>
        </p:nvSpPr>
        <p:spPr>
          <a:xfrm>
            <a:off x="712039" y="1105844"/>
            <a:ext cx="1188720" cy="275489"/>
          </a:xfrm>
          <a:prstGeom prst="rect">
            <a:avLst/>
          </a:prstGeom>
          <a:noFill/>
          <a:ln/>
        </p:spPr>
        <p:txBody>
          <a:bodyPr wrap="square" lIns="0" tIns="0" rIns="0" bIns="0" rtlCol="0" anchor="ctr"/>
          <a:lstStyle/>
          <a:p>
            <a:pPr marL="0" indent="0">
              <a:buNone/>
            </a:pPr>
            <a:r>
              <a:rPr lang="en-US" sz="850" b="1" dirty="0">
                <a:solidFill>
                  <a:srgbClr val="10B981"/>
                </a:solidFill>
              </a:rPr>
              <a:t>GPU/Accelerator</a:t>
            </a:r>
            <a:endParaRPr lang="en-US" sz="850" dirty="0"/>
          </a:p>
        </p:txBody>
      </p:sp>
      <p:sp>
        <p:nvSpPr>
          <p:cNvPr id="11" name="Text 9"/>
          <p:cNvSpPr/>
          <p:nvPr/>
        </p:nvSpPr>
        <p:spPr>
          <a:xfrm>
            <a:off x="712039" y="1295483"/>
            <a:ext cx="3200400" cy="247940"/>
          </a:xfrm>
          <a:prstGeom prst="rect">
            <a:avLst/>
          </a:prstGeom>
          <a:noFill/>
          <a:ln/>
        </p:spPr>
        <p:txBody>
          <a:bodyPr wrap="square" lIns="0" tIns="0" rIns="0" bIns="0" rtlCol="0" anchor="ctr"/>
          <a:lstStyle/>
          <a:p>
            <a:pPr marL="0" indent="0">
              <a:buNone/>
            </a:pPr>
            <a:r>
              <a:rPr lang="en-US" sz="750" dirty="0">
                <a:solidFill>
                  <a:srgbClr val="64748B"/>
                </a:solidFill>
              </a:rPr>
              <a:t>8x H100/H200 per server node. Interconnected via NVLink (5.6 TB/s). This is the "engine room".</a:t>
            </a:r>
            <a:endParaRPr lang="en-US" sz="750" dirty="0"/>
          </a:p>
        </p:txBody>
      </p:sp>
      <p:sp>
        <p:nvSpPr>
          <p:cNvPr id="12" name="Shape 10"/>
          <p:cNvSpPr/>
          <p:nvPr/>
        </p:nvSpPr>
        <p:spPr>
          <a:xfrm>
            <a:off x="373711" y="1581912"/>
            <a:ext cx="3657600" cy="523430"/>
          </a:xfrm>
          <a:prstGeom prst="roundRect">
            <a:avLst>
              <a:gd name="adj" fmla="val 13158"/>
            </a:avLst>
          </a:prstGeom>
          <a:solidFill>
            <a:srgbClr val="111830"/>
          </a:solidFill>
          <a:ln/>
        </p:spPr>
      </p:sp>
      <p:sp>
        <p:nvSpPr>
          <p:cNvPr id="13" name="Shape 11"/>
          <p:cNvSpPr/>
          <p:nvPr/>
        </p:nvSpPr>
        <p:spPr>
          <a:xfrm>
            <a:off x="492583" y="1568370"/>
            <a:ext cx="128016" cy="192843"/>
          </a:xfrm>
          <a:prstGeom prst="ellipse">
            <a:avLst/>
          </a:prstGeom>
          <a:solidFill>
            <a:srgbClr val="3B82F6"/>
          </a:solidFill>
          <a:ln/>
        </p:spPr>
      </p:sp>
      <p:sp>
        <p:nvSpPr>
          <p:cNvPr id="14" name="Text 12"/>
          <p:cNvSpPr/>
          <p:nvPr/>
        </p:nvSpPr>
        <p:spPr>
          <a:xfrm>
            <a:off x="712039" y="1522650"/>
            <a:ext cx="1188720" cy="275489"/>
          </a:xfrm>
          <a:prstGeom prst="rect">
            <a:avLst/>
          </a:prstGeom>
          <a:noFill/>
          <a:ln/>
        </p:spPr>
        <p:txBody>
          <a:bodyPr wrap="square" lIns="0" tIns="0" rIns="0" bIns="0" rtlCol="0" anchor="ctr"/>
          <a:lstStyle/>
          <a:p>
            <a:pPr marL="0" indent="0">
              <a:buNone/>
            </a:pPr>
            <a:r>
              <a:rPr lang="en-US" sz="850" b="1" dirty="0">
                <a:solidFill>
                  <a:srgbClr val="3B82F6"/>
                </a:solidFill>
              </a:rPr>
              <a:t>Server Node</a:t>
            </a:r>
            <a:endParaRPr lang="en-US" sz="850" dirty="0"/>
          </a:p>
        </p:txBody>
      </p:sp>
      <p:sp>
        <p:nvSpPr>
          <p:cNvPr id="15" name="Text 13"/>
          <p:cNvSpPr/>
          <p:nvPr/>
        </p:nvSpPr>
        <p:spPr>
          <a:xfrm>
            <a:off x="712039" y="1704338"/>
            <a:ext cx="3200400" cy="247940"/>
          </a:xfrm>
          <a:prstGeom prst="rect">
            <a:avLst/>
          </a:prstGeom>
          <a:noFill/>
          <a:ln/>
        </p:spPr>
        <p:txBody>
          <a:bodyPr wrap="square" lIns="0" tIns="0" rIns="0" bIns="0" rtlCol="0" anchor="ctr"/>
          <a:lstStyle/>
          <a:p>
            <a:pPr marL="0" indent="0">
              <a:buNone/>
            </a:pPr>
            <a:r>
              <a:rPr lang="en-US" sz="750" dirty="0">
                <a:solidFill>
                  <a:srgbClr val="64748B"/>
                </a:solidFill>
              </a:rPr>
              <a:t>GPU + CPU (AMD EPYC) + HBM memory + NVMe storage. 1U to 10U form factor. 5-10 kW/node.</a:t>
            </a:r>
            <a:endParaRPr lang="en-US" sz="750" dirty="0"/>
          </a:p>
        </p:txBody>
      </p:sp>
      <p:sp>
        <p:nvSpPr>
          <p:cNvPr id="16" name="Shape 14"/>
          <p:cNvSpPr/>
          <p:nvPr/>
        </p:nvSpPr>
        <p:spPr>
          <a:xfrm>
            <a:off x="373711" y="1975104"/>
            <a:ext cx="3657600" cy="523430"/>
          </a:xfrm>
          <a:prstGeom prst="roundRect">
            <a:avLst>
              <a:gd name="adj" fmla="val 13158"/>
            </a:avLst>
          </a:prstGeom>
          <a:solidFill>
            <a:srgbClr val="111830"/>
          </a:solidFill>
          <a:ln/>
        </p:spPr>
      </p:sp>
      <p:sp>
        <p:nvSpPr>
          <p:cNvPr id="17" name="Shape 15"/>
          <p:cNvSpPr/>
          <p:nvPr/>
        </p:nvSpPr>
        <p:spPr>
          <a:xfrm>
            <a:off x="492583" y="1976706"/>
            <a:ext cx="128016" cy="192843"/>
          </a:xfrm>
          <a:prstGeom prst="ellipse">
            <a:avLst/>
          </a:prstGeom>
          <a:solidFill>
            <a:srgbClr val="06B6D4"/>
          </a:solidFill>
          <a:ln/>
        </p:spPr>
      </p:sp>
      <p:sp>
        <p:nvSpPr>
          <p:cNvPr id="18" name="Text 16"/>
          <p:cNvSpPr/>
          <p:nvPr/>
        </p:nvSpPr>
        <p:spPr>
          <a:xfrm>
            <a:off x="712039" y="1930986"/>
            <a:ext cx="1188720" cy="275489"/>
          </a:xfrm>
          <a:prstGeom prst="rect">
            <a:avLst/>
          </a:prstGeom>
          <a:noFill/>
          <a:ln/>
        </p:spPr>
        <p:txBody>
          <a:bodyPr wrap="square" lIns="0" tIns="0" rIns="0" bIns="0" rtlCol="0" anchor="ctr"/>
          <a:lstStyle/>
          <a:p>
            <a:pPr marL="0" indent="0">
              <a:buNone/>
            </a:pPr>
            <a:r>
              <a:rPr lang="en-US" sz="850" b="1" dirty="0">
                <a:solidFill>
                  <a:srgbClr val="06B6D4"/>
                </a:solidFill>
              </a:rPr>
              <a:t>InfiniBand / RoCE Fabric</a:t>
            </a:r>
            <a:endParaRPr lang="en-US" sz="850" dirty="0"/>
          </a:p>
        </p:txBody>
      </p:sp>
      <p:sp>
        <p:nvSpPr>
          <p:cNvPr id="19" name="Text 17"/>
          <p:cNvSpPr/>
          <p:nvPr/>
        </p:nvSpPr>
        <p:spPr>
          <a:xfrm>
            <a:off x="712039" y="2128576"/>
            <a:ext cx="3200400" cy="247940"/>
          </a:xfrm>
          <a:prstGeom prst="rect">
            <a:avLst/>
          </a:prstGeom>
          <a:noFill/>
          <a:ln/>
        </p:spPr>
        <p:txBody>
          <a:bodyPr wrap="square" lIns="0" tIns="0" rIns="0" bIns="0" rtlCol="0" anchor="ctr"/>
          <a:lstStyle/>
          <a:p>
            <a:pPr marL="0" indent="0">
              <a:buNone/>
            </a:pPr>
            <a:r>
              <a:rPr lang="en-US" sz="750" dirty="0">
                <a:solidFill>
                  <a:srgbClr val="64748B"/>
                </a:solidFill>
              </a:rPr>
              <a:t>NDR InfiniBand at 400 Gb/s per GPU. Enables GPUs across servers to act as one system. NVIDIA owns this layer (Mellanox acquisition).</a:t>
            </a:r>
            <a:endParaRPr lang="en-US" sz="750" dirty="0"/>
          </a:p>
        </p:txBody>
      </p:sp>
      <p:sp>
        <p:nvSpPr>
          <p:cNvPr id="20" name="Shape 18"/>
          <p:cNvSpPr/>
          <p:nvPr/>
        </p:nvSpPr>
        <p:spPr>
          <a:xfrm>
            <a:off x="373711" y="2368296"/>
            <a:ext cx="3657600" cy="523430"/>
          </a:xfrm>
          <a:prstGeom prst="roundRect">
            <a:avLst>
              <a:gd name="adj" fmla="val 13158"/>
            </a:avLst>
          </a:prstGeom>
          <a:solidFill>
            <a:srgbClr val="111830"/>
          </a:solidFill>
          <a:ln/>
        </p:spPr>
      </p:sp>
      <p:sp>
        <p:nvSpPr>
          <p:cNvPr id="21" name="Shape 19"/>
          <p:cNvSpPr/>
          <p:nvPr/>
        </p:nvSpPr>
        <p:spPr>
          <a:xfrm>
            <a:off x="492583" y="2370517"/>
            <a:ext cx="128016" cy="192843"/>
          </a:xfrm>
          <a:prstGeom prst="ellipse">
            <a:avLst/>
          </a:prstGeom>
          <a:solidFill>
            <a:srgbClr val="F59E0B"/>
          </a:solidFill>
          <a:ln/>
        </p:spPr>
      </p:sp>
      <p:sp>
        <p:nvSpPr>
          <p:cNvPr id="22" name="Text 20"/>
          <p:cNvSpPr/>
          <p:nvPr/>
        </p:nvSpPr>
        <p:spPr>
          <a:xfrm>
            <a:off x="712039" y="2324797"/>
            <a:ext cx="1188720" cy="275489"/>
          </a:xfrm>
          <a:prstGeom prst="rect">
            <a:avLst/>
          </a:prstGeom>
          <a:noFill/>
          <a:ln/>
        </p:spPr>
        <p:txBody>
          <a:bodyPr wrap="square" lIns="0" tIns="0" rIns="0" bIns="0" rtlCol="0" anchor="ctr"/>
          <a:lstStyle/>
          <a:p>
            <a:pPr marL="0" indent="0">
              <a:buNone/>
            </a:pPr>
            <a:r>
              <a:rPr lang="en-US" sz="850" b="1" dirty="0">
                <a:solidFill>
                  <a:srgbClr val="F59E0B"/>
                </a:solidFill>
              </a:rPr>
              <a:t>Top-of-Rack Switch</a:t>
            </a:r>
            <a:endParaRPr lang="en-US" sz="850" dirty="0"/>
          </a:p>
        </p:txBody>
      </p:sp>
      <p:sp>
        <p:nvSpPr>
          <p:cNvPr id="23" name="Text 21"/>
          <p:cNvSpPr/>
          <p:nvPr/>
        </p:nvSpPr>
        <p:spPr>
          <a:xfrm>
            <a:off x="712039" y="2546240"/>
            <a:ext cx="3200400" cy="247940"/>
          </a:xfrm>
          <a:prstGeom prst="rect">
            <a:avLst/>
          </a:prstGeom>
          <a:noFill/>
          <a:ln/>
        </p:spPr>
        <p:txBody>
          <a:bodyPr wrap="square" lIns="0" tIns="0" rIns="0" bIns="0" rtlCol="0" anchor="ctr"/>
          <a:lstStyle/>
          <a:p>
            <a:pPr marL="0" indent="0">
              <a:buNone/>
            </a:pPr>
            <a:r>
              <a:rPr lang="en-US" sz="750" dirty="0">
                <a:solidFill>
                  <a:srgbClr val="64748B"/>
                </a:solidFill>
              </a:rPr>
              <a:t>Arista, Cisco, or NVIDIA (Spectrum). 100+ ports at 800G. Critical for east-west cluster traffic.</a:t>
            </a:r>
            <a:endParaRPr lang="en-US" sz="750" dirty="0"/>
          </a:p>
        </p:txBody>
      </p:sp>
      <p:sp>
        <p:nvSpPr>
          <p:cNvPr id="24" name="Shape 22"/>
          <p:cNvSpPr/>
          <p:nvPr/>
        </p:nvSpPr>
        <p:spPr>
          <a:xfrm>
            <a:off x="373711" y="2761488"/>
            <a:ext cx="3657600" cy="523430"/>
          </a:xfrm>
          <a:prstGeom prst="roundRect">
            <a:avLst>
              <a:gd name="adj" fmla="val 13158"/>
            </a:avLst>
          </a:prstGeom>
          <a:solidFill>
            <a:srgbClr val="111830"/>
          </a:solidFill>
          <a:ln/>
        </p:spPr>
      </p:sp>
      <p:sp>
        <p:nvSpPr>
          <p:cNvPr id="25" name="Shape 23"/>
          <p:cNvSpPr/>
          <p:nvPr/>
        </p:nvSpPr>
        <p:spPr>
          <a:xfrm>
            <a:off x="522401" y="2849525"/>
            <a:ext cx="128016" cy="192843"/>
          </a:xfrm>
          <a:prstGeom prst="ellipse">
            <a:avLst/>
          </a:prstGeom>
          <a:solidFill>
            <a:srgbClr val="F97316"/>
          </a:solidFill>
          <a:ln/>
        </p:spPr>
      </p:sp>
      <p:sp>
        <p:nvSpPr>
          <p:cNvPr id="26" name="Text 24"/>
          <p:cNvSpPr/>
          <p:nvPr/>
        </p:nvSpPr>
        <p:spPr>
          <a:xfrm>
            <a:off x="741857" y="2803805"/>
            <a:ext cx="1188720" cy="275489"/>
          </a:xfrm>
          <a:prstGeom prst="rect">
            <a:avLst/>
          </a:prstGeom>
          <a:noFill/>
          <a:ln/>
        </p:spPr>
        <p:txBody>
          <a:bodyPr wrap="square" lIns="0" tIns="0" rIns="0" bIns="0" rtlCol="0" anchor="ctr"/>
          <a:lstStyle/>
          <a:p>
            <a:pPr marL="0" indent="0">
              <a:buNone/>
            </a:pPr>
            <a:r>
              <a:rPr lang="en-US" sz="850" b="1" dirty="0">
                <a:solidFill>
                  <a:srgbClr val="F97316"/>
                </a:solidFill>
              </a:rPr>
              <a:t>Spine/Core Network</a:t>
            </a:r>
            <a:endParaRPr lang="en-US" sz="850" dirty="0"/>
          </a:p>
        </p:txBody>
      </p:sp>
      <p:sp>
        <p:nvSpPr>
          <p:cNvPr id="27" name="Text 25"/>
          <p:cNvSpPr/>
          <p:nvPr/>
        </p:nvSpPr>
        <p:spPr>
          <a:xfrm>
            <a:off x="741857" y="2985493"/>
            <a:ext cx="3200400" cy="247940"/>
          </a:xfrm>
          <a:prstGeom prst="rect">
            <a:avLst/>
          </a:prstGeom>
          <a:noFill/>
          <a:ln/>
        </p:spPr>
        <p:txBody>
          <a:bodyPr wrap="square" lIns="0" tIns="0" rIns="0" bIns="0" rtlCol="0" anchor="ctr"/>
          <a:lstStyle/>
          <a:p>
            <a:pPr marL="0" indent="0">
              <a:buNone/>
            </a:pPr>
            <a:r>
              <a:rPr lang="en-US" sz="750" dirty="0">
                <a:solidFill>
                  <a:srgbClr val="64748B"/>
                </a:solidFill>
              </a:rPr>
              <a:t>Connects racks within data center. Ultra-low latency (&lt;1 microsecond) is critical for distributed training.</a:t>
            </a:r>
            <a:endParaRPr lang="en-US" sz="750" dirty="0"/>
          </a:p>
        </p:txBody>
      </p:sp>
      <p:sp>
        <p:nvSpPr>
          <p:cNvPr id="28" name="Shape 26"/>
          <p:cNvSpPr/>
          <p:nvPr/>
        </p:nvSpPr>
        <p:spPr>
          <a:xfrm>
            <a:off x="4526280" y="822959"/>
            <a:ext cx="4389120" cy="2533585"/>
          </a:xfrm>
          <a:prstGeom prst="rect">
            <a:avLst/>
          </a:prstGeom>
          <a:solidFill>
            <a:srgbClr val="1A2850"/>
          </a:solidFill>
          <a:ln w="6350">
            <a:solidFill>
              <a:srgbClr val="FFFFFF">
                <a:alpha val="6000"/>
              </a:srgbClr>
            </a:solidFill>
            <a:prstDash val="solid"/>
          </a:ln>
        </p:spPr>
      </p:sp>
      <p:sp>
        <p:nvSpPr>
          <p:cNvPr id="29" name="Text 27"/>
          <p:cNvSpPr/>
          <p:nvPr/>
        </p:nvSpPr>
        <p:spPr>
          <a:xfrm>
            <a:off x="4625671" y="774457"/>
            <a:ext cx="4114800" cy="385685"/>
          </a:xfrm>
          <a:prstGeom prst="rect">
            <a:avLst/>
          </a:prstGeom>
          <a:noFill/>
          <a:ln/>
        </p:spPr>
        <p:txBody>
          <a:bodyPr wrap="square" lIns="0" tIns="0" rIns="0" bIns="0" rtlCol="0" anchor="ctr"/>
          <a:lstStyle/>
          <a:p>
            <a:pPr marL="0" indent="0">
              <a:buNone/>
            </a:pPr>
            <a:r>
              <a:rPr lang="en-US" sz="900" b="1" kern="0" spc="100" dirty="0">
                <a:solidFill>
                  <a:srgbClr val="3B82F6"/>
                </a:solidFill>
              </a:rPr>
              <a:t>KEY PLAYERS, MOATS &amp; BUSINESS MODELS</a:t>
            </a:r>
            <a:endParaRPr lang="en-US" sz="900" dirty="0"/>
          </a:p>
        </p:txBody>
      </p:sp>
      <p:sp>
        <p:nvSpPr>
          <p:cNvPr id="30" name="Shape 28"/>
          <p:cNvSpPr/>
          <p:nvPr/>
        </p:nvSpPr>
        <p:spPr>
          <a:xfrm>
            <a:off x="4625671" y="1077646"/>
            <a:ext cx="4114800" cy="523430"/>
          </a:xfrm>
          <a:prstGeom prst="roundRect">
            <a:avLst>
              <a:gd name="adj" fmla="val 13158"/>
            </a:avLst>
          </a:prstGeom>
          <a:solidFill>
            <a:srgbClr val="111830"/>
          </a:solidFill>
          <a:ln/>
        </p:spPr>
      </p:sp>
      <p:sp>
        <p:nvSpPr>
          <p:cNvPr id="31" name="Text 29"/>
          <p:cNvSpPr/>
          <p:nvPr/>
        </p:nvSpPr>
        <p:spPr>
          <a:xfrm>
            <a:off x="4735399" y="1086884"/>
            <a:ext cx="1417320" cy="247940"/>
          </a:xfrm>
          <a:prstGeom prst="rect">
            <a:avLst/>
          </a:prstGeom>
          <a:noFill/>
          <a:ln/>
        </p:spPr>
        <p:txBody>
          <a:bodyPr wrap="square" lIns="0" tIns="0" rIns="0" bIns="0" rtlCol="0" anchor="ctr"/>
          <a:lstStyle/>
          <a:p>
            <a:pPr marL="0" indent="0">
              <a:buNone/>
            </a:pPr>
            <a:r>
              <a:rPr lang="en-US" sz="850" b="1" dirty="0">
                <a:solidFill>
                  <a:srgbClr val="3B82F6"/>
                </a:solidFill>
              </a:rPr>
              <a:t>NVIDIA (Systems)</a:t>
            </a:r>
            <a:endParaRPr lang="en-US" sz="850" dirty="0"/>
          </a:p>
        </p:txBody>
      </p:sp>
      <p:sp>
        <p:nvSpPr>
          <p:cNvPr id="32" name="Text 30"/>
          <p:cNvSpPr/>
          <p:nvPr/>
        </p:nvSpPr>
        <p:spPr>
          <a:xfrm>
            <a:off x="4735399" y="1290361"/>
            <a:ext cx="3886200" cy="234166"/>
          </a:xfrm>
          <a:prstGeom prst="rect">
            <a:avLst/>
          </a:prstGeom>
          <a:noFill/>
          <a:ln/>
        </p:spPr>
        <p:txBody>
          <a:bodyPr wrap="square" lIns="0" tIns="0" rIns="0" bIns="0" rtlCol="0" anchor="ctr"/>
          <a:lstStyle/>
          <a:p>
            <a:pPr marL="0" indent="0">
              <a:buNone/>
            </a:pPr>
            <a:r>
              <a:rPr lang="en-US" sz="750" dirty="0">
                <a:solidFill>
                  <a:srgbClr val="64748B"/>
                </a:solidFill>
              </a:rPr>
              <a:t>Sells complete DGX pods — GPU+InfiniBand+CUDA as an integrated product. No other vendor offers end-t</a:t>
            </a:r>
            <a:endParaRPr lang="en-US" sz="750" dirty="0"/>
          </a:p>
        </p:txBody>
      </p:sp>
      <p:sp>
        <p:nvSpPr>
          <p:cNvPr id="33" name="Shape 31"/>
          <p:cNvSpPr/>
          <p:nvPr/>
        </p:nvSpPr>
        <p:spPr>
          <a:xfrm>
            <a:off x="4625671" y="1581912"/>
            <a:ext cx="4114800" cy="523430"/>
          </a:xfrm>
          <a:prstGeom prst="roundRect">
            <a:avLst>
              <a:gd name="adj" fmla="val 13158"/>
            </a:avLst>
          </a:prstGeom>
          <a:solidFill>
            <a:srgbClr val="111830"/>
          </a:solidFill>
          <a:ln/>
        </p:spPr>
      </p:sp>
      <p:sp>
        <p:nvSpPr>
          <p:cNvPr id="34" name="Text 32"/>
          <p:cNvSpPr/>
          <p:nvPr/>
        </p:nvSpPr>
        <p:spPr>
          <a:xfrm>
            <a:off x="4735399" y="1527521"/>
            <a:ext cx="1417320" cy="247940"/>
          </a:xfrm>
          <a:prstGeom prst="rect">
            <a:avLst/>
          </a:prstGeom>
          <a:noFill/>
          <a:ln/>
        </p:spPr>
        <p:txBody>
          <a:bodyPr wrap="square" lIns="0" tIns="0" rIns="0" bIns="0" rtlCol="0" anchor="ctr"/>
          <a:lstStyle/>
          <a:p>
            <a:pPr marL="0" indent="0">
              <a:buNone/>
            </a:pPr>
            <a:r>
              <a:rPr lang="en-US" sz="850" b="1" dirty="0">
                <a:solidFill>
                  <a:srgbClr val="3B82F6"/>
                </a:solidFill>
              </a:rPr>
              <a:t>Super Micro (SMCI)</a:t>
            </a:r>
            <a:endParaRPr lang="en-US" sz="850" dirty="0"/>
          </a:p>
        </p:txBody>
      </p:sp>
      <p:sp>
        <p:nvSpPr>
          <p:cNvPr id="35" name="Text 33"/>
          <p:cNvSpPr/>
          <p:nvPr/>
        </p:nvSpPr>
        <p:spPr>
          <a:xfrm>
            <a:off x="4735399" y="1724170"/>
            <a:ext cx="3886200" cy="234166"/>
          </a:xfrm>
          <a:prstGeom prst="rect">
            <a:avLst/>
          </a:prstGeom>
          <a:noFill/>
          <a:ln/>
        </p:spPr>
        <p:txBody>
          <a:bodyPr wrap="square" lIns="0" tIns="0" rIns="0" bIns="0" rtlCol="0" anchor="ctr"/>
          <a:lstStyle/>
          <a:p>
            <a:pPr marL="0" indent="0">
              <a:buNone/>
            </a:pPr>
            <a:r>
              <a:rPr lang="en-US" sz="750" dirty="0">
                <a:solidFill>
                  <a:srgbClr val="64748B"/>
                </a:solidFill>
              </a:rPr>
              <a:t>Designs and assembles AI server nodes around NVIDIA and AMD GPUs. Fastest time-to-market with new GP</a:t>
            </a:r>
            <a:endParaRPr lang="en-US" sz="750" dirty="0"/>
          </a:p>
        </p:txBody>
      </p:sp>
      <p:sp>
        <p:nvSpPr>
          <p:cNvPr id="36" name="Shape 34"/>
          <p:cNvSpPr/>
          <p:nvPr/>
        </p:nvSpPr>
        <p:spPr>
          <a:xfrm>
            <a:off x="4625671" y="1975104"/>
            <a:ext cx="4114800" cy="523430"/>
          </a:xfrm>
          <a:prstGeom prst="roundRect">
            <a:avLst>
              <a:gd name="adj" fmla="val 13158"/>
            </a:avLst>
          </a:prstGeom>
          <a:solidFill>
            <a:srgbClr val="111830"/>
          </a:solidFill>
          <a:ln/>
        </p:spPr>
      </p:sp>
      <p:sp>
        <p:nvSpPr>
          <p:cNvPr id="37" name="Text 35"/>
          <p:cNvSpPr/>
          <p:nvPr/>
        </p:nvSpPr>
        <p:spPr>
          <a:xfrm>
            <a:off x="4735399" y="1940328"/>
            <a:ext cx="1417320" cy="247940"/>
          </a:xfrm>
          <a:prstGeom prst="rect">
            <a:avLst/>
          </a:prstGeom>
          <a:noFill/>
          <a:ln/>
        </p:spPr>
        <p:txBody>
          <a:bodyPr wrap="square" lIns="0" tIns="0" rIns="0" bIns="0" rtlCol="0" anchor="ctr"/>
          <a:lstStyle/>
          <a:p>
            <a:pPr marL="0" indent="0">
              <a:buNone/>
            </a:pPr>
            <a:r>
              <a:rPr lang="en-US" sz="850" b="1" dirty="0">
                <a:solidFill>
                  <a:srgbClr val="3B82F6"/>
                </a:solidFill>
              </a:rPr>
              <a:t>Arista Networks ($ANET)</a:t>
            </a:r>
            <a:endParaRPr lang="en-US" sz="850" dirty="0"/>
          </a:p>
        </p:txBody>
      </p:sp>
      <p:sp>
        <p:nvSpPr>
          <p:cNvPr id="38" name="Text 36"/>
          <p:cNvSpPr/>
          <p:nvPr/>
        </p:nvSpPr>
        <p:spPr>
          <a:xfrm>
            <a:off x="4735399" y="2124986"/>
            <a:ext cx="3886200" cy="234166"/>
          </a:xfrm>
          <a:prstGeom prst="rect">
            <a:avLst/>
          </a:prstGeom>
          <a:noFill/>
          <a:ln/>
        </p:spPr>
        <p:txBody>
          <a:bodyPr wrap="square" lIns="0" tIns="0" rIns="0" bIns="0" rtlCol="0" anchor="ctr"/>
          <a:lstStyle/>
          <a:p>
            <a:pPr marL="0" indent="0">
              <a:buNone/>
            </a:pPr>
            <a:r>
              <a:rPr lang="en-US" sz="750" dirty="0">
                <a:solidFill>
                  <a:srgbClr val="64748B"/>
                </a:solidFill>
              </a:rPr>
              <a:t>Cloud networking switches for data center spine/leaf. Moat: EOS operating system is programmable and</a:t>
            </a:r>
            <a:endParaRPr lang="en-US" sz="750" dirty="0"/>
          </a:p>
        </p:txBody>
      </p:sp>
      <p:sp>
        <p:nvSpPr>
          <p:cNvPr id="39" name="Shape 37"/>
          <p:cNvSpPr/>
          <p:nvPr/>
        </p:nvSpPr>
        <p:spPr>
          <a:xfrm>
            <a:off x="4625671" y="2368296"/>
            <a:ext cx="4114800" cy="523430"/>
          </a:xfrm>
          <a:prstGeom prst="roundRect">
            <a:avLst>
              <a:gd name="adj" fmla="val 13158"/>
            </a:avLst>
          </a:prstGeom>
          <a:solidFill>
            <a:srgbClr val="111830"/>
          </a:solidFill>
          <a:ln/>
        </p:spPr>
      </p:sp>
      <p:sp>
        <p:nvSpPr>
          <p:cNvPr id="40" name="Text 38"/>
          <p:cNvSpPr/>
          <p:nvPr/>
        </p:nvSpPr>
        <p:spPr>
          <a:xfrm>
            <a:off x="4735399" y="2386584"/>
            <a:ext cx="1417320" cy="247940"/>
          </a:xfrm>
          <a:prstGeom prst="rect">
            <a:avLst/>
          </a:prstGeom>
          <a:noFill/>
          <a:ln/>
        </p:spPr>
        <p:txBody>
          <a:bodyPr wrap="square" lIns="0" tIns="0" rIns="0" bIns="0" rtlCol="0" anchor="ctr"/>
          <a:lstStyle/>
          <a:p>
            <a:pPr marL="0" indent="0">
              <a:buNone/>
            </a:pPr>
            <a:r>
              <a:rPr lang="en-US" sz="850" b="1" dirty="0">
                <a:solidFill>
                  <a:srgbClr val="3B82F6"/>
                </a:solidFill>
              </a:rPr>
              <a:t>Coherent / II-VI ($COHR)</a:t>
            </a:r>
            <a:endParaRPr lang="en-US" sz="850" dirty="0"/>
          </a:p>
        </p:txBody>
      </p:sp>
      <p:sp>
        <p:nvSpPr>
          <p:cNvPr id="41" name="Text 39"/>
          <p:cNvSpPr/>
          <p:nvPr/>
        </p:nvSpPr>
        <p:spPr>
          <a:xfrm>
            <a:off x="4735399" y="2582441"/>
            <a:ext cx="3886200" cy="234166"/>
          </a:xfrm>
          <a:prstGeom prst="rect">
            <a:avLst/>
          </a:prstGeom>
          <a:noFill/>
          <a:ln/>
        </p:spPr>
        <p:txBody>
          <a:bodyPr wrap="square" lIns="0" tIns="0" rIns="0" bIns="0" rtlCol="0" anchor="ctr"/>
          <a:lstStyle/>
          <a:p>
            <a:pPr marL="0" indent="0">
              <a:buNone/>
            </a:pPr>
            <a:r>
              <a:rPr lang="en-US" sz="750" dirty="0">
                <a:solidFill>
                  <a:srgbClr val="64748B"/>
                </a:solidFill>
              </a:rPr>
              <a:t>Optical transceivers (400G, 800G) that carry data between servers within and between data centers. M</a:t>
            </a:r>
            <a:endParaRPr lang="en-US" sz="750" dirty="0"/>
          </a:p>
        </p:txBody>
      </p:sp>
      <p:sp>
        <p:nvSpPr>
          <p:cNvPr id="42" name="Shape 40"/>
          <p:cNvSpPr/>
          <p:nvPr/>
        </p:nvSpPr>
        <p:spPr>
          <a:xfrm>
            <a:off x="4625671" y="2761488"/>
            <a:ext cx="4114800" cy="523430"/>
          </a:xfrm>
          <a:prstGeom prst="roundRect">
            <a:avLst>
              <a:gd name="adj" fmla="val 13158"/>
            </a:avLst>
          </a:prstGeom>
          <a:solidFill>
            <a:srgbClr val="111830"/>
          </a:solidFill>
          <a:ln/>
        </p:spPr>
      </p:sp>
      <p:sp>
        <p:nvSpPr>
          <p:cNvPr id="43" name="Text 41"/>
          <p:cNvSpPr/>
          <p:nvPr/>
        </p:nvSpPr>
        <p:spPr>
          <a:xfrm>
            <a:off x="4735399" y="2779776"/>
            <a:ext cx="1417320" cy="247940"/>
          </a:xfrm>
          <a:prstGeom prst="rect">
            <a:avLst/>
          </a:prstGeom>
          <a:noFill/>
          <a:ln/>
        </p:spPr>
        <p:txBody>
          <a:bodyPr wrap="square" lIns="0" tIns="0" rIns="0" bIns="0" rtlCol="0" anchor="ctr"/>
          <a:lstStyle/>
          <a:p>
            <a:pPr marL="0" indent="0">
              <a:buNone/>
            </a:pPr>
            <a:r>
              <a:rPr lang="en-US" sz="850" b="1" dirty="0">
                <a:solidFill>
                  <a:srgbClr val="3B82F6"/>
                </a:solidFill>
              </a:rPr>
              <a:t>Vertiv Holdings ($VRT)</a:t>
            </a:r>
            <a:endParaRPr lang="en-US" sz="850" dirty="0"/>
          </a:p>
        </p:txBody>
      </p:sp>
      <p:sp>
        <p:nvSpPr>
          <p:cNvPr id="44" name="Text 42"/>
          <p:cNvSpPr/>
          <p:nvPr/>
        </p:nvSpPr>
        <p:spPr>
          <a:xfrm>
            <a:off x="4735399" y="2967228"/>
            <a:ext cx="3886200" cy="234166"/>
          </a:xfrm>
          <a:prstGeom prst="rect">
            <a:avLst/>
          </a:prstGeom>
          <a:noFill/>
          <a:ln/>
        </p:spPr>
        <p:txBody>
          <a:bodyPr wrap="square" lIns="0" tIns="0" rIns="0" bIns="0" rtlCol="0" anchor="ctr"/>
          <a:lstStyle/>
          <a:p>
            <a:pPr marL="0" indent="0">
              <a:buNone/>
            </a:pPr>
            <a:r>
              <a:rPr lang="en-US" sz="750" dirty="0">
                <a:solidFill>
                  <a:srgbClr val="64748B"/>
                </a:solidFill>
              </a:rPr>
              <a:t>Thermal management (liquid cooling) and power distribution for AI servers. H100 GPUs run 5× hotter t</a:t>
            </a:r>
            <a:endParaRPr lang="en-US" sz="750" dirty="0"/>
          </a:p>
        </p:txBody>
      </p:sp>
      <p:sp>
        <p:nvSpPr>
          <p:cNvPr id="45" name="Shape 43"/>
          <p:cNvSpPr/>
          <p:nvPr/>
        </p:nvSpPr>
        <p:spPr>
          <a:xfrm>
            <a:off x="254839" y="3484560"/>
            <a:ext cx="8595360" cy="1545633"/>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46" name="Text 44"/>
          <p:cNvSpPr/>
          <p:nvPr/>
        </p:nvSpPr>
        <p:spPr>
          <a:xfrm>
            <a:off x="391999" y="3439138"/>
            <a:ext cx="8229600" cy="256032"/>
          </a:xfrm>
          <a:prstGeom prst="rect">
            <a:avLst/>
          </a:prstGeom>
          <a:noFill/>
          <a:ln/>
        </p:spPr>
        <p:txBody>
          <a:bodyPr wrap="square" lIns="0" tIns="0" rIns="0" bIns="0" rtlCol="0" anchor="ctr"/>
          <a:lstStyle/>
          <a:p>
            <a:pPr marL="0" indent="0">
              <a:buNone/>
            </a:pPr>
            <a:r>
              <a:rPr lang="en-US" sz="900" b="1" kern="0" spc="200" dirty="0">
                <a:solidFill>
                  <a:srgbClr val="3B82F6"/>
                </a:solidFill>
              </a:rPr>
              <a:t>CRITICAL INSIGHTS ON THIS LAYER</a:t>
            </a:r>
            <a:endParaRPr lang="en-US" sz="900" dirty="0"/>
          </a:p>
        </p:txBody>
      </p:sp>
      <p:sp>
        <p:nvSpPr>
          <p:cNvPr id="47" name="Shape 45"/>
          <p:cNvSpPr/>
          <p:nvPr/>
        </p:nvSpPr>
        <p:spPr>
          <a:xfrm>
            <a:off x="364567" y="3750034"/>
            <a:ext cx="2788920" cy="1152144"/>
          </a:xfrm>
          <a:prstGeom prst="roundRect">
            <a:avLst>
              <a:gd name="adj" fmla="val 5556"/>
            </a:avLst>
          </a:prstGeom>
          <a:solidFill>
            <a:srgbClr val="111830"/>
          </a:solidFill>
          <a:ln/>
        </p:spPr>
      </p:sp>
      <p:sp>
        <p:nvSpPr>
          <p:cNvPr id="48" name="Text 46"/>
          <p:cNvSpPr/>
          <p:nvPr/>
        </p:nvSpPr>
        <p:spPr>
          <a:xfrm>
            <a:off x="474295" y="3795754"/>
            <a:ext cx="2569464" cy="237744"/>
          </a:xfrm>
          <a:prstGeom prst="rect">
            <a:avLst/>
          </a:prstGeom>
          <a:noFill/>
          <a:ln/>
        </p:spPr>
        <p:txBody>
          <a:bodyPr wrap="square" lIns="0" tIns="0" rIns="0" bIns="0" rtlCol="0" anchor="ctr"/>
          <a:lstStyle/>
          <a:p>
            <a:pPr marL="0" indent="0">
              <a:buNone/>
            </a:pPr>
            <a:r>
              <a:rPr lang="en-US" sz="950" b="1" dirty="0">
                <a:solidFill>
                  <a:srgbClr val="3B82F6"/>
                </a:solidFill>
              </a:rPr>
              <a:t>The "interconnect war"</a:t>
            </a:r>
            <a:endParaRPr lang="en-US" sz="950" dirty="0"/>
          </a:p>
        </p:txBody>
      </p:sp>
      <p:sp>
        <p:nvSpPr>
          <p:cNvPr id="49" name="Text 47"/>
          <p:cNvSpPr/>
          <p:nvPr/>
        </p:nvSpPr>
        <p:spPr>
          <a:xfrm>
            <a:off x="474295" y="4024354"/>
            <a:ext cx="2569464" cy="822960"/>
          </a:xfrm>
          <a:prstGeom prst="rect">
            <a:avLst/>
          </a:prstGeom>
          <a:noFill/>
          <a:ln/>
        </p:spPr>
        <p:txBody>
          <a:bodyPr wrap="square" rtlCol="0" anchor="ctr"/>
          <a:lstStyle/>
          <a:p>
            <a:pPr marL="0" indent="0">
              <a:buNone/>
            </a:pPr>
            <a:r>
              <a:rPr lang="en-US" sz="850" dirty="0">
                <a:solidFill>
                  <a:srgbClr val="E2E8F5"/>
                </a:solidFill>
              </a:rPr>
              <a:t>A training cluster with 10,000 GPUs cannot train a model efficiently unless all GPUs can communicate at full bandwidth. InfiniBand (NVIDIA/Mellanox) vs. Ultra-Ethernet (Broadcom coalition) — whoever wins controls the fabric of every AI cluster.</a:t>
            </a:r>
            <a:endParaRPr lang="en-US" sz="850" dirty="0"/>
          </a:p>
        </p:txBody>
      </p:sp>
      <p:sp>
        <p:nvSpPr>
          <p:cNvPr id="50" name="Shape 48"/>
          <p:cNvSpPr/>
          <p:nvPr/>
        </p:nvSpPr>
        <p:spPr>
          <a:xfrm>
            <a:off x="3272359" y="3750034"/>
            <a:ext cx="2788920" cy="1152144"/>
          </a:xfrm>
          <a:prstGeom prst="roundRect">
            <a:avLst>
              <a:gd name="adj" fmla="val 5556"/>
            </a:avLst>
          </a:prstGeom>
          <a:solidFill>
            <a:srgbClr val="111830"/>
          </a:solidFill>
          <a:ln/>
        </p:spPr>
      </p:sp>
      <p:sp>
        <p:nvSpPr>
          <p:cNvPr id="51" name="Text 49"/>
          <p:cNvSpPr/>
          <p:nvPr/>
        </p:nvSpPr>
        <p:spPr>
          <a:xfrm>
            <a:off x="3382087" y="3795754"/>
            <a:ext cx="2569464" cy="237744"/>
          </a:xfrm>
          <a:prstGeom prst="rect">
            <a:avLst/>
          </a:prstGeom>
          <a:noFill/>
          <a:ln/>
        </p:spPr>
        <p:txBody>
          <a:bodyPr wrap="square" lIns="0" tIns="0" rIns="0" bIns="0" rtlCol="0" anchor="ctr"/>
          <a:lstStyle/>
          <a:p>
            <a:pPr marL="0" indent="0">
              <a:buNone/>
            </a:pPr>
            <a:r>
              <a:rPr lang="en-US" sz="950" b="1" dirty="0">
                <a:solidFill>
                  <a:srgbClr val="3B82F6"/>
                </a:solidFill>
              </a:rPr>
              <a:t>Thermal management = silent bottleneck</a:t>
            </a:r>
            <a:endParaRPr lang="en-US" sz="950" dirty="0"/>
          </a:p>
        </p:txBody>
      </p:sp>
      <p:sp>
        <p:nvSpPr>
          <p:cNvPr id="52" name="Text 50"/>
          <p:cNvSpPr/>
          <p:nvPr/>
        </p:nvSpPr>
        <p:spPr>
          <a:xfrm>
            <a:off x="3382087" y="4024354"/>
            <a:ext cx="2569464" cy="822960"/>
          </a:xfrm>
          <a:prstGeom prst="rect">
            <a:avLst/>
          </a:prstGeom>
          <a:noFill/>
          <a:ln/>
        </p:spPr>
        <p:txBody>
          <a:bodyPr wrap="square" rtlCol="0" anchor="ctr"/>
          <a:lstStyle/>
          <a:p>
            <a:pPr marL="0" indent="0">
              <a:buNone/>
            </a:pPr>
            <a:r>
              <a:rPr lang="en-US" sz="850" dirty="0">
                <a:solidFill>
                  <a:srgbClr val="E2E8F5"/>
                </a:solidFill>
              </a:rPr>
              <a:t>Next-gen GPU rack density exceeds 100 kW per rack. Air cooling fails at ~20 kW/rack. Liquid cooling (direct-to-chip) is not optional for 2025+ deployments. Vertiv, Schneider Electric, and CoolIT are suddenly critical.</a:t>
            </a:r>
            <a:endParaRPr lang="en-US" sz="850" dirty="0"/>
          </a:p>
        </p:txBody>
      </p:sp>
      <p:sp>
        <p:nvSpPr>
          <p:cNvPr id="53" name="Shape 51"/>
          <p:cNvSpPr/>
          <p:nvPr/>
        </p:nvSpPr>
        <p:spPr>
          <a:xfrm>
            <a:off x="6180151" y="3750034"/>
            <a:ext cx="2578608" cy="1152144"/>
          </a:xfrm>
          <a:prstGeom prst="roundRect">
            <a:avLst>
              <a:gd name="adj" fmla="val 5556"/>
            </a:avLst>
          </a:prstGeom>
          <a:solidFill>
            <a:srgbClr val="111830"/>
          </a:solidFill>
          <a:ln/>
        </p:spPr>
      </p:sp>
      <p:sp>
        <p:nvSpPr>
          <p:cNvPr id="54" name="Text 52"/>
          <p:cNvSpPr/>
          <p:nvPr/>
        </p:nvSpPr>
        <p:spPr>
          <a:xfrm>
            <a:off x="6289879" y="3795754"/>
            <a:ext cx="2569464" cy="237744"/>
          </a:xfrm>
          <a:prstGeom prst="rect">
            <a:avLst/>
          </a:prstGeom>
          <a:noFill/>
          <a:ln/>
        </p:spPr>
        <p:txBody>
          <a:bodyPr wrap="square" lIns="0" tIns="0" rIns="0" bIns="0" rtlCol="0" anchor="ctr"/>
          <a:lstStyle/>
          <a:p>
            <a:pPr marL="0" indent="0">
              <a:buNone/>
            </a:pPr>
            <a:r>
              <a:rPr lang="en-US" sz="950" b="1" dirty="0">
                <a:solidFill>
                  <a:srgbClr val="3B82F6"/>
                </a:solidFill>
              </a:rPr>
              <a:t>Memory bandwidth, not compute, is the constraint</a:t>
            </a:r>
            <a:endParaRPr lang="en-US" sz="950" dirty="0"/>
          </a:p>
        </p:txBody>
      </p:sp>
      <p:sp>
        <p:nvSpPr>
          <p:cNvPr id="55" name="Text 53"/>
          <p:cNvSpPr/>
          <p:nvPr/>
        </p:nvSpPr>
        <p:spPr>
          <a:xfrm>
            <a:off x="6289879" y="4024354"/>
            <a:ext cx="2569464" cy="822960"/>
          </a:xfrm>
          <a:prstGeom prst="rect">
            <a:avLst/>
          </a:prstGeom>
          <a:noFill/>
          <a:ln/>
        </p:spPr>
        <p:txBody>
          <a:bodyPr wrap="square" rtlCol="0" anchor="ctr"/>
          <a:lstStyle/>
          <a:p>
            <a:pPr marL="0" indent="0">
              <a:buNone/>
            </a:pPr>
            <a:r>
              <a:rPr lang="en-US" sz="850" dirty="0">
                <a:solidFill>
                  <a:srgbClr val="E2E8F5"/>
                </a:solidFill>
              </a:rPr>
              <a:t>For inference (serving AI models at scale), the bottleneck is how fast you can load model weights from HBM memory into compute units. This is why HBM bandwidth (not FLOPs) is the AI serving spec that matters most.</a:t>
            </a:r>
            <a:endParaRPr lang="en-US" sz="850" dirty="0"/>
          </a:p>
        </p:txBody>
      </p:sp>
    </p:spTree>
    <p:extLst>
      <p:ext uri="{BB962C8B-B14F-4D97-AF65-F5344CB8AC3E}">
        <p14:creationId xmlns:p14="http://schemas.microsoft.com/office/powerpoint/2010/main" val="2172543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A855F7"/>
          </a:solidFill>
          <a:ln/>
        </p:spPr>
      </p:sp>
      <p:sp>
        <p:nvSpPr>
          <p:cNvPr id="3" name="Text 1"/>
          <p:cNvSpPr/>
          <p:nvPr/>
        </p:nvSpPr>
        <p:spPr>
          <a:xfrm>
            <a:off x="320040" y="137160"/>
            <a:ext cx="1097280" cy="502920"/>
          </a:xfrm>
          <a:prstGeom prst="rect">
            <a:avLst/>
          </a:prstGeom>
          <a:noFill/>
          <a:ln/>
        </p:spPr>
        <p:txBody>
          <a:bodyPr wrap="square" rtlCol="0" anchor="ctr"/>
          <a:lstStyle/>
          <a:p>
            <a:pPr marL="0" indent="0" algn="ctr">
              <a:buNone/>
            </a:pPr>
            <a:r>
              <a:rPr lang="en-US" sz="2800" b="1" dirty="0">
                <a:solidFill>
                  <a:srgbClr val="A855F7"/>
                </a:solidFill>
              </a:rPr>
              <a:t>04b</a:t>
            </a:r>
            <a:endParaRPr lang="en-US" sz="2800" dirty="0"/>
          </a:p>
        </p:txBody>
      </p:sp>
      <p:sp>
        <p:nvSpPr>
          <p:cNvPr id="4" name="Text 2"/>
          <p:cNvSpPr/>
          <p:nvPr/>
        </p:nvSpPr>
        <p:spPr>
          <a:xfrm>
            <a:off x="1508760" y="137160"/>
            <a:ext cx="7315200" cy="256032"/>
          </a:xfrm>
          <a:prstGeom prst="rect">
            <a:avLst/>
          </a:prstGeom>
          <a:noFill/>
          <a:ln/>
        </p:spPr>
        <p:txBody>
          <a:bodyPr wrap="square" lIns="0" tIns="0" rIns="0" bIns="0" rtlCol="0" anchor="ctr"/>
          <a:lstStyle/>
          <a:p>
            <a:pPr marL="0" indent="0">
              <a:buNone/>
            </a:pPr>
            <a:r>
              <a:rPr lang="en-US" sz="900" b="1" kern="0" spc="300" dirty="0">
                <a:solidFill>
                  <a:srgbClr val="A855F7"/>
                </a:solidFill>
              </a:rPr>
              <a:t>LAYER 4b — AI MODELS &amp; THE INTELLIGENCE LAYER</a:t>
            </a:r>
            <a:endParaRPr lang="en-US" sz="900" dirty="0"/>
          </a:p>
        </p:txBody>
      </p:sp>
      <p:sp>
        <p:nvSpPr>
          <p:cNvPr id="5" name="Text 3"/>
          <p:cNvSpPr/>
          <p:nvPr/>
        </p:nvSpPr>
        <p:spPr>
          <a:xfrm>
            <a:off x="1320910" y="325462"/>
            <a:ext cx="7508019" cy="347472"/>
          </a:xfrm>
          <a:prstGeom prst="rect">
            <a:avLst/>
          </a:prstGeom>
          <a:noFill/>
          <a:ln/>
        </p:spPr>
        <p:txBody>
          <a:bodyPr wrap="square" lIns="0" tIns="0" rIns="0" bIns="0" rtlCol="0" anchor="ctr"/>
          <a:lstStyle/>
          <a:p>
            <a:pPr marL="0" indent="0">
              <a:buNone/>
            </a:pPr>
            <a:r>
              <a:rPr lang="en-US" sz="1400" b="1" dirty="0">
                <a:solidFill>
                  <a:srgbClr val="FFFFFF"/>
                </a:solidFill>
              </a:rPr>
              <a:t>Foundation models, the training pipeline, inference infrastructure, and the commoditization question</a:t>
            </a:r>
            <a:endParaRPr lang="en-US" sz="1400" dirty="0"/>
          </a:p>
        </p:txBody>
      </p:sp>
      <p:sp>
        <p:nvSpPr>
          <p:cNvPr id="6" name="Shape 4"/>
          <p:cNvSpPr/>
          <p:nvPr/>
        </p:nvSpPr>
        <p:spPr>
          <a:xfrm>
            <a:off x="274320" y="804672"/>
            <a:ext cx="4114800" cy="2834640"/>
          </a:xfrm>
          <a:prstGeom prst="rect">
            <a:avLst/>
          </a:prstGeom>
          <a:solidFill>
            <a:srgbClr val="1A2850"/>
          </a:solidFill>
          <a:ln w="6350">
            <a:solidFill>
              <a:srgbClr val="FFFFFF">
                <a:alpha val="6000"/>
              </a:srgbClr>
            </a:solidFill>
            <a:prstDash val="solid"/>
          </a:ln>
        </p:spPr>
      </p:sp>
      <p:sp>
        <p:nvSpPr>
          <p:cNvPr id="7" name="Text 5"/>
          <p:cNvSpPr/>
          <p:nvPr/>
        </p:nvSpPr>
        <p:spPr>
          <a:xfrm>
            <a:off x="411480" y="850392"/>
            <a:ext cx="3840480" cy="256032"/>
          </a:xfrm>
          <a:prstGeom prst="rect">
            <a:avLst/>
          </a:prstGeom>
          <a:noFill/>
          <a:ln/>
        </p:spPr>
        <p:txBody>
          <a:bodyPr wrap="square" lIns="0" tIns="0" rIns="0" bIns="0" rtlCol="0" anchor="ctr"/>
          <a:lstStyle/>
          <a:p>
            <a:pPr marL="0" indent="0">
              <a:buNone/>
            </a:pPr>
            <a:r>
              <a:rPr lang="en-US" sz="900" b="1" kern="0" spc="200" dirty="0">
                <a:solidFill>
                  <a:srgbClr val="A855F7"/>
                </a:solidFill>
              </a:rPr>
              <a:t>THE FOUNDATION MODEL LANDSCAPE</a:t>
            </a:r>
            <a:endParaRPr lang="en-US" sz="900" dirty="0"/>
          </a:p>
        </p:txBody>
      </p:sp>
      <p:sp>
        <p:nvSpPr>
          <p:cNvPr id="8" name="Shape 6"/>
          <p:cNvSpPr/>
          <p:nvPr/>
        </p:nvSpPr>
        <p:spPr>
          <a:xfrm>
            <a:off x="384048" y="1207008"/>
            <a:ext cx="3886200" cy="402336"/>
          </a:xfrm>
          <a:prstGeom prst="roundRect">
            <a:avLst>
              <a:gd name="adj" fmla="val 13636"/>
            </a:avLst>
          </a:prstGeom>
          <a:solidFill>
            <a:srgbClr val="111830"/>
          </a:solidFill>
          <a:ln/>
        </p:spPr>
      </p:sp>
      <p:sp>
        <p:nvSpPr>
          <p:cNvPr id="9" name="Text 7"/>
          <p:cNvSpPr/>
          <p:nvPr/>
        </p:nvSpPr>
        <p:spPr>
          <a:xfrm>
            <a:off x="502920" y="1225296"/>
            <a:ext cx="2011680" cy="182880"/>
          </a:xfrm>
          <a:prstGeom prst="rect">
            <a:avLst/>
          </a:prstGeom>
          <a:noFill/>
          <a:ln/>
        </p:spPr>
        <p:txBody>
          <a:bodyPr wrap="square" lIns="0" tIns="0" rIns="0" bIns="0" rtlCol="0" anchor="ctr"/>
          <a:lstStyle/>
          <a:p>
            <a:pPr marL="0" indent="0">
              <a:buNone/>
            </a:pPr>
            <a:r>
              <a:rPr lang="en-US" sz="850" b="1" dirty="0">
                <a:solidFill>
                  <a:srgbClr val="3B82F6"/>
                </a:solidFill>
              </a:rPr>
              <a:t>OpenAI (Microsoft-backed)</a:t>
            </a:r>
            <a:endParaRPr lang="en-US" sz="850" dirty="0"/>
          </a:p>
        </p:txBody>
      </p:sp>
      <p:sp>
        <p:nvSpPr>
          <p:cNvPr id="10" name="Text 8"/>
          <p:cNvSpPr/>
          <p:nvPr/>
        </p:nvSpPr>
        <p:spPr>
          <a:xfrm>
            <a:off x="502920" y="1408176"/>
            <a:ext cx="2011680" cy="164592"/>
          </a:xfrm>
          <a:prstGeom prst="rect">
            <a:avLst/>
          </a:prstGeom>
          <a:noFill/>
          <a:ln/>
        </p:spPr>
        <p:txBody>
          <a:bodyPr wrap="square" lIns="0" tIns="0" rIns="0" bIns="0" rtlCol="0" anchor="ctr"/>
          <a:lstStyle/>
          <a:p>
            <a:pPr marL="0" indent="0">
              <a:buNone/>
            </a:pPr>
            <a:r>
              <a:rPr lang="en-US" sz="800" dirty="0">
                <a:solidFill>
                  <a:srgbClr val="E2E8F5"/>
                </a:solidFill>
              </a:rPr>
              <a:t>GPT-4o, o1-series</a:t>
            </a:r>
            <a:endParaRPr lang="en-US" sz="800" dirty="0"/>
          </a:p>
        </p:txBody>
      </p:sp>
      <p:sp>
        <p:nvSpPr>
          <p:cNvPr id="11" name="Shape 9"/>
          <p:cNvSpPr/>
          <p:nvPr/>
        </p:nvSpPr>
        <p:spPr>
          <a:xfrm>
            <a:off x="2606040" y="1280160"/>
            <a:ext cx="685800" cy="237744"/>
          </a:xfrm>
          <a:prstGeom prst="roundRect">
            <a:avLst>
              <a:gd name="adj" fmla="val 15385"/>
            </a:avLst>
          </a:prstGeom>
          <a:solidFill>
            <a:srgbClr val="111830"/>
          </a:solidFill>
          <a:ln w="10160">
            <a:solidFill>
              <a:srgbClr val="3B82F6"/>
            </a:solidFill>
            <a:prstDash val="solid"/>
          </a:ln>
        </p:spPr>
      </p:sp>
      <p:sp>
        <p:nvSpPr>
          <p:cNvPr id="12" name="Text 10"/>
          <p:cNvSpPr/>
          <p:nvPr/>
        </p:nvSpPr>
        <p:spPr>
          <a:xfrm>
            <a:off x="2606040" y="1280160"/>
            <a:ext cx="685800" cy="237744"/>
          </a:xfrm>
          <a:prstGeom prst="rect">
            <a:avLst/>
          </a:prstGeom>
          <a:noFill/>
          <a:ln/>
        </p:spPr>
        <p:txBody>
          <a:bodyPr wrap="square" rtlCol="0" anchor="ctr"/>
          <a:lstStyle/>
          <a:p>
            <a:pPr marL="0" indent="0" algn="ctr">
              <a:buNone/>
            </a:pPr>
            <a:r>
              <a:rPr lang="en-US" sz="700" dirty="0">
                <a:solidFill>
                  <a:srgbClr val="3B82F6"/>
                </a:solidFill>
              </a:rPr>
              <a:t>Closed API</a:t>
            </a:r>
            <a:endParaRPr lang="en-US" sz="700" dirty="0"/>
          </a:p>
        </p:txBody>
      </p:sp>
      <p:sp>
        <p:nvSpPr>
          <p:cNvPr id="13" name="Text 11"/>
          <p:cNvSpPr/>
          <p:nvPr/>
        </p:nvSpPr>
        <p:spPr>
          <a:xfrm>
            <a:off x="3364992" y="1243584"/>
            <a:ext cx="914400" cy="329184"/>
          </a:xfrm>
          <a:prstGeom prst="rect">
            <a:avLst/>
          </a:prstGeom>
          <a:noFill/>
          <a:ln/>
        </p:spPr>
        <p:txBody>
          <a:bodyPr wrap="square" lIns="0" tIns="0" rIns="0" bIns="0" rtlCol="0" anchor="ctr"/>
          <a:lstStyle/>
          <a:p>
            <a:pPr marL="0" indent="0">
              <a:buNone/>
            </a:pPr>
            <a:r>
              <a:rPr lang="en-US" sz="700" dirty="0">
                <a:solidFill>
                  <a:srgbClr val="64748B"/>
                </a:solidFill>
              </a:rPr>
              <a:t>First-mover + RLHF data + ChatGPT distribution (200M+ users)</a:t>
            </a:r>
            <a:endParaRPr lang="en-US" sz="700" dirty="0"/>
          </a:p>
        </p:txBody>
      </p:sp>
      <p:sp>
        <p:nvSpPr>
          <p:cNvPr id="14" name="Shape 12"/>
          <p:cNvSpPr/>
          <p:nvPr/>
        </p:nvSpPr>
        <p:spPr>
          <a:xfrm>
            <a:off x="384048" y="1664208"/>
            <a:ext cx="3886200" cy="402336"/>
          </a:xfrm>
          <a:prstGeom prst="roundRect">
            <a:avLst>
              <a:gd name="adj" fmla="val 13636"/>
            </a:avLst>
          </a:prstGeom>
          <a:solidFill>
            <a:srgbClr val="111830"/>
          </a:solidFill>
          <a:ln/>
        </p:spPr>
      </p:sp>
      <p:sp>
        <p:nvSpPr>
          <p:cNvPr id="15" name="Text 13"/>
          <p:cNvSpPr/>
          <p:nvPr/>
        </p:nvSpPr>
        <p:spPr>
          <a:xfrm>
            <a:off x="502920" y="1682496"/>
            <a:ext cx="2011680" cy="182880"/>
          </a:xfrm>
          <a:prstGeom prst="rect">
            <a:avLst/>
          </a:prstGeom>
          <a:noFill/>
          <a:ln/>
        </p:spPr>
        <p:txBody>
          <a:bodyPr wrap="square" lIns="0" tIns="0" rIns="0" bIns="0" rtlCol="0" anchor="ctr"/>
          <a:lstStyle/>
          <a:p>
            <a:pPr marL="0" indent="0">
              <a:buNone/>
            </a:pPr>
            <a:r>
              <a:rPr lang="en-US" sz="850" b="1" dirty="0">
                <a:solidFill>
                  <a:srgbClr val="A855F7"/>
                </a:solidFill>
              </a:rPr>
              <a:t>Anthropic</a:t>
            </a:r>
            <a:endParaRPr lang="en-US" sz="850" dirty="0"/>
          </a:p>
        </p:txBody>
      </p:sp>
      <p:sp>
        <p:nvSpPr>
          <p:cNvPr id="16" name="Text 14"/>
          <p:cNvSpPr/>
          <p:nvPr/>
        </p:nvSpPr>
        <p:spPr>
          <a:xfrm>
            <a:off x="502920" y="1865376"/>
            <a:ext cx="2011680" cy="164592"/>
          </a:xfrm>
          <a:prstGeom prst="rect">
            <a:avLst/>
          </a:prstGeom>
          <a:noFill/>
          <a:ln/>
        </p:spPr>
        <p:txBody>
          <a:bodyPr wrap="square" lIns="0" tIns="0" rIns="0" bIns="0" rtlCol="0" anchor="ctr"/>
          <a:lstStyle/>
          <a:p>
            <a:pPr marL="0" indent="0">
              <a:buNone/>
            </a:pPr>
            <a:r>
              <a:rPr lang="en-US" sz="800" dirty="0">
                <a:solidFill>
                  <a:srgbClr val="E2E8F5"/>
                </a:solidFill>
              </a:rPr>
              <a:t>Claude 3.5 / Claude 4</a:t>
            </a:r>
            <a:endParaRPr lang="en-US" sz="800" dirty="0"/>
          </a:p>
        </p:txBody>
      </p:sp>
      <p:sp>
        <p:nvSpPr>
          <p:cNvPr id="17" name="Shape 15"/>
          <p:cNvSpPr/>
          <p:nvPr/>
        </p:nvSpPr>
        <p:spPr>
          <a:xfrm>
            <a:off x="2606040" y="1737360"/>
            <a:ext cx="685800" cy="237744"/>
          </a:xfrm>
          <a:prstGeom prst="roundRect">
            <a:avLst>
              <a:gd name="adj" fmla="val 15385"/>
            </a:avLst>
          </a:prstGeom>
          <a:solidFill>
            <a:srgbClr val="111830"/>
          </a:solidFill>
          <a:ln w="10160">
            <a:solidFill>
              <a:srgbClr val="A855F7"/>
            </a:solidFill>
            <a:prstDash val="solid"/>
          </a:ln>
        </p:spPr>
      </p:sp>
      <p:sp>
        <p:nvSpPr>
          <p:cNvPr id="18" name="Text 16"/>
          <p:cNvSpPr/>
          <p:nvPr/>
        </p:nvSpPr>
        <p:spPr>
          <a:xfrm>
            <a:off x="2606040" y="1737360"/>
            <a:ext cx="685800" cy="237744"/>
          </a:xfrm>
          <a:prstGeom prst="rect">
            <a:avLst/>
          </a:prstGeom>
          <a:noFill/>
          <a:ln/>
        </p:spPr>
        <p:txBody>
          <a:bodyPr wrap="square" rtlCol="0" anchor="ctr"/>
          <a:lstStyle/>
          <a:p>
            <a:pPr marL="0" indent="0" algn="ctr">
              <a:buNone/>
            </a:pPr>
            <a:r>
              <a:rPr lang="en-US" sz="700" dirty="0">
                <a:solidFill>
                  <a:srgbClr val="A855F7"/>
                </a:solidFill>
              </a:rPr>
              <a:t>Closed API</a:t>
            </a:r>
            <a:endParaRPr lang="en-US" sz="700" dirty="0"/>
          </a:p>
        </p:txBody>
      </p:sp>
      <p:sp>
        <p:nvSpPr>
          <p:cNvPr id="19" name="Text 17"/>
          <p:cNvSpPr/>
          <p:nvPr/>
        </p:nvSpPr>
        <p:spPr>
          <a:xfrm>
            <a:off x="3364992" y="1700784"/>
            <a:ext cx="914400" cy="329184"/>
          </a:xfrm>
          <a:prstGeom prst="rect">
            <a:avLst/>
          </a:prstGeom>
          <a:noFill/>
          <a:ln/>
        </p:spPr>
        <p:txBody>
          <a:bodyPr wrap="square" lIns="0" tIns="0" rIns="0" bIns="0" rtlCol="0" anchor="ctr"/>
          <a:lstStyle/>
          <a:p>
            <a:pPr marL="0" indent="0">
              <a:buNone/>
            </a:pPr>
            <a:r>
              <a:rPr lang="en-US" sz="700" dirty="0">
                <a:solidFill>
                  <a:srgbClr val="64748B"/>
                </a:solidFill>
              </a:rPr>
              <a:t>Constitutional AI safety + enterprise trust + AWS partnershi</a:t>
            </a:r>
            <a:endParaRPr lang="en-US" sz="700" dirty="0"/>
          </a:p>
        </p:txBody>
      </p:sp>
      <p:sp>
        <p:nvSpPr>
          <p:cNvPr id="20" name="Shape 18"/>
          <p:cNvSpPr/>
          <p:nvPr/>
        </p:nvSpPr>
        <p:spPr>
          <a:xfrm>
            <a:off x="384048" y="2121408"/>
            <a:ext cx="3886200" cy="402336"/>
          </a:xfrm>
          <a:prstGeom prst="roundRect">
            <a:avLst>
              <a:gd name="adj" fmla="val 13636"/>
            </a:avLst>
          </a:prstGeom>
          <a:solidFill>
            <a:srgbClr val="111830"/>
          </a:solidFill>
          <a:ln/>
        </p:spPr>
      </p:sp>
      <p:sp>
        <p:nvSpPr>
          <p:cNvPr id="21" name="Text 19"/>
          <p:cNvSpPr/>
          <p:nvPr/>
        </p:nvSpPr>
        <p:spPr>
          <a:xfrm>
            <a:off x="502920" y="2139696"/>
            <a:ext cx="2011680" cy="182880"/>
          </a:xfrm>
          <a:prstGeom prst="rect">
            <a:avLst/>
          </a:prstGeom>
          <a:noFill/>
          <a:ln/>
        </p:spPr>
        <p:txBody>
          <a:bodyPr wrap="square" lIns="0" tIns="0" rIns="0" bIns="0" rtlCol="0" anchor="ctr"/>
          <a:lstStyle/>
          <a:p>
            <a:pPr marL="0" indent="0">
              <a:buNone/>
            </a:pPr>
            <a:r>
              <a:rPr lang="en-US" sz="850" b="1" dirty="0">
                <a:solidFill>
                  <a:srgbClr val="3B82F6"/>
                </a:solidFill>
              </a:rPr>
              <a:t>Google DeepMind</a:t>
            </a:r>
            <a:endParaRPr lang="en-US" sz="850" dirty="0"/>
          </a:p>
        </p:txBody>
      </p:sp>
      <p:sp>
        <p:nvSpPr>
          <p:cNvPr id="22" name="Text 20"/>
          <p:cNvSpPr/>
          <p:nvPr/>
        </p:nvSpPr>
        <p:spPr>
          <a:xfrm>
            <a:off x="502920" y="2322576"/>
            <a:ext cx="2011680" cy="164592"/>
          </a:xfrm>
          <a:prstGeom prst="rect">
            <a:avLst/>
          </a:prstGeom>
          <a:noFill/>
          <a:ln/>
        </p:spPr>
        <p:txBody>
          <a:bodyPr wrap="square" lIns="0" tIns="0" rIns="0" bIns="0" rtlCol="0" anchor="ctr"/>
          <a:lstStyle/>
          <a:p>
            <a:pPr marL="0" indent="0">
              <a:buNone/>
            </a:pPr>
            <a:r>
              <a:rPr lang="en-US" sz="800" dirty="0">
                <a:solidFill>
                  <a:srgbClr val="E2E8F5"/>
                </a:solidFill>
              </a:rPr>
              <a:t>Gemini 2.0 Ultra</a:t>
            </a:r>
            <a:endParaRPr lang="en-US" sz="800" dirty="0"/>
          </a:p>
        </p:txBody>
      </p:sp>
      <p:sp>
        <p:nvSpPr>
          <p:cNvPr id="23" name="Shape 21"/>
          <p:cNvSpPr/>
          <p:nvPr/>
        </p:nvSpPr>
        <p:spPr>
          <a:xfrm>
            <a:off x="2606040" y="2194560"/>
            <a:ext cx="685800" cy="237744"/>
          </a:xfrm>
          <a:prstGeom prst="roundRect">
            <a:avLst>
              <a:gd name="adj" fmla="val 15385"/>
            </a:avLst>
          </a:prstGeom>
          <a:solidFill>
            <a:srgbClr val="111830"/>
          </a:solidFill>
          <a:ln w="10160">
            <a:solidFill>
              <a:srgbClr val="3B82F6"/>
            </a:solidFill>
            <a:prstDash val="solid"/>
          </a:ln>
        </p:spPr>
      </p:sp>
      <p:sp>
        <p:nvSpPr>
          <p:cNvPr id="24" name="Text 22"/>
          <p:cNvSpPr/>
          <p:nvPr/>
        </p:nvSpPr>
        <p:spPr>
          <a:xfrm>
            <a:off x="2606040" y="2194560"/>
            <a:ext cx="685800" cy="237744"/>
          </a:xfrm>
          <a:prstGeom prst="rect">
            <a:avLst/>
          </a:prstGeom>
          <a:noFill/>
          <a:ln/>
        </p:spPr>
        <p:txBody>
          <a:bodyPr wrap="square" rtlCol="0" anchor="ctr"/>
          <a:lstStyle/>
          <a:p>
            <a:pPr marL="0" indent="0" algn="ctr">
              <a:buNone/>
            </a:pPr>
            <a:r>
              <a:rPr lang="en-US" sz="700" dirty="0">
                <a:solidFill>
                  <a:srgbClr val="3B82F6"/>
                </a:solidFill>
              </a:rPr>
              <a:t>Closed + embedded</a:t>
            </a:r>
            <a:endParaRPr lang="en-US" sz="700" dirty="0"/>
          </a:p>
        </p:txBody>
      </p:sp>
      <p:sp>
        <p:nvSpPr>
          <p:cNvPr id="25" name="Text 23"/>
          <p:cNvSpPr/>
          <p:nvPr/>
        </p:nvSpPr>
        <p:spPr>
          <a:xfrm>
            <a:off x="3364992" y="2157984"/>
            <a:ext cx="914400" cy="329184"/>
          </a:xfrm>
          <a:prstGeom prst="rect">
            <a:avLst/>
          </a:prstGeom>
          <a:noFill/>
          <a:ln/>
        </p:spPr>
        <p:txBody>
          <a:bodyPr wrap="square" lIns="0" tIns="0" rIns="0" bIns="0" rtlCol="0" anchor="ctr"/>
          <a:lstStyle/>
          <a:p>
            <a:pPr marL="0" indent="0">
              <a:buNone/>
            </a:pPr>
            <a:r>
              <a:rPr lang="en-US" sz="700" dirty="0">
                <a:solidFill>
                  <a:srgbClr val="64748B"/>
                </a:solidFill>
              </a:rPr>
              <a:t>Search data flywheel + TPU custom compute + YouTube multimod</a:t>
            </a:r>
            <a:endParaRPr lang="en-US" sz="700" dirty="0"/>
          </a:p>
        </p:txBody>
      </p:sp>
      <p:sp>
        <p:nvSpPr>
          <p:cNvPr id="26" name="Shape 24"/>
          <p:cNvSpPr/>
          <p:nvPr/>
        </p:nvSpPr>
        <p:spPr>
          <a:xfrm>
            <a:off x="384048" y="2578608"/>
            <a:ext cx="3886200" cy="402336"/>
          </a:xfrm>
          <a:prstGeom prst="roundRect">
            <a:avLst>
              <a:gd name="adj" fmla="val 13636"/>
            </a:avLst>
          </a:prstGeom>
          <a:solidFill>
            <a:srgbClr val="111830"/>
          </a:solidFill>
          <a:ln/>
        </p:spPr>
      </p:sp>
      <p:sp>
        <p:nvSpPr>
          <p:cNvPr id="27" name="Text 25"/>
          <p:cNvSpPr/>
          <p:nvPr/>
        </p:nvSpPr>
        <p:spPr>
          <a:xfrm>
            <a:off x="502920" y="2596896"/>
            <a:ext cx="2011680" cy="182880"/>
          </a:xfrm>
          <a:prstGeom prst="rect">
            <a:avLst/>
          </a:prstGeom>
          <a:noFill/>
          <a:ln/>
        </p:spPr>
        <p:txBody>
          <a:bodyPr wrap="square" lIns="0" tIns="0" rIns="0" bIns="0" rtlCol="0" anchor="ctr"/>
          <a:lstStyle/>
          <a:p>
            <a:pPr marL="0" indent="0">
              <a:buNone/>
            </a:pPr>
            <a:r>
              <a:rPr lang="en-US" sz="850" b="1" dirty="0">
                <a:solidFill>
                  <a:srgbClr val="3B82F6"/>
                </a:solidFill>
              </a:rPr>
              <a:t>Meta AI</a:t>
            </a:r>
            <a:endParaRPr lang="en-US" sz="850" dirty="0"/>
          </a:p>
        </p:txBody>
      </p:sp>
      <p:sp>
        <p:nvSpPr>
          <p:cNvPr id="28" name="Text 26"/>
          <p:cNvSpPr/>
          <p:nvPr/>
        </p:nvSpPr>
        <p:spPr>
          <a:xfrm>
            <a:off x="502920" y="2779776"/>
            <a:ext cx="2011680" cy="164592"/>
          </a:xfrm>
          <a:prstGeom prst="rect">
            <a:avLst/>
          </a:prstGeom>
          <a:noFill/>
          <a:ln/>
        </p:spPr>
        <p:txBody>
          <a:bodyPr wrap="square" lIns="0" tIns="0" rIns="0" bIns="0" rtlCol="0" anchor="ctr"/>
          <a:lstStyle/>
          <a:p>
            <a:pPr marL="0" indent="0">
              <a:buNone/>
            </a:pPr>
            <a:r>
              <a:rPr lang="en-US" sz="800" dirty="0">
                <a:solidFill>
                  <a:srgbClr val="E2E8F5"/>
                </a:solidFill>
              </a:rPr>
              <a:t>Llama 3.1 / 4</a:t>
            </a:r>
            <a:endParaRPr lang="en-US" sz="800" dirty="0"/>
          </a:p>
        </p:txBody>
      </p:sp>
      <p:sp>
        <p:nvSpPr>
          <p:cNvPr id="29" name="Shape 27"/>
          <p:cNvSpPr/>
          <p:nvPr/>
        </p:nvSpPr>
        <p:spPr>
          <a:xfrm>
            <a:off x="2606040" y="2651760"/>
            <a:ext cx="685800" cy="237744"/>
          </a:xfrm>
          <a:prstGeom prst="roundRect">
            <a:avLst>
              <a:gd name="adj" fmla="val 15385"/>
            </a:avLst>
          </a:prstGeom>
          <a:solidFill>
            <a:srgbClr val="111830"/>
          </a:solidFill>
          <a:ln w="10160">
            <a:solidFill>
              <a:srgbClr val="3B82F6"/>
            </a:solidFill>
            <a:prstDash val="solid"/>
          </a:ln>
        </p:spPr>
      </p:sp>
      <p:sp>
        <p:nvSpPr>
          <p:cNvPr id="30" name="Text 28"/>
          <p:cNvSpPr/>
          <p:nvPr/>
        </p:nvSpPr>
        <p:spPr>
          <a:xfrm>
            <a:off x="2606040" y="2651760"/>
            <a:ext cx="685800" cy="237744"/>
          </a:xfrm>
          <a:prstGeom prst="rect">
            <a:avLst/>
          </a:prstGeom>
          <a:noFill/>
          <a:ln/>
        </p:spPr>
        <p:txBody>
          <a:bodyPr wrap="square" rtlCol="0" anchor="ctr"/>
          <a:lstStyle/>
          <a:p>
            <a:pPr marL="0" indent="0" algn="ctr">
              <a:buNone/>
            </a:pPr>
            <a:r>
              <a:rPr lang="en-US" sz="700" dirty="0">
                <a:solidFill>
                  <a:srgbClr val="3B82F6"/>
                </a:solidFill>
              </a:rPr>
              <a:t>Open weights</a:t>
            </a:r>
            <a:endParaRPr lang="en-US" sz="700" dirty="0"/>
          </a:p>
        </p:txBody>
      </p:sp>
      <p:sp>
        <p:nvSpPr>
          <p:cNvPr id="31" name="Text 29"/>
          <p:cNvSpPr/>
          <p:nvPr/>
        </p:nvSpPr>
        <p:spPr>
          <a:xfrm>
            <a:off x="3364992" y="2615184"/>
            <a:ext cx="914400" cy="329184"/>
          </a:xfrm>
          <a:prstGeom prst="rect">
            <a:avLst/>
          </a:prstGeom>
          <a:noFill/>
          <a:ln/>
        </p:spPr>
        <p:txBody>
          <a:bodyPr wrap="square" lIns="0" tIns="0" rIns="0" bIns="0" rtlCol="0" anchor="ctr"/>
          <a:lstStyle/>
          <a:p>
            <a:pPr marL="0" indent="0">
              <a:buNone/>
            </a:pPr>
            <a:r>
              <a:rPr lang="en-US" sz="700" dirty="0">
                <a:solidFill>
                  <a:srgbClr val="64748B"/>
                </a:solidFill>
              </a:rPr>
              <a:t>Open-source creates ecosystem dependency on Meta's toolchain</a:t>
            </a:r>
            <a:endParaRPr lang="en-US" sz="700" dirty="0"/>
          </a:p>
        </p:txBody>
      </p:sp>
      <p:sp>
        <p:nvSpPr>
          <p:cNvPr id="32" name="Shape 30"/>
          <p:cNvSpPr/>
          <p:nvPr/>
        </p:nvSpPr>
        <p:spPr>
          <a:xfrm>
            <a:off x="384048" y="3035808"/>
            <a:ext cx="3886200" cy="402336"/>
          </a:xfrm>
          <a:prstGeom prst="roundRect">
            <a:avLst>
              <a:gd name="adj" fmla="val 13636"/>
            </a:avLst>
          </a:prstGeom>
          <a:solidFill>
            <a:srgbClr val="111830"/>
          </a:solidFill>
          <a:ln/>
        </p:spPr>
      </p:sp>
      <p:sp>
        <p:nvSpPr>
          <p:cNvPr id="33" name="Text 31"/>
          <p:cNvSpPr/>
          <p:nvPr/>
        </p:nvSpPr>
        <p:spPr>
          <a:xfrm>
            <a:off x="502920" y="3054096"/>
            <a:ext cx="2011680" cy="182880"/>
          </a:xfrm>
          <a:prstGeom prst="rect">
            <a:avLst/>
          </a:prstGeom>
          <a:noFill/>
          <a:ln/>
        </p:spPr>
        <p:txBody>
          <a:bodyPr wrap="square" lIns="0" tIns="0" rIns="0" bIns="0" rtlCol="0" anchor="ctr"/>
          <a:lstStyle/>
          <a:p>
            <a:pPr marL="0" indent="0">
              <a:buNone/>
            </a:pPr>
            <a:r>
              <a:rPr lang="en-US" sz="850" b="1" dirty="0">
                <a:solidFill>
                  <a:srgbClr val="334155"/>
                </a:solidFill>
              </a:rPr>
              <a:t>Mistral / xAI / Cohere</a:t>
            </a:r>
            <a:endParaRPr lang="en-US" sz="850" dirty="0"/>
          </a:p>
        </p:txBody>
      </p:sp>
      <p:sp>
        <p:nvSpPr>
          <p:cNvPr id="34" name="Text 32"/>
          <p:cNvSpPr/>
          <p:nvPr/>
        </p:nvSpPr>
        <p:spPr>
          <a:xfrm>
            <a:off x="502920" y="3236976"/>
            <a:ext cx="2011680" cy="164592"/>
          </a:xfrm>
          <a:prstGeom prst="rect">
            <a:avLst/>
          </a:prstGeom>
          <a:noFill/>
          <a:ln/>
        </p:spPr>
        <p:txBody>
          <a:bodyPr wrap="square" lIns="0" tIns="0" rIns="0" bIns="0" rtlCol="0" anchor="ctr"/>
          <a:lstStyle/>
          <a:p>
            <a:pPr marL="0" indent="0">
              <a:buNone/>
            </a:pPr>
            <a:r>
              <a:rPr lang="en-US" sz="800" dirty="0">
                <a:solidFill>
                  <a:srgbClr val="E2E8F5"/>
                </a:solidFill>
              </a:rPr>
              <a:t>Various</a:t>
            </a:r>
            <a:endParaRPr lang="en-US" sz="800" dirty="0"/>
          </a:p>
        </p:txBody>
      </p:sp>
      <p:sp>
        <p:nvSpPr>
          <p:cNvPr id="35" name="Shape 33"/>
          <p:cNvSpPr/>
          <p:nvPr/>
        </p:nvSpPr>
        <p:spPr>
          <a:xfrm>
            <a:off x="2606040" y="3108960"/>
            <a:ext cx="685800" cy="237744"/>
          </a:xfrm>
          <a:prstGeom prst="roundRect">
            <a:avLst>
              <a:gd name="adj" fmla="val 15385"/>
            </a:avLst>
          </a:prstGeom>
          <a:solidFill>
            <a:srgbClr val="111830"/>
          </a:solidFill>
          <a:ln w="10160">
            <a:solidFill>
              <a:srgbClr val="334155"/>
            </a:solidFill>
            <a:prstDash val="solid"/>
          </a:ln>
        </p:spPr>
      </p:sp>
      <p:sp>
        <p:nvSpPr>
          <p:cNvPr id="36" name="Text 34"/>
          <p:cNvSpPr/>
          <p:nvPr/>
        </p:nvSpPr>
        <p:spPr>
          <a:xfrm>
            <a:off x="2606040" y="3108960"/>
            <a:ext cx="685800" cy="237744"/>
          </a:xfrm>
          <a:prstGeom prst="rect">
            <a:avLst/>
          </a:prstGeom>
          <a:noFill/>
          <a:ln/>
        </p:spPr>
        <p:txBody>
          <a:bodyPr wrap="square" rtlCol="0" anchor="ctr"/>
          <a:lstStyle/>
          <a:p>
            <a:pPr marL="0" indent="0" algn="ctr">
              <a:buNone/>
            </a:pPr>
            <a:r>
              <a:rPr lang="en-US" sz="700" dirty="0">
                <a:solidFill>
                  <a:srgbClr val="334155"/>
                </a:solidFill>
              </a:rPr>
              <a:t>Mixed</a:t>
            </a:r>
            <a:endParaRPr lang="en-US" sz="700" dirty="0"/>
          </a:p>
        </p:txBody>
      </p:sp>
      <p:sp>
        <p:nvSpPr>
          <p:cNvPr id="37" name="Text 35"/>
          <p:cNvSpPr/>
          <p:nvPr/>
        </p:nvSpPr>
        <p:spPr>
          <a:xfrm>
            <a:off x="3364992" y="3072384"/>
            <a:ext cx="914400" cy="329184"/>
          </a:xfrm>
          <a:prstGeom prst="rect">
            <a:avLst/>
          </a:prstGeom>
          <a:noFill/>
          <a:ln/>
        </p:spPr>
        <p:txBody>
          <a:bodyPr wrap="square" lIns="0" tIns="0" rIns="0" bIns="0" rtlCol="0" anchor="ctr"/>
          <a:lstStyle/>
          <a:p>
            <a:pPr marL="0" indent="0">
              <a:buNone/>
            </a:pPr>
            <a:r>
              <a:rPr lang="en-US" sz="700" dirty="0">
                <a:solidFill>
                  <a:srgbClr val="64748B"/>
                </a:solidFill>
              </a:rPr>
              <a:t>Specialization (coding, language), enterprise sales, cost ef</a:t>
            </a:r>
            <a:endParaRPr lang="en-US" sz="700" dirty="0"/>
          </a:p>
        </p:txBody>
      </p:sp>
      <p:sp>
        <p:nvSpPr>
          <p:cNvPr id="38" name="Shape 36"/>
          <p:cNvSpPr/>
          <p:nvPr/>
        </p:nvSpPr>
        <p:spPr>
          <a:xfrm>
            <a:off x="4617720" y="804672"/>
            <a:ext cx="4206240" cy="2999232"/>
          </a:xfrm>
          <a:prstGeom prst="rect">
            <a:avLst/>
          </a:prstGeom>
          <a:solidFill>
            <a:srgbClr val="1A2850"/>
          </a:solidFill>
          <a:ln w="6350">
            <a:solidFill>
              <a:srgbClr val="FFFFFF">
                <a:alpha val="6000"/>
              </a:srgbClr>
            </a:solidFill>
            <a:prstDash val="solid"/>
          </a:ln>
        </p:spPr>
      </p:sp>
      <p:sp>
        <p:nvSpPr>
          <p:cNvPr id="39" name="Text 37"/>
          <p:cNvSpPr/>
          <p:nvPr/>
        </p:nvSpPr>
        <p:spPr>
          <a:xfrm>
            <a:off x="4754880" y="850392"/>
            <a:ext cx="3931920" cy="270898"/>
          </a:xfrm>
          <a:prstGeom prst="rect">
            <a:avLst/>
          </a:prstGeom>
          <a:noFill/>
          <a:ln/>
        </p:spPr>
        <p:txBody>
          <a:bodyPr wrap="square" lIns="0" tIns="0" rIns="0" bIns="0" rtlCol="0" anchor="ctr"/>
          <a:lstStyle/>
          <a:p>
            <a:pPr marL="0" indent="0">
              <a:buNone/>
            </a:pPr>
            <a:r>
              <a:rPr lang="en-US" sz="900" b="1" kern="0" spc="100" dirty="0">
                <a:solidFill>
                  <a:srgbClr val="A855F7"/>
                </a:solidFill>
              </a:rPr>
              <a:t>THE CRITICAL STRUCTURAL QUESTIONS</a:t>
            </a:r>
            <a:endParaRPr lang="en-US" sz="900" dirty="0"/>
          </a:p>
        </p:txBody>
      </p:sp>
      <p:sp>
        <p:nvSpPr>
          <p:cNvPr id="40" name="Shape 38"/>
          <p:cNvSpPr/>
          <p:nvPr/>
        </p:nvSpPr>
        <p:spPr>
          <a:xfrm>
            <a:off x="4754880" y="1136097"/>
            <a:ext cx="3931920" cy="580497"/>
          </a:xfrm>
          <a:prstGeom prst="roundRect">
            <a:avLst>
              <a:gd name="adj" fmla="val 10000"/>
            </a:avLst>
          </a:prstGeom>
          <a:solidFill>
            <a:srgbClr val="111830"/>
          </a:solidFill>
          <a:ln/>
        </p:spPr>
      </p:sp>
      <p:sp>
        <p:nvSpPr>
          <p:cNvPr id="41" name="Shape 39"/>
          <p:cNvSpPr/>
          <p:nvPr/>
        </p:nvSpPr>
        <p:spPr>
          <a:xfrm>
            <a:off x="4864608" y="1182330"/>
            <a:ext cx="128016" cy="135449"/>
          </a:xfrm>
          <a:prstGeom prst="ellipse">
            <a:avLst/>
          </a:prstGeom>
          <a:solidFill>
            <a:srgbClr val="A855F7"/>
          </a:solidFill>
          <a:ln/>
        </p:spPr>
      </p:sp>
      <p:sp>
        <p:nvSpPr>
          <p:cNvPr id="42" name="Text 40"/>
          <p:cNvSpPr/>
          <p:nvPr/>
        </p:nvSpPr>
        <p:spPr>
          <a:xfrm>
            <a:off x="5074920" y="1109178"/>
            <a:ext cx="3520440" cy="212849"/>
          </a:xfrm>
          <a:prstGeom prst="rect">
            <a:avLst/>
          </a:prstGeom>
          <a:noFill/>
          <a:ln/>
        </p:spPr>
        <p:txBody>
          <a:bodyPr wrap="square" lIns="0" tIns="0" rIns="0" bIns="0" rtlCol="0" anchor="ctr"/>
          <a:lstStyle/>
          <a:p>
            <a:pPr marL="0" indent="0">
              <a:buNone/>
            </a:pPr>
            <a:r>
              <a:rPr lang="en-US" sz="900" b="1" dirty="0">
                <a:solidFill>
                  <a:srgbClr val="A855F7"/>
                </a:solidFill>
              </a:rPr>
              <a:t>Will models commoditize?</a:t>
            </a:r>
            <a:endParaRPr lang="en-US" sz="900" dirty="0"/>
          </a:p>
        </p:txBody>
      </p:sp>
      <p:sp>
        <p:nvSpPr>
          <p:cNvPr id="43" name="Text 41"/>
          <p:cNvSpPr/>
          <p:nvPr/>
        </p:nvSpPr>
        <p:spPr>
          <a:xfrm>
            <a:off x="5052060" y="1331992"/>
            <a:ext cx="3703320" cy="290248"/>
          </a:xfrm>
          <a:prstGeom prst="rect">
            <a:avLst/>
          </a:prstGeom>
          <a:noFill/>
          <a:ln/>
        </p:spPr>
        <p:txBody>
          <a:bodyPr wrap="square" lIns="0" tIns="0" rIns="0" bIns="0" rtlCol="0" anchor="ctr"/>
          <a:lstStyle/>
          <a:p>
            <a:pPr marL="0" indent="0">
              <a:buNone/>
            </a:pPr>
            <a:r>
              <a:rPr lang="en-US" sz="800" dirty="0">
                <a:solidFill>
                  <a:srgbClr val="E2E8F5"/>
                </a:solidFill>
              </a:rPr>
              <a:t>Partially. Commodity at the API level (cost per token falling 10× per year). But frontier capability (the best model) still commands premium. Enterprise trust (compliance, privacy) creates persistent differentiation.</a:t>
            </a:r>
            <a:endParaRPr lang="en-US" sz="800" dirty="0"/>
          </a:p>
        </p:txBody>
      </p:sp>
      <p:sp>
        <p:nvSpPr>
          <p:cNvPr id="44" name="Shape 42"/>
          <p:cNvSpPr/>
          <p:nvPr/>
        </p:nvSpPr>
        <p:spPr>
          <a:xfrm>
            <a:off x="4754880" y="1780603"/>
            <a:ext cx="3931920" cy="676774"/>
          </a:xfrm>
          <a:prstGeom prst="roundRect">
            <a:avLst>
              <a:gd name="adj" fmla="val 10000"/>
            </a:avLst>
          </a:prstGeom>
          <a:solidFill>
            <a:srgbClr val="111830"/>
          </a:solidFill>
          <a:ln/>
        </p:spPr>
      </p:sp>
      <p:sp>
        <p:nvSpPr>
          <p:cNvPr id="45" name="Shape 43"/>
          <p:cNvSpPr/>
          <p:nvPr/>
        </p:nvSpPr>
        <p:spPr>
          <a:xfrm>
            <a:off x="4887468" y="1848340"/>
            <a:ext cx="128016" cy="135449"/>
          </a:xfrm>
          <a:prstGeom prst="ellipse">
            <a:avLst/>
          </a:prstGeom>
          <a:solidFill>
            <a:srgbClr val="A855F7"/>
          </a:solidFill>
          <a:ln/>
        </p:spPr>
      </p:sp>
      <p:sp>
        <p:nvSpPr>
          <p:cNvPr id="46" name="Text 44"/>
          <p:cNvSpPr/>
          <p:nvPr/>
        </p:nvSpPr>
        <p:spPr>
          <a:xfrm>
            <a:off x="5074920" y="1808034"/>
            <a:ext cx="3520440" cy="212849"/>
          </a:xfrm>
          <a:prstGeom prst="rect">
            <a:avLst/>
          </a:prstGeom>
          <a:noFill/>
          <a:ln/>
        </p:spPr>
        <p:txBody>
          <a:bodyPr wrap="square" lIns="0" tIns="0" rIns="0" bIns="0" rtlCol="0" anchor="ctr"/>
          <a:lstStyle/>
          <a:p>
            <a:pPr marL="0" indent="0">
              <a:buNone/>
            </a:pPr>
            <a:r>
              <a:rPr lang="en-US" sz="900" b="1" dirty="0">
                <a:solidFill>
                  <a:srgbClr val="A855F7"/>
                </a:solidFill>
              </a:rPr>
              <a:t>Open vs. closed source?</a:t>
            </a:r>
            <a:endParaRPr lang="en-US" sz="900" dirty="0"/>
          </a:p>
        </p:txBody>
      </p:sp>
      <p:sp>
        <p:nvSpPr>
          <p:cNvPr id="47" name="Text 45"/>
          <p:cNvSpPr/>
          <p:nvPr/>
        </p:nvSpPr>
        <p:spPr>
          <a:xfrm>
            <a:off x="5052060" y="2047296"/>
            <a:ext cx="3703320" cy="290248"/>
          </a:xfrm>
          <a:prstGeom prst="rect">
            <a:avLst/>
          </a:prstGeom>
          <a:noFill/>
          <a:ln/>
        </p:spPr>
        <p:txBody>
          <a:bodyPr wrap="square" lIns="0" tIns="0" rIns="0" bIns="0" rtlCol="0" anchor="ctr"/>
          <a:lstStyle/>
          <a:p>
            <a:pPr marL="0" indent="0">
              <a:buNone/>
            </a:pPr>
            <a:r>
              <a:rPr lang="en-US" sz="800" dirty="0">
                <a:solidFill>
                  <a:srgbClr val="E2E8F5"/>
                </a:solidFill>
              </a:rPr>
              <a:t>Meta's open Llama strategy is the biggest structural wildcard. If Llama 4/5 reach closed-model quality, it collapses the revenue model of API providers. Compute and enterprise services become the only moat.</a:t>
            </a:r>
            <a:endParaRPr lang="en-US" sz="800" dirty="0"/>
          </a:p>
        </p:txBody>
      </p:sp>
      <p:sp>
        <p:nvSpPr>
          <p:cNvPr id="48" name="Shape 46"/>
          <p:cNvSpPr/>
          <p:nvPr/>
        </p:nvSpPr>
        <p:spPr>
          <a:xfrm>
            <a:off x="4754880" y="2395727"/>
            <a:ext cx="3931920" cy="676657"/>
          </a:xfrm>
          <a:prstGeom prst="roundRect">
            <a:avLst>
              <a:gd name="adj" fmla="val 10000"/>
            </a:avLst>
          </a:prstGeom>
          <a:solidFill>
            <a:srgbClr val="111830"/>
          </a:solidFill>
          <a:ln/>
        </p:spPr>
      </p:sp>
      <p:sp>
        <p:nvSpPr>
          <p:cNvPr id="49" name="Shape 47"/>
          <p:cNvSpPr/>
          <p:nvPr/>
        </p:nvSpPr>
        <p:spPr>
          <a:xfrm>
            <a:off x="4864608" y="2505455"/>
            <a:ext cx="128016" cy="135449"/>
          </a:xfrm>
          <a:prstGeom prst="ellipse">
            <a:avLst/>
          </a:prstGeom>
          <a:solidFill>
            <a:srgbClr val="A855F7"/>
          </a:solidFill>
          <a:ln/>
        </p:spPr>
      </p:sp>
      <p:sp>
        <p:nvSpPr>
          <p:cNvPr id="50" name="Text 48"/>
          <p:cNvSpPr/>
          <p:nvPr/>
        </p:nvSpPr>
        <p:spPr>
          <a:xfrm>
            <a:off x="5052060" y="2472183"/>
            <a:ext cx="3520440" cy="212849"/>
          </a:xfrm>
          <a:prstGeom prst="rect">
            <a:avLst/>
          </a:prstGeom>
          <a:noFill/>
          <a:ln/>
        </p:spPr>
        <p:txBody>
          <a:bodyPr wrap="square" lIns="0" tIns="0" rIns="0" bIns="0" rtlCol="0" anchor="ctr"/>
          <a:lstStyle/>
          <a:p>
            <a:pPr marL="0" indent="0">
              <a:buNone/>
            </a:pPr>
            <a:r>
              <a:rPr lang="en-US" sz="900" b="1" dirty="0">
                <a:solidFill>
                  <a:srgbClr val="A855F7"/>
                </a:solidFill>
              </a:rPr>
              <a:t>Training vs. inference economics?</a:t>
            </a:r>
            <a:endParaRPr lang="en-US" sz="900" dirty="0"/>
          </a:p>
        </p:txBody>
      </p:sp>
      <p:sp>
        <p:nvSpPr>
          <p:cNvPr id="51" name="Text 49"/>
          <p:cNvSpPr/>
          <p:nvPr/>
        </p:nvSpPr>
        <p:spPr>
          <a:xfrm>
            <a:off x="5052060" y="2690696"/>
            <a:ext cx="3703320" cy="290248"/>
          </a:xfrm>
          <a:prstGeom prst="rect">
            <a:avLst/>
          </a:prstGeom>
          <a:noFill/>
          <a:ln/>
        </p:spPr>
        <p:txBody>
          <a:bodyPr wrap="square" lIns="0" tIns="0" rIns="0" bIns="0" rtlCol="0" anchor="ctr"/>
          <a:lstStyle/>
          <a:p>
            <a:pPr marL="0" indent="0">
              <a:buNone/>
            </a:pPr>
            <a:r>
              <a:rPr lang="en-US" sz="800" dirty="0">
                <a:solidFill>
                  <a:srgbClr val="E2E8F5"/>
                </a:solidFill>
              </a:rPr>
              <a:t>Training is ~20% of AI compute spend; inference is 80%. This means the long-term compute demand is dominated by SERVING models, not training them. This benefits lower-cost inference chips (AMD, Qualcomm, custom ASICs) over NVIDIA dominance.</a:t>
            </a:r>
            <a:endParaRPr lang="en-US" sz="800" dirty="0"/>
          </a:p>
        </p:txBody>
      </p:sp>
      <p:sp>
        <p:nvSpPr>
          <p:cNvPr id="52" name="Shape 50"/>
          <p:cNvSpPr/>
          <p:nvPr/>
        </p:nvSpPr>
        <p:spPr>
          <a:xfrm>
            <a:off x="4754880" y="3120463"/>
            <a:ext cx="3931920" cy="656009"/>
          </a:xfrm>
          <a:prstGeom prst="roundRect">
            <a:avLst>
              <a:gd name="adj" fmla="val 10000"/>
            </a:avLst>
          </a:prstGeom>
          <a:solidFill>
            <a:srgbClr val="111830"/>
          </a:solidFill>
          <a:ln/>
        </p:spPr>
      </p:sp>
      <p:sp>
        <p:nvSpPr>
          <p:cNvPr id="53" name="Shape 51"/>
          <p:cNvSpPr/>
          <p:nvPr/>
        </p:nvSpPr>
        <p:spPr>
          <a:xfrm>
            <a:off x="4864608" y="3131619"/>
            <a:ext cx="128016" cy="135449"/>
          </a:xfrm>
          <a:prstGeom prst="ellipse">
            <a:avLst/>
          </a:prstGeom>
          <a:solidFill>
            <a:srgbClr val="A855F7"/>
          </a:solidFill>
          <a:ln/>
        </p:spPr>
      </p:sp>
      <p:sp>
        <p:nvSpPr>
          <p:cNvPr id="54" name="Text 52"/>
          <p:cNvSpPr/>
          <p:nvPr/>
        </p:nvSpPr>
        <p:spPr>
          <a:xfrm>
            <a:off x="5074920" y="3082349"/>
            <a:ext cx="3520440" cy="212849"/>
          </a:xfrm>
          <a:prstGeom prst="rect">
            <a:avLst/>
          </a:prstGeom>
          <a:noFill/>
          <a:ln/>
        </p:spPr>
        <p:txBody>
          <a:bodyPr wrap="square" lIns="0" tIns="0" rIns="0" bIns="0" rtlCol="0" anchor="ctr"/>
          <a:lstStyle/>
          <a:p>
            <a:pPr marL="0" indent="0">
              <a:buNone/>
            </a:pPr>
            <a:r>
              <a:rPr lang="en-US" sz="900" b="1" dirty="0">
                <a:solidFill>
                  <a:srgbClr val="A855F7"/>
                </a:solidFill>
              </a:rPr>
              <a:t>Custom silicon threat to NVIDIA?</a:t>
            </a:r>
            <a:endParaRPr lang="en-US" sz="900" dirty="0"/>
          </a:p>
        </p:txBody>
      </p:sp>
      <p:sp>
        <p:nvSpPr>
          <p:cNvPr id="55" name="Text 53"/>
          <p:cNvSpPr/>
          <p:nvPr/>
        </p:nvSpPr>
        <p:spPr>
          <a:xfrm>
            <a:off x="5088437" y="3362632"/>
            <a:ext cx="3520440" cy="276680"/>
          </a:xfrm>
          <a:prstGeom prst="rect">
            <a:avLst/>
          </a:prstGeom>
          <a:noFill/>
          <a:ln/>
        </p:spPr>
        <p:txBody>
          <a:bodyPr wrap="square" lIns="0" tIns="0" rIns="0" bIns="0" rtlCol="0" anchor="ctr"/>
          <a:lstStyle/>
          <a:p>
            <a:pPr marL="0" indent="0">
              <a:buNone/>
            </a:pPr>
            <a:r>
              <a:rPr lang="en-US" sz="800" dirty="0">
                <a:solidFill>
                  <a:srgbClr val="E2E8F5"/>
                </a:solidFill>
              </a:rPr>
              <a:t>Every hyperscaler is building custom AI chips (Google TPU, AWS Trainium, Microsoft Maia, Meta MTIA). These are NOT general-purpose — they're optimized for the hyperscaler's specific model workloads. Could displace 20-30% of NVIDIA GPU demand at hyperscalers by 2027.</a:t>
            </a:r>
            <a:endParaRPr lang="en-US" sz="800" dirty="0"/>
          </a:p>
        </p:txBody>
      </p:sp>
      <p:sp>
        <p:nvSpPr>
          <p:cNvPr id="56" name="Shape 54"/>
          <p:cNvSpPr/>
          <p:nvPr/>
        </p:nvSpPr>
        <p:spPr>
          <a:xfrm>
            <a:off x="265176" y="3877056"/>
            <a:ext cx="8595360" cy="1216152"/>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57" name="Text 55"/>
          <p:cNvSpPr/>
          <p:nvPr/>
        </p:nvSpPr>
        <p:spPr>
          <a:xfrm>
            <a:off x="402336" y="3922776"/>
            <a:ext cx="8229600" cy="256032"/>
          </a:xfrm>
          <a:prstGeom prst="rect">
            <a:avLst/>
          </a:prstGeom>
          <a:noFill/>
          <a:ln/>
        </p:spPr>
        <p:txBody>
          <a:bodyPr wrap="square" lIns="0" tIns="0" rIns="0" bIns="0" rtlCol="0" anchor="ctr"/>
          <a:lstStyle/>
          <a:p>
            <a:pPr marL="0" indent="0">
              <a:buNone/>
            </a:pPr>
            <a:r>
              <a:rPr lang="en-US" sz="900" b="1" kern="0" spc="200" dirty="0">
                <a:solidFill>
                  <a:srgbClr val="A855F7"/>
                </a:solidFill>
              </a:rPr>
              <a:t>THE MLOPS &amp; PLATFORM LAYER — WHERE ENTERPRISE AI IS ACTUALLY BUILT</a:t>
            </a:r>
            <a:endParaRPr lang="en-US" sz="900" dirty="0"/>
          </a:p>
        </p:txBody>
      </p:sp>
      <p:sp>
        <p:nvSpPr>
          <p:cNvPr id="58" name="Shape 56"/>
          <p:cNvSpPr/>
          <p:nvPr/>
        </p:nvSpPr>
        <p:spPr>
          <a:xfrm>
            <a:off x="374904" y="4242816"/>
            <a:ext cx="2697480" cy="777240"/>
          </a:xfrm>
          <a:prstGeom prst="roundRect">
            <a:avLst>
              <a:gd name="adj" fmla="val 7059"/>
            </a:avLst>
          </a:prstGeom>
          <a:solidFill>
            <a:srgbClr val="111830"/>
          </a:solidFill>
          <a:ln/>
        </p:spPr>
      </p:sp>
      <p:sp>
        <p:nvSpPr>
          <p:cNvPr id="59" name="Text 57"/>
          <p:cNvSpPr/>
          <p:nvPr/>
        </p:nvSpPr>
        <p:spPr>
          <a:xfrm>
            <a:off x="466344" y="4279392"/>
            <a:ext cx="2514600" cy="201168"/>
          </a:xfrm>
          <a:prstGeom prst="rect">
            <a:avLst/>
          </a:prstGeom>
          <a:noFill/>
          <a:ln/>
        </p:spPr>
        <p:txBody>
          <a:bodyPr wrap="square" lIns="0" tIns="0" rIns="0" bIns="0" rtlCol="0" anchor="ctr"/>
          <a:lstStyle/>
          <a:p>
            <a:pPr marL="0" indent="0">
              <a:buNone/>
            </a:pPr>
            <a:r>
              <a:rPr lang="en-US" sz="900" b="1" dirty="0">
                <a:solidFill>
                  <a:srgbClr val="A855F7"/>
                </a:solidFill>
              </a:rPr>
              <a:t>Databricks</a:t>
            </a:r>
            <a:endParaRPr lang="en-US" sz="900" dirty="0"/>
          </a:p>
        </p:txBody>
      </p:sp>
      <p:sp>
        <p:nvSpPr>
          <p:cNvPr id="60" name="Text 58"/>
          <p:cNvSpPr/>
          <p:nvPr/>
        </p:nvSpPr>
        <p:spPr>
          <a:xfrm>
            <a:off x="466344" y="4480560"/>
            <a:ext cx="2514600" cy="502920"/>
          </a:xfrm>
          <a:prstGeom prst="rect">
            <a:avLst/>
          </a:prstGeom>
          <a:noFill/>
          <a:ln/>
        </p:spPr>
        <p:txBody>
          <a:bodyPr wrap="square" lIns="0" tIns="0" rIns="0" bIns="0" rtlCol="0" anchor="ctr"/>
          <a:lstStyle/>
          <a:p>
            <a:pPr marL="0" indent="0">
              <a:buNone/>
            </a:pPr>
            <a:r>
              <a:rPr lang="en-US" sz="800" dirty="0">
                <a:solidFill>
                  <a:srgbClr val="E2E8F5"/>
                </a:solidFill>
              </a:rPr>
              <a:t>Unified data + AI platform. Trains and serves models on enterprise data. Lakehouse architecture is the de facto standard for ML data pipelines. Private — IPO watch.</a:t>
            </a:r>
            <a:endParaRPr lang="en-US" sz="800" dirty="0"/>
          </a:p>
        </p:txBody>
      </p:sp>
      <p:sp>
        <p:nvSpPr>
          <p:cNvPr id="61" name="Shape 59"/>
          <p:cNvSpPr/>
          <p:nvPr/>
        </p:nvSpPr>
        <p:spPr>
          <a:xfrm>
            <a:off x="3282696" y="4242816"/>
            <a:ext cx="2697480" cy="777240"/>
          </a:xfrm>
          <a:prstGeom prst="roundRect">
            <a:avLst>
              <a:gd name="adj" fmla="val 7059"/>
            </a:avLst>
          </a:prstGeom>
          <a:solidFill>
            <a:srgbClr val="111830"/>
          </a:solidFill>
          <a:ln/>
        </p:spPr>
      </p:sp>
      <p:sp>
        <p:nvSpPr>
          <p:cNvPr id="62" name="Text 60"/>
          <p:cNvSpPr/>
          <p:nvPr/>
        </p:nvSpPr>
        <p:spPr>
          <a:xfrm>
            <a:off x="3374136" y="4279392"/>
            <a:ext cx="2514600" cy="201168"/>
          </a:xfrm>
          <a:prstGeom prst="rect">
            <a:avLst/>
          </a:prstGeom>
          <a:noFill/>
          <a:ln/>
        </p:spPr>
        <p:txBody>
          <a:bodyPr wrap="square" lIns="0" tIns="0" rIns="0" bIns="0" rtlCol="0" anchor="ctr"/>
          <a:lstStyle/>
          <a:p>
            <a:pPr marL="0" indent="0">
              <a:buNone/>
            </a:pPr>
            <a:r>
              <a:rPr lang="en-US" sz="900" b="1" dirty="0">
                <a:solidFill>
                  <a:srgbClr val="A855F7"/>
                </a:solidFill>
              </a:rPr>
              <a:t>Weights &amp; Biases / MLflow</a:t>
            </a:r>
            <a:endParaRPr lang="en-US" sz="900" dirty="0"/>
          </a:p>
        </p:txBody>
      </p:sp>
      <p:sp>
        <p:nvSpPr>
          <p:cNvPr id="63" name="Text 61"/>
          <p:cNvSpPr/>
          <p:nvPr/>
        </p:nvSpPr>
        <p:spPr>
          <a:xfrm>
            <a:off x="3374136" y="4480560"/>
            <a:ext cx="2514600" cy="502920"/>
          </a:xfrm>
          <a:prstGeom prst="rect">
            <a:avLst/>
          </a:prstGeom>
          <a:noFill/>
          <a:ln/>
        </p:spPr>
        <p:txBody>
          <a:bodyPr wrap="square" lIns="0" tIns="0" rIns="0" bIns="0" rtlCol="0" anchor="ctr"/>
          <a:lstStyle/>
          <a:p>
            <a:pPr marL="0" indent="0">
              <a:buNone/>
            </a:pPr>
            <a:r>
              <a:rPr lang="en-US" sz="800" dirty="0">
                <a:solidFill>
                  <a:srgbClr val="E2E8F5"/>
                </a:solidFill>
              </a:rPr>
              <a:t>Experiment tracking, model versioning, evaluation. "GitHub for ML models." Used by 80%+ of serious ML teams. W&amp;B competes with Comet, Neptun.ai.</a:t>
            </a:r>
            <a:endParaRPr lang="en-US" sz="800" dirty="0"/>
          </a:p>
        </p:txBody>
      </p:sp>
      <p:sp>
        <p:nvSpPr>
          <p:cNvPr id="64" name="Shape 62"/>
          <p:cNvSpPr/>
          <p:nvPr/>
        </p:nvSpPr>
        <p:spPr>
          <a:xfrm>
            <a:off x="6190488" y="4242816"/>
            <a:ext cx="2624328" cy="777240"/>
          </a:xfrm>
          <a:prstGeom prst="roundRect">
            <a:avLst>
              <a:gd name="adj" fmla="val 7059"/>
            </a:avLst>
          </a:prstGeom>
          <a:solidFill>
            <a:srgbClr val="111830"/>
          </a:solidFill>
          <a:ln/>
        </p:spPr>
      </p:sp>
      <p:sp>
        <p:nvSpPr>
          <p:cNvPr id="65" name="Text 63"/>
          <p:cNvSpPr/>
          <p:nvPr/>
        </p:nvSpPr>
        <p:spPr>
          <a:xfrm>
            <a:off x="6281928" y="4279392"/>
            <a:ext cx="2514600" cy="201168"/>
          </a:xfrm>
          <a:prstGeom prst="rect">
            <a:avLst/>
          </a:prstGeom>
          <a:noFill/>
          <a:ln/>
        </p:spPr>
        <p:txBody>
          <a:bodyPr wrap="square" lIns="0" tIns="0" rIns="0" bIns="0" rtlCol="0" anchor="ctr"/>
          <a:lstStyle/>
          <a:p>
            <a:pPr marL="0" indent="0">
              <a:buNone/>
            </a:pPr>
            <a:r>
              <a:rPr lang="en-US" sz="900" b="1" dirty="0">
                <a:solidFill>
                  <a:srgbClr val="A855F7"/>
                </a:solidFill>
              </a:rPr>
              <a:t>Pinecone / Weaviate / Chroma</a:t>
            </a:r>
            <a:endParaRPr lang="en-US" sz="900" dirty="0"/>
          </a:p>
        </p:txBody>
      </p:sp>
      <p:sp>
        <p:nvSpPr>
          <p:cNvPr id="66" name="Text 64"/>
          <p:cNvSpPr/>
          <p:nvPr/>
        </p:nvSpPr>
        <p:spPr>
          <a:xfrm>
            <a:off x="6281928" y="4480560"/>
            <a:ext cx="2514600" cy="502920"/>
          </a:xfrm>
          <a:prstGeom prst="rect">
            <a:avLst/>
          </a:prstGeom>
          <a:noFill/>
          <a:ln/>
        </p:spPr>
        <p:txBody>
          <a:bodyPr wrap="square" lIns="0" tIns="0" rIns="0" bIns="0" rtlCol="0" anchor="ctr"/>
          <a:lstStyle/>
          <a:p>
            <a:pPr marL="0" indent="0">
              <a:buNone/>
            </a:pPr>
            <a:r>
              <a:rPr lang="en-US" sz="800" dirty="0">
                <a:solidFill>
                  <a:srgbClr val="E2E8F5"/>
                </a:solidFill>
              </a:rPr>
              <a:t>Vector databases — store and retrieve embedding representations of text/images/code. Essential for RAG (Retrieval-Augmented Generation) applications that ground AI in real data.</a:t>
            </a:r>
            <a:endParaRPr lang="en-US" sz="800" dirty="0"/>
          </a:p>
        </p:txBody>
      </p:sp>
    </p:spTree>
    <p:extLst>
      <p:ext uri="{BB962C8B-B14F-4D97-AF65-F5344CB8AC3E}">
        <p14:creationId xmlns:p14="http://schemas.microsoft.com/office/powerpoint/2010/main" val="3020807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B6D4"/>
          </a:solidFill>
          <a:ln/>
        </p:spPr>
      </p:sp>
      <p:sp>
        <p:nvSpPr>
          <p:cNvPr id="3" name="Text 1"/>
          <p:cNvSpPr/>
          <p:nvPr/>
        </p:nvSpPr>
        <p:spPr>
          <a:xfrm>
            <a:off x="320040" y="137160"/>
            <a:ext cx="6400800" cy="457200"/>
          </a:xfrm>
          <a:prstGeom prst="rect">
            <a:avLst/>
          </a:prstGeom>
          <a:noFill/>
          <a:ln/>
        </p:spPr>
        <p:txBody>
          <a:bodyPr wrap="square" lIns="0" tIns="0" rIns="0" bIns="0" rtlCol="0" anchor="ctr"/>
          <a:lstStyle/>
          <a:p>
            <a:pPr marL="0" indent="0">
              <a:buNone/>
            </a:pPr>
            <a:r>
              <a:rPr lang="en-US" sz="2200" b="1" dirty="0">
                <a:solidFill>
                  <a:srgbClr val="FFFFFF"/>
                </a:solidFill>
              </a:rPr>
              <a:t>AI MODELS — STOCK PICKS</a:t>
            </a:r>
            <a:endParaRPr lang="en-US" sz="2200" dirty="0"/>
          </a:p>
        </p:txBody>
      </p:sp>
      <p:sp>
        <p:nvSpPr>
          <p:cNvPr id="4" name="Text 2"/>
          <p:cNvSpPr/>
          <p:nvPr/>
        </p:nvSpPr>
        <p:spPr>
          <a:xfrm>
            <a:off x="320040" y="594360"/>
            <a:ext cx="8229600" cy="274320"/>
          </a:xfrm>
          <a:prstGeom prst="rect">
            <a:avLst/>
          </a:prstGeom>
          <a:noFill/>
          <a:ln/>
        </p:spPr>
        <p:txBody>
          <a:bodyPr wrap="square" rtlCol="0" anchor="ctr"/>
          <a:lstStyle/>
          <a:p>
            <a:pPr marL="0" indent="0">
              <a:buNone/>
            </a:pPr>
            <a:r>
              <a:rPr lang="en-US" sz="1100" dirty="0">
                <a:solidFill>
                  <a:srgbClr val="94A3B8"/>
                </a:solidFill>
              </a:rPr>
              <a:t>Investment perspective &amp; analyst targets</a:t>
            </a:r>
            <a:endParaRPr lang="en-US" sz="1100" dirty="0"/>
          </a:p>
        </p:txBody>
      </p:sp>
      <p:sp>
        <p:nvSpPr>
          <p:cNvPr id="5" name="Shape 3"/>
          <p:cNvSpPr/>
          <p:nvPr/>
        </p:nvSpPr>
        <p:spPr>
          <a:xfrm>
            <a:off x="320040" y="96012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6" name="Shape 4"/>
          <p:cNvSpPr/>
          <p:nvPr/>
        </p:nvSpPr>
        <p:spPr>
          <a:xfrm>
            <a:off x="457200" y="1051560"/>
            <a:ext cx="1280160" cy="566928"/>
          </a:xfrm>
          <a:prstGeom prst="roundRect">
            <a:avLst>
              <a:gd name="adj" fmla="val 11290"/>
            </a:avLst>
          </a:prstGeom>
          <a:solidFill>
            <a:srgbClr val="06B6D4">
              <a:alpha val="85000"/>
            </a:srgbClr>
          </a:solidFill>
          <a:ln/>
        </p:spPr>
      </p:sp>
      <p:sp>
        <p:nvSpPr>
          <p:cNvPr id="7" name="Text 5"/>
          <p:cNvSpPr/>
          <p:nvPr/>
        </p:nvSpPr>
        <p:spPr>
          <a:xfrm>
            <a:off x="457200" y="105156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$MSFT</a:t>
            </a:r>
            <a:endParaRPr lang="en-US" sz="1400" dirty="0"/>
          </a:p>
        </p:txBody>
      </p:sp>
      <p:sp>
        <p:nvSpPr>
          <p:cNvPr id="8" name="Text 6"/>
          <p:cNvSpPr/>
          <p:nvPr/>
        </p:nvSpPr>
        <p:spPr>
          <a:xfrm>
            <a:off x="457200" y="136245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Microsoft</a:t>
            </a:r>
            <a:endParaRPr lang="en-US" sz="750" dirty="0"/>
          </a:p>
        </p:txBody>
      </p:sp>
      <p:sp>
        <p:nvSpPr>
          <p:cNvPr id="9" name="Text 7"/>
          <p:cNvSpPr/>
          <p:nvPr/>
        </p:nvSpPr>
        <p:spPr>
          <a:xfrm>
            <a:off x="1920240" y="1051560"/>
            <a:ext cx="4846320" cy="566928"/>
          </a:xfrm>
          <a:prstGeom prst="rect">
            <a:avLst/>
          </a:prstGeom>
          <a:noFill/>
          <a:ln/>
        </p:spPr>
        <p:txBody>
          <a:bodyPr wrap="square" rtlCol="0" anchor="ctr"/>
          <a:lstStyle/>
          <a:p>
            <a:pPr marL="0" indent="0">
              <a:buNone/>
            </a:pPr>
            <a:r>
              <a:rPr lang="en-US" sz="1100" dirty="0">
                <a:solidFill>
                  <a:srgbClr val="F0F4FF"/>
                </a:solidFill>
              </a:rPr>
              <a:t>OpenAI exclusive; Copilot 365 monetization; Azure AI revenue surging</a:t>
            </a:r>
            <a:endParaRPr lang="en-US" sz="1100" dirty="0"/>
          </a:p>
        </p:txBody>
      </p:sp>
      <p:sp>
        <p:nvSpPr>
          <p:cNvPr id="14" name="Shape 12"/>
          <p:cNvSpPr/>
          <p:nvPr/>
        </p:nvSpPr>
        <p:spPr>
          <a:xfrm>
            <a:off x="8046720" y="1216152"/>
            <a:ext cx="237744" cy="237744"/>
          </a:xfrm>
          <a:prstGeom prst="ellipse">
            <a:avLst/>
          </a:prstGeom>
          <a:solidFill>
            <a:srgbClr val="06B6D4">
              <a:alpha val="30000"/>
            </a:srgbClr>
          </a:solidFill>
          <a:ln/>
        </p:spPr>
      </p:sp>
      <p:sp>
        <p:nvSpPr>
          <p:cNvPr id="15" name="Shape 13"/>
          <p:cNvSpPr/>
          <p:nvPr/>
        </p:nvSpPr>
        <p:spPr>
          <a:xfrm>
            <a:off x="320040" y="178308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6" name="Shape 14"/>
          <p:cNvSpPr/>
          <p:nvPr/>
        </p:nvSpPr>
        <p:spPr>
          <a:xfrm>
            <a:off x="457200" y="1874520"/>
            <a:ext cx="1280160" cy="566928"/>
          </a:xfrm>
          <a:prstGeom prst="roundRect">
            <a:avLst>
              <a:gd name="adj" fmla="val 11290"/>
            </a:avLst>
          </a:prstGeom>
          <a:solidFill>
            <a:srgbClr val="06B6D4">
              <a:alpha val="85000"/>
            </a:srgbClr>
          </a:solidFill>
          <a:ln/>
        </p:spPr>
      </p:sp>
      <p:sp>
        <p:nvSpPr>
          <p:cNvPr id="17" name="Text 15"/>
          <p:cNvSpPr/>
          <p:nvPr/>
        </p:nvSpPr>
        <p:spPr>
          <a:xfrm>
            <a:off x="457200" y="187452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$GOOGL</a:t>
            </a:r>
            <a:endParaRPr lang="en-US" sz="1400" dirty="0"/>
          </a:p>
        </p:txBody>
      </p:sp>
      <p:sp>
        <p:nvSpPr>
          <p:cNvPr id="18" name="Text 16"/>
          <p:cNvSpPr/>
          <p:nvPr/>
        </p:nvSpPr>
        <p:spPr>
          <a:xfrm>
            <a:off x="457200" y="218541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Alphabet</a:t>
            </a:r>
            <a:endParaRPr lang="en-US" sz="750" dirty="0"/>
          </a:p>
        </p:txBody>
      </p:sp>
      <p:sp>
        <p:nvSpPr>
          <p:cNvPr id="19" name="Text 17"/>
          <p:cNvSpPr/>
          <p:nvPr/>
        </p:nvSpPr>
        <p:spPr>
          <a:xfrm>
            <a:off x="1920240" y="1874520"/>
            <a:ext cx="4846320" cy="566928"/>
          </a:xfrm>
          <a:prstGeom prst="rect">
            <a:avLst/>
          </a:prstGeom>
          <a:noFill/>
          <a:ln/>
        </p:spPr>
        <p:txBody>
          <a:bodyPr wrap="square" rtlCol="0" anchor="ctr"/>
          <a:lstStyle/>
          <a:p>
            <a:pPr marL="0" indent="0">
              <a:buNone/>
            </a:pPr>
            <a:r>
              <a:rPr lang="en-US" sz="1100" dirty="0">
                <a:solidFill>
                  <a:srgbClr val="F0F4FF"/>
                </a:solidFill>
              </a:rPr>
              <a:t>Gemini models; TPU custom silicon; Search AI resilience</a:t>
            </a:r>
            <a:endParaRPr lang="en-US" sz="1100" dirty="0"/>
          </a:p>
        </p:txBody>
      </p:sp>
      <p:sp>
        <p:nvSpPr>
          <p:cNvPr id="24" name="Shape 22"/>
          <p:cNvSpPr/>
          <p:nvPr/>
        </p:nvSpPr>
        <p:spPr>
          <a:xfrm>
            <a:off x="8046720" y="2039112"/>
            <a:ext cx="237744" cy="237744"/>
          </a:xfrm>
          <a:prstGeom prst="ellipse">
            <a:avLst/>
          </a:prstGeom>
          <a:solidFill>
            <a:srgbClr val="06B6D4">
              <a:alpha val="30000"/>
            </a:srgbClr>
          </a:solidFill>
          <a:ln/>
        </p:spPr>
      </p:sp>
      <p:sp>
        <p:nvSpPr>
          <p:cNvPr id="25" name="Shape 23"/>
          <p:cNvSpPr/>
          <p:nvPr/>
        </p:nvSpPr>
        <p:spPr>
          <a:xfrm>
            <a:off x="320040" y="260604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26" name="Shape 24"/>
          <p:cNvSpPr/>
          <p:nvPr/>
        </p:nvSpPr>
        <p:spPr>
          <a:xfrm>
            <a:off x="457200" y="2697480"/>
            <a:ext cx="1280160" cy="566928"/>
          </a:xfrm>
          <a:prstGeom prst="roundRect">
            <a:avLst>
              <a:gd name="adj" fmla="val 11290"/>
            </a:avLst>
          </a:prstGeom>
          <a:solidFill>
            <a:srgbClr val="06B6D4">
              <a:alpha val="85000"/>
            </a:srgbClr>
          </a:solidFill>
          <a:ln/>
        </p:spPr>
      </p:sp>
      <p:sp>
        <p:nvSpPr>
          <p:cNvPr id="27" name="Text 25"/>
          <p:cNvSpPr/>
          <p:nvPr/>
        </p:nvSpPr>
        <p:spPr>
          <a:xfrm>
            <a:off x="457200" y="269748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$META</a:t>
            </a:r>
            <a:endParaRPr lang="en-US" sz="1400" dirty="0"/>
          </a:p>
        </p:txBody>
      </p:sp>
      <p:sp>
        <p:nvSpPr>
          <p:cNvPr id="28" name="Text 26"/>
          <p:cNvSpPr/>
          <p:nvPr/>
        </p:nvSpPr>
        <p:spPr>
          <a:xfrm>
            <a:off x="457200" y="300837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Meta Platforms</a:t>
            </a:r>
            <a:endParaRPr lang="en-US" sz="750" dirty="0"/>
          </a:p>
        </p:txBody>
      </p:sp>
      <p:sp>
        <p:nvSpPr>
          <p:cNvPr id="29" name="Text 27"/>
          <p:cNvSpPr/>
          <p:nvPr/>
        </p:nvSpPr>
        <p:spPr>
          <a:xfrm>
            <a:off x="1920240" y="2697480"/>
            <a:ext cx="4846320" cy="566928"/>
          </a:xfrm>
          <a:prstGeom prst="rect">
            <a:avLst/>
          </a:prstGeom>
          <a:noFill/>
          <a:ln/>
        </p:spPr>
        <p:txBody>
          <a:bodyPr wrap="square" rtlCol="0" anchor="ctr"/>
          <a:lstStyle/>
          <a:p>
            <a:pPr marL="0" indent="0">
              <a:buNone/>
            </a:pPr>
            <a:r>
              <a:rPr lang="en-US" sz="1100" dirty="0">
                <a:solidFill>
                  <a:srgbClr val="F0F4FF"/>
                </a:solidFill>
              </a:rPr>
              <a:t>Open-source Llama moat; AI ad optimization; $50B capex commitment</a:t>
            </a:r>
            <a:endParaRPr lang="en-US" sz="1100" dirty="0"/>
          </a:p>
        </p:txBody>
      </p:sp>
      <p:sp>
        <p:nvSpPr>
          <p:cNvPr id="34" name="Shape 32"/>
          <p:cNvSpPr/>
          <p:nvPr/>
        </p:nvSpPr>
        <p:spPr>
          <a:xfrm>
            <a:off x="8046720" y="2862072"/>
            <a:ext cx="237744" cy="237744"/>
          </a:xfrm>
          <a:prstGeom prst="ellipse">
            <a:avLst/>
          </a:prstGeom>
          <a:solidFill>
            <a:srgbClr val="06B6D4">
              <a:alpha val="30000"/>
            </a:srgbClr>
          </a:solidFill>
          <a:ln/>
        </p:spPr>
      </p:sp>
      <p:sp>
        <p:nvSpPr>
          <p:cNvPr id="35" name="Shape 33"/>
          <p:cNvSpPr/>
          <p:nvPr/>
        </p:nvSpPr>
        <p:spPr>
          <a:xfrm>
            <a:off x="320040" y="342900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36" name="Shape 34"/>
          <p:cNvSpPr/>
          <p:nvPr/>
        </p:nvSpPr>
        <p:spPr>
          <a:xfrm>
            <a:off x="457200" y="3520440"/>
            <a:ext cx="1280160" cy="566928"/>
          </a:xfrm>
          <a:prstGeom prst="roundRect">
            <a:avLst>
              <a:gd name="adj" fmla="val 11290"/>
            </a:avLst>
          </a:prstGeom>
          <a:solidFill>
            <a:srgbClr val="06B6D4">
              <a:alpha val="85000"/>
            </a:srgbClr>
          </a:solidFill>
          <a:ln/>
        </p:spPr>
      </p:sp>
      <p:sp>
        <p:nvSpPr>
          <p:cNvPr id="37" name="Text 35"/>
          <p:cNvSpPr/>
          <p:nvPr/>
        </p:nvSpPr>
        <p:spPr>
          <a:xfrm>
            <a:off x="457200" y="352044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$AMZN</a:t>
            </a:r>
            <a:endParaRPr lang="en-US" sz="1400" dirty="0"/>
          </a:p>
        </p:txBody>
      </p:sp>
      <p:sp>
        <p:nvSpPr>
          <p:cNvPr id="38" name="Text 36"/>
          <p:cNvSpPr/>
          <p:nvPr/>
        </p:nvSpPr>
        <p:spPr>
          <a:xfrm>
            <a:off x="457200" y="383133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Amazon</a:t>
            </a:r>
            <a:endParaRPr lang="en-US" sz="750" dirty="0"/>
          </a:p>
        </p:txBody>
      </p:sp>
      <p:sp>
        <p:nvSpPr>
          <p:cNvPr id="39" name="Text 37"/>
          <p:cNvSpPr/>
          <p:nvPr/>
        </p:nvSpPr>
        <p:spPr>
          <a:xfrm>
            <a:off x="1920240" y="3520440"/>
            <a:ext cx="4846320" cy="566928"/>
          </a:xfrm>
          <a:prstGeom prst="rect">
            <a:avLst/>
          </a:prstGeom>
          <a:noFill/>
          <a:ln/>
        </p:spPr>
        <p:txBody>
          <a:bodyPr wrap="square" rtlCol="0" anchor="ctr"/>
          <a:lstStyle/>
          <a:p>
            <a:pPr marL="0" indent="0">
              <a:buNone/>
            </a:pPr>
            <a:r>
              <a:rPr lang="en-US" sz="1100" dirty="0">
                <a:solidFill>
                  <a:srgbClr val="F0F4FF"/>
                </a:solidFill>
              </a:rPr>
              <a:t>AWS Bedrock + Trainium chips; Alexa AI refresh; #1 cloud</a:t>
            </a:r>
            <a:endParaRPr lang="en-US" sz="1100" dirty="0"/>
          </a:p>
        </p:txBody>
      </p:sp>
      <p:sp>
        <p:nvSpPr>
          <p:cNvPr id="44" name="Shape 42"/>
          <p:cNvSpPr/>
          <p:nvPr/>
        </p:nvSpPr>
        <p:spPr>
          <a:xfrm>
            <a:off x="8046720" y="3685032"/>
            <a:ext cx="237744" cy="237744"/>
          </a:xfrm>
          <a:prstGeom prst="ellipse">
            <a:avLst/>
          </a:prstGeom>
          <a:solidFill>
            <a:srgbClr val="06B6D4">
              <a:alpha val="30000"/>
            </a:srgbClr>
          </a:solidFill>
          <a:ln/>
        </p:spPr>
      </p:sp>
      <p:sp>
        <p:nvSpPr>
          <p:cNvPr id="45" name="Shape 43"/>
          <p:cNvSpPr/>
          <p:nvPr/>
        </p:nvSpPr>
        <p:spPr>
          <a:xfrm>
            <a:off x="320040" y="425196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46" name="Shape 44"/>
          <p:cNvSpPr/>
          <p:nvPr/>
        </p:nvSpPr>
        <p:spPr>
          <a:xfrm>
            <a:off x="457200" y="4343400"/>
            <a:ext cx="1280160" cy="566928"/>
          </a:xfrm>
          <a:prstGeom prst="roundRect">
            <a:avLst>
              <a:gd name="adj" fmla="val 11290"/>
            </a:avLst>
          </a:prstGeom>
          <a:solidFill>
            <a:srgbClr val="06B6D4">
              <a:alpha val="85000"/>
            </a:srgbClr>
          </a:solidFill>
          <a:ln/>
        </p:spPr>
      </p:sp>
      <p:sp>
        <p:nvSpPr>
          <p:cNvPr id="47" name="Text 45"/>
          <p:cNvSpPr/>
          <p:nvPr/>
        </p:nvSpPr>
        <p:spPr>
          <a:xfrm>
            <a:off x="457200" y="434340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$ORCL</a:t>
            </a:r>
            <a:endParaRPr lang="en-US" sz="1400" dirty="0"/>
          </a:p>
        </p:txBody>
      </p:sp>
      <p:sp>
        <p:nvSpPr>
          <p:cNvPr id="48" name="Text 46"/>
          <p:cNvSpPr/>
          <p:nvPr/>
        </p:nvSpPr>
        <p:spPr>
          <a:xfrm>
            <a:off x="457200" y="465429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Oracle</a:t>
            </a:r>
            <a:endParaRPr lang="en-US" sz="750" dirty="0"/>
          </a:p>
        </p:txBody>
      </p:sp>
      <p:sp>
        <p:nvSpPr>
          <p:cNvPr id="49" name="Text 47"/>
          <p:cNvSpPr/>
          <p:nvPr/>
        </p:nvSpPr>
        <p:spPr>
          <a:xfrm>
            <a:off x="1920240" y="4343400"/>
            <a:ext cx="4846320" cy="566928"/>
          </a:xfrm>
          <a:prstGeom prst="rect">
            <a:avLst/>
          </a:prstGeom>
          <a:noFill/>
          <a:ln/>
        </p:spPr>
        <p:txBody>
          <a:bodyPr wrap="square" rtlCol="0" anchor="ctr"/>
          <a:lstStyle/>
          <a:p>
            <a:pPr marL="0" indent="0">
              <a:buNone/>
            </a:pPr>
            <a:r>
              <a:rPr lang="en-US" sz="1100" dirty="0">
                <a:solidFill>
                  <a:srgbClr val="F0F4FF"/>
                </a:solidFill>
              </a:rPr>
              <a:t>OCI data center explosion; AI training contracts; cloud database pivot</a:t>
            </a:r>
            <a:endParaRPr lang="en-US" sz="1100" dirty="0"/>
          </a:p>
        </p:txBody>
      </p:sp>
      <p:sp>
        <p:nvSpPr>
          <p:cNvPr id="54" name="Shape 52"/>
          <p:cNvSpPr/>
          <p:nvPr/>
        </p:nvSpPr>
        <p:spPr>
          <a:xfrm>
            <a:off x="8046720" y="4507992"/>
            <a:ext cx="237744" cy="237744"/>
          </a:xfrm>
          <a:prstGeom prst="ellipse">
            <a:avLst/>
          </a:prstGeom>
          <a:solidFill>
            <a:srgbClr val="06B6D4">
              <a:alpha val="30000"/>
            </a:srgbClr>
          </a:solid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651510"/>
          </a:xfrm>
          <a:prstGeom prst="rect">
            <a:avLst/>
          </a:prstGeom>
          <a:solidFill>
            <a:srgbClr val="101828"/>
          </a:solidFill>
          <a:ln/>
        </p:spPr>
      </p:sp>
      <p:sp>
        <p:nvSpPr>
          <p:cNvPr id="3" name="Text 1"/>
          <p:cNvSpPr/>
          <p:nvPr/>
        </p:nvSpPr>
        <p:spPr>
          <a:xfrm>
            <a:off x="240030" y="54864"/>
            <a:ext cx="6172200" cy="514350"/>
          </a:xfrm>
          <a:prstGeom prst="rect">
            <a:avLst/>
          </a:prstGeom>
          <a:noFill/>
          <a:ln/>
        </p:spPr>
        <p:txBody>
          <a:bodyPr wrap="square" lIns="0" tIns="0" rIns="0" bIns="0" rtlCol="0" anchor="ctr"/>
          <a:lstStyle/>
          <a:p>
            <a:r>
              <a:rPr lang="en-US" sz="1650" b="1" dirty="0">
                <a:solidFill>
                  <a:srgbClr val="F472B6"/>
                </a:solidFill>
                <a:latin typeface="Calibri" pitchFamily="34" charset="0"/>
                <a:ea typeface="Calibri" pitchFamily="34" charset="-122"/>
                <a:cs typeface="Calibri" pitchFamily="34" charset="-120"/>
              </a:rPr>
              <a:t>AI MODELS</a:t>
            </a:r>
            <a:endParaRPr lang="en-US" sz="1650" dirty="0"/>
          </a:p>
        </p:txBody>
      </p:sp>
      <p:sp>
        <p:nvSpPr>
          <p:cNvPr id="4" name="Text 2"/>
          <p:cNvSpPr/>
          <p:nvPr/>
        </p:nvSpPr>
        <p:spPr>
          <a:xfrm>
            <a:off x="240030" y="377190"/>
            <a:ext cx="8229600" cy="260604"/>
          </a:xfrm>
          <a:prstGeom prst="rect">
            <a:avLst/>
          </a:prstGeom>
          <a:noFill/>
          <a:ln/>
        </p:spPr>
        <p:txBody>
          <a:bodyPr wrap="square" lIns="0" tIns="0" rIns="0" bIns="0" rtlCol="0" anchor="ctr"/>
          <a:lstStyle/>
          <a:p>
            <a:r>
              <a:rPr lang="en-US" sz="825" dirty="0">
                <a:solidFill>
                  <a:srgbClr val="94A3B8"/>
                </a:solidFill>
                <a:latin typeface="Calibri" pitchFamily="34" charset="0"/>
                <a:ea typeface="Calibri" pitchFamily="34" charset="-122"/>
                <a:cs typeface="Calibri" pitchFamily="34" charset="-120"/>
              </a:rPr>
              <a:t>MSFT · GOOGL · META · AMZN · ORCL  |  The Hyperscaler AI Platforms</a:t>
            </a:r>
            <a:endParaRPr lang="en-US" sz="825" dirty="0"/>
          </a:p>
        </p:txBody>
      </p:sp>
      <p:sp>
        <p:nvSpPr>
          <p:cNvPr id="7" name="Text 5"/>
          <p:cNvSpPr/>
          <p:nvPr/>
        </p:nvSpPr>
        <p:spPr>
          <a:xfrm>
            <a:off x="240030" y="740664"/>
            <a:ext cx="8641080" cy="288036"/>
          </a:xfrm>
          <a:prstGeom prst="rect">
            <a:avLst/>
          </a:prstGeom>
          <a:noFill/>
          <a:ln/>
        </p:spPr>
        <p:txBody>
          <a:bodyPr wrap="square" lIns="0" tIns="0" rIns="0" bIns="0" rtlCol="0" anchor="ctr"/>
          <a:lstStyle/>
          <a:p>
            <a:r>
              <a:rPr lang="en-US" sz="750" dirty="0">
                <a:solidFill>
                  <a:srgbClr val="94A3B8"/>
                </a:solidFill>
                <a:latin typeface="Calibri" pitchFamily="34" charset="0"/>
                <a:ea typeface="Calibri" pitchFamily="34" charset="-122"/>
                <a:cs typeface="Calibri" pitchFamily="34" charset="-120"/>
              </a:rPr>
              <a:t>The hyperscalers are both the primary customers of the infrastructure stack AND the primary monetizers of AI. They're running the AI arms race and collectively committing $690B+ in 2026 capex. But they're also building the platforms that will capture trillions in AI value.</a:t>
            </a:r>
            <a:endParaRPr lang="en-US" sz="750" dirty="0"/>
          </a:p>
        </p:txBody>
      </p:sp>
      <p:sp>
        <p:nvSpPr>
          <p:cNvPr id="8" name="Shape 6"/>
          <p:cNvSpPr/>
          <p:nvPr/>
        </p:nvSpPr>
        <p:spPr>
          <a:xfrm>
            <a:off x="116586" y="1165860"/>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9" name="Shape 7"/>
          <p:cNvSpPr/>
          <p:nvPr/>
        </p:nvSpPr>
        <p:spPr>
          <a:xfrm>
            <a:off x="198882" y="1234440"/>
            <a:ext cx="260604" cy="260604"/>
          </a:xfrm>
          <a:prstGeom prst="ellipse">
            <a:avLst/>
          </a:prstGeom>
          <a:solidFill>
            <a:srgbClr val="F5C842"/>
          </a:solidFill>
          <a:ln/>
        </p:spPr>
      </p:sp>
      <p:sp>
        <p:nvSpPr>
          <p:cNvPr id="10" name="Text 8"/>
          <p:cNvSpPr/>
          <p:nvPr/>
        </p:nvSpPr>
        <p:spPr>
          <a:xfrm>
            <a:off x="198882" y="1234440"/>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#1</a:t>
            </a:r>
            <a:endParaRPr lang="en-US" sz="825" dirty="0"/>
          </a:p>
        </p:txBody>
      </p:sp>
      <p:sp>
        <p:nvSpPr>
          <p:cNvPr id="11" name="Text 9"/>
          <p:cNvSpPr/>
          <p:nvPr/>
        </p:nvSpPr>
        <p:spPr>
          <a:xfrm>
            <a:off x="528066" y="1220724"/>
            <a:ext cx="1097280" cy="240030"/>
          </a:xfrm>
          <a:prstGeom prst="rect">
            <a:avLst/>
          </a:prstGeom>
          <a:noFill/>
          <a:ln/>
        </p:spPr>
        <p:txBody>
          <a:bodyPr wrap="square" lIns="0" tIns="0" rIns="0" bIns="0" rtlCol="0" anchor="ctr"/>
          <a:lstStyle/>
          <a:p>
            <a:r>
              <a:rPr lang="en-US" sz="1200" b="1" dirty="0">
                <a:solidFill>
                  <a:srgbClr val="F472B6"/>
                </a:solidFill>
                <a:latin typeface="Cambria" pitchFamily="34" charset="0"/>
                <a:ea typeface="Cambria" pitchFamily="34" charset="-122"/>
                <a:cs typeface="Cambria" pitchFamily="34" charset="-120"/>
              </a:rPr>
              <a:t>MSFT</a:t>
            </a:r>
            <a:endParaRPr lang="en-US" sz="1200" dirty="0"/>
          </a:p>
        </p:txBody>
      </p:sp>
      <p:sp>
        <p:nvSpPr>
          <p:cNvPr id="12" name="Text 10"/>
          <p:cNvSpPr/>
          <p:nvPr/>
        </p:nvSpPr>
        <p:spPr>
          <a:xfrm>
            <a:off x="528066" y="1453896"/>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Microsoft Corp</a:t>
            </a:r>
            <a:endParaRPr lang="en-US" sz="638" dirty="0"/>
          </a:p>
        </p:txBody>
      </p:sp>
      <p:sp>
        <p:nvSpPr>
          <p:cNvPr id="13" name="Text 11"/>
          <p:cNvSpPr/>
          <p:nvPr/>
        </p:nvSpPr>
        <p:spPr>
          <a:xfrm>
            <a:off x="219456" y="1666494"/>
            <a:ext cx="411480" cy="150876"/>
          </a:xfrm>
          <a:prstGeom prst="rect">
            <a:avLst/>
          </a:prstGeom>
          <a:noFill/>
          <a:ln/>
        </p:spPr>
        <p:txBody>
          <a:bodyPr wrap="square" lIns="0" tIns="0" rIns="0" bIns="0" rtlCol="0" anchor="ctr"/>
          <a:lstStyle/>
          <a:p>
            <a:r>
              <a:rPr lang="en-US" sz="600" b="1" dirty="0">
                <a:solidFill>
                  <a:srgbClr val="F472B6"/>
                </a:solidFill>
                <a:latin typeface="Calibri" pitchFamily="34" charset="0"/>
                <a:ea typeface="Calibri" pitchFamily="34" charset="-122"/>
                <a:cs typeface="Calibri" pitchFamily="34" charset="-120"/>
              </a:rPr>
              <a:t>Moat: </a:t>
            </a:r>
            <a:endParaRPr lang="en-US" sz="600" dirty="0"/>
          </a:p>
        </p:txBody>
      </p:sp>
      <p:sp>
        <p:nvSpPr>
          <p:cNvPr id="14" name="Text 12"/>
          <p:cNvSpPr/>
          <p:nvPr/>
        </p:nvSpPr>
        <p:spPr>
          <a:xfrm>
            <a:off x="610362" y="1666494"/>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OpenAI partnership gives exclusive access to GPT-4o/o3 frontier models. Azure is #2 cloud (39% growth). Copilot embedded across 350M+ Microsoft 365 users. GitHub Copilot dominant in developer AI. $190B 2026 capex.</a:t>
            </a:r>
            <a:endParaRPr lang="en-US" sz="600" dirty="0"/>
          </a:p>
        </p:txBody>
      </p:sp>
      <p:sp>
        <p:nvSpPr>
          <p:cNvPr id="15" name="Text 13"/>
          <p:cNvSpPr/>
          <p:nvPr/>
        </p:nvSpPr>
        <p:spPr>
          <a:xfrm>
            <a:off x="219456" y="2036826"/>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16" name="Text 14"/>
          <p:cNvSpPr/>
          <p:nvPr/>
        </p:nvSpPr>
        <p:spPr>
          <a:xfrm>
            <a:off x="733806" y="2036826"/>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AI ARR surpassed $13B in 2025 (up 175% YoY). Azure growing 39%. Microsoft 365 commercial cloud +16%. Copilot monetizing at $30/user/mo. Enterprise distribution unmatched.</a:t>
            </a:r>
            <a:endParaRPr lang="en-US" sz="600" dirty="0"/>
          </a:p>
        </p:txBody>
      </p:sp>
      <p:sp>
        <p:nvSpPr>
          <p:cNvPr id="17" name="Text 15"/>
          <p:cNvSpPr/>
          <p:nvPr/>
        </p:nvSpPr>
        <p:spPr>
          <a:xfrm>
            <a:off x="219456" y="2372868"/>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18" name="Text 16"/>
          <p:cNvSpPr/>
          <p:nvPr/>
        </p:nvSpPr>
        <p:spPr>
          <a:xfrm>
            <a:off x="576072" y="2372868"/>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Still #2 cloud (behind AWS). OpenAI relationship has high costs and exclusivity uncertainties. CapEx of $190B is capacity-constrained through 2026. LinkedIn growth slowing.</a:t>
            </a:r>
            <a:endParaRPr lang="en-US" sz="600" dirty="0"/>
          </a:p>
        </p:txBody>
      </p:sp>
      <p:sp>
        <p:nvSpPr>
          <p:cNvPr id="19" name="Text 17"/>
          <p:cNvSpPr/>
          <p:nvPr/>
        </p:nvSpPr>
        <p:spPr>
          <a:xfrm>
            <a:off x="198882" y="2660904"/>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THE AI DISTRIBUTION KING. OpenAI + Azure + Office 365 = a flywheel that monetizes AI across every enterprise workflow. The best combination of frontier AI + distribution.</a:t>
            </a:r>
            <a:endParaRPr lang="en-US" sz="563" dirty="0"/>
          </a:p>
        </p:txBody>
      </p:sp>
      <p:sp>
        <p:nvSpPr>
          <p:cNvPr id="20" name="Shape 18"/>
          <p:cNvSpPr/>
          <p:nvPr/>
        </p:nvSpPr>
        <p:spPr>
          <a:xfrm>
            <a:off x="3113532" y="1179576"/>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21" name="Shape 19"/>
          <p:cNvSpPr/>
          <p:nvPr/>
        </p:nvSpPr>
        <p:spPr>
          <a:xfrm>
            <a:off x="3195828" y="1248156"/>
            <a:ext cx="260604" cy="260604"/>
          </a:xfrm>
          <a:prstGeom prst="ellipse">
            <a:avLst/>
          </a:prstGeom>
          <a:solidFill>
            <a:srgbClr val="4F9CF9"/>
          </a:solidFill>
          <a:ln/>
        </p:spPr>
      </p:sp>
      <p:sp>
        <p:nvSpPr>
          <p:cNvPr id="22" name="Text 20"/>
          <p:cNvSpPr/>
          <p:nvPr/>
        </p:nvSpPr>
        <p:spPr>
          <a:xfrm>
            <a:off x="3195828" y="1248156"/>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#2</a:t>
            </a:r>
            <a:endParaRPr lang="en-US" sz="825" dirty="0"/>
          </a:p>
        </p:txBody>
      </p:sp>
      <p:sp>
        <p:nvSpPr>
          <p:cNvPr id="23" name="Text 21"/>
          <p:cNvSpPr/>
          <p:nvPr/>
        </p:nvSpPr>
        <p:spPr>
          <a:xfrm>
            <a:off x="3525012" y="1234440"/>
            <a:ext cx="1097280" cy="240030"/>
          </a:xfrm>
          <a:prstGeom prst="rect">
            <a:avLst/>
          </a:prstGeom>
          <a:noFill/>
          <a:ln/>
        </p:spPr>
        <p:txBody>
          <a:bodyPr wrap="square" lIns="0" tIns="0" rIns="0" bIns="0" rtlCol="0" anchor="ctr"/>
          <a:lstStyle/>
          <a:p>
            <a:r>
              <a:rPr lang="en-US" sz="1200" b="1" dirty="0">
                <a:solidFill>
                  <a:srgbClr val="F472B6"/>
                </a:solidFill>
                <a:latin typeface="Cambria" pitchFamily="34" charset="0"/>
                <a:ea typeface="Cambria" pitchFamily="34" charset="-122"/>
                <a:cs typeface="Cambria" pitchFamily="34" charset="-120"/>
              </a:rPr>
              <a:t>GOOGL</a:t>
            </a:r>
            <a:endParaRPr lang="en-US" sz="1200" dirty="0"/>
          </a:p>
        </p:txBody>
      </p:sp>
      <p:sp>
        <p:nvSpPr>
          <p:cNvPr id="24" name="Text 22"/>
          <p:cNvSpPr/>
          <p:nvPr/>
        </p:nvSpPr>
        <p:spPr>
          <a:xfrm>
            <a:off x="3525012" y="1467612"/>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Alphabet / Google</a:t>
            </a:r>
            <a:endParaRPr lang="en-US" sz="638" dirty="0"/>
          </a:p>
        </p:txBody>
      </p:sp>
      <p:sp>
        <p:nvSpPr>
          <p:cNvPr id="25" name="Text 23"/>
          <p:cNvSpPr/>
          <p:nvPr/>
        </p:nvSpPr>
        <p:spPr>
          <a:xfrm>
            <a:off x="3216402" y="1680210"/>
            <a:ext cx="411480" cy="150876"/>
          </a:xfrm>
          <a:prstGeom prst="rect">
            <a:avLst/>
          </a:prstGeom>
          <a:noFill/>
          <a:ln/>
        </p:spPr>
        <p:txBody>
          <a:bodyPr wrap="square" lIns="0" tIns="0" rIns="0" bIns="0" rtlCol="0" anchor="ctr"/>
          <a:lstStyle/>
          <a:p>
            <a:r>
              <a:rPr lang="en-US" sz="600" b="1" dirty="0">
                <a:solidFill>
                  <a:srgbClr val="F472B6"/>
                </a:solidFill>
                <a:latin typeface="Calibri" pitchFamily="34" charset="0"/>
                <a:ea typeface="Calibri" pitchFamily="34" charset="-122"/>
                <a:cs typeface="Calibri" pitchFamily="34" charset="-120"/>
              </a:rPr>
              <a:t>Moat: </a:t>
            </a:r>
            <a:endParaRPr lang="en-US" sz="600" dirty="0"/>
          </a:p>
        </p:txBody>
      </p:sp>
      <p:sp>
        <p:nvSpPr>
          <p:cNvPr id="26" name="Text 24"/>
          <p:cNvSpPr/>
          <p:nvPr/>
        </p:nvSpPr>
        <p:spPr>
          <a:xfrm>
            <a:off x="3607308" y="1680210"/>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Gemini Ultra frontier models. Google Cloud growing 48% (fastest large cloud). TPU v5/v6 custom silicon reducing NVDA dependency. DeepMind AlphaFold etc. Search AI monetization. $175–185B 2026 capex.</a:t>
            </a:r>
            <a:endParaRPr lang="en-US" sz="600" dirty="0"/>
          </a:p>
        </p:txBody>
      </p:sp>
      <p:sp>
        <p:nvSpPr>
          <p:cNvPr id="27" name="Text 25"/>
          <p:cNvSpPr/>
          <p:nvPr/>
        </p:nvSpPr>
        <p:spPr>
          <a:xfrm>
            <a:off x="3216402" y="2050542"/>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28" name="Text 26"/>
          <p:cNvSpPr/>
          <p:nvPr/>
        </p:nvSpPr>
        <p:spPr>
          <a:xfrm>
            <a:off x="3730752" y="2050542"/>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Google Cloud $20B quarterly revenue (fastest growth). Cloud contract backlog $460B (doubled YoY). TPUs = unique competitive cost advantage. 81% net income growth. YouTube AI monetization.</a:t>
            </a:r>
            <a:endParaRPr lang="en-US" sz="600" dirty="0"/>
          </a:p>
        </p:txBody>
      </p:sp>
      <p:sp>
        <p:nvSpPr>
          <p:cNvPr id="29" name="Text 27"/>
          <p:cNvSpPr/>
          <p:nvPr/>
        </p:nvSpPr>
        <p:spPr>
          <a:xfrm>
            <a:off x="3216402" y="2386584"/>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30" name="Text 28"/>
          <p:cNvSpPr/>
          <p:nvPr/>
        </p:nvSpPr>
        <p:spPr>
          <a:xfrm>
            <a:off x="3573018" y="2386584"/>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Core search business threatened by AI assistants (Perplexity, ChatGPT). Antitrust regulatory risk. AI monetization still behind MSFT in enterprise. Late to agent monetization.</a:t>
            </a:r>
            <a:endParaRPr lang="en-US" sz="600" dirty="0"/>
          </a:p>
        </p:txBody>
      </p:sp>
      <p:sp>
        <p:nvSpPr>
          <p:cNvPr id="31" name="Text 29"/>
          <p:cNvSpPr/>
          <p:nvPr/>
        </p:nvSpPr>
        <p:spPr>
          <a:xfrm>
            <a:off x="3195828" y="2674620"/>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VERTICALLY INTEGRATED AI POWERHOUSE. The only company with own chips, own models, and own cloud. Cloud contract backlog doubling is the key signal of momentum.</a:t>
            </a:r>
            <a:endParaRPr lang="en-US" sz="563" dirty="0"/>
          </a:p>
        </p:txBody>
      </p:sp>
      <p:sp>
        <p:nvSpPr>
          <p:cNvPr id="32" name="Shape 30"/>
          <p:cNvSpPr/>
          <p:nvPr/>
        </p:nvSpPr>
        <p:spPr>
          <a:xfrm>
            <a:off x="6131052" y="1193653"/>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33" name="Shape 31"/>
          <p:cNvSpPr/>
          <p:nvPr/>
        </p:nvSpPr>
        <p:spPr>
          <a:xfrm>
            <a:off x="6213348" y="1262233"/>
            <a:ext cx="260604" cy="260604"/>
          </a:xfrm>
          <a:prstGeom prst="ellipse">
            <a:avLst/>
          </a:prstGeom>
          <a:solidFill>
            <a:srgbClr val="7B5CF5"/>
          </a:solidFill>
          <a:ln/>
        </p:spPr>
      </p:sp>
      <p:sp>
        <p:nvSpPr>
          <p:cNvPr id="34" name="Text 32"/>
          <p:cNvSpPr/>
          <p:nvPr/>
        </p:nvSpPr>
        <p:spPr>
          <a:xfrm>
            <a:off x="6213348" y="1262233"/>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#3</a:t>
            </a:r>
            <a:endParaRPr lang="en-US" sz="825" dirty="0"/>
          </a:p>
        </p:txBody>
      </p:sp>
      <p:sp>
        <p:nvSpPr>
          <p:cNvPr id="35" name="Text 33"/>
          <p:cNvSpPr/>
          <p:nvPr/>
        </p:nvSpPr>
        <p:spPr>
          <a:xfrm>
            <a:off x="6542532" y="1248517"/>
            <a:ext cx="1097280" cy="240030"/>
          </a:xfrm>
          <a:prstGeom prst="rect">
            <a:avLst/>
          </a:prstGeom>
          <a:noFill/>
          <a:ln/>
        </p:spPr>
        <p:txBody>
          <a:bodyPr wrap="square" lIns="0" tIns="0" rIns="0" bIns="0" rtlCol="0" anchor="ctr"/>
          <a:lstStyle/>
          <a:p>
            <a:r>
              <a:rPr lang="en-US" sz="1200" b="1" dirty="0">
                <a:solidFill>
                  <a:srgbClr val="F472B6"/>
                </a:solidFill>
                <a:latin typeface="Cambria" pitchFamily="34" charset="0"/>
                <a:ea typeface="Cambria" pitchFamily="34" charset="-122"/>
                <a:cs typeface="Cambria" pitchFamily="34" charset="-120"/>
              </a:rPr>
              <a:t>META</a:t>
            </a:r>
            <a:endParaRPr lang="en-US" sz="1200" dirty="0"/>
          </a:p>
        </p:txBody>
      </p:sp>
      <p:sp>
        <p:nvSpPr>
          <p:cNvPr id="36" name="Text 34"/>
          <p:cNvSpPr/>
          <p:nvPr/>
        </p:nvSpPr>
        <p:spPr>
          <a:xfrm>
            <a:off x="6542532" y="1481689"/>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Meta Platforms</a:t>
            </a:r>
            <a:endParaRPr lang="en-US" sz="638" dirty="0"/>
          </a:p>
        </p:txBody>
      </p:sp>
      <p:sp>
        <p:nvSpPr>
          <p:cNvPr id="37" name="Text 35"/>
          <p:cNvSpPr/>
          <p:nvPr/>
        </p:nvSpPr>
        <p:spPr>
          <a:xfrm>
            <a:off x="6233922" y="1694287"/>
            <a:ext cx="411480" cy="150876"/>
          </a:xfrm>
          <a:prstGeom prst="rect">
            <a:avLst/>
          </a:prstGeom>
          <a:noFill/>
          <a:ln/>
        </p:spPr>
        <p:txBody>
          <a:bodyPr wrap="square" lIns="0" tIns="0" rIns="0" bIns="0" rtlCol="0" anchor="ctr"/>
          <a:lstStyle/>
          <a:p>
            <a:r>
              <a:rPr lang="en-US" sz="600" b="1" dirty="0">
                <a:solidFill>
                  <a:srgbClr val="F472B6"/>
                </a:solidFill>
                <a:latin typeface="Calibri" pitchFamily="34" charset="0"/>
                <a:ea typeface="Calibri" pitchFamily="34" charset="-122"/>
                <a:cs typeface="Calibri" pitchFamily="34" charset="-120"/>
              </a:rPr>
              <a:t>Moat: </a:t>
            </a:r>
            <a:endParaRPr lang="en-US" sz="600" dirty="0"/>
          </a:p>
        </p:txBody>
      </p:sp>
      <p:sp>
        <p:nvSpPr>
          <p:cNvPr id="38" name="Text 36"/>
          <p:cNvSpPr/>
          <p:nvPr/>
        </p:nvSpPr>
        <p:spPr>
          <a:xfrm>
            <a:off x="6624828" y="1694287"/>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Llama 3/4 open-source models = 400M+ downloads creating massive developer ecosystem. 3.3B daily active users = unrivaled social graph. AI-powered ad targeting is already generating incremental revenue. $115–135B 2026 capex.</a:t>
            </a:r>
            <a:endParaRPr lang="en-US" sz="600" dirty="0"/>
          </a:p>
        </p:txBody>
      </p:sp>
      <p:sp>
        <p:nvSpPr>
          <p:cNvPr id="39" name="Text 37"/>
          <p:cNvSpPr/>
          <p:nvPr/>
        </p:nvSpPr>
        <p:spPr>
          <a:xfrm>
            <a:off x="6233922" y="2064619"/>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40" name="Text 38"/>
          <p:cNvSpPr/>
          <p:nvPr/>
        </p:nvSpPr>
        <p:spPr>
          <a:xfrm>
            <a:off x="6748272" y="2064619"/>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Llama 3.1 405B = most capable open-source frontier model. Ray-Ban Meta AI glasses = AR/AI hardware beachhead. Ad revenue AI-enhanced to record margins. 6.6 GW nuclear secured for AI.</a:t>
            </a:r>
            <a:endParaRPr lang="en-US" sz="600" dirty="0"/>
          </a:p>
        </p:txBody>
      </p:sp>
      <p:sp>
        <p:nvSpPr>
          <p:cNvPr id="41" name="Text 39"/>
          <p:cNvSpPr/>
          <p:nvPr/>
        </p:nvSpPr>
        <p:spPr>
          <a:xfrm>
            <a:off x="6233922" y="2400661"/>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42" name="Text 40"/>
          <p:cNvSpPr/>
          <p:nvPr/>
        </p:nvSpPr>
        <p:spPr>
          <a:xfrm>
            <a:off x="6590538" y="2400661"/>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Ad model is cyclical. No enterprise cloud business. Metaverse pivot cost $40B+. Reality Labs still burning $5B+/quarter. Open-source model release is both moat AND commoditization risk.</a:t>
            </a:r>
            <a:endParaRPr lang="en-US" sz="600" dirty="0"/>
          </a:p>
        </p:txBody>
      </p:sp>
      <p:sp>
        <p:nvSpPr>
          <p:cNvPr id="43" name="Text 41"/>
          <p:cNvSpPr/>
          <p:nvPr/>
        </p:nvSpPr>
        <p:spPr>
          <a:xfrm>
            <a:off x="6213348" y="2688697"/>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THE OPEN-SOURCE AI BET. Meta's Llama ecosystem is a strategic long-game: commoditize the model layer, own the distribution (social + AR glasses). High conviction on AI-augmented advertising.</a:t>
            </a:r>
            <a:endParaRPr lang="en-US" sz="563" dirty="0"/>
          </a:p>
        </p:txBody>
      </p:sp>
      <p:sp>
        <p:nvSpPr>
          <p:cNvPr id="44" name="Shape 42"/>
          <p:cNvSpPr/>
          <p:nvPr/>
        </p:nvSpPr>
        <p:spPr>
          <a:xfrm>
            <a:off x="116586" y="3051810"/>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45" name="Shape 43"/>
          <p:cNvSpPr/>
          <p:nvPr/>
        </p:nvSpPr>
        <p:spPr>
          <a:xfrm>
            <a:off x="198882" y="3120390"/>
            <a:ext cx="260604" cy="260604"/>
          </a:xfrm>
          <a:prstGeom prst="ellipse">
            <a:avLst/>
          </a:prstGeom>
          <a:solidFill>
            <a:srgbClr val="F97316"/>
          </a:solidFill>
          <a:ln/>
        </p:spPr>
      </p:sp>
      <p:sp>
        <p:nvSpPr>
          <p:cNvPr id="46" name="Text 44"/>
          <p:cNvSpPr/>
          <p:nvPr/>
        </p:nvSpPr>
        <p:spPr>
          <a:xfrm>
            <a:off x="198882" y="3120390"/>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#4</a:t>
            </a:r>
            <a:endParaRPr lang="en-US" sz="825" dirty="0"/>
          </a:p>
        </p:txBody>
      </p:sp>
      <p:sp>
        <p:nvSpPr>
          <p:cNvPr id="47" name="Text 45"/>
          <p:cNvSpPr/>
          <p:nvPr/>
        </p:nvSpPr>
        <p:spPr>
          <a:xfrm>
            <a:off x="528066" y="3106674"/>
            <a:ext cx="1097280" cy="240030"/>
          </a:xfrm>
          <a:prstGeom prst="rect">
            <a:avLst/>
          </a:prstGeom>
          <a:noFill/>
          <a:ln/>
        </p:spPr>
        <p:txBody>
          <a:bodyPr wrap="square" lIns="0" tIns="0" rIns="0" bIns="0" rtlCol="0" anchor="ctr"/>
          <a:lstStyle/>
          <a:p>
            <a:r>
              <a:rPr lang="en-US" sz="1200" b="1" dirty="0">
                <a:solidFill>
                  <a:srgbClr val="F472B6"/>
                </a:solidFill>
                <a:latin typeface="Cambria" pitchFamily="34" charset="0"/>
                <a:ea typeface="Cambria" pitchFamily="34" charset="-122"/>
                <a:cs typeface="Cambria" pitchFamily="34" charset="-120"/>
              </a:rPr>
              <a:t>AMZN</a:t>
            </a:r>
            <a:endParaRPr lang="en-US" sz="1200" dirty="0"/>
          </a:p>
        </p:txBody>
      </p:sp>
      <p:sp>
        <p:nvSpPr>
          <p:cNvPr id="48" name="Text 46"/>
          <p:cNvSpPr/>
          <p:nvPr/>
        </p:nvSpPr>
        <p:spPr>
          <a:xfrm>
            <a:off x="528066" y="3339846"/>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Amazon / AWS</a:t>
            </a:r>
            <a:endParaRPr lang="en-US" sz="638" dirty="0"/>
          </a:p>
        </p:txBody>
      </p:sp>
      <p:sp>
        <p:nvSpPr>
          <p:cNvPr id="49" name="Text 47"/>
          <p:cNvSpPr/>
          <p:nvPr/>
        </p:nvSpPr>
        <p:spPr>
          <a:xfrm>
            <a:off x="219456" y="3552444"/>
            <a:ext cx="411480" cy="150876"/>
          </a:xfrm>
          <a:prstGeom prst="rect">
            <a:avLst/>
          </a:prstGeom>
          <a:noFill/>
          <a:ln/>
        </p:spPr>
        <p:txBody>
          <a:bodyPr wrap="square" lIns="0" tIns="0" rIns="0" bIns="0" rtlCol="0" anchor="ctr"/>
          <a:lstStyle/>
          <a:p>
            <a:r>
              <a:rPr lang="en-US" sz="600" b="1" dirty="0">
                <a:solidFill>
                  <a:srgbClr val="F472B6"/>
                </a:solidFill>
                <a:latin typeface="Calibri" pitchFamily="34" charset="0"/>
                <a:ea typeface="Calibri" pitchFamily="34" charset="-122"/>
                <a:cs typeface="Calibri" pitchFamily="34" charset="-120"/>
              </a:rPr>
              <a:t>Moat: </a:t>
            </a:r>
            <a:endParaRPr lang="en-US" sz="600" dirty="0"/>
          </a:p>
        </p:txBody>
      </p:sp>
      <p:sp>
        <p:nvSpPr>
          <p:cNvPr id="50" name="Text 48"/>
          <p:cNvSpPr/>
          <p:nvPr/>
        </p:nvSpPr>
        <p:spPr>
          <a:xfrm>
            <a:off x="610362" y="3552444"/>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AWS is the #1 cloud with $37.6B quarterly revenue (+24% YoY). Trainium/Inferentia custom chips. Bedrock multi-model AI platform. Alexa AI assistant. $200B 2026 capex — the largest of any hyperscaler.</a:t>
            </a:r>
            <a:endParaRPr lang="en-US" sz="600" dirty="0"/>
          </a:p>
        </p:txBody>
      </p:sp>
      <p:sp>
        <p:nvSpPr>
          <p:cNvPr id="51" name="Text 49"/>
          <p:cNvSpPr/>
          <p:nvPr/>
        </p:nvSpPr>
        <p:spPr>
          <a:xfrm>
            <a:off x="219456" y="3922776"/>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52" name="Text 50"/>
          <p:cNvSpPr/>
          <p:nvPr/>
        </p:nvSpPr>
        <p:spPr>
          <a:xfrm>
            <a:off x="733806" y="3922776"/>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AWS 24% growth. Bedrock hosts Anthropic Claude, Llama, Titan. Anthropic partnership ($4B). Amazon retail AI optimization. $200B capex = most aggressive infrastructure investment.</a:t>
            </a:r>
            <a:endParaRPr lang="en-US" sz="600" dirty="0"/>
          </a:p>
        </p:txBody>
      </p:sp>
      <p:sp>
        <p:nvSpPr>
          <p:cNvPr id="53" name="Text 51"/>
          <p:cNvSpPr/>
          <p:nvPr/>
        </p:nvSpPr>
        <p:spPr>
          <a:xfrm>
            <a:off x="219456" y="4258818"/>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54" name="Text 52"/>
          <p:cNvSpPr/>
          <p:nvPr/>
        </p:nvSpPr>
        <p:spPr>
          <a:xfrm>
            <a:off x="576072" y="4258818"/>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AI model strategy is 'multi-model marketplace' not own frontier model. Anthropic partnership costs rising. Retail segment margin pressure. Trainium/Inferentia still far behind NVDA.</a:t>
            </a:r>
            <a:endParaRPr lang="en-US" sz="600" dirty="0"/>
          </a:p>
        </p:txBody>
      </p:sp>
      <p:sp>
        <p:nvSpPr>
          <p:cNvPr id="55" name="Text 53"/>
          <p:cNvSpPr/>
          <p:nvPr/>
        </p:nvSpPr>
        <p:spPr>
          <a:xfrm>
            <a:off x="198882" y="4546854"/>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AWS MOAT IS REAL. Amazon's cloud moat is unmatched. The AI strategy (bet on multiple models via Bedrock) is pragmatic but may cede frontier model positioning to MSFT/GOOGL.</a:t>
            </a:r>
            <a:endParaRPr lang="en-US" sz="563" dirty="0"/>
          </a:p>
        </p:txBody>
      </p:sp>
      <p:sp>
        <p:nvSpPr>
          <p:cNvPr id="56" name="Shape 54"/>
          <p:cNvSpPr/>
          <p:nvPr/>
        </p:nvSpPr>
        <p:spPr>
          <a:xfrm>
            <a:off x="3113532" y="3065526"/>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57" name="Shape 55"/>
          <p:cNvSpPr/>
          <p:nvPr/>
        </p:nvSpPr>
        <p:spPr>
          <a:xfrm>
            <a:off x="3195828" y="3134106"/>
            <a:ext cx="260604" cy="260604"/>
          </a:xfrm>
          <a:prstGeom prst="ellipse">
            <a:avLst/>
          </a:prstGeom>
          <a:solidFill>
            <a:srgbClr val="22C55E"/>
          </a:solidFill>
          <a:ln/>
        </p:spPr>
      </p:sp>
      <p:sp>
        <p:nvSpPr>
          <p:cNvPr id="58" name="Text 56"/>
          <p:cNvSpPr/>
          <p:nvPr/>
        </p:nvSpPr>
        <p:spPr>
          <a:xfrm>
            <a:off x="3195828" y="3134106"/>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#5</a:t>
            </a:r>
            <a:endParaRPr lang="en-US" sz="825" dirty="0"/>
          </a:p>
        </p:txBody>
      </p:sp>
      <p:sp>
        <p:nvSpPr>
          <p:cNvPr id="59" name="Text 57"/>
          <p:cNvSpPr/>
          <p:nvPr/>
        </p:nvSpPr>
        <p:spPr>
          <a:xfrm>
            <a:off x="3525012" y="3120390"/>
            <a:ext cx="1097280" cy="240030"/>
          </a:xfrm>
          <a:prstGeom prst="rect">
            <a:avLst/>
          </a:prstGeom>
          <a:noFill/>
          <a:ln/>
        </p:spPr>
        <p:txBody>
          <a:bodyPr wrap="square" lIns="0" tIns="0" rIns="0" bIns="0" rtlCol="0" anchor="ctr"/>
          <a:lstStyle/>
          <a:p>
            <a:r>
              <a:rPr lang="en-US" sz="1200" b="1" dirty="0">
                <a:solidFill>
                  <a:srgbClr val="F472B6"/>
                </a:solidFill>
                <a:latin typeface="Cambria" pitchFamily="34" charset="0"/>
                <a:ea typeface="Cambria" pitchFamily="34" charset="-122"/>
                <a:cs typeface="Cambria" pitchFamily="34" charset="-120"/>
              </a:rPr>
              <a:t>ORCL</a:t>
            </a:r>
            <a:endParaRPr lang="en-US" sz="1200" dirty="0"/>
          </a:p>
        </p:txBody>
      </p:sp>
      <p:sp>
        <p:nvSpPr>
          <p:cNvPr id="60" name="Text 58"/>
          <p:cNvSpPr/>
          <p:nvPr/>
        </p:nvSpPr>
        <p:spPr>
          <a:xfrm>
            <a:off x="3525012" y="3353562"/>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Oracle Corp</a:t>
            </a:r>
            <a:endParaRPr lang="en-US" sz="638" dirty="0"/>
          </a:p>
        </p:txBody>
      </p:sp>
      <p:sp>
        <p:nvSpPr>
          <p:cNvPr id="61" name="Text 59"/>
          <p:cNvSpPr/>
          <p:nvPr/>
        </p:nvSpPr>
        <p:spPr>
          <a:xfrm>
            <a:off x="3216402" y="3566160"/>
            <a:ext cx="411480" cy="150876"/>
          </a:xfrm>
          <a:prstGeom prst="rect">
            <a:avLst/>
          </a:prstGeom>
          <a:noFill/>
          <a:ln/>
        </p:spPr>
        <p:txBody>
          <a:bodyPr wrap="square" lIns="0" tIns="0" rIns="0" bIns="0" rtlCol="0" anchor="ctr"/>
          <a:lstStyle/>
          <a:p>
            <a:r>
              <a:rPr lang="en-US" sz="600" b="1" dirty="0">
                <a:solidFill>
                  <a:srgbClr val="F472B6"/>
                </a:solidFill>
                <a:latin typeface="Calibri" pitchFamily="34" charset="0"/>
                <a:ea typeface="Calibri" pitchFamily="34" charset="-122"/>
                <a:cs typeface="Calibri" pitchFamily="34" charset="-120"/>
              </a:rPr>
              <a:t>Moat: </a:t>
            </a:r>
            <a:endParaRPr lang="en-US" sz="600" dirty="0"/>
          </a:p>
        </p:txBody>
      </p:sp>
      <p:sp>
        <p:nvSpPr>
          <p:cNvPr id="62" name="Text 60"/>
          <p:cNvSpPr/>
          <p:nvPr/>
        </p:nvSpPr>
        <p:spPr>
          <a:xfrm>
            <a:off x="3607308" y="3566160"/>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OCI (Oracle Cloud Infrastructure) is the fastest-growing hyperscaler from a smaller base. Stargate AI infrastructure JV with OpenAI + SoftBank ($500B commitment). Legacy database + ERP installed base migrating to AI.</a:t>
            </a:r>
            <a:endParaRPr lang="en-US" sz="600" dirty="0"/>
          </a:p>
        </p:txBody>
      </p:sp>
      <p:sp>
        <p:nvSpPr>
          <p:cNvPr id="63" name="Text 61"/>
          <p:cNvSpPr/>
          <p:nvPr/>
        </p:nvSpPr>
        <p:spPr>
          <a:xfrm>
            <a:off x="3216402" y="3936492"/>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64" name="Text 62"/>
          <p:cNvSpPr/>
          <p:nvPr/>
        </p:nvSpPr>
        <p:spPr>
          <a:xfrm>
            <a:off x="3730752" y="3936492"/>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$50B 2026 capex in Stargate JV. OCI GPU clusters trusted by OpenAI, Elon Musk. AI database/ERP is a moat (switching costs). Remaining performance obligations soaring.</a:t>
            </a:r>
            <a:endParaRPr lang="en-US" sz="600" dirty="0"/>
          </a:p>
        </p:txBody>
      </p:sp>
      <p:sp>
        <p:nvSpPr>
          <p:cNvPr id="65" name="Text 63"/>
          <p:cNvSpPr/>
          <p:nvPr/>
        </p:nvSpPr>
        <p:spPr>
          <a:xfrm>
            <a:off x="3216402" y="4272534"/>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66" name="Text 64"/>
          <p:cNvSpPr/>
          <p:nvPr/>
        </p:nvSpPr>
        <p:spPr>
          <a:xfrm>
            <a:off x="3573018" y="4272534"/>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Smallest of the 5 hyperscalers by cloud revenue. Legacy business model (maintenance contracts). Heavy debt load. Heavily concentrated in Stargate JV execution.</a:t>
            </a:r>
            <a:endParaRPr lang="en-US" sz="600" dirty="0"/>
          </a:p>
        </p:txBody>
      </p:sp>
      <p:sp>
        <p:nvSpPr>
          <p:cNvPr id="67" name="Text 65"/>
          <p:cNvSpPr/>
          <p:nvPr/>
        </p:nvSpPr>
        <p:spPr>
          <a:xfrm>
            <a:off x="3195828" y="4560570"/>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DARK HORSE. Oracle's Stargate JV with OpenAI is the wildcard. If executed, Oracle becomes the AI infrastructure backbone for the world's most important AI lab. High risk, high reward.</a:t>
            </a:r>
            <a:endParaRPr lang="en-US" sz="563" dirty="0"/>
          </a:p>
        </p:txBody>
      </p:sp>
      <p:sp>
        <p:nvSpPr>
          <p:cNvPr id="68" name="Shape 66"/>
          <p:cNvSpPr/>
          <p:nvPr/>
        </p:nvSpPr>
        <p:spPr>
          <a:xfrm>
            <a:off x="6131052" y="3079603"/>
            <a:ext cx="2194560" cy="1714500"/>
          </a:xfrm>
          <a:prstGeom prst="roundRect">
            <a:avLst>
              <a:gd name="adj" fmla="val 3200"/>
            </a:avLst>
          </a:prstGeom>
          <a:solidFill>
            <a:srgbClr val="1A0A18"/>
          </a:solidFill>
          <a:ln/>
          <a:effectLst>
            <a:outerShdw blurRad="127000" dist="38100" dir="2700000" algn="bl" rotWithShape="0">
              <a:srgbClr val="000000">
                <a:alpha val="30000"/>
              </a:srgbClr>
            </a:outerShdw>
          </a:effectLst>
        </p:spPr>
      </p:sp>
      <p:sp>
        <p:nvSpPr>
          <p:cNvPr id="69" name="Text 67"/>
          <p:cNvSpPr/>
          <p:nvPr/>
        </p:nvSpPr>
        <p:spPr>
          <a:xfrm>
            <a:off x="6233922" y="3148183"/>
            <a:ext cx="2057400" cy="205740"/>
          </a:xfrm>
          <a:prstGeom prst="rect">
            <a:avLst/>
          </a:prstGeom>
          <a:noFill/>
          <a:ln/>
        </p:spPr>
        <p:txBody>
          <a:bodyPr wrap="square" lIns="0" tIns="0" rIns="0" bIns="0" rtlCol="0" anchor="ctr"/>
          <a:lstStyle/>
          <a:p>
            <a:r>
              <a:rPr lang="en-US" sz="750" b="1" dirty="0">
                <a:solidFill>
                  <a:srgbClr val="F472B6"/>
                </a:solidFill>
                <a:latin typeface="Calibri" pitchFamily="34" charset="0"/>
                <a:ea typeface="Calibri" pitchFamily="34" charset="-122"/>
                <a:cs typeface="Calibri" pitchFamily="34" charset="-120"/>
              </a:rPr>
              <a:t>🏆 LAYER WINNER</a:t>
            </a:r>
            <a:endParaRPr lang="en-US" sz="750" dirty="0"/>
          </a:p>
        </p:txBody>
      </p:sp>
      <p:sp>
        <p:nvSpPr>
          <p:cNvPr id="70" name="Text 68"/>
          <p:cNvSpPr/>
          <p:nvPr/>
        </p:nvSpPr>
        <p:spPr>
          <a:xfrm>
            <a:off x="6233922" y="3374497"/>
            <a:ext cx="2057400" cy="356616"/>
          </a:xfrm>
          <a:prstGeom prst="rect">
            <a:avLst/>
          </a:prstGeom>
          <a:noFill/>
          <a:ln/>
        </p:spPr>
        <p:txBody>
          <a:bodyPr wrap="square" lIns="0" tIns="0" rIns="0" bIns="0" rtlCol="0" anchor="ctr"/>
          <a:lstStyle/>
          <a:p>
            <a:r>
              <a:rPr lang="en-US" sz="2250" b="1" dirty="0">
                <a:solidFill>
                  <a:srgbClr val="F5C842"/>
                </a:solidFill>
                <a:latin typeface="Cambria" pitchFamily="34" charset="0"/>
                <a:ea typeface="Cambria" pitchFamily="34" charset="-122"/>
                <a:cs typeface="Cambria" pitchFamily="34" charset="-120"/>
              </a:rPr>
              <a:t>$MSFT</a:t>
            </a:r>
            <a:endParaRPr lang="en-US" sz="2250" dirty="0"/>
          </a:p>
        </p:txBody>
      </p:sp>
      <p:sp>
        <p:nvSpPr>
          <p:cNvPr id="71" name="Text 69"/>
          <p:cNvSpPr/>
          <p:nvPr/>
        </p:nvSpPr>
        <p:spPr>
          <a:xfrm>
            <a:off x="6233922" y="3717397"/>
            <a:ext cx="2057400" cy="192024"/>
          </a:xfrm>
          <a:prstGeom prst="rect">
            <a:avLst/>
          </a:prstGeom>
          <a:noFill/>
          <a:ln/>
        </p:spPr>
        <p:txBody>
          <a:bodyPr wrap="square" lIns="0" tIns="0" rIns="0" bIns="0" rtlCol="0" anchor="ctr"/>
          <a:lstStyle/>
          <a:p>
            <a:r>
              <a:rPr lang="en-US" sz="825" dirty="0">
                <a:solidFill>
                  <a:srgbClr val="FFFFFF"/>
                </a:solidFill>
                <a:latin typeface="Calibri" pitchFamily="34" charset="0"/>
                <a:ea typeface="Calibri" pitchFamily="34" charset="-122"/>
                <a:cs typeface="Calibri" pitchFamily="34" charset="-120"/>
              </a:rPr>
              <a:t>Microsoft Corporation</a:t>
            </a:r>
            <a:endParaRPr lang="en-US" sz="825" dirty="0"/>
          </a:p>
        </p:txBody>
      </p:sp>
      <p:sp>
        <p:nvSpPr>
          <p:cNvPr id="72" name="Text 70"/>
          <p:cNvSpPr/>
          <p:nvPr/>
        </p:nvSpPr>
        <p:spPr>
          <a:xfrm>
            <a:off x="6233922" y="3936853"/>
            <a:ext cx="2057400" cy="80924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Why it wins: OpenAI exclusivity + Azure + 350M Office users = the best AI monetization engine in enterprise. $13B AI ARR growing 175% YoY. Every enterprise workflow is being Copilot-ized. Closest rival: GOOGL for cloud momentum.</a:t>
            </a:r>
            <a:endParaRPr lang="en-US" sz="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p:spPr>
      </p:sp>
      <p:sp>
        <p:nvSpPr>
          <p:cNvPr id="3" name="Shape 1"/>
          <p:cNvSpPr/>
          <p:nvPr/>
        </p:nvSpPr>
        <p:spPr>
          <a:xfrm>
            <a:off x="320040" y="182880"/>
            <a:ext cx="822960" cy="502920"/>
          </a:xfrm>
          <a:prstGeom prst="roundRect">
            <a:avLst>
              <a:gd name="adj" fmla="val 14545"/>
            </a:avLst>
          </a:prstGeom>
          <a:solidFill>
            <a:srgbClr val="0D9488">
              <a:alpha val="80000"/>
            </a:srgbClr>
          </a:solidFill>
          <a:ln/>
        </p:spPr>
      </p:sp>
      <p:sp>
        <p:nvSpPr>
          <p:cNvPr id="4" name="Text 2"/>
          <p:cNvSpPr/>
          <p:nvPr/>
        </p:nvSpPr>
        <p:spPr>
          <a:xfrm>
            <a:off x="320040" y="182880"/>
            <a:ext cx="822960" cy="502920"/>
          </a:xfrm>
          <a:prstGeom prst="rect">
            <a:avLst/>
          </a:prstGeom>
          <a:noFill/>
          <a:ln/>
        </p:spPr>
        <p:txBody>
          <a:bodyPr wrap="square" rtlCol="0" anchor="ctr"/>
          <a:lstStyle/>
          <a:p>
            <a:pPr marL="0" indent="0" algn="ctr">
              <a:buNone/>
            </a:pPr>
            <a:r>
              <a:rPr lang="en-US" sz="2200" b="1" dirty="0">
                <a:solidFill>
                  <a:srgbClr val="FFFFFF"/>
                </a:solidFill>
              </a:rPr>
              <a:t>05</a:t>
            </a:r>
            <a:endParaRPr lang="en-US" sz="2200" dirty="0"/>
          </a:p>
        </p:txBody>
      </p:sp>
      <p:sp>
        <p:nvSpPr>
          <p:cNvPr id="5" name="Text 3"/>
          <p:cNvSpPr/>
          <p:nvPr/>
        </p:nvSpPr>
        <p:spPr>
          <a:xfrm>
            <a:off x="1280160" y="182880"/>
            <a:ext cx="2743200" cy="256032"/>
          </a:xfrm>
          <a:prstGeom prst="rect">
            <a:avLst/>
          </a:prstGeom>
          <a:noFill/>
          <a:ln/>
        </p:spPr>
        <p:txBody>
          <a:bodyPr wrap="square" lIns="0" tIns="0" rIns="0" bIns="0" rtlCol="0" anchor="ctr"/>
          <a:lstStyle/>
          <a:p>
            <a:pPr marL="0" indent="0">
              <a:buNone/>
            </a:pPr>
            <a:r>
              <a:rPr lang="en-US" sz="900" b="1" kern="0" spc="300" dirty="0">
                <a:solidFill>
                  <a:srgbClr val="0D9488"/>
                </a:solidFill>
              </a:rPr>
              <a:t>SECTOR ANALYSIS</a:t>
            </a:r>
            <a:endParaRPr lang="en-US" sz="900" dirty="0"/>
          </a:p>
        </p:txBody>
      </p:sp>
      <p:sp>
        <p:nvSpPr>
          <p:cNvPr id="6" name="Text 4"/>
          <p:cNvSpPr/>
          <p:nvPr/>
        </p:nvSpPr>
        <p:spPr>
          <a:xfrm>
            <a:off x="1280160" y="402336"/>
            <a:ext cx="6400800" cy="365760"/>
          </a:xfrm>
          <a:prstGeom prst="rect">
            <a:avLst/>
          </a:prstGeom>
          <a:noFill/>
          <a:ln/>
        </p:spPr>
        <p:txBody>
          <a:bodyPr wrap="square" lIns="0" tIns="0" rIns="0" bIns="0" rtlCol="0" anchor="ctr"/>
          <a:lstStyle/>
          <a:p>
            <a:pPr marL="0" indent="0">
              <a:buNone/>
            </a:pPr>
            <a:r>
              <a:rPr lang="en-US" sz="2600" b="1" dirty="0">
                <a:solidFill>
                  <a:srgbClr val="FFFFFF"/>
                </a:solidFill>
              </a:rPr>
              <a:t>APPLICATIONS</a:t>
            </a:r>
            <a:endParaRPr lang="en-US" sz="2600" dirty="0"/>
          </a:p>
        </p:txBody>
      </p:sp>
      <p:sp>
        <p:nvSpPr>
          <p:cNvPr id="7" name="Text 5"/>
          <p:cNvSpPr/>
          <p:nvPr/>
        </p:nvSpPr>
        <p:spPr>
          <a:xfrm>
            <a:off x="320040" y="868680"/>
            <a:ext cx="8503920" cy="320040"/>
          </a:xfrm>
          <a:prstGeom prst="rect">
            <a:avLst/>
          </a:prstGeom>
          <a:noFill/>
          <a:ln/>
        </p:spPr>
        <p:txBody>
          <a:bodyPr wrap="square" rtlCol="0" anchor="ctr"/>
          <a:lstStyle/>
          <a:p>
            <a:pPr marL="0" indent="0" algn="l">
              <a:buNone/>
            </a:pPr>
            <a:r>
              <a:rPr lang="en-US" sz="1300" dirty="0">
                <a:solidFill>
                  <a:srgbClr val="94A3B8"/>
                </a:solidFill>
              </a:rPr>
              <a:t>Software layer monetizing AI — analytics, automation &amp; enterprise platforms</a:t>
            </a:r>
            <a:endParaRPr lang="en-US" sz="1300" dirty="0"/>
          </a:p>
        </p:txBody>
      </p:sp>
      <p:sp>
        <p:nvSpPr>
          <p:cNvPr id="8" name="Shape 6"/>
          <p:cNvSpPr/>
          <p:nvPr/>
        </p:nvSpPr>
        <p:spPr>
          <a:xfrm>
            <a:off x="320040" y="1261872"/>
            <a:ext cx="8503920" cy="457200"/>
          </a:xfrm>
          <a:prstGeom prst="rect">
            <a:avLst/>
          </a:prstGeom>
          <a:solidFill>
            <a:srgbClr val="001F1C"/>
          </a:solidFill>
          <a:ln w="6350">
            <a:solidFill>
              <a:srgbClr val="FFFFFF">
                <a:alpha val="10000"/>
              </a:srgbClr>
            </a:solidFill>
            <a:prstDash val="solid"/>
          </a:ln>
        </p:spPr>
      </p:sp>
      <p:sp>
        <p:nvSpPr>
          <p:cNvPr id="9" name="Shape 7"/>
          <p:cNvSpPr/>
          <p:nvPr/>
        </p:nvSpPr>
        <p:spPr>
          <a:xfrm>
            <a:off x="320040" y="1261872"/>
            <a:ext cx="64008" cy="457200"/>
          </a:xfrm>
          <a:prstGeom prst="rect">
            <a:avLst/>
          </a:prstGeom>
          <a:solidFill>
            <a:srgbClr val="0D9488"/>
          </a:solidFill>
          <a:ln/>
        </p:spPr>
      </p:sp>
      <p:sp>
        <p:nvSpPr>
          <p:cNvPr id="10" name="Text 8"/>
          <p:cNvSpPr/>
          <p:nvPr/>
        </p:nvSpPr>
        <p:spPr>
          <a:xfrm>
            <a:off x="502920" y="1298448"/>
            <a:ext cx="1371600" cy="182880"/>
          </a:xfrm>
          <a:prstGeom prst="rect">
            <a:avLst/>
          </a:prstGeom>
          <a:noFill/>
          <a:ln/>
        </p:spPr>
        <p:txBody>
          <a:bodyPr wrap="square" lIns="0" tIns="0" rIns="0" bIns="0" rtlCol="0" anchor="ctr"/>
          <a:lstStyle/>
          <a:p>
            <a:pPr marL="0" indent="0">
              <a:buNone/>
            </a:pPr>
            <a:r>
              <a:rPr lang="en-US" sz="800" b="1" kern="0" spc="200" dirty="0">
                <a:solidFill>
                  <a:srgbClr val="0D9488"/>
                </a:solidFill>
              </a:rPr>
              <a:t>KEY METRIC  </a:t>
            </a:r>
            <a:endParaRPr lang="en-US" sz="800" dirty="0"/>
          </a:p>
        </p:txBody>
      </p:sp>
      <p:sp>
        <p:nvSpPr>
          <p:cNvPr id="11" name="Text 9"/>
          <p:cNvSpPr/>
          <p:nvPr/>
        </p:nvSpPr>
        <p:spPr>
          <a:xfrm>
            <a:off x="502920" y="1472184"/>
            <a:ext cx="8046720" cy="182880"/>
          </a:xfrm>
          <a:prstGeom prst="rect">
            <a:avLst/>
          </a:prstGeom>
          <a:noFill/>
          <a:ln/>
        </p:spPr>
        <p:txBody>
          <a:bodyPr wrap="square" lIns="0" tIns="0" rIns="0" bIns="0" rtlCol="0" anchor="ctr"/>
          <a:lstStyle/>
          <a:p>
            <a:pPr marL="0" indent="0">
              <a:buNone/>
            </a:pPr>
            <a:r>
              <a:rPr lang="en-US" sz="1100" b="1" dirty="0">
                <a:solidFill>
                  <a:srgbClr val="FFFFFF"/>
                </a:solidFill>
              </a:rPr>
              <a:t>Enterprise AI Software TAM: $150B+ by 2027</a:t>
            </a:r>
            <a:endParaRPr lang="en-US" sz="1100" dirty="0"/>
          </a:p>
        </p:txBody>
      </p:sp>
      <p:sp>
        <p:nvSpPr>
          <p:cNvPr id="12" name="Text 10"/>
          <p:cNvSpPr/>
          <p:nvPr/>
        </p:nvSpPr>
        <p:spPr>
          <a:xfrm>
            <a:off x="320040" y="1874520"/>
            <a:ext cx="3657600" cy="256032"/>
          </a:xfrm>
          <a:prstGeom prst="rect">
            <a:avLst/>
          </a:prstGeom>
          <a:noFill/>
          <a:ln/>
        </p:spPr>
        <p:txBody>
          <a:bodyPr wrap="square" lIns="0" tIns="0" rIns="0" bIns="0" rtlCol="0" anchor="ctr"/>
          <a:lstStyle/>
          <a:p>
            <a:pPr marL="0" indent="0">
              <a:buNone/>
            </a:pPr>
            <a:r>
              <a:rPr lang="en-US" sz="900" b="1" kern="0" spc="200" dirty="0">
                <a:solidFill>
                  <a:srgbClr val="0D9488"/>
                </a:solidFill>
              </a:rPr>
              <a:t>INVESTMENT THESIS</a:t>
            </a:r>
            <a:endParaRPr lang="en-US" sz="900" dirty="0"/>
          </a:p>
        </p:txBody>
      </p:sp>
      <p:sp>
        <p:nvSpPr>
          <p:cNvPr id="13" name="Shape 11"/>
          <p:cNvSpPr/>
          <p:nvPr/>
        </p:nvSpPr>
        <p:spPr>
          <a:xfrm>
            <a:off x="320040" y="2121408"/>
            <a:ext cx="4114800" cy="150876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4" name="Text 12"/>
          <p:cNvSpPr/>
          <p:nvPr/>
        </p:nvSpPr>
        <p:spPr>
          <a:xfrm>
            <a:off x="475488" y="2212848"/>
            <a:ext cx="3794760" cy="1325880"/>
          </a:xfrm>
          <a:prstGeom prst="rect">
            <a:avLst/>
          </a:prstGeom>
          <a:noFill/>
          <a:ln/>
        </p:spPr>
        <p:txBody>
          <a:bodyPr wrap="square" rtlCol="0" anchor="ctr"/>
          <a:lstStyle/>
          <a:p>
            <a:pPr marL="0" indent="0" algn="l">
              <a:buNone/>
            </a:pPr>
            <a:r>
              <a:rPr lang="en-US" sz="1100" dirty="0">
                <a:solidFill>
                  <a:srgbClr val="F0F4FF"/>
                </a:solidFill>
              </a:rPr>
              <a:t>Application layer is where AI ROI crystallizes for enterprises. Data platforms and workflow automation show strongest monetization evidence today.</a:t>
            </a:r>
            <a:endParaRPr lang="en-US" sz="1100" dirty="0"/>
          </a:p>
        </p:txBody>
      </p:sp>
      <p:sp>
        <p:nvSpPr>
          <p:cNvPr id="15" name="Text 13"/>
          <p:cNvSpPr/>
          <p:nvPr/>
        </p:nvSpPr>
        <p:spPr>
          <a:xfrm>
            <a:off x="4709160" y="1874520"/>
            <a:ext cx="4114800" cy="256032"/>
          </a:xfrm>
          <a:prstGeom prst="rect">
            <a:avLst/>
          </a:prstGeom>
          <a:noFill/>
          <a:ln/>
        </p:spPr>
        <p:txBody>
          <a:bodyPr wrap="square" lIns="0" tIns="0" rIns="0" bIns="0" rtlCol="0" anchor="ctr"/>
          <a:lstStyle/>
          <a:p>
            <a:pPr marL="0" indent="0">
              <a:buNone/>
            </a:pPr>
            <a:r>
              <a:rPr lang="en-US" sz="900" b="1" kern="0" spc="200" dirty="0">
                <a:solidFill>
                  <a:srgbClr val="0D9488"/>
                </a:solidFill>
              </a:rPr>
              <a:t>KEY CATALYSTS</a:t>
            </a:r>
            <a:endParaRPr lang="en-US" sz="900" dirty="0"/>
          </a:p>
        </p:txBody>
      </p:sp>
      <p:sp>
        <p:nvSpPr>
          <p:cNvPr id="16" name="Shape 14"/>
          <p:cNvSpPr/>
          <p:nvPr/>
        </p:nvSpPr>
        <p:spPr>
          <a:xfrm>
            <a:off x="4709160" y="2121408"/>
            <a:ext cx="4114800" cy="150876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7" name="Shape 15"/>
          <p:cNvSpPr/>
          <p:nvPr/>
        </p:nvSpPr>
        <p:spPr>
          <a:xfrm>
            <a:off x="4892040" y="2304288"/>
            <a:ext cx="128016" cy="128016"/>
          </a:xfrm>
          <a:prstGeom prst="ellipse">
            <a:avLst/>
          </a:prstGeom>
          <a:solidFill>
            <a:srgbClr val="0D9488"/>
          </a:solidFill>
          <a:ln/>
        </p:spPr>
      </p:sp>
      <p:sp>
        <p:nvSpPr>
          <p:cNvPr id="18" name="Text 16"/>
          <p:cNvSpPr/>
          <p:nvPr/>
        </p:nvSpPr>
        <p:spPr>
          <a:xfrm>
            <a:off x="5120640" y="2249424"/>
            <a:ext cx="3566160" cy="256032"/>
          </a:xfrm>
          <a:prstGeom prst="rect">
            <a:avLst/>
          </a:prstGeom>
          <a:noFill/>
          <a:ln/>
        </p:spPr>
        <p:txBody>
          <a:bodyPr wrap="square" lIns="0" tIns="0" rIns="0" bIns="0" rtlCol="0" anchor="ctr"/>
          <a:lstStyle/>
          <a:p>
            <a:pPr marL="0" indent="0">
              <a:buNone/>
            </a:pPr>
            <a:r>
              <a:rPr lang="en-US" sz="1050" dirty="0">
                <a:solidFill>
                  <a:srgbClr val="F0F4FF"/>
                </a:solidFill>
              </a:rPr>
              <a:t>AI agent adoption</a:t>
            </a:r>
            <a:endParaRPr lang="en-US" sz="1050" dirty="0"/>
          </a:p>
        </p:txBody>
      </p:sp>
      <p:sp>
        <p:nvSpPr>
          <p:cNvPr id="19" name="Shape 17"/>
          <p:cNvSpPr/>
          <p:nvPr/>
        </p:nvSpPr>
        <p:spPr>
          <a:xfrm>
            <a:off x="4892040" y="2633472"/>
            <a:ext cx="128016" cy="128016"/>
          </a:xfrm>
          <a:prstGeom prst="ellipse">
            <a:avLst/>
          </a:prstGeom>
          <a:solidFill>
            <a:srgbClr val="0D9488"/>
          </a:solidFill>
          <a:ln/>
        </p:spPr>
      </p:sp>
      <p:sp>
        <p:nvSpPr>
          <p:cNvPr id="20" name="Text 18"/>
          <p:cNvSpPr/>
          <p:nvPr/>
        </p:nvSpPr>
        <p:spPr>
          <a:xfrm>
            <a:off x="5120640" y="2578608"/>
            <a:ext cx="3566160" cy="256032"/>
          </a:xfrm>
          <a:prstGeom prst="rect">
            <a:avLst/>
          </a:prstGeom>
          <a:noFill/>
          <a:ln/>
        </p:spPr>
        <p:txBody>
          <a:bodyPr wrap="square" lIns="0" tIns="0" rIns="0" bIns="0" rtlCol="0" anchor="ctr"/>
          <a:lstStyle/>
          <a:p>
            <a:pPr marL="0" indent="0">
              <a:buNone/>
            </a:pPr>
            <a:r>
              <a:rPr lang="en-US" sz="1050" dirty="0">
                <a:solidFill>
                  <a:srgbClr val="F0F4FF"/>
                </a:solidFill>
              </a:rPr>
              <a:t>Data monetization</a:t>
            </a:r>
            <a:endParaRPr lang="en-US" sz="1050" dirty="0"/>
          </a:p>
        </p:txBody>
      </p:sp>
      <p:sp>
        <p:nvSpPr>
          <p:cNvPr id="21" name="Shape 19"/>
          <p:cNvSpPr/>
          <p:nvPr/>
        </p:nvSpPr>
        <p:spPr>
          <a:xfrm>
            <a:off x="4892040" y="2962656"/>
            <a:ext cx="128016" cy="128016"/>
          </a:xfrm>
          <a:prstGeom prst="ellipse">
            <a:avLst/>
          </a:prstGeom>
          <a:solidFill>
            <a:srgbClr val="0D9488"/>
          </a:solidFill>
          <a:ln/>
        </p:spPr>
      </p:sp>
      <p:sp>
        <p:nvSpPr>
          <p:cNvPr id="22" name="Text 20"/>
          <p:cNvSpPr/>
          <p:nvPr/>
        </p:nvSpPr>
        <p:spPr>
          <a:xfrm>
            <a:off x="5120640" y="2907792"/>
            <a:ext cx="3566160" cy="256032"/>
          </a:xfrm>
          <a:prstGeom prst="rect">
            <a:avLst/>
          </a:prstGeom>
          <a:noFill/>
          <a:ln/>
        </p:spPr>
        <p:txBody>
          <a:bodyPr wrap="square" lIns="0" tIns="0" rIns="0" bIns="0" rtlCol="0" anchor="ctr"/>
          <a:lstStyle/>
          <a:p>
            <a:pPr marL="0" indent="0">
              <a:buNone/>
            </a:pPr>
            <a:r>
              <a:rPr lang="en-US" sz="1050" dirty="0">
                <a:solidFill>
                  <a:srgbClr val="F0F4FF"/>
                </a:solidFill>
              </a:rPr>
              <a:t>Government contracts (PLTR)</a:t>
            </a:r>
            <a:endParaRPr lang="en-US" sz="1050" dirty="0"/>
          </a:p>
        </p:txBody>
      </p:sp>
      <p:sp>
        <p:nvSpPr>
          <p:cNvPr id="23" name="Shape 21"/>
          <p:cNvSpPr/>
          <p:nvPr/>
        </p:nvSpPr>
        <p:spPr>
          <a:xfrm>
            <a:off x="4892040" y="3291840"/>
            <a:ext cx="128016" cy="128016"/>
          </a:xfrm>
          <a:prstGeom prst="ellipse">
            <a:avLst/>
          </a:prstGeom>
          <a:solidFill>
            <a:srgbClr val="0D9488"/>
          </a:solidFill>
          <a:ln/>
        </p:spPr>
      </p:sp>
      <p:sp>
        <p:nvSpPr>
          <p:cNvPr id="24" name="Text 22"/>
          <p:cNvSpPr/>
          <p:nvPr/>
        </p:nvSpPr>
        <p:spPr>
          <a:xfrm>
            <a:off x="5120640" y="3236976"/>
            <a:ext cx="3566160" cy="256032"/>
          </a:xfrm>
          <a:prstGeom prst="rect">
            <a:avLst/>
          </a:prstGeom>
          <a:noFill/>
          <a:ln/>
        </p:spPr>
        <p:txBody>
          <a:bodyPr wrap="square" lIns="0" tIns="0" rIns="0" bIns="0" rtlCol="0" anchor="ctr"/>
          <a:lstStyle/>
          <a:p>
            <a:pPr marL="0" indent="0">
              <a:buNone/>
            </a:pPr>
            <a:r>
              <a:rPr lang="en-US" sz="1050" dirty="0">
                <a:solidFill>
                  <a:srgbClr val="F0F4FF"/>
                </a:solidFill>
              </a:rPr>
              <a:t>FSD regulatory approvals</a:t>
            </a:r>
            <a:endParaRPr lang="en-US" sz="1050" dirty="0"/>
          </a:p>
        </p:txBody>
      </p:sp>
      <p:sp>
        <p:nvSpPr>
          <p:cNvPr id="25" name="Text 23"/>
          <p:cNvSpPr/>
          <p:nvPr/>
        </p:nvSpPr>
        <p:spPr>
          <a:xfrm>
            <a:off x="320040" y="3730752"/>
            <a:ext cx="3657600" cy="256032"/>
          </a:xfrm>
          <a:prstGeom prst="rect">
            <a:avLst/>
          </a:prstGeom>
          <a:noFill/>
          <a:ln/>
        </p:spPr>
        <p:txBody>
          <a:bodyPr wrap="square" lIns="0" tIns="0" rIns="0" bIns="0" rtlCol="0" anchor="ctr"/>
          <a:lstStyle/>
          <a:p>
            <a:pPr marL="0" indent="0">
              <a:buNone/>
            </a:pPr>
            <a:r>
              <a:rPr lang="en-US" sz="900" b="1" kern="0" spc="200" dirty="0">
                <a:solidFill>
                  <a:srgbClr val="EF4444"/>
                </a:solidFill>
              </a:rPr>
              <a:t>KEY RISKS</a:t>
            </a:r>
            <a:endParaRPr lang="en-US" sz="900" dirty="0"/>
          </a:p>
        </p:txBody>
      </p:sp>
      <p:sp>
        <p:nvSpPr>
          <p:cNvPr id="26" name="Shape 24"/>
          <p:cNvSpPr/>
          <p:nvPr/>
        </p:nvSpPr>
        <p:spPr>
          <a:xfrm>
            <a:off x="320040" y="3977640"/>
            <a:ext cx="8503920" cy="914400"/>
          </a:xfrm>
          <a:prstGeom prst="rect">
            <a:avLst/>
          </a:prstGeom>
          <a:solidFill>
            <a:srgbClr val="162050"/>
          </a:solidFill>
          <a:ln w="6350">
            <a:solidFill>
              <a:srgbClr val="FFFFFF">
                <a:alpha val="10000"/>
              </a:srgbClr>
            </a:solidFill>
            <a:prstDash val="solid"/>
          </a:ln>
        </p:spPr>
      </p:sp>
      <p:sp>
        <p:nvSpPr>
          <p:cNvPr id="27" name="Shape 25"/>
          <p:cNvSpPr/>
          <p:nvPr/>
        </p:nvSpPr>
        <p:spPr>
          <a:xfrm>
            <a:off x="502920" y="4114800"/>
            <a:ext cx="1733612" cy="640080"/>
          </a:xfrm>
          <a:prstGeom prst="roundRect">
            <a:avLst>
              <a:gd name="adj" fmla="val 8571"/>
            </a:avLst>
          </a:prstGeom>
          <a:solidFill>
            <a:srgbClr val="EF4444">
              <a:alpha val="15000"/>
            </a:srgbClr>
          </a:solidFill>
          <a:ln/>
        </p:spPr>
      </p:sp>
      <p:sp>
        <p:nvSpPr>
          <p:cNvPr id="28" name="Text 26"/>
          <p:cNvSpPr/>
          <p:nvPr/>
        </p:nvSpPr>
        <p:spPr>
          <a:xfrm>
            <a:off x="502920" y="4114800"/>
            <a:ext cx="1714126" cy="640080"/>
          </a:xfrm>
          <a:prstGeom prst="rect">
            <a:avLst/>
          </a:prstGeom>
          <a:noFill/>
          <a:ln/>
        </p:spPr>
        <p:txBody>
          <a:bodyPr wrap="square" rtlCol="0" anchor="ctr"/>
          <a:lstStyle/>
          <a:p>
            <a:pPr marL="0" indent="0" algn="ctr">
              <a:buNone/>
            </a:pPr>
            <a:r>
              <a:rPr lang="en-US" sz="1000" dirty="0">
                <a:solidFill>
                  <a:srgbClr val="F0F4FF"/>
                </a:solidFill>
              </a:rPr>
              <a:t>⚠ AI workflow commoditization</a:t>
            </a:r>
            <a:endParaRPr lang="en-US" sz="1000" dirty="0"/>
          </a:p>
        </p:txBody>
      </p:sp>
      <p:sp>
        <p:nvSpPr>
          <p:cNvPr id="29" name="Shape 27"/>
          <p:cNvSpPr/>
          <p:nvPr/>
        </p:nvSpPr>
        <p:spPr>
          <a:xfrm>
            <a:off x="2543081" y="4101084"/>
            <a:ext cx="1733612" cy="640080"/>
          </a:xfrm>
          <a:prstGeom prst="roundRect">
            <a:avLst>
              <a:gd name="adj" fmla="val 8571"/>
            </a:avLst>
          </a:prstGeom>
          <a:solidFill>
            <a:srgbClr val="EF4444">
              <a:alpha val="15000"/>
            </a:srgbClr>
          </a:solidFill>
          <a:ln/>
        </p:spPr>
      </p:sp>
      <p:sp>
        <p:nvSpPr>
          <p:cNvPr id="30" name="Text 28"/>
          <p:cNvSpPr/>
          <p:nvPr/>
        </p:nvSpPr>
        <p:spPr>
          <a:xfrm>
            <a:off x="2502610" y="4114800"/>
            <a:ext cx="1767638" cy="640080"/>
          </a:xfrm>
          <a:prstGeom prst="rect">
            <a:avLst/>
          </a:prstGeom>
          <a:noFill/>
          <a:ln/>
        </p:spPr>
        <p:txBody>
          <a:bodyPr wrap="square" rtlCol="0" anchor="ctr"/>
          <a:lstStyle/>
          <a:p>
            <a:pPr marL="0" indent="0" algn="ctr">
              <a:buNone/>
            </a:pPr>
            <a:r>
              <a:rPr lang="en-US" sz="1000" dirty="0">
                <a:solidFill>
                  <a:srgbClr val="F0F4FF"/>
                </a:solidFill>
              </a:rPr>
              <a:t>⚠ Hyperscaler competition</a:t>
            </a:r>
            <a:endParaRPr lang="en-US" sz="1000" dirty="0"/>
          </a:p>
        </p:txBody>
      </p:sp>
      <p:sp>
        <p:nvSpPr>
          <p:cNvPr id="31" name="Shape 29"/>
          <p:cNvSpPr/>
          <p:nvPr/>
        </p:nvSpPr>
        <p:spPr>
          <a:xfrm>
            <a:off x="4562257" y="4101084"/>
            <a:ext cx="1733612" cy="640080"/>
          </a:xfrm>
          <a:prstGeom prst="roundRect">
            <a:avLst>
              <a:gd name="adj" fmla="val 8571"/>
            </a:avLst>
          </a:prstGeom>
          <a:solidFill>
            <a:srgbClr val="EF4444">
              <a:alpha val="15000"/>
            </a:srgbClr>
          </a:solidFill>
          <a:ln/>
        </p:spPr>
      </p:sp>
      <p:sp>
        <p:nvSpPr>
          <p:cNvPr id="32" name="Text 30"/>
          <p:cNvSpPr/>
          <p:nvPr/>
        </p:nvSpPr>
        <p:spPr>
          <a:xfrm>
            <a:off x="4194623" y="4107942"/>
            <a:ext cx="2468880" cy="640080"/>
          </a:xfrm>
          <a:prstGeom prst="rect">
            <a:avLst/>
          </a:prstGeom>
          <a:noFill/>
          <a:ln/>
        </p:spPr>
        <p:txBody>
          <a:bodyPr wrap="square" rtlCol="0" anchor="ctr"/>
          <a:lstStyle/>
          <a:p>
            <a:pPr marL="0" indent="0" algn="ctr">
              <a:buNone/>
            </a:pPr>
            <a:r>
              <a:rPr lang="en-US" sz="1000" dirty="0">
                <a:solidFill>
                  <a:srgbClr val="F0F4FF"/>
                </a:solidFill>
              </a:rPr>
              <a:t>⚠ Valuation premiums</a:t>
            </a:r>
            <a:endParaRPr lang="en-US" sz="1000" dirty="0"/>
          </a:p>
        </p:txBody>
      </p:sp>
      <p:sp>
        <p:nvSpPr>
          <p:cNvPr id="33" name="Shape 31"/>
          <p:cNvSpPr/>
          <p:nvPr/>
        </p:nvSpPr>
        <p:spPr>
          <a:xfrm>
            <a:off x="6693108" y="4114800"/>
            <a:ext cx="1733612" cy="640080"/>
          </a:xfrm>
          <a:prstGeom prst="roundRect">
            <a:avLst>
              <a:gd name="adj" fmla="val 8571"/>
            </a:avLst>
          </a:prstGeom>
          <a:solidFill>
            <a:srgbClr val="EF4444">
              <a:alpha val="15000"/>
            </a:srgbClr>
          </a:solidFill>
          <a:ln/>
        </p:spPr>
      </p:sp>
      <p:sp>
        <p:nvSpPr>
          <p:cNvPr id="34" name="Text 32"/>
          <p:cNvSpPr/>
          <p:nvPr/>
        </p:nvSpPr>
        <p:spPr>
          <a:xfrm>
            <a:off x="6317268" y="4101084"/>
            <a:ext cx="2468880" cy="640080"/>
          </a:xfrm>
          <a:prstGeom prst="rect">
            <a:avLst/>
          </a:prstGeom>
          <a:noFill/>
          <a:ln/>
        </p:spPr>
        <p:txBody>
          <a:bodyPr wrap="square" rtlCol="0" anchor="ctr"/>
          <a:lstStyle/>
          <a:p>
            <a:pPr marL="0" indent="0" algn="ctr">
              <a:buNone/>
            </a:pPr>
            <a:r>
              <a:rPr lang="en-US" sz="1000" dirty="0">
                <a:solidFill>
                  <a:srgbClr val="F0F4FF"/>
                </a:solidFill>
              </a:rPr>
              <a:t>⚠ Macro slowdown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4CC16"/>
          </a:solidFill>
          <a:ln/>
        </p:spPr>
      </p:sp>
      <p:sp>
        <p:nvSpPr>
          <p:cNvPr id="3" name="Text 1"/>
          <p:cNvSpPr/>
          <p:nvPr/>
        </p:nvSpPr>
        <p:spPr>
          <a:xfrm>
            <a:off x="320040" y="137160"/>
            <a:ext cx="1097280" cy="502920"/>
          </a:xfrm>
          <a:prstGeom prst="rect">
            <a:avLst/>
          </a:prstGeom>
          <a:noFill/>
          <a:ln/>
        </p:spPr>
        <p:txBody>
          <a:bodyPr wrap="square" rtlCol="0" anchor="ctr"/>
          <a:lstStyle/>
          <a:p>
            <a:pPr marL="0" indent="0" algn="ctr">
              <a:buNone/>
            </a:pPr>
            <a:r>
              <a:rPr lang="en-US" sz="2800" b="1" dirty="0">
                <a:solidFill>
                  <a:srgbClr val="84CC16"/>
                </a:solidFill>
              </a:rPr>
              <a:t>05</a:t>
            </a:r>
            <a:endParaRPr lang="en-US" sz="2800" dirty="0"/>
          </a:p>
        </p:txBody>
      </p:sp>
      <p:sp>
        <p:nvSpPr>
          <p:cNvPr id="4" name="Text 2"/>
          <p:cNvSpPr/>
          <p:nvPr/>
        </p:nvSpPr>
        <p:spPr>
          <a:xfrm>
            <a:off x="1508760" y="137160"/>
            <a:ext cx="7315200" cy="256032"/>
          </a:xfrm>
          <a:prstGeom prst="rect">
            <a:avLst/>
          </a:prstGeom>
          <a:noFill/>
          <a:ln/>
        </p:spPr>
        <p:txBody>
          <a:bodyPr wrap="square" lIns="0" tIns="0" rIns="0" bIns="0" rtlCol="0" anchor="ctr"/>
          <a:lstStyle/>
          <a:p>
            <a:pPr marL="0" indent="0">
              <a:buNone/>
            </a:pPr>
            <a:r>
              <a:rPr lang="en-US" sz="900" b="1" kern="0" spc="300" dirty="0">
                <a:solidFill>
                  <a:srgbClr val="84CC16"/>
                </a:solidFill>
              </a:rPr>
              <a:t>LAYER 5 — APPLICATIONS &amp; ENTERPRISE AI</a:t>
            </a:r>
            <a:endParaRPr lang="en-US" sz="900" dirty="0"/>
          </a:p>
        </p:txBody>
      </p:sp>
      <p:sp>
        <p:nvSpPr>
          <p:cNvPr id="5" name="Text 3"/>
          <p:cNvSpPr/>
          <p:nvPr/>
        </p:nvSpPr>
        <p:spPr>
          <a:xfrm>
            <a:off x="1508760" y="365760"/>
            <a:ext cx="7315200" cy="347472"/>
          </a:xfrm>
          <a:prstGeom prst="rect">
            <a:avLst/>
          </a:prstGeom>
          <a:noFill/>
          <a:ln/>
        </p:spPr>
        <p:txBody>
          <a:bodyPr wrap="square" lIns="0" tIns="0" rIns="0" bIns="0" rtlCol="0" anchor="ctr"/>
          <a:lstStyle/>
          <a:p>
            <a:pPr marL="0" indent="0">
              <a:buNone/>
            </a:pPr>
            <a:r>
              <a:rPr lang="en-US" sz="1400" b="1" dirty="0">
                <a:solidFill>
                  <a:srgbClr val="FFFFFF"/>
                </a:solidFill>
              </a:rPr>
              <a:t>Where AI creates measurable economic value — the vertical use cases and platform businesses</a:t>
            </a:r>
            <a:endParaRPr lang="en-US" sz="1400" dirty="0"/>
          </a:p>
        </p:txBody>
      </p:sp>
      <p:sp>
        <p:nvSpPr>
          <p:cNvPr id="6" name="Shape 4"/>
          <p:cNvSpPr/>
          <p:nvPr/>
        </p:nvSpPr>
        <p:spPr>
          <a:xfrm>
            <a:off x="274320" y="822960"/>
            <a:ext cx="4114800" cy="205740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7" name="Shape 5"/>
          <p:cNvSpPr/>
          <p:nvPr/>
        </p:nvSpPr>
        <p:spPr>
          <a:xfrm>
            <a:off x="274320" y="822960"/>
            <a:ext cx="4114800" cy="292608"/>
          </a:xfrm>
          <a:prstGeom prst="rect">
            <a:avLst/>
          </a:prstGeom>
          <a:solidFill>
            <a:srgbClr val="84CC16">
              <a:alpha val="80000"/>
            </a:srgbClr>
          </a:solidFill>
          <a:ln/>
        </p:spPr>
      </p:sp>
      <p:sp>
        <p:nvSpPr>
          <p:cNvPr id="8" name="Text 6"/>
          <p:cNvSpPr/>
          <p:nvPr/>
        </p:nvSpPr>
        <p:spPr>
          <a:xfrm>
            <a:off x="384048" y="822960"/>
            <a:ext cx="3895344" cy="292608"/>
          </a:xfrm>
          <a:prstGeom prst="rect">
            <a:avLst/>
          </a:prstGeom>
          <a:noFill/>
          <a:ln/>
        </p:spPr>
        <p:txBody>
          <a:bodyPr wrap="square" lIns="0" tIns="0" rIns="0" bIns="0" rtlCol="0" anchor="ctr"/>
          <a:lstStyle/>
          <a:p>
            <a:pPr marL="0" indent="0">
              <a:buNone/>
            </a:pPr>
            <a:r>
              <a:rPr lang="en-US" sz="1000" b="1" dirty="0">
                <a:solidFill>
                  <a:srgbClr val="FFFFFF"/>
                </a:solidFill>
              </a:rPr>
              <a:t>Government &amp; Defense Intelligence</a:t>
            </a:r>
            <a:endParaRPr lang="en-US" sz="1000" dirty="0"/>
          </a:p>
        </p:txBody>
      </p:sp>
      <p:sp>
        <p:nvSpPr>
          <p:cNvPr id="9" name="Text 7"/>
          <p:cNvSpPr/>
          <p:nvPr/>
        </p:nvSpPr>
        <p:spPr>
          <a:xfrm>
            <a:off x="384048" y="1152144"/>
            <a:ext cx="3895344" cy="201168"/>
          </a:xfrm>
          <a:prstGeom prst="rect">
            <a:avLst/>
          </a:prstGeom>
          <a:noFill/>
          <a:ln/>
        </p:spPr>
        <p:txBody>
          <a:bodyPr wrap="square" lIns="0" tIns="0" rIns="0" bIns="0" rtlCol="0" anchor="ctr"/>
          <a:lstStyle/>
          <a:p>
            <a:pPr marL="0" indent="0">
              <a:buNone/>
            </a:pPr>
            <a:r>
              <a:rPr lang="en-US" sz="800" dirty="0">
                <a:solidFill>
                  <a:srgbClr val="84CC16"/>
                </a:solidFill>
              </a:rPr>
              <a:t>Palantir · Palantir Gotham · Anduril · Shield AI</a:t>
            </a:r>
            <a:endParaRPr lang="en-US" sz="800" dirty="0"/>
          </a:p>
        </p:txBody>
      </p:sp>
      <p:sp>
        <p:nvSpPr>
          <p:cNvPr id="10" name="Text 8"/>
          <p:cNvSpPr/>
          <p:nvPr/>
        </p:nvSpPr>
        <p:spPr>
          <a:xfrm>
            <a:off x="384048" y="1371600"/>
            <a:ext cx="3895344" cy="201168"/>
          </a:xfrm>
          <a:prstGeom prst="rect">
            <a:avLst/>
          </a:prstGeom>
          <a:noFill/>
          <a:ln/>
        </p:spPr>
        <p:txBody>
          <a:bodyPr wrap="square" lIns="0" tIns="0" rIns="0" bIns="0" rtlCol="0" anchor="ctr"/>
          <a:lstStyle/>
          <a:p>
            <a:pPr marL="0" indent="0">
              <a:buNone/>
            </a:pPr>
            <a:r>
              <a:rPr lang="en-US" sz="750" b="1" dirty="0">
                <a:solidFill>
                  <a:srgbClr val="64748B"/>
                </a:solidFill>
              </a:rPr>
              <a:t>MOAT:</a:t>
            </a:r>
            <a:endParaRPr lang="en-US" sz="750" dirty="0"/>
          </a:p>
        </p:txBody>
      </p:sp>
      <p:sp>
        <p:nvSpPr>
          <p:cNvPr id="11" name="Text 9"/>
          <p:cNvSpPr/>
          <p:nvPr/>
        </p:nvSpPr>
        <p:spPr>
          <a:xfrm>
            <a:off x="320040" y="1397641"/>
            <a:ext cx="3895344" cy="960120"/>
          </a:xfrm>
          <a:prstGeom prst="rect">
            <a:avLst/>
          </a:prstGeom>
          <a:noFill/>
          <a:ln/>
        </p:spPr>
        <p:txBody>
          <a:bodyPr wrap="square" rtlCol="0" anchor="ctr"/>
          <a:lstStyle/>
          <a:p>
            <a:pPr marL="0" indent="0">
              <a:buNone/>
            </a:pPr>
            <a:r>
              <a:rPr lang="en-US" sz="900" dirty="0">
                <a:solidFill>
                  <a:srgbClr val="E2E8F5"/>
                </a:solidFill>
              </a:rPr>
              <a:t>Palantir: 20-year head start in complex data integration for intelligence agencies. Ontology-based data model is deeply embedded in customer workflows. FedRAMP High clearance is a multi-year process — creates extreme barriers to entry. Classified deployments cannot be replicated.</a:t>
            </a:r>
            <a:endParaRPr lang="en-US" sz="900" dirty="0"/>
          </a:p>
        </p:txBody>
      </p:sp>
      <p:sp>
        <p:nvSpPr>
          <p:cNvPr id="12" name="Text 10"/>
          <p:cNvSpPr/>
          <p:nvPr/>
        </p:nvSpPr>
        <p:spPr>
          <a:xfrm>
            <a:off x="423805" y="2312041"/>
            <a:ext cx="3895344" cy="146304"/>
          </a:xfrm>
          <a:prstGeom prst="rect">
            <a:avLst/>
          </a:prstGeom>
          <a:noFill/>
          <a:ln/>
        </p:spPr>
        <p:txBody>
          <a:bodyPr wrap="square" lIns="0" tIns="0" rIns="0" bIns="0" rtlCol="0" anchor="ctr"/>
          <a:lstStyle/>
          <a:p>
            <a:pPr marL="0" indent="0">
              <a:buNone/>
            </a:pPr>
            <a:r>
              <a:rPr lang="en-US" sz="750" b="1" dirty="0">
                <a:solidFill>
                  <a:srgbClr val="84CC16"/>
                </a:solidFill>
              </a:rPr>
              <a:t>DEMAND: </a:t>
            </a:r>
            <a:endParaRPr lang="en-US" sz="750" dirty="0"/>
          </a:p>
        </p:txBody>
      </p:sp>
      <p:sp>
        <p:nvSpPr>
          <p:cNvPr id="13" name="Text 11"/>
          <p:cNvSpPr/>
          <p:nvPr/>
        </p:nvSpPr>
        <p:spPr>
          <a:xfrm>
            <a:off x="423805" y="2504065"/>
            <a:ext cx="3895344" cy="182880"/>
          </a:xfrm>
          <a:prstGeom prst="rect">
            <a:avLst/>
          </a:prstGeom>
          <a:noFill/>
          <a:ln/>
        </p:spPr>
        <p:txBody>
          <a:bodyPr wrap="square" lIns="0" tIns="0" rIns="0" bIns="0" rtlCol="0" anchor="ctr"/>
          <a:lstStyle/>
          <a:p>
            <a:pPr marL="0" indent="0">
              <a:buNone/>
            </a:pPr>
            <a:r>
              <a:rPr lang="en-US" sz="800" dirty="0"/>
              <a:t>AI-enabled ISR (Intelligence, Surveillance, Reconnaissance), autonomous drone coordination, logistic</a:t>
            </a:r>
          </a:p>
        </p:txBody>
      </p:sp>
      <p:sp>
        <p:nvSpPr>
          <p:cNvPr id="14" name="Shape 12"/>
          <p:cNvSpPr/>
          <p:nvPr/>
        </p:nvSpPr>
        <p:spPr>
          <a:xfrm>
            <a:off x="4617720" y="822960"/>
            <a:ext cx="4206240" cy="205740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15" name="Shape 13"/>
          <p:cNvSpPr/>
          <p:nvPr/>
        </p:nvSpPr>
        <p:spPr>
          <a:xfrm>
            <a:off x="4617720" y="822960"/>
            <a:ext cx="4206240" cy="292608"/>
          </a:xfrm>
          <a:prstGeom prst="rect">
            <a:avLst/>
          </a:prstGeom>
          <a:solidFill>
            <a:srgbClr val="0D9488">
              <a:alpha val="80000"/>
            </a:srgbClr>
          </a:solidFill>
          <a:ln/>
        </p:spPr>
      </p:sp>
      <p:sp>
        <p:nvSpPr>
          <p:cNvPr id="16" name="Text 14"/>
          <p:cNvSpPr/>
          <p:nvPr/>
        </p:nvSpPr>
        <p:spPr>
          <a:xfrm>
            <a:off x="4727448" y="822960"/>
            <a:ext cx="3986784" cy="292608"/>
          </a:xfrm>
          <a:prstGeom prst="rect">
            <a:avLst/>
          </a:prstGeom>
          <a:noFill/>
          <a:ln/>
        </p:spPr>
        <p:txBody>
          <a:bodyPr wrap="square" lIns="0" tIns="0" rIns="0" bIns="0" rtlCol="0" anchor="ctr"/>
          <a:lstStyle/>
          <a:p>
            <a:pPr marL="0" indent="0">
              <a:buNone/>
            </a:pPr>
            <a:r>
              <a:rPr lang="en-US" sz="1000" b="1" dirty="0">
                <a:solidFill>
                  <a:srgbClr val="FFFFFF"/>
                </a:solidFill>
              </a:rPr>
              <a:t>IT &amp; Business Process Automation</a:t>
            </a:r>
            <a:endParaRPr lang="en-US" sz="1000" dirty="0"/>
          </a:p>
        </p:txBody>
      </p:sp>
      <p:sp>
        <p:nvSpPr>
          <p:cNvPr id="17" name="Text 15"/>
          <p:cNvSpPr/>
          <p:nvPr/>
        </p:nvSpPr>
        <p:spPr>
          <a:xfrm>
            <a:off x="4727448" y="1152144"/>
            <a:ext cx="3986784" cy="201168"/>
          </a:xfrm>
          <a:prstGeom prst="rect">
            <a:avLst/>
          </a:prstGeom>
          <a:noFill/>
          <a:ln/>
        </p:spPr>
        <p:txBody>
          <a:bodyPr wrap="square" lIns="0" tIns="0" rIns="0" bIns="0" rtlCol="0" anchor="ctr"/>
          <a:lstStyle/>
          <a:p>
            <a:pPr marL="0" indent="0">
              <a:buNone/>
            </a:pPr>
            <a:r>
              <a:rPr lang="en-US" sz="800" dirty="0">
                <a:solidFill>
                  <a:srgbClr val="0D9488"/>
                </a:solidFill>
              </a:rPr>
              <a:t>ServiceNow · Salesforce · Workday · SAP · Oracle (ERP/CRM)</a:t>
            </a:r>
            <a:endParaRPr lang="en-US" sz="800" dirty="0"/>
          </a:p>
        </p:txBody>
      </p:sp>
      <p:sp>
        <p:nvSpPr>
          <p:cNvPr id="18" name="Text 16"/>
          <p:cNvSpPr/>
          <p:nvPr/>
        </p:nvSpPr>
        <p:spPr>
          <a:xfrm>
            <a:off x="4727448" y="1371600"/>
            <a:ext cx="3986784" cy="201168"/>
          </a:xfrm>
          <a:prstGeom prst="rect">
            <a:avLst/>
          </a:prstGeom>
          <a:noFill/>
          <a:ln/>
        </p:spPr>
        <p:txBody>
          <a:bodyPr wrap="square" lIns="0" tIns="0" rIns="0" bIns="0" rtlCol="0" anchor="ctr"/>
          <a:lstStyle/>
          <a:p>
            <a:pPr marL="0" indent="0">
              <a:buNone/>
            </a:pPr>
            <a:r>
              <a:rPr lang="en-US" sz="750" b="1" dirty="0">
                <a:solidFill>
                  <a:srgbClr val="64748B"/>
                </a:solidFill>
              </a:rPr>
              <a:t>MOAT:</a:t>
            </a:r>
            <a:endParaRPr lang="en-US" sz="750" dirty="0"/>
          </a:p>
        </p:txBody>
      </p:sp>
      <p:sp>
        <p:nvSpPr>
          <p:cNvPr id="19" name="Text 17"/>
          <p:cNvSpPr/>
          <p:nvPr/>
        </p:nvSpPr>
        <p:spPr>
          <a:xfrm>
            <a:off x="4641573" y="1397243"/>
            <a:ext cx="3986784" cy="960120"/>
          </a:xfrm>
          <a:prstGeom prst="rect">
            <a:avLst/>
          </a:prstGeom>
          <a:noFill/>
          <a:ln/>
        </p:spPr>
        <p:txBody>
          <a:bodyPr wrap="square" rtlCol="0" anchor="ctr"/>
          <a:lstStyle/>
          <a:p>
            <a:pPr marL="0" indent="0">
              <a:buNone/>
            </a:pPr>
            <a:r>
              <a:rPr lang="en-US" sz="900" dirty="0">
                <a:solidFill>
                  <a:srgbClr val="E2E8F5"/>
                </a:solidFill>
              </a:rPr>
              <a:t>ServiceNow: workflows embedded in how IT departments operate. To replace ServiceNow requires retraining every IT professional and rebuilding every integration. AI copilots layered on top increase ARPU without increasing acquisition cost. Data network effects: more workflows = better AI models.</a:t>
            </a:r>
            <a:endParaRPr lang="en-US" sz="900" dirty="0"/>
          </a:p>
        </p:txBody>
      </p:sp>
      <p:sp>
        <p:nvSpPr>
          <p:cNvPr id="20" name="Text 18"/>
          <p:cNvSpPr/>
          <p:nvPr/>
        </p:nvSpPr>
        <p:spPr>
          <a:xfrm>
            <a:off x="4727448" y="2336690"/>
            <a:ext cx="3986784" cy="146304"/>
          </a:xfrm>
          <a:prstGeom prst="rect">
            <a:avLst/>
          </a:prstGeom>
          <a:noFill/>
          <a:ln/>
        </p:spPr>
        <p:txBody>
          <a:bodyPr wrap="square" lIns="0" tIns="0" rIns="0" bIns="0" rtlCol="0" anchor="ctr"/>
          <a:lstStyle/>
          <a:p>
            <a:pPr marL="0" indent="0">
              <a:buNone/>
            </a:pPr>
            <a:r>
              <a:rPr lang="en-US" sz="750" b="1" dirty="0">
                <a:solidFill>
                  <a:srgbClr val="0D9488"/>
                </a:solidFill>
              </a:rPr>
              <a:t>DEMAND: </a:t>
            </a:r>
            <a:endParaRPr lang="en-US" sz="750" dirty="0"/>
          </a:p>
        </p:txBody>
      </p:sp>
      <p:sp>
        <p:nvSpPr>
          <p:cNvPr id="21" name="Text 19"/>
          <p:cNvSpPr/>
          <p:nvPr/>
        </p:nvSpPr>
        <p:spPr>
          <a:xfrm>
            <a:off x="4727448" y="2548393"/>
            <a:ext cx="3986784" cy="182880"/>
          </a:xfrm>
          <a:prstGeom prst="rect">
            <a:avLst/>
          </a:prstGeom>
          <a:noFill/>
          <a:ln/>
        </p:spPr>
        <p:txBody>
          <a:bodyPr wrap="square" lIns="0" tIns="0" rIns="0" bIns="0" rtlCol="0" anchor="ctr"/>
          <a:lstStyle/>
          <a:p>
            <a:pPr marL="0" indent="0">
              <a:buNone/>
            </a:pPr>
            <a:r>
              <a:rPr lang="en-US" sz="800" dirty="0"/>
              <a:t>Every enterprise spending on ITSM, CRM, ERP now paying AI surcharge. Salesforce Agentforce bookings:</a:t>
            </a:r>
          </a:p>
        </p:txBody>
      </p:sp>
      <p:sp>
        <p:nvSpPr>
          <p:cNvPr id="22" name="Shape 20"/>
          <p:cNvSpPr/>
          <p:nvPr/>
        </p:nvSpPr>
        <p:spPr>
          <a:xfrm>
            <a:off x="274320" y="3064433"/>
            <a:ext cx="4114800" cy="198882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23" name="Shape 21"/>
          <p:cNvSpPr/>
          <p:nvPr/>
        </p:nvSpPr>
        <p:spPr>
          <a:xfrm>
            <a:off x="274320" y="3017520"/>
            <a:ext cx="4114800" cy="292608"/>
          </a:xfrm>
          <a:prstGeom prst="rect">
            <a:avLst/>
          </a:prstGeom>
          <a:solidFill>
            <a:srgbClr val="3B82F6">
              <a:alpha val="80000"/>
            </a:srgbClr>
          </a:solidFill>
          <a:ln/>
        </p:spPr>
      </p:sp>
      <p:sp>
        <p:nvSpPr>
          <p:cNvPr id="24" name="Text 22"/>
          <p:cNvSpPr/>
          <p:nvPr/>
        </p:nvSpPr>
        <p:spPr>
          <a:xfrm>
            <a:off x="384048" y="3017520"/>
            <a:ext cx="3895344" cy="292608"/>
          </a:xfrm>
          <a:prstGeom prst="rect">
            <a:avLst/>
          </a:prstGeom>
          <a:noFill/>
          <a:ln/>
        </p:spPr>
        <p:txBody>
          <a:bodyPr wrap="square" lIns="0" tIns="0" rIns="0" bIns="0" rtlCol="0" anchor="ctr"/>
          <a:lstStyle/>
          <a:p>
            <a:pPr marL="0" indent="0">
              <a:buNone/>
            </a:pPr>
            <a:r>
              <a:rPr lang="en-US" sz="1000" b="1" dirty="0">
                <a:solidFill>
                  <a:srgbClr val="FFFFFF"/>
                </a:solidFill>
              </a:rPr>
              <a:t>Data &amp; Analytics Infrastructure</a:t>
            </a:r>
            <a:endParaRPr lang="en-US" sz="1000" dirty="0"/>
          </a:p>
        </p:txBody>
      </p:sp>
      <p:sp>
        <p:nvSpPr>
          <p:cNvPr id="25" name="Text 23"/>
          <p:cNvSpPr/>
          <p:nvPr/>
        </p:nvSpPr>
        <p:spPr>
          <a:xfrm>
            <a:off x="384048" y="3346704"/>
            <a:ext cx="3895344" cy="201168"/>
          </a:xfrm>
          <a:prstGeom prst="rect">
            <a:avLst/>
          </a:prstGeom>
          <a:noFill/>
          <a:ln/>
        </p:spPr>
        <p:txBody>
          <a:bodyPr wrap="square" lIns="0" tIns="0" rIns="0" bIns="0" rtlCol="0" anchor="ctr"/>
          <a:lstStyle/>
          <a:p>
            <a:pPr marL="0" indent="0">
              <a:buNone/>
            </a:pPr>
            <a:r>
              <a:rPr lang="en-US" sz="800" dirty="0">
                <a:solidFill>
                  <a:srgbClr val="3B82F6"/>
                </a:solidFill>
              </a:rPr>
              <a:t>Snowflake · Databricks (private) · MongoDB · Elastic</a:t>
            </a:r>
            <a:endParaRPr lang="en-US" sz="800" dirty="0"/>
          </a:p>
        </p:txBody>
      </p:sp>
      <p:sp>
        <p:nvSpPr>
          <p:cNvPr id="26" name="Text 24"/>
          <p:cNvSpPr/>
          <p:nvPr/>
        </p:nvSpPr>
        <p:spPr>
          <a:xfrm>
            <a:off x="384048" y="3566160"/>
            <a:ext cx="3895344" cy="201168"/>
          </a:xfrm>
          <a:prstGeom prst="rect">
            <a:avLst/>
          </a:prstGeom>
          <a:noFill/>
          <a:ln/>
        </p:spPr>
        <p:txBody>
          <a:bodyPr wrap="square" lIns="0" tIns="0" rIns="0" bIns="0" rtlCol="0" anchor="ctr"/>
          <a:lstStyle/>
          <a:p>
            <a:pPr marL="0" indent="0">
              <a:buNone/>
            </a:pPr>
            <a:r>
              <a:rPr lang="en-US" sz="750" b="1" dirty="0">
                <a:solidFill>
                  <a:srgbClr val="64748B"/>
                </a:solidFill>
              </a:rPr>
              <a:t>MOAT:</a:t>
            </a:r>
            <a:endParaRPr lang="en-US" sz="750" dirty="0"/>
          </a:p>
        </p:txBody>
      </p:sp>
      <p:sp>
        <p:nvSpPr>
          <p:cNvPr id="27" name="Text 25"/>
          <p:cNvSpPr/>
          <p:nvPr/>
        </p:nvSpPr>
        <p:spPr>
          <a:xfrm>
            <a:off x="305330" y="3672310"/>
            <a:ext cx="3895344" cy="731520"/>
          </a:xfrm>
          <a:prstGeom prst="rect">
            <a:avLst/>
          </a:prstGeom>
          <a:noFill/>
          <a:ln/>
        </p:spPr>
        <p:txBody>
          <a:bodyPr wrap="square" rtlCol="0" anchor="ctr"/>
          <a:lstStyle/>
          <a:p>
            <a:pPr marL="0" indent="0">
              <a:buNone/>
            </a:pPr>
            <a:r>
              <a:rPr lang="en-US" sz="900" dirty="0">
                <a:solidFill>
                  <a:srgbClr val="E2E8F5"/>
                </a:solidFill>
              </a:rPr>
              <a:t>Snowflake: data sharing network (Marketplace) — your data becomes more valuable if other companies can query it through Snowflake. As the data platform, Snowflake is where AI models train on enterprise data. Cortex AI layer sits on top of existing customer data.</a:t>
            </a:r>
            <a:endParaRPr lang="en-US" sz="900" dirty="0"/>
          </a:p>
        </p:txBody>
      </p:sp>
      <p:sp>
        <p:nvSpPr>
          <p:cNvPr id="28" name="Text 26"/>
          <p:cNvSpPr/>
          <p:nvPr/>
        </p:nvSpPr>
        <p:spPr>
          <a:xfrm>
            <a:off x="384048" y="4513756"/>
            <a:ext cx="3895344" cy="146304"/>
          </a:xfrm>
          <a:prstGeom prst="rect">
            <a:avLst/>
          </a:prstGeom>
          <a:noFill/>
          <a:ln/>
        </p:spPr>
        <p:txBody>
          <a:bodyPr wrap="square" lIns="0" tIns="0" rIns="0" bIns="0" rtlCol="0" anchor="ctr"/>
          <a:lstStyle/>
          <a:p>
            <a:pPr marL="0" indent="0">
              <a:buNone/>
            </a:pPr>
            <a:r>
              <a:rPr lang="en-US" sz="750" b="1" dirty="0">
                <a:solidFill>
                  <a:srgbClr val="3B82F6"/>
                </a:solidFill>
              </a:rPr>
              <a:t>DEMAND: </a:t>
            </a:r>
            <a:endParaRPr lang="en-US" sz="750" dirty="0"/>
          </a:p>
        </p:txBody>
      </p:sp>
      <p:sp>
        <p:nvSpPr>
          <p:cNvPr id="29" name="Text 27"/>
          <p:cNvSpPr/>
          <p:nvPr/>
        </p:nvSpPr>
        <p:spPr>
          <a:xfrm>
            <a:off x="384048" y="4717509"/>
            <a:ext cx="3895344" cy="182880"/>
          </a:xfrm>
          <a:prstGeom prst="rect">
            <a:avLst/>
          </a:prstGeom>
          <a:noFill/>
          <a:ln/>
        </p:spPr>
        <p:txBody>
          <a:bodyPr wrap="square" lIns="0" tIns="0" rIns="0" bIns="0" rtlCol="0" anchor="ctr"/>
          <a:lstStyle/>
          <a:p>
            <a:pPr marL="0" indent="0">
              <a:buNone/>
            </a:pPr>
            <a:r>
              <a:rPr lang="en-US" sz="800" dirty="0"/>
              <a:t>Every AI application needs structured data. AI is INCREASING demand for data infrastructure (more da</a:t>
            </a:r>
          </a:p>
        </p:txBody>
      </p:sp>
      <p:sp>
        <p:nvSpPr>
          <p:cNvPr id="30" name="Shape 28"/>
          <p:cNvSpPr/>
          <p:nvPr/>
        </p:nvSpPr>
        <p:spPr>
          <a:xfrm>
            <a:off x="4617720" y="3017520"/>
            <a:ext cx="4206240" cy="198882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31" name="Shape 29"/>
          <p:cNvSpPr/>
          <p:nvPr/>
        </p:nvSpPr>
        <p:spPr>
          <a:xfrm>
            <a:off x="4617720" y="3017520"/>
            <a:ext cx="4206240" cy="292608"/>
          </a:xfrm>
          <a:prstGeom prst="rect">
            <a:avLst/>
          </a:prstGeom>
          <a:solidFill>
            <a:srgbClr val="F97316">
              <a:alpha val="80000"/>
            </a:srgbClr>
          </a:solidFill>
          <a:ln/>
        </p:spPr>
      </p:sp>
      <p:sp>
        <p:nvSpPr>
          <p:cNvPr id="32" name="Text 30"/>
          <p:cNvSpPr/>
          <p:nvPr/>
        </p:nvSpPr>
        <p:spPr>
          <a:xfrm>
            <a:off x="4727448" y="3017520"/>
            <a:ext cx="3986784" cy="292608"/>
          </a:xfrm>
          <a:prstGeom prst="rect">
            <a:avLst/>
          </a:prstGeom>
          <a:noFill/>
          <a:ln/>
        </p:spPr>
        <p:txBody>
          <a:bodyPr wrap="square" lIns="0" tIns="0" rIns="0" bIns="0" rtlCol="0" anchor="ctr"/>
          <a:lstStyle/>
          <a:p>
            <a:pPr marL="0" indent="0">
              <a:buNone/>
            </a:pPr>
            <a:r>
              <a:rPr lang="en-US" sz="1000" b="1" dirty="0">
                <a:solidFill>
                  <a:srgbClr val="FFFFFF"/>
                </a:solidFill>
              </a:rPr>
              <a:t>Code Generation &amp; Developer Tools</a:t>
            </a:r>
            <a:endParaRPr lang="en-US" sz="1000" dirty="0"/>
          </a:p>
        </p:txBody>
      </p:sp>
      <p:sp>
        <p:nvSpPr>
          <p:cNvPr id="33" name="Text 31"/>
          <p:cNvSpPr/>
          <p:nvPr/>
        </p:nvSpPr>
        <p:spPr>
          <a:xfrm>
            <a:off x="4727448" y="3346704"/>
            <a:ext cx="3986784" cy="201168"/>
          </a:xfrm>
          <a:prstGeom prst="rect">
            <a:avLst/>
          </a:prstGeom>
          <a:noFill/>
          <a:ln/>
        </p:spPr>
        <p:txBody>
          <a:bodyPr wrap="square" lIns="0" tIns="0" rIns="0" bIns="0" rtlCol="0" anchor="ctr"/>
          <a:lstStyle/>
          <a:p>
            <a:pPr marL="0" indent="0">
              <a:buNone/>
            </a:pPr>
            <a:r>
              <a:rPr lang="en-US" sz="800" dirty="0">
                <a:solidFill>
                  <a:srgbClr val="F97316"/>
                </a:solidFill>
              </a:rPr>
              <a:t>GitHub Copilot (Microsoft) · Cursor · Tabnine · JetBrains AI</a:t>
            </a:r>
            <a:endParaRPr lang="en-US" sz="800" dirty="0"/>
          </a:p>
        </p:txBody>
      </p:sp>
      <p:sp>
        <p:nvSpPr>
          <p:cNvPr id="34" name="Text 32"/>
          <p:cNvSpPr/>
          <p:nvPr/>
        </p:nvSpPr>
        <p:spPr>
          <a:xfrm>
            <a:off x="4727448" y="3566160"/>
            <a:ext cx="3986784" cy="201168"/>
          </a:xfrm>
          <a:prstGeom prst="rect">
            <a:avLst/>
          </a:prstGeom>
          <a:noFill/>
          <a:ln/>
        </p:spPr>
        <p:txBody>
          <a:bodyPr wrap="square" lIns="0" tIns="0" rIns="0" bIns="0" rtlCol="0" anchor="ctr"/>
          <a:lstStyle/>
          <a:p>
            <a:pPr marL="0" indent="0">
              <a:buNone/>
            </a:pPr>
            <a:r>
              <a:rPr lang="en-US" sz="750" b="1" dirty="0">
                <a:solidFill>
                  <a:srgbClr val="64748B"/>
                </a:solidFill>
              </a:rPr>
              <a:t>MOAT:</a:t>
            </a:r>
            <a:endParaRPr lang="en-US" sz="750" dirty="0"/>
          </a:p>
        </p:txBody>
      </p:sp>
      <p:sp>
        <p:nvSpPr>
          <p:cNvPr id="35" name="Text 33"/>
          <p:cNvSpPr/>
          <p:nvPr/>
        </p:nvSpPr>
        <p:spPr>
          <a:xfrm>
            <a:off x="4641573" y="3708886"/>
            <a:ext cx="3986784" cy="731520"/>
          </a:xfrm>
          <a:prstGeom prst="rect">
            <a:avLst/>
          </a:prstGeom>
          <a:noFill/>
          <a:ln/>
        </p:spPr>
        <p:txBody>
          <a:bodyPr wrap="square" rtlCol="0" anchor="ctr"/>
          <a:lstStyle/>
          <a:p>
            <a:pPr marL="0" indent="0">
              <a:buNone/>
            </a:pPr>
            <a:r>
              <a:rPr lang="en-US" sz="900" dirty="0">
                <a:solidFill>
                  <a:srgbClr val="E2E8F5"/>
                </a:solidFill>
              </a:rPr>
              <a:t>GitHub Copilot: network effect of 100M developers on GitHub. Training data advantage (all public code). Copilot is now embedded in the developer IDE — the tool programmers cannot work without. Microsoft distributes via VS Code (dominant IDE, 75%+ share).</a:t>
            </a:r>
            <a:endParaRPr lang="en-US" sz="900" dirty="0"/>
          </a:p>
        </p:txBody>
      </p:sp>
      <p:sp>
        <p:nvSpPr>
          <p:cNvPr id="36" name="Text 34"/>
          <p:cNvSpPr/>
          <p:nvPr/>
        </p:nvSpPr>
        <p:spPr>
          <a:xfrm>
            <a:off x="4727448" y="4498848"/>
            <a:ext cx="3986784" cy="146304"/>
          </a:xfrm>
          <a:prstGeom prst="rect">
            <a:avLst/>
          </a:prstGeom>
          <a:noFill/>
          <a:ln/>
        </p:spPr>
        <p:txBody>
          <a:bodyPr wrap="square" lIns="0" tIns="0" rIns="0" bIns="0" rtlCol="0" anchor="ctr"/>
          <a:lstStyle/>
          <a:p>
            <a:pPr marL="0" indent="0">
              <a:buNone/>
            </a:pPr>
            <a:r>
              <a:rPr lang="en-US" sz="750" b="1" dirty="0">
                <a:solidFill>
                  <a:srgbClr val="F97316"/>
                </a:solidFill>
              </a:rPr>
              <a:t>DEMAND: </a:t>
            </a:r>
            <a:endParaRPr lang="en-US" sz="750" dirty="0"/>
          </a:p>
        </p:txBody>
      </p:sp>
      <p:sp>
        <p:nvSpPr>
          <p:cNvPr id="37" name="Text 35"/>
          <p:cNvSpPr/>
          <p:nvPr/>
        </p:nvSpPr>
        <p:spPr>
          <a:xfrm>
            <a:off x="4727448" y="4703594"/>
            <a:ext cx="3986784" cy="182880"/>
          </a:xfrm>
          <a:prstGeom prst="rect">
            <a:avLst/>
          </a:prstGeom>
          <a:noFill/>
          <a:ln/>
        </p:spPr>
        <p:txBody>
          <a:bodyPr wrap="square" lIns="0" tIns="0" rIns="0" bIns="0" rtlCol="0" anchor="ctr"/>
          <a:lstStyle/>
          <a:p>
            <a:pPr marL="0" indent="0">
              <a:buNone/>
            </a:pPr>
            <a:r>
              <a:rPr lang="en-US" sz="800" dirty="0"/>
              <a:t>Developer productivity AI is the clearest ROI case: 30-50% code written by AI in 2025. Every softwar</a:t>
            </a:r>
          </a:p>
        </p:txBody>
      </p:sp>
    </p:spTree>
    <p:extLst>
      <p:ext uri="{BB962C8B-B14F-4D97-AF65-F5344CB8AC3E}">
        <p14:creationId xmlns:p14="http://schemas.microsoft.com/office/powerpoint/2010/main" val="1537961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p:spPr>
      </p:sp>
      <p:sp>
        <p:nvSpPr>
          <p:cNvPr id="3" name="Text 1"/>
          <p:cNvSpPr/>
          <p:nvPr/>
        </p:nvSpPr>
        <p:spPr>
          <a:xfrm>
            <a:off x="320040" y="137160"/>
            <a:ext cx="6400800" cy="457200"/>
          </a:xfrm>
          <a:prstGeom prst="rect">
            <a:avLst/>
          </a:prstGeom>
          <a:noFill/>
          <a:ln/>
        </p:spPr>
        <p:txBody>
          <a:bodyPr wrap="square" lIns="0" tIns="0" rIns="0" bIns="0" rtlCol="0" anchor="ctr"/>
          <a:lstStyle/>
          <a:p>
            <a:pPr marL="0" indent="0">
              <a:buNone/>
            </a:pPr>
            <a:r>
              <a:rPr lang="en-US" sz="2200" b="1" dirty="0">
                <a:solidFill>
                  <a:srgbClr val="FFFFFF"/>
                </a:solidFill>
              </a:rPr>
              <a:t>APPLICATIONS — STOCK PICKS</a:t>
            </a:r>
            <a:endParaRPr lang="en-US" sz="2200" dirty="0"/>
          </a:p>
        </p:txBody>
      </p:sp>
      <p:sp>
        <p:nvSpPr>
          <p:cNvPr id="4" name="Text 2"/>
          <p:cNvSpPr/>
          <p:nvPr/>
        </p:nvSpPr>
        <p:spPr>
          <a:xfrm>
            <a:off x="320040" y="594360"/>
            <a:ext cx="8229600" cy="274320"/>
          </a:xfrm>
          <a:prstGeom prst="rect">
            <a:avLst/>
          </a:prstGeom>
          <a:noFill/>
          <a:ln/>
        </p:spPr>
        <p:txBody>
          <a:bodyPr wrap="square" rtlCol="0" anchor="ctr"/>
          <a:lstStyle/>
          <a:p>
            <a:pPr marL="0" indent="0">
              <a:buNone/>
            </a:pPr>
            <a:r>
              <a:rPr lang="en-US" sz="1100" dirty="0">
                <a:solidFill>
                  <a:srgbClr val="94A3B8"/>
                </a:solidFill>
              </a:rPr>
              <a:t>Investment perspective &amp; analyst targets</a:t>
            </a:r>
            <a:endParaRPr lang="en-US" sz="1100" dirty="0"/>
          </a:p>
        </p:txBody>
      </p:sp>
      <p:sp>
        <p:nvSpPr>
          <p:cNvPr id="5" name="Shape 3"/>
          <p:cNvSpPr/>
          <p:nvPr/>
        </p:nvSpPr>
        <p:spPr>
          <a:xfrm>
            <a:off x="320040" y="96012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6" name="Shape 4"/>
          <p:cNvSpPr/>
          <p:nvPr/>
        </p:nvSpPr>
        <p:spPr>
          <a:xfrm>
            <a:off x="457200" y="1051560"/>
            <a:ext cx="1280160" cy="566928"/>
          </a:xfrm>
          <a:prstGeom prst="roundRect">
            <a:avLst>
              <a:gd name="adj" fmla="val 11290"/>
            </a:avLst>
          </a:prstGeom>
          <a:solidFill>
            <a:srgbClr val="0D9488">
              <a:alpha val="85000"/>
            </a:srgbClr>
          </a:solidFill>
          <a:ln/>
        </p:spPr>
      </p:sp>
      <p:sp>
        <p:nvSpPr>
          <p:cNvPr id="7" name="Text 5"/>
          <p:cNvSpPr/>
          <p:nvPr/>
        </p:nvSpPr>
        <p:spPr>
          <a:xfrm>
            <a:off x="457200" y="105156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$PLTR</a:t>
            </a:r>
            <a:endParaRPr lang="en-US" sz="1400" dirty="0"/>
          </a:p>
        </p:txBody>
      </p:sp>
      <p:sp>
        <p:nvSpPr>
          <p:cNvPr id="8" name="Text 6"/>
          <p:cNvSpPr/>
          <p:nvPr/>
        </p:nvSpPr>
        <p:spPr>
          <a:xfrm>
            <a:off x="457200" y="136245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Palantir</a:t>
            </a:r>
            <a:endParaRPr lang="en-US" sz="750" dirty="0"/>
          </a:p>
        </p:txBody>
      </p:sp>
      <p:sp>
        <p:nvSpPr>
          <p:cNvPr id="9" name="Text 7"/>
          <p:cNvSpPr/>
          <p:nvPr/>
        </p:nvSpPr>
        <p:spPr>
          <a:xfrm>
            <a:off x="1920240" y="1051560"/>
            <a:ext cx="4846320" cy="566928"/>
          </a:xfrm>
          <a:prstGeom prst="rect">
            <a:avLst/>
          </a:prstGeom>
          <a:noFill/>
          <a:ln/>
        </p:spPr>
        <p:txBody>
          <a:bodyPr wrap="square" rtlCol="0" anchor="ctr"/>
          <a:lstStyle/>
          <a:p>
            <a:pPr marL="0" indent="0">
              <a:buNone/>
            </a:pPr>
            <a:r>
              <a:rPr lang="en-US" sz="1100" dirty="0">
                <a:solidFill>
                  <a:srgbClr val="F0F4FF"/>
                </a:solidFill>
              </a:rPr>
              <a:t>AIP platform; government + enterprise AI; strongest US growth</a:t>
            </a:r>
            <a:endParaRPr lang="en-US" sz="1100" dirty="0"/>
          </a:p>
        </p:txBody>
      </p:sp>
      <p:sp>
        <p:nvSpPr>
          <p:cNvPr id="14" name="Shape 12"/>
          <p:cNvSpPr/>
          <p:nvPr/>
        </p:nvSpPr>
        <p:spPr>
          <a:xfrm>
            <a:off x="8046720" y="1216152"/>
            <a:ext cx="237744" cy="237744"/>
          </a:xfrm>
          <a:prstGeom prst="ellipse">
            <a:avLst/>
          </a:prstGeom>
          <a:solidFill>
            <a:srgbClr val="0D9488">
              <a:alpha val="30000"/>
            </a:srgbClr>
          </a:solidFill>
          <a:ln/>
        </p:spPr>
      </p:sp>
      <p:sp>
        <p:nvSpPr>
          <p:cNvPr id="15" name="Shape 13"/>
          <p:cNvSpPr/>
          <p:nvPr/>
        </p:nvSpPr>
        <p:spPr>
          <a:xfrm>
            <a:off x="320040" y="178308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6" name="Shape 14"/>
          <p:cNvSpPr/>
          <p:nvPr/>
        </p:nvSpPr>
        <p:spPr>
          <a:xfrm>
            <a:off x="457200" y="1874520"/>
            <a:ext cx="1280160" cy="566928"/>
          </a:xfrm>
          <a:prstGeom prst="roundRect">
            <a:avLst>
              <a:gd name="adj" fmla="val 11290"/>
            </a:avLst>
          </a:prstGeom>
          <a:solidFill>
            <a:srgbClr val="0D9488">
              <a:alpha val="85000"/>
            </a:srgbClr>
          </a:solidFill>
          <a:ln/>
        </p:spPr>
      </p:sp>
      <p:sp>
        <p:nvSpPr>
          <p:cNvPr id="17" name="Text 15"/>
          <p:cNvSpPr/>
          <p:nvPr/>
        </p:nvSpPr>
        <p:spPr>
          <a:xfrm>
            <a:off x="457200" y="187452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$TSLA</a:t>
            </a:r>
            <a:endParaRPr lang="en-US" sz="1400" dirty="0"/>
          </a:p>
        </p:txBody>
      </p:sp>
      <p:sp>
        <p:nvSpPr>
          <p:cNvPr id="18" name="Text 16"/>
          <p:cNvSpPr/>
          <p:nvPr/>
        </p:nvSpPr>
        <p:spPr>
          <a:xfrm>
            <a:off x="457200" y="218541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Tesla</a:t>
            </a:r>
            <a:endParaRPr lang="en-US" sz="750" dirty="0"/>
          </a:p>
        </p:txBody>
      </p:sp>
      <p:sp>
        <p:nvSpPr>
          <p:cNvPr id="19" name="Text 17"/>
          <p:cNvSpPr/>
          <p:nvPr/>
        </p:nvSpPr>
        <p:spPr>
          <a:xfrm>
            <a:off x="1920240" y="1874520"/>
            <a:ext cx="4846320" cy="566928"/>
          </a:xfrm>
          <a:prstGeom prst="rect">
            <a:avLst/>
          </a:prstGeom>
          <a:noFill/>
          <a:ln/>
        </p:spPr>
        <p:txBody>
          <a:bodyPr wrap="square" rtlCol="0" anchor="ctr"/>
          <a:lstStyle/>
          <a:p>
            <a:pPr marL="0" indent="0">
              <a:buNone/>
            </a:pPr>
            <a:r>
              <a:rPr lang="en-US" sz="1100" dirty="0">
                <a:solidFill>
                  <a:srgbClr val="F0F4FF"/>
                </a:solidFill>
              </a:rPr>
              <a:t>Full Self-Driving + Optimus robot; AI data flywheel from fleet</a:t>
            </a:r>
            <a:endParaRPr lang="en-US" sz="1100" dirty="0"/>
          </a:p>
        </p:txBody>
      </p:sp>
      <p:sp>
        <p:nvSpPr>
          <p:cNvPr id="24" name="Shape 22"/>
          <p:cNvSpPr/>
          <p:nvPr/>
        </p:nvSpPr>
        <p:spPr>
          <a:xfrm>
            <a:off x="8046720" y="2039112"/>
            <a:ext cx="237744" cy="237744"/>
          </a:xfrm>
          <a:prstGeom prst="ellipse">
            <a:avLst/>
          </a:prstGeom>
          <a:solidFill>
            <a:srgbClr val="0D9488">
              <a:alpha val="30000"/>
            </a:srgbClr>
          </a:solidFill>
          <a:ln/>
        </p:spPr>
      </p:sp>
      <p:sp>
        <p:nvSpPr>
          <p:cNvPr id="25" name="Shape 23"/>
          <p:cNvSpPr/>
          <p:nvPr/>
        </p:nvSpPr>
        <p:spPr>
          <a:xfrm>
            <a:off x="320040" y="260604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26" name="Shape 24"/>
          <p:cNvSpPr/>
          <p:nvPr/>
        </p:nvSpPr>
        <p:spPr>
          <a:xfrm>
            <a:off x="457200" y="2697480"/>
            <a:ext cx="1280160" cy="566928"/>
          </a:xfrm>
          <a:prstGeom prst="roundRect">
            <a:avLst>
              <a:gd name="adj" fmla="val 11290"/>
            </a:avLst>
          </a:prstGeom>
          <a:solidFill>
            <a:srgbClr val="0D9488">
              <a:alpha val="85000"/>
            </a:srgbClr>
          </a:solidFill>
          <a:ln/>
        </p:spPr>
      </p:sp>
      <p:sp>
        <p:nvSpPr>
          <p:cNvPr id="27" name="Text 25"/>
          <p:cNvSpPr/>
          <p:nvPr/>
        </p:nvSpPr>
        <p:spPr>
          <a:xfrm>
            <a:off x="457200" y="269748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$NOW</a:t>
            </a:r>
            <a:endParaRPr lang="en-US" sz="1400" dirty="0"/>
          </a:p>
        </p:txBody>
      </p:sp>
      <p:sp>
        <p:nvSpPr>
          <p:cNvPr id="28" name="Text 26"/>
          <p:cNvSpPr/>
          <p:nvPr/>
        </p:nvSpPr>
        <p:spPr>
          <a:xfrm>
            <a:off x="457200" y="300837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ServiceNow</a:t>
            </a:r>
            <a:endParaRPr lang="en-US" sz="750" dirty="0"/>
          </a:p>
        </p:txBody>
      </p:sp>
      <p:sp>
        <p:nvSpPr>
          <p:cNvPr id="29" name="Text 27"/>
          <p:cNvSpPr/>
          <p:nvPr/>
        </p:nvSpPr>
        <p:spPr>
          <a:xfrm>
            <a:off x="1920240" y="2697480"/>
            <a:ext cx="4846320" cy="566928"/>
          </a:xfrm>
          <a:prstGeom prst="rect">
            <a:avLst/>
          </a:prstGeom>
          <a:noFill/>
          <a:ln/>
        </p:spPr>
        <p:txBody>
          <a:bodyPr wrap="square" rtlCol="0" anchor="ctr"/>
          <a:lstStyle/>
          <a:p>
            <a:pPr marL="0" indent="0">
              <a:buNone/>
            </a:pPr>
            <a:r>
              <a:rPr lang="en-US" sz="1100" dirty="0">
                <a:solidFill>
                  <a:srgbClr val="F0F4FF"/>
                </a:solidFill>
              </a:rPr>
              <a:t>AI copilots in IT workflows; strong enterprise adoption; pricing power</a:t>
            </a:r>
            <a:endParaRPr lang="en-US" sz="1100" dirty="0"/>
          </a:p>
        </p:txBody>
      </p:sp>
      <p:sp>
        <p:nvSpPr>
          <p:cNvPr id="34" name="Shape 32"/>
          <p:cNvSpPr/>
          <p:nvPr/>
        </p:nvSpPr>
        <p:spPr>
          <a:xfrm>
            <a:off x="8046720" y="2862072"/>
            <a:ext cx="237744" cy="237744"/>
          </a:xfrm>
          <a:prstGeom prst="ellipse">
            <a:avLst/>
          </a:prstGeom>
          <a:solidFill>
            <a:srgbClr val="0D9488">
              <a:alpha val="30000"/>
            </a:srgbClr>
          </a:solidFill>
          <a:ln/>
        </p:spPr>
      </p:sp>
      <p:sp>
        <p:nvSpPr>
          <p:cNvPr id="35" name="Shape 33"/>
          <p:cNvSpPr/>
          <p:nvPr/>
        </p:nvSpPr>
        <p:spPr>
          <a:xfrm>
            <a:off x="320040" y="342900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36" name="Shape 34"/>
          <p:cNvSpPr/>
          <p:nvPr/>
        </p:nvSpPr>
        <p:spPr>
          <a:xfrm>
            <a:off x="457200" y="3520440"/>
            <a:ext cx="1280160" cy="566928"/>
          </a:xfrm>
          <a:prstGeom prst="roundRect">
            <a:avLst>
              <a:gd name="adj" fmla="val 11290"/>
            </a:avLst>
          </a:prstGeom>
          <a:solidFill>
            <a:srgbClr val="0D9488">
              <a:alpha val="85000"/>
            </a:srgbClr>
          </a:solidFill>
          <a:ln/>
        </p:spPr>
      </p:sp>
      <p:sp>
        <p:nvSpPr>
          <p:cNvPr id="37" name="Text 35"/>
          <p:cNvSpPr/>
          <p:nvPr/>
        </p:nvSpPr>
        <p:spPr>
          <a:xfrm>
            <a:off x="457200" y="352044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$SNOW</a:t>
            </a:r>
            <a:endParaRPr lang="en-US" sz="1400" dirty="0"/>
          </a:p>
        </p:txBody>
      </p:sp>
      <p:sp>
        <p:nvSpPr>
          <p:cNvPr id="38" name="Text 36"/>
          <p:cNvSpPr/>
          <p:nvPr/>
        </p:nvSpPr>
        <p:spPr>
          <a:xfrm>
            <a:off x="457200" y="383133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Snowflake</a:t>
            </a:r>
            <a:endParaRPr lang="en-US" sz="750" dirty="0"/>
          </a:p>
        </p:txBody>
      </p:sp>
      <p:sp>
        <p:nvSpPr>
          <p:cNvPr id="39" name="Text 37"/>
          <p:cNvSpPr/>
          <p:nvPr/>
        </p:nvSpPr>
        <p:spPr>
          <a:xfrm>
            <a:off x="1920240" y="3520440"/>
            <a:ext cx="4846320" cy="566928"/>
          </a:xfrm>
          <a:prstGeom prst="rect">
            <a:avLst/>
          </a:prstGeom>
          <a:noFill/>
          <a:ln/>
        </p:spPr>
        <p:txBody>
          <a:bodyPr wrap="square" rtlCol="0" anchor="ctr"/>
          <a:lstStyle/>
          <a:p>
            <a:pPr marL="0" indent="0">
              <a:buNone/>
            </a:pPr>
            <a:r>
              <a:rPr lang="en-US" sz="1100" dirty="0">
                <a:solidFill>
                  <a:srgbClr val="F0F4FF"/>
                </a:solidFill>
              </a:rPr>
              <a:t>Data cloud enabling AI; Cortex AI layer; product momentum returning</a:t>
            </a:r>
            <a:endParaRPr lang="en-US" sz="1100" dirty="0"/>
          </a:p>
        </p:txBody>
      </p:sp>
      <p:sp>
        <p:nvSpPr>
          <p:cNvPr id="44" name="Shape 42"/>
          <p:cNvSpPr/>
          <p:nvPr/>
        </p:nvSpPr>
        <p:spPr>
          <a:xfrm>
            <a:off x="8046720" y="3685032"/>
            <a:ext cx="237744" cy="237744"/>
          </a:xfrm>
          <a:prstGeom prst="ellipse">
            <a:avLst/>
          </a:prstGeom>
          <a:solidFill>
            <a:srgbClr val="0D9488">
              <a:alpha val="30000"/>
            </a:srgbClr>
          </a:solidFill>
          <a:ln/>
        </p:spPr>
      </p:sp>
      <p:sp>
        <p:nvSpPr>
          <p:cNvPr id="45" name="Shape 43"/>
          <p:cNvSpPr/>
          <p:nvPr/>
        </p:nvSpPr>
        <p:spPr>
          <a:xfrm>
            <a:off x="320040" y="425196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46" name="Shape 44"/>
          <p:cNvSpPr/>
          <p:nvPr/>
        </p:nvSpPr>
        <p:spPr>
          <a:xfrm>
            <a:off x="457200" y="4343400"/>
            <a:ext cx="1280160" cy="566928"/>
          </a:xfrm>
          <a:prstGeom prst="roundRect">
            <a:avLst>
              <a:gd name="adj" fmla="val 11290"/>
            </a:avLst>
          </a:prstGeom>
          <a:solidFill>
            <a:srgbClr val="0D9488">
              <a:alpha val="85000"/>
            </a:srgbClr>
          </a:solidFill>
          <a:ln/>
        </p:spPr>
      </p:sp>
      <p:sp>
        <p:nvSpPr>
          <p:cNvPr id="47" name="Text 45"/>
          <p:cNvSpPr/>
          <p:nvPr/>
        </p:nvSpPr>
        <p:spPr>
          <a:xfrm>
            <a:off x="457200" y="434340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$CRM</a:t>
            </a:r>
            <a:endParaRPr lang="en-US" sz="1400" dirty="0"/>
          </a:p>
        </p:txBody>
      </p:sp>
      <p:sp>
        <p:nvSpPr>
          <p:cNvPr id="48" name="Text 46"/>
          <p:cNvSpPr/>
          <p:nvPr/>
        </p:nvSpPr>
        <p:spPr>
          <a:xfrm>
            <a:off x="457200" y="465429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Salesforce</a:t>
            </a:r>
            <a:endParaRPr lang="en-US" sz="750" dirty="0"/>
          </a:p>
        </p:txBody>
      </p:sp>
      <p:sp>
        <p:nvSpPr>
          <p:cNvPr id="49" name="Text 47"/>
          <p:cNvSpPr/>
          <p:nvPr/>
        </p:nvSpPr>
        <p:spPr>
          <a:xfrm>
            <a:off x="1920240" y="4343400"/>
            <a:ext cx="4846320" cy="566928"/>
          </a:xfrm>
          <a:prstGeom prst="rect">
            <a:avLst/>
          </a:prstGeom>
          <a:noFill/>
          <a:ln/>
        </p:spPr>
        <p:txBody>
          <a:bodyPr wrap="square" rtlCol="0" anchor="ctr"/>
          <a:lstStyle/>
          <a:p>
            <a:pPr marL="0" indent="0">
              <a:buNone/>
            </a:pPr>
            <a:r>
              <a:rPr lang="en-US" sz="1100" dirty="0">
                <a:solidFill>
                  <a:srgbClr val="F0F4FF"/>
                </a:solidFill>
              </a:rPr>
              <a:t>Agentforce AI agents; $2B+ new bookings; CRM data moat</a:t>
            </a:r>
            <a:endParaRPr lang="en-US" sz="1100" dirty="0"/>
          </a:p>
        </p:txBody>
      </p:sp>
      <p:sp>
        <p:nvSpPr>
          <p:cNvPr id="54" name="Shape 52"/>
          <p:cNvSpPr/>
          <p:nvPr/>
        </p:nvSpPr>
        <p:spPr>
          <a:xfrm>
            <a:off x="8046720" y="4507992"/>
            <a:ext cx="237744" cy="237744"/>
          </a:xfrm>
          <a:prstGeom prst="ellipse">
            <a:avLst/>
          </a:prstGeom>
          <a:solidFill>
            <a:srgbClr val="0D9488">
              <a:alpha val="30000"/>
            </a:srgbClr>
          </a:solid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651510"/>
          </a:xfrm>
          <a:prstGeom prst="rect">
            <a:avLst/>
          </a:prstGeom>
          <a:solidFill>
            <a:srgbClr val="101828"/>
          </a:solidFill>
          <a:ln/>
        </p:spPr>
      </p:sp>
      <p:sp>
        <p:nvSpPr>
          <p:cNvPr id="3" name="Text 1"/>
          <p:cNvSpPr/>
          <p:nvPr/>
        </p:nvSpPr>
        <p:spPr>
          <a:xfrm>
            <a:off x="240030" y="54864"/>
            <a:ext cx="6172200" cy="514350"/>
          </a:xfrm>
          <a:prstGeom prst="rect">
            <a:avLst/>
          </a:prstGeom>
          <a:noFill/>
          <a:ln/>
        </p:spPr>
        <p:txBody>
          <a:bodyPr wrap="square" lIns="0" tIns="0" rIns="0" bIns="0" rtlCol="0" anchor="ctr"/>
          <a:lstStyle/>
          <a:p>
            <a:r>
              <a:rPr lang="en-US" sz="1650" b="1" dirty="0">
                <a:solidFill>
                  <a:srgbClr val="FB923C"/>
                </a:solidFill>
                <a:latin typeface="Calibri" pitchFamily="34" charset="0"/>
                <a:ea typeface="Calibri" pitchFamily="34" charset="-122"/>
                <a:cs typeface="Calibri" pitchFamily="34" charset="-120"/>
              </a:rPr>
              <a:t>APPLICATIONS &amp; ROBOTICS</a:t>
            </a:r>
            <a:endParaRPr lang="en-US" sz="1650" dirty="0"/>
          </a:p>
        </p:txBody>
      </p:sp>
      <p:sp>
        <p:nvSpPr>
          <p:cNvPr id="4" name="Text 2"/>
          <p:cNvSpPr/>
          <p:nvPr/>
        </p:nvSpPr>
        <p:spPr>
          <a:xfrm>
            <a:off x="240030" y="377190"/>
            <a:ext cx="8229600" cy="260604"/>
          </a:xfrm>
          <a:prstGeom prst="rect">
            <a:avLst/>
          </a:prstGeom>
          <a:noFill/>
          <a:ln/>
        </p:spPr>
        <p:txBody>
          <a:bodyPr wrap="square" lIns="0" tIns="0" rIns="0" bIns="0" rtlCol="0" anchor="ctr"/>
          <a:lstStyle/>
          <a:p>
            <a:r>
              <a:rPr lang="en-US" sz="825" dirty="0">
                <a:solidFill>
                  <a:srgbClr val="94A3B8"/>
                </a:solidFill>
                <a:latin typeface="Calibri" pitchFamily="34" charset="0"/>
                <a:ea typeface="Calibri" pitchFamily="34" charset="-122"/>
                <a:cs typeface="Calibri" pitchFamily="34" charset="-120"/>
              </a:rPr>
              <a:t>PLTR · TSLA · NOW · SNOW · CRM  |  Where AI Meets Real-World Revenue</a:t>
            </a:r>
            <a:endParaRPr lang="en-US" sz="825" dirty="0"/>
          </a:p>
        </p:txBody>
      </p:sp>
      <p:sp>
        <p:nvSpPr>
          <p:cNvPr id="7" name="Text 5"/>
          <p:cNvSpPr/>
          <p:nvPr/>
        </p:nvSpPr>
        <p:spPr>
          <a:xfrm>
            <a:off x="240030" y="740664"/>
            <a:ext cx="8641080" cy="288036"/>
          </a:xfrm>
          <a:prstGeom prst="rect">
            <a:avLst/>
          </a:prstGeom>
          <a:noFill/>
          <a:ln/>
        </p:spPr>
        <p:txBody>
          <a:bodyPr wrap="square" lIns="0" tIns="0" rIns="0" bIns="0" rtlCol="0" anchor="ctr"/>
          <a:lstStyle/>
          <a:p>
            <a:r>
              <a:rPr lang="en-US" sz="750" dirty="0">
                <a:solidFill>
                  <a:srgbClr val="94A3B8"/>
                </a:solidFill>
                <a:latin typeface="Calibri" pitchFamily="34" charset="0"/>
                <a:ea typeface="Calibri" pitchFamily="34" charset="-122"/>
                <a:cs typeface="Calibri" pitchFamily="34" charset="-120"/>
              </a:rPr>
              <a:t>The applications layer is where AI value ultimately accrues to the end customer — and where the next decade's multi-baggers will emerge. This is the least mature layer: AI productivity gains are still being unlocked, and software companies that embed AI into defensible workflows will see dramatic multiple expansion.</a:t>
            </a:r>
            <a:endParaRPr lang="en-US" sz="750" dirty="0"/>
          </a:p>
        </p:txBody>
      </p:sp>
      <p:sp>
        <p:nvSpPr>
          <p:cNvPr id="8" name="Shape 6"/>
          <p:cNvSpPr/>
          <p:nvPr/>
        </p:nvSpPr>
        <p:spPr>
          <a:xfrm>
            <a:off x="116586" y="1261872"/>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9" name="Shape 7"/>
          <p:cNvSpPr/>
          <p:nvPr/>
        </p:nvSpPr>
        <p:spPr>
          <a:xfrm>
            <a:off x="198882" y="1330452"/>
            <a:ext cx="260604" cy="260604"/>
          </a:xfrm>
          <a:prstGeom prst="ellipse">
            <a:avLst/>
          </a:prstGeom>
          <a:solidFill>
            <a:srgbClr val="F5C842"/>
          </a:solidFill>
          <a:ln/>
        </p:spPr>
      </p:sp>
      <p:sp>
        <p:nvSpPr>
          <p:cNvPr id="10" name="Text 8"/>
          <p:cNvSpPr/>
          <p:nvPr/>
        </p:nvSpPr>
        <p:spPr>
          <a:xfrm>
            <a:off x="198882" y="1330452"/>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#1</a:t>
            </a:r>
            <a:endParaRPr lang="en-US" sz="825" dirty="0"/>
          </a:p>
        </p:txBody>
      </p:sp>
      <p:sp>
        <p:nvSpPr>
          <p:cNvPr id="11" name="Text 9"/>
          <p:cNvSpPr/>
          <p:nvPr/>
        </p:nvSpPr>
        <p:spPr>
          <a:xfrm>
            <a:off x="528066" y="1316736"/>
            <a:ext cx="1097280" cy="240030"/>
          </a:xfrm>
          <a:prstGeom prst="rect">
            <a:avLst/>
          </a:prstGeom>
          <a:noFill/>
          <a:ln/>
        </p:spPr>
        <p:txBody>
          <a:bodyPr wrap="square" lIns="0" tIns="0" rIns="0" bIns="0" rtlCol="0" anchor="ctr"/>
          <a:lstStyle/>
          <a:p>
            <a:r>
              <a:rPr lang="en-US" sz="1200" b="1" dirty="0">
                <a:solidFill>
                  <a:srgbClr val="FB923C"/>
                </a:solidFill>
                <a:latin typeface="Cambria" pitchFamily="34" charset="0"/>
                <a:ea typeface="Cambria" pitchFamily="34" charset="-122"/>
                <a:cs typeface="Cambria" pitchFamily="34" charset="-120"/>
              </a:rPr>
              <a:t>PLTR</a:t>
            </a:r>
            <a:endParaRPr lang="en-US" sz="1200" dirty="0"/>
          </a:p>
        </p:txBody>
      </p:sp>
      <p:sp>
        <p:nvSpPr>
          <p:cNvPr id="12" name="Text 10"/>
          <p:cNvSpPr/>
          <p:nvPr/>
        </p:nvSpPr>
        <p:spPr>
          <a:xfrm>
            <a:off x="528066" y="1549908"/>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Palantir Technologies</a:t>
            </a:r>
            <a:endParaRPr lang="en-US" sz="638" dirty="0"/>
          </a:p>
        </p:txBody>
      </p:sp>
      <p:sp>
        <p:nvSpPr>
          <p:cNvPr id="13" name="Text 11"/>
          <p:cNvSpPr/>
          <p:nvPr/>
        </p:nvSpPr>
        <p:spPr>
          <a:xfrm>
            <a:off x="219456" y="1762506"/>
            <a:ext cx="411480" cy="150876"/>
          </a:xfrm>
          <a:prstGeom prst="rect">
            <a:avLst/>
          </a:prstGeom>
          <a:noFill/>
          <a:ln/>
        </p:spPr>
        <p:txBody>
          <a:bodyPr wrap="square" lIns="0" tIns="0" rIns="0" bIns="0" rtlCol="0" anchor="ctr"/>
          <a:lstStyle/>
          <a:p>
            <a:r>
              <a:rPr lang="en-US" sz="600" b="1" dirty="0">
                <a:solidFill>
                  <a:srgbClr val="FB923C"/>
                </a:solidFill>
                <a:latin typeface="Calibri" pitchFamily="34" charset="0"/>
                <a:ea typeface="Calibri" pitchFamily="34" charset="-122"/>
                <a:cs typeface="Calibri" pitchFamily="34" charset="-120"/>
              </a:rPr>
              <a:t>Moat: </a:t>
            </a:r>
            <a:endParaRPr lang="en-US" sz="600" dirty="0"/>
          </a:p>
        </p:txBody>
      </p:sp>
      <p:sp>
        <p:nvSpPr>
          <p:cNvPr id="14" name="Text 12"/>
          <p:cNvSpPr/>
          <p:nvPr/>
        </p:nvSpPr>
        <p:spPr>
          <a:xfrm>
            <a:off x="610362" y="1762506"/>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AIP (AI Platform) translates raw LLMs into decision-grade enterprise/government intelligence. US Army $10B decade-long contract. DOGE/Government AI modernization = structural tailwind. 127% Rule of 40 score.</a:t>
            </a:r>
            <a:endParaRPr lang="en-US" sz="600" dirty="0"/>
          </a:p>
        </p:txBody>
      </p:sp>
      <p:sp>
        <p:nvSpPr>
          <p:cNvPr id="15" name="Text 13"/>
          <p:cNvSpPr/>
          <p:nvPr/>
        </p:nvSpPr>
        <p:spPr>
          <a:xfrm>
            <a:off x="219456" y="2132838"/>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16" name="Text 14"/>
          <p:cNvSpPr/>
          <p:nvPr/>
        </p:nvSpPr>
        <p:spPr>
          <a:xfrm>
            <a:off x="733806" y="2132838"/>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Q1 2026 revenue +85% YoY to $1.63B. US Commercial +121% YoY. RPV doubled YoY to $11.8B. AIP bootcamps converting customers to multi-year contracts. Government AI = defensible moat.</a:t>
            </a:r>
            <a:endParaRPr lang="en-US" sz="600" dirty="0"/>
          </a:p>
        </p:txBody>
      </p:sp>
      <p:sp>
        <p:nvSpPr>
          <p:cNvPr id="17" name="Text 15"/>
          <p:cNvSpPr/>
          <p:nvPr/>
        </p:nvSpPr>
        <p:spPr>
          <a:xfrm>
            <a:off x="219456" y="2468880"/>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18" name="Text 16"/>
          <p:cNvSpPr/>
          <p:nvPr/>
        </p:nvSpPr>
        <p:spPr>
          <a:xfrm>
            <a:off x="576072" y="2468880"/>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80x trailing sales valuation. 215x trailing earnings. No room for error. Execution on commercial AIP expansion is critical. European government privacy constraints limit expansion.</a:t>
            </a:r>
            <a:endParaRPr lang="en-US" sz="600" dirty="0"/>
          </a:p>
        </p:txBody>
      </p:sp>
      <p:sp>
        <p:nvSpPr>
          <p:cNvPr id="19" name="Text 17"/>
          <p:cNvSpPr/>
          <p:nvPr/>
        </p:nvSpPr>
        <p:spPr>
          <a:xfrm>
            <a:off x="198882" y="2756916"/>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THE AI DECISION LAYER. Palantir is the only company that has solved enterprise-grade AI deployment for both government and commercial. AIP is a genuine product moat. Valuation is the only bear case.</a:t>
            </a:r>
            <a:endParaRPr lang="en-US" sz="563" dirty="0"/>
          </a:p>
        </p:txBody>
      </p:sp>
      <p:sp>
        <p:nvSpPr>
          <p:cNvPr id="20" name="Shape 18"/>
          <p:cNvSpPr/>
          <p:nvPr/>
        </p:nvSpPr>
        <p:spPr>
          <a:xfrm>
            <a:off x="3121473" y="1275588"/>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21" name="Shape 19"/>
          <p:cNvSpPr/>
          <p:nvPr/>
        </p:nvSpPr>
        <p:spPr>
          <a:xfrm>
            <a:off x="3203769" y="1344168"/>
            <a:ext cx="260604" cy="260604"/>
          </a:xfrm>
          <a:prstGeom prst="ellipse">
            <a:avLst/>
          </a:prstGeom>
          <a:solidFill>
            <a:srgbClr val="4F9CF9"/>
          </a:solidFill>
          <a:ln/>
        </p:spPr>
      </p:sp>
      <p:sp>
        <p:nvSpPr>
          <p:cNvPr id="22" name="Text 20"/>
          <p:cNvSpPr/>
          <p:nvPr/>
        </p:nvSpPr>
        <p:spPr>
          <a:xfrm>
            <a:off x="3203769" y="1344168"/>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#2</a:t>
            </a:r>
            <a:endParaRPr lang="en-US" sz="825" dirty="0"/>
          </a:p>
        </p:txBody>
      </p:sp>
      <p:sp>
        <p:nvSpPr>
          <p:cNvPr id="23" name="Text 21"/>
          <p:cNvSpPr/>
          <p:nvPr/>
        </p:nvSpPr>
        <p:spPr>
          <a:xfrm>
            <a:off x="3532953" y="1330452"/>
            <a:ext cx="1097280" cy="240030"/>
          </a:xfrm>
          <a:prstGeom prst="rect">
            <a:avLst/>
          </a:prstGeom>
          <a:noFill/>
          <a:ln/>
        </p:spPr>
        <p:txBody>
          <a:bodyPr wrap="square" lIns="0" tIns="0" rIns="0" bIns="0" rtlCol="0" anchor="ctr"/>
          <a:lstStyle/>
          <a:p>
            <a:r>
              <a:rPr lang="en-US" sz="1200" b="1" dirty="0">
                <a:solidFill>
                  <a:srgbClr val="FB923C"/>
                </a:solidFill>
                <a:latin typeface="Cambria" pitchFamily="34" charset="0"/>
                <a:ea typeface="Cambria" pitchFamily="34" charset="-122"/>
                <a:cs typeface="Cambria" pitchFamily="34" charset="-120"/>
              </a:rPr>
              <a:t>TSLA</a:t>
            </a:r>
            <a:endParaRPr lang="en-US" sz="1200" dirty="0"/>
          </a:p>
        </p:txBody>
      </p:sp>
      <p:sp>
        <p:nvSpPr>
          <p:cNvPr id="24" name="Text 22"/>
          <p:cNvSpPr/>
          <p:nvPr/>
        </p:nvSpPr>
        <p:spPr>
          <a:xfrm>
            <a:off x="3532953" y="1563624"/>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Tesla</a:t>
            </a:r>
            <a:endParaRPr lang="en-US" sz="638" dirty="0"/>
          </a:p>
        </p:txBody>
      </p:sp>
      <p:sp>
        <p:nvSpPr>
          <p:cNvPr id="25" name="Text 23"/>
          <p:cNvSpPr/>
          <p:nvPr/>
        </p:nvSpPr>
        <p:spPr>
          <a:xfrm>
            <a:off x="3224343" y="1776222"/>
            <a:ext cx="411480" cy="150876"/>
          </a:xfrm>
          <a:prstGeom prst="rect">
            <a:avLst/>
          </a:prstGeom>
          <a:noFill/>
          <a:ln/>
        </p:spPr>
        <p:txBody>
          <a:bodyPr wrap="square" lIns="0" tIns="0" rIns="0" bIns="0" rtlCol="0" anchor="ctr"/>
          <a:lstStyle/>
          <a:p>
            <a:r>
              <a:rPr lang="en-US" sz="600" b="1" dirty="0">
                <a:solidFill>
                  <a:srgbClr val="FB923C"/>
                </a:solidFill>
                <a:latin typeface="Calibri" pitchFamily="34" charset="0"/>
                <a:ea typeface="Calibri" pitchFamily="34" charset="-122"/>
                <a:cs typeface="Calibri" pitchFamily="34" charset="-120"/>
              </a:rPr>
              <a:t>Moat: </a:t>
            </a:r>
            <a:endParaRPr lang="en-US" sz="600" dirty="0"/>
          </a:p>
        </p:txBody>
      </p:sp>
      <p:sp>
        <p:nvSpPr>
          <p:cNvPr id="26" name="Text 24"/>
          <p:cNvSpPr/>
          <p:nvPr/>
        </p:nvSpPr>
        <p:spPr>
          <a:xfrm>
            <a:off x="3615249" y="1776222"/>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Optimus humanoid robot: the only robotics program with a direct path to mass manufacturing. FSD (Full Self-Driving) = real-world AI training data at 1B+ miles. Dojo/AI5 chip for edge inference. 40+ GWh Dojo compute.</a:t>
            </a:r>
            <a:endParaRPr lang="en-US" sz="600" dirty="0"/>
          </a:p>
        </p:txBody>
      </p:sp>
      <p:sp>
        <p:nvSpPr>
          <p:cNvPr id="27" name="Text 25"/>
          <p:cNvSpPr/>
          <p:nvPr/>
        </p:nvSpPr>
        <p:spPr>
          <a:xfrm>
            <a:off x="3224343" y="2146554"/>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28" name="Text 26"/>
          <p:cNvSpPr/>
          <p:nvPr/>
        </p:nvSpPr>
        <p:spPr>
          <a:xfrm>
            <a:off x="3738693" y="2146554"/>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Optimus Gen 2: Tesla deploying 1,000 robots in its own factory by end-2025. AI5 chip partnered with Samsung. FSD v13+ approaching regulatory approval. Massive real-world training data advantage.</a:t>
            </a:r>
            <a:endParaRPr lang="en-US" sz="600" dirty="0"/>
          </a:p>
        </p:txBody>
      </p:sp>
      <p:sp>
        <p:nvSpPr>
          <p:cNvPr id="29" name="Text 27"/>
          <p:cNvSpPr/>
          <p:nvPr/>
        </p:nvSpPr>
        <p:spPr>
          <a:xfrm>
            <a:off x="3224343" y="2482596"/>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30" name="Text 28"/>
          <p:cNvSpPr/>
          <p:nvPr/>
        </p:nvSpPr>
        <p:spPr>
          <a:xfrm>
            <a:off x="3580959" y="2482596"/>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Core auto business facing China EV competition, margin pressure. Musk distraction risk (DOGE, xAI, Twitter). FSD regulatory approval timeline uncertain. Optimus commercialization timeline is multi-year.</a:t>
            </a:r>
            <a:endParaRPr lang="en-US" sz="600" dirty="0"/>
          </a:p>
        </p:txBody>
      </p:sp>
      <p:sp>
        <p:nvSpPr>
          <p:cNvPr id="31" name="Text 29"/>
          <p:cNvSpPr/>
          <p:nvPr/>
        </p:nvSpPr>
        <p:spPr>
          <a:xfrm>
            <a:off x="3203769" y="2770632"/>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THE ROBOTICS WILDCARD. If Optimus and FSD succeed, Tesla is worth multiples of current value. The bet is on physical AI — the last and largest frontier. High risk, enormous upside.</a:t>
            </a:r>
            <a:endParaRPr lang="en-US" sz="563" dirty="0"/>
          </a:p>
        </p:txBody>
      </p:sp>
      <p:sp>
        <p:nvSpPr>
          <p:cNvPr id="32" name="Shape 30"/>
          <p:cNvSpPr/>
          <p:nvPr/>
        </p:nvSpPr>
        <p:spPr>
          <a:xfrm>
            <a:off x="6137189" y="1289304"/>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33" name="Shape 31"/>
          <p:cNvSpPr/>
          <p:nvPr/>
        </p:nvSpPr>
        <p:spPr>
          <a:xfrm>
            <a:off x="6219485" y="1357884"/>
            <a:ext cx="260604" cy="260604"/>
          </a:xfrm>
          <a:prstGeom prst="ellipse">
            <a:avLst/>
          </a:prstGeom>
          <a:solidFill>
            <a:srgbClr val="7B5CF5"/>
          </a:solidFill>
          <a:ln/>
        </p:spPr>
      </p:sp>
      <p:sp>
        <p:nvSpPr>
          <p:cNvPr id="34" name="Text 32"/>
          <p:cNvSpPr/>
          <p:nvPr/>
        </p:nvSpPr>
        <p:spPr>
          <a:xfrm>
            <a:off x="6219485" y="1357884"/>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#3</a:t>
            </a:r>
            <a:endParaRPr lang="en-US" sz="825" dirty="0"/>
          </a:p>
        </p:txBody>
      </p:sp>
      <p:sp>
        <p:nvSpPr>
          <p:cNvPr id="35" name="Text 33"/>
          <p:cNvSpPr/>
          <p:nvPr/>
        </p:nvSpPr>
        <p:spPr>
          <a:xfrm>
            <a:off x="6548669" y="1344168"/>
            <a:ext cx="1097280" cy="240030"/>
          </a:xfrm>
          <a:prstGeom prst="rect">
            <a:avLst/>
          </a:prstGeom>
          <a:noFill/>
          <a:ln/>
        </p:spPr>
        <p:txBody>
          <a:bodyPr wrap="square" lIns="0" tIns="0" rIns="0" bIns="0" rtlCol="0" anchor="ctr"/>
          <a:lstStyle/>
          <a:p>
            <a:r>
              <a:rPr lang="en-US" sz="1200" b="1" dirty="0">
                <a:solidFill>
                  <a:srgbClr val="FB923C"/>
                </a:solidFill>
                <a:latin typeface="Cambria" pitchFamily="34" charset="0"/>
                <a:ea typeface="Cambria" pitchFamily="34" charset="-122"/>
                <a:cs typeface="Cambria" pitchFamily="34" charset="-120"/>
              </a:rPr>
              <a:t>NOW</a:t>
            </a:r>
            <a:endParaRPr lang="en-US" sz="1200" dirty="0"/>
          </a:p>
        </p:txBody>
      </p:sp>
      <p:sp>
        <p:nvSpPr>
          <p:cNvPr id="36" name="Text 34"/>
          <p:cNvSpPr/>
          <p:nvPr/>
        </p:nvSpPr>
        <p:spPr>
          <a:xfrm>
            <a:off x="6548669" y="1577340"/>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ServiceNow</a:t>
            </a:r>
            <a:endParaRPr lang="en-US" sz="638" dirty="0"/>
          </a:p>
        </p:txBody>
      </p:sp>
      <p:sp>
        <p:nvSpPr>
          <p:cNvPr id="37" name="Text 35"/>
          <p:cNvSpPr/>
          <p:nvPr/>
        </p:nvSpPr>
        <p:spPr>
          <a:xfrm>
            <a:off x="6240059" y="1789938"/>
            <a:ext cx="411480" cy="150876"/>
          </a:xfrm>
          <a:prstGeom prst="rect">
            <a:avLst/>
          </a:prstGeom>
          <a:noFill/>
          <a:ln/>
        </p:spPr>
        <p:txBody>
          <a:bodyPr wrap="square" lIns="0" tIns="0" rIns="0" bIns="0" rtlCol="0" anchor="ctr"/>
          <a:lstStyle/>
          <a:p>
            <a:r>
              <a:rPr lang="en-US" sz="600" b="1" dirty="0">
                <a:solidFill>
                  <a:srgbClr val="FB923C"/>
                </a:solidFill>
                <a:latin typeface="Calibri" pitchFamily="34" charset="0"/>
                <a:ea typeface="Calibri" pitchFamily="34" charset="-122"/>
                <a:cs typeface="Calibri" pitchFamily="34" charset="-120"/>
              </a:rPr>
              <a:t>Moat: </a:t>
            </a:r>
            <a:endParaRPr lang="en-US" sz="600" dirty="0"/>
          </a:p>
        </p:txBody>
      </p:sp>
      <p:sp>
        <p:nvSpPr>
          <p:cNvPr id="38" name="Text 36"/>
          <p:cNvSpPr/>
          <p:nvPr/>
        </p:nvSpPr>
        <p:spPr>
          <a:xfrm>
            <a:off x="6630965" y="1789938"/>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Enterprise workflow automation platform with 85%+ of Fortune 500 as customers. AI Agents (Now Assist) automating IT, HR, finance, legal workflows. Sticky: companies build on NOW and cannot easily leave.</a:t>
            </a:r>
            <a:endParaRPr lang="en-US" sz="600" dirty="0"/>
          </a:p>
        </p:txBody>
      </p:sp>
      <p:sp>
        <p:nvSpPr>
          <p:cNvPr id="39" name="Text 37"/>
          <p:cNvSpPr/>
          <p:nvPr/>
        </p:nvSpPr>
        <p:spPr>
          <a:xfrm>
            <a:off x="6240059" y="2160270"/>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40" name="Text 38"/>
          <p:cNvSpPr/>
          <p:nvPr/>
        </p:nvSpPr>
        <p:spPr>
          <a:xfrm>
            <a:off x="6754409" y="2160270"/>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Revenue guidance raised to $4.45B FY26 (+28%). RPO $7.9B. AI agents driving net new land-and-expand. 95%+ renewal rates. 85% Fortune 500 penetration. Profitable and cash-generative.</a:t>
            </a:r>
            <a:endParaRPr lang="en-US" sz="600" dirty="0"/>
          </a:p>
        </p:txBody>
      </p:sp>
      <p:sp>
        <p:nvSpPr>
          <p:cNvPr id="41" name="Text 39"/>
          <p:cNvSpPr/>
          <p:nvPr/>
        </p:nvSpPr>
        <p:spPr>
          <a:xfrm>
            <a:off x="6240059" y="2496312"/>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42" name="Text 40"/>
          <p:cNvSpPr/>
          <p:nvPr/>
        </p:nvSpPr>
        <p:spPr>
          <a:xfrm>
            <a:off x="6596675" y="2496312"/>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Premium valuation. Competition from MSFT Copilot and Salesforce Einstein. Growth rate moderating. AI agents could be replicated by hyperscalers over time.</a:t>
            </a:r>
            <a:endParaRPr lang="en-US" sz="600" dirty="0"/>
          </a:p>
        </p:txBody>
      </p:sp>
      <p:sp>
        <p:nvSpPr>
          <p:cNvPr id="43" name="Text 41"/>
          <p:cNvSpPr/>
          <p:nvPr/>
        </p:nvSpPr>
        <p:spPr>
          <a:xfrm>
            <a:off x="6219485" y="2784348"/>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ENTERPRISE AI WORKFLOW KING. ServiceNow's sticky workflow automation + AI agents = durable compounding growth. 95% renewal rates reflect lock-in. Less discussed but highly conviction.</a:t>
            </a:r>
            <a:endParaRPr lang="en-US" sz="563" dirty="0"/>
          </a:p>
        </p:txBody>
      </p:sp>
      <p:sp>
        <p:nvSpPr>
          <p:cNvPr id="44" name="Shape 42"/>
          <p:cNvSpPr/>
          <p:nvPr/>
        </p:nvSpPr>
        <p:spPr>
          <a:xfrm>
            <a:off x="116586" y="3147822"/>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45" name="Shape 43"/>
          <p:cNvSpPr/>
          <p:nvPr/>
        </p:nvSpPr>
        <p:spPr>
          <a:xfrm>
            <a:off x="198882" y="3216402"/>
            <a:ext cx="260604" cy="260604"/>
          </a:xfrm>
          <a:prstGeom prst="ellipse">
            <a:avLst/>
          </a:prstGeom>
          <a:solidFill>
            <a:srgbClr val="F97316"/>
          </a:solidFill>
          <a:ln/>
        </p:spPr>
      </p:sp>
      <p:sp>
        <p:nvSpPr>
          <p:cNvPr id="46" name="Text 44"/>
          <p:cNvSpPr/>
          <p:nvPr/>
        </p:nvSpPr>
        <p:spPr>
          <a:xfrm>
            <a:off x="198882" y="3216402"/>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#4</a:t>
            </a:r>
            <a:endParaRPr lang="en-US" sz="825" dirty="0"/>
          </a:p>
        </p:txBody>
      </p:sp>
      <p:sp>
        <p:nvSpPr>
          <p:cNvPr id="47" name="Text 45"/>
          <p:cNvSpPr/>
          <p:nvPr/>
        </p:nvSpPr>
        <p:spPr>
          <a:xfrm>
            <a:off x="528066" y="3202686"/>
            <a:ext cx="1097280" cy="240030"/>
          </a:xfrm>
          <a:prstGeom prst="rect">
            <a:avLst/>
          </a:prstGeom>
          <a:noFill/>
          <a:ln/>
        </p:spPr>
        <p:txBody>
          <a:bodyPr wrap="square" lIns="0" tIns="0" rIns="0" bIns="0" rtlCol="0" anchor="ctr"/>
          <a:lstStyle/>
          <a:p>
            <a:r>
              <a:rPr lang="en-US" sz="1200" b="1" dirty="0">
                <a:solidFill>
                  <a:srgbClr val="FB923C"/>
                </a:solidFill>
                <a:latin typeface="Cambria" pitchFamily="34" charset="0"/>
                <a:ea typeface="Cambria" pitchFamily="34" charset="-122"/>
                <a:cs typeface="Cambria" pitchFamily="34" charset="-120"/>
              </a:rPr>
              <a:t>SNOW</a:t>
            </a:r>
            <a:endParaRPr lang="en-US" sz="1200" dirty="0"/>
          </a:p>
        </p:txBody>
      </p:sp>
      <p:sp>
        <p:nvSpPr>
          <p:cNvPr id="48" name="Text 46"/>
          <p:cNvSpPr/>
          <p:nvPr/>
        </p:nvSpPr>
        <p:spPr>
          <a:xfrm>
            <a:off x="528066" y="3435858"/>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Snowflake</a:t>
            </a:r>
            <a:endParaRPr lang="en-US" sz="638" dirty="0"/>
          </a:p>
        </p:txBody>
      </p:sp>
      <p:sp>
        <p:nvSpPr>
          <p:cNvPr id="49" name="Text 47"/>
          <p:cNvSpPr/>
          <p:nvPr/>
        </p:nvSpPr>
        <p:spPr>
          <a:xfrm>
            <a:off x="219456" y="3648456"/>
            <a:ext cx="411480" cy="150876"/>
          </a:xfrm>
          <a:prstGeom prst="rect">
            <a:avLst/>
          </a:prstGeom>
          <a:noFill/>
          <a:ln/>
        </p:spPr>
        <p:txBody>
          <a:bodyPr wrap="square" lIns="0" tIns="0" rIns="0" bIns="0" rtlCol="0" anchor="ctr"/>
          <a:lstStyle/>
          <a:p>
            <a:r>
              <a:rPr lang="en-US" sz="600" b="1" dirty="0">
                <a:solidFill>
                  <a:srgbClr val="FB923C"/>
                </a:solidFill>
                <a:latin typeface="Calibri" pitchFamily="34" charset="0"/>
                <a:ea typeface="Calibri" pitchFamily="34" charset="-122"/>
                <a:cs typeface="Calibri" pitchFamily="34" charset="-120"/>
              </a:rPr>
              <a:t>Moat: </a:t>
            </a:r>
            <a:endParaRPr lang="en-US" sz="600" dirty="0"/>
          </a:p>
        </p:txBody>
      </p:sp>
      <p:sp>
        <p:nvSpPr>
          <p:cNvPr id="50" name="Text 48"/>
          <p:cNvSpPr/>
          <p:nvPr/>
        </p:nvSpPr>
        <p:spPr>
          <a:xfrm>
            <a:off x="610362" y="3648456"/>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Cloud-native data platform where enterprise AI models are trained and run. Cortex AI = AI assistant built on top of customer data. Data Clean Rooms for privacy-safe AI collaboration. Consumption model benefits from AI usage growth.</a:t>
            </a:r>
            <a:endParaRPr lang="en-US" sz="600" dirty="0"/>
          </a:p>
        </p:txBody>
      </p:sp>
      <p:sp>
        <p:nvSpPr>
          <p:cNvPr id="51" name="Text 49"/>
          <p:cNvSpPr/>
          <p:nvPr/>
        </p:nvSpPr>
        <p:spPr>
          <a:xfrm>
            <a:off x="219456" y="4018788"/>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52" name="Text 50"/>
          <p:cNvSpPr/>
          <p:nvPr/>
        </p:nvSpPr>
        <p:spPr>
          <a:xfrm>
            <a:off x="733806" y="4018788"/>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FY26 product revenue +28% to $4.45B. RPO $7.9B. Cortex AI platform taking off. Stock surged 36% post Q1 FY27 earnings. New CEO Sridhar Ramaswamy driving AI product velocity.</a:t>
            </a:r>
            <a:endParaRPr lang="en-US" sz="600" dirty="0"/>
          </a:p>
        </p:txBody>
      </p:sp>
      <p:sp>
        <p:nvSpPr>
          <p:cNvPr id="53" name="Text 51"/>
          <p:cNvSpPr/>
          <p:nvPr/>
        </p:nvSpPr>
        <p:spPr>
          <a:xfrm>
            <a:off x="219456" y="4354830"/>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54" name="Text 52"/>
          <p:cNvSpPr/>
          <p:nvPr/>
        </p:nvSpPr>
        <p:spPr>
          <a:xfrm>
            <a:off x="576072" y="4354830"/>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Hyperscaler competition (BigQuery, Redshift) is intensifying. Premium valuation. Profitability still negative on GAAP. Consumption model means revenue is less predictable.</a:t>
            </a:r>
            <a:endParaRPr lang="en-US" sz="600" dirty="0"/>
          </a:p>
        </p:txBody>
      </p:sp>
      <p:sp>
        <p:nvSpPr>
          <p:cNvPr id="55" name="Text 53"/>
          <p:cNvSpPr/>
          <p:nvPr/>
        </p:nvSpPr>
        <p:spPr>
          <a:xfrm>
            <a:off x="198882" y="4642866"/>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THE AI DATA BACKBONE. Every enterprise AI model needs a data platform. Snowflake is the independent, cloud-agnostic choice. Cortex AI is the product catalyst. New CEO is accelerating.</a:t>
            </a:r>
            <a:endParaRPr lang="en-US" sz="563" dirty="0"/>
          </a:p>
        </p:txBody>
      </p:sp>
      <p:sp>
        <p:nvSpPr>
          <p:cNvPr id="56" name="Shape 54"/>
          <p:cNvSpPr/>
          <p:nvPr/>
        </p:nvSpPr>
        <p:spPr>
          <a:xfrm>
            <a:off x="3121473" y="3161538"/>
            <a:ext cx="2948940" cy="1714500"/>
          </a:xfrm>
          <a:prstGeom prst="roundRect">
            <a:avLst>
              <a:gd name="adj" fmla="val 3200"/>
            </a:avLst>
          </a:prstGeom>
          <a:solidFill>
            <a:srgbClr val="131F35"/>
          </a:solidFill>
          <a:ln/>
          <a:effectLst>
            <a:outerShdw blurRad="127000" dist="38100" dir="2700000" algn="bl" rotWithShape="0">
              <a:srgbClr val="000000">
                <a:alpha val="30000"/>
              </a:srgbClr>
            </a:outerShdw>
          </a:effectLst>
        </p:spPr>
      </p:sp>
      <p:sp>
        <p:nvSpPr>
          <p:cNvPr id="57" name="Shape 55"/>
          <p:cNvSpPr/>
          <p:nvPr/>
        </p:nvSpPr>
        <p:spPr>
          <a:xfrm>
            <a:off x="3203769" y="3230118"/>
            <a:ext cx="260604" cy="260604"/>
          </a:xfrm>
          <a:prstGeom prst="ellipse">
            <a:avLst/>
          </a:prstGeom>
          <a:solidFill>
            <a:srgbClr val="22C55E"/>
          </a:solidFill>
          <a:ln/>
        </p:spPr>
      </p:sp>
      <p:sp>
        <p:nvSpPr>
          <p:cNvPr id="58" name="Text 56"/>
          <p:cNvSpPr/>
          <p:nvPr/>
        </p:nvSpPr>
        <p:spPr>
          <a:xfrm>
            <a:off x="3203769" y="3230118"/>
            <a:ext cx="260604" cy="260604"/>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#5</a:t>
            </a:r>
            <a:endParaRPr lang="en-US" sz="825" dirty="0"/>
          </a:p>
        </p:txBody>
      </p:sp>
      <p:sp>
        <p:nvSpPr>
          <p:cNvPr id="59" name="Text 57"/>
          <p:cNvSpPr/>
          <p:nvPr/>
        </p:nvSpPr>
        <p:spPr>
          <a:xfrm>
            <a:off x="3532953" y="3216402"/>
            <a:ext cx="1097280" cy="240030"/>
          </a:xfrm>
          <a:prstGeom prst="rect">
            <a:avLst/>
          </a:prstGeom>
          <a:noFill/>
          <a:ln/>
        </p:spPr>
        <p:txBody>
          <a:bodyPr wrap="square" lIns="0" tIns="0" rIns="0" bIns="0" rtlCol="0" anchor="ctr"/>
          <a:lstStyle/>
          <a:p>
            <a:r>
              <a:rPr lang="en-US" sz="1200" b="1" dirty="0">
                <a:solidFill>
                  <a:srgbClr val="FB923C"/>
                </a:solidFill>
                <a:latin typeface="Cambria" pitchFamily="34" charset="0"/>
                <a:ea typeface="Cambria" pitchFamily="34" charset="-122"/>
                <a:cs typeface="Cambria" pitchFamily="34" charset="-120"/>
              </a:rPr>
              <a:t>CRM</a:t>
            </a:r>
            <a:endParaRPr lang="en-US" sz="1200" dirty="0"/>
          </a:p>
        </p:txBody>
      </p:sp>
      <p:sp>
        <p:nvSpPr>
          <p:cNvPr id="60" name="Text 58"/>
          <p:cNvSpPr/>
          <p:nvPr/>
        </p:nvSpPr>
        <p:spPr>
          <a:xfrm>
            <a:off x="3532953" y="3449574"/>
            <a:ext cx="2434590" cy="171450"/>
          </a:xfrm>
          <a:prstGeom prst="rect">
            <a:avLst/>
          </a:prstGeom>
          <a:noFill/>
          <a:ln/>
        </p:spPr>
        <p:txBody>
          <a:bodyPr wrap="square" lIns="0" tIns="0" rIns="0" bIns="0" rtlCol="0" anchor="ctr"/>
          <a:lstStyle/>
          <a:p>
            <a:r>
              <a:rPr lang="en-US" sz="638" dirty="0">
                <a:solidFill>
                  <a:srgbClr val="94A3B8"/>
                </a:solidFill>
                <a:latin typeface="Calibri" pitchFamily="34" charset="0"/>
                <a:ea typeface="Calibri" pitchFamily="34" charset="-122"/>
                <a:cs typeface="Calibri" pitchFamily="34" charset="-120"/>
              </a:rPr>
              <a:t>Salesforce</a:t>
            </a:r>
            <a:endParaRPr lang="en-US" sz="638" dirty="0"/>
          </a:p>
        </p:txBody>
      </p:sp>
      <p:sp>
        <p:nvSpPr>
          <p:cNvPr id="61" name="Text 59"/>
          <p:cNvSpPr/>
          <p:nvPr/>
        </p:nvSpPr>
        <p:spPr>
          <a:xfrm>
            <a:off x="3224343" y="3662172"/>
            <a:ext cx="411480" cy="150876"/>
          </a:xfrm>
          <a:prstGeom prst="rect">
            <a:avLst/>
          </a:prstGeom>
          <a:noFill/>
          <a:ln/>
        </p:spPr>
        <p:txBody>
          <a:bodyPr wrap="square" lIns="0" tIns="0" rIns="0" bIns="0" rtlCol="0" anchor="ctr"/>
          <a:lstStyle/>
          <a:p>
            <a:r>
              <a:rPr lang="en-US" sz="600" b="1" dirty="0">
                <a:solidFill>
                  <a:srgbClr val="FB923C"/>
                </a:solidFill>
                <a:latin typeface="Calibri" pitchFamily="34" charset="0"/>
                <a:ea typeface="Calibri" pitchFamily="34" charset="-122"/>
                <a:cs typeface="Calibri" pitchFamily="34" charset="-120"/>
              </a:rPr>
              <a:t>Moat: </a:t>
            </a:r>
            <a:endParaRPr lang="en-US" sz="600" dirty="0"/>
          </a:p>
        </p:txBody>
      </p:sp>
      <p:sp>
        <p:nvSpPr>
          <p:cNvPr id="62" name="Text 60"/>
          <p:cNvSpPr/>
          <p:nvPr/>
        </p:nvSpPr>
        <p:spPr>
          <a:xfrm>
            <a:off x="3615249" y="3662172"/>
            <a:ext cx="2331720" cy="34290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CRM is the largest enterprise SaaS at $36B+ revenue. Agentforce AI agent platform: autonomous AI agents for sales, service, marketing. Data Cloud integrates across enterprise. 150,000+ customers.</a:t>
            </a:r>
            <a:endParaRPr lang="en-US" sz="600" dirty="0"/>
          </a:p>
        </p:txBody>
      </p:sp>
      <p:sp>
        <p:nvSpPr>
          <p:cNvPr id="63" name="Text 61"/>
          <p:cNvSpPr/>
          <p:nvPr/>
        </p:nvSpPr>
        <p:spPr>
          <a:xfrm>
            <a:off x="3224343" y="4032504"/>
            <a:ext cx="548640" cy="150876"/>
          </a:xfrm>
          <a:prstGeom prst="rect">
            <a:avLst/>
          </a:prstGeom>
          <a:noFill/>
          <a:ln/>
        </p:spPr>
        <p:txBody>
          <a:bodyPr wrap="square" lIns="0" tIns="0" rIns="0" bIns="0" rtlCol="0" anchor="ctr"/>
          <a:lstStyle/>
          <a:p>
            <a:r>
              <a:rPr lang="en-US" sz="600" b="1" dirty="0">
                <a:solidFill>
                  <a:srgbClr val="22C55E"/>
                </a:solidFill>
                <a:latin typeface="Calibri" pitchFamily="34" charset="0"/>
                <a:ea typeface="Calibri" pitchFamily="34" charset="-122"/>
                <a:cs typeface="Calibri" pitchFamily="34" charset="-120"/>
              </a:rPr>
              <a:t>Strength: </a:t>
            </a:r>
            <a:endParaRPr lang="en-US" sz="600" dirty="0"/>
          </a:p>
        </p:txBody>
      </p:sp>
      <p:sp>
        <p:nvSpPr>
          <p:cNvPr id="64" name="Text 62"/>
          <p:cNvSpPr/>
          <p:nvPr/>
        </p:nvSpPr>
        <p:spPr>
          <a:xfrm>
            <a:off x="3738693" y="4032504"/>
            <a:ext cx="2208276" cy="30861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Agentforce: 5,000+ customers signed in first quarter. AI agents executing sales workflows autonomously. Record $60B RPO. High margin (~30% FCF). Defensible CRM data moat.</a:t>
            </a:r>
            <a:endParaRPr lang="en-US" sz="600" dirty="0"/>
          </a:p>
        </p:txBody>
      </p:sp>
      <p:sp>
        <p:nvSpPr>
          <p:cNvPr id="65" name="Text 63"/>
          <p:cNvSpPr/>
          <p:nvPr/>
        </p:nvSpPr>
        <p:spPr>
          <a:xfrm>
            <a:off x="3224343" y="4368546"/>
            <a:ext cx="377190" cy="150876"/>
          </a:xfrm>
          <a:prstGeom prst="rect">
            <a:avLst/>
          </a:prstGeom>
          <a:noFill/>
          <a:ln/>
        </p:spPr>
        <p:txBody>
          <a:bodyPr wrap="square" lIns="0" tIns="0" rIns="0" bIns="0" rtlCol="0" anchor="ctr"/>
          <a:lstStyle/>
          <a:p>
            <a:r>
              <a:rPr lang="en-US" sz="600" b="1" dirty="0">
                <a:solidFill>
                  <a:srgbClr val="EF4444"/>
                </a:solidFill>
                <a:latin typeface="Calibri" pitchFamily="34" charset="0"/>
                <a:ea typeface="Calibri" pitchFamily="34" charset="-122"/>
                <a:cs typeface="Calibri" pitchFamily="34" charset="-120"/>
              </a:rPr>
              <a:t>Risk: </a:t>
            </a:r>
            <a:endParaRPr lang="en-US" sz="600" dirty="0"/>
          </a:p>
        </p:txBody>
      </p:sp>
      <p:sp>
        <p:nvSpPr>
          <p:cNvPr id="66" name="Text 64"/>
          <p:cNvSpPr/>
          <p:nvPr/>
        </p:nvSpPr>
        <p:spPr>
          <a:xfrm>
            <a:off x="3580959" y="4368546"/>
            <a:ext cx="2366010" cy="26060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Growth moderating (10–12% YoY). Agentforce adoption slower than expected. Integration of acquisitions (Tableau, Slack, MuleSoft) still messy. Competitive pressure from Microsoft Dynamics + Copilot.</a:t>
            </a:r>
            <a:endParaRPr lang="en-US" sz="600" dirty="0"/>
          </a:p>
        </p:txBody>
      </p:sp>
      <p:sp>
        <p:nvSpPr>
          <p:cNvPr id="67" name="Text 65"/>
          <p:cNvSpPr/>
          <p:nvPr/>
        </p:nvSpPr>
        <p:spPr>
          <a:xfrm>
            <a:off x="3203769" y="4656582"/>
            <a:ext cx="2777490" cy="178308"/>
          </a:xfrm>
          <a:prstGeom prst="rect">
            <a:avLst/>
          </a:prstGeom>
          <a:noFill/>
          <a:ln/>
        </p:spPr>
        <p:txBody>
          <a:bodyPr wrap="square" lIns="0" tIns="0" rIns="0" bIns="0" rtlCol="0" anchor="ctr"/>
          <a:lstStyle/>
          <a:p>
            <a:r>
              <a:rPr lang="en-US" sz="563" b="1" dirty="0">
                <a:solidFill>
                  <a:srgbClr val="F5C842"/>
                </a:solidFill>
                <a:latin typeface="Calibri" pitchFamily="34" charset="0"/>
                <a:ea typeface="Calibri" pitchFamily="34" charset="-122"/>
                <a:cs typeface="Calibri" pitchFamily="34" charset="-120"/>
              </a:rPr>
              <a:t>AGENTFORCE IS THE PIVOT. Salesforce's CRM data moat is real and AI agents are the monetization lever. But execution on Agentforce will define the next 3 years. Largest by revenue but not fastest growing.</a:t>
            </a:r>
            <a:endParaRPr lang="en-US" sz="563" dirty="0"/>
          </a:p>
        </p:txBody>
      </p:sp>
      <p:sp>
        <p:nvSpPr>
          <p:cNvPr id="68" name="Shape 66"/>
          <p:cNvSpPr/>
          <p:nvPr/>
        </p:nvSpPr>
        <p:spPr>
          <a:xfrm>
            <a:off x="6137189" y="3175254"/>
            <a:ext cx="2194560" cy="1714500"/>
          </a:xfrm>
          <a:prstGeom prst="roundRect">
            <a:avLst>
              <a:gd name="adj" fmla="val 3200"/>
            </a:avLst>
          </a:prstGeom>
          <a:solidFill>
            <a:srgbClr val="1A0F0A"/>
          </a:solidFill>
          <a:ln/>
          <a:effectLst>
            <a:outerShdw blurRad="127000" dist="38100" dir="2700000" algn="bl" rotWithShape="0">
              <a:srgbClr val="000000">
                <a:alpha val="30000"/>
              </a:srgbClr>
            </a:outerShdw>
          </a:effectLst>
        </p:spPr>
      </p:sp>
      <p:sp>
        <p:nvSpPr>
          <p:cNvPr id="69" name="Text 67"/>
          <p:cNvSpPr/>
          <p:nvPr/>
        </p:nvSpPr>
        <p:spPr>
          <a:xfrm>
            <a:off x="6240059" y="3243834"/>
            <a:ext cx="2057400" cy="205740"/>
          </a:xfrm>
          <a:prstGeom prst="rect">
            <a:avLst/>
          </a:prstGeom>
          <a:noFill/>
          <a:ln/>
        </p:spPr>
        <p:txBody>
          <a:bodyPr wrap="square" lIns="0" tIns="0" rIns="0" bIns="0" rtlCol="0" anchor="ctr"/>
          <a:lstStyle/>
          <a:p>
            <a:r>
              <a:rPr lang="en-US" sz="750" b="1" dirty="0">
                <a:solidFill>
                  <a:srgbClr val="FB923C"/>
                </a:solidFill>
                <a:latin typeface="Calibri" pitchFamily="34" charset="0"/>
                <a:ea typeface="Calibri" pitchFamily="34" charset="-122"/>
                <a:cs typeface="Calibri" pitchFamily="34" charset="-120"/>
              </a:rPr>
              <a:t>🏆 LAYER WINNER</a:t>
            </a:r>
            <a:endParaRPr lang="en-US" sz="750" dirty="0"/>
          </a:p>
        </p:txBody>
      </p:sp>
      <p:sp>
        <p:nvSpPr>
          <p:cNvPr id="70" name="Text 68"/>
          <p:cNvSpPr/>
          <p:nvPr/>
        </p:nvSpPr>
        <p:spPr>
          <a:xfrm>
            <a:off x="6240059" y="3470148"/>
            <a:ext cx="2057400" cy="356616"/>
          </a:xfrm>
          <a:prstGeom prst="rect">
            <a:avLst/>
          </a:prstGeom>
          <a:noFill/>
          <a:ln/>
        </p:spPr>
        <p:txBody>
          <a:bodyPr wrap="square" lIns="0" tIns="0" rIns="0" bIns="0" rtlCol="0" anchor="ctr"/>
          <a:lstStyle/>
          <a:p>
            <a:r>
              <a:rPr lang="en-US" sz="2250" b="1" dirty="0">
                <a:solidFill>
                  <a:srgbClr val="F5C842"/>
                </a:solidFill>
                <a:latin typeface="Cambria" pitchFamily="34" charset="0"/>
                <a:ea typeface="Cambria" pitchFamily="34" charset="-122"/>
                <a:cs typeface="Cambria" pitchFamily="34" charset="-120"/>
              </a:rPr>
              <a:t>$PLTR</a:t>
            </a:r>
            <a:endParaRPr lang="en-US" sz="2250" dirty="0"/>
          </a:p>
        </p:txBody>
      </p:sp>
      <p:sp>
        <p:nvSpPr>
          <p:cNvPr id="71" name="Text 69"/>
          <p:cNvSpPr/>
          <p:nvPr/>
        </p:nvSpPr>
        <p:spPr>
          <a:xfrm>
            <a:off x="6240059" y="3813048"/>
            <a:ext cx="2057400" cy="192024"/>
          </a:xfrm>
          <a:prstGeom prst="rect">
            <a:avLst/>
          </a:prstGeom>
          <a:noFill/>
          <a:ln/>
        </p:spPr>
        <p:txBody>
          <a:bodyPr wrap="square" lIns="0" tIns="0" rIns="0" bIns="0" rtlCol="0" anchor="ctr"/>
          <a:lstStyle/>
          <a:p>
            <a:r>
              <a:rPr lang="en-US" sz="825" dirty="0">
                <a:solidFill>
                  <a:srgbClr val="FFFFFF"/>
                </a:solidFill>
                <a:latin typeface="Calibri" pitchFamily="34" charset="0"/>
                <a:ea typeface="Calibri" pitchFamily="34" charset="-122"/>
                <a:cs typeface="Calibri" pitchFamily="34" charset="-120"/>
              </a:rPr>
              <a:t>Palantir Technologies</a:t>
            </a:r>
            <a:endParaRPr lang="en-US" sz="825" dirty="0"/>
          </a:p>
        </p:txBody>
      </p:sp>
      <p:sp>
        <p:nvSpPr>
          <p:cNvPr id="72" name="Text 70"/>
          <p:cNvSpPr/>
          <p:nvPr/>
        </p:nvSpPr>
        <p:spPr>
          <a:xfrm>
            <a:off x="6240059" y="4032504"/>
            <a:ext cx="2057400" cy="809244"/>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Why it wins: AIP is the only enterprise platform that turns raw AI into operational decisions at government-grade reliability. 85% YoY growth, $11.8B RPV, US Commercial +121% YoY. The only pure-play AI software with a genuine product moat. Wildcard: TSLA for physical AI / robotics.</a:t>
            </a:r>
            <a:endParaRPr lang="en-US" sz="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6B6D4">
              <a:alpha val="80000"/>
            </a:srgbClr>
          </a:solidFill>
          <a:ln/>
        </p:spPr>
      </p:sp>
      <p:sp>
        <p:nvSpPr>
          <p:cNvPr id="3" name="Shape 1"/>
          <p:cNvSpPr/>
          <p:nvPr/>
        </p:nvSpPr>
        <p:spPr>
          <a:xfrm>
            <a:off x="0" y="0"/>
            <a:ext cx="9144000" cy="64008"/>
          </a:xfrm>
          <a:prstGeom prst="rect">
            <a:avLst/>
          </a:prstGeom>
          <a:solidFill>
            <a:srgbClr val="06B6D4"/>
          </a:solidFill>
          <a:ln/>
        </p:spPr>
      </p:sp>
      <p:sp>
        <p:nvSpPr>
          <p:cNvPr id="4" name="Text 2"/>
          <p:cNvSpPr/>
          <p:nvPr/>
        </p:nvSpPr>
        <p:spPr>
          <a:xfrm>
            <a:off x="182880" y="64008"/>
            <a:ext cx="8778240" cy="548640"/>
          </a:xfrm>
          <a:prstGeom prst="rect">
            <a:avLst/>
          </a:prstGeom>
          <a:noFill/>
          <a:ln/>
        </p:spPr>
        <p:txBody>
          <a:bodyPr wrap="square" rtlCol="0" anchor="ctr"/>
          <a:lstStyle/>
          <a:p>
            <a:pPr marL="0" indent="0">
              <a:buNone/>
            </a:pPr>
            <a:r>
              <a:rPr lang="en-US" sz="1300" b="1" dirty="0">
                <a:solidFill>
                  <a:srgbClr val="FFFFFF"/>
                </a:solidFill>
              </a:rPr>
              <a:t>AI MODELS &amp; PLATFORMS — PALANTIR (PLTR)</a:t>
            </a:r>
            <a:endParaRPr lang="en-US" sz="1300" dirty="0"/>
          </a:p>
        </p:txBody>
      </p:sp>
      <p:sp>
        <p:nvSpPr>
          <p:cNvPr id="5" name="Text 3"/>
          <p:cNvSpPr/>
          <p:nvPr/>
        </p:nvSpPr>
        <p:spPr>
          <a:xfrm>
            <a:off x="182880" y="667512"/>
            <a:ext cx="8778240" cy="274320"/>
          </a:xfrm>
          <a:prstGeom prst="rect">
            <a:avLst/>
          </a:prstGeom>
          <a:noFill/>
          <a:ln/>
        </p:spPr>
        <p:txBody>
          <a:bodyPr wrap="square" rtlCol="0" anchor="ctr"/>
          <a:lstStyle/>
          <a:p>
            <a:pPr marL="0" indent="0">
              <a:buNone/>
            </a:pPr>
            <a:r>
              <a:rPr lang="en-US" sz="1100" i="1" dirty="0">
                <a:solidFill>
                  <a:srgbClr val="06B6D4"/>
                </a:solidFill>
              </a:rPr>
              <a:t>Enterprise AI Operating System — AIP is the central nervous system for both government and commercial AI deployment</a:t>
            </a:r>
            <a:endParaRPr lang="en-US" sz="1100" dirty="0"/>
          </a:p>
        </p:txBody>
      </p:sp>
      <p:sp>
        <p:nvSpPr>
          <p:cNvPr id="6" name="Shape 4"/>
          <p:cNvSpPr/>
          <p:nvPr/>
        </p:nvSpPr>
        <p:spPr>
          <a:xfrm>
            <a:off x="182880" y="960120"/>
            <a:ext cx="914400" cy="274320"/>
          </a:xfrm>
          <a:prstGeom prst="rect">
            <a:avLst/>
          </a:prstGeom>
          <a:solidFill>
            <a:srgbClr val="06B6D4"/>
          </a:solidFill>
          <a:ln/>
        </p:spPr>
      </p:sp>
      <p:sp>
        <p:nvSpPr>
          <p:cNvPr id="7" name="Text 5"/>
          <p:cNvSpPr/>
          <p:nvPr/>
        </p:nvSpPr>
        <p:spPr>
          <a:xfrm>
            <a:off x="210312" y="960120"/>
            <a:ext cx="859536" cy="274320"/>
          </a:xfrm>
          <a:prstGeom prst="rect">
            <a:avLst/>
          </a:prstGeom>
          <a:noFill/>
          <a:ln/>
        </p:spPr>
        <p:txBody>
          <a:bodyPr wrap="square" rtlCol="0" anchor="ctr"/>
          <a:lstStyle/>
          <a:p>
            <a:pPr marL="0" indent="0">
              <a:buNone/>
            </a:pPr>
            <a:r>
              <a:rPr lang="en-US" sz="900" b="1" dirty="0">
                <a:solidFill>
                  <a:srgbClr val="050A1A"/>
                </a:solidFill>
              </a:rPr>
              <a:t>Period</a:t>
            </a:r>
            <a:endParaRPr lang="en-US" sz="900" dirty="0"/>
          </a:p>
        </p:txBody>
      </p:sp>
      <p:sp>
        <p:nvSpPr>
          <p:cNvPr id="8" name="Shape 6"/>
          <p:cNvSpPr/>
          <p:nvPr/>
        </p:nvSpPr>
        <p:spPr>
          <a:xfrm>
            <a:off x="1097280" y="960120"/>
            <a:ext cx="822960" cy="274320"/>
          </a:xfrm>
          <a:prstGeom prst="rect">
            <a:avLst/>
          </a:prstGeom>
          <a:solidFill>
            <a:srgbClr val="06B6D4"/>
          </a:solidFill>
          <a:ln/>
        </p:spPr>
      </p:sp>
      <p:sp>
        <p:nvSpPr>
          <p:cNvPr id="9" name="Text 7"/>
          <p:cNvSpPr/>
          <p:nvPr/>
        </p:nvSpPr>
        <p:spPr>
          <a:xfrm>
            <a:off x="1124712" y="960120"/>
            <a:ext cx="768096" cy="274320"/>
          </a:xfrm>
          <a:prstGeom prst="rect">
            <a:avLst/>
          </a:prstGeom>
          <a:noFill/>
          <a:ln/>
        </p:spPr>
        <p:txBody>
          <a:bodyPr wrap="square" rtlCol="0" anchor="ctr"/>
          <a:lstStyle/>
          <a:p>
            <a:pPr marL="0" indent="0">
              <a:buNone/>
            </a:pPr>
            <a:r>
              <a:rPr lang="en-US" sz="900" b="1" dirty="0">
                <a:solidFill>
                  <a:srgbClr val="050A1A"/>
                </a:solidFill>
              </a:rPr>
              <a:t>Revenue</a:t>
            </a:r>
            <a:endParaRPr lang="en-US" sz="900" dirty="0"/>
          </a:p>
        </p:txBody>
      </p:sp>
      <p:sp>
        <p:nvSpPr>
          <p:cNvPr id="10" name="Shape 8"/>
          <p:cNvSpPr/>
          <p:nvPr/>
        </p:nvSpPr>
        <p:spPr>
          <a:xfrm>
            <a:off x="1920240" y="960120"/>
            <a:ext cx="822960" cy="274320"/>
          </a:xfrm>
          <a:prstGeom prst="rect">
            <a:avLst/>
          </a:prstGeom>
          <a:solidFill>
            <a:srgbClr val="06B6D4"/>
          </a:solidFill>
          <a:ln/>
        </p:spPr>
      </p:sp>
      <p:sp>
        <p:nvSpPr>
          <p:cNvPr id="11" name="Text 9"/>
          <p:cNvSpPr/>
          <p:nvPr/>
        </p:nvSpPr>
        <p:spPr>
          <a:xfrm>
            <a:off x="1947672" y="960120"/>
            <a:ext cx="768096" cy="274320"/>
          </a:xfrm>
          <a:prstGeom prst="rect">
            <a:avLst/>
          </a:prstGeom>
          <a:noFill/>
          <a:ln/>
        </p:spPr>
        <p:txBody>
          <a:bodyPr wrap="square" rtlCol="0" anchor="ctr"/>
          <a:lstStyle/>
          <a:p>
            <a:pPr marL="0" indent="0">
              <a:buNone/>
            </a:pPr>
            <a:r>
              <a:rPr lang="en-US" sz="900" b="1" dirty="0">
                <a:solidFill>
                  <a:srgbClr val="050A1A"/>
                </a:solidFill>
              </a:rPr>
              <a:t>YoY Growth</a:t>
            </a:r>
            <a:endParaRPr lang="en-US" sz="900" dirty="0"/>
          </a:p>
        </p:txBody>
      </p:sp>
      <p:sp>
        <p:nvSpPr>
          <p:cNvPr id="12" name="Shape 10"/>
          <p:cNvSpPr/>
          <p:nvPr/>
        </p:nvSpPr>
        <p:spPr>
          <a:xfrm>
            <a:off x="2743200" y="960120"/>
            <a:ext cx="1371600" cy="274320"/>
          </a:xfrm>
          <a:prstGeom prst="rect">
            <a:avLst/>
          </a:prstGeom>
          <a:solidFill>
            <a:srgbClr val="06B6D4"/>
          </a:solidFill>
          <a:ln/>
        </p:spPr>
      </p:sp>
      <p:sp>
        <p:nvSpPr>
          <p:cNvPr id="13" name="Text 11"/>
          <p:cNvSpPr/>
          <p:nvPr/>
        </p:nvSpPr>
        <p:spPr>
          <a:xfrm>
            <a:off x="2770632" y="960120"/>
            <a:ext cx="1316736" cy="274320"/>
          </a:xfrm>
          <a:prstGeom prst="rect">
            <a:avLst/>
          </a:prstGeom>
          <a:noFill/>
          <a:ln/>
        </p:spPr>
        <p:txBody>
          <a:bodyPr wrap="square" rtlCol="0" anchor="ctr"/>
          <a:lstStyle/>
          <a:p>
            <a:pPr marL="0" indent="0">
              <a:buNone/>
            </a:pPr>
            <a:r>
              <a:rPr lang="en-US" sz="900" b="1" dirty="0">
                <a:solidFill>
                  <a:srgbClr val="050A1A"/>
                </a:solidFill>
              </a:rPr>
              <a:t>US Comm</a:t>
            </a:r>
            <a:endParaRPr lang="en-US" sz="900" dirty="0"/>
          </a:p>
        </p:txBody>
      </p:sp>
      <p:sp>
        <p:nvSpPr>
          <p:cNvPr id="14" name="Shape 12"/>
          <p:cNvSpPr/>
          <p:nvPr/>
        </p:nvSpPr>
        <p:spPr>
          <a:xfrm>
            <a:off x="4114800" y="960120"/>
            <a:ext cx="2743200" cy="274320"/>
          </a:xfrm>
          <a:prstGeom prst="rect">
            <a:avLst/>
          </a:prstGeom>
          <a:solidFill>
            <a:srgbClr val="06B6D4"/>
          </a:solidFill>
          <a:ln/>
        </p:spPr>
      </p:sp>
      <p:sp>
        <p:nvSpPr>
          <p:cNvPr id="15" name="Text 13"/>
          <p:cNvSpPr/>
          <p:nvPr/>
        </p:nvSpPr>
        <p:spPr>
          <a:xfrm>
            <a:off x="4142232" y="960120"/>
            <a:ext cx="2688336" cy="274320"/>
          </a:xfrm>
          <a:prstGeom prst="rect">
            <a:avLst/>
          </a:prstGeom>
          <a:noFill/>
          <a:ln/>
        </p:spPr>
        <p:txBody>
          <a:bodyPr wrap="square" rtlCol="0" anchor="ctr"/>
          <a:lstStyle/>
          <a:p>
            <a:pPr marL="0" indent="0">
              <a:buNone/>
            </a:pPr>
            <a:r>
              <a:rPr lang="en-US" sz="900" b="1" dirty="0">
                <a:solidFill>
                  <a:srgbClr val="050A1A"/>
                </a:solidFill>
              </a:rPr>
              <a:t>Key Milestone</a:t>
            </a:r>
            <a:endParaRPr lang="en-US" sz="900" dirty="0"/>
          </a:p>
        </p:txBody>
      </p:sp>
      <p:sp>
        <p:nvSpPr>
          <p:cNvPr id="16" name="Shape 14"/>
          <p:cNvSpPr/>
          <p:nvPr/>
        </p:nvSpPr>
        <p:spPr>
          <a:xfrm>
            <a:off x="182880" y="1234440"/>
            <a:ext cx="914400" cy="347472"/>
          </a:xfrm>
          <a:prstGeom prst="rect">
            <a:avLst/>
          </a:prstGeom>
          <a:solidFill>
            <a:srgbClr val="0F1F3D"/>
          </a:solidFill>
          <a:ln/>
        </p:spPr>
      </p:sp>
      <p:sp>
        <p:nvSpPr>
          <p:cNvPr id="17" name="Text 15"/>
          <p:cNvSpPr/>
          <p:nvPr/>
        </p:nvSpPr>
        <p:spPr>
          <a:xfrm>
            <a:off x="219456" y="1234440"/>
            <a:ext cx="841248" cy="347472"/>
          </a:xfrm>
          <a:prstGeom prst="rect">
            <a:avLst/>
          </a:prstGeom>
          <a:noFill/>
          <a:ln/>
        </p:spPr>
        <p:txBody>
          <a:bodyPr wrap="square" rtlCol="0" anchor="ctr"/>
          <a:lstStyle/>
          <a:p>
            <a:pPr marL="0" indent="0">
              <a:buNone/>
            </a:pPr>
            <a:r>
              <a:rPr lang="en-US" sz="900" b="1" dirty="0">
                <a:solidFill>
                  <a:srgbClr val="E2E8F0"/>
                </a:solidFill>
              </a:rPr>
              <a:t>Q4 2024</a:t>
            </a:r>
            <a:endParaRPr lang="en-US" sz="900" dirty="0"/>
          </a:p>
        </p:txBody>
      </p:sp>
      <p:sp>
        <p:nvSpPr>
          <p:cNvPr id="18" name="Shape 16"/>
          <p:cNvSpPr/>
          <p:nvPr/>
        </p:nvSpPr>
        <p:spPr>
          <a:xfrm>
            <a:off x="1097280" y="1234440"/>
            <a:ext cx="822960" cy="347472"/>
          </a:xfrm>
          <a:prstGeom prst="rect">
            <a:avLst/>
          </a:prstGeom>
          <a:solidFill>
            <a:srgbClr val="0F1F3D"/>
          </a:solidFill>
          <a:ln/>
        </p:spPr>
      </p:sp>
      <p:sp>
        <p:nvSpPr>
          <p:cNvPr id="19" name="Text 17"/>
          <p:cNvSpPr/>
          <p:nvPr/>
        </p:nvSpPr>
        <p:spPr>
          <a:xfrm>
            <a:off x="1133856" y="1234440"/>
            <a:ext cx="749808" cy="347472"/>
          </a:xfrm>
          <a:prstGeom prst="rect">
            <a:avLst/>
          </a:prstGeom>
          <a:noFill/>
          <a:ln/>
        </p:spPr>
        <p:txBody>
          <a:bodyPr wrap="square" rtlCol="0" anchor="ctr"/>
          <a:lstStyle/>
          <a:p>
            <a:pPr marL="0" indent="0">
              <a:buNone/>
            </a:pPr>
            <a:r>
              <a:rPr lang="en-US" sz="900" b="1" dirty="0">
                <a:solidFill>
                  <a:srgbClr val="FFFFFF"/>
                </a:solidFill>
              </a:rPr>
              <a:t>$828M</a:t>
            </a:r>
            <a:endParaRPr lang="en-US" sz="900" dirty="0"/>
          </a:p>
        </p:txBody>
      </p:sp>
      <p:sp>
        <p:nvSpPr>
          <p:cNvPr id="20" name="Shape 18"/>
          <p:cNvSpPr/>
          <p:nvPr/>
        </p:nvSpPr>
        <p:spPr>
          <a:xfrm>
            <a:off x="1920240" y="1234440"/>
            <a:ext cx="822960" cy="347472"/>
          </a:xfrm>
          <a:prstGeom prst="rect">
            <a:avLst/>
          </a:prstGeom>
          <a:solidFill>
            <a:srgbClr val="0F1F3D"/>
          </a:solidFill>
          <a:ln/>
        </p:spPr>
      </p:sp>
      <p:sp>
        <p:nvSpPr>
          <p:cNvPr id="21" name="Text 19"/>
          <p:cNvSpPr/>
          <p:nvPr/>
        </p:nvSpPr>
        <p:spPr>
          <a:xfrm>
            <a:off x="1956816" y="1234440"/>
            <a:ext cx="749808" cy="347472"/>
          </a:xfrm>
          <a:prstGeom prst="rect">
            <a:avLst/>
          </a:prstGeom>
          <a:noFill/>
          <a:ln/>
        </p:spPr>
        <p:txBody>
          <a:bodyPr wrap="square" rtlCol="0" anchor="ctr"/>
          <a:lstStyle/>
          <a:p>
            <a:pPr marL="0" indent="0">
              <a:buNone/>
            </a:pPr>
            <a:r>
              <a:rPr lang="en-US" sz="900" dirty="0">
                <a:solidFill>
                  <a:srgbClr val="10B981"/>
                </a:solidFill>
              </a:rPr>
              <a:t>+36% YoY</a:t>
            </a:r>
            <a:endParaRPr lang="en-US" sz="900" dirty="0"/>
          </a:p>
        </p:txBody>
      </p:sp>
      <p:sp>
        <p:nvSpPr>
          <p:cNvPr id="22" name="Shape 20"/>
          <p:cNvSpPr/>
          <p:nvPr/>
        </p:nvSpPr>
        <p:spPr>
          <a:xfrm>
            <a:off x="2743200" y="1234440"/>
            <a:ext cx="1371600" cy="347472"/>
          </a:xfrm>
          <a:prstGeom prst="rect">
            <a:avLst/>
          </a:prstGeom>
          <a:solidFill>
            <a:srgbClr val="0F1F3D"/>
          </a:solidFill>
          <a:ln/>
        </p:spPr>
      </p:sp>
      <p:sp>
        <p:nvSpPr>
          <p:cNvPr id="23" name="Text 21"/>
          <p:cNvSpPr/>
          <p:nvPr/>
        </p:nvSpPr>
        <p:spPr>
          <a:xfrm>
            <a:off x="2779776" y="1234440"/>
            <a:ext cx="1298448" cy="347472"/>
          </a:xfrm>
          <a:prstGeom prst="rect">
            <a:avLst/>
          </a:prstGeom>
          <a:noFill/>
          <a:ln/>
        </p:spPr>
        <p:txBody>
          <a:bodyPr wrap="square" rtlCol="0" anchor="ctr"/>
          <a:lstStyle/>
          <a:p>
            <a:pPr marL="0" indent="0">
              <a:buNone/>
            </a:pPr>
            <a:r>
              <a:rPr lang="en-US" sz="900" dirty="0">
                <a:solidFill>
                  <a:srgbClr val="E2E8F0"/>
                </a:solidFill>
              </a:rPr>
              <a:t>US Comm +64% YoY</a:t>
            </a:r>
            <a:endParaRPr lang="en-US" sz="900" dirty="0"/>
          </a:p>
        </p:txBody>
      </p:sp>
      <p:sp>
        <p:nvSpPr>
          <p:cNvPr id="24" name="Shape 22"/>
          <p:cNvSpPr/>
          <p:nvPr/>
        </p:nvSpPr>
        <p:spPr>
          <a:xfrm>
            <a:off x="4114800" y="1234440"/>
            <a:ext cx="2743200" cy="347472"/>
          </a:xfrm>
          <a:prstGeom prst="rect">
            <a:avLst/>
          </a:prstGeom>
          <a:solidFill>
            <a:srgbClr val="0F1F3D"/>
          </a:solidFill>
          <a:ln/>
        </p:spPr>
      </p:sp>
      <p:sp>
        <p:nvSpPr>
          <p:cNvPr id="25" name="Text 23"/>
          <p:cNvSpPr/>
          <p:nvPr/>
        </p:nvSpPr>
        <p:spPr>
          <a:xfrm>
            <a:off x="4151376" y="1234440"/>
            <a:ext cx="2670048" cy="347472"/>
          </a:xfrm>
          <a:prstGeom prst="rect">
            <a:avLst/>
          </a:prstGeom>
          <a:noFill/>
          <a:ln/>
        </p:spPr>
        <p:txBody>
          <a:bodyPr wrap="square" rtlCol="0" anchor="ctr"/>
          <a:lstStyle/>
          <a:p>
            <a:pPr marL="0" indent="0">
              <a:buNone/>
            </a:pPr>
            <a:r>
              <a:rPr lang="en-US" sz="900" dirty="0">
                <a:solidFill>
                  <a:srgbClr val="E2E8F0"/>
                </a:solidFill>
              </a:rPr>
              <a:t>First $800M+ quarter</a:t>
            </a:r>
            <a:endParaRPr lang="en-US" sz="900" dirty="0"/>
          </a:p>
        </p:txBody>
      </p:sp>
      <p:sp>
        <p:nvSpPr>
          <p:cNvPr id="26" name="Shape 24"/>
          <p:cNvSpPr/>
          <p:nvPr/>
        </p:nvSpPr>
        <p:spPr>
          <a:xfrm>
            <a:off x="182880" y="1618488"/>
            <a:ext cx="914400" cy="347472"/>
          </a:xfrm>
          <a:prstGeom prst="rect">
            <a:avLst/>
          </a:prstGeom>
          <a:solidFill>
            <a:srgbClr val="0A1628"/>
          </a:solidFill>
          <a:ln/>
        </p:spPr>
      </p:sp>
      <p:sp>
        <p:nvSpPr>
          <p:cNvPr id="27" name="Text 25"/>
          <p:cNvSpPr/>
          <p:nvPr/>
        </p:nvSpPr>
        <p:spPr>
          <a:xfrm>
            <a:off x="219456" y="1618488"/>
            <a:ext cx="841248" cy="347472"/>
          </a:xfrm>
          <a:prstGeom prst="rect">
            <a:avLst/>
          </a:prstGeom>
          <a:noFill/>
          <a:ln/>
        </p:spPr>
        <p:txBody>
          <a:bodyPr wrap="square" rtlCol="0" anchor="ctr"/>
          <a:lstStyle/>
          <a:p>
            <a:pPr marL="0" indent="0">
              <a:buNone/>
            </a:pPr>
            <a:r>
              <a:rPr lang="en-US" sz="900" b="1" dirty="0">
                <a:solidFill>
                  <a:srgbClr val="E2E8F0"/>
                </a:solidFill>
              </a:rPr>
              <a:t>Q1 2025</a:t>
            </a:r>
            <a:endParaRPr lang="en-US" sz="900" dirty="0"/>
          </a:p>
        </p:txBody>
      </p:sp>
      <p:sp>
        <p:nvSpPr>
          <p:cNvPr id="28" name="Shape 26"/>
          <p:cNvSpPr/>
          <p:nvPr/>
        </p:nvSpPr>
        <p:spPr>
          <a:xfrm>
            <a:off x="1097280" y="1618488"/>
            <a:ext cx="822960" cy="347472"/>
          </a:xfrm>
          <a:prstGeom prst="rect">
            <a:avLst/>
          </a:prstGeom>
          <a:solidFill>
            <a:srgbClr val="0A1628"/>
          </a:solidFill>
          <a:ln/>
        </p:spPr>
      </p:sp>
      <p:sp>
        <p:nvSpPr>
          <p:cNvPr id="29" name="Text 27"/>
          <p:cNvSpPr/>
          <p:nvPr/>
        </p:nvSpPr>
        <p:spPr>
          <a:xfrm>
            <a:off x="1133856" y="1618488"/>
            <a:ext cx="749808" cy="347472"/>
          </a:xfrm>
          <a:prstGeom prst="rect">
            <a:avLst/>
          </a:prstGeom>
          <a:noFill/>
          <a:ln/>
        </p:spPr>
        <p:txBody>
          <a:bodyPr wrap="square" rtlCol="0" anchor="ctr"/>
          <a:lstStyle/>
          <a:p>
            <a:pPr marL="0" indent="0">
              <a:buNone/>
            </a:pPr>
            <a:r>
              <a:rPr lang="en-US" sz="900" b="1" dirty="0">
                <a:solidFill>
                  <a:srgbClr val="FFFFFF"/>
                </a:solidFill>
              </a:rPr>
              <a:t>$884M</a:t>
            </a:r>
            <a:endParaRPr lang="en-US" sz="900" dirty="0"/>
          </a:p>
        </p:txBody>
      </p:sp>
      <p:sp>
        <p:nvSpPr>
          <p:cNvPr id="30" name="Shape 28"/>
          <p:cNvSpPr/>
          <p:nvPr/>
        </p:nvSpPr>
        <p:spPr>
          <a:xfrm>
            <a:off x="1920240" y="1618488"/>
            <a:ext cx="822960" cy="347472"/>
          </a:xfrm>
          <a:prstGeom prst="rect">
            <a:avLst/>
          </a:prstGeom>
          <a:solidFill>
            <a:srgbClr val="0A1628"/>
          </a:solidFill>
          <a:ln/>
        </p:spPr>
      </p:sp>
      <p:sp>
        <p:nvSpPr>
          <p:cNvPr id="31" name="Text 29"/>
          <p:cNvSpPr/>
          <p:nvPr/>
        </p:nvSpPr>
        <p:spPr>
          <a:xfrm>
            <a:off x="1956816" y="1618488"/>
            <a:ext cx="749808" cy="347472"/>
          </a:xfrm>
          <a:prstGeom prst="rect">
            <a:avLst/>
          </a:prstGeom>
          <a:noFill/>
          <a:ln/>
        </p:spPr>
        <p:txBody>
          <a:bodyPr wrap="square" rtlCol="0" anchor="ctr"/>
          <a:lstStyle/>
          <a:p>
            <a:pPr marL="0" indent="0">
              <a:buNone/>
            </a:pPr>
            <a:r>
              <a:rPr lang="en-US" sz="900" dirty="0">
                <a:solidFill>
                  <a:srgbClr val="10B981"/>
                </a:solidFill>
              </a:rPr>
              <a:t>+39% YoY</a:t>
            </a:r>
            <a:endParaRPr lang="en-US" sz="900" dirty="0"/>
          </a:p>
        </p:txBody>
      </p:sp>
      <p:sp>
        <p:nvSpPr>
          <p:cNvPr id="32" name="Shape 30"/>
          <p:cNvSpPr/>
          <p:nvPr/>
        </p:nvSpPr>
        <p:spPr>
          <a:xfrm>
            <a:off x="2743200" y="1618488"/>
            <a:ext cx="1371600" cy="347472"/>
          </a:xfrm>
          <a:prstGeom prst="rect">
            <a:avLst/>
          </a:prstGeom>
          <a:solidFill>
            <a:srgbClr val="0A1628"/>
          </a:solidFill>
          <a:ln/>
        </p:spPr>
      </p:sp>
      <p:sp>
        <p:nvSpPr>
          <p:cNvPr id="33" name="Text 31"/>
          <p:cNvSpPr/>
          <p:nvPr/>
        </p:nvSpPr>
        <p:spPr>
          <a:xfrm>
            <a:off x="2779776" y="1618488"/>
            <a:ext cx="1298448" cy="347472"/>
          </a:xfrm>
          <a:prstGeom prst="rect">
            <a:avLst/>
          </a:prstGeom>
          <a:noFill/>
          <a:ln/>
        </p:spPr>
        <p:txBody>
          <a:bodyPr wrap="square" rtlCol="0" anchor="ctr"/>
          <a:lstStyle/>
          <a:p>
            <a:pPr marL="0" indent="0">
              <a:buNone/>
            </a:pPr>
            <a:r>
              <a:rPr lang="en-US" sz="900" dirty="0">
                <a:solidFill>
                  <a:srgbClr val="E2E8F0"/>
                </a:solidFill>
              </a:rPr>
              <a:t>US Comm +71% YoY</a:t>
            </a:r>
            <a:endParaRPr lang="en-US" sz="900" dirty="0"/>
          </a:p>
        </p:txBody>
      </p:sp>
      <p:sp>
        <p:nvSpPr>
          <p:cNvPr id="34" name="Shape 32"/>
          <p:cNvSpPr/>
          <p:nvPr/>
        </p:nvSpPr>
        <p:spPr>
          <a:xfrm>
            <a:off x="4114800" y="1618488"/>
            <a:ext cx="2743200" cy="347472"/>
          </a:xfrm>
          <a:prstGeom prst="rect">
            <a:avLst/>
          </a:prstGeom>
          <a:solidFill>
            <a:srgbClr val="0A1628"/>
          </a:solidFill>
          <a:ln/>
        </p:spPr>
      </p:sp>
      <p:sp>
        <p:nvSpPr>
          <p:cNvPr id="35" name="Text 33"/>
          <p:cNvSpPr/>
          <p:nvPr/>
        </p:nvSpPr>
        <p:spPr>
          <a:xfrm>
            <a:off x="4151376" y="1618488"/>
            <a:ext cx="2670048" cy="347472"/>
          </a:xfrm>
          <a:prstGeom prst="rect">
            <a:avLst/>
          </a:prstGeom>
          <a:noFill/>
          <a:ln/>
        </p:spPr>
        <p:txBody>
          <a:bodyPr wrap="square" rtlCol="0" anchor="ctr"/>
          <a:lstStyle/>
          <a:p>
            <a:pPr marL="0" indent="0">
              <a:buNone/>
            </a:pPr>
            <a:r>
              <a:rPr lang="en-US" sz="900" dirty="0">
                <a:solidFill>
                  <a:srgbClr val="E2E8F0"/>
                </a:solidFill>
              </a:rPr>
              <a:t>AIP bootcamp driving enterprise deals</a:t>
            </a:r>
            <a:endParaRPr lang="en-US" sz="900" dirty="0"/>
          </a:p>
        </p:txBody>
      </p:sp>
      <p:sp>
        <p:nvSpPr>
          <p:cNvPr id="36" name="Shape 34"/>
          <p:cNvSpPr/>
          <p:nvPr/>
        </p:nvSpPr>
        <p:spPr>
          <a:xfrm>
            <a:off x="182880" y="2002536"/>
            <a:ext cx="914400" cy="347472"/>
          </a:xfrm>
          <a:prstGeom prst="rect">
            <a:avLst/>
          </a:prstGeom>
          <a:solidFill>
            <a:srgbClr val="0F1F3D"/>
          </a:solidFill>
          <a:ln/>
        </p:spPr>
      </p:sp>
      <p:sp>
        <p:nvSpPr>
          <p:cNvPr id="37" name="Text 35"/>
          <p:cNvSpPr/>
          <p:nvPr/>
        </p:nvSpPr>
        <p:spPr>
          <a:xfrm>
            <a:off x="219456" y="2002536"/>
            <a:ext cx="841248" cy="347472"/>
          </a:xfrm>
          <a:prstGeom prst="rect">
            <a:avLst/>
          </a:prstGeom>
          <a:noFill/>
          <a:ln/>
        </p:spPr>
        <p:txBody>
          <a:bodyPr wrap="square" rtlCol="0" anchor="ctr"/>
          <a:lstStyle/>
          <a:p>
            <a:pPr marL="0" indent="0">
              <a:buNone/>
            </a:pPr>
            <a:r>
              <a:rPr lang="en-US" sz="900" b="1" dirty="0">
                <a:solidFill>
                  <a:srgbClr val="E2E8F0"/>
                </a:solidFill>
              </a:rPr>
              <a:t>Q2 2025</a:t>
            </a:r>
            <a:endParaRPr lang="en-US" sz="900" dirty="0"/>
          </a:p>
        </p:txBody>
      </p:sp>
      <p:sp>
        <p:nvSpPr>
          <p:cNvPr id="38" name="Shape 36"/>
          <p:cNvSpPr/>
          <p:nvPr/>
        </p:nvSpPr>
        <p:spPr>
          <a:xfrm>
            <a:off x="1097280" y="2002536"/>
            <a:ext cx="822960" cy="347472"/>
          </a:xfrm>
          <a:prstGeom prst="rect">
            <a:avLst/>
          </a:prstGeom>
          <a:solidFill>
            <a:srgbClr val="0F1F3D"/>
          </a:solidFill>
          <a:ln/>
        </p:spPr>
      </p:sp>
      <p:sp>
        <p:nvSpPr>
          <p:cNvPr id="39" name="Text 37"/>
          <p:cNvSpPr/>
          <p:nvPr/>
        </p:nvSpPr>
        <p:spPr>
          <a:xfrm>
            <a:off x="1133856" y="2002536"/>
            <a:ext cx="749808" cy="347472"/>
          </a:xfrm>
          <a:prstGeom prst="rect">
            <a:avLst/>
          </a:prstGeom>
          <a:noFill/>
          <a:ln/>
        </p:spPr>
        <p:txBody>
          <a:bodyPr wrap="square" rtlCol="0" anchor="ctr"/>
          <a:lstStyle/>
          <a:p>
            <a:pPr marL="0" indent="0">
              <a:buNone/>
            </a:pPr>
            <a:r>
              <a:rPr lang="en-US" sz="900" b="1" dirty="0">
                <a:solidFill>
                  <a:srgbClr val="FFFFFF"/>
                </a:solidFill>
              </a:rPr>
              <a:t>$1.004B</a:t>
            </a:r>
            <a:endParaRPr lang="en-US" sz="900" dirty="0"/>
          </a:p>
        </p:txBody>
      </p:sp>
      <p:sp>
        <p:nvSpPr>
          <p:cNvPr id="40" name="Shape 38"/>
          <p:cNvSpPr/>
          <p:nvPr/>
        </p:nvSpPr>
        <p:spPr>
          <a:xfrm>
            <a:off x="1920240" y="2002536"/>
            <a:ext cx="822960" cy="347472"/>
          </a:xfrm>
          <a:prstGeom prst="rect">
            <a:avLst/>
          </a:prstGeom>
          <a:solidFill>
            <a:srgbClr val="0F1F3D"/>
          </a:solidFill>
          <a:ln/>
        </p:spPr>
      </p:sp>
      <p:sp>
        <p:nvSpPr>
          <p:cNvPr id="41" name="Text 39"/>
          <p:cNvSpPr/>
          <p:nvPr/>
        </p:nvSpPr>
        <p:spPr>
          <a:xfrm>
            <a:off x="1956816" y="2002536"/>
            <a:ext cx="749808" cy="347472"/>
          </a:xfrm>
          <a:prstGeom prst="rect">
            <a:avLst/>
          </a:prstGeom>
          <a:noFill/>
          <a:ln/>
        </p:spPr>
        <p:txBody>
          <a:bodyPr wrap="square" rtlCol="0" anchor="ctr"/>
          <a:lstStyle/>
          <a:p>
            <a:pPr marL="0" indent="0">
              <a:buNone/>
            </a:pPr>
            <a:r>
              <a:rPr lang="en-US" sz="900" dirty="0">
                <a:solidFill>
                  <a:srgbClr val="10B981"/>
                </a:solidFill>
              </a:rPr>
              <a:t>+48% YoY</a:t>
            </a:r>
            <a:endParaRPr lang="en-US" sz="900" dirty="0"/>
          </a:p>
        </p:txBody>
      </p:sp>
      <p:sp>
        <p:nvSpPr>
          <p:cNvPr id="42" name="Shape 40"/>
          <p:cNvSpPr/>
          <p:nvPr/>
        </p:nvSpPr>
        <p:spPr>
          <a:xfrm>
            <a:off x="2743200" y="2002536"/>
            <a:ext cx="1371600" cy="347472"/>
          </a:xfrm>
          <a:prstGeom prst="rect">
            <a:avLst/>
          </a:prstGeom>
          <a:solidFill>
            <a:srgbClr val="0F1F3D"/>
          </a:solidFill>
          <a:ln/>
        </p:spPr>
      </p:sp>
      <p:sp>
        <p:nvSpPr>
          <p:cNvPr id="43" name="Text 41"/>
          <p:cNvSpPr/>
          <p:nvPr/>
        </p:nvSpPr>
        <p:spPr>
          <a:xfrm>
            <a:off x="2779776" y="2002536"/>
            <a:ext cx="1298448" cy="347472"/>
          </a:xfrm>
          <a:prstGeom prst="rect">
            <a:avLst/>
          </a:prstGeom>
          <a:noFill/>
          <a:ln/>
        </p:spPr>
        <p:txBody>
          <a:bodyPr wrap="square" rtlCol="0" anchor="ctr"/>
          <a:lstStyle/>
          <a:p>
            <a:pPr marL="0" indent="0">
              <a:buNone/>
            </a:pPr>
            <a:r>
              <a:rPr lang="en-US" sz="900" dirty="0">
                <a:solidFill>
                  <a:srgbClr val="E2E8F0"/>
                </a:solidFill>
              </a:rPr>
              <a:t>US Comm +93% YoY</a:t>
            </a:r>
            <a:endParaRPr lang="en-US" sz="900" dirty="0"/>
          </a:p>
        </p:txBody>
      </p:sp>
      <p:sp>
        <p:nvSpPr>
          <p:cNvPr id="44" name="Shape 42"/>
          <p:cNvSpPr/>
          <p:nvPr/>
        </p:nvSpPr>
        <p:spPr>
          <a:xfrm>
            <a:off x="4114800" y="2002536"/>
            <a:ext cx="2743200" cy="347472"/>
          </a:xfrm>
          <a:prstGeom prst="rect">
            <a:avLst/>
          </a:prstGeom>
          <a:solidFill>
            <a:srgbClr val="0F1F3D"/>
          </a:solidFill>
          <a:ln/>
        </p:spPr>
      </p:sp>
      <p:sp>
        <p:nvSpPr>
          <p:cNvPr id="45" name="Text 43"/>
          <p:cNvSpPr/>
          <p:nvPr/>
        </p:nvSpPr>
        <p:spPr>
          <a:xfrm>
            <a:off x="4151376" y="2002536"/>
            <a:ext cx="2670048" cy="347472"/>
          </a:xfrm>
          <a:prstGeom prst="rect">
            <a:avLst/>
          </a:prstGeom>
          <a:noFill/>
          <a:ln/>
        </p:spPr>
        <p:txBody>
          <a:bodyPr wrap="square" rtlCol="0" anchor="ctr"/>
          <a:lstStyle/>
          <a:p>
            <a:pPr marL="0" indent="0">
              <a:buNone/>
            </a:pPr>
            <a:r>
              <a:rPr lang="en-US" sz="900" dirty="0">
                <a:solidFill>
                  <a:srgbClr val="E2E8F0"/>
                </a:solidFill>
              </a:rPr>
              <a:t>First $1B quarter — landmark</a:t>
            </a:r>
            <a:endParaRPr lang="en-US" sz="900" dirty="0"/>
          </a:p>
        </p:txBody>
      </p:sp>
      <p:sp>
        <p:nvSpPr>
          <p:cNvPr id="46" name="Shape 44"/>
          <p:cNvSpPr/>
          <p:nvPr/>
        </p:nvSpPr>
        <p:spPr>
          <a:xfrm>
            <a:off x="182880" y="2386584"/>
            <a:ext cx="914400" cy="347472"/>
          </a:xfrm>
          <a:prstGeom prst="rect">
            <a:avLst/>
          </a:prstGeom>
          <a:solidFill>
            <a:srgbClr val="0A1628"/>
          </a:solidFill>
          <a:ln/>
        </p:spPr>
      </p:sp>
      <p:sp>
        <p:nvSpPr>
          <p:cNvPr id="47" name="Text 45"/>
          <p:cNvSpPr/>
          <p:nvPr/>
        </p:nvSpPr>
        <p:spPr>
          <a:xfrm>
            <a:off x="219456" y="2386584"/>
            <a:ext cx="841248" cy="347472"/>
          </a:xfrm>
          <a:prstGeom prst="rect">
            <a:avLst/>
          </a:prstGeom>
          <a:noFill/>
          <a:ln/>
        </p:spPr>
        <p:txBody>
          <a:bodyPr wrap="square" rtlCol="0" anchor="ctr"/>
          <a:lstStyle/>
          <a:p>
            <a:pPr marL="0" indent="0">
              <a:buNone/>
            </a:pPr>
            <a:r>
              <a:rPr lang="en-US" sz="900" b="1" dirty="0">
                <a:solidFill>
                  <a:srgbClr val="E2E8F0"/>
                </a:solidFill>
              </a:rPr>
              <a:t>Q3 2025</a:t>
            </a:r>
            <a:endParaRPr lang="en-US" sz="900" dirty="0"/>
          </a:p>
        </p:txBody>
      </p:sp>
      <p:sp>
        <p:nvSpPr>
          <p:cNvPr id="48" name="Shape 46"/>
          <p:cNvSpPr/>
          <p:nvPr/>
        </p:nvSpPr>
        <p:spPr>
          <a:xfrm>
            <a:off x="1097280" y="2386584"/>
            <a:ext cx="822960" cy="347472"/>
          </a:xfrm>
          <a:prstGeom prst="rect">
            <a:avLst/>
          </a:prstGeom>
          <a:solidFill>
            <a:srgbClr val="0A1628"/>
          </a:solidFill>
          <a:ln/>
        </p:spPr>
      </p:sp>
      <p:sp>
        <p:nvSpPr>
          <p:cNvPr id="49" name="Text 47"/>
          <p:cNvSpPr/>
          <p:nvPr/>
        </p:nvSpPr>
        <p:spPr>
          <a:xfrm>
            <a:off x="1133856" y="2386584"/>
            <a:ext cx="749808" cy="347472"/>
          </a:xfrm>
          <a:prstGeom prst="rect">
            <a:avLst/>
          </a:prstGeom>
          <a:noFill/>
          <a:ln/>
        </p:spPr>
        <p:txBody>
          <a:bodyPr wrap="square" rtlCol="0" anchor="ctr"/>
          <a:lstStyle/>
          <a:p>
            <a:pPr marL="0" indent="0">
              <a:buNone/>
            </a:pPr>
            <a:r>
              <a:rPr lang="en-US" sz="900" b="1" dirty="0">
                <a:solidFill>
                  <a:srgbClr val="FFFFFF"/>
                </a:solidFill>
              </a:rPr>
              <a:t>$1.181B</a:t>
            </a:r>
            <a:endParaRPr lang="en-US" sz="900" dirty="0"/>
          </a:p>
        </p:txBody>
      </p:sp>
      <p:sp>
        <p:nvSpPr>
          <p:cNvPr id="50" name="Shape 48"/>
          <p:cNvSpPr/>
          <p:nvPr/>
        </p:nvSpPr>
        <p:spPr>
          <a:xfrm>
            <a:off x="1920240" y="2386584"/>
            <a:ext cx="822960" cy="347472"/>
          </a:xfrm>
          <a:prstGeom prst="rect">
            <a:avLst/>
          </a:prstGeom>
          <a:solidFill>
            <a:srgbClr val="0A1628"/>
          </a:solidFill>
          <a:ln/>
        </p:spPr>
      </p:sp>
      <p:sp>
        <p:nvSpPr>
          <p:cNvPr id="51" name="Text 49"/>
          <p:cNvSpPr/>
          <p:nvPr/>
        </p:nvSpPr>
        <p:spPr>
          <a:xfrm>
            <a:off x="1956816" y="2386584"/>
            <a:ext cx="749808" cy="347472"/>
          </a:xfrm>
          <a:prstGeom prst="rect">
            <a:avLst/>
          </a:prstGeom>
          <a:noFill/>
          <a:ln/>
        </p:spPr>
        <p:txBody>
          <a:bodyPr wrap="square" rtlCol="0" anchor="ctr"/>
          <a:lstStyle/>
          <a:p>
            <a:pPr marL="0" indent="0">
              <a:buNone/>
            </a:pPr>
            <a:r>
              <a:rPr lang="en-US" sz="900" dirty="0">
                <a:solidFill>
                  <a:srgbClr val="10B981"/>
                </a:solidFill>
              </a:rPr>
              <a:t>+63% YoY</a:t>
            </a:r>
            <a:endParaRPr lang="en-US" sz="900" dirty="0"/>
          </a:p>
        </p:txBody>
      </p:sp>
      <p:sp>
        <p:nvSpPr>
          <p:cNvPr id="52" name="Shape 50"/>
          <p:cNvSpPr/>
          <p:nvPr/>
        </p:nvSpPr>
        <p:spPr>
          <a:xfrm>
            <a:off x="2743200" y="2386584"/>
            <a:ext cx="1371600" cy="347472"/>
          </a:xfrm>
          <a:prstGeom prst="rect">
            <a:avLst/>
          </a:prstGeom>
          <a:solidFill>
            <a:srgbClr val="0A1628"/>
          </a:solidFill>
          <a:ln/>
        </p:spPr>
      </p:sp>
      <p:sp>
        <p:nvSpPr>
          <p:cNvPr id="53" name="Text 51"/>
          <p:cNvSpPr/>
          <p:nvPr/>
        </p:nvSpPr>
        <p:spPr>
          <a:xfrm>
            <a:off x="2779776" y="2386584"/>
            <a:ext cx="1298448" cy="347472"/>
          </a:xfrm>
          <a:prstGeom prst="rect">
            <a:avLst/>
          </a:prstGeom>
          <a:noFill/>
          <a:ln/>
        </p:spPr>
        <p:txBody>
          <a:bodyPr wrap="square" rtlCol="0" anchor="ctr"/>
          <a:lstStyle/>
          <a:p>
            <a:pPr marL="0" indent="0">
              <a:buNone/>
            </a:pPr>
            <a:r>
              <a:rPr lang="en-US" sz="900" dirty="0">
                <a:solidFill>
                  <a:srgbClr val="E2E8F0"/>
                </a:solidFill>
              </a:rPr>
              <a:t>US Comm +121% YoY</a:t>
            </a:r>
            <a:endParaRPr lang="en-US" sz="900" dirty="0"/>
          </a:p>
        </p:txBody>
      </p:sp>
      <p:sp>
        <p:nvSpPr>
          <p:cNvPr id="54" name="Shape 52"/>
          <p:cNvSpPr/>
          <p:nvPr/>
        </p:nvSpPr>
        <p:spPr>
          <a:xfrm>
            <a:off x="4114800" y="2386584"/>
            <a:ext cx="2743200" cy="347472"/>
          </a:xfrm>
          <a:prstGeom prst="rect">
            <a:avLst/>
          </a:prstGeom>
          <a:solidFill>
            <a:srgbClr val="0A1628"/>
          </a:solidFill>
          <a:ln/>
        </p:spPr>
      </p:sp>
      <p:sp>
        <p:nvSpPr>
          <p:cNvPr id="55" name="Text 53"/>
          <p:cNvSpPr/>
          <p:nvPr/>
        </p:nvSpPr>
        <p:spPr>
          <a:xfrm>
            <a:off x="4151376" y="2386584"/>
            <a:ext cx="2670048" cy="347472"/>
          </a:xfrm>
          <a:prstGeom prst="rect">
            <a:avLst/>
          </a:prstGeom>
          <a:noFill/>
          <a:ln/>
        </p:spPr>
        <p:txBody>
          <a:bodyPr wrap="square" rtlCol="0" anchor="ctr"/>
          <a:lstStyle/>
          <a:p>
            <a:pPr marL="0" indent="0">
              <a:buNone/>
            </a:pPr>
            <a:r>
              <a:rPr lang="en-US" sz="900" dirty="0">
                <a:solidFill>
                  <a:srgbClr val="E2E8F0"/>
                </a:solidFill>
              </a:rPr>
              <a:t>Rule of 40: 114% — record</a:t>
            </a:r>
            <a:endParaRPr lang="en-US" sz="900" dirty="0"/>
          </a:p>
        </p:txBody>
      </p:sp>
      <p:sp>
        <p:nvSpPr>
          <p:cNvPr id="56" name="Shape 54"/>
          <p:cNvSpPr/>
          <p:nvPr/>
        </p:nvSpPr>
        <p:spPr>
          <a:xfrm>
            <a:off x="182880" y="2770632"/>
            <a:ext cx="914400" cy="347472"/>
          </a:xfrm>
          <a:prstGeom prst="rect">
            <a:avLst/>
          </a:prstGeom>
          <a:solidFill>
            <a:srgbClr val="0F1F3D"/>
          </a:solidFill>
          <a:ln/>
        </p:spPr>
      </p:sp>
      <p:sp>
        <p:nvSpPr>
          <p:cNvPr id="57" name="Text 55"/>
          <p:cNvSpPr/>
          <p:nvPr/>
        </p:nvSpPr>
        <p:spPr>
          <a:xfrm>
            <a:off x="219456" y="2770632"/>
            <a:ext cx="841248" cy="347472"/>
          </a:xfrm>
          <a:prstGeom prst="rect">
            <a:avLst/>
          </a:prstGeom>
          <a:noFill/>
          <a:ln/>
        </p:spPr>
        <p:txBody>
          <a:bodyPr wrap="square" rtlCol="0" anchor="ctr"/>
          <a:lstStyle/>
          <a:p>
            <a:pPr marL="0" indent="0">
              <a:buNone/>
            </a:pPr>
            <a:r>
              <a:rPr lang="en-US" sz="900" b="1" dirty="0">
                <a:solidFill>
                  <a:srgbClr val="E2E8F0"/>
                </a:solidFill>
              </a:rPr>
              <a:t>Q4 2025</a:t>
            </a:r>
            <a:endParaRPr lang="en-US" sz="900" dirty="0"/>
          </a:p>
        </p:txBody>
      </p:sp>
      <p:sp>
        <p:nvSpPr>
          <p:cNvPr id="58" name="Shape 56"/>
          <p:cNvSpPr/>
          <p:nvPr/>
        </p:nvSpPr>
        <p:spPr>
          <a:xfrm>
            <a:off x="1097280" y="2770632"/>
            <a:ext cx="822960" cy="347472"/>
          </a:xfrm>
          <a:prstGeom prst="rect">
            <a:avLst/>
          </a:prstGeom>
          <a:solidFill>
            <a:srgbClr val="0F1F3D"/>
          </a:solidFill>
          <a:ln/>
        </p:spPr>
      </p:sp>
      <p:sp>
        <p:nvSpPr>
          <p:cNvPr id="59" name="Text 57"/>
          <p:cNvSpPr/>
          <p:nvPr/>
        </p:nvSpPr>
        <p:spPr>
          <a:xfrm>
            <a:off x="1133856" y="2770632"/>
            <a:ext cx="749808" cy="347472"/>
          </a:xfrm>
          <a:prstGeom prst="rect">
            <a:avLst/>
          </a:prstGeom>
          <a:noFill/>
          <a:ln/>
        </p:spPr>
        <p:txBody>
          <a:bodyPr wrap="square" rtlCol="0" anchor="ctr"/>
          <a:lstStyle/>
          <a:p>
            <a:pPr marL="0" indent="0">
              <a:buNone/>
            </a:pPr>
            <a:r>
              <a:rPr lang="en-US" sz="900" b="1" dirty="0">
                <a:solidFill>
                  <a:srgbClr val="FFFFFF"/>
                </a:solidFill>
              </a:rPr>
              <a:t>~$1.37B (E)</a:t>
            </a:r>
            <a:endParaRPr lang="en-US" sz="900" dirty="0"/>
          </a:p>
        </p:txBody>
      </p:sp>
      <p:sp>
        <p:nvSpPr>
          <p:cNvPr id="60" name="Shape 58"/>
          <p:cNvSpPr/>
          <p:nvPr/>
        </p:nvSpPr>
        <p:spPr>
          <a:xfrm>
            <a:off x="1920240" y="2770632"/>
            <a:ext cx="822960" cy="347472"/>
          </a:xfrm>
          <a:prstGeom prst="rect">
            <a:avLst/>
          </a:prstGeom>
          <a:solidFill>
            <a:srgbClr val="0F1F3D"/>
          </a:solidFill>
          <a:ln/>
        </p:spPr>
      </p:sp>
      <p:sp>
        <p:nvSpPr>
          <p:cNvPr id="61" name="Text 59"/>
          <p:cNvSpPr/>
          <p:nvPr/>
        </p:nvSpPr>
        <p:spPr>
          <a:xfrm>
            <a:off x="1956816" y="2770632"/>
            <a:ext cx="749808" cy="347472"/>
          </a:xfrm>
          <a:prstGeom prst="rect">
            <a:avLst/>
          </a:prstGeom>
          <a:noFill/>
          <a:ln/>
        </p:spPr>
        <p:txBody>
          <a:bodyPr wrap="square" rtlCol="0" anchor="ctr"/>
          <a:lstStyle/>
          <a:p>
            <a:pPr marL="0" indent="0">
              <a:buNone/>
            </a:pPr>
            <a:r>
              <a:rPr lang="en-US" sz="900" dirty="0">
                <a:solidFill>
                  <a:srgbClr val="10B981"/>
                </a:solidFill>
              </a:rPr>
              <a:t>+~65% YoY</a:t>
            </a:r>
            <a:endParaRPr lang="en-US" sz="900" dirty="0"/>
          </a:p>
        </p:txBody>
      </p:sp>
      <p:sp>
        <p:nvSpPr>
          <p:cNvPr id="62" name="Shape 60"/>
          <p:cNvSpPr/>
          <p:nvPr/>
        </p:nvSpPr>
        <p:spPr>
          <a:xfrm>
            <a:off x="2743200" y="2770632"/>
            <a:ext cx="1371600" cy="347472"/>
          </a:xfrm>
          <a:prstGeom prst="rect">
            <a:avLst/>
          </a:prstGeom>
          <a:solidFill>
            <a:srgbClr val="0F1F3D"/>
          </a:solidFill>
          <a:ln/>
        </p:spPr>
      </p:sp>
      <p:sp>
        <p:nvSpPr>
          <p:cNvPr id="63" name="Text 61"/>
          <p:cNvSpPr/>
          <p:nvPr/>
        </p:nvSpPr>
        <p:spPr>
          <a:xfrm>
            <a:off x="2779776" y="2770632"/>
            <a:ext cx="1298448" cy="347472"/>
          </a:xfrm>
          <a:prstGeom prst="rect">
            <a:avLst/>
          </a:prstGeom>
          <a:noFill/>
          <a:ln/>
        </p:spPr>
        <p:txBody>
          <a:bodyPr wrap="square" rtlCol="0" anchor="ctr"/>
          <a:lstStyle/>
          <a:p>
            <a:pPr marL="0" indent="0">
              <a:buNone/>
            </a:pPr>
            <a:r>
              <a:rPr lang="en-US" sz="900" dirty="0">
                <a:solidFill>
                  <a:srgbClr val="E2E8F0"/>
                </a:solidFill>
              </a:rPr>
              <a:t>US Comm +137% YoY</a:t>
            </a:r>
            <a:endParaRPr lang="en-US" sz="900" dirty="0"/>
          </a:p>
        </p:txBody>
      </p:sp>
      <p:sp>
        <p:nvSpPr>
          <p:cNvPr id="64" name="Shape 62"/>
          <p:cNvSpPr/>
          <p:nvPr/>
        </p:nvSpPr>
        <p:spPr>
          <a:xfrm>
            <a:off x="4114800" y="2770632"/>
            <a:ext cx="2743200" cy="347472"/>
          </a:xfrm>
          <a:prstGeom prst="rect">
            <a:avLst/>
          </a:prstGeom>
          <a:solidFill>
            <a:srgbClr val="0F1F3D"/>
          </a:solidFill>
          <a:ln/>
        </p:spPr>
      </p:sp>
      <p:sp>
        <p:nvSpPr>
          <p:cNvPr id="65" name="Text 63"/>
          <p:cNvSpPr/>
          <p:nvPr/>
        </p:nvSpPr>
        <p:spPr>
          <a:xfrm>
            <a:off x="4151376" y="2770632"/>
            <a:ext cx="2670048" cy="347472"/>
          </a:xfrm>
          <a:prstGeom prst="rect">
            <a:avLst/>
          </a:prstGeom>
          <a:noFill/>
          <a:ln/>
        </p:spPr>
        <p:txBody>
          <a:bodyPr wrap="square" rtlCol="0" anchor="ctr"/>
          <a:lstStyle/>
          <a:p>
            <a:pPr marL="0" indent="0">
              <a:buNone/>
            </a:pPr>
            <a:r>
              <a:rPr lang="en-US" sz="900" dirty="0">
                <a:solidFill>
                  <a:srgbClr val="E2E8F0"/>
                </a:solidFill>
              </a:rPr>
              <a:t>FY2025 guidance raised to 53% growth</a:t>
            </a:r>
            <a:endParaRPr lang="en-US" sz="900" dirty="0"/>
          </a:p>
        </p:txBody>
      </p:sp>
      <p:sp>
        <p:nvSpPr>
          <p:cNvPr id="66" name="Shape 64"/>
          <p:cNvSpPr/>
          <p:nvPr/>
        </p:nvSpPr>
        <p:spPr>
          <a:xfrm>
            <a:off x="182880" y="3154680"/>
            <a:ext cx="914400" cy="347472"/>
          </a:xfrm>
          <a:prstGeom prst="rect">
            <a:avLst/>
          </a:prstGeom>
          <a:solidFill>
            <a:srgbClr val="0E2A1F"/>
          </a:solidFill>
          <a:ln/>
        </p:spPr>
      </p:sp>
      <p:sp>
        <p:nvSpPr>
          <p:cNvPr id="67" name="Text 65"/>
          <p:cNvSpPr/>
          <p:nvPr/>
        </p:nvSpPr>
        <p:spPr>
          <a:xfrm>
            <a:off x="219456" y="3154680"/>
            <a:ext cx="841248" cy="347472"/>
          </a:xfrm>
          <a:prstGeom prst="rect">
            <a:avLst/>
          </a:prstGeom>
          <a:noFill/>
          <a:ln/>
        </p:spPr>
        <p:txBody>
          <a:bodyPr wrap="square" rtlCol="0" anchor="ctr"/>
          <a:lstStyle/>
          <a:p>
            <a:pPr marL="0" indent="0">
              <a:buNone/>
            </a:pPr>
            <a:r>
              <a:rPr lang="en-US" sz="950" b="1" dirty="0">
                <a:solidFill>
                  <a:srgbClr val="10B981"/>
                </a:solidFill>
              </a:rPr>
              <a:t>Q1 2026</a:t>
            </a:r>
            <a:endParaRPr lang="en-US" sz="950" dirty="0"/>
          </a:p>
        </p:txBody>
      </p:sp>
      <p:sp>
        <p:nvSpPr>
          <p:cNvPr id="68" name="Shape 66"/>
          <p:cNvSpPr/>
          <p:nvPr/>
        </p:nvSpPr>
        <p:spPr>
          <a:xfrm>
            <a:off x="1097280" y="3154680"/>
            <a:ext cx="822960" cy="347472"/>
          </a:xfrm>
          <a:prstGeom prst="rect">
            <a:avLst/>
          </a:prstGeom>
          <a:solidFill>
            <a:srgbClr val="0E2A1F"/>
          </a:solidFill>
          <a:ln/>
        </p:spPr>
      </p:sp>
      <p:sp>
        <p:nvSpPr>
          <p:cNvPr id="69" name="Text 67"/>
          <p:cNvSpPr/>
          <p:nvPr/>
        </p:nvSpPr>
        <p:spPr>
          <a:xfrm>
            <a:off x="1133856" y="3154680"/>
            <a:ext cx="749808" cy="347472"/>
          </a:xfrm>
          <a:prstGeom prst="rect">
            <a:avLst/>
          </a:prstGeom>
          <a:noFill/>
          <a:ln/>
        </p:spPr>
        <p:txBody>
          <a:bodyPr wrap="square" rtlCol="0" anchor="ctr"/>
          <a:lstStyle/>
          <a:p>
            <a:pPr marL="0" indent="0">
              <a:buNone/>
            </a:pPr>
            <a:r>
              <a:rPr lang="en-US" sz="950" b="1" dirty="0">
                <a:solidFill>
                  <a:srgbClr val="10B981"/>
                </a:solidFill>
              </a:rPr>
              <a:t>$1.633B</a:t>
            </a:r>
            <a:endParaRPr lang="en-US" sz="950" dirty="0"/>
          </a:p>
        </p:txBody>
      </p:sp>
      <p:sp>
        <p:nvSpPr>
          <p:cNvPr id="70" name="Shape 68"/>
          <p:cNvSpPr/>
          <p:nvPr/>
        </p:nvSpPr>
        <p:spPr>
          <a:xfrm>
            <a:off x="1920240" y="3154680"/>
            <a:ext cx="822960" cy="347472"/>
          </a:xfrm>
          <a:prstGeom prst="rect">
            <a:avLst/>
          </a:prstGeom>
          <a:solidFill>
            <a:srgbClr val="0E2A1F"/>
          </a:solidFill>
          <a:ln/>
        </p:spPr>
      </p:sp>
      <p:sp>
        <p:nvSpPr>
          <p:cNvPr id="71" name="Text 69"/>
          <p:cNvSpPr/>
          <p:nvPr/>
        </p:nvSpPr>
        <p:spPr>
          <a:xfrm>
            <a:off x="1956816" y="3154680"/>
            <a:ext cx="749808" cy="347472"/>
          </a:xfrm>
          <a:prstGeom prst="rect">
            <a:avLst/>
          </a:prstGeom>
          <a:noFill/>
          <a:ln/>
        </p:spPr>
        <p:txBody>
          <a:bodyPr wrap="square" rtlCol="0" anchor="ctr"/>
          <a:lstStyle/>
          <a:p>
            <a:pPr marL="0" indent="0">
              <a:buNone/>
            </a:pPr>
            <a:r>
              <a:rPr lang="en-US" sz="950" dirty="0">
                <a:solidFill>
                  <a:srgbClr val="10B981"/>
                </a:solidFill>
              </a:rPr>
              <a:t>+85% YoY</a:t>
            </a:r>
            <a:endParaRPr lang="en-US" sz="950" dirty="0"/>
          </a:p>
        </p:txBody>
      </p:sp>
      <p:sp>
        <p:nvSpPr>
          <p:cNvPr id="72" name="Shape 70"/>
          <p:cNvSpPr/>
          <p:nvPr/>
        </p:nvSpPr>
        <p:spPr>
          <a:xfrm>
            <a:off x="2743200" y="3154680"/>
            <a:ext cx="1371600" cy="347472"/>
          </a:xfrm>
          <a:prstGeom prst="rect">
            <a:avLst/>
          </a:prstGeom>
          <a:solidFill>
            <a:srgbClr val="0E2A1F"/>
          </a:solidFill>
          <a:ln/>
        </p:spPr>
      </p:sp>
      <p:sp>
        <p:nvSpPr>
          <p:cNvPr id="73" name="Text 71"/>
          <p:cNvSpPr/>
          <p:nvPr/>
        </p:nvSpPr>
        <p:spPr>
          <a:xfrm>
            <a:off x="2779776" y="3154680"/>
            <a:ext cx="1298448" cy="347472"/>
          </a:xfrm>
          <a:prstGeom prst="rect">
            <a:avLst/>
          </a:prstGeom>
          <a:noFill/>
          <a:ln/>
        </p:spPr>
        <p:txBody>
          <a:bodyPr wrap="square" rtlCol="0" anchor="ctr"/>
          <a:lstStyle/>
          <a:p>
            <a:pPr marL="0" indent="0">
              <a:buNone/>
            </a:pPr>
            <a:r>
              <a:rPr lang="en-US" sz="950" dirty="0">
                <a:solidFill>
                  <a:srgbClr val="10B981"/>
                </a:solidFill>
              </a:rPr>
              <a:t>US Comm +133% YoY</a:t>
            </a:r>
            <a:endParaRPr lang="en-US" sz="950" dirty="0"/>
          </a:p>
        </p:txBody>
      </p:sp>
      <p:sp>
        <p:nvSpPr>
          <p:cNvPr id="74" name="Shape 72"/>
          <p:cNvSpPr/>
          <p:nvPr/>
        </p:nvSpPr>
        <p:spPr>
          <a:xfrm>
            <a:off x="4114800" y="3154680"/>
            <a:ext cx="2743200" cy="347472"/>
          </a:xfrm>
          <a:prstGeom prst="rect">
            <a:avLst/>
          </a:prstGeom>
          <a:solidFill>
            <a:srgbClr val="0E2A1F"/>
          </a:solidFill>
          <a:ln/>
        </p:spPr>
      </p:sp>
      <p:sp>
        <p:nvSpPr>
          <p:cNvPr id="75" name="Text 73"/>
          <p:cNvSpPr/>
          <p:nvPr/>
        </p:nvSpPr>
        <p:spPr>
          <a:xfrm>
            <a:off x="4151376" y="3154680"/>
            <a:ext cx="2670048" cy="347472"/>
          </a:xfrm>
          <a:prstGeom prst="rect">
            <a:avLst/>
          </a:prstGeom>
          <a:noFill/>
          <a:ln/>
        </p:spPr>
        <p:txBody>
          <a:bodyPr wrap="square" rtlCol="0" anchor="ctr"/>
          <a:lstStyle/>
          <a:p>
            <a:pPr marL="0" indent="0">
              <a:buNone/>
            </a:pPr>
            <a:r>
              <a:rPr lang="en-US" sz="950" dirty="0">
                <a:solidFill>
                  <a:srgbClr val="10B981"/>
                </a:solidFill>
              </a:rPr>
              <a:t>Rule of 40: 145% — new record</a:t>
            </a:r>
            <a:endParaRPr lang="en-US" sz="950" dirty="0"/>
          </a:p>
        </p:txBody>
      </p:sp>
      <p:sp>
        <p:nvSpPr>
          <p:cNvPr id="76" name="Text 74"/>
          <p:cNvSpPr/>
          <p:nvPr/>
        </p:nvSpPr>
        <p:spPr>
          <a:xfrm>
            <a:off x="182880" y="3584448"/>
            <a:ext cx="6766560" cy="274320"/>
          </a:xfrm>
          <a:prstGeom prst="rect">
            <a:avLst/>
          </a:prstGeom>
          <a:noFill/>
          <a:ln/>
        </p:spPr>
        <p:txBody>
          <a:bodyPr wrap="square" rtlCol="0" anchor="ctr"/>
          <a:lstStyle/>
          <a:p>
            <a:pPr marL="0" indent="0">
              <a:buNone/>
            </a:pPr>
            <a:r>
              <a:rPr lang="en-US" sz="950" b="1" dirty="0">
                <a:solidFill>
                  <a:srgbClr val="F59E0B"/>
                </a:solidFill>
              </a:rPr>
              <a:t>FY2026 Revenue Guidance: $7.18–7.20B (&gt;2× FY2025's $3.32B). Rule of 40 score of 145% — among highest in software history.</a:t>
            </a:r>
            <a:endParaRPr lang="en-US" sz="950" dirty="0"/>
          </a:p>
        </p:txBody>
      </p:sp>
      <p:sp>
        <p:nvSpPr>
          <p:cNvPr id="77" name="Text 75"/>
          <p:cNvSpPr/>
          <p:nvPr/>
        </p:nvSpPr>
        <p:spPr>
          <a:xfrm>
            <a:off x="7223760" y="713232"/>
            <a:ext cx="1828800" cy="274320"/>
          </a:xfrm>
          <a:prstGeom prst="rect">
            <a:avLst/>
          </a:prstGeom>
          <a:noFill/>
          <a:ln/>
        </p:spPr>
        <p:txBody>
          <a:bodyPr wrap="square" rtlCol="0" anchor="ctr"/>
          <a:lstStyle/>
          <a:p>
            <a:pPr marL="0" indent="0">
              <a:buNone/>
            </a:pPr>
            <a:r>
              <a:rPr lang="en-US" sz="900" b="1" dirty="0">
                <a:solidFill>
                  <a:srgbClr val="06B6D4"/>
                </a:solidFill>
              </a:rPr>
              <a:t>AIP PLATFORM — THE THREE LAYERS</a:t>
            </a:r>
            <a:endParaRPr lang="en-US" sz="900" dirty="0"/>
          </a:p>
        </p:txBody>
      </p:sp>
      <p:sp>
        <p:nvSpPr>
          <p:cNvPr id="78" name="Shape 76"/>
          <p:cNvSpPr/>
          <p:nvPr/>
        </p:nvSpPr>
        <p:spPr>
          <a:xfrm>
            <a:off x="7223760" y="1014984"/>
            <a:ext cx="1828800" cy="1261872"/>
          </a:xfrm>
          <a:prstGeom prst="rect">
            <a:avLst/>
          </a:prstGeom>
          <a:solidFill>
            <a:srgbClr val="0F1F3D"/>
          </a:solidFill>
          <a:ln/>
          <a:effectLst>
            <a:outerShdw blurRad="127000" dist="50800" dir="8100000" algn="bl" rotWithShape="0">
              <a:srgbClr val="000000">
                <a:alpha val="25000"/>
              </a:srgbClr>
            </a:outerShdw>
          </a:effectLst>
        </p:spPr>
      </p:sp>
      <p:sp>
        <p:nvSpPr>
          <p:cNvPr id="79" name="Shape 77"/>
          <p:cNvSpPr/>
          <p:nvPr/>
        </p:nvSpPr>
        <p:spPr>
          <a:xfrm>
            <a:off x="7223760" y="1014984"/>
            <a:ext cx="1828800" cy="274320"/>
          </a:xfrm>
          <a:prstGeom prst="rect">
            <a:avLst/>
          </a:prstGeom>
          <a:solidFill>
            <a:srgbClr val="1D4ED8"/>
          </a:solidFill>
          <a:ln/>
        </p:spPr>
      </p:sp>
      <p:sp>
        <p:nvSpPr>
          <p:cNvPr id="80" name="Text 78"/>
          <p:cNvSpPr/>
          <p:nvPr/>
        </p:nvSpPr>
        <p:spPr>
          <a:xfrm>
            <a:off x="7287768" y="1014984"/>
            <a:ext cx="1709928" cy="274320"/>
          </a:xfrm>
          <a:prstGeom prst="rect">
            <a:avLst/>
          </a:prstGeom>
          <a:noFill/>
          <a:ln/>
        </p:spPr>
        <p:txBody>
          <a:bodyPr wrap="square" rtlCol="0" anchor="ctr"/>
          <a:lstStyle/>
          <a:p>
            <a:pPr marL="0" indent="0">
              <a:buNone/>
            </a:pPr>
            <a:r>
              <a:rPr lang="en-US" sz="1100" b="1" dirty="0">
                <a:solidFill>
                  <a:srgbClr val="FFFFFF"/>
                </a:solidFill>
              </a:rPr>
              <a:t>Gotham</a:t>
            </a:r>
            <a:endParaRPr lang="en-US" sz="1100" dirty="0"/>
          </a:p>
        </p:txBody>
      </p:sp>
      <p:sp>
        <p:nvSpPr>
          <p:cNvPr id="81" name="Text 79"/>
          <p:cNvSpPr/>
          <p:nvPr/>
        </p:nvSpPr>
        <p:spPr>
          <a:xfrm>
            <a:off x="7287768" y="1316736"/>
            <a:ext cx="1709928" cy="914400"/>
          </a:xfrm>
          <a:prstGeom prst="rect">
            <a:avLst/>
          </a:prstGeom>
          <a:noFill/>
          <a:ln/>
        </p:spPr>
        <p:txBody>
          <a:bodyPr wrap="square" rtlCol="0" anchor="ctr"/>
          <a:lstStyle/>
          <a:p>
            <a:pPr marL="0" indent="0">
              <a:buNone/>
            </a:pPr>
            <a:r>
              <a:rPr lang="en-US" sz="850" dirty="0">
                <a:solidFill>
                  <a:srgbClr val="E2E8F0"/>
                </a:solidFill>
              </a:rPr>
              <a:t>Government / Defense. Intelligence analysis, battlefield operations, TITAN drone targeting. Classified environments. ~50% of revenue.</a:t>
            </a:r>
            <a:endParaRPr lang="en-US" sz="850" dirty="0"/>
          </a:p>
        </p:txBody>
      </p:sp>
      <p:sp>
        <p:nvSpPr>
          <p:cNvPr id="82" name="Shape 80"/>
          <p:cNvSpPr/>
          <p:nvPr/>
        </p:nvSpPr>
        <p:spPr>
          <a:xfrm>
            <a:off x="7223760" y="2386584"/>
            <a:ext cx="1828800" cy="1261872"/>
          </a:xfrm>
          <a:prstGeom prst="rect">
            <a:avLst/>
          </a:prstGeom>
          <a:solidFill>
            <a:srgbClr val="0F1F3D"/>
          </a:solidFill>
          <a:ln/>
          <a:effectLst>
            <a:outerShdw blurRad="127000" dist="50800" dir="8100000" algn="bl" rotWithShape="0">
              <a:srgbClr val="000000">
                <a:alpha val="25000"/>
              </a:srgbClr>
            </a:outerShdw>
          </a:effectLst>
        </p:spPr>
      </p:sp>
      <p:sp>
        <p:nvSpPr>
          <p:cNvPr id="83" name="Shape 81"/>
          <p:cNvSpPr/>
          <p:nvPr/>
        </p:nvSpPr>
        <p:spPr>
          <a:xfrm>
            <a:off x="7223760" y="2386584"/>
            <a:ext cx="1828800" cy="274320"/>
          </a:xfrm>
          <a:prstGeom prst="rect">
            <a:avLst/>
          </a:prstGeom>
          <a:solidFill>
            <a:srgbClr val="7C3AED"/>
          </a:solidFill>
          <a:ln/>
        </p:spPr>
      </p:sp>
      <p:sp>
        <p:nvSpPr>
          <p:cNvPr id="84" name="Text 82"/>
          <p:cNvSpPr/>
          <p:nvPr/>
        </p:nvSpPr>
        <p:spPr>
          <a:xfrm>
            <a:off x="7287768" y="2386584"/>
            <a:ext cx="1709928" cy="274320"/>
          </a:xfrm>
          <a:prstGeom prst="rect">
            <a:avLst/>
          </a:prstGeom>
          <a:noFill/>
          <a:ln/>
        </p:spPr>
        <p:txBody>
          <a:bodyPr wrap="square" rtlCol="0" anchor="ctr"/>
          <a:lstStyle/>
          <a:p>
            <a:pPr marL="0" indent="0">
              <a:buNone/>
            </a:pPr>
            <a:r>
              <a:rPr lang="en-US" sz="1100" b="1" dirty="0">
                <a:solidFill>
                  <a:srgbClr val="FFFFFF"/>
                </a:solidFill>
              </a:rPr>
              <a:t>Foundry</a:t>
            </a:r>
            <a:endParaRPr lang="en-US" sz="1100" dirty="0"/>
          </a:p>
        </p:txBody>
      </p:sp>
      <p:sp>
        <p:nvSpPr>
          <p:cNvPr id="85" name="Text 83"/>
          <p:cNvSpPr/>
          <p:nvPr/>
        </p:nvSpPr>
        <p:spPr>
          <a:xfrm>
            <a:off x="7287768" y="2688336"/>
            <a:ext cx="1709928" cy="914400"/>
          </a:xfrm>
          <a:prstGeom prst="rect">
            <a:avLst/>
          </a:prstGeom>
          <a:noFill/>
          <a:ln/>
        </p:spPr>
        <p:txBody>
          <a:bodyPr wrap="square" rtlCol="0" anchor="ctr"/>
          <a:lstStyle/>
          <a:p>
            <a:pPr marL="0" indent="0">
              <a:buNone/>
            </a:pPr>
            <a:r>
              <a:rPr lang="en-US" sz="850" dirty="0">
                <a:solidFill>
                  <a:srgbClr val="E2E8F0"/>
                </a:solidFill>
              </a:rPr>
              <a:t>Commercial ops. Supply chain, manufacturing, financial services. 'Digital factory' for enterprise data. Fast-growing second layer.</a:t>
            </a:r>
            <a:endParaRPr lang="en-US" sz="850" dirty="0"/>
          </a:p>
        </p:txBody>
      </p:sp>
      <p:sp>
        <p:nvSpPr>
          <p:cNvPr id="86" name="Shape 84"/>
          <p:cNvSpPr/>
          <p:nvPr/>
        </p:nvSpPr>
        <p:spPr>
          <a:xfrm>
            <a:off x="7223760" y="3758184"/>
            <a:ext cx="1828800" cy="1261872"/>
          </a:xfrm>
          <a:prstGeom prst="rect">
            <a:avLst/>
          </a:prstGeom>
          <a:solidFill>
            <a:srgbClr val="0F1F3D"/>
          </a:solidFill>
          <a:ln/>
          <a:effectLst>
            <a:outerShdw blurRad="127000" dist="50800" dir="8100000" algn="bl" rotWithShape="0">
              <a:srgbClr val="000000">
                <a:alpha val="25000"/>
              </a:srgbClr>
            </a:outerShdw>
          </a:effectLst>
        </p:spPr>
      </p:sp>
      <p:sp>
        <p:nvSpPr>
          <p:cNvPr id="87" name="Shape 85"/>
          <p:cNvSpPr/>
          <p:nvPr/>
        </p:nvSpPr>
        <p:spPr>
          <a:xfrm>
            <a:off x="7223760" y="3758184"/>
            <a:ext cx="1828800" cy="274320"/>
          </a:xfrm>
          <a:prstGeom prst="rect">
            <a:avLst/>
          </a:prstGeom>
          <a:solidFill>
            <a:srgbClr val="06B6D4"/>
          </a:solidFill>
          <a:ln/>
        </p:spPr>
      </p:sp>
      <p:sp>
        <p:nvSpPr>
          <p:cNvPr id="88" name="Text 86"/>
          <p:cNvSpPr/>
          <p:nvPr/>
        </p:nvSpPr>
        <p:spPr>
          <a:xfrm>
            <a:off x="7287768" y="3758184"/>
            <a:ext cx="1709928" cy="274320"/>
          </a:xfrm>
          <a:prstGeom prst="rect">
            <a:avLst/>
          </a:prstGeom>
          <a:noFill/>
          <a:ln/>
        </p:spPr>
        <p:txBody>
          <a:bodyPr wrap="square" rtlCol="0" anchor="ctr"/>
          <a:lstStyle/>
          <a:p>
            <a:pPr marL="0" indent="0">
              <a:buNone/>
            </a:pPr>
            <a:r>
              <a:rPr lang="en-US" sz="1100" b="1" dirty="0">
                <a:solidFill>
                  <a:srgbClr val="FFFFFF"/>
                </a:solidFill>
              </a:rPr>
              <a:t>AIP</a:t>
            </a:r>
            <a:endParaRPr lang="en-US" sz="1100" dirty="0"/>
          </a:p>
        </p:txBody>
      </p:sp>
      <p:sp>
        <p:nvSpPr>
          <p:cNvPr id="89" name="Text 87"/>
          <p:cNvSpPr/>
          <p:nvPr/>
        </p:nvSpPr>
        <p:spPr>
          <a:xfrm>
            <a:off x="7287768" y="4059936"/>
            <a:ext cx="1709928" cy="914400"/>
          </a:xfrm>
          <a:prstGeom prst="rect">
            <a:avLst/>
          </a:prstGeom>
          <a:noFill/>
          <a:ln/>
        </p:spPr>
        <p:txBody>
          <a:bodyPr wrap="square" rtlCol="0" anchor="ctr"/>
          <a:lstStyle/>
          <a:p>
            <a:pPr marL="0" indent="0">
              <a:buNone/>
            </a:pPr>
            <a:r>
              <a:rPr lang="en-US" sz="850" dirty="0">
                <a:solidFill>
                  <a:srgbClr val="E2E8F0"/>
                </a:solidFill>
              </a:rPr>
              <a:t>AI Platform — sits on top. Lets any org deploy LLMs on proprietary data. The 'AIP bootcamp' model converts 204 deals/quarter ≥$1M.</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A855F7"/>
          </a:solidFill>
          <a:ln/>
        </p:spPr>
      </p:sp>
      <p:sp>
        <p:nvSpPr>
          <p:cNvPr id="3" name="Shape 1"/>
          <p:cNvSpPr/>
          <p:nvPr/>
        </p:nvSpPr>
        <p:spPr>
          <a:xfrm>
            <a:off x="320040" y="182880"/>
            <a:ext cx="822960" cy="502920"/>
          </a:xfrm>
          <a:prstGeom prst="roundRect">
            <a:avLst>
              <a:gd name="adj" fmla="val 14545"/>
            </a:avLst>
          </a:prstGeom>
          <a:solidFill>
            <a:srgbClr val="A855F7">
              <a:alpha val="80000"/>
            </a:srgbClr>
          </a:solidFill>
          <a:ln/>
        </p:spPr>
      </p:sp>
      <p:sp>
        <p:nvSpPr>
          <p:cNvPr id="4" name="Text 2"/>
          <p:cNvSpPr/>
          <p:nvPr/>
        </p:nvSpPr>
        <p:spPr>
          <a:xfrm>
            <a:off x="320040" y="182880"/>
            <a:ext cx="822960" cy="502920"/>
          </a:xfrm>
          <a:prstGeom prst="rect">
            <a:avLst/>
          </a:prstGeom>
          <a:noFill/>
          <a:ln/>
        </p:spPr>
        <p:txBody>
          <a:bodyPr wrap="square" rtlCol="0" anchor="ctr"/>
          <a:lstStyle/>
          <a:p>
            <a:pPr marL="0" indent="0" algn="ctr">
              <a:buNone/>
            </a:pPr>
            <a:r>
              <a:rPr lang="en-US" sz="2200" b="1" dirty="0">
                <a:solidFill>
                  <a:srgbClr val="FFFFFF"/>
                </a:solidFill>
              </a:rPr>
              <a:t>06</a:t>
            </a:r>
            <a:endParaRPr lang="en-US" sz="2200" dirty="0"/>
          </a:p>
        </p:txBody>
      </p:sp>
      <p:sp>
        <p:nvSpPr>
          <p:cNvPr id="5" name="Text 3"/>
          <p:cNvSpPr/>
          <p:nvPr/>
        </p:nvSpPr>
        <p:spPr>
          <a:xfrm>
            <a:off x="1280160" y="182880"/>
            <a:ext cx="2743200" cy="256032"/>
          </a:xfrm>
          <a:prstGeom prst="rect">
            <a:avLst/>
          </a:prstGeom>
          <a:noFill/>
          <a:ln/>
        </p:spPr>
        <p:txBody>
          <a:bodyPr wrap="square" lIns="0" tIns="0" rIns="0" bIns="0" rtlCol="0" anchor="ctr"/>
          <a:lstStyle/>
          <a:p>
            <a:pPr marL="0" indent="0">
              <a:buNone/>
            </a:pPr>
            <a:r>
              <a:rPr lang="en-US" sz="900" b="1" kern="0" spc="300" dirty="0">
                <a:solidFill>
                  <a:srgbClr val="A855F7"/>
                </a:solidFill>
              </a:rPr>
              <a:t>SECTOR ANALYSIS</a:t>
            </a:r>
            <a:endParaRPr lang="en-US" sz="900" dirty="0"/>
          </a:p>
        </p:txBody>
      </p:sp>
      <p:sp>
        <p:nvSpPr>
          <p:cNvPr id="6" name="Text 4"/>
          <p:cNvSpPr/>
          <p:nvPr/>
        </p:nvSpPr>
        <p:spPr>
          <a:xfrm>
            <a:off x="1280160" y="402336"/>
            <a:ext cx="6400800" cy="365760"/>
          </a:xfrm>
          <a:prstGeom prst="rect">
            <a:avLst/>
          </a:prstGeom>
          <a:noFill/>
          <a:ln/>
        </p:spPr>
        <p:txBody>
          <a:bodyPr wrap="square" lIns="0" tIns="0" rIns="0" bIns="0" rtlCol="0" anchor="ctr"/>
          <a:lstStyle/>
          <a:p>
            <a:pPr marL="0" indent="0">
              <a:buNone/>
            </a:pPr>
            <a:r>
              <a:rPr lang="en-US" sz="2600" b="1" dirty="0">
                <a:solidFill>
                  <a:srgbClr val="FFFFFF"/>
                </a:solidFill>
              </a:rPr>
              <a:t>ROBOTICS</a:t>
            </a:r>
            <a:endParaRPr lang="en-US" sz="2600" dirty="0"/>
          </a:p>
        </p:txBody>
      </p:sp>
      <p:sp>
        <p:nvSpPr>
          <p:cNvPr id="7" name="Text 5"/>
          <p:cNvSpPr/>
          <p:nvPr/>
        </p:nvSpPr>
        <p:spPr>
          <a:xfrm>
            <a:off x="320040" y="868680"/>
            <a:ext cx="8503920" cy="320040"/>
          </a:xfrm>
          <a:prstGeom prst="rect">
            <a:avLst/>
          </a:prstGeom>
          <a:noFill/>
          <a:ln/>
        </p:spPr>
        <p:txBody>
          <a:bodyPr wrap="square" rtlCol="0" anchor="ctr"/>
          <a:lstStyle/>
          <a:p>
            <a:pPr marL="0" indent="0" algn="l">
              <a:buNone/>
            </a:pPr>
            <a:r>
              <a:rPr lang="en-US" sz="1300" dirty="0">
                <a:solidFill>
                  <a:srgbClr val="94A3B8"/>
                </a:solidFill>
              </a:rPr>
              <a:t>Physical AI — humanoid robots, automation &amp; industrial intelligence</a:t>
            </a:r>
            <a:endParaRPr lang="en-US" sz="1300" dirty="0"/>
          </a:p>
        </p:txBody>
      </p:sp>
      <p:sp>
        <p:nvSpPr>
          <p:cNvPr id="8" name="Shape 6"/>
          <p:cNvSpPr/>
          <p:nvPr/>
        </p:nvSpPr>
        <p:spPr>
          <a:xfrm>
            <a:off x="320040" y="1261872"/>
            <a:ext cx="8503920" cy="457200"/>
          </a:xfrm>
          <a:prstGeom prst="rect">
            <a:avLst/>
          </a:prstGeom>
          <a:solidFill>
            <a:srgbClr val="1C0038"/>
          </a:solidFill>
          <a:ln w="6350">
            <a:solidFill>
              <a:srgbClr val="FFFFFF">
                <a:alpha val="10000"/>
              </a:srgbClr>
            </a:solidFill>
            <a:prstDash val="solid"/>
          </a:ln>
        </p:spPr>
      </p:sp>
      <p:sp>
        <p:nvSpPr>
          <p:cNvPr id="9" name="Shape 7"/>
          <p:cNvSpPr/>
          <p:nvPr/>
        </p:nvSpPr>
        <p:spPr>
          <a:xfrm>
            <a:off x="320040" y="1261872"/>
            <a:ext cx="64008" cy="457200"/>
          </a:xfrm>
          <a:prstGeom prst="rect">
            <a:avLst/>
          </a:prstGeom>
          <a:solidFill>
            <a:srgbClr val="A855F7"/>
          </a:solidFill>
          <a:ln/>
        </p:spPr>
      </p:sp>
      <p:sp>
        <p:nvSpPr>
          <p:cNvPr id="10" name="Text 8"/>
          <p:cNvSpPr/>
          <p:nvPr/>
        </p:nvSpPr>
        <p:spPr>
          <a:xfrm>
            <a:off x="502920" y="1298448"/>
            <a:ext cx="1371600" cy="182880"/>
          </a:xfrm>
          <a:prstGeom prst="rect">
            <a:avLst/>
          </a:prstGeom>
          <a:noFill/>
          <a:ln/>
        </p:spPr>
        <p:txBody>
          <a:bodyPr wrap="square" lIns="0" tIns="0" rIns="0" bIns="0" rtlCol="0" anchor="ctr"/>
          <a:lstStyle/>
          <a:p>
            <a:pPr marL="0" indent="0">
              <a:buNone/>
            </a:pPr>
            <a:r>
              <a:rPr lang="en-US" sz="800" b="1" kern="0" spc="200" dirty="0">
                <a:solidFill>
                  <a:srgbClr val="A855F7"/>
                </a:solidFill>
              </a:rPr>
              <a:t>KEY METRIC  </a:t>
            </a:r>
            <a:endParaRPr lang="en-US" sz="800" dirty="0"/>
          </a:p>
        </p:txBody>
      </p:sp>
      <p:sp>
        <p:nvSpPr>
          <p:cNvPr id="11" name="Text 9"/>
          <p:cNvSpPr/>
          <p:nvPr/>
        </p:nvSpPr>
        <p:spPr>
          <a:xfrm>
            <a:off x="502920" y="1472184"/>
            <a:ext cx="8046720" cy="182880"/>
          </a:xfrm>
          <a:prstGeom prst="rect">
            <a:avLst/>
          </a:prstGeom>
          <a:noFill/>
          <a:ln/>
        </p:spPr>
        <p:txBody>
          <a:bodyPr wrap="square" lIns="0" tIns="0" rIns="0" bIns="0" rtlCol="0" anchor="ctr"/>
          <a:lstStyle/>
          <a:p>
            <a:pPr marL="0" indent="0">
              <a:buNone/>
            </a:pPr>
            <a:r>
              <a:rPr lang="en-US" sz="1100" b="1" dirty="0">
                <a:solidFill>
                  <a:srgbClr val="FFFFFF"/>
                </a:solidFill>
              </a:rPr>
              <a:t>Humanoid Robot TAM: $38B by 2035 (Goldman Sachs)</a:t>
            </a:r>
            <a:endParaRPr lang="en-US" sz="1100" dirty="0"/>
          </a:p>
        </p:txBody>
      </p:sp>
      <p:sp>
        <p:nvSpPr>
          <p:cNvPr id="12" name="Text 10"/>
          <p:cNvSpPr/>
          <p:nvPr/>
        </p:nvSpPr>
        <p:spPr>
          <a:xfrm>
            <a:off x="320040" y="1874520"/>
            <a:ext cx="3657600" cy="256032"/>
          </a:xfrm>
          <a:prstGeom prst="rect">
            <a:avLst/>
          </a:prstGeom>
          <a:noFill/>
          <a:ln/>
        </p:spPr>
        <p:txBody>
          <a:bodyPr wrap="square" lIns="0" tIns="0" rIns="0" bIns="0" rtlCol="0" anchor="ctr"/>
          <a:lstStyle/>
          <a:p>
            <a:pPr marL="0" indent="0">
              <a:buNone/>
            </a:pPr>
            <a:r>
              <a:rPr lang="en-US" sz="900" b="1" kern="0" spc="200" dirty="0">
                <a:solidFill>
                  <a:srgbClr val="A855F7"/>
                </a:solidFill>
              </a:rPr>
              <a:t>INVESTMENT THESIS</a:t>
            </a:r>
            <a:endParaRPr lang="en-US" sz="900" dirty="0"/>
          </a:p>
        </p:txBody>
      </p:sp>
      <p:sp>
        <p:nvSpPr>
          <p:cNvPr id="13" name="Shape 11"/>
          <p:cNvSpPr/>
          <p:nvPr/>
        </p:nvSpPr>
        <p:spPr>
          <a:xfrm>
            <a:off x="320040" y="2121408"/>
            <a:ext cx="4114800" cy="150876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4" name="Text 12"/>
          <p:cNvSpPr/>
          <p:nvPr/>
        </p:nvSpPr>
        <p:spPr>
          <a:xfrm>
            <a:off x="475488" y="2212848"/>
            <a:ext cx="3794760" cy="1325880"/>
          </a:xfrm>
          <a:prstGeom prst="rect">
            <a:avLst/>
          </a:prstGeom>
          <a:noFill/>
          <a:ln/>
        </p:spPr>
        <p:txBody>
          <a:bodyPr wrap="square" rtlCol="0" anchor="ctr"/>
          <a:lstStyle/>
          <a:p>
            <a:pPr marL="0" indent="0" algn="l">
              <a:buNone/>
            </a:pPr>
            <a:r>
              <a:rPr lang="en-US" sz="1100" dirty="0">
                <a:solidFill>
                  <a:srgbClr val="F0F4FF"/>
                </a:solidFill>
              </a:rPr>
              <a:t>Humanoid robots represent the next trillion-dollar TAM. AI-trained models colliding with mechanical engineering. Labor shortage + cost reduction driving industrial adoption at inflection point.</a:t>
            </a:r>
            <a:endParaRPr lang="en-US" sz="1100" dirty="0"/>
          </a:p>
        </p:txBody>
      </p:sp>
      <p:sp>
        <p:nvSpPr>
          <p:cNvPr id="15" name="Text 13"/>
          <p:cNvSpPr/>
          <p:nvPr/>
        </p:nvSpPr>
        <p:spPr>
          <a:xfrm>
            <a:off x="4709160" y="1874520"/>
            <a:ext cx="4114800" cy="256032"/>
          </a:xfrm>
          <a:prstGeom prst="rect">
            <a:avLst/>
          </a:prstGeom>
          <a:noFill/>
          <a:ln/>
        </p:spPr>
        <p:txBody>
          <a:bodyPr wrap="square" lIns="0" tIns="0" rIns="0" bIns="0" rtlCol="0" anchor="ctr"/>
          <a:lstStyle/>
          <a:p>
            <a:pPr marL="0" indent="0">
              <a:buNone/>
            </a:pPr>
            <a:r>
              <a:rPr lang="en-US" sz="900" b="1" kern="0" spc="200" dirty="0">
                <a:solidFill>
                  <a:srgbClr val="A855F7"/>
                </a:solidFill>
              </a:rPr>
              <a:t>KEY CATALYSTS</a:t>
            </a:r>
            <a:endParaRPr lang="en-US" sz="900" dirty="0"/>
          </a:p>
        </p:txBody>
      </p:sp>
      <p:sp>
        <p:nvSpPr>
          <p:cNvPr id="16" name="Shape 14"/>
          <p:cNvSpPr/>
          <p:nvPr/>
        </p:nvSpPr>
        <p:spPr>
          <a:xfrm>
            <a:off x="4709160" y="2121408"/>
            <a:ext cx="4114800" cy="1508760"/>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7" name="Shape 15"/>
          <p:cNvSpPr/>
          <p:nvPr/>
        </p:nvSpPr>
        <p:spPr>
          <a:xfrm>
            <a:off x="4892040" y="2304288"/>
            <a:ext cx="128016" cy="128016"/>
          </a:xfrm>
          <a:prstGeom prst="ellipse">
            <a:avLst/>
          </a:prstGeom>
          <a:solidFill>
            <a:srgbClr val="A855F7"/>
          </a:solidFill>
          <a:ln/>
        </p:spPr>
      </p:sp>
      <p:sp>
        <p:nvSpPr>
          <p:cNvPr id="18" name="Text 16"/>
          <p:cNvSpPr/>
          <p:nvPr/>
        </p:nvSpPr>
        <p:spPr>
          <a:xfrm>
            <a:off x="5120640" y="2249424"/>
            <a:ext cx="3566160" cy="256032"/>
          </a:xfrm>
          <a:prstGeom prst="rect">
            <a:avLst/>
          </a:prstGeom>
          <a:noFill/>
          <a:ln/>
        </p:spPr>
        <p:txBody>
          <a:bodyPr wrap="square" lIns="0" tIns="0" rIns="0" bIns="0" rtlCol="0" anchor="ctr"/>
          <a:lstStyle/>
          <a:p>
            <a:pPr marL="0" indent="0">
              <a:buNone/>
            </a:pPr>
            <a:r>
              <a:rPr lang="en-US" sz="1050" dirty="0">
                <a:solidFill>
                  <a:srgbClr val="F0F4FF"/>
                </a:solidFill>
              </a:rPr>
              <a:t>Tesla Optimus mass production</a:t>
            </a:r>
            <a:endParaRPr lang="en-US" sz="1050" dirty="0"/>
          </a:p>
        </p:txBody>
      </p:sp>
      <p:sp>
        <p:nvSpPr>
          <p:cNvPr id="19" name="Shape 17"/>
          <p:cNvSpPr/>
          <p:nvPr/>
        </p:nvSpPr>
        <p:spPr>
          <a:xfrm>
            <a:off x="4892040" y="2633472"/>
            <a:ext cx="128016" cy="128016"/>
          </a:xfrm>
          <a:prstGeom prst="ellipse">
            <a:avLst/>
          </a:prstGeom>
          <a:solidFill>
            <a:srgbClr val="A855F7"/>
          </a:solidFill>
          <a:ln/>
        </p:spPr>
      </p:sp>
      <p:sp>
        <p:nvSpPr>
          <p:cNvPr id="20" name="Text 18"/>
          <p:cNvSpPr/>
          <p:nvPr/>
        </p:nvSpPr>
        <p:spPr>
          <a:xfrm>
            <a:off x="5120640" y="2578608"/>
            <a:ext cx="3566160" cy="256032"/>
          </a:xfrm>
          <a:prstGeom prst="rect">
            <a:avLst/>
          </a:prstGeom>
          <a:noFill/>
          <a:ln/>
        </p:spPr>
        <p:txBody>
          <a:bodyPr wrap="square" lIns="0" tIns="0" rIns="0" bIns="0" rtlCol="0" anchor="ctr"/>
          <a:lstStyle/>
          <a:p>
            <a:pPr marL="0" indent="0">
              <a:buNone/>
            </a:pPr>
            <a:r>
              <a:rPr lang="en-US" sz="1050" dirty="0">
                <a:solidFill>
                  <a:srgbClr val="F0F4FF"/>
                </a:solidFill>
              </a:rPr>
              <a:t>AI model integration</a:t>
            </a:r>
            <a:endParaRPr lang="en-US" sz="1050" dirty="0"/>
          </a:p>
        </p:txBody>
      </p:sp>
      <p:sp>
        <p:nvSpPr>
          <p:cNvPr id="21" name="Shape 19"/>
          <p:cNvSpPr/>
          <p:nvPr/>
        </p:nvSpPr>
        <p:spPr>
          <a:xfrm>
            <a:off x="4892040" y="2962656"/>
            <a:ext cx="128016" cy="128016"/>
          </a:xfrm>
          <a:prstGeom prst="ellipse">
            <a:avLst/>
          </a:prstGeom>
          <a:solidFill>
            <a:srgbClr val="A855F7"/>
          </a:solidFill>
          <a:ln/>
        </p:spPr>
      </p:sp>
      <p:sp>
        <p:nvSpPr>
          <p:cNvPr id="22" name="Text 20"/>
          <p:cNvSpPr/>
          <p:nvPr/>
        </p:nvSpPr>
        <p:spPr>
          <a:xfrm>
            <a:off x="5120640" y="2907792"/>
            <a:ext cx="3566160" cy="256032"/>
          </a:xfrm>
          <a:prstGeom prst="rect">
            <a:avLst/>
          </a:prstGeom>
          <a:noFill/>
          <a:ln/>
        </p:spPr>
        <p:txBody>
          <a:bodyPr wrap="square" lIns="0" tIns="0" rIns="0" bIns="0" rtlCol="0" anchor="ctr"/>
          <a:lstStyle/>
          <a:p>
            <a:pPr marL="0" indent="0">
              <a:buNone/>
            </a:pPr>
            <a:r>
              <a:rPr lang="en-US" sz="1050" dirty="0">
                <a:solidFill>
                  <a:srgbClr val="F0F4FF"/>
                </a:solidFill>
              </a:rPr>
              <a:t>Labor cost arbitrage</a:t>
            </a:r>
            <a:endParaRPr lang="en-US" sz="1050" dirty="0"/>
          </a:p>
        </p:txBody>
      </p:sp>
      <p:sp>
        <p:nvSpPr>
          <p:cNvPr id="23" name="Shape 21"/>
          <p:cNvSpPr/>
          <p:nvPr/>
        </p:nvSpPr>
        <p:spPr>
          <a:xfrm>
            <a:off x="4892040" y="3291840"/>
            <a:ext cx="128016" cy="128016"/>
          </a:xfrm>
          <a:prstGeom prst="ellipse">
            <a:avLst/>
          </a:prstGeom>
          <a:solidFill>
            <a:srgbClr val="A855F7"/>
          </a:solidFill>
          <a:ln/>
        </p:spPr>
      </p:sp>
      <p:sp>
        <p:nvSpPr>
          <p:cNvPr id="24" name="Text 22"/>
          <p:cNvSpPr/>
          <p:nvPr/>
        </p:nvSpPr>
        <p:spPr>
          <a:xfrm>
            <a:off x="5120640" y="3236976"/>
            <a:ext cx="3566160" cy="256032"/>
          </a:xfrm>
          <a:prstGeom prst="rect">
            <a:avLst/>
          </a:prstGeom>
          <a:noFill/>
          <a:ln/>
        </p:spPr>
        <p:txBody>
          <a:bodyPr wrap="square" lIns="0" tIns="0" rIns="0" bIns="0" rtlCol="0" anchor="ctr"/>
          <a:lstStyle/>
          <a:p>
            <a:pPr marL="0" indent="0">
              <a:buNone/>
            </a:pPr>
            <a:r>
              <a:rPr lang="en-US" sz="1050" dirty="0">
                <a:solidFill>
                  <a:srgbClr val="F0F4FF"/>
                </a:solidFill>
              </a:rPr>
              <a:t>Factory automation mandates</a:t>
            </a:r>
            <a:endParaRPr lang="en-US" sz="1050" dirty="0"/>
          </a:p>
        </p:txBody>
      </p:sp>
      <p:sp>
        <p:nvSpPr>
          <p:cNvPr id="25" name="Text 23"/>
          <p:cNvSpPr/>
          <p:nvPr/>
        </p:nvSpPr>
        <p:spPr>
          <a:xfrm>
            <a:off x="320040" y="3730752"/>
            <a:ext cx="3657600" cy="256032"/>
          </a:xfrm>
          <a:prstGeom prst="rect">
            <a:avLst/>
          </a:prstGeom>
          <a:noFill/>
          <a:ln/>
        </p:spPr>
        <p:txBody>
          <a:bodyPr wrap="square" lIns="0" tIns="0" rIns="0" bIns="0" rtlCol="0" anchor="ctr"/>
          <a:lstStyle/>
          <a:p>
            <a:pPr marL="0" indent="0">
              <a:buNone/>
            </a:pPr>
            <a:r>
              <a:rPr lang="en-US" sz="900" b="1" kern="0" spc="200" dirty="0">
                <a:solidFill>
                  <a:srgbClr val="EF4444"/>
                </a:solidFill>
              </a:rPr>
              <a:t>KEY RISKS</a:t>
            </a:r>
            <a:endParaRPr lang="en-US" sz="900" dirty="0"/>
          </a:p>
        </p:txBody>
      </p:sp>
      <p:sp>
        <p:nvSpPr>
          <p:cNvPr id="26" name="Shape 24"/>
          <p:cNvSpPr/>
          <p:nvPr/>
        </p:nvSpPr>
        <p:spPr>
          <a:xfrm>
            <a:off x="320040" y="3977640"/>
            <a:ext cx="8503920" cy="914400"/>
          </a:xfrm>
          <a:prstGeom prst="rect">
            <a:avLst/>
          </a:prstGeom>
          <a:solidFill>
            <a:srgbClr val="162050"/>
          </a:solidFill>
          <a:ln w="6350">
            <a:solidFill>
              <a:srgbClr val="FFFFFF">
                <a:alpha val="10000"/>
              </a:srgbClr>
            </a:solidFill>
            <a:prstDash val="solid"/>
          </a:ln>
        </p:spPr>
      </p:sp>
      <p:sp>
        <p:nvSpPr>
          <p:cNvPr id="27" name="Shape 25"/>
          <p:cNvSpPr/>
          <p:nvPr/>
        </p:nvSpPr>
        <p:spPr>
          <a:xfrm>
            <a:off x="502920" y="4114800"/>
            <a:ext cx="1718622" cy="640080"/>
          </a:xfrm>
          <a:prstGeom prst="roundRect">
            <a:avLst>
              <a:gd name="adj" fmla="val 8571"/>
            </a:avLst>
          </a:prstGeom>
          <a:solidFill>
            <a:srgbClr val="EF4444">
              <a:alpha val="15000"/>
            </a:srgbClr>
          </a:solidFill>
          <a:ln/>
        </p:spPr>
      </p:sp>
      <p:sp>
        <p:nvSpPr>
          <p:cNvPr id="28" name="Text 26"/>
          <p:cNvSpPr/>
          <p:nvPr/>
        </p:nvSpPr>
        <p:spPr>
          <a:xfrm>
            <a:off x="502920" y="4114800"/>
            <a:ext cx="1499391" cy="640080"/>
          </a:xfrm>
          <a:prstGeom prst="rect">
            <a:avLst/>
          </a:prstGeom>
          <a:noFill/>
          <a:ln/>
        </p:spPr>
        <p:txBody>
          <a:bodyPr wrap="square" rtlCol="0" anchor="ctr"/>
          <a:lstStyle/>
          <a:p>
            <a:pPr marL="0" indent="0" algn="ctr">
              <a:buNone/>
            </a:pPr>
            <a:r>
              <a:rPr lang="en-US" sz="1000" dirty="0">
                <a:solidFill>
                  <a:srgbClr val="F0F4FF"/>
                </a:solidFill>
              </a:rPr>
              <a:t>⚠ Technical complexity</a:t>
            </a:r>
            <a:endParaRPr lang="en-US" sz="1000" dirty="0"/>
          </a:p>
        </p:txBody>
      </p:sp>
      <p:sp>
        <p:nvSpPr>
          <p:cNvPr id="29" name="Shape 27"/>
          <p:cNvSpPr/>
          <p:nvPr/>
        </p:nvSpPr>
        <p:spPr>
          <a:xfrm>
            <a:off x="2587865" y="4101084"/>
            <a:ext cx="1718622" cy="640080"/>
          </a:xfrm>
          <a:prstGeom prst="roundRect">
            <a:avLst>
              <a:gd name="adj" fmla="val 8571"/>
            </a:avLst>
          </a:prstGeom>
          <a:solidFill>
            <a:srgbClr val="EF4444">
              <a:alpha val="15000"/>
            </a:srgbClr>
          </a:solidFill>
          <a:ln/>
        </p:spPr>
      </p:sp>
      <p:sp>
        <p:nvSpPr>
          <p:cNvPr id="30" name="Text 28"/>
          <p:cNvSpPr/>
          <p:nvPr/>
        </p:nvSpPr>
        <p:spPr>
          <a:xfrm>
            <a:off x="2478250" y="4114800"/>
            <a:ext cx="1718622" cy="640080"/>
          </a:xfrm>
          <a:prstGeom prst="rect">
            <a:avLst/>
          </a:prstGeom>
          <a:noFill/>
          <a:ln/>
        </p:spPr>
        <p:txBody>
          <a:bodyPr wrap="square" rtlCol="0" anchor="ctr"/>
          <a:lstStyle/>
          <a:p>
            <a:pPr marL="0" indent="0" algn="ctr">
              <a:buNone/>
            </a:pPr>
            <a:r>
              <a:rPr lang="en-US" sz="1000" dirty="0">
                <a:solidFill>
                  <a:srgbClr val="F0F4FF"/>
                </a:solidFill>
              </a:rPr>
              <a:t>⚠ Long commercialization timeline</a:t>
            </a:r>
            <a:endParaRPr lang="en-US" sz="1000" dirty="0"/>
          </a:p>
        </p:txBody>
      </p:sp>
      <p:sp>
        <p:nvSpPr>
          <p:cNvPr id="31" name="Shape 29"/>
          <p:cNvSpPr/>
          <p:nvPr/>
        </p:nvSpPr>
        <p:spPr>
          <a:xfrm>
            <a:off x="4672809" y="4123944"/>
            <a:ext cx="1718622" cy="640080"/>
          </a:xfrm>
          <a:prstGeom prst="roundRect">
            <a:avLst>
              <a:gd name="adj" fmla="val 8571"/>
            </a:avLst>
          </a:prstGeom>
          <a:solidFill>
            <a:srgbClr val="EF4444">
              <a:alpha val="15000"/>
            </a:srgbClr>
          </a:solidFill>
          <a:ln/>
        </p:spPr>
      </p:sp>
      <p:sp>
        <p:nvSpPr>
          <p:cNvPr id="32" name="Text 30"/>
          <p:cNvSpPr/>
          <p:nvPr/>
        </p:nvSpPr>
        <p:spPr>
          <a:xfrm>
            <a:off x="4210362" y="4108579"/>
            <a:ext cx="2468880" cy="640080"/>
          </a:xfrm>
          <a:prstGeom prst="rect">
            <a:avLst/>
          </a:prstGeom>
          <a:noFill/>
          <a:ln/>
        </p:spPr>
        <p:txBody>
          <a:bodyPr wrap="square" rtlCol="0" anchor="ctr"/>
          <a:lstStyle/>
          <a:p>
            <a:pPr marL="0" indent="0" algn="ctr">
              <a:buNone/>
            </a:pPr>
            <a:r>
              <a:rPr lang="en-US" sz="1000" dirty="0">
                <a:solidFill>
                  <a:srgbClr val="F0F4FF"/>
                </a:solidFill>
              </a:rPr>
              <a:t>⚠ Safety regulations</a:t>
            </a:r>
            <a:endParaRPr lang="en-US" sz="1000" dirty="0"/>
          </a:p>
        </p:txBody>
      </p:sp>
      <p:sp>
        <p:nvSpPr>
          <p:cNvPr id="33" name="Shape 31"/>
          <p:cNvSpPr/>
          <p:nvPr/>
        </p:nvSpPr>
        <p:spPr>
          <a:xfrm>
            <a:off x="6766560" y="4123944"/>
            <a:ext cx="1718622" cy="640080"/>
          </a:xfrm>
          <a:prstGeom prst="roundRect">
            <a:avLst>
              <a:gd name="adj" fmla="val 8571"/>
            </a:avLst>
          </a:prstGeom>
          <a:solidFill>
            <a:srgbClr val="EF4444">
              <a:alpha val="15000"/>
            </a:srgbClr>
          </a:solidFill>
          <a:ln/>
        </p:spPr>
      </p:sp>
      <p:sp>
        <p:nvSpPr>
          <p:cNvPr id="34" name="Text 32"/>
          <p:cNvSpPr/>
          <p:nvPr/>
        </p:nvSpPr>
        <p:spPr>
          <a:xfrm>
            <a:off x="6483434" y="4087368"/>
            <a:ext cx="2468880" cy="640080"/>
          </a:xfrm>
          <a:prstGeom prst="rect">
            <a:avLst/>
          </a:prstGeom>
          <a:noFill/>
          <a:ln/>
        </p:spPr>
        <p:txBody>
          <a:bodyPr wrap="square" rtlCol="0" anchor="ctr"/>
          <a:lstStyle/>
          <a:p>
            <a:pPr marL="0" indent="0" algn="ctr">
              <a:buNone/>
            </a:pPr>
            <a:r>
              <a:rPr lang="en-US" sz="1000" dirty="0">
                <a:solidFill>
                  <a:srgbClr val="F0F4FF"/>
                </a:solidFill>
              </a:rPr>
              <a:t>⚠ Public acceptance</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A855F7"/>
          </a:solidFill>
          <a:ln/>
        </p:spPr>
      </p:sp>
      <p:sp>
        <p:nvSpPr>
          <p:cNvPr id="3" name="Text 1"/>
          <p:cNvSpPr/>
          <p:nvPr/>
        </p:nvSpPr>
        <p:spPr>
          <a:xfrm>
            <a:off x="320040" y="137160"/>
            <a:ext cx="6400800" cy="457200"/>
          </a:xfrm>
          <a:prstGeom prst="rect">
            <a:avLst/>
          </a:prstGeom>
          <a:noFill/>
          <a:ln/>
        </p:spPr>
        <p:txBody>
          <a:bodyPr wrap="square" lIns="0" tIns="0" rIns="0" bIns="0" rtlCol="0" anchor="ctr"/>
          <a:lstStyle/>
          <a:p>
            <a:pPr marL="0" indent="0">
              <a:buNone/>
            </a:pPr>
            <a:r>
              <a:rPr lang="en-US" sz="2200" b="1" dirty="0">
                <a:solidFill>
                  <a:srgbClr val="FFFFFF"/>
                </a:solidFill>
              </a:rPr>
              <a:t>ROBOTICS — STOCK PICKS</a:t>
            </a:r>
            <a:endParaRPr lang="en-US" sz="2200" dirty="0"/>
          </a:p>
        </p:txBody>
      </p:sp>
      <p:sp>
        <p:nvSpPr>
          <p:cNvPr id="4" name="Text 2"/>
          <p:cNvSpPr/>
          <p:nvPr/>
        </p:nvSpPr>
        <p:spPr>
          <a:xfrm>
            <a:off x="320040" y="594360"/>
            <a:ext cx="8229600" cy="274320"/>
          </a:xfrm>
          <a:prstGeom prst="rect">
            <a:avLst/>
          </a:prstGeom>
          <a:noFill/>
          <a:ln/>
        </p:spPr>
        <p:txBody>
          <a:bodyPr wrap="square" rtlCol="0" anchor="ctr"/>
          <a:lstStyle/>
          <a:p>
            <a:pPr marL="0" indent="0">
              <a:buNone/>
            </a:pPr>
            <a:r>
              <a:rPr lang="en-US" sz="1100" dirty="0">
                <a:solidFill>
                  <a:srgbClr val="94A3B8"/>
                </a:solidFill>
              </a:rPr>
              <a:t>Investment perspective &amp; analyst targets</a:t>
            </a:r>
            <a:endParaRPr lang="en-US" sz="1100" dirty="0"/>
          </a:p>
        </p:txBody>
      </p:sp>
      <p:sp>
        <p:nvSpPr>
          <p:cNvPr id="5" name="Shape 3"/>
          <p:cNvSpPr/>
          <p:nvPr/>
        </p:nvSpPr>
        <p:spPr>
          <a:xfrm>
            <a:off x="320040" y="96012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6" name="Shape 4"/>
          <p:cNvSpPr/>
          <p:nvPr/>
        </p:nvSpPr>
        <p:spPr>
          <a:xfrm>
            <a:off x="457200" y="1051560"/>
            <a:ext cx="1280160" cy="566928"/>
          </a:xfrm>
          <a:prstGeom prst="roundRect">
            <a:avLst>
              <a:gd name="adj" fmla="val 11290"/>
            </a:avLst>
          </a:prstGeom>
          <a:solidFill>
            <a:srgbClr val="A855F7">
              <a:alpha val="85000"/>
            </a:srgbClr>
          </a:solidFill>
          <a:ln/>
        </p:spPr>
      </p:sp>
      <p:sp>
        <p:nvSpPr>
          <p:cNvPr id="7" name="Text 5"/>
          <p:cNvSpPr/>
          <p:nvPr/>
        </p:nvSpPr>
        <p:spPr>
          <a:xfrm>
            <a:off x="457200" y="105156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$TSLA</a:t>
            </a:r>
            <a:endParaRPr lang="en-US" sz="1400" dirty="0"/>
          </a:p>
        </p:txBody>
      </p:sp>
      <p:sp>
        <p:nvSpPr>
          <p:cNvPr id="8" name="Text 6"/>
          <p:cNvSpPr/>
          <p:nvPr/>
        </p:nvSpPr>
        <p:spPr>
          <a:xfrm>
            <a:off x="457200" y="136245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Tesla (Optimus)</a:t>
            </a:r>
            <a:endParaRPr lang="en-US" sz="750" dirty="0"/>
          </a:p>
        </p:txBody>
      </p:sp>
      <p:sp>
        <p:nvSpPr>
          <p:cNvPr id="9" name="Text 7"/>
          <p:cNvSpPr/>
          <p:nvPr/>
        </p:nvSpPr>
        <p:spPr>
          <a:xfrm>
            <a:off x="1920240" y="1051560"/>
            <a:ext cx="4846320" cy="566928"/>
          </a:xfrm>
          <a:prstGeom prst="rect">
            <a:avLst/>
          </a:prstGeom>
          <a:noFill/>
          <a:ln/>
        </p:spPr>
        <p:txBody>
          <a:bodyPr wrap="square" rtlCol="0" anchor="ctr"/>
          <a:lstStyle/>
          <a:p>
            <a:pPr marL="0" indent="0">
              <a:buNone/>
            </a:pPr>
            <a:r>
              <a:rPr lang="en-US" sz="1100" dirty="0">
                <a:solidFill>
                  <a:srgbClr val="F0F4FF"/>
                </a:solidFill>
              </a:rPr>
              <a:t>Optimus Gen2; in-house at Tesla factories; vertical integration advantage</a:t>
            </a:r>
            <a:endParaRPr lang="en-US" sz="1100" dirty="0"/>
          </a:p>
        </p:txBody>
      </p:sp>
      <p:sp>
        <p:nvSpPr>
          <p:cNvPr id="14" name="Shape 12"/>
          <p:cNvSpPr/>
          <p:nvPr/>
        </p:nvSpPr>
        <p:spPr>
          <a:xfrm>
            <a:off x="8046720" y="1216152"/>
            <a:ext cx="237744" cy="237744"/>
          </a:xfrm>
          <a:prstGeom prst="ellipse">
            <a:avLst/>
          </a:prstGeom>
          <a:solidFill>
            <a:srgbClr val="A855F7">
              <a:alpha val="30000"/>
            </a:srgbClr>
          </a:solidFill>
          <a:ln/>
        </p:spPr>
      </p:sp>
      <p:sp>
        <p:nvSpPr>
          <p:cNvPr id="15" name="Shape 13"/>
          <p:cNvSpPr/>
          <p:nvPr/>
        </p:nvSpPr>
        <p:spPr>
          <a:xfrm>
            <a:off x="320040" y="178308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16" name="Shape 14"/>
          <p:cNvSpPr/>
          <p:nvPr/>
        </p:nvSpPr>
        <p:spPr>
          <a:xfrm>
            <a:off x="457200" y="1874520"/>
            <a:ext cx="1280160" cy="566928"/>
          </a:xfrm>
          <a:prstGeom prst="roundRect">
            <a:avLst>
              <a:gd name="adj" fmla="val 11290"/>
            </a:avLst>
          </a:prstGeom>
          <a:solidFill>
            <a:srgbClr val="A855F7">
              <a:alpha val="85000"/>
            </a:srgbClr>
          </a:solidFill>
          <a:ln/>
        </p:spPr>
      </p:sp>
      <p:sp>
        <p:nvSpPr>
          <p:cNvPr id="17" name="Text 15"/>
          <p:cNvSpPr/>
          <p:nvPr/>
        </p:nvSpPr>
        <p:spPr>
          <a:xfrm>
            <a:off x="457200" y="187452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$NVDA</a:t>
            </a:r>
            <a:endParaRPr lang="en-US" sz="1400" dirty="0"/>
          </a:p>
        </p:txBody>
      </p:sp>
      <p:sp>
        <p:nvSpPr>
          <p:cNvPr id="18" name="Text 16"/>
          <p:cNvSpPr/>
          <p:nvPr/>
        </p:nvSpPr>
        <p:spPr>
          <a:xfrm>
            <a:off x="457200" y="218541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NVIDIA (Isaac)</a:t>
            </a:r>
            <a:endParaRPr lang="en-US" sz="750" dirty="0"/>
          </a:p>
        </p:txBody>
      </p:sp>
      <p:sp>
        <p:nvSpPr>
          <p:cNvPr id="19" name="Text 17"/>
          <p:cNvSpPr/>
          <p:nvPr/>
        </p:nvSpPr>
        <p:spPr>
          <a:xfrm>
            <a:off x="1920240" y="1874520"/>
            <a:ext cx="4846320" cy="566928"/>
          </a:xfrm>
          <a:prstGeom prst="rect">
            <a:avLst/>
          </a:prstGeom>
          <a:noFill/>
          <a:ln/>
        </p:spPr>
        <p:txBody>
          <a:bodyPr wrap="square" rtlCol="0" anchor="ctr"/>
          <a:lstStyle/>
          <a:p>
            <a:pPr marL="0" indent="0">
              <a:buNone/>
            </a:pPr>
            <a:r>
              <a:rPr lang="en-US" sz="1100" dirty="0">
                <a:solidFill>
                  <a:srgbClr val="F0F4FF"/>
                </a:solidFill>
              </a:rPr>
              <a:t>Isaac robotics platform; Jetson edge AI; simulation to real-world pipeline</a:t>
            </a:r>
            <a:endParaRPr lang="en-US" sz="1100" dirty="0"/>
          </a:p>
        </p:txBody>
      </p:sp>
      <p:sp>
        <p:nvSpPr>
          <p:cNvPr id="24" name="Shape 22"/>
          <p:cNvSpPr/>
          <p:nvPr/>
        </p:nvSpPr>
        <p:spPr>
          <a:xfrm>
            <a:off x="8046720" y="2039112"/>
            <a:ext cx="237744" cy="237744"/>
          </a:xfrm>
          <a:prstGeom prst="ellipse">
            <a:avLst/>
          </a:prstGeom>
          <a:solidFill>
            <a:srgbClr val="A855F7">
              <a:alpha val="30000"/>
            </a:srgbClr>
          </a:solidFill>
          <a:ln/>
        </p:spPr>
      </p:sp>
      <p:sp>
        <p:nvSpPr>
          <p:cNvPr id="25" name="Shape 23"/>
          <p:cNvSpPr/>
          <p:nvPr/>
        </p:nvSpPr>
        <p:spPr>
          <a:xfrm>
            <a:off x="320040" y="260604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26" name="Shape 24"/>
          <p:cNvSpPr/>
          <p:nvPr/>
        </p:nvSpPr>
        <p:spPr>
          <a:xfrm>
            <a:off x="457200" y="2697480"/>
            <a:ext cx="1280160" cy="566928"/>
          </a:xfrm>
          <a:prstGeom prst="roundRect">
            <a:avLst>
              <a:gd name="adj" fmla="val 11290"/>
            </a:avLst>
          </a:prstGeom>
          <a:solidFill>
            <a:srgbClr val="A855F7">
              <a:alpha val="85000"/>
            </a:srgbClr>
          </a:solidFill>
          <a:ln/>
        </p:spPr>
      </p:sp>
      <p:sp>
        <p:nvSpPr>
          <p:cNvPr id="27" name="Text 25"/>
          <p:cNvSpPr/>
          <p:nvPr/>
        </p:nvSpPr>
        <p:spPr>
          <a:xfrm>
            <a:off x="457200" y="269748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$ABB</a:t>
            </a:r>
            <a:endParaRPr lang="en-US" sz="1400" dirty="0"/>
          </a:p>
        </p:txBody>
      </p:sp>
      <p:sp>
        <p:nvSpPr>
          <p:cNvPr id="28" name="Text 26"/>
          <p:cNvSpPr/>
          <p:nvPr/>
        </p:nvSpPr>
        <p:spPr>
          <a:xfrm>
            <a:off x="457200" y="300837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ABB Ltd</a:t>
            </a:r>
            <a:endParaRPr lang="en-US" sz="750" dirty="0"/>
          </a:p>
        </p:txBody>
      </p:sp>
      <p:sp>
        <p:nvSpPr>
          <p:cNvPr id="29" name="Text 27"/>
          <p:cNvSpPr/>
          <p:nvPr/>
        </p:nvSpPr>
        <p:spPr>
          <a:xfrm>
            <a:off x="1920240" y="2697480"/>
            <a:ext cx="4846320" cy="566928"/>
          </a:xfrm>
          <a:prstGeom prst="rect">
            <a:avLst/>
          </a:prstGeom>
          <a:noFill/>
          <a:ln/>
        </p:spPr>
        <p:txBody>
          <a:bodyPr wrap="square" rtlCol="0" anchor="ctr"/>
          <a:lstStyle/>
          <a:p>
            <a:pPr marL="0" indent="0">
              <a:buNone/>
            </a:pPr>
            <a:r>
              <a:rPr lang="en-US" sz="1100" dirty="0">
                <a:solidFill>
                  <a:srgbClr val="F0F4FF"/>
                </a:solidFill>
              </a:rPr>
              <a:t>Industrial automation leader; collaborative robots + AI integration</a:t>
            </a:r>
            <a:endParaRPr lang="en-US" sz="1100" dirty="0"/>
          </a:p>
        </p:txBody>
      </p:sp>
      <p:sp>
        <p:nvSpPr>
          <p:cNvPr id="34" name="Shape 32"/>
          <p:cNvSpPr/>
          <p:nvPr/>
        </p:nvSpPr>
        <p:spPr>
          <a:xfrm>
            <a:off x="8046720" y="2862072"/>
            <a:ext cx="237744" cy="237744"/>
          </a:xfrm>
          <a:prstGeom prst="ellipse">
            <a:avLst/>
          </a:prstGeom>
          <a:solidFill>
            <a:srgbClr val="A855F7">
              <a:alpha val="30000"/>
            </a:srgbClr>
          </a:solidFill>
          <a:ln/>
        </p:spPr>
      </p:sp>
      <p:sp>
        <p:nvSpPr>
          <p:cNvPr id="35" name="Shape 33"/>
          <p:cNvSpPr/>
          <p:nvPr/>
        </p:nvSpPr>
        <p:spPr>
          <a:xfrm>
            <a:off x="320040" y="342900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36" name="Shape 34"/>
          <p:cNvSpPr/>
          <p:nvPr/>
        </p:nvSpPr>
        <p:spPr>
          <a:xfrm>
            <a:off x="457200" y="3520440"/>
            <a:ext cx="1280160" cy="566928"/>
          </a:xfrm>
          <a:prstGeom prst="roundRect">
            <a:avLst>
              <a:gd name="adj" fmla="val 11290"/>
            </a:avLst>
          </a:prstGeom>
          <a:solidFill>
            <a:srgbClr val="A855F7">
              <a:alpha val="85000"/>
            </a:srgbClr>
          </a:solidFill>
          <a:ln/>
        </p:spPr>
      </p:sp>
      <p:sp>
        <p:nvSpPr>
          <p:cNvPr id="37" name="Text 35"/>
          <p:cNvSpPr/>
          <p:nvPr/>
        </p:nvSpPr>
        <p:spPr>
          <a:xfrm>
            <a:off x="457200" y="352044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$FANUY</a:t>
            </a:r>
            <a:endParaRPr lang="en-US" sz="1400" dirty="0"/>
          </a:p>
        </p:txBody>
      </p:sp>
      <p:sp>
        <p:nvSpPr>
          <p:cNvPr id="38" name="Text 36"/>
          <p:cNvSpPr/>
          <p:nvPr/>
        </p:nvSpPr>
        <p:spPr>
          <a:xfrm>
            <a:off x="457200" y="383133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FANUC (ADR)</a:t>
            </a:r>
            <a:endParaRPr lang="en-US" sz="750" dirty="0"/>
          </a:p>
        </p:txBody>
      </p:sp>
      <p:sp>
        <p:nvSpPr>
          <p:cNvPr id="39" name="Text 37"/>
          <p:cNvSpPr/>
          <p:nvPr/>
        </p:nvSpPr>
        <p:spPr>
          <a:xfrm>
            <a:off x="1920240" y="3520440"/>
            <a:ext cx="4846320" cy="566928"/>
          </a:xfrm>
          <a:prstGeom prst="rect">
            <a:avLst/>
          </a:prstGeom>
          <a:noFill/>
          <a:ln/>
        </p:spPr>
        <p:txBody>
          <a:bodyPr wrap="square" rtlCol="0" anchor="ctr"/>
          <a:lstStyle/>
          <a:p>
            <a:pPr marL="0" indent="0">
              <a:buNone/>
            </a:pPr>
            <a:r>
              <a:rPr lang="en-US" sz="1100" dirty="0">
                <a:solidFill>
                  <a:srgbClr val="F0F4FF"/>
                </a:solidFill>
              </a:rPr>
              <a:t>Global #1 CNC &amp; industrial robot maker; Japan manufacturing leader</a:t>
            </a:r>
            <a:endParaRPr lang="en-US" sz="1100" dirty="0"/>
          </a:p>
        </p:txBody>
      </p:sp>
      <p:sp>
        <p:nvSpPr>
          <p:cNvPr id="44" name="Shape 42"/>
          <p:cNvSpPr/>
          <p:nvPr/>
        </p:nvSpPr>
        <p:spPr>
          <a:xfrm>
            <a:off x="8046720" y="3685032"/>
            <a:ext cx="237744" cy="237744"/>
          </a:xfrm>
          <a:prstGeom prst="ellipse">
            <a:avLst/>
          </a:prstGeom>
          <a:solidFill>
            <a:srgbClr val="A855F7">
              <a:alpha val="30000"/>
            </a:srgbClr>
          </a:solidFill>
          <a:ln/>
        </p:spPr>
      </p:sp>
      <p:sp>
        <p:nvSpPr>
          <p:cNvPr id="45" name="Shape 43"/>
          <p:cNvSpPr/>
          <p:nvPr/>
        </p:nvSpPr>
        <p:spPr>
          <a:xfrm>
            <a:off x="320040" y="4251960"/>
            <a:ext cx="8503920" cy="749808"/>
          </a:xfrm>
          <a:prstGeom prst="rect">
            <a:avLst/>
          </a:prstGeom>
          <a:solidFill>
            <a:srgbClr val="162050"/>
          </a:solidFill>
          <a:ln w="6350">
            <a:solidFill>
              <a:srgbClr val="FFFFFF">
                <a:alpha val="10000"/>
              </a:srgbClr>
            </a:solidFill>
            <a:prstDash val="solid"/>
          </a:ln>
          <a:effectLst>
            <a:outerShdw blurRad="101600" dist="38100" dir="2700000" algn="bl" rotWithShape="0">
              <a:srgbClr val="000000">
                <a:alpha val="18000"/>
              </a:srgbClr>
            </a:outerShdw>
          </a:effectLst>
        </p:spPr>
      </p:sp>
      <p:sp>
        <p:nvSpPr>
          <p:cNvPr id="46" name="Shape 44"/>
          <p:cNvSpPr/>
          <p:nvPr/>
        </p:nvSpPr>
        <p:spPr>
          <a:xfrm>
            <a:off x="457200" y="4343400"/>
            <a:ext cx="1280160" cy="566928"/>
          </a:xfrm>
          <a:prstGeom prst="roundRect">
            <a:avLst>
              <a:gd name="adj" fmla="val 11290"/>
            </a:avLst>
          </a:prstGeom>
          <a:solidFill>
            <a:srgbClr val="A855F7">
              <a:alpha val="85000"/>
            </a:srgbClr>
          </a:solidFill>
          <a:ln/>
        </p:spPr>
      </p:sp>
      <p:sp>
        <p:nvSpPr>
          <p:cNvPr id="47" name="Text 45"/>
          <p:cNvSpPr/>
          <p:nvPr/>
        </p:nvSpPr>
        <p:spPr>
          <a:xfrm>
            <a:off x="457200" y="4343400"/>
            <a:ext cx="1280160" cy="347472"/>
          </a:xfrm>
          <a:prstGeom prst="rect">
            <a:avLst/>
          </a:prstGeom>
          <a:noFill/>
          <a:ln/>
        </p:spPr>
        <p:txBody>
          <a:bodyPr wrap="square" lIns="0" tIns="0" rIns="0" bIns="0" rtlCol="0" anchor="b"/>
          <a:lstStyle/>
          <a:p>
            <a:pPr marL="0" indent="0" algn="ctr">
              <a:buNone/>
            </a:pPr>
            <a:r>
              <a:rPr lang="en-US" sz="1400" b="1" dirty="0">
                <a:solidFill>
                  <a:srgbClr val="FFFFFF"/>
                </a:solidFill>
              </a:rPr>
              <a:t>$ROCK</a:t>
            </a:r>
            <a:endParaRPr lang="en-US" sz="1400" dirty="0"/>
          </a:p>
        </p:txBody>
      </p:sp>
      <p:sp>
        <p:nvSpPr>
          <p:cNvPr id="48" name="Text 46"/>
          <p:cNvSpPr/>
          <p:nvPr/>
        </p:nvSpPr>
        <p:spPr>
          <a:xfrm>
            <a:off x="457200" y="4654296"/>
            <a:ext cx="1280160" cy="256032"/>
          </a:xfrm>
          <a:prstGeom prst="rect">
            <a:avLst/>
          </a:prstGeom>
          <a:noFill/>
          <a:ln/>
        </p:spPr>
        <p:txBody>
          <a:bodyPr wrap="square" lIns="0" tIns="0" rIns="0" bIns="0" rtlCol="0" anchor="ctr"/>
          <a:lstStyle/>
          <a:p>
            <a:pPr marL="0" indent="0" algn="ctr">
              <a:buNone/>
            </a:pPr>
            <a:r>
              <a:rPr lang="en-US" sz="750" dirty="0">
                <a:solidFill>
                  <a:srgbClr val="F0F4FF"/>
                </a:solidFill>
              </a:rPr>
              <a:t>Figure AI / Private</a:t>
            </a:r>
            <a:endParaRPr lang="en-US" sz="750" dirty="0"/>
          </a:p>
        </p:txBody>
      </p:sp>
      <p:sp>
        <p:nvSpPr>
          <p:cNvPr id="49" name="Text 47"/>
          <p:cNvSpPr/>
          <p:nvPr/>
        </p:nvSpPr>
        <p:spPr>
          <a:xfrm>
            <a:off x="1920240" y="4343400"/>
            <a:ext cx="4846320" cy="566928"/>
          </a:xfrm>
          <a:prstGeom prst="rect">
            <a:avLst/>
          </a:prstGeom>
          <a:noFill/>
          <a:ln/>
        </p:spPr>
        <p:txBody>
          <a:bodyPr wrap="square" rtlCol="0" anchor="ctr"/>
          <a:lstStyle/>
          <a:p>
            <a:pPr marL="0" indent="0">
              <a:buNone/>
            </a:pPr>
            <a:r>
              <a:rPr lang="en-US" sz="1100" dirty="0">
                <a:solidFill>
                  <a:srgbClr val="F0F4FF"/>
                </a:solidFill>
              </a:rPr>
              <a:t>Humanoid robot startup backed by MSFT, NVDA, OPENAI; IPO watch</a:t>
            </a:r>
            <a:endParaRPr lang="en-US" sz="1100" dirty="0"/>
          </a:p>
        </p:txBody>
      </p:sp>
      <p:sp>
        <p:nvSpPr>
          <p:cNvPr id="54" name="Shape 52"/>
          <p:cNvSpPr/>
          <p:nvPr/>
        </p:nvSpPr>
        <p:spPr>
          <a:xfrm>
            <a:off x="8046720" y="4507992"/>
            <a:ext cx="237744" cy="237744"/>
          </a:xfrm>
          <a:prstGeom prst="ellipse">
            <a:avLst/>
          </a:prstGeom>
          <a:solidFill>
            <a:srgbClr val="A855F7">
              <a:alpha val="30000"/>
            </a:srgbClr>
          </a:solidFill>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651510"/>
          </a:xfrm>
          <a:prstGeom prst="rect">
            <a:avLst/>
          </a:prstGeom>
          <a:solidFill>
            <a:srgbClr val="101828"/>
          </a:solidFill>
          <a:ln/>
        </p:spPr>
      </p:sp>
      <p:sp>
        <p:nvSpPr>
          <p:cNvPr id="3" name="Text 1"/>
          <p:cNvSpPr/>
          <p:nvPr/>
        </p:nvSpPr>
        <p:spPr>
          <a:xfrm>
            <a:off x="240030" y="54864"/>
            <a:ext cx="6172200" cy="514350"/>
          </a:xfrm>
          <a:prstGeom prst="rect">
            <a:avLst/>
          </a:prstGeom>
          <a:noFill/>
          <a:ln/>
        </p:spPr>
        <p:txBody>
          <a:bodyPr wrap="square" lIns="0" tIns="0" rIns="0" bIns="0" rtlCol="0" anchor="ctr"/>
          <a:lstStyle/>
          <a:p>
            <a:r>
              <a:rPr lang="en-US" sz="1650" b="1" dirty="0">
                <a:solidFill>
                  <a:srgbClr val="F5C842"/>
                </a:solidFill>
                <a:latin typeface="Calibri" pitchFamily="34" charset="0"/>
                <a:ea typeface="Calibri" pitchFamily="34" charset="-122"/>
                <a:cs typeface="Calibri" pitchFamily="34" charset="-120"/>
              </a:rPr>
              <a:t>SPECIAL FOCUS: ROBOTICS &amp; PHYSICAL AI</a:t>
            </a:r>
            <a:endParaRPr lang="en-US" sz="1650" dirty="0"/>
          </a:p>
        </p:txBody>
      </p:sp>
      <p:sp>
        <p:nvSpPr>
          <p:cNvPr id="4" name="Text 2"/>
          <p:cNvSpPr/>
          <p:nvPr/>
        </p:nvSpPr>
        <p:spPr>
          <a:xfrm>
            <a:off x="240030" y="377190"/>
            <a:ext cx="8229600" cy="260604"/>
          </a:xfrm>
          <a:prstGeom prst="rect">
            <a:avLst/>
          </a:prstGeom>
          <a:noFill/>
          <a:ln/>
        </p:spPr>
        <p:txBody>
          <a:bodyPr wrap="square" lIns="0" tIns="0" rIns="0" bIns="0" rtlCol="0" anchor="ctr"/>
          <a:lstStyle/>
          <a:p>
            <a:r>
              <a:rPr lang="en-US" sz="825" dirty="0">
                <a:solidFill>
                  <a:srgbClr val="94A3B8"/>
                </a:solidFill>
                <a:latin typeface="Calibri" pitchFamily="34" charset="0"/>
                <a:ea typeface="Calibri" pitchFamily="34" charset="-122"/>
                <a:cs typeface="Calibri" pitchFamily="34" charset="-120"/>
              </a:rPr>
              <a:t>Tesla Optimus · NVIDIA GROOT · ARM Edge · The Coming Physical AI Wave</a:t>
            </a:r>
            <a:endParaRPr lang="en-US" sz="825" dirty="0"/>
          </a:p>
        </p:txBody>
      </p:sp>
      <p:sp>
        <p:nvSpPr>
          <p:cNvPr id="7" name="Text 5"/>
          <p:cNvSpPr/>
          <p:nvPr/>
        </p:nvSpPr>
        <p:spPr>
          <a:xfrm>
            <a:off x="240030" y="740664"/>
            <a:ext cx="8641080" cy="288036"/>
          </a:xfrm>
          <a:prstGeom prst="rect">
            <a:avLst/>
          </a:prstGeom>
          <a:noFill/>
          <a:ln/>
        </p:spPr>
        <p:txBody>
          <a:bodyPr wrap="square" lIns="0" tIns="0" rIns="0" bIns="0" rtlCol="0" anchor="ctr"/>
          <a:lstStyle/>
          <a:p>
            <a:r>
              <a:rPr lang="en-US" sz="750" dirty="0">
                <a:solidFill>
                  <a:srgbClr val="94A3B8"/>
                </a:solidFill>
                <a:latin typeface="Calibri" pitchFamily="34" charset="0"/>
                <a:ea typeface="Calibri" pitchFamily="34" charset="-122"/>
                <a:cs typeface="Calibri" pitchFamily="34" charset="-120"/>
              </a:rPr>
              <a:t>Physical AI — robots, autonomous vehicles, and edge inference — is the next major wave after software AI. The same chips, models, and cloud infrastructure power physical AI at the edge. This is potentially a 10x larger market than software AI alone.</a:t>
            </a:r>
            <a:endParaRPr lang="en-US" sz="750" dirty="0"/>
          </a:p>
        </p:txBody>
      </p:sp>
      <p:sp>
        <p:nvSpPr>
          <p:cNvPr id="8" name="Shape 6"/>
          <p:cNvSpPr/>
          <p:nvPr/>
        </p:nvSpPr>
        <p:spPr>
          <a:xfrm>
            <a:off x="240030" y="1110996"/>
            <a:ext cx="2091690" cy="1748790"/>
          </a:xfrm>
          <a:prstGeom prst="roundRect">
            <a:avLst>
              <a:gd name="adj" fmla="val 3137"/>
            </a:avLst>
          </a:prstGeom>
          <a:solidFill>
            <a:srgbClr val="131F35"/>
          </a:solidFill>
          <a:ln/>
          <a:effectLst>
            <a:outerShdw blurRad="127000" dist="38100" dir="2700000" algn="bl" rotWithShape="0">
              <a:srgbClr val="000000">
                <a:alpha val="30000"/>
              </a:srgbClr>
            </a:outerShdw>
          </a:effectLst>
        </p:spPr>
      </p:sp>
      <p:sp>
        <p:nvSpPr>
          <p:cNvPr id="9" name="Text 7"/>
          <p:cNvSpPr/>
          <p:nvPr/>
        </p:nvSpPr>
        <p:spPr>
          <a:xfrm>
            <a:off x="342900" y="1179576"/>
            <a:ext cx="377190" cy="342900"/>
          </a:xfrm>
          <a:prstGeom prst="rect">
            <a:avLst/>
          </a:prstGeom>
          <a:noFill/>
          <a:ln/>
        </p:spPr>
        <p:txBody>
          <a:bodyPr wrap="square" lIns="0" tIns="0" rIns="0" bIns="0" rtlCol="0" anchor="ctr"/>
          <a:lstStyle/>
          <a:p>
            <a:pPr algn="ctr"/>
            <a:r>
              <a:rPr lang="en-US" sz="1650" dirty="0">
                <a:solidFill>
                  <a:srgbClr val="FFFFFF"/>
                </a:solidFill>
                <a:latin typeface="Calibri" pitchFamily="34" charset="0"/>
                <a:ea typeface="Calibri" pitchFamily="34" charset="-122"/>
                <a:cs typeface="Calibri" pitchFamily="34" charset="-120"/>
              </a:rPr>
              <a:t>🤖</a:t>
            </a:r>
            <a:endParaRPr lang="en-US" sz="1650" dirty="0"/>
          </a:p>
        </p:txBody>
      </p:sp>
      <p:sp>
        <p:nvSpPr>
          <p:cNvPr id="10" name="Text 8"/>
          <p:cNvSpPr/>
          <p:nvPr/>
        </p:nvSpPr>
        <p:spPr>
          <a:xfrm>
            <a:off x="342900" y="1522476"/>
            <a:ext cx="1885950" cy="219456"/>
          </a:xfrm>
          <a:prstGeom prst="rect">
            <a:avLst/>
          </a:prstGeom>
          <a:noFill/>
          <a:ln/>
        </p:spPr>
        <p:txBody>
          <a:bodyPr wrap="square" lIns="0" tIns="0" rIns="0" bIns="0" rtlCol="0" anchor="ctr"/>
          <a:lstStyle/>
          <a:p>
            <a:r>
              <a:rPr lang="en-US" sz="900" b="1" dirty="0">
                <a:solidFill>
                  <a:srgbClr val="F5C842"/>
                </a:solidFill>
                <a:latin typeface="Calibri" pitchFamily="34" charset="0"/>
                <a:ea typeface="Calibri" pitchFamily="34" charset="-122"/>
                <a:cs typeface="Calibri" pitchFamily="34" charset="-120"/>
              </a:rPr>
              <a:t>Humanoid Robots</a:t>
            </a:r>
            <a:endParaRPr lang="en-US" sz="900" dirty="0"/>
          </a:p>
        </p:txBody>
      </p:sp>
      <p:sp>
        <p:nvSpPr>
          <p:cNvPr id="11" name="Text 9"/>
          <p:cNvSpPr/>
          <p:nvPr/>
        </p:nvSpPr>
        <p:spPr>
          <a:xfrm>
            <a:off x="342900" y="1783080"/>
            <a:ext cx="1885950" cy="973836"/>
          </a:xfrm>
          <a:prstGeom prst="rect">
            <a:avLst/>
          </a:prstGeom>
          <a:noFill/>
          <a:ln/>
        </p:spPr>
        <p:txBody>
          <a:bodyPr wrap="square" lIns="0" tIns="0" rIns="0" bIns="0" rtlCol="0" anchor="ctr"/>
          <a:lstStyle/>
          <a:p>
            <a:r>
              <a:rPr lang="en-US" sz="900" dirty="0">
                <a:solidFill>
                  <a:srgbClr val="E2E8F0"/>
                </a:solidFill>
                <a:latin typeface="Calibri" pitchFamily="34" charset="0"/>
                <a:ea typeface="Calibri" pitchFamily="34" charset="-122"/>
                <a:cs typeface="Calibri" pitchFamily="34" charset="-120"/>
              </a:rPr>
              <a:t>Tesla Optimus Gen 2 deploying 1,000 robots in Tesla factories by end-2025. Figure AI, Boston Dynamics, 1X all funded. NVIDIA GROOT foundation model for robotics. TAM: $1T+ over 10 years.</a:t>
            </a:r>
            <a:endParaRPr lang="en-US" sz="900" dirty="0"/>
          </a:p>
        </p:txBody>
      </p:sp>
      <p:sp>
        <p:nvSpPr>
          <p:cNvPr id="12" name="Shape 10"/>
          <p:cNvSpPr/>
          <p:nvPr/>
        </p:nvSpPr>
        <p:spPr>
          <a:xfrm>
            <a:off x="2448306" y="1110996"/>
            <a:ext cx="2091690" cy="1748790"/>
          </a:xfrm>
          <a:prstGeom prst="roundRect">
            <a:avLst>
              <a:gd name="adj" fmla="val 3137"/>
            </a:avLst>
          </a:prstGeom>
          <a:solidFill>
            <a:srgbClr val="131F35"/>
          </a:solidFill>
          <a:ln/>
          <a:effectLst>
            <a:outerShdw blurRad="127000" dist="38100" dir="2700000" algn="bl" rotWithShape="0">
              <a:srgbClr val="000000">
                <a:alpha val="30000"/>
              </a:srgbClr>
            </a:outerShdw>
          </a:effectLst>
        </p:spPr>
      </p:sp>
      <p:sp>
        <p:nvSpPr>
          <p:cNvPr id="13" name="Text 11"/>
          <p:cNvSpPr/>
          <p:nvPr/>
        </p:nvSpPr>
        <p:spPr>
          <a:xfrm>
            <a:off x="2551176" y="1179576"/>
            <a:ext cx="377190" cy="342900"/>
          </a:xfrm>
          <a:prstGeom prst="rect">
            <a:avLst/>
          </a:prstGeom>
          <a:noFill/>
          <a:ln/>
        </p:spPr>
        <p:txBody>
          <a:bodyPr wrap="square" lIns="0" tIns="0" rIns="0" bIns="0" rtlCol="0" anchor="ctr"/>
          <a:lstStyle/>
          <a:p>
            <a:pPr algn="ctr"/>
            <a:r>
              <a:rPr lang="en-US" sz="1650" dirty="0">
                <a:solidFill>
                  <a:srgbClr val="FFFFFF"/>
                </a:solidFill>
                <a:latin typeface="Calibri" pitchFamily="34" charset="0"/>
                <a:ea typeface="Calibri" pitchFamily="34" charset="-122"/>
                <a:cs typeface="Calibri" pitchFamily="34" charset="-120"/>
              </a:rPr>
              <a:t>🚗</a:t>
            </a:r>
            <a:endParaRPr lang="en-US" sz="1650" dirty="0"/>
          </a:p>
        </p:txBody>
      </p:sp>
      <p:sp>
        <p:nvSpPr>
          <p:cNvPr id="14" name="Text 12"/>
          <p:cNvSpPr/>
          <p:nvPr/>
        </p:nvSpPr>
        <p:spPr>
          <a:xfrm>
            <a:off x="2551176" y="1522476"/>
            <a:ext cx="1885950" cy="219456"/>
          </a:xfrm>
          <a:prstGeom prst="rect">
            <a:avLst/>
          </a:prstGeom>
          <a:noFill/>
          <a:ln/>
        </p:spPr>
        <p:txBody>
          <a:bodyPr wrap="square" lIns="0" tIns="0" rIns="0" bIns="0" rtlCol="0" anchor="ctr"/>
          <a:lstStyle/>
          <a:p>
            <a:r>
              <a:rPr lang="en-US" sz="900" b="1" dirty="0">
                <a:solidFill>
                  <a:srgbClr val="4F9CF9"/>
                </a:solidFill>
                <a:latin typeface="Calibri" pitchFamily="34" charset="0"/>
                <a:ea typeface="Calibri" pitchFamily="34" charset="-122"/>
                <a:cs typeface="Calibri" pitchFamily="34" charset="-120"/>
              </a:rPr>
              <a:t>Autonomous Vehicles</a:t>
            </a:r>
            <a:endParaRPr lang="en-US" sz="900" dirty="0"/>
          </a:p>
        </p:txBody>
      </p:sp>
      <p:sp>
        <p:nvSpPr>
          <p:cNvPr id="15" name="Text 13"/>
          <p:cNvSpPr/>
          <p:nvPr/>
        </p:nvSpPr>
        <p:spPr>
          <a:xfrm>
            <a:off x="2551176" y="1783080"/>
            <a:ext cx="1885950" cy="973836"/>
          </a:xfrm>
          <a:prstGeom prst="rect">
            <a:avLst/>
          </a:prstGeom>
          <a:noFill/>
          <a:ln/>
        </p:spPr>
        <p:txBody>
          <a:bodyPr wrap="square" lIns="0" tIns="0" rIns="0" bIns="0" rtlCol="0" anchor="ctr"/>
          <a:lstStyle/>
          <a:p>
            <a:r>
              <a:rPr lang="en-US" sz="900" dirty="0">
                <a:solidFill>
                  <a:srgbClr val="E2E8F0"/>
                </a:solidFill>
                <a:latin typeface="Calibri" pitchFamily="34" charset="0"/>
                <a:ea typeface="Calibri" pitchFamily="34" charset="-122"/>
                <a:cs typeface="Calibri" pitchFamily="34" charset="-120"/>
              </a:rPr>
              <a:t>Tesla FSD v13 approaching autonomous approval. Waymo scaling in US cities. Comma.ai democratizing AV. ARM architecture powers every modern ADAS system. Edge AI inference is the bottleneck.</a:t>
            </a:r>
            <a:endParaRPr lang="en-US" sz="900" dirty="0"/>
          </a:p>
        </p:txBody>
      </p:sp>
      <p:sp>
        <p:nvSpPr>
          <p:cNvPr id="16" name="Shape 14"/>
          <p:cNvSpPr/>
          <p:nvPr/>
        </p:nvSpPr>
        <p:spPr>
          <a:xfrm>
            <a:off x="4656582" y="1110996"/>
            <a:ext cx="2091690" cy="1748790"/>
          </a:xfrm>
          <a:prstGeom prst="roundRect">
            <a:avLst>
              <a:gd name="adj" fmla="val 3137"/>
            </a:avLst>
          </a:prstGeom>
          <a:solidFill>
            <a:srgbClr val="131F35"/>
          </a:solidFill>
          <a:ln/>
          <a:effectLst>
            <a:outerShdw blurRad="127000" dist="38100" dir="2700000" algn="bl" rotWithShape="0">
              <a:srgbClr val="000000">
                <a:alpha val="30000"/>
              </a:srgbClr>
            </a:outerShdw>
          </a:effectLst>
        </p:spPr>
      </p:sp>
      <p:sp>
        <p:nvSpPr>
          <p:cNvPr id="17" name="Text 15"/>
          <p:cNvSpPr/>
          <p:nvPr/>
        </p:nvSpPr>
        <p:spPr>
          <a:xfrm>
            <a:off x="4759452" y="1179576"/>
            <a:ext cx="377190" cy="342900"/>
          </a:xfrm>
          <a:prstGeom prst="rect">
            <a:avLst/>
          </a:prstGeom>
          <a:noFill/>
          <a:ln/>
        </p:spPr>
        <p:txBody>
          <a:bodyPr wrap="square" lIns="0" tIns="0" rIns="0" bIns="0" rtlCol="0" anchor="ctr"/>
          <a:lstStyle/>
          <a:p>
            <a:pPr algn="ctr"/>
            <a:r>
              <a:rPr lang="en-US" sz="1650" dirty="0">
                <a:solidFill>
                  <a:srgbClr val="FFFFFF"/>
                </a:solidFill>
                <a:latin typeface="Calibri" pitchFamily="34" charset="0"/>
                <a:ea typeface="Calibri" pitchFamily="34" charset="-122"/>
                <a:cs typeface="Calibri" pitchFamily="34" charset="-120"/>
              </a:rPr>
              <a:t>🏭</a:t>
            </a:r>
            <a:endParaRPr lang="en-US" sz="1650" dirty="0"/>
          </a:p>
        </p:txBody>
      </p:sp>
      <p:sp>
        <p:nvSpPr>
          <p:cNvPr id="18" name="Text 16"/>
          <p:cNvSpPr/>
          <p:nvPr/>
        </p:nvSpPr>
        <p:spPr>
          <a:xfrm>
            <a:off x="4759452" y="1522476"/>
            <a:ext cx="1885950" cy="219456"/>
          </a:xfrm>
          <a:prstGeom prst="rect">
            <a:avLst/>
          </a:prstGeom>
          <a:noFill/>
          <a:ln/>
        </p:spPr>
        <p:txBody>
          <a:bodyPr wrap="square" lIns="0" tIns="0" rIns="0" bIns="0" rtlCol="0" anchor="ctr"/>
          <a:lstStyle/>
          <a:p>
            <a:r>
              <a:rPr lang="en-US" sz="900" b="1" dirty="0">
                <a:solidFill>
                  <a:srgbClr val="A855F7"/>
                </a:solidFill>
                <a:latin typeface="Calibri" pitchFamily="34" charset="0"/>
                <a:ea typeface="Calibri" pitchFamily="34" charset="-122"/>
                <a:cs typeface="Calibri" pitchFamily="34" charset="-120"/>
              </a:rPr>
              <a:t>Industrial Automation</a:t>
            </a:r>
            <a:endParaRPr lang="en-US" sz="900" dirty="0"/>
          </a:p>
        </p:txBody>
      </p:sp>
      <p:sp>
        <p:nvSpPr>
          <p:cNvPr id="19" name="Text 17"/>
          <p:cNvSpPr/>
          <p:nvPr/>
        </p:nvSpPr>
        <p:spPr>
          <a:xfrm>
            <a:off x="4759452" y="1783080"/>
            <a:ext cx="1885950" cy="973836"/>
          </a:xfrm>
          <a:prstGeom prst="rect">
            <a:avLst/>
          </a:prstGeom>
          <a:noFill/>
          <a:ln/>
        </p:spPr>
        <p:txBody>
          <a:bodyPr wrap="square" lIns="0" tIns="0" rIns="0" bIns="0" rtlCol="0" anchor="ctr"/>
          <a:lstStyle/>
          <a:p>
            <a:r>
              <a:rPr lang="en-US" sz="900" dirty="0">
                <a:solidFill>
                  <a:srgbClr val="E2E8F0"/>
                </a:solidFill>
                <a:latin typeface="Calibri" pitchFamily="34" charset="0"/>
                <a:ea typeface="Calibri" pitchFamily="34" charset="-122"/>
                <a:cs typeface="Calibri" pitchFamily="34" charset="-120"/>
              </a:rPr>
              <a:t>NVIDIA Omniverse + Isaac Robotics platform. Every major manufacturer evaluating AI robotics for assembly lines. Foxconn, BMW, Amazon warehouses. $500B industrial automation market being AI-ified.</a:t>
            </a:r>
            <a:endParaRPr lang="en-US" sz="900" dirty="0"/>
          </a:p>
        </p:txBody>
      </p:sp>
      <p:sp>
        <p:nvSpPr>
          <p:cNvPr id="20" name="Shape 18"/>
          <p:cNvSpPr/>
          <p:nvPr/>
        </p:nvSpPr>
        <p:spPr>
          <a:xfrm>
            <a:off x="6864858" y="1110996"/>
            <a:ext cx="2091690" cy="1748790"/>
          </a:xfrm>
          <a:prstGeom prst="roundRect">
            <a:avLst>
              <a:gd name="adj" fmla="val 3137"/>
            </a:avLst>
          </a:prstGeom>
          <a:solidFill>
            <a:srgbClr val="131F35"/>
          </a:solidFill>
          <a:ln/>
          <a:effectLst>
            <a:outerShdw blurRad="127000" dist="38100" dir="2700000" algn="bl" rotWithShape="0">
              <a:srgbClr val="000000">
                <a:alpha val="30000"/>
              </a:srgbClr>
            </a:outerShdw>
          </a:effectLst>
        </p:spPr>
      </p:sp>
      <p:sp>
        <p:nvSpPr>
          <p:cNvPr id="21" name="Text 19"/>
          <p:cNvSpPr/>
          <p:nvPr/>
        </p:nvSpPr>
        <p:spPr>
          <a:xfrm>
            <a:off x="6967728" y="1179576"/>
            <a:ext cx="377190" cy="342900"/>
          </a:xfrm>
          <a:prstGeom prst="rect">
            <a:avLst/>
          </a:prstGeom>
          <a:noFill/>
          <a:ln/>
        </p:spPr>
        <p:txBody>
          <a:bodyPr wrap="square" lIns="0" tIns="0" rIns="0" bIns="0" rtlCol="0" anchor="ctr"/>
          <a:lstStyle/>
          <a:p>
            <a:pPr algn="ctr"/>
            <a:r>
              <a:rPr lang="en-US" sz="1650" dirty="0">
                <a:solidFill>
                  <a:srgbClr val="FFFFFF"/>
                </a:solidFill>
                <a:latin typeface="Calibri" pitchFamily="34" charset="0"/>
                <a:ea typeface="Calibri" pitchFamily="34" charset="-122"/>
                <a:cs typeface="Calibri" pitchFamily="34" charset="-120"/>
              </a:rPr>
              <a:t>⚡</a:t>
            </a:r>
            <a:endParaRPr lang="en-US" sz="1650" dirty="0"/>
          </a:p>
        </p:txBody>
      </p:sp>
      <p:sp>
        <p:nvSpPr>
          <p:cNvPr id="22" name="Text 20"/>
          <p:cNvSpPr/>
          <p:nvPr/>
        </p:nvSpPr>
        <p:spPr>
          <a:xfrm>
            <a:off x="6967728" y="1522476"/>
            <a:ext cx="1885950" cy="219456"/>
          </a:xfrm>
          <a:prstGeom prst="rect">
            <a:avLst/>
          </a:prstGeom>
          <a:noFill/>
          <a:ln/>
        </p:spPr>
        <p:txBody>
          <a:bodyPr wrap="square" lIns="0" tIns="0" rIns="0" bIns="0" rtlCol="0" anchor="ctr"/>
          <a:lstStyle/>
          <a:p>
            <a:r>
              <a:rPr lang="en-US" sz="900" b="1" dirty="0">
                <a:solidFill>
                  <a:srgbClr val="22D3EE"/>
                </a:solidFill>
                <a:latin typeface="Calibri" pitchFamily="34" charset="0"/>
                <a:ea typeface="Calibri" pitchFamily="34" charset="-122"/>
                <a:cs typeface="Calibri" pitchFamily="34" charset="-120"/>
              </a:rPr>
              <a:t>Edge AI Infrastructure</a:t>
            </a:r>
            <a:endParaRPr lang="en-US" sz="900" dirty="0"/>
          </a:p>
        </p:txBody>
      </p:sp>
      <p:sp>
        <p:nvSpPr>
          <p:cNvPr id="23" name="Text 21"/>
          <p:cNvSpPr/>
          <p:nvPr/>
        </p:nvSpPr>
        <p:spPr>
          <a:xfrm>
            <a:off x="6967728" y="1783080"/>
            <a:ext cx="1885950" cy="973836"/>
          </a:xfrm>
          <a:prstGeom prst="rect">
            <a:avLst/>
          </a:prstGeom>
          <a:noFill/>
          <a:ln/>
        </p:spPr>
        <p:txBody>
          <a:bodyPr wrap="square" lIns="0" tIns="0" rIns="0" bIns="0" rtlCol="0" anchor="ctr"/>
          <a:lstStyle/>
          <a:p>
            <a:r>
              <a:rPr lang="en-US" sz="900" dirty="0">
                <a:solidFill>
                  <a:srgbClr val="E2E8F0"/>
                </a:solidFill>
                <a:latin typeface="Calibri" pitchFamily="34" charset="0"/>
                <a:ea typeface="Calibri" pitchFamily="34" charset="-122"/>
                <a:cs typeface="Calibri" pitchFamily="34" charset="-120"/>
              </a:rPr>
              <a:t>Every robot needs: ARM processors, NVIDIA GPUs (Jetson), memory (MU), and connectivity. The infrastructure stack repeats itself at the edge. Companies already in the stack win again.</a:t>
            </a:r>
            <a:endParaRPr lang="en-US" sz="900" dirty="0"/>
          </a:p>
        </p:txBody>
      </p:sp>
      <p:sp>
        <p:nvSpPr>
          <p:cNvPr id="24" name="Text 22"/>
          <p:cNvSpPr/>
          <p:nvPr/>
        </p:nvSpPr>
        <p:spPr>
          <a:xfrm>
            <a:off x="240030" y="2983230"/>
            <a:ext cx="8641080" cy="205740"/>
          </a:xfrm>
          <a:prstGeom prst="rect">
            <a:avLst/>
          </a:prstGeom>
          <a:noFill/>
          <a:ln/>
        </p:spPr>
        <p:txBody>
          <a:bodyPr wrap="square" lIns="0" tIns="0" rIns="0" bIns="0" rtlCol="0" anchor="ctr"/>
          <a:lstStyle/>
          <a:p>
            <a:r>
              <a:rPr lang="en-US" sz="750" b="1" kern="0" spc="150" dirty="0">
                <a:solidFill>
                  <a:srgbClr val="4F9CF9"/>
                </a:solidFill>
                <a:latin typeface="Calibri" pitchFamily="34" charset="0"/>
                <a:ea typeface="Calibri" pitchFamily="34" charset="-122"/>
                <a:cs typeface="Calibri" pitchFamily="34" charset="-120"/>
              </a:rPr>
              <a:t>WHICH STACK COMPANIES WIN IN PHYSICAL AI?</a:t>
            </a:r>
            <a:endParaRPr lang="en-US" sz="750" dirty="0"/>
          </a:p>
        </p:txBody>
      </p:sp>
      <p:sp>
        <p:nvSpPr>
          <p:cNvPr id="25" name="Shape 23"/>
          <p:cNvSpPr/>
          <p:nvPr/>
        </p:nvSpPr>
        <p:spPr>
          <a:xfrm>
            <a:off x="240030" y="3257550"/>
            <a:ext cx="277749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26" name="Text 24"/>
          <p:cNvSpPr/>
          <p:nvPr/>
        </p:nvSpPr>
        <p:spPr>
          <a:xfrm>
            <a:off x="322326" y="3312414"/>
            <a:ext cx="582930" cy="260604"/>
          </a:xfrm>
          <a:prstGeom prst="rect">
            <a:avLst/>
          </a:prstGeom>
          <a:noFill/>
          <a:ln/>
        </p:spPr>
        <p:txBody>
          <a:bodyPr wrap="square" lIns="0" tIns="0" rIns="0" bIns="0" rtlCol="0" anchor="ctr"/>
          <a:lstStyle/>
          <a:p>
            <a:r>
              <a:rPr lang="en-US" sz="1050" b="1" dirty="0">
                <a:solidFill>
                  <a:srgbClr val="A855F7"/>
                </a:solidFill>
                <a:latin typeface="Cambria" pitchFamily="34" charset="0"/>
                <a:ea typeface="Cambria" pitchFamily="34" charset="-122"/>
                <a:cs typeface="Cambria" pitchFamily="34" charset="-120"/>
              </a:rPr>
              <a:t>NVDA</a:t>
            </a:r>
            <a:endParaRPr lang="en-US" sz="1050" dirty="0"/>
          </a:p>
        </p:txBody>
      </p:sp>
      <p:sp>
        <p:nvSpPr>
          <p:cNvPr id="27" name="Text 25"/>
          <p:cNvSpPr/>
          <p:nvPr/>
        </p:nvSpPr>
        <p:spPr>
          <a:xfrm>
            <a:off x="912114" y="3312414"/>
            <a:ext cx="2023110" cy="630936"/>
          </a:xfrm>
          <a:prstGeom prst="rect">
            <a:avLst/>
          </a:prstGeom>
          <a:noFill/>
          <a:ln/>
        </p:spPr>
        <p:txBody>
          <a:bodyPr wrap="square" lIns="0" tIns="0" rIns="0" bIns="0" rtlCol="0" anchor="ctr"/>
          <a:lstStyle/>
          <a:p>
            <a:r>
              <a:rPr lang="en-US" sz="788" dirty="0">
                <a:solidFill>
                  <a:srgbClr val="E2E8F0"/>
                </a:solidFill>
                <a:latin typeface="Calibri" pitchFamily="34" charset="0"/>
                <a:ea typeface="Calibri" pitchFamily="34" charset="-122"/>
                <a:cs typeface="Calibri" pitchFamily="34" charset="-120"/>
              </a:rPr>
              <a:t>GROOT robot foundation model. Jetson edge GPU. Isaac simulation. NVDA wins every AI wave — physical AI is next.</a:t>
            </a:r>
            <a:endParaRPr lang="en-US" sz="788" dirty="0"/>
          </a:p>
        </p:txBody>
      </p:sp>
      <p:sp>
        <p:nvSpPr>
          <p:cNvPr id="28" name="Shape 26"/>
          <p:cNvSpPr/>
          <p:nvPr/>
        </p:nvSpPr>
        <p:spPr>
          <a:xfrm>
            <a:off x="3175254" y="3257550"/>
            <a:ext cx="277749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29" name="Text 27"/>
          <p:cNvSpPr/>
          <p:nvPr/>
        </p:nvSpPr>
        <p:spPr>
          <a:xfrm>
            <a:off x="3257550" y="3312414"/>
            <a:ext cx="582930" cy="260604"/>
          </a:xfrm>
          <a:prstGeom prst="rect">
            <a:avLst/>
          </a:prstGeom>
          <a:noFill/>
          <a:ln/>
        </p:spPr>
        <p:txBody>
          <a:bodyPr wrap="square" lIns="0" tIns="0" rIns="0" bIns="0" rtlCol="0" anchor="ctr"/>
          <a:lstStyle/>
          <a:p>
            <a:r>
              <a:rPr lang="en-US" sz="1050" b="1" dirty="0">
                <a:solidFill>
                  <a:srgbClr val="A855F7"/>
                </a:solidFill>
                <a:latin typeface="Cambria" pitchFamily="34" charset="0"/>
                <a:ea typeface="Cambria" pitchFamily="34" charset="-122"/>
                <a:cs typeface="Cambria" pitchFamily="34" charset="-120"/>
              </a:rPr>
              <a:t>ARM</a:t>
            </a:r>
            <a:endParaRPr lang="en-US" sz="1050" dirty="0"/>
          </a:p>
        </p:txBody>
      </p:sp>
      <p:sp>
        <p:nvSpPr>
          <p:cNvPr id="30" name="Text 28"/>
          <p:cNvSpPr/>
          <p:nvPr/>
        </p:nvSpPr>
        <p:spPr>
          <a:xfrm>
            <a:off x="3847338" y="3312414"/>
            <a:ext cx="2023110" cy="630936"/>
          </a:xfrm>
          <a:prstGeom prst="rect">
            <a:avLst/>
          </a:prstGeom>
          <a:noFill/>
          <a:ln/>
        </p:spPr>
        <p:txBody>
          <a:bodyPr wrap="square" lIns="0" tIns="0" rIns="0" bIns="0" rtlCol="0" anchor="ctr"/>
          <a:lstStyle/>
          <a:p>
            <a:r>
              <a:rPr lang="en-US" sz="788" dirty="0">
                <a:solidFill>
                  <a:srgbClr val="E2E8F0"/>
                </a:solidFill>
                <a:latin typeface="Calibri" pitchFamily="34" charset="0"/>
                <a:ea typeface="Calibri" pitchFamily="34" charset="-122"/>
                <a:cs typeface="Calibri" pitchFamily="34" charset="-120"/>
              </a:rPr>
              <a:t>ARM architecture is in every robot processor. Royalty stream compounds with every humanoid robot shipped.</a:t>
            </a:r>
            <a:endParaRPr lang="en-US" sz="788" dirty="0"/>
          </a:p>
        </p:txBody>
      </p:sp>
      <p:sp>
        <p:nvSpPr>
          <p:cNvPr id="31" name="Shape 29"/>
          <p:cNvSpPr/>
          <p:nvPr/>
        </p:nvSpPr>
        <p:spPr>
          <a:xfrm>
            <a:off x="6110478" y="3257550"/>
            <a:ext cx="277749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32" name="Text 30"/>
          <p:cNvSpPr/>
          <p:nvPr/>
        </p:nvSpPr>
        <p:spPr>
          <a:xfrm>
            <a:off x="6192774" y="3312414"/>
            <a:ext cx="582930" cy="260604"/>
          </a:xfrm>
          <a:prstGeom prst="rect">
            <a:avLst/>
          </a:prstGeom>
          <a:noFill/>
          <a:ln/>
        </p:spPr>
        <p:txBody>
          <a:bodyPr wrap="square" lIns="0" tIns="0" rIns="0" bIns="0" rtlCol="0" anchor="ctr"/>
          <a:lstStyle/>
          <a:p>
            <a:r>
              <a:rPr lang="en-US" sz="1050" b="1" dirty="0">
                <a:solidFill>
                  <a:srgbClr val="FB923C"/>
                </a:solidFill>
                <a:latin typeface="Cambria" pitchFamily="34" charset="0"/>
                <a:ea typeface="Cambria" pitchFamily="34" charset="-122"/>
                <a:cs typeface="Cambria" pitchFamily="34" charset="-120"/>
              </a:rPr>
              <a:t>TSLA</a:t>
            </a:r>
            <a:endParaRPr lang="en-US" sz="1050" dirty="0"/>
          </a:p>
        </p:txBody>
      </p:sp>
      <p:sp>
        <p:nvSpPr>
          <p:cNvPr id="33" name="Text 31"/>
          <p:cNvSpPr/>
          <p:nvPr/>
        </p:nvSpPr>
        <p:spPr>
          <a:xfrm>
            <a:off x="6782562" y="3312414"/>
            <a:ext cx="2023110" cy="630936"/>
          </a:xfrm>
          <a:prstGeom prst="rect">
            <a:avLst/>
          </a:prstGeom>
          <a:noFill/>
          <a:ln/>
        </p:spPr>
        <p:txBody>
          <a:bodyPr wrap="square" lIns="0" tIns="0" rIns="0" bIns="0" rtlCol="0" anchor="ctr"/>
          <a:lstStyle/>
          <a:p>
            <a:r>
              <a:rPr lang="en-US" sz="788" dirty="0">
                <a:solidFill>
                  <a:srgbClr val="E2E8F0"/>
                </a:solidFill>
                <a:latin typeface="Calibri" pitchFamily="34" charset="0"/>
                <a:ea typeface="Calibri" pitchFamily="34" charset="-122"/>
                <a:cs typeface="Calibri" pitchFamily="34" charset="-120"/>
              </a:rPr>
              <a:t>Optimus is the highest conviction physical AI bet. 1B+ FSD miles = unmatched training data. Only consumer robotics company with mass-mfg.</a:t>
            </a:r>
            <a:endParaRPr lang="en-US" sz="788" dirty="0"/>
          </a:p>
        </p:txBody>
      </p:sp>
      <p:sp>
        <p:nvSpPr>
          <p:cNvPr id="34" name="Shape 32"/>
          <p:cNvSpPr/>
          <p:nvPr/>
        </p:nvSpPr>
        <p:spPr>
          <a:xfrm>
            <a:off x="240030" y="4066794"/>
            <a:ext cx="277749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35" name="Text 33"/>
          <p:cNvSpPr/>
          <p:nvPr/>
        </p:nvSpPr>
        <p:spPr>
          <a:xfrm>
            <a:off x="322326" y="4121658"/>
            <a:ext cx="582930" cy="260604"/>
          </a:xfrm>
          <a:prstGeom prst="rect">
            <a:avLst/>
          </a:prstGeom>
          <a:noFill/>
          <a:ln/>
        </p:spPr>
        <p:txBody>
          <a:bodyPr wrap="square" lIns="0" tIns="0" rIns="0" bIns="0" rtlCol="0" anchor="ctr"/>
          <a:lstStyle/>
          <a:p>
            <a:r>
              <a:rPr lang="en-US" sz="1050" b="1" dirty="0">
                <a:solidFill>
                  <a:srgbClr val="A855F7"/>
                </a:solidFill>
                <a:latin typeface="Cambria" pitchFamily="34" charset="0"/>
                <a:ea typeface="Cambria" pitchFamily="34" charset="-122"/>
                <a:cs typeface="Cambria" pitchFamily="34" charset="-120"/>
              </a:rPr>
              <a:t>MU</a:t>
            </a:r>
            <a:endParaRPr lang="en-US" sz="1050" dirty="0"/>
          </a:p>
        </p:txBody>
      </p:sp>
      <p:sp>
        <p:nvSpPr>
          <p:cNvPr id="36" name="Text 34"/>
          <p:cNvSpPr/>
          <p:nvPr/>
        </p:nvSpPr>
        <p:spPr>
          <a:xfrm>
            <a:off x="912114" y="4121658"/>
            <a:ext cx="2023110" cy="630936"/>
          </a:xfrm>
          <a:prstGeom prst="rect">
            <a:avLst/>
          </a:prstGeom>
          <a:noFill/>
          <a:ln/>
        </p:spPr>
        <p:txBody>
          <a:bodyPr wrap="square" lIns="0" tIns="0" rIns="0" bIns="0" rtlCol="0" anchor="ctr"/>
          <a:lstStyle/>
          <a:p>
            <a:r>
              <a:rPr lang="en-US" sz="788" dirty="0">
                <a:solidFill>
                  <a:srgbClr val="E2E8F0"/>
                </a:solidFill>
                <a:latin typeface="Calibri" pitchFamily="34" charset="0"/>
                <a:ea typeface="Calibri" pitchFamily="34" charset="-122"/>
                <a:cs typeface="Calibri" pitchFamily="34" charset="-120"/>
              </a:rPr>
              <a:t>Edge AI robots need DRAM + NAND storage. Micron wins wherever AI is deployed — cloud or edge.</a:t>
            </a:r>
            <a:endParaRPr lang="en-US" sz="788" dirty="0"/>
          </a:p>
        </p:txBody>
      </p:sp>
      <p:sp>
        <p:nvSpPr>
          <p:cNvPr id="37" name="Shape 35"/>
          <p:cNvSpPr/>
          <p:nvPr/>
        </p:nvSpPr>
        <p:spPr>
          <a:xfrm>
            <a:off x="3175254" y="4066794"/>
            <a:ext cx="277749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38" name="Text 36"/>
          <p:cNvSpPr/>
          <p:nvPr/>
        </p:nvSpPr>
        <p:spPr>
          <a:xfrm>
            <a:off x="3257550" y="4121658"/>
            <a:ext cx="582930" cy="260604"/>
          </a:xfrm>
          <a:prstGeom prst="rect">
            <a:avLst/>
          </a:prstGeom>
          <a:noFill/>
          <a:ln/>
        </p:spPr>
        <p:txBody>
          <a:bodyPr wrap="square" lIns="0" tIns="0" rIns="0" bIns="0" rtlCol="0" anchor="ctr"/>
          <a:lstStyle/>
          <a:p>
            <a:r>
              <a:rPr lang="en-US" sz="1050" b="1" dirty="0">
                <a:solidFill>
                  <a:srgbClr val="FB923C"/>
                </a:solidFill>
                <a:latin typeface="Cambria" pitchFamily="34" charset="0"/>
                <a:ea typeface="Cambria" pitchFamily="34" charset="-122"/>
                <a:cs typeface="Cambria" pitchFamily="34" charset="-120"/>
              </a:rPr>
              <a:t>PLTR</a:t>
            </a:r>
            <a:endParaRPr lang="en-US" sz="1050" dirty="0"/>
          </a:p>
        </p:txBody>
      </p:sp>
      <p:sp>
        <p:nvSpPr>
          <p:cNvPr id="39" name="Text 37"/>
          <p:cNvSpPr/>
          <p:nvPr/>
        </p:nvSpPr>
        <p:spPr>
          <a:xfrm>
            <a:off x="3847338" y="4121658"/>
            <a:ext cx="2023110" cy="630936"/>
          </a:xfrm>
          <a:prstGeom prst="rect">
            <a:avLst/>
          </a:prstGeom>
          <a:noFill/>
          <a:ln/>
        </p:spPr>
        <p:txBody>
          <a:bodyPr wrap="square" lIns="0" tIns="0" rIns="0" bIns="0" rtlCol="0" anchor="ctr"/>
          <a:lstStyle/>
          <a:p>
            <a:r>
              <a:rPr lang="en-US" sz="788" dirty="0">
                <a:solidFill>
                  <a:srgbClr val="E2E8F0"/>
                </a:solidFill>
                <a:latin typeface="Calibri" pitchFamily="34" charset="0"/>
                <a:ea typeface="Calibri" pitchFamily="34" charset="-122"/>
                <a:cs typeface="Calibri" pitchFamily="34" charset="-120"/>
              </a:rPr>
              <a:t>Defense robotics, autonomous systems, logistics AI. AIP already powering autonomous defense platforms.</a:t>
            </a:r>
            <a:endParaRPr lang="en-US" sz="788" dirty="0"/>
          </a:p>
        </p:txBody>
      </p:sp>
      <p:sp>
        <p:nvSpPr>
          <p:cNvPr id="40" name="Shape 38"/>
          <p:cNvSpPr/>
          <p:nvPr/>
        </p:nvSpPr>
        <p:spPr>
          <a:xfrm>
            <a:off x="6110478" y="4066794"/>
            <a:ext cx="277749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41" name="Text 39"/>
          <p:cNvSpPr/>
          <p:nvPr/>
        </p:nvSpPr>
        <p:spPr>
          <a:xfrm>
            <a:off x="6192774" y="4121658"/>
            <a:ext cx="582930" cy="260604"/>
          </a:xfrm>
          <a:prstGeom prst="rect">
            <a:avLst/>
          </a:prstGeom>
          <a:noFill/>
          <a:ln/>
        </p:spPr>
        <p:txBody>
          <a:bodyPr wrap="square" lIns="0" tIns="0" rIns="0" bIns="0" rtlCol="0" anchor="ctr"/>
          <a:lstStyle/>
          <a:p>
            <a:r>
              <a:rPr lang="en-US" sz="1050" b="1" dirty="0">
                <a:solidFill>
                  <a:srgbClr val="22D3EE"/>
                </a:solidFill>
                <a:latin typeface="Cambria" pitchFamily="34" charset="0"/>
                <a:ea typeface="Cambria" pitchFamily="34" charset="-122"/>
                <a:cs typeface="Cambria" pitchFamily="34" charset="-120"/>
              </a:rPr>
              <a:t>CEG/VST</a:t>
            </a:r>
            <a:endParaRPr lang="en-US" sz="1050" dirty="0"/>
          </a:p>
        </p:txBody>
      </p:sp>
      <p:sp>
        <p:nvSpPr>
          <p:cNvPr id="42" name="Text 40"/>
          <p:cNvSpPr/>
          <p:nvPr/>
        </p:nvSpPr>
        <p:spPr>
          <a:xfrm>
            <a:off x="6782562" y="4121658"/>
            <a:ext cx="2023110" cy="630936"/>
          </a:xfrm>
          <a:prstGeom prst="rect">
            <a:avLst/>
          </a:prstGeom>
          <a:noFill/>
          <a:ln/>
        </p:spPr>
        <p:txBody>
          <a:bodyPr wrap="square" lIns="0" tIns="0" rIns="0" bIns="0" rtlCol="0" anchor="ctr"/>
          <a:lstStyle/>
          <a:p>
            <a:r>
              <a:rPr lang="en-US" sz="788" dirty="0">
                <a:solidFill>
                  <a:srgbClr val="E2E8F0"/>
                </a:solidFill>
                <a:latin typeface="Calibri" pitchFamily="34" charset="0"/>
                <a:ea typeface="Calibri" pitchFamily="34" charset="-122"/>
                <a:cs typeface="Calibri" pitchFamily="34" charset="-120"/>
              </a:rPr>
              <a:t>Robot charging infrastructure needs the same 24/7 clean power as data centers. Nuclear scales to both.</a:t>
            </a:r>
            <a:endParaRPr lang="en-US" sz="788"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F59E0B"/>
          </a:solidFill>
          <a:ln/>
        </p:spPr>
      </p:sp>
      <p:sp>
        <p:nvSpPr>
          <p:cNvPr id="3" name="Text 1"/>
          <p:cNvSpPr/>
          <p:nvPr/>
        </p:nvSpPr>
        <p:spPr>
          <a:xfrm>
            <a:off x="182880" y="0"/>
            <a:ext cx="8778240" cy="621792"/>
          </a:xfrm>
          <a:prstGeom prst="rect">
            <a:avLst/>
          </a:prstGeom>
          <a:noFill/>
          <a:ln/>
        </p:spPr>
        <p:txBody>
          <a:bodyPr wrap="square" rtlCol="0" anchor="ctr"/>
          <a:lstStyle/>
          <a:p>
            <a:pPr marL="0" indent="0">
              <a:buNone/>
            </a:pPr>
            <a:r>
              <a:rPr lang="en-US" sz="1300" b="1" dirty="0">
                <a:solidFill>
                  <a:srgbClr val="050A1A"/>
                </a:solidFill>
              </a:rPr>
              <a:t>SURGICAL ROBOTICS — INTUITIVE SURGICAL (ISRG)</a:t>
            </a:r>
            <a:endParaRPr lang="en-US" sz="1300" dirty="0"/>
          </a:p>
        </p:txBody>
      </p:sp>
      <p:sp>
        <p:nvSpPr>
          <p:cNvPr id="4" name="Text 2"/>
          <p:cNvSpPr/>
          <p:nvPr/>
        </p:nvSpPr>
        <p:spPr>
          <a:xfrm>
            <a:off x="182880" y="667512"/>
            <a:ext cx="8778240" cy="274320"/>
          </a:xfrm>
          <a:prstGeom prst="rect">
            <a:avLst/>
          </a:prstGeom>
          <a:noFill/>
          <a:ln/>
        </p:spPr>
        <p:txBody>
          <a:bodyPr wrap="square" rtlCol="0" anchor="ctr"/>
          <a:lstStyle/>
          <a:p>
            <a:pPr marL="0" indent="0">
              <a:buNone/>
            </a:pPr>
            <a:r>
              <a:rPr lang="en-US" sz="1100" i="1" dirty="0">
                <a:solidFill>
                  <a:srgbClr val="F59E0B"/>
                </a:solidFill>
              </a:rPr>
              <a:t>The most profitable robotics company in history — a 25-year surgical monopoly defended by 10,000+ installed systems, 20M+ patients, and unmatched clinical evidence</a:t>
            </a:r>
            <a:endParaRPr lang="en-US" sz="1100" dirty="0"/>
          </a:p>
        </p:txBody>
      </p:sp>
      <p:sp>
        <p:nvSpPr>
          <p:cNvPr id="5" name="Shape 3"/>
          <p:cNvSpPr/>
          <p:nvPr/>
        </p:nvSpPr>
        <p:spPr>
          <a:xfrm>
            <a:off x="182880" y="1005840"/>
            <a:ext cx="4343400" cy="420624"/>
          </a:xfrm>
          <a:prstGeom prst="rect">
            <a:avLst/>
          </a:prstGeom>
          <a:solidFill>
            <a:srgbClr val="0F1F3D"/>
          </a:solidFill>
          <a:ln/>
          <a:effectLst>
            <a:outerShdw blurRad="127000" dist="50800" dir="8100000" algn="bl" rotWithShape="0">
              <a:srgbClr val="000000">
                <a:alpha val="25000"/>
              </a:srgbClr>
            </a:outerShdw>
          </a:effectLst>
        </p:spPr>
      </p:sp>
      <p:sp>
        <p:nvSpPr>
          <p:cNvPr id="6" name="Text 4"/>
          <p:cNvSpPr/>
          <p:nvPr/>
        </p:nvSpPr>
        <p:spPr>
          <a:xfrm>
            <a:off x="256032" y="1024128"/>
            <a:ext cx="1463040" cy="384048"/>
          </a:xfrm>
          <a:prstGeom prst="rect">
            <a:avLst/>
          </a:prstGeom>
          <a:noFill/>
          <a:ln/>
        </p:spPr>
        <p:txBody>
          <a:bodyPr wrap="square" rtlCol="0" anchor="ctr"/>
          <a:lstStyle/>
          <a:p>
            <a:pPr marL="0" indent="0">
              <a:buNone/>
            </a:pPr>
            <a:r>
              <a:rPr lang="en-US" sz="950" dirty="0">
                <a:solidFill>
                  <a:srgbClr val="64748B"/>
                </a:solidFill>
              </a:rPr>
              <a:t>FY2025 Revenue</a:t>
            </a:r>
            <a:endParaRPr lang="en-US" sz="950" dirty="0"/>
          </a:p>
        </p:txBody>
      </p:sp>
      <p:sp>
        <p:nvSpPr>
          <p:cNvPr id="7" name="Text 5"/>
          <p:cNvSpPr/>
          <p:nvPr/>
        </p:nvSpPr>
        <p:spPr>
          <a:xfrm>
            <a:off x="1783080" y="1024128"/>
            <a:ext cx="1005840" cy="384048"/>
          </a:xfrm>
          <a:prstGeom prst="rect">
            <a:avLst/>
          </a:prstGeom>
          <a:noFill/>
          <a:ln/>
        </p:spPr>
        <p:txBody>
          <a:bodyPr wrap="square" rtlCol="0" anchor="ctr"/>
          <a:lstStyle/>
          <a:p>
            <a:pPr marL="0" indent="0">
              <a:buNone/>
            </a:pPr>
            <a:r>
              <a:rPr lang="en-US" sz="1700" b="1" dirty="0">
                <a:solidFill>
                  <a:srgbClr val="F59E0B"/>
                </a:solidFill>
              </a:rPr>
              <a:t>$10.06B</a:t>
            </a:r>
            <a:endParaRPr lang="en-US" sz="1700" dirty="0"/>
          </a:p>
        </p:txBody>
      </p:sp>
      <p:sp>
        <p:nvSpPr>
          <p:cNvPr id="8" name="Text 6"/>
          <p:cNvSpPr/>
          <p:nvPr/>
        </p:nvSpPr>
        <p:spPr>
          <a:xfrm>
            <a:off x="2834640" y="1024128"/>
            <a:ext cx="914400" cy="201168"/>
          </a:xfrm>
          <a:prstGeom prst="rect">
            <a:avLst/>
          </a:prstGeom>
          <a:noFill/>
          <a:ln/>
        </p:spPr>
        <p:txBody>
          <a:bodyPr wrap="square" rtlCol="0" anchor="ctr"/>
          <a:lstStyle/>
          <a:p>
            <a:pPr marL="0" indent="0">
              <a:buNone/>
            </a:pPr>
            <a:r>
              <a:rPr lang="en-US" sz="850" dirty="0">
                <a:solidFill>
                  <a:srgbClr val="64748B"/>
                </a:solidFill>
              </a:rPr>
              <a:t>+21% YoY</a:t>
            </a:r>
            <a:endParaRPr lang="en-US" sz="850" dirty="0"/>
          </a:p>
        </p:txBody>
      </p:sp>
      <p:sp>
        <p:nvSpPr>
          <p:cNvPr id="9" name="Text 7"/>
          <p:cNvSpPr/>
          <p:nvPr/>
        </p:nvSpPr>
        <p:spPr>
          <a:xfrm>
            <a:off x="2834640" y="1207008"/>
            <a:ext cx="1600200" cy="201168"/>
          </a:xfrm>
          <a:prstGeom prst="rect">
            <a:avLst/>
          </a:prstGeom>
          <a:noFill/>
          <a:ln/>
        </p:spPr>
        <p:txBody>
          <a:bodyPr wrap="square" rtlCol="0" anchor="ctr"/>
          <a:lstStyle/>
          <a:p>
            <a:pPr marL="0" indent="0">
              <a:buNone/>
            </a:pPr>
            <a:r>
              <a:rPr lang="en-US" sz="850" dirty="0">
                <a:solidFill>
                  <a:srgbClr val="10B981"/>
                </a:solidFill>
              </a:rPr>
              <a:t>First $10B+ year</a:t>
            </a:r>
            <a:endParaRPr lang="en-US" sz="850" dirty="0"/>
          </a:p>
        </p:txBody>
      </p:sp>
      <p:sp>
        <p:nvSpPr>
          <p:cNvPr id="10" name="Shape 8"/>
          <p:cNvSpPr/>
          <p:nvPr/>
        </p:nvSpPr>
        <p:spPr>
          <a:xfrm>
            <a:off x="4681728" y="1005840"/>
            <a:ext cx="4343400" cy="420624"/>
          </a:xfrm>
          <a:prstGeom prst="rect">
            <a:avLst/>
          </a:prstGeom>
          <a:solidFill>
            <a:srgbClr val="0F1F3D"/>
          </a:solidFill>
          <a:ln/>
          <a:effectLst>
            <a:outerShdw blurRad="127000" dist="50800" dir="8100000" algn="bl" rotWithShape="0">
              <a:srgbClr val="000000">
                <a:alpha val="25000"/>
              </a:srgbClr>
            </a:outerShdw>
          </a:effectLst>
        </p:spPr>
      </p:sp>
      <p:sp>
        <p:nvSpPr>
          <p:cNvPr id="11" name="Text 9"/>
          <p:cNvSpPr/>
          <p:nvPr/>
        </p:nvSpPr>
        <p:spPr>
          <a:xfrm>
            <a:off x="4754880" y="1024128"/>
            <a:ext cx="1463040" cy="384048"/>
          </a:xfrm>
          <a:prstGeom prst="rect">
            <a:avLst/>
          </a:prstGeom>
          <a:noFill/>
          <a:ln/>
        </p:spPr>
        <p:txBody>
          <a:bodyPr wrap="square" rtlCol="0" anchor="ctr"/>
          <a:lstStyle/>
          <a:p>
            <a:pPr marL="0" indent="0">
              <a:buNone/>
            </a:pPr>
            <a:r>
              <a:rPr lang="en-US" sz="950" dirty="0">
                <a:solidFill>
                  <a:srgbClr val="64748B"/>
                </a:solidFill>
              </a:rPr>
              <a:t>Q1 2026 Revenue</a:t>
            </a:r>
            <a:endParaRPr lang="en-US" sz="950" dirty="0"/>
          </a:p>
        </p:txBody>
      </p:sp>
      <p:sp>
        <p:nvSpPr>
          <p:cNvPr id="12" name="Text 10"/>
          <p:cNvSpPr/>
          <p:nvPr/>
        </p:nvSpPr>
        <p:spPr>
          <a:xfrm>
            <a:off x="6281928" y="1024128"/>
            <a:ext cx="1005840" cy="384048"/>
          </a:xfrm>
          <a:prstGeom prst="rect">
            <a:avLst/>
          </a:prstGeom>
          <a:noFill/>
          <a:ln/>
        </p:spPr>
        <p:txBody>
          <a:bodyPr wrap="square" rtlCol="0" anchor="ctr"/>
          <a:lstStyle/>
          <a:p>
            <a:pPr marL="0" indent="0">
              <a:buNone/>
            </a:pPr>
            <a:r>
              <a:rPr lang="en-US" sz="1700" b="1" dirty="0">
                <a:solidFill>
                  <a:srgbClr val="F59E0B"/>
                </a:solidFill>
              </a:rPr>
              <a:t>$2.54B+</a:t>
            </a:r>
            <a:endParaRPr lang="en-US" sz="1700" dirty="0"/>
          </a:p>
        </p:txBody>
      </p:sp>
      <p:sp>
        <p:nvSpPr>
          <p:cNvPr id="13" name="Text 11"/>
          <p:cNvSpPr/>
          <p:nvPr/>
        </p:nvSpPr>
        <p:spPr>
          <a:xfrm>
            <a:off x="7333488" y="1024128"/>
            <a:ext cx="914400" cy="201168"/>
          </a:xfrm>
          <a:prstGeom prst="rect">
            <a:avLst/>
          </a:prstGeom>
          <a:noFill/>
          <a:ln/>
        </p:spPr>
        <p:txBody>
          <a:bodyPr wrap="square" rtlCol="0" anchor="ctr"/>
          <a:lstStyle/>
          <a:p>
            <a:pPr marL="0" indent="0">
              <a:buNone/>
            </a:pPr>
            <a:r>
              <a:rPr lang="en-US" sz="850" dirty="0">
                <a:solidFill>
                  <a:srgbClr val="64748B"/>
                </a:solidFill>
              </a:rPr>
              <a:t>+~19% YoY</a:t>
            </a:r>
            <a:endParaRPr lang="en-US" sz="850" dirty="0"/>
          </a:p>
        </p:txBody>
      </p:sp>
      <p:sp>
        <p:nvSpPr>
          <p:cNvPr id="14" name="Text 12"/>
          <p:cNvSpPr/>
          <p:nvPr/>
        </p:nvSpPr>
        <p:spPr>
          <a:xfrm>
            <a:off x="7333488" y="1207008"/>
            <a:ext cx="1600200" cy="201168"/>
          </a:xfrm>
          <a:prstGeom prst="rect">
            <a:avLst/>
          </a:prstGeom>
          <a:noFill/>
          <a:ln/>
        </p:spPr>
        <p:txBody>
          <a:bodyPr wrap="square" rtlCol="0" anchor="ctr"/>
          <a:lstStyle/>
          <a:p>
            <a:pPr marL="0" indent="0">
              <a:buNone/>
            </a:pPr>
            <a:r>
              <a:rPr lang="en-US" sz="850" dirty="0">
                <a:solidFill>
                  <a:srgbClr val="10B981"/>
                </a:solidFill>
              </a:rPr>
              <a:t>Procedure growth 17%</a:t>
            </a:r>
            <a:endParaRPr lang="en-US" sz="850" dirty="0"/>
          </a:p>
        </p:txBody>
      </p:sp>
      <p:sp>
        <p:nvSpPr>
          <p:cNvPr id="15" name="Shape 13"/>
          <p:cNvSpPr/>
          <p:nvPr/>
        </p:nvSpPr>
        <p:spPr>
          <a:xfrm>
            <a:off x="182880" y="1481328"/>
            <a:ext cx="4343400" cy="420624"/>
          </a:xfrm>
          <a:prstGeom prst="rect">
            <a:avLst/>
          </a:prstGeom>
          <a:solidFill>
            <a:srgbClr val="0F1F3D"/>
          </a:solidFill>
          <a:ln/>
          <a:effectLst>
            <a:outerShdw blurRad="127000" dist="50800" dir="8100000" algn="bl" rotWithShape="0">
              <a:srgbClr val="000000">
                <a:alpha val="25000"/>
              </a:srgbClr>
            </a:outerShdw>
          </a:effectLst>
        </p:spPr>
      </p:sp>
      <p:sp>
        <p:nvSpPr>
          <p:cNvPr id="16" name="Text 14"/>
          <p:cNvSpPr/>
          <p:nvPr/>
        </p:nvSpPr>
        <p:spPr>
          <a:xfrm>
            <a:off x="256032" y="1499616"/>
            <a:ext cx="1463040" cy="384048"/>
          </a:xfrm>
          <a:prstGeom prst="rect">
            <a:avLst/>
          </a:prstGeom>
          <a:noFill/>
          <a:ln/>
        </p:spPr>
        <p:txBody>
          <a:bodyPr wrap="square" rtlCol="0" anchor="ctr"/>
          <a:lstStyle/>
          <a:p>
            <a:pPr marL="0" indent="0">
              <a:buNone/>
            </a:pPr>
            <a:r>
              <a:rPr lang="en-US" sz="950" dirty="0">
                <a:solidFill>
                  <a:srgbClr val="64748B"/>
                </a:solidFill>
              </a:rPr>
              <a:t>Installed Base</a:t>
            </a:r>
            <a:endParaRPr lang="en-US" sz="950" dirty="0"/>
          </a:p>
        </p:txBody>
      </p:sp>
      <p:sp>
        <p:nvSpPr>
          <p:cNvPr id="17" name="Text 15"/>
          <p:cNvSpPr/>
          <p:nvPr/>
        </p:nvSpPr>
        <p:spPr>
          <a:xfrm>
            <a:off x="1783080" y="1499616"/>
            <a:ext cx="1005840" cy="384048"/>
          </a:xfrm>
          <a:prstGeom prst="rect">
            <a:avLst/>
          </a:prstGeom>
          <a:noFill/>
          <a:ln/>
        </p:spPr>
        <p:txBody>
          <a:bodyPr wrap="square" rtlCol="0" anchor="ctr"/>
          <a:lstStyle/>
          <a:p>
            <a:pPr marL="0" indent="0">
              <a:buNone/>
            </a:pPr>
            <a:r>
              <a:rPr lang="en-US" sz="1700" b="1" dirty="0">
                <a:solidFill>
                  <a:srgbClr val="F59E0B"/>
                </a:solidFill>
              </a:rPr>
              <a:t>~10,700+</a:t>
            </a:r>
            <a:endParaRPr lang="en-US" sz="1700" dirty="0"/>
          </a:p>
        </p:txBody>
      </p:sp>
      <p:sp>
        <p:nvSpPr>
          <p:cNvPr id="18" name="Text 16"/>
          <p:cNvSpPr/>
          <p:nvPr/>
        </p:nvSpPr>
        <p:spPr>
          <a:xfrm>
            <a:off x="2834640" y="1499616"/>
            <a:ext cx="914400" cy="201168"/>
          </a:xfrm>
          <a:prstGeom prst="rect">
            <a:avLst/>
          </a:prstGeom>
          <a:noFill/>
          <a:ln/>
        </p:spPr>
        <p:txBody>
          <a:bodyPr wrap="square" rtlCol="0" anchor="ctr"/>
          <a:lstStyle/>
          <a:p>
            <a:pPr marL="0" indent="0">
              <a:buNone/>
            </a:pPr>
            <a:r>
              <a:rPr lang="en-US" sz="850" dirty="0">
                <a:solidFill>
                  <a:srgbClr val="64748B"/>
                </a:solidFill>
              </a:rPr>
              <a:t>systems globally</a:t>
            </a:r>
            <a:endParaRPr lang="en-US" sz="850" dirty="0"/>
          </a:p>
        </p:txBody>
      </p:sp>
      <p:sp>
        <p:nvSpPr>
          <p:cNvPr id="19" name="Text 17"/>
          <p:cNvSpPr/>
          <p:nvPr/>
        </p:nvSpPr>
        <p:spPr>
          <a:xfrm>
            <a:off x="2834640" y="1682496"/>
            <a:ext cx="1600200" cy="201168"/>
          </a:xfrm>
          <a:prstGeom prst="rect">
            <a:avLst/>
          </a:prstGeom>
          <a:noFill/>
          <a:ln/>
        </p:spPr>
        <p:txBody>
          <a:bodyPr wrap="square" rtlCol="0" anchor="ctr"/>
          <a:lstStyle/>
          <a:p>
            <a:pPr marL="0" indent="0">
              <a:buNone/>
            </a:pPr>
            <a:r>
              <a:rPr lang="en-US" sz="850" dirty="0">
                <a:solidFill>
                  <a:srgbClr val="10B981"/>
                </a:solidFill>
              </a:rPr>
              <a:t>da Vinci 5 accelerating</a:t>
            </a:r>
            <a:endParaRPr lang="en-US" sz="850" dirty="0"/>
          </a:p>
        </p:txBody>
      </p:sp>
      <p:sp>
        <p:nvSpPr>
          <p:cNvPr id="20" name="Shape 18"/>
          <p:cNvSpPr/>
          <p:nvPr/>
        </p:nvSpPr>
        <p:spPr>
          <a:xfrm>
            <a:off x="4681728" y="1481328"/>
            <a:ext cx="4343400" cy="420624"/>
          </a:xfrm>
          <a:prstGeom prst="rect">
            <a:avLst/>
          </a:prstGeom>
          <a:solidFill>
            <a:srgbClr val="0F1F3D"/>
          </a:solidFill>
          <a:ln/>
          <a:effectLst>
            <a:outerShdw blurRad="127000" dist="50800" dir="8100000" algn="bl" rotWithShape="0">
              <a:srgbClr val="000000">
                <a:alpha val="25000"/>
              </a:srgbClr>
            </a:outerShdw>
          </a:effectLst>
        </p:spPr>
      </p:sp>
      <p:sp>
        <p:nvSpPr>
          <p:cNvPr id="21" name="Text 19"/>
          <p:cNvSpPr/>
          <p:nvPr/>
        </p:nvSpPr>
        <p:spPr>
          <a:xfrm>
            <a:off x="4754880" y="1499616"/>
            <a:ext cx="1463040" cy="384048"/>
          </a:xfrm>
          <a:prstGeom prst="rect">
            <a:avLst/>
          </a:prstGeom>
          <a:noFill/>
          <a:ln/>
        </p:spPr>
        <p:txBody>
          <a:bodyPr wrap="square" rtlCol="0" anchor="ctr"/>
          <a:lstStyle/>
          <a:p>
            <a:pPr marL="0" indent="0">
              <a:buNone/>
            </a:pPr>
            <a:r>
              <a:rPr lang="en-US" sz="950" dirty="0">
                <a:solidFill>
                  <a:srgbClr val="64748B"/>
                </a:solidFill>
              </a:rPr>
              <a:t>Total Procedures</a:t>
            </a:r>
            <a:endParaRPr lang="en-US" sz="950" dirty="0"/>
          </a:p>
        </p:txBody>
      </p:sp>
      <p:sp>
        <p:nvSpPr>
          <p:cNvPr id="22" name="Text 20"/>
          <p:cNvSpPr/>
          <p:nvPr/>
        </p:nvSpPr>
        <p:spPr>
          <a:xfrm>
            <a:off x="6281928" y="1499616"/>
            <a:ext cx="1005840" cy="384048"/>
          </a:xfrm>
          <a:prstGeom prst="rect">
            <a:avLst/>
          </a:prstGeom>
          <a:noFill/>
          <a:ln/>
        </p:spPr>
        <p:txBody>
          <a:bodyPr wrap="square" rtlCol="0" anchor="ctr"/>
          <a:lstStyle/>
          <a:p>
            <a:pPr marL="0" indent="0">
              <a:buNone/>
            </a:pPr>
            <a:r>
              <a:rPr lang="en-US" sz="1700" b="1" dirty="0">
                <a:solidFill>
                  <a:srgbClr val="F59E0B"/>
                </a:solidFill>
              </a:rPr>
              <a:t>3.1M+</a:t>
            </a:r>
            <a:endParaRPr lang="en-US" sz="1700" dirty="0"/>
          </a:p>
        </p:txBody>
      </p:sp>
      <p:sp>
        <p:nvSpPr>
          <p:cNvPr id="23" name="Text 21"/>
          <p:cNvSpPr/>
          <p:nvPr/>
        </p:nvSpPr>
        <p:spPr>
          <a:xfrm>
            <a:off x="7333488" y="1499616"/>
            <a:ext cx="914400" cy="201168"/>
          </a:xfrm>
          <a:prstGeom prst="rect">
            <a:avLst/>
          </a:prstGeom>
          <a:noFill/>
          <a:ln/>
        </p:spPr>
        <p:txBody>
          <a:bodyPr wrap="square" rtlCol="0" anchor="ctr"/>
          <a:lstStyle/>
          <a:p>
            <a:pPr marL="0" indent="0">
              <a:buNone/>
            </a:pPr>
            <a:r>
              <a:rPr lang="en-US" sz="850" dirty="0">
                <a:solidFill>
                  <a:srgbClr val="64748B"/>
                </a:solidFill>
              </a:rPr>
              <a:t>in 2025 alone</a:t>
            </a:r>
            <a:endParaRPr lang="en-US" sz="850" dirty="0"/>
          </a:p>
        </p:txBody>
      </p:sp>
      <p:sp>
        <p:nvSpPr>
          <p:cNvPr id="24" name="Text 22"/>
          <p:cNvSpPr/>
          <p:nvPr/>
        </p:nvSpPr>
        <p:spPr>
          <a:xfrm>
            <a:off x="7333488" y="1682496"/>
            <a:ext cx="1600200" cy="201168"/>
          </a:xfrm>
          <a:prstGeom prst="rect">
            <a:avLst/>
          </a:prstGeom>
          <a:noFill/>
          <a:ln/>
        </p:spPr>
        <p:txBody>
          <a:bodyPr wrap="square" rtlCol="0" anchor="ctr"/>
          <a:lstStyle/>
          <a:p>
            <a:pPr marL="0" indent="0">
              <a:buNone/>
            </a:pPr>
            <a:r>
              <a:rPr lang="en-US" sz="850" dirty="0">
                <a:solidFill>
                  <a:srgbClr val="10B981"/>
                </a:solidFill>
              </a:rPr>
              <a:t>20M+ lifetime milestone</a:t>
            </a:r>
            <a:endParaRPr lang="en-US" sz="850" dirty="0"/>
          </a:p>
        </p:txBody>
      </p:sp>
      <p:sp>
        <p:nvSpPr>
          <p:cNvPr id="25" name="Shape 23"/>
          <p:cNvSpPr/>
          <p:nvPr/>
        </p:nvSpPr>
        <p:spPr>
          <a:xfrm>
            <a:off x="182880" y="1956816"/>
            <a:ext cx="4343400" cy="420624"/>
          </a:xfrm>
          <a:prstGeom prst="rect">
            <a:avLst/>
          </a:prstGeom>
          <a:solidFill>
            <a:srgbClr val="0F1F3D"/>
          </a:solidFill>
          <a:ln/>
          <a:effectLst>
            <a:outerShdw blurRad="127000" dist="50800" dir="8100000" algn="bl" rotWithShape="0">
              <a:srgbClr val="000000">
                <a:alpha val="25000"/>
              </a:srgbClr>
            </a:outerShdw>
          </a:effectLst>
        </p:spPr>
      </p:sp>
      <p:sp>
        <p:nvSpPr>
          <p:cNvPr id="26" name="Text 24"/>
          <p:cNvSpPr/>
          <p:nvPr/>
        </p:nvSpPr>
        <p:spPr>
          <a:xfrm>
            <a:off x="256032" y="1975104"/>
            <a:ext cx="1463040" cy="384048"/>
          </a:xfrm>
          <a:prstGeom prst="rect">
            <a:avLst/>
          </a:prstGeom>
          <a:noFill/>
          <a:ln/>
        </p:spPr>
        <p:txBody>
          <a:bodyPr wrap="square" rtlCol="0" anchor="ctr"/>
          <a:lstStyle/>
          <a:p>
            <a:pPr marL="0" indent="0">
              <a:buNone/>
            </a:pPr>
            <a:r>
              <a:rPr lang="en-US" sz="950" dirty="0">
                <a:solidFill>
                  <a:srgbClr val="64748B"/>
                </a:solidFill>
              </a:rPr>
              <a:t>da Vinci 5 Units</a:t>
            </a:r>
            <a:endParaRPr lang="en-US" sz="950" dirty="0"/>
          </a:p>
        </p:txBody>
      </p:sp>
      <p:sp>
        <p:nvSpPr>
          <p:cNvPr id="27" name="Text 25"/>
          <p:cNvSpPr/>
          <p:nvPr/>
        </p:nvSpPr>
        <p:spPr>
          <a:xfrm>
            <a:off x="1783080" y="1975104"/>
            <a:ext cx="1005840" cy="384048"/>
          </a:xfrm>
          <a:prstGeom prst="rect">
            <a:avLst/>
          </a:prstGeom>
          <a:noFill/>
          <a:ln/>
        </p:spPr>
        <p:txBody>
          <a:bodyPr wrap="square" rtlCol="0" anchor="ctr"/>
          <a:lstStyle/>
          <a:p>
            <a:pPr marL="0" indent="0">
              <a:buNone/>
            </a:pPr>
            <a:r>
              <a:rPr lang="en-US" sz="1700" b="1" dirty="0">
                <a:solidFill>
                  <a:srgbClr val="F59E0B"/>
                </a:solidFill>
              </a:rPr>
              <a:t>870</a:t>
            </a:r>
            <a:endParaRPr lang="en-US" sz="1700" dirty="0"/>
          </a:p>
        </p:txBody>
      </p:sp>
      <p:sp>
        <p:nvSpPr>
          <p:cNvPr id="28" name="Text 26"/>
          <p:cNvSpPr/>
          <p:nvPr/>
        </p:nvSpPr>
        <p:spPr>
          <a:xfrm>
            <a:off x="2834640" y="1975104"/>
            <a:ext cx="914400" cy="201168"/>
          </a:xfrm>
          <a:prstGeom prst="rect">
            <a:avLst/>
          </a:prstGeom>
          <a:noFill/>
          <a:ln/>
        </p:spPr>
        <p:txBody>
          <a:bodyPr wrap="square" rtlCol="0" anchor="ctr"/>
          <a:lstStyle/>
          <a:p>
            <a:pPr marL="0" indent="0">
              <a:buNone/>
            </a:pPr>
            <a:r>
              <a:rPr lang="en-US" sz="850" dirty="0">
                <a:solidFill>
                  <a:srgbClr val="64748B"/>
                </a:solidFill>
              </a:rPr>
              <a:t>placed in 2025</a:t>
            </a:r>
            <a:endParaRPr lang="en-US" sz="850" dirty="0"/>
          </a:p>
        </p:txBody>
      </p:sp>
      <p:sp>
        <p:nvSpPr>
          <p:cNvPr id="29" name="Text 27"/>
          <p:cNvSpPr/>
          <p:nvPr/>
        </p:nvSpPr>
        <p:spPr>
          <a:xfrm>
            <a:off x="2834640" y="2157984"/>
            <a:ext cx="1600200" cy="201168"/>
          </a:xfrm>
          <a:prstGeom prst="rect">
            <a:avLst/>
          </a:prstGeom>
          <a:noFill/>
          <a:ln/>
        </p:spPr>
        <p:txBody>
          <a:bodyPr wrap="square" rtlCol="0" anchor="ctr"/>
          <a:lstStyle/>
          <a:p>
            <a:pPr marL="0" indent="0">
              <a:buNone/>
            </a:pPr>
            <a:r>
              <a:rPr lang="en-US" sz="850" dirty="0">
                <a:solidFill>
                  <a:srgbClr val="10B981"/>
                </a:solidFill>
              </a:rPr>
              <a:t>vs 362 in 2024 — 2.4×</a:t>
            </a:r>
            <a:endParaRPr lang="en-US" sz="850" dirty="0"/>
          </a:p>
        </p:txBody>
      </p:sp>
      <p:sp>
        <p:nvSpPr>
          <p:cNvPr id="30" name="Shape 28"/>
          <p:cNvSpPr/>
          <p:nvPr/>
        </p:nvSpPr>
        <p:spPr>
          <a:xfrm>
            <a:off x="4681728" y="1956816"/>
            <a:ext cx="4343400" cy="420624"/>
          </a:xfrm>
          <a:prstGeom prst="rect">
            <a:avLst/>
          </a:prstGeom>
          <a:solidFill>
            <a:srgbClr val="0F1F3D"/>
          </a:solidFill>
          <a:ln/>
          <a:effectLst>
            <a:outerShdw blurRad="127000" dist="50800" dir="8100000" algn="bl" rotWithShape="0">
              <a:srgbClr val="000000">
                <a:alpha val="25000"/>
              </a:srgbClr>
            </a:outerShdw>
          </a:effectLst>
        </p:spPr>
      </p:sp>
      <p:sp>
        <p:nvSpPr>
          <p:cNvPr id="31" name="Text 29"/>
          <p:cNvSpPr/>
          <p:nvPr/>
        </p:nvSpPr>
        <p:spPr>
          <a:xfrm>
            <a:off x="4754880" y="1975104"/>
            <a:ext cx="1463040" cy="384048"/>
          </a:xfrm>
          <a:prstGeom prst="rect">
            <a:avLst/>
          </a:prstGeom>
          <a:noFill/>
          <a:ln/>
        </p:spPr>
        <p:txBody>
          <a:bodyPr wrap="square" rtlCol="0" anchor="ctr"/>
          <a:lstStyle/>
          <a:p>
            <a:pPr marL="0" indent="0">
              <a:buNone/>
            </a:pPr>
            <a:r>
              <a:rPr lang="en-US" sz="950" dirty="0">
                <a:solidFill>
                  <a:srgbClr val="64748B"/>
                </a:solidFill>
              </a:rPr>
              <a:t>Gross Margin</a:t>
            </a:r>
            <a:endParaRPr lang="en-US" sz="950" dirty="0"/>
          </a:p>
        </p:txBody>
      </p:sp>
      <p:sp>
        <p:nvSpPr>
          <p:cNvPr id="32" name="Text 30"/>
          <p:cNvSpPr/>
          <p:nvPr/>
        </p:nvSpPr>
        <p:spPr>
          <a:xfrm>
            <a:off x="6281928" y="1975104"/>
            <a:ext cx="1005840" cy="384048"/>
          </a:xfrm>
          <a:prstGeom prst="rect">
            <a:avLst/>
          </a:prstGeom>
          <a:noFill/>
          <a:ln/>
        </p:spPr>
        <p:txBody>
          <a:bodyPr wrap="square" rtlCol="0" anchor="ctr"/>
          <a:lstStyle/>
          <a:p>
            <a:pPr marL="0" indent="0">
              <a:buNone/>
            </a:pPr>
            <a:r>
              <a:rPr lang="en-US" sz="1700" b="1" dirty="0">
                <a:solidFill>
                  <a:srgbClr val="F59E0B"/>
                </a:solidFill>
              </a:rPr>
              <a:t>~68–70%</a:t>
            </a:r>
            <a:endParaRPr lang="en-US" sz="1700" dirty="0"/>
          </a:p>
        </p:txBody>
      </p:sp>
      <p:sp>
        <p:nvSpPr>
          <p:cNvPr id="33" name="Text 31"/>
          <p:cNvSpPr/>
          <p:nvPr/>
        </p:nvSpPr>
        <p:spPr>
          <a:xfrm>
            <a:off x="7333488" y="1975104"/>
            <a:ext cx="914400" cy="201168"/>
          </a:xfrm>
          <a:prstGeom prst="rect">
            <a:avLst/>
          </a:prstGeom>
          <a:noFill/>
          <a:ln/>
        </p:spPr>
        <p:txBody>
          <a:bodyPr wrap="square" rtlCol="0" anchor="ctr"/>
          <a:lstStyle/>
          <a:p>
            <a:pPr marL="0" indent="0">
              <a:buNone/>
            </a:pPr>
            <a:r>
              <a:rPr lang="en-US" sz="850" dirty="0">
                <a:solidFill>
                  <a:srgbClr val="64748B"/>
                </a:solidFill>
              </a:rPr>
              <a:t>+growing</a:t>
            </a:r>
            <a:endParaRPr lang="en-US" sz="850" dirty="0"/>
          </a:p>
        </p:txBody>
      </p:sp>
      <p:sp>
        <p:nvSpPr>
          <p:cNvPr id="34" name="Text 32"/>
          <p:cNvSpPr/>
          <p:nvPr/>
        </p:nvSpPr>
        <p:spPr>
          <a:xfrm>
            <a:off x="7333488" y="2157984"/>
            <a:ext cx="1600200" cy="201168"/>
          </a:xfrm>
          <a:prstGeom prst="rect">
            <a:avLst/>
          </a:prstGeom>
          <a:noFill/>
          <a:ln/>
        </p:spPr>
        <p:txBody>
          <a:bodyPr wrap="square" rtlCol="0" anchor="ctr"/>
          <a:lstStyle/>
          <a:p>
            <a:pPr marL="0" indent="0">
              <a:buNone/>
            </a:pPr>
            <a:r>
              <a:rPr lang="en-US" sz="850" dirty="0">
                <a:solidFill>
                  <a:srgbClr val="10B981"/>
                </a:solidFill>
              </a:rPr>
              <a:t>Instruments recurring mix</a:t>
            </a:r>
            <a:endParaRPr lang="en-US" sz="850" dirty="0"/>
          </a:p>
        </p:txBody>
      </p:sp>
      <p:sp>
        <p:nvSpPr>
          <p:cNvPr id="35" name="Text 33"/>
          <p:cNvSpPr/>
          <p:nvPr/>
        </p:nvSpPr>
        <p:spPr>
          <a:xfrm>
            <a:off x="182880" y="2496312"/>
            <a:ext cx="8778240" cy="274320"/>
          </a:xfrm>
          <a:prstGeom prst="rect">
            <a:avLst/>
          </a:prstGeom>
          <a:noFill/>
          <a:ln/>
        </p:spPr>
        <p:txBody>
          <a:bodyPr wrap="square" rtlCol="0" anchor="ctr"/>
          <a:lstStyle/>
          <a:p>
            <a:pPr marL="0" indent="0">
              <a:buNone/>
            </a:pPr>
            <a:r>
              <a:rPr lang="en-US" sz="1050" b="1" dirty="0">
                <a:solidFill>
                  <a:srgbClr val="F59E0B"/>
                </a:solidFill>
              </a:rPr>
              <a:t>RECURRING REVENUE BUSINESS MODEL — THE RAZOR-AND-BLADE OF SURGERY</a:t>
            </a:r>
            <a:endParaRPr lang="en-US" sz="1050" dirty="0"/>
          </a:p>
        </p:txBody>
      </p:sp>
      <p:sp>
        <p:nvSpPr>
          <p:cNvPr id="36" name="Shape 34"/>
          <p:cNvSpPr/>
          <p:nvPr/>
        </p:nvSpPr>
        <p:spPr>
          <a:xfrm>
            <a:off x="182880" y="2816352"/>
            <a:ext cx="2834640" cy="2212848"/>
          </a:xfrm>
          <a:prstGeom prst="rect">
            <a:avLst/>
          </a:prstGeom>
          <a:solidFill>
            <a:srgbClr val="0F1F3D"/>
          </a:solidFill>
          <a:ln/>
          <a:effectLst>
            <a:outerShdw blurRad="127000" dist="50800" dir="8100000" algn="bl" rotWithShape="0">
              <a:srgbClr val="000000">
                <a:alpha val="25000"/>
              </a:srgbClr>
            </a:outerShdw>
          </a:effectLst>
        </p:spPr>
      </p:sp>
      <p:sp>
        <p:nvSpPr>
          <p:cNvPr id="37" name="Shape 35"/>
          <p:cNvSpPr/>
          <p:nvPr/>
        </p:nvSpPr>
        <p:spPr>
          <a:xfrm>
            <a:off x="182880" y="2816352"/>
            <a:ext cx="2834640" cy="347472"/>
          </a:xfrm>
          <a:prstGeom prst="rect">
            <a:avLst/>
          </a:prstGeom>
          <a:solidFill>
            <a:srgbClr val="F59E0B"/>
          </a:solidFill>
          <a:ln/>
        </p:spPr>
      </p:sp>
      <p:sp>
        <p:nvSpPr>
          <p:cNvPr id="38" name="Text 36"/>
          <p:cNvSpPr/>
          <p:nvPr/>
        </p:nvSpPr>
        <p:spPr>
          <a:xfrm>
            <a:off x="256032" y="2816352"/>
            <a:ext cx="2688336" cy="347472"/>
          </a:xfrm>
          <a:prstGeom prst="rect">
            <a:avLst/>
          </a:prstGeom>
          <a:noFill/>
          <a:ln/>
        </p:spPr>
        <p:txBody>
          <a:bodyPr wrap="square" rtlCol="0" anchor="ctr"/>
          <a:lstStyle/>
          <a:p>
            <a:pPr marL="0" indent="0">
              <a:buNone/>
            </a:pPr>
            <a:r>
              <a:rPr lang="en-US" sz="1050" b="1" dirty="0">
                <a:solidFill>
                  <a:srgbClr val="050A1A"/>
                </a:solidFill>
              </a:rPr>
              <a:t>Instruments &amp; Accessories (~60%)</a:t>
            </a:r>
            <a:endParaRPr lang="en-US" sz="1050" dirty="0"/>
          </a:p>
        </p:txBody>
      </p:sp>
      <p:sp>
        <p:nvSpPr>
          <p:cNvPr id="39" name="Text 37"/>
          <p:cNvSpPr/>
          <p:nvPr/>
        </p:nvSpPr>
        <p:spPr>
          <a:xfrm>
            <a:off x="256032" y="3200400"/>
            <a:ext cx="2688336" cy="1783080"/>
          </a:xfrm>
          <a:prstGeom prst="rect">
            <a:avLst/>
          </a:prstGeom>
          <a:noFill/>
          <a:ln/>
        </p:spPr>
        <p:txBody>
          <a:bodyPr wrap="square" rtlCol="0" anchor="ctr"/>
          <a:lstStyle/>
          <a:p>
            <a:pPr marL="0" indent="0">
              <a:buNone/>
            </a:pPr>
            <a:r>
              <a:rPr lang="en-US" sz="950" dirty="0">
                <a:solidFill>
                  <a:srgbClr val="E2E8F0"/>
                </a:solidFill>
              </a:rPr>
              <a:t>Every da Vinci procedure uses $700–2,000 in proprietary instruments that are disposable. Pure recurring revenue — grows with procedure volume. FY2025: $6.02B.</a:t>
            </a:r>
            <a:endParaRPr lang="en-US" sz="950" dirty="0"/>
          </a:p>
        </p:txBody>
      </p:sp>
      <p:sp>
        <p:nvSpPr>
          <p:cNvPr id="40" name="Shape 38"/>
          <p:cNvSpPr/>
          <p:nvPr/>
        </p:nvSpPr>
        <p:spPr>
          <a:xfrm>
            <a:off x="3154680" y="2816352"/>
            <a:ext cx="2834640" cy="2212848"/>
          </a:xfrm>
          <a:prstGeom prst="rect">
            <a:avLst/>
          </a:prstGeom>
          <a:solidFill>
            <a:srgbClr val="0F1F3D"/>
          </a:solidFill>
          <a:ln/>
          <a:effectLst>
            <a:outerShdw blurRad="127000" dist="50800" dir="8100000" algn="bl" rotWithShape="0">
              <a:srgbClr val="000000">
                <a:alpha val="25000"/>
              </a:srgbClr>
            </a:outerShdw>
          </a:effectLst>
        </p:spPr>
      </p:sp>
      <p:sp>
        <p:nvSpPr>
          <p:cNvPr id="41" name="Shape 39"/>
          <p:cNvSpPr/>
          <p:nvPr/>
        </p:nvSpPr>
        <p:spPr>
          <a:xfrm>
            <a:off x="3154680" y="2816352"/>
            <a:ext cx="2834640" cy="347472"/>
          </a:xfrm>
          <a:prstGeom prst="rect">
            <a:avLst/>
          </a:prstGeom>
          <a:solidFill>
            <a:srgbClr val="10B981"/>
          </a:solidFill>
          <a:ln/>
        </p:spPr>
      </p:sp>
      <p:sp>
        <p:nvSpPr>
          <p:cNvPr id="42" name="Text 40"/>
          <p:cNvSpPr/>
          <p:nvPr/>
        </p:nvSpPr>
        <p:spPr>
          <a:xfrm>
            <a:off x="3227832" y="2816352"/>
            <a:ext cx="2688336" cy="347472"/>
          </a:xfrm>
          <a:prstGeom prst="rect">
            <a:avLst/>
          </a:prstGeom>
          <a:noFill/>
          <a:ln/>
        </p:spPr>
        <p:txBody>
          <a:bodyPr wrap="square" rtlCol="0" anchor="ctr"/>
          <a:lstStyle/>
          <a:p>
            <a:pPr marL="0" indent="0">
              <a:buNone/>
            </a:pPr>
            <a:r>
              <a:rPr lang="en-US" sz="1050" b="1" dirty="0">
                <a:solidFill>
                  <a:srgbClr val="050A1A"/>
                </a:solidFill>
              </a:rPr>
              <a:t>Systems Revenue (~22%)</a:t>
            </a:r>
            <a:endParaRPr lang="en-US" sz="1050" dirty="0"/>
          </a:p>
        </p:txBody>
      </p:sp>
      <p:sp>
        <p:nvSpPr>
          <p:cNvPr id="43" name="Text 41"/>
          <p:cNvSpPr/>
          <p:nvPr/>
        </p:nvSpPr>
        <p:spPr>
          <a:xfrm>
            <a:off x="3227832" y="3200400"/>
            <a:ext cx="2688336" cy="1783080"/>
          </a:xfrm>
          <a:prstGeom prst="rect">
            <a:avLst/>
          </a:prstGeom>
          <a:noFill/>
          <a:ln/>
        </p:spPr>
        <p:txBody>
          <a:bodyPr wrap="square" rtlCol="0" anchor="ctr"/>
          <a:lstStyle/>
          <a:p>
            <a:pPr marL="0" indent="0">
              <a:buNone/>
            </a:pPr>
            <a:r>
              <a:rPr lang="en-US" sz="950" dirty="0">
                <a:solidFill>
                  <a:srgbClr val="E2E8F0"/>
                </a:solidFill>
              </a:rPr>
              <a:t>Each new da Vinci system generates $1–2M+ upfront revenue. 431 placements in Q1 2026 (vs 367 in Q1 2025). da Vinci 5 ASP higher than prior gen.</a:t>
            </a:r>
            <a:endParaRPr lang="en-US" sz="950" dirty="0"/>
          </a:p>
        </p:txBody>
      </p:sp>
      <p:sp>
        <p:nvSpPr>
          <p:cNvPr id="44" name="Shape 42"/>
          <p:cNvSpPr/>
          <p:nvPr/>
        </p:nvSpPr>
        <p:spPr>
          <a:xfrm>
            <a:off x="6126480" y="2816352"/>
            <a:ext cx="2834640" cy="2212848"/>
          </a:xfrm>
          <a:prstGeom prst="rect">
            <a:avLst/>
          </a:prstGeom>
          <a:solidFill>
            <a:srgbClr val="0F1F3D"/>
          </a:solidFill>
          <a:ln/>
          <a:effectLst>
            <a:outerShdw blurRad="127000" dist="50800" dir="8100000" algn="bl" rotWithShape="0">
              <a:srgbClr val="000000">
                <a:alpha val="25000"/>
              </a:srgbClr>
            </a:outerShdw>
          </a:effectLst>
        </p:spPr>
      </p:sp>
      <p:sp>
        <p:nvSpPr>
          <p:cNvPr id="45" name="Shape 43"/>
          <p:cNvSpPr/>
          <p:nvPr/>
        </p:nvSpPr>
        <p:spPr>
          <a:xfrm>
            <a:off x="6126480" y="2816352"/>
            <a:ext cx="2834640" cy="347472"/>
          </a:xfrm>
          <a:prstGeom prst="rect">
            <a:avLst/>
          </a:prstGeom>
          <a:solidFill>
            <a:srgbClr val="06B6D4"/>
          </a:solidFill>
          <a:ln/>
        </p:spPr>
      </p:sp>
      <p:sp>
        <p:nvSpPr>
          <p:cNvPr id="46" name="Text 44"/>
          <p:cNvSpPr/>
          <p:nvPr/>
        </p:nvSpPr>
        <p:spPr>
          <a:xfrm>
            <a:off x="6199632" y="2816352"/>
            <a:ext cx="2688336" cy="347472"/>
          </a:xfrm>
          <a:prstGeom prst="rect">
            <a:avLst/>
          </a:prstGeom>
          <a:noFill/>
          <a:ln/>
        </p:spPr>
        <p:txBody>
          <a:bodyPr wrap="square" rtlCol="0" anchor="ctr"/>
          <a:lstStyle/>
          <a:p>
            <a:pPr marL="0" indent="0">
              <a:buNone/>
            </a:pPr>
            <a:r>
              <a:rPr lang="en-US" sz="1050" b="1" dirty="0">
                <a:solidFill>
                  <a:srgbClr val="050A1A"/>
                </a:solidFill>
              </a:rPr>
              <a:t>Services Revenue (~18%)</a:t>
            </a:r>
            <a:endParaRPr lang="en-US" sz="1050" dirty="0"/>
          </a:p>
        </p:txBody>
      </p:sp>
      <p:sp>
        <p:nvSpPr>
          <p:cNvPr id="47" name="Text 45"/>
          <p:cNvSpPr/>
          <p:nvPr/>
        </p:nvSpPr>
        <p:spPr>
          <a:xfrm>
            <a:off x="6199632" y="3200400"/>
            <a:ext cx="2688336" cy="1783080"/>
          </a:xfrm>
          <a:prstGeom prst="rect">
            <a:avLst/>
          </a:prstGeom>
          <a:noFill/>
          <a:ln/>
        </p:spPr>
        <p:txBody>
          <a:bodyPr wrap="square" rtlCol="0" anchor="ctr"/>
          <a:lstStyle/>
          <a:p>
            <a:pPr marL="0" indent="0">
              <a:buNone/>
            </a:pPr>
            <a:r>
              <a:rPr lang="en-US" sz="950" dirty="0">
                <a:solidFill>
                  <a:srgbClr val="E2E8F0"/>
                </a:solidFill>
              </a:rPr>
              <a:t>Maintenance contracts, training, support. Highly predictable, margin-rich. Grows proportionally with installed base — now 10,700+ systems globally.</a:t>
            </a:r>
            <a:endParaRPr lang="en-US" sz="950" dirty="0"/>
          </a:p>
        </p:txBody>
      </p:sp>
      <p:sp>
        <p:nvSpPr>
          <p:cNvPr id="48" name="Shape 46"/>
          <p:cNvSpPr/>
          <p:nvPr/>
        </p:nvSpPr>
        <p:spPr>
          <a:xfrm>
            <a:off x="182880" y="4846320"/>
            <a:ext cx="8778240" cy="201168"/>
          </a:xfrm>
          <a:prstGeom prst="rect">
            <a:avLst/>
          </a:prstGeom>
          <a:solidFill>
            <a:srgbClr val="0A1628"/>
          </a:solidFill>
          <a:ln/>
        </p:spPr>
      </p:sp>
      <p:sp>
        <p:nvSpPr>
          <p:cNvPr id="49" name="Text 47"/>
          <p:cNvSpPr/>
          <p:nvPr/>
        </p:nvSpPr>
        <p:spPr>
          <a:xfrm>
            <a:off x="274320" y="4846320"/>
            <a:ext cx="8503920" cy="201168"/>
          </a:xfrm>
          <a:prstGeom prst="rect">
            <a:avLst/>
          </a:prstGeom>
          <a:noFill/>
          <a:ln/>
        </p:spPr>
        <p:txBody>
          <a:bodyPr wrap="square" rtlCol="0" anchor="ctr"/>
          <a:lstStyle/>
          <a:p>
            <a:pPr marL="0" indent="0">
              <a:buNone/>
            </a:pPr>
            <a:r>
              <a:rPr lang="en-US" sz="900" dirty="0">
                <a:solidFill>
                  <a:srgbClr val="E2E8F0"/>
                </a:solidFill>
              </a:rPr>
              <a:t>MOAT: 25+ years of clinical evidence, surgeon training networks, hospital procurement relationships, and 20M+ procedure data — no competitor can replicate this overnight.</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F97316"/>
          </a:solidFill>
          <a:ln/>
        </p:spPr>
      </p:sp>
      <p:sp>
        <p:nvSpPr>
          <p:cNvPr id="3" name="Text 1"/>
          <p:cNvSpPr/>
          <p:nvPr/>
        </p:nvSpPr>
        <p:spPr>
          <a:xfrm>
            <a:off x="182880" y="0"/>
            <a:ext cx="8778240" cy="621792"/>
          </a:xfrm>
          <a:prstGeom prst="rect">
            <a:avLst/>
          </a:prstGeom>
          <a:noFill/>
          <a:ln/>
        </p:spPr>
        <p:txBody>
          <a:bodyPr wrap="square" rtlCol="0" anchor="ctr"/>
          <a:lstStyle/>
          <a:p>
            <a:pPr marL="0" indent="0">
              <a:buNone/>
            </a:pPr>
            <a:r>
              <a:rPr lang="en-US" sz="1300" b="1" dirty="0">
                <a:solidFill>
                  <a:srgbClr val="FFFFFF"/>
                </a:solidFill>
              </a:rPr>
              <a:t>HUMANOID &amp; INDUSTRIAL ROBOT ECOSYSTEM MAP</a:t>
            </a:r>
            <a:endParaRPr lang="en-US" sz="1300" dirty="0"/>
          </a:p>
        </p:txBody>
      </p:sp>
      <p:sp>
        <p:nvSpPr>
          <p:cNvPr id="4" name="Text 2"/>
          <p:cNvSpPr/>
          <p:nvPr/>
        </p:nvSpPr>
        <p:spPr>
          <a:xfrm>
            <a:off x="182880" y="667512"/>
            <a:ext cx="8778240" cy="274320"/>
          </a:xfrm>
          <a:prstGeom prst="rect">
            <a:avLst/>
          </a:prstGeom>
          <a:noFill/>
          <a:ln/>
        </p:spPr>
        <p:txBody>
          <a:bodyPr wrap="square" rtlCol="0" anchor="ctr"/>
          <a:lstStyle/>
          <a:p>
            <a:pPr marL="0" indent="0">
              <a:buNone/>
            </a:pPr>
            <a:r>
              <a:rPr lang="en-US" sz="1100" i="1" dirty="0">
                <a:solidFill>
                  <a:srgbClr val="FB923C"/>
                </a:solidFill>
              </a:rPr>
              <a:t>30–50 active humanoid companies globally — US, China, Europe racing to mass production</a:t>
            </a:r>
            <a:endParaRPr lang="en-US" sz="1100" dirty="0"/>
          </a:p>
        </p:txBody>
      </p:sp>
      <p:sp>
        <p:nvSpPr>
          <p:cNvPr id="5" name="Shape 3"/>
          <p:cNvSpPr/>
          <p:nvPr/>
        </p:nvSpPr>
        <p:spPr>
          <a:xfrm>
            <a:off x="182880" y="1005840"/>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6" name="Shape 4"/>
          <p:cNvSpPr/>
          <p:nvPr/>
        </p:nvSpPr>
        <p:spPr>
          <a:xfrm>
            <a:off x="182880" y="1005840"/>
            <a:ext cx="64008" cy="886968"/>
          </a:xfrm>
          <a:prstGeom prst="rect">
            <a:avLst/>
          </a:prstGeom>
          <a:solidFill>
            <a:srgbClr val="10B981"/>
          </a:solidFill>
          <a:ln/>
        </p:spPr>
      </p:sp>
      <p:sp>
        <p:nvSpPr>
          <p:cNvPr id="7" name="Shape 5"/>
          <p:cNvSpPr/>
          <p:nvPr/>
        </p:nvSpPr>
        <p:spPr>
          <a:xfrm>
            <a:off x="320040" y="1051560"/>
            <a:ext cx="1234440" cy="228600"/>
          </a:xfrm>
          <a:prstGeom prst="rect">
            <a:avLst/>
          </a:prstGeom>
          <a:solidFill>
            <a:srgbClr val="10B981"/>
          </a:solidFill>
          <a:ln/>
        </p:spPr>
      </p:sp>
      <p:sp>
        <p:nvSpPr>
          <p:cNvPr id="8" name="Text 6"/>
          <p:cNvSpPr/>
          <p:nvPr/>
        </p:nvSpPr>
        <p:spPr>
          <a:xfrm>
            <a:off x="320040" y="1051560"/>
            <a:ext cx="1234440" cy="228600"/>
          </a:xfrm>
          <a:prstGeom prst="rect">
            <a:avLst/>
          </a:prstGeom>
          <a:noFill/>
          <a:ln/>
        </p:spPr>
        <p:txBody>
          <a:bodyPr wrap="square" rtlCol="0" anchor="ctr"/>
          <a:lstStyle/>
          <a:p>
            <a:pPr marL="0" indent="0" algn="ctr">
              <a:buNone/>
            </a:pPr>
            <a:r>
              <a:rPr lang="en-US" sz="800" b="1" dirty="0">
                <a:solidFill>
                  <a:srgbClr val="050A1A"/>
                </a:solidFill>
              </a:rPr>
              <a:t>Internal Prod.</a:t>
            </a:r>
            <a:endParaRPr lang="en-US" sz="800" dirty="0"/>
          </a:p>
        </p:txBody>
      </p:sp>
      <p:sp>
        <p:nvSpPr>
          <p:cNvPr id="9" name="Text 7"/>
          <p:cNvSpPr/>
          <p:nvPr/>
        </p:nvSpPr>
        <p:spPr>
          <a:xfrm>
            <a:off x="1645920" y="1042416"/>
            <a:ext cx="2788920" cy="246888"/>
          </a:xfrm>
          <a:prstGeom prst="rect">
            <a:avLst/>
          </a:prstGeom>
          <a:noFill/>
          <a:ln/>
        </p:spPr>
        <p:txBody>
          <a:bodyPr wrap="square" rtlCol="0" anchor="ctr"/>
          <a:lstStyle/>
          <a:p>
            <a:pPr marL="0" indent="0">
              <a:buNone/>
            </a:pPr>
            <a:r>
              <a:rPr lang="en-US" sz="1100" b="1" dirty="0">
                <a:solidFill>
                  <a:srgbClr val="FFFFFF"/>
                </a:solidFill>
              </a:rPr>
              <a:t>Tesla / Optimus</a:t>
            </a:r>
            <a:endParaRPr lang="en-US" sz="1100" dirty="0"/>
          </a:p>
        </p:txBody>
      </p:sp>
      <p:sp>
        <p:nvSpPr>
          <p:cNvPr id="10" name="Text 8"/>
          <p:cNvSpPr/>
          <p:nvPr/>
        </p:nvSpPr>
        <p:spPr>
          <a:xfrm>
            <a:off x="320040" y="1316736"/>
            <a:ext cx="1371600" cy="201168"/>
          </a:xfrm>
          <a:prstGeom prst="rect">
            <a:avLst/>
          </a:prstGeom>
          <a:noFill/>
          <a:ln/>
        </p:spPr>
        <p:txBody>
          <a:bodyPr wrap="square" rtlCol="0" anchor="ctr"/>
          <a:lstStyle/>
          <a:p>
            <a:pPr marL="0" indent="0">
              <a:buNone/>
            </a:pPr>
            <a:r>
              <a:rPr lang="en-US" sz="850" dirty="0">
                <a:solidFill>
                  <a:srgbClr val="64748B"/>
                </a:solidFill>
              </a:rPr>
              <a:t>Est. Price: $20–30K target</a:t>
            </a:r>
            <a:endParaRPr lang="en-US" sz="850" dirty="0"/>
          </a:p>
        </p:txBody>
      </p:sp>
      <p:sp>
        <p:nvSpPr>
          <p:cNvPr id="11" name="Text 9"/>
          <p:cNvSpPr/>
          <p:nvPr/>
        </p:nvSpPr>
        <p:spPr>
          <a:xfrm>
            <a:off x="1645920" y="1280160"/>
            <a:ext cx="2788920" cy="566928"/>
          </a:xfrm>
          <a:prstGeom prst="rect">
            <a:avLst/>
          </a:prstGeom>
          <a:noFill/>
          <a:ln/>
        </p:spPr>
        <p:txBody>
          <a:bodyPr wrap="square" rtlCol="0" anchor="ctr"/>
          <a:lstStyle/>
          <a:p>
            <a:pPr marL="0" indent="0">
              <a:buNone/>
            </a:pPr>
            <a:r>
              <a:rPr lang="en-US" sz="900" dirty="0">
                <a:solidFill>
                  <a:srgbClr val="64748B"/>
                </a:solidFill>
              </a:rPr>
              <a:t>Manufacturing scale moat. Fremont converting. No 3rd-party sales yet. Data flywheel from fleet.</a:t>
            </a:r>
            <a:endParaRPr lang="en-US" sz="900" dirty="0"/>
          </a:p>
        </p:txBody>
      </p:sp>
      <p:sp>
        <p:nvSpPr>
          <p:cNvPr id="12" name="Shape 10"/>
          <p:cNvSpPr/>
          <p:nvPr/>
        </p:nvSpPr>
        <p:spPr>
          <a:xfrm>
            <a:off x="4681728" y="1005840"/>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13" name="Shape 11"/>
          <p:cNvSpPr/>
          <p:nvPr/>
        </p:nvSpPr>
        <p:spPr>
          <a:xfrm>
            <a:off x="4681728" y="1005840"/>
            <a:ext cx="64008" cy="886968"/>
          </a:xfrm>
          <a:prstGeom prst="rect">
            <a:avLst/>
          </a:prstGeom>
          <a:solidFill>
            <a:srgbClr val="0EA5E9"/>
          </a:solidFill>
          <a:ln/>
        </p:spPr>
      </p:sp>
      <p:sp>
        <p:nvSpPr>
          <p:cNvPr id="14" name="Shape 12"/>
          <p:cNvSpPr/>
          <p:nvPr/>
        </p:nvSpPr>
        <p:spPr>
          <a:xfrm>
            <a:off x="4818888" y="1051560"/>
            <a:ext cx="1234440" cy="228600"/>
          </a:xfrm>
          <a:prstGeom prst="rect">
            <a:avLst/>
          </a:prstGeom>
          <a:solidFill>
            <a:srgbClr val="10B981"/>
          </a:solidFill>
          <a:ln/>
        </p:spPr>
      </p:sp>
      <p:sp>
        <p:nvSpPr>
          <p:cNvPr id="15" name="Text 13"/>
          <p:cNvSpPr/>
          <p:nvPr/>
        </p:nvSpPr>
        <p:spPr>
          <a:xfrm>
            <a:off x="4818888" y="1051560"/>
            <a:ext cx="1234440" cy="228600"/>
          </a:xfrm>
          <a:prstGeom prst="rect">
            <a:avLst/>
          </a:prstGeom>
          <a:noFill/>
          <a:ln/>
        </p:spPr>
        <p:txBody>
          <a:bodyPr wrap="square" rtlCol="0" anchor="ctr"/>
          <a:lstStyle/>
          <a:p>
            <a:pPr marL="0" indent="0" algn="ctr">
              <a:buNone/>
            </a:pPr>
            <a:r>
              <a:rPr lang="en-US" sz="800" b="1" dirty="0">
                <a:solidFill>
                  <a:srgbClr val="050A1A"/>
                </a:solidFill>
              </a:rPr>
              <a:t>Pilot Deploy.</a:t>
            </a:r>
            <a:endParaRPr lang="en-US" sz="800" dirty="0"/>
          </a:p>
        </p:txBody>
      </p:sp>
      <p:sp>
        <p:nvSpPr>
          <p:cNvPr id="16" name="Text 14"/>
          <p:cNvSpPr/>
          <p:nvPr/>
        </p:nvSpPr>
        <p:spPr>
          <a:xfrm>
            <a:off x="6144768" y="1042416"/>
            <a:ext cx="2788920" cy="246888"/>
          </a:xfrm>
          <a:prstGeom prst="rect">
            <a:avLst/>
          </a:prstGeom>
          <a:noFill/>
          <a:ln/>
        </p:spPr>
        <p:txBody>
          <a:bodyPr wrap="square" rtlCol="0" anchor="ctr"/>
          <a:lstStyle/>
          <a:p>
            <a:pPr marL="0" indent="0">
              <a:buNone/>
            </a:pPr>
            <a:r>
              <a:rPr lang="en-US" sz="1100" b="1" dirty="0">
                <a:solidFill>
                  <a:srgbClr val="FFFFFF"/>
                </a:solidFill>
              </a:rPr>
              <a:t>Figure AI</a:t>
            </a:r>
            <a:endParaRPr lang="en-US" sz="1100" dirty="0"/>
          </a:p>
        </p:txBody>
      </p:sp>
      <p:sp>
        <p:nvSpPr>
          <p:cNvPr id="17" name="Text 15"/>
          <p:cNvSpPr/>
          <p:nvPr/>
        </p:nvSpPr>
        <p:spPr>
          <a:xfrm>
            <a:off x="4818888" y="1316736"/>
            <a:ext cx="1371600" cy="201168"/>
          </a:xfrm>
          <a:prstGeom prst="rect">
            <a:avLst/>
          </a:prstGeom>
          <a:noFill/>
          <a:ln/>
        </p:spPr>
        <p:txBody>
          <a:bodyPr wrap="square" rtlCol="0" anchor="ctr"/>
          <a:lstStyle/>
          <a:p>
            <a:pPr marL="0" indent="0">
              <a:buNone/>
            </a:pPr>
            <a:r>
              <a:rPr lang="en-US" sz="850" dirty="0">
                <a:solidFill>
                  <a:srgbClr val="64748B"/>
                </a:solidFill>
              </a:rPr>
              <a:t>Est. Price: &gt;$100K</a:t>
            </a:r>
            <a:endParaRPr lang="en-US" sz="850" dirty="0"/>
          </a:p>
        </p:txBody>
      </p:sp>
      <p:sp>
        <p:nvSpPr>
          <p:cNvPr id="18" name="Text 16"/>
          <p:cNvSpPr/>
          <p:nvPr/>
        </p:nvSpPr>
        <p:spPr>
          <a:xfrm>
            <a:off x="6144768" y="1280160"/>
            <a:ext cx="2788920" cy="566928"/>
          </a:xfrm>
          <a:prstGeom prst="rect">
            <a:avLst/>
          </a:prstGeom>
          <a:noFill/>
          <a:ln/>
        </p:spPr>
        <p:txBody>
          <a:bodyPr wrap="square" rtlCol="0" anchor="ctr"/>
          <a:lstStyle/>
          <a:p>
            <a:pPr marL="0" indent="0">
              <a:buNone/>
            </a:pPr>
            <a:r>
              <a:rPr lang="en-US" sz="900" dirty="0">
                <a:solidFill>
                  <a:srgbClr val="64748B"/>
                </a:solidFill>
              </a:rPr>
              <a:t>$39B valuation. BMW Spartanburg pilot. Figure 03. OpenAI backed. BotQ facility: 12K units/yr.</a:t>
            </a:r>
            <a:endParaRPr lang="en-US" sz="900" dirty="0"/>
          </a:p>
        </p:txBody>
      </p:sp>
      <p:sp>
        <p:nvSpPr>
          <p:cNvPr id="19" name="Shape 17"/>
          <p:cNvSpPr/>
          <p:nvPr/>
        </p:nvSpPr>
        <p:spPr>
          <a:xfrm>
            <a:off x="182880" y="1984248"/>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20" name="Shape 18"/>
          <p:cNvSpPr/>
          <p:nvPr/>
        </p:nvSpPr>
        <p:spPr>
          <a:xfrm>
            <a:off x="182880" y="1984248"/>
            <a:ext cx="64008" cy="886968"/>
          </a:xfrm>
          <a:prstGeom prst="rect">
            <a:avLst/>
          </a:prstGeom>
          <a:solidFill>
            <a:srgbClr val="F59E0B"/>
          </a:solidFill>
          <a:ln/>
        </p:spPr>
      </p:sp>
      <p:sp>
        <p:nvSpPr>
          <p:cNvPr id="21" name="Shape 19"/>
          <p:cNvSpPr/>
          <p:nvPr/>
        </p:nvSpPr>
        <p:spPr>
          <a:xfrm>
            <a:off x="320040" y="2029968"/>
            <a:ext cx="1234440" cy="228600"/>
          </a:xfrm>
          <a:prstGeom prst="rect">
            <a:avLst/>
          </a:prstGeom>
          <a:solidFill>
            <a:srgbClr val="10B981"/>
          </a:solidFill>
          <a:ln/>
        </p:spPr>
      </p:sp>
      <p:sp>
        <p:nvSpPr>
          <p:cNvPr id="22" name="Text 20"/>
          <p:cNvSpPr/>
          <p:nvPr/>
        </p:nvSpPr>
        <p:spPr>
          <a:xfrm>
            <a:off x="320040" y="2029968"/>
            <a:ext cx="1234440" cy="228600"/>
          </a:xfrm>
          <a:prstGeom prst="rect">
            <a:avLst/>
          </a:prstGeom>
          <a:noFill/>
          <a:ln/>
        </p:spPr>
        <p:txBody>
          <a:bodyPr wrap="square" rtlCol="0" anchor="ctr"/>
          <a:lstStyle/>
          <a:p>
            <a:pPr marL="0" indent="0" algn="ctr">
              <a:buNone/>
            </a:pPr>
            <a:r>
              <a:rPr lang="en-US" sz="800" b="1" dirty="0">
                <a:solidFill>
                  <a:srgbClr val="050A1A"/>
                </a:solidFill>
              </a:rPr>
              <a:t>Commercial Prod.</a:t>
            </a:r>
            <a:endParaRPr lang="en-US" sz="800" dirty="0"/>
          </a:p>
        </p:txBody>
      </p:sp>
      <p:sp>
        <p:nvSpPr>
          <p:cNvPr id="23" name="Text 21"/>
          <p:cNvSpPr/>
          <p:nvPr/>
        </p:nvSpPr>
        <p:spPr>
          <a:xfrm>
            <a:off x="1645920" y="2020824"/>
            <a:ext cx="2788920" cy="246888"/>
          </a:xfrm>
          <a:prstGeom prst="rect">
            <a:avLst/>
          </a:prstGeom>
          <a:noFill/>
          <a:ln/>
        </p:spPr>
        <p:txBody>
          <a:bodyPr wrap="square" rtlCol="0" anchor="ctr"/>
          <a:lstStyle/>
          <a:p>
            <a:pPr marL="0" indent="0">
              <a:buNone/>
            </a:pPr>
            <a:r>
              <a:rPr lang="en-US" sz="1100" b="1" dirty="0">
                <a:solidFill>
                  <a:srgbClr val="FFFFFF"/>
                </a:solidFill>
              </a:rPr>
              <a:t>Boston Dynamics / Atlas</a:t>
            </a:r>
            <a:endParaRPr lang="en-US" sz="1100" dirty="0"/>
          </a:p>
        </p:txBody>
      </p:sp>
      <p:sp>
        <p:nvSpPr>
          <p:cNvPr id="24" name="Text 22"/>
          <p:cNvSpPr/>
          <p:nvPr/>
        </p:nvSpPr>
        <p:spPr>
          <a:xfrm>
            <a:off x="320040" y="2295144"/>
            <a:ext cx="1371600" cy="201168"/>
          </a:xfrm>
          <a:prstGeom prst="rect">
            <a:avLst/>
          </a:prstGeom>
          <a:noFill/>
          <a:ln/>
        </p:spPr>
        <p:txBody>
          <a:bodyPr wrap="square" rtlCol="0" anchor="ctr"/>
          <a:lstStyle/>
          <a:p>
            <a:pPr marL="0" indent="0">
              <a:buNone/>
            </a:pPr>
            <a:r>
              <a:rPr lang="en-US" sz="850" dirty="0">
                <a:solidFill>
                  <a:srgbClr val="64748B"/>
                </a:solidFill>
              </a:rPr>
              <a:t>Est. Price: ~$140K est.</a:t>
            </a:r>
            <a:endParaRPr lang="en-US" sz="850" dirty="0"/>
          </a:p>
        </p:txBody>
      </p:sp>
      <p:sp>
        <p:nvSpPr>
          <p:cNvPr id="25" name="Text 23"/>
          <p:cNvSpPr/>
          <p:nvPr/>
        </p:nvSpPr>
        <p:spPr>
          <a:xfrm>
            <a:off x="1645920" y="2258568"/>
            <a:ext cx="2788920" cy="566928"/>
          </a:xfrm>
          <a:prstGeom prst="rect">
            <a:avLst/>
          </a:prstGeom>
          <a:noFill/>
          <a:ln/>
        </p:spPr>
        <p:txBody>
          <a:bodyPr wrap="square" rtlCol="0" anchor="ctr"/>
          <a:lstStyle/>
          <a:p>
            <a:pPr marL="0" indent="0">
              <a:buNone/>
            </a:pPr>
            <a:r>
              <a:rPr lang="en-US" sz="900" dirty="0">
                <a:solidFill>
                  <a:srgbClr val="64748B"/>
                </a:solidFill>
              </a:rPr>
              <a:t>Hyundai owned. Atlas going to 30K unit/yr factory. Tens of thousands Hyundai deployment.</a:t>
            </a:r>
            <a:endParaRPr lang="en-US" sz="900" dirty="0"/>
          </a:p>
        </p:txBody>
      </p:sp>
      <p:sp>
        <p:nvSpPr>
          <p:cNvPr id="26" name="Shape 24"/>
          <p:cNvSpPr/>
          <p:nvPr/>
        </p:nvSpPr>
        <p:spPr>
          <a:xfrm>
            <a:off x="4681728" y="1984248"/>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27" name="Shape 25"/>
          <p:cNvSpPr/>
          <p:nvPr/>
        </p:nvSpPr>
        <p:spPr>
          <a:xfrm>
            <a:off x="4681728" y="1984248"/>
            <a:ext cx="64008" cy="886968"/>
          </a:xfrm>
          <a:prstGeom prst="rect">
            <a:avLst/>
          </a:prstGeom>
          <a:solidFill>
            <a:srgbClr val="06B6D4"/>
          </a:solidFill>
          <a:ln/>
        </p:spPr>
      </p:sp>
      <p:sp>
        <p:nvSpPr>
          <p:cNvPr id="28" name="Shape 26"/>
          <p:cNvSpPr/>
          <p:nvPr/>
        </p:nvSpPr>
        <p:spPr>
          <a:xfrm>
            <a:off x="4818888" y="2029968"/>
            <a:ext cx="1234440" cy="228600"/>
          </a:xfrm>
          <a:prstGeom prst="rect">
            <a:avLst/>
          </a:prstGeom>
          <a:solidFill>
            <a:srgbClr val="F59E0B"/>
          </a:solidFill>
          <a:ln/>
        </p:spPr>
      </p:sp>
      <p:sp>
        <p:nvSpPr>
          <p:cNvPr id="29" name="Text 27"/>
          <p:cNvSpPr/>
          <p:nvPr/>
        </p:nvSpPr>
        <p:spPr>
          <a:xfrm>
            <a:off x="4818888" y="2029968"/>
            <a:ext cx="1234440" cy="228600"/>
          </a:xfrm>
          <a:prstGeom prst="rect">
            <a:avLst/>
          </a:prstGeom>
          <a:noFill/>
          <a:ln/>
        </p:spPr>
        <p:txBody>
          <a:bodyPr wrap="square" rtlCol="0" anchor="ctr"/>
          <a:lstStyle/>
          <a:p>
            <a:pPr marL="0" indent="0" algn="ctr">
              <a:buNone/>
            </a:pPr>
            <a:r>
              <a:rPr lang="en-US" sz="800" b="1" dirty="0">
                <a:solidFill>
                  <a:srgbClr val="050A1A"/>
                </a:solidFill>
              </a:rPr>
              <a:t>Commercial</a:t>
            </a:r>
            <a:endParaRPr lang="en-US" sz="800" dirty="0"/>
          </a:p>
        </p:txBody>
      </p:sp>
      <p:sp>
        <p:nvSpPr>
          <p:cNvPr id="30" name="Text 28"/>
          <p:cNvSpPr/>
          <p:nvPr/>
        </p:nvSpPr>
        <p:spPr>
          <a:xfrm>
            <a:off x="6144768" y="2020824"/>
            <a:ext cx="2788920" cy="246888"/>
          </a:xfrm>
          <a:prstGeom prst="rect">
            <a:avLst/>
          </a:prstGeom>
          <a:noFill/>
          <a:ln/>
        </p:spPr>
        <p:txBody>
          <a:bodyPr wrap="square" rtlCol="0" anchor="ctr"/>
          <a:lstStyle/>
          <a:p>
            <a:pPr marL="0" indent="0">
              <a:buNone/>
            </a:pPr>
            <a:r>
              <a:rPr lang="en-US" sz="1100" b="1" dirty="0">
                <a:solidFill>
                  <a:srgbClr val="FFFFFF"/>
                </a:solidFill>
              </a:rPr>
              <a:t>Agility Robotics / Digit</a:t>
            </a:r>
            <a:endParaRPr lang="en-US" sz="1100" dirty="0"/>
          </a:p>
        </p:txBody>
      </p:sp>
      <p:sp>
        <p:nvSpPr>
          <p:cNvPr id="31" name="Text 29"/>
          <p:cNvSpPr/>
          <p:nvPr/>
        </p:nvSpPr>
        <p:spPr>
          <a:xfrm>
            <a:off x="4818888" y="2295144"/>
            <a:ext cx="1371600" cy="201168"/>
          </a:xfrm>
          <a:prstGeom prst="rect">
            <a:avLst/>
          </a:prstGeom>
          <a:noFill/>
          <a:ln/>
        </p:spPr>
        <p:txBody>
          <a:bodyPr wrap="square" rtlCol="0" anchor="ctr"/>
          <a:lstStyle/>
          <a:p>
            <a:pPr marL="0" indent="0">
              <a:buNone/>
            </a:pPr>
            <a:r>
              <a:rPr lang="en-US" sz="850" dirty="0">
                <a:solidFill>
                  <a:srgbClr val="64748B"/>
                </a:solidFill>
              </a:rPr>
              <a:t>Est. Price: RaaS model</a:t>
            </a:r>
            <a:endParaRPr lang="en-US" sz="850" dirty="0"/>
          </a:p>
        </p:txBody>
      </p:sp>
      <p:sp>
        <p:nvSpPr>
          <p:cNvPr id="32" name="Text 30"/>
          <p:cNvSpPr/>
          <p:nvPr/>
        </p:nvSpPr>
        <p:spPr>
          <a:xfrm>
            <a:off x="6144768" y="2258568"/>
            <a:ext cx="2788920" cy="566928"/>
          </a:xfrm>
          <a:prstGeom prst="rect">
            <a:avLst/>
          </a:prstGeom>
          <a:noFill/>
          <a:ln/>
        </p:spPr>
        <p:txBody>
          <a:bodyPr wrap="square" rtlCol="0" anchor="ctr"/>
          <a:lstStyle/>
          <a:p>
            <a:pPr marL="0" indent="0">
              <a:buNone/>
            </a:pPr>
            <a:r>
              <a:rPr lang="en-US" sz="900" dirty="0">
                <a:solidFill>
                  <a:srgbClr val="64748B"/>
                </a:solidFill>
              </a:rPr>
              <a:t>Amazon warehouse testing. Production facility running. Leading in logistics.</a:t>
            </a:r>
            <a:endParaRPr lang="en-US" sz="900" dirty="0"/>
          </a:p>
        </p:txBody>
      </p:sp>
      <p:sp>
        <p:nvSpPr>
          <p:cNvPr id="33" name="Shape 31"/>
          <p:cNvSpPr/>
          <p:nvPr/>
        </p:nvSpPr>
        <p:spPr>
          <a:xfrm>
            <a:off x="182880" y="2962656"/>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34" name="Shape 32"/>
          <p:cNvSpPr/>
          <p:nvPr/>
        </p:nvSpPr>
        <p:spPr>
          <a:xfrm>
            <a:off x="182880" y="2962656"/>
            <a:ext cx="64008" cy="886968"/>
          </a:xfrm>
          <a:prstGeom prst="rect">
            <a:avLst/>
          </a:prstGeom>
          <a:solidFill>
            <a:srgbClr val="A855F7"/>
          </a:solidFill>
          <a:ln/>
        </p:spPr>
      </p:sp>
      <p:sp>
        <p:nvSpPr>
          <p:cNvPr id="35" name="Shape 33"/>
          <p:cNvSpPr/>
          <p:nvPr/>
        </p:nvSpPr>
        <p:spPr>
          <a:xfrm>
            <a:off x="320040" y="3008376"/>
            <a:ext cx="1234440" cy="228600"/>
          </a:xfrm>
          <a:prstGeom prst="rect">
            <a:avLst/>
          </a:prstGeom>
          <a:solidFill>
            <a:srgbClr val="10B981"/>
          </a:solidFill>
          <a:ln/>
        </p:spPr>
      </p:sp>
      <p:sp>
        <p:nvSpPr>
          <p:cNvPr id="36" name="Text 34"/>
          <p:cNvSpPr/>
          <p:nvPr/>
        </p:nvSpPr>
        <p:spPr>
          <a:xfrm>
            <a:off x="320040" y="3008376"/>
            <a:ext cx="1234440" cy="228600"/>
          </a:xfrm>
          <a:prstGeom prst="rect">
            <a:avLst/>
          </a:prstGeom>
          <a:noFill/>
          <a:ln/>
        </p:spPr>
        <p:txBody>
          <a:bodyPr wrap="square" rtlCol="0" anchor="ctr"/>
          <a:lstStyle/>
          <a:p>
            <a:pPr marL="0" indent="0" algn="ctr">
              <a:buNone/>
            </a:pPr>
            <a:r>
              <a:rPr lang="en-US" sz="800" b="1" dirty="0">
                <a:solidFill>
                  <a:srgbClr val="050A1A"/>
                </a:solidFill>
              </a:rPr>
              <a:t>Commercial Sale</a:t>
            </a:r>
            <a:endParaRPr lang="en-US" sz="800" dirty="0"/>
          </a:p>
        </p:txBody>
      </p:sp>
      <p:sp>
        <p:nvSpPr>
          <p:cNvPr id="37" name="Text 35"/>
          <p:cNvSpPr/>
          <p:nvPr/>
        </p:nvSpPr>
        <p:spPr>
          <a:xfrm>
            <a:off x="1645920" y="2999232"/>
            <a:ext cx="2788920" cy="246888"/>
          </a:xfrm>
          <a:prstGeom prst="rect">
            <a:avLst/>
          </a:prstGeom>
          <a:noFill/>
          <a:ln/>
        </p:spPr>
        <p:txBody>
          <a:bodyPr wrap="square" rtlCol="0" anchor="ctr"/>
          <a:lstStyle/>
          <a:p>
            <a:pPr marL="0" indent="0">
              <a:buNone/>
            </a:pPr>
            <a:r>
              <a:rPr lang="en-US" sz="1100" b="1" dirty="0">
                <a:solidFill>
                  <a:srgbClr val="FFFFFF"/>
                </a:solidFill>
              </a:rPr>
              <a:t>Unitree (G1/H1/R1)</a:t>
            </a:r>
            <a:endParaRPr lang="en-US" sz="1100" dirty="0"/>
          </a:p>
        </p:txBody>
      </p:sp>
      <p:sp>
        <p:nvSpPr>
          <p:cNvPr id="38" name="Text 36"/>
          <p:cNvSpPr/>
          <p:nvPr/>
        </p:nvSpPr>
        <p:spPr>
          <a:xfrm>
            <a:off x="320040" y="3273552"/>
            <a:ext cx="1371600" cy="201168"/>
          </a:xfrm>
          <a:prstGeom prst="rect">
            <a:avLst/>
          </a:prstGeom>
          <a:noFill/>
          <a:ln/>
        </p:spPr>
        <p:txBody>
          <a:bodyPr wrap="square" rtlCol="0" anchor="ctr"/>
          <a:lstStyle/>
          <a:p>
            <a:pPr marL="0" indent="0">
              <a:buNone/>
            </a:pPr>
            <a:r>
              <a:rPr lang="en-US" sz="850" dirty="0">
                <a:solidFill>
                  <a:srgbClr val="64748B"/>
                </a:solidFill>
              </a:rPr>
              <a:t>Est. Price: $16K (G1)</a:t>
            </a:r>
            <a:endParaRPr lang="en-US" sz="850" dirty="0"/>
          </a:p>
        </p:txBody>
      </p:sp>
      <p:sp>
        <p:nvSpPr>
          <p:cNvPr id="39" name="Text 37"/>
          <p:cNvSpPr/>
          <p:nvPr/>
        </p:nvSpPr>
        <p:spPr>
          <a:xfrm>
            <a:off x="1645920" y="3236976"/>
            <a:ext cx="2788920" cy="566928"/>
          </a:xfrm>
          <a:prstGeom prst="rect">
            <a:avLst/>
          </a:prstGeom>
          <a:noFill/>
          <a:ln/>
        </p:spPr>
        <p:txBody>
          <a:bodyPr wrap="square" rtlCol="0" anchor="ctr"/>
          <a:lstStyle/>
          <a:p>
            <a:pPr marL="0" indent="0">
              <a:buNone/>
            </a:pPr>
            <a:r>
              <a:rPr lang="en-US" sz="900" dirty="0">
                <a:solidFill>
                  <a:srgbClr val="64748B"/>
                </a:solidFill>
              </a:rPr>
              <a:t>Chinese. Cheapest commercial humanoid. Available now. Shipping to US/Canada. H2 coming.</a:t>
            </a:r>
            <a:endParaRPr lang="en-US" sz="900" dirty="0"/>
          </a:p>
        </p:txBody>
      </p:sp>
      <p:sp>
        <p:nvSpPr>
          <p:cNvPr id="40" name="Shape 38"/>
          <p:cNvSpPr/>
          <p:nvPr/>
        </p:nvSpPr>
        <p:spPr>
          <a:xfrm>
            <a:off x="4681728" y="2962656"/>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41" name="Shape 39"/>
          <p:cNvSpPr/>
          <p:nvPr/>
        </p:nvSpPr>
        <p:spPr>
          <a:xfrm>
            <a:off x="4681728" y="2962656"/>
            <a:ext cx="64008" cy="886968"/>
          </a:xfrm>
          <a:prstGeom prst="rect">
            <a:avLst/>
          </a:prstGeom>
          <a:solidFill>
            <a:srgbClr val="F97316"/>
          </a:solidFill>
          <a:ln/>
        </p:spPr>
      </p:sp>
      <p:sp>
        <p:nvSpPr>
          <p:cNvPr id="42" name="Shape 40"/>
          <p:cNvSpPr/>
          <p:nvPr/>
        </p:nvSpPr>
        <p:spPr>
          <a:xfrm>
            <a:off x="4818888" y="3008376"/>
            <a:ext cx="1234440" cy="228600"/>
          </a:xfrm>
          <a:prstGeom prst="rect">
            <a:avLst/>
          </a:prstGeom>
          <a:solidFill>
            <a:srgbClr val="F59E0B"/>
          </a:solidFill>
          <a:ln/>
        </p:spPr>
      </p:sp>
      <p:sp>
        <p:nvSpPr>
          <p:cNvPr id="43" name="Text 41"/>
          <p:cNvSpPr/>
          <p:nvPr/>
        </p:nvSpPr>
        <p:spPr>
          <a:xfrm>
            <a:off x="4818888" y="3008376"/>
            <a:ext cx="1234440" cy="228600"/>
          </a:xfrm>
          <a:prstGeom prst="rect">
            <a:avLst/>
          </a:prstGeom>
          <a:noFill/>
          <a:ln/>
        </p:spPr>
        <p:txBody>
          <a:bodyPr wrap="square" rtlCol="0" anchor="ctr"/>
          <a:lstStyle/>
          <a:p>
            <a:pPr marL="0" indent="0" algn="ctr">
              <a:buNone/>
            </a:pPr>
            <a:r>
              <a:rPr lang="en-US" sz="800" b="1" dirty="0">
                <a:solidFill>
                  <a:srgbClr val="050A1A"/>
                </a:solidFill>
              </a:rPr>
              <a:t>Pilot Deploy.</a:t>
            </a:r>
            <a:endParaRPr lang="en-US" sz="800" dirty="0"/>
          </a:p>
        </p:txBody>
      </p:sp>
      <p:sp>
        <p:nvSpPr>
          <p:cNvPr id="44" name="Text 42"/>
          <p:cNvSpPr/>
          <p:nvPr/>
        </p:nvSpPr>
        <p:spPr>
          <a:xfrm>
            <a:off x="6144768" y="2999232"/>
            <a:ext cx="2788920" cy="246888"/>
          </a:xfrm>
          <a:prstGeom prst="rect">
            <a:avLst/>
          </a:prstGeom>
          <a:noFill/>
          <a:ln/>
        </p:spPr>
        <p:txBody>
          <a:bodyPr wrap="square" rtlCol="0" anchor="ctr"/>
          <a:lstStyle/>
          <a:p>
            <a:pPr marL="0" indent="0">
              <a:buNone/>
            </a:pPr>
            <a:r>
              <a:rPr lang="en-US" sz="1100" b="1" dirty="0">
                <a:solidFill>
                  <a:srgbClr val="FFFFFF"/>
                </a:solidFill>
              </a:rPr>
              <a:t>AgiBot (China)</a:t>
            </a:r>
            <a:endParaRPr lang="en-US" sz="1100" dirty="0"/>
          </a:p>
        </p:txBody>
      </p:sp>
      <p:sp>
        <p:nvSpPr>
          <p:cNvPr id="45" name="Text 43"/>
          <p:cNvSpPr/>
          <p:nvPr/>
        </p:nvSpPr>
        <p:spPr>
          <a:xfrm>
            <a:off x="4818888" y="3273552"/>
            <a:ext cx="1371600" cy="201168"/>
          </a:xfrm>
          <a:prstGeom prst="rect">
            <a:avLst/>
          </a:prstGeom>
          <a:noFill/>
          <a:ln/>
        </p:spPr>
        <p:txBody>
          <a:bodyPr wrap="square" rtlCol="0" anchor="ctr"/>
          <a:lstStyle/>
          <a:p>
            <a:pPr marL="0" indent="0">
              <a:buNone/>
            </a:pPr>
            <a:r>
              <a:rPr lang="en-US" sz="850" dirty="0">
                <a:solidFill>
                  <a:srgbClr val="64748B"/>
                </a:solidFill>
              </a:rPr>
              <a:t>Est. Price: Undisclosed</a:t>
            </a:r>
            <a:endParaRPr lang="en-US" sz="850" dirty="0"/>
          </a:p>
        </p:txBody>
      </p:sp>
      <p:sp>
        <p:nvSpPr>
          <p:cNvPr id="46" name="Text 44"/>
          <p:cNvSpPr/>
          <p:nvPr/>
        </p:nvSpPr>
        <p:spPr>
          <a:xfrm>
            <a:off x="6144768" y="3236976"/>
            <a:ext cx="2788920" cy="566928"/>
          </a:xfrm>
          <a:prstGeom prst="rect">
            <a:avLst/>
          </a:prstGeom>
          <a:noFill/>
          <a:ln/>
        </p:spPr>
        <p:txBody>
          <a:bodyPr wrap="square" rtlCol="0" anchor="ctr"/>
          <a:lstStyle/>
          <a:p>
            <a:pPr marL="0" indent="0">
              <a:buNone/>
            </a:pPr>
            <a:r>
              <a:rPr lang="en-US" sz="900" dirty="0">
                <a:solidFill>
                  <a:srgbClr val="64748B"/>
                </a:solidFill>
              </a:rPr>
              <a:t>Automotive pilot programs. Backed by major Chinese VCs. 1000-unit batch announced 2025.</a:t>
            </a:r>
            <a:endParaRPr lang="en-US" sz="900" dirty="0"/>
          </a:p>
        </p:txBody>
      </p:sp>
      <p:sp>
        <p:nvSpPr>
          <p:cNvPr id="47" name="Shape 45"/>
          <p:cNvSpPr/>
          <p:nvPr/>
        </p:nvSpPr>
        <p:spPr>
          <a:xfrm>
            <a:off x="182880" y="3941064"/>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48" name="Shape 46"/>
          <p:cNvSpPr/>
          <p:nvPr/>
        </p:nvSpPr>
        <p:spPr>
          <a:xfrm>
            <a:off x="182880" y="3941064"/>
            <a:ext cx="64008" cy="886968"/>
          </a:xfrm>
          <a:prstGeom prst="rect">
            <a:avLst/>
          </a:prstGeom>
          <a:solidFill>
            <a:srgbClr val="7C3AED"/>
          </a:solidFill>
          <a:ln/>
        </p:spPr>
      </p:sp>
      <p:sp>
        <p:nvSpPr>
          <p:cNvPr id="49" name="Shape 47"/>
          <p:cNvSpPr/>
          <p:nvPr/>
        </p:nvSpPr>
        <p:spPr>
          <a:xfrm>
            <a:off x="320040" y="3986784"/>
            <a:ext cx="1234440" cy="228600"/>
          </a:xfrm>
          <a:prstGeom prst="rect">
            <a:avLst/>
          </a:prstGeom>
          <a:solidFill>
            <a:srgbClr val="F59E0B"/>
          </a:solidFill>
          <a:ln/>
        </p:spPr>
      </p:sp>
      <p:sp>
        <p:nvSpPr>
          <p:cNvPr id="50" name="Text 48"/>
          <p:cNvSpPr/>
          <p:nvPr/>
        </p:nvSpPr>
        <p:spPr>
          <a:xfrm>
            <a:off x="320040" y="3986784"/>
            <a:ext cx="1234440" cy="228600"/>
          </a:xfrm>
          <a:prstGeom prst="rect">
            <a:avLst/>
          </a:prstGeom>
          <a:noFill/>
          <a:ln/>
        </p:spPr>
        <p:txBody>
          <a:bodyPr wrap="square" rtlCol="0" anchor="ctr"/>
          <a:lstStyle/>
          <a:p>
            <a:pPr marL="0" indent="0" algn="ctr">
              <a:buNone/>
            </a:pPr>
            <a:r>
              <a:rPr lang="en-US" sz="800" b="1" dirty="0">
                <a:solidFill>
                  <a:srgbClr val="050A1A"/>
                </a:solidFill>
              </a:rPr>
              <a:t>Pilot Phase</a:t>
            </a:r>
            <a:endParaRPr lang="en-US" sz="800" dirty="0"/>
          </a:p>
        </p:txBody>
      </p:sp>
      <p:sp>
        <p:nvSpPr>
          <p:cNvPr id="51" name="Text 49"/>
          <p:cNvSpPr/>
          <p:nvPr/>
        </p:nvSpPr>
        <p:spPr>
          <a:xfrm>
            <a:off x="1645920" y="3977640"/>
            <a:ext cx="2788920" cy="246888"/>
          </a:xfrm>
          <a:prstGeom prst="rect">
            <a:avLst/>
          </a:prstGeom>
          <a:noFill/>
          <a:ln/>
        </p:spPr>
        <p:txBody>
          <a:bodyPr wrap="square" rtlCol="0" anchor="ctr"/>
          <a:lstStyle/>
          <a:p>
            <a:pPr marL="0" indent="0">
              <a:buNone/>
            </a:pPr>
            <a:r>
              <a:rPr lang="en-US" sz="1100" b="1" dirty="0">
                <a:solidFill>
                  <a:srgbClr val="FFFFFF"/>
                </a:solidFill>
              </a:rPr>
              <a:t>Apptronik</a:t>
            </a:r>
            <a:endParaRPr lang="en-US" sz="1100" dirty="0"/>
          </a:p>
        </p:txBody>
      </p:sp>
      <p:sp>
        <p:nvSpPr>
          <p:cNvPr id="52" name="Text 50"/>
          <p:cNvSpPr/>
          <p:nvPr/>
        </p:nvSpPr>
        <p:spPr>
          <a:xfrm>
            <a:off x="320040" y="4251960"/>
            <a:ext cx="1371600" cy="201168"/>
          </a:xfrm>
          <a:prstGeom prst="rect">
            <a:avLst/>
          </a:prstGeom>
          <a:noFill/>
          <a:ln/>
        </p:spPr>
        <p:txBody>
          <a:bodyPr wrap="square" rtlCol="0" anchor="ctr"/>
          <a:lstStyle/>
          <a:p>
            <a:pPr marL="0" indent="0">
              <a:buNone/>
            </a:pPr>
            <a:r>
              <a:rPr lang="en-US" sz="850" dirty="0">
                <a:solidFill>
                  <a:srgbClr val="64748B"/>
                </a:solidFill>
              </a:rPr>
              <a:t>Est. Price: &gt;$100K</a:t>
            </a:r>
            <a:endParaRPr lang="en-US" sz="850" dirty="0"/>
          </a:p>
        </p:txBody>
      </p:sp>
      <p:sp>
        <p:nvSpPr>
          <p:cNvPr id="53" name="Text 51"/>
          <p:cNvSpPr/>
          <p:nvPr/>
        </p:nvSpPr>
        <p:spPr>
          <a:xfrm>
            <a:off x="1645920" y="4215384"/>
            <a:ext cx="2788920" cy="566928"/>
          </a:xfrm>
          <a:prstGeom prst="rect">
            <a:avLst/>
          </a:prstGeom>
          <a:noFill/>
          <a:ln/>
        </p:spPr>
        <p:txBody>
          <a:bodyPr wrap="square" rtlCol="0" anchor="ctr"/>
          <a:lstStyle/>
          <a:p>
            <a:pPr marL="0" indent="0">
              <a:buNone/>
            </a:pPr>
            <a:r>
              <a:rPr lang="en-US" sz="900" dirty="0">
                <a:solidFill>
                  <a:srgbClr val="64748B"/>
                </a:solidFill>
              </a:rPr>
              <a:t>Apollo robot. Google DeepMind Gemini Robotics partner. NASA collaboration.</a:t>
            </a:r>
            <a:endParaRPr lang="en-US" sz="900" dirty="0"/>
          </a:p>
        </p:txBody>
      </p:sp>
      <p:sp>
        <p:nvSpPr>
          <p:cNvPr id="54" name="Shape 52"/>
          <p:cNvSpPr/>
          <p:nvPr/>
        </p:nvSpPr>
        <p:spPr>
          <a:xfrm>
            <a:off x="4681728" y="3941064"/>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55" name="Shape 53"/>
          <p:cNvSpPr/>
          <p:nvPr/>
        </p:nvSpPr>
        <p:spPr>
          <a:xfrm>
            <a:off x="4681728" y="3941064"/>
            <a:ext cx="64008" cy="886968"/>
          </a:xfrm>
          <a:prstGeom prst="rect">
            <a:avLst/>
          </a:prstGeom>
          <a:solidFill>
            <a:srgbClr val="64748B"/>
          </a:solidFill>
          <a:ln/>
        </p:spPr>
      </p:sp>
      <p:sp>
        <p:nvSpPr>
          <p:cNvPr id="56" name="Shape 54"/>
          <p:cNvSpPr/>
          <p:nvPr/>
        </p:nvSpPr>
        <p:spPr>
          <a:xfrm>
            <a:off x="4818888" y="3986784"/>
            <a:ext cx="1234440" cy="228600"/>
          </a:xfrm>
          <a:prstGeom prst="rect">
            <a:avLst/>
          </a:prstGeom>
          <a:solidFill>
            <a:srgbClr val="64748B"/>
          </a:solidFill>
          <a:ln/>
        </p:spPr>
      </p:sp>
      <p:sp>
        <p:nvSpPr>
          <p:cNvPr id="57" name="Text 55"/>
          <p:cNvSpPr/>
          <p:nvPr/>
        </p:nvSpPr>
        <p:spPr>
          <a:xfrm>
            <a:off x="4818888" y="3986784"/>
            <a:ext cx="1234440" cy="228600"/>
          </a:xfrm>
          <a:prstGeom prst="rect">
            <a:avLst/>
          </a:prstGeom>
          <a:noFill/>
          <a:ln/>
        </p:spPr>
        <p:txBody>
          <a:bodyPr wrap="square" rtlCol="0" anchor="ctr"/>
          <a:lstStyle/>
          <a:p>
            <a:pPr marL="0" indent="0" algn="ctr">
              <a:buNone/>
            </a:pPr>
            <a:r>
              <a:rPr lang="en-US" sz="800" b="1" dirty="0">
                <a:solidFill>
                  <a:srgbClr val="050A1A"/>
                </a:solidFill>
              </a:rPr>
              <a:t>Early Pilot</a:t>
            </a:r>
            <a:endParaRPr lang="en-US" sz="800" dirty="0"/>
          </a:p>
        </p:txBody>
      </p:sp>
      <p:sp>
        <p:nvSpPr>
          <p:cNvPr id="58" name="Text 56"/>
          <p:cNvSpPr/>
          <p:nvPr/>
        </p:nvSpPr>
        <p:spPr>
          <a:xfrm>
            <a:off x="6144768" y="3977640"/>
            <a:ext cx="2788920" cy="246888"/>
          </a:xfrm>
          <a:prstGeom prst="rect">
            <a:avLst/>
          </a:prstGeom>
          <a:noFill/>
          <a:ln/>
        </p:spPr>
        <p:txBody>
          <a:bodyPr wrap="square" rtlCol="0" anchor="ctr"/>
          <a:lstStyle/>
          <a:p>
            <a:pPr marL="0" indent="0">
              <a:buNone/>
            </a:pPr>
            <a:r>
              <a:rPr lang="en-US" sz="1100" b="1" dirty="0">
                <a:solidFill>
                  <a:srgbClr val="FFFFFF"/>
                </a:solidFill>
              </a:rPr>
              <a:t>1X Technologies (NEO)</a:t>
            </a:r>
            <a:endParaRPr lang="en-US" sz="1100" dirty="0"/>
          </a:p>
        </p:txBody>
      </p:sp>
      <p:sp>
        <p:nvSpPr>
          <p:cNvPr id="59" name="Text 57"/>
          <p:cNvSpPr/>
          <p:nvPr/>
        </p:nvSpPr>
        <p:spPr>
          <a:xfrm>
            <a:off x="4818888" y="4251960"/>
            <a:ext cx="1371600" cy="201168"/>
          </a:xfrm>
          <a:prstGeom prst="rect">
            <a:avLst/>
          </a:prstGeom>
          <a:noFill/>
          <a:ln/>
        </p:spPr>
        <p:txBody>
          <a:bodyPr wrap="square" rtlCol="0" anchor="ctr"/>
          <a:lstStyle/>
          <a:p>
            <a:pPr marL="0" indent="0">
              <a:buNone/>
            </a:pPr>
            <a:r>
              <a:rPr lang="en-US" sz="850" dirty="0">
                <a:solidFill>
                  <a:srgbClr val="64748B"/>
                </a:solidFill>
              </a:rPr>
              <a:t>Est. Price: &gt;$150K</a:t>
            </a:r>
            <a:endParaRPr lang="en-US" sz="850" dirty="0"/>
          </a:p>
        </p:txBody>
      </p:sp>
      <p:sp>
        <p:nvSpPr>
          <p:cNvPr id="60" name="Text 58"/>
          <p:cNvSpPr/>
          <p:nvPr/>
        </p:nvSpPr>
        <p:spPr>
          <a:xfrm>
            <a:off x="6144768" y="4215384"/>
            <a:ext cx="2788920" cy="566928"/>
          </a:xfrm>
          <a:prstGeom prst="rect">
            <a:avLst/>
          </a:prstGeom>
          <a:noFill/>
          <a:ln/>
        </p:spPr>
        <p:txBody>
          <a:bodyPr wrap="square" rtlCol="0" anchor="ctr"/>
          <a:lstStyle/>
          <a:p>
            <a:pPr marL="0" indent="0">
              <a:buNone/>
            </a:pPr>
            <a:r>
              <a:rPr lang="en-US" sz="900" dirty="0">
                <a:solidFill>
                  <a:srgbClr val="64748B"/>
                </a:solidFill>
              </a:rPr>
              <a:t>Norwegian. OpenAI-backed. NEO Beta in homes. Lightest humanoid. Bipedal walking focus.</a:t>
            </a:r>
            <a:endParaRPr lang="en-US" sz="900" dirty="0"/>
          </a:p>
        </p:txBody>
      </p:sp>
      <p:sp>
        <p:nvSpPr>
          <p:cNvPr id="61" name="Shape 59"/>
          <p:cNvSpPr/>
          <p:nvPr/>
        </p:nvSpPr>
        <p:spPr>
          <a:xfrm>
            <a:off x="182880" y="4846320"/>
            <a:ext cx="8778240" cy="201168"/>
          </a:xfrm>
          <a:prstGeom prst="rect">
            <a:avLst/>
          </a:prstGeom>
          <a:solidFill>
            <a:srgbClr val="0A1628"/>
          </a:solidFill>
          <a:ln/>
        </p:spPr>
      </p:sp>
      <p:sp>
        <p:nvSpPr>
          <p:cNvPr id="62" name="Text 60"/>
          <p:cNvSpPr/>
          <p:nvPr/>
        </p:nvSpPr>
        <p:spPr>
          <a:xfrm>
            <a:off x="274320" y="4846320"/>
            <a:ext cx="8503920" cy="201168"/>
          </a:xfrm>
          <a:prstGeom prst="rect">
            <a:avLst/>
          </a:prstGeom>
          <a:noFill/>
          <a:ln/>
        </p:spPr>
        <p:txBody>
          <a:bodyPr wrap="square" rtlCol="0" anchor="ctr"/>
          <a:lstStyle/>
          <a:p>
            <a:pPr marL="0" indent="0">
              <a:buNone/>
            </a:pPr>
            <a:r>
              <a:rPr lang="en-US" sz="900" dirty="0">
                <a:solidFill>
                  <a:srgbClr val="E2E8F0"/>
                </a:solidFill>
              </a:rPr>
              <a:t>INDUSTRIAL ROBOTS (ABB, FANUC, Yaskawa, KUKA): $17.9B market (2026) → $33B by 2035. AI-augmented traditional arms dominate manufacturing floors TODAY while humanoids develop.</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2">
    <p:bg>
      <p:bgPr>
        <a:solidFill>
          <a:srgbClr val="0A001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A855F7"/>
          </a:solidFill>
          <a:ln/>
        </p:spPr>
      </p:sp>
      <p:sp>
        <p:nvSpPr>
          <p:cNvPr id="3" name="Text 1"/>
          <p:cNvSpPr/>
          <p:nvPr/>
        </p:nvSpPr>
        <p:spPr>
          <a:xfrm>
            <a:off x="274320" y="137160"/>
            <a:ext cx="8595360" cy="365760"/>
          </a:xfrm>
          <a:prstGeom prst="rect">
            <a:avLst/>
          </a:prstGeom>
          <a:noFill/>
          <a:ln/>
        </p:spPr>
        <p:txBody>
          <a:bodyPr wrap="square" rtlCol="0" anchor="ctr"/>
          <a:lstStyle/>
          <a:p>
            <a:pPr marL="0" indent="0" algn="ctr">
              <a:buNone/>
            </a:pPr>
            <a:r>
              <a:rPr lang="en-US" sz="2200" b="1" dirty="0">
                <a:solidFill>
                  <a:srgbClr val="FFFFFF"/>
                </a:solidFill>
              </a:rPr>
              <a:t>ROBOTICS: THE COMPLETE ECOSYSTEM</a:t>
            </a:r>
            <a:endParaRPr lang="en-US" sz="2200" dirty="0"/>
          </a:p>
        </p:txBody>
      </p:sp>
      <p:sp>
        <p:nvSpPr>
          <p:cNvPr id="4" name="Text 2"/>
          <p:cNvSpPr/>
          <p:nvPr/>
        </p:nvSpPr>
        <p:spPr>
          <a:xfrm>
            <a:off x="274320" y="566928"/>
            <a:ext cx="8595360" cy="365760"/>
          </a:xfrm>
          <a:prstGeom prst="rect">
            <a:avLst/>
          </a:prstGeom>
          <a:noFill/>
          <a:ln/>
        </p:spPr>
        <p:txBody>
          <a:bodyPr wrap="square" rtlCol="0" anchor="ctr"/>
          <a:lstStyle/>
          <a:p>
            <a:pPr marL="0" indent="0" algn="ctr">
              <a:buNone/>
            </a:pPr>
            <a:r>
              <a:rPr lang="en-US" sz="1100" dirty="0">
                <a:solidFill>
                  <a:srgbClr val="A855F7"/>
                </a:solidFill>
              </a:rPr>
              <a:t>Robotics is not one industry — it is five distinct hardware and software supply chains converging on AI-powered physical intelligence</a:t>
            </a:r>
            <a:endParaRPr lang="en-US" sz="1100" dirty="0"/>
          </a:p>
        </p:txBody>
      </p:sp>
      <p:sp>
        <p:nvSpPr>
          <p:cNvPr id="5" name="Shape 3"/>
          <p:cNvSpPr/>
          <p:nvPr/>
        </p:nvSpPr>
        <p:spPr>
          <a:xfrm>
            <a:off x="274320" y="960120"/>
            <a:ext cx="4114800" cy="4023360"/>
          </a:xfrm>
          <a:prstGeom prst="rect">
            <a:avLst/>
          </a:prstGeom>
          <a:solidFill>
            <a:srgbClr val="1A2850"/>
          </a:solidFill>
          <a:ln w="6350">
            <a:solidFill>
              <a:srgbClr val="FFFFFF">
                <a:alpha val="6000"/>
              </a:srgbClr>
            </a:solidFill>
            <a:prstDash val="solid"/>
          </a:ln>
        </p:spPr>
      </p:sp>
      <p:sp>
        <p:nvSpPr>
          <p:cNvPr id="6" name="Text 4"/>
          <p:cNvSpPr/>
          <p:nvPr/>
        </p:nvSpPr>
        <p:spPr>
          <a:xfrm>
            <a:off x="411480" y="1005840"/>
            <a:ext cx="3840480" cy="274320"/>
          </a:xfrm>
          <a:prstGeom prst="rect">
            <a:avLst/>
          </a:prstGeom>
          <a:noFill/>
          <a:ln/>
        </p:spPr>
        <p:txBody>
          <a:bodyPr wrap="square" lIns="0" tIns="0" rIns="0" bIns="0" rtlCol="0" anchor="ctr"/>
          <a:lstStyle/>
          <a:p>
            <a:pPr marL="0" indent="0">
              <a:buNone/>
            </a:pPr>
            <a:r>
              <a:rPr lang="en-US" sz="900" b="1" kern="0" spc="200" dirty="0">
                <a:solidFill>
                  <a:srgbClr val="A855F7"/>
                </a:solidFill>
              </a:rPr>
              <a:t>HARDWARE STACK — WHAT MAKES A ROBOT MOVE</a:t>
            </a:r>
            <a:endParaRPr lang="en-US" sz="900" dirty="0"/>
          </a:p>
        </p:txBody>
      </p:sp>
      <p:sp>
        <p:nvSpPr>
          <p:cNvPr id="7" name="Shape 5"/>
          <p:cNvSpPr/>
          <p:nvPr/>
        </p:nvSpPr>
        <p:spPr>
          <a:xfrm>
            <a:off x="384048" y="1371600"/>
            <a:ext cx="3886200" cy="640080"/>
          </a:xfrm>
          <a:prstGeom prst="roundRect">
            <a:avLst>
              <a:gd name="adj" fmla="val 8571"/>
            </a:avLst>
          </a:prstGeom>
          <a:solidFill>
            <a:srgbClr val="111830"/>
          </a:solidFill>
          <a:ln/>
        </p:spPr>
      </p:sp>
      <p:sp>
        <p:nvSpPr>
          <p:cNvPr id="8" name="Shape 6"/>
          <p:cNvSpPr/>
          <p:nvPr/>
        </p:nvSpPr>
        <p:spPr>
          <a:xfrm>
            <a:off x="502920" y="1490472"/>
            <a:ext cx="128016" cy="128016"/>
          </a:xfrm>
          <a:prstGeom prst="ellipse">
            <a:avLst/>
          </a:prstGeom>
          <a:solidFill>
            <a:srgbClr val="EF4444"/>
          </a:solidFill>
          <a:ln/>
        </p:spPr>
      </p:sp>
      <p:sp>
        <p:nvSpPr>
          <p:cNvPr id="9" name="Text 7"/>
          <p:cNvSpPr/>
          <p:nvPr/>
        </p:nvSpPr>
        <p:spPr>
          <a:xfrm>
            <a:off x="713232" y="1408176"/>
            <a:ext cx="3474720" cy="201168"/>
          </a:xfrm>
          <a:prstGeom prst="rect">
            <a:avLst/>
          </a:prstGeom>
          <a:noFill/>
          <a:ln/>
        </p:spPr>
        <p:txBody>
          <a:bodyPr wrap="square" lIns="0" tIns="0" rIns="0" bIns="0" rtlCol="0" anchor="ctr"/>
          <a:lstStyle/>
          <a:p>
            <a:pPr marL="0" indent="0">
              <a:buNone/>
            </a:pPr>
            <a:r>
              <a:rPr lang="en-US" sz="900" b="1" dirty="0">
                <a:solidFill>
                  <a:srgbClr val="EF4444"/>
                </a:solidFill>
              </a:rPr>
              <a:t>ACTUATION — The muscles</a:t>
            </a:r>
            <a:endParaRPr lang="en-US" sz="900" dirty="0"/>
          </a:p>
        </p:txBody>
      </p:sp>
      <p:sp>
        <p:nvSpPr>
          <p:cNvPr id="10" name="Text 8"/>
          <p:cNvSpPr/>
          <p:nvPr/>
        </p:nvSpPr>
        <p:spPr>
          <a:xfrm>
            <a:off x="713232" y="1609344"/>
            <a:ext cx="3474720" cy="347472"/>
          </a:xfrm>
          <a:prstGeom prst="rect">
            <a:avLst/>
          </a:prstGeom>
          <a:noFill/>
          <a:ln/>
        </p:spPr>
        <p:txBody>
          <a:bodyPr wrap="square" lIns="0" tIns="0" rIns="0" bIns="0" rtlCol="0" anchor="ctr"/>
          <a:lstStyle/>
          <a:p>
            <a:pPr marL="0" indent="0">
              <a:buNone/>
            </a:pPr>
            <a:r>
              <a:rPr lang="en-US" sz="750" dirty="0">
                <a:solidFill>
                  <a:srgbClr val="E2E8F5"/>
                </a:solidFill>
              </a:rPr>
              <a:t>Electric motors (brushless DC), harmonic drive gearboxes, linear actuators. Key players: Harmonic Drive (Japan, monopoly on precision gearboxes), Maxon Motors (Switzerland), Moog. Humanoid hands: 28+ degrees of freedom, each finger a separate servo.</a:t>
            </a:r>
            <a:endParaRPr lang="en-US" sz="750" dirty="0"/>
          </a:p>
        </p:txBody>
      </p:sp>
      <p:sp>
        <p:nvSpPr>
          <p:cNvPr id="11" name="Shape 9"/>
          <p:cNvSpPr/>
          <p:nvPr/>
        </p:nvSpPr>
        <p:spPr>
          <a:xfrm>
            <a:off x="384048" y="2066544"/>
            <a:ext cx="3886200" cy="640080"/>
          </a:xfrm>
          <a:prstGeom prst="roundRect">
            <a:avLst>
              <a:gd name="adj" fmla="val 8571"/>
            </a:avLst>
          </a:prstGeom>
          <a:solidFill>
            <a:srgbClr val="111830"/>
          </a:solidFill>
          <a:ln/>
        </p:spPr>
      </p:sp>
      <p:sp>
        <p:nvSpPr>
          <p:cNvPr id="12" name="Shape 10"/>
          <p:cNvSpPr/>
          <p:nvPr/>
        </p:nvSpPr>
        <p:spPr>
          <a:xfrm>
            <a:off x="502920" y="2185416"/>
            <a:ext cx="128016" cy="128016"/>
          </a:xfrm>
          <a:prstGeom prst="ellipse">
            <a:avLst/>
          </a:prstGeom>
          <a:solidFill>
            <a:srgbClr val="F97316"/>
          </a:solidFill>
          <a:ln/>
        </p:spPr>
      </p:sp>
      <p:sp>
        <p:nvSpPr>
          <p:cNvPr id="13" name="Text 11"/>
          <p:cNvSpPr/>
          <p:nvPr/>
        </p:nvSpPr>
        <p:spPr>
          <a:xfrm>
            <a:off x="713232" y="2103120"/>
            <a:ext cx="3474720" cy="201168"/>
          </a:xfrm>
          <a:prstGeom prst="rect">
            <a:avLst/>
          </a:prstGeom>
          <a:noFill/>
          <a:ln/>
        </p:spPr>
        <p:txBody>
          <a:bodyPr wrap="square" lIns="0" tIns="0" rIns="0" bIns="0" rtlCol="0" anchor="ctr"/>
          <a:lstStyle/>
          <a:p>
            <a:pPr marL="0" indent="0">
              <a:buNone/>
            </a:pPr>
            <a:r>
              <a:rPr lang="en-US" sz="900" b="1" dirty="0">
                <a:solidFill>
                  <a:srgbClr val="F97316"/>
                </a:solidFill>
              </a:rPr>
              <a:t>SENSORS — The nervous system</a:t>
            </a:r>
            <a:endParaRPr lang="en-US" sz="900" dirty="0"/>
          </a:p>
        </p:txBody>
      </p:sp>
      <p:sp>
        <p:nvSpPr>
          <p:cNvPr id="14" name="Text 12"/>
          <p:cNvSpPr/>
          <p:nvPr/>
        </p:nvSpPr>
        <p:spPr>
          <a:xfrm>
            <a:off x="713232" y="2304288"/>
            <a:ext cx="3474720" cy="347472"/>
          </a:xfrm>
          <a:prstGeom prst="rect">
            <a:avLst/>
          </a:prstGeom>
          <a:noFill/>
          <a:ln/>
        </p:spPr>
        <p:txBody>
          <a:bodyPr wrap="square" lIns="0" tIns="0" rIns="0" bIns="0" rtlCol="0" anchor="ctr"/>
          <a:lstStyle/>
          <a:p>
            <a:pPr marL="0" indent="0">
              <a:buNone/>
            </a:pPr>
            <a:r>
              <a:rPr lang="en-US" sz="750" dirty="0">
                <a:solidFill>
                  <a:srgbClr val="E2E8F5"/>
                </a:solidFill>
              </a:rPr>
              <a:t>LiDAR: Luminar, Velodyne, Ouster (now Ouster+Velodyne merged). RGB-D cameras: Intel RealSense, Microsoft Azure Kinect. Tactile sensors: GelSight (MIT spinout), SynTouch. Force/torque sensors: ATI, Robotiq. Critical for manipulation.</a:t>
            </a:r>
            <a:endParaRPr lang="en-US" sz="750" dirty="0"/>
          </a:p>
        </p:txBody>
      </p:sp>
      <p:sp>
        <p:nvSpPr>
          <p:cNvPr id="15" name="Shape 13"/>
          <p:cNvSpPr/>
          <p:nvPr/>
        </p:nvSpPr>
        <p:spPr>
          <a:xfrm>
            <a:off x="384048" y="2761488"/>
            <a:ext cx="3886200" cy="640080"/>
          </a:xfrm>
          <a:prstGeom prst="roundRect">
            <a:avLst>
              <a:gd name="adj" fmla="val 8571"/>
            </a:avLst>
          </a:prstGeom>
          <a:solidFill>
            <a:srgbClr val="111830"/>
          </a:solidFill>
          <a:ln/>
        </p:spPr>
      </p:sp>
      <p:sp>
        <p:nvSpPr>
          <p:cNvPr id="16" name="Shape 14"/>
          <p:cNvSpPr/>
          <p:nvPr/>
        </p:nvSpPr>
        <p:spPr>
          <a:xfrm>
            <a:off x="502920" y="2880360"/>
            <a:ext cx="128016" cy="128016"/>
          </a:xfrm>
          <a:prstGeom prst="ellipse">
            <a:avLst/>
          </a:prstGeom>
          <a:solidFill>
            <a:srgbClr val="F59E0B"/>
          </a:solidFill>
          <a:ln/>
        </p:spPr>
      </p:sp>
      <p:sp>
        <p:nvSpPr>
          <p:cNvPr id="17" name="Text 15"/>
          <p:cNvSpPr/>
          <p:nvPr/>
        </p:nvSpPr>
        <p:spPr>
          <a:xfrm>
            <a:off x="713232" y="2798064"/>
            <a:ext cx="3474720" cy="201168"/>
          </a:xfrm>
          <a:prstGeom prst="rect">
            <a:avLst/>
          </a:prstGeom>
          <a:noFill/>
          <a:ln/>
        </p:spPr>
        <p:txBody>
          <a:bodyPr wrap="square" lIns="0" tIns="0" rIns="0" bIns="0" rtlCol="0" anchor="ctr"/>
          <a:lstStyle/>
          <a:p>
            <a:pPr marL="0" indent="0">
              <a:buNone/>
            </a:pPr>
            <a:r>
              <a:rPr lang="en-US" sz="900" b="1" dirty="0">
                <a:solidFill>
                  <a:srgbClr val="F59E0B"/>
                </a:solidFill>
              </a:rPr>
              <a:t>COMPUTE (Edge) — The brain on-device</a:t>
            </a:r>
            <a:endParaRPr lang="en-US" sz="900" dirty="0"/>
          </a:p>
        </p:txBody>
      </p:sp>
      <p:sp>
        <p:nvSpPr>
          <p:cNvPr id="18" name="Text 16"/>
          <p:cNvSpPr/>
          <p:nvPr/>
        </p:nvSpPr>
        <p:spPr>
          <a:xfrm>
            <a:off x="713232" y="2999232"/>
            <a:ext cx="3474720" cy="347472"/>
          </a:xfrm>
          <a:prstGeom prst="rect">
            <a:avLst/>
          </a:prstGeom>
          <a:noFill/>
          <a:ln/>
        </p:spPr>
        <p:txBody>
          <a:bodyPr wrap="square" lIns="0" tIns="0" rIns="0" bIns="0" rtlCol="0" anchor="ctr"/>
          <a:lstStyle/>
          <a:p>
            <a:pPr marL="0" indent="0">
              <a:buNone/>
            </a:pPr>
            <a:r>
              <a:rPr lang="en-US" sz="750" dirty="0">
                <a:solidFill>
                  <a:srgbClr val="E2E8F5"/>
                </a:solidFill>
              </a:rPr>
              <a:t>NVIDIA Jetson Orin: dominant edge AI platform. Qualcomm RB5: mobile robotics. AMD Versal: industrial. Google Coral Edge TPU: inference only. The robot's onboard chip must run real-time inference in &lt;10ms for motor control.</a:t>
            </a:r>
            <a:endParaRPr lang="en-US" sz="750" dirty="0"/>
          </a:p>
        </p:txBody>
      </p:sp>
      <p:sp>
        <p:nvSpPr>
          <p:cNvPr id="19" name="Shape 17"/>
          <p:cNvSpPr/>
          <p:nvPr/>
        </p:nvSpPr>
        <p:spPr>
          <a:xfrm>
            <a:off x="384048" y="3456432"/>
            <a:ext cx="3886200" cy="640080"/>
          </a:xfrm>
          <a:prstGeom prst="roundRect">
            <a:avLst>
              <a:gd name="adj" fmla="val 8571"/>
            </a:avLst>
          </a:prstGeom>
          <a:solidFill>
            <a:srgbClr val="111830"/>
          </a:solidFill>
          <a:ln/>
        </p:spPr>
      </p:sp>
      <p:sp>
        <p:nvSpPr>
          <p:cNvPr id="20" name="Shape 18"/>
          <p:cNvSpPr/>
          <p:nvPr/>
        </p:nvSpPr>
        <p:spPr>
          <a:xfrm>
            <a:off x="502920" y="3575304"/>
            <a:ext cx="128016" cy="128016"/>
          </a:xfrm>
          <a:prstGeom prst="ellipse">
            <a:avLst/>
          </a:prstGeom>
          <a:solidFill>
            <a:srgbClr val="10B981"/>
          </a:solidFill>
          <a:ln/>
        </p:spPr>
      </p:sp>
      <p:sp>
        <p:nvSpPr>
          <p:cNvPr id="21" name="Text 19"/>
          <p:cNvSpPr/>
          <p:nvPr/>
        </p:nvSpPr>
        <p:spPr>
          <a:xfrm>
            <a:off x="713232" y="3493008"/>
            <a:ext cx="3474720" cy="201168"/>
          </a:xfrm>
          <a:prstGeom prst="rect">
            <a:avLst/>
          </a:prstGeom>
          <a:noFill/>
          <a:ln/>
        </p:spPr>
        <p:txBody>
          <a:bodyPr wrap="square" lIns="0" tIns="0" rIns="0" bIns="0" rtlCol="0" anchor="ctr"/>
          <a:lstStyle/>
          <a:p>
            <a:pPr marL="0" indent="0">
              <a:buNone/>
            </a:pPr>
            <a:r>
              <a:rPr lang="en-US" sz="900" b="1" dirty="0">
                <a:solidFill>
                  <a:srgbClr val="10B981"/>
                </a:solidFill>
              </a:rPr>
              <a:t>POWER — The metabolism</a:t>
            </a:r>
            <a:endParaRPr lang="en-US" sz="900" dirty="0"/>
          </a:p>
        </p:txBody>
      </p:sp>
      <p:sp>
        <p:nvSpPr>
          <p:cNvPr id="22" name="Text 20"/>
          <p:cNvSpPr/>
          <p:nvPr/>
        </p:nvSpPr>
        <p:spPr>
          <a:xfrm>
            <a:off x="713232" y="3694176"/>
            <a:ext cx="3474720" cy="347472"/>
          </a:xfrm>
          <a:prstGeom prst="rect">
            <a:avLst/>
          </a:prstGeom>
          <a:noFill/>
          <a:ln/>
        </p:spPr>
        <p:txBody>
          <a:bodyPr wrap="square" lIns="0" tIns="0" rIns="0" bIns="0" rtlCol="0" anchor="ctr"/>
          <a:lstStyle/>
          <a:p>
            <a:pPr marL="0" indent="0">
              <a:buNone/>
            </a:pPr>
            <a:r>
              <a:rPr lang="en-US" sz="750" dirty="0">
                <a:solidFill>
                  <a:srgbClr val="E2E8F5"/>
                </a:solidFill>
              </a:rPr>
              <a:t>Current humanoid battery: 2-4 hours operation, 30+ min to charge. Tesla Optimus uses 2.3 kWh pack (similar to an e-scooter). Battery energy density is the single hardest constraint on humanoid form factor. Requires solid-state batteries (2028+) for all-day operation.</a:t>
            </a:r>
            <a:endParaRPr lang="en-US" sz="750" dirty="0"/>
          </a:p>
        </p:txBody>
      </p:sp>
      <p:sp>
        <p:nvSpPr>
          <p:cNvPr id="23" name="Shape 21"/>
          <p:cNvSpPr/>
          <p:nvPr/>
        </p:nvSpPr>
        <p:spPr>
          <a:xfrm>
            <a:off x="384048" y="4151376"/>
            <a:ext cx="3886200" cy="640080"/>
          </a:xfrm>
          <a:prstGeom prst="roundRect">
            <a:avLst>
              <a:gd name="adj" fmla="val 8571"/>
            </a:avLst>
          </a:prstGeom>
          <a:solidFill>
            <a:srgbClr val="111830"/>
          </a:solidFill>
          <a:ln/>
        </p:spPr>
      </p:sp>
      <p:sp>
        <p:nvSpPr>
          <p:cNvPr id="24" name="Shape 22"/>
          <p:cNvSpPr/>
          <p:nvPr/>
        </p:nvSpPr>
        <p:spPr>
          <a:xfrm>
            <a:off x="502920" y="4270248"/>
            <a:ext cx="128016" cy="128016"/>
          </a:xfrm>
          <a:prstGeom prst="ellipse">
            <a:avLst/>
          </a:prstGeom>
          <a:solidFill>
            <a:srgbClr val="3B82F6"/>
          </a:solidFill>
          <a:ln/>
        </p:spPr>
      </p:sp>
      <p:sp>
        <p:nvSpPr>
          <p:cNvPr id="25" name="Text 23"/>
          <p:cNvSpPr/>
          <p:nvPr/>
        </p:nvSpPr>
        <p:spPr>
          <a:xfrm>
            <a:off x="713232" y="4187952"/>
            <a:ext cx="3474720" cy="201168"/>
          </a:xfrm>
          <a:prstGeom prst="rect">
            <a:avLst/>
          </a:prstGeom>
          <a:noFill/>
          <a:ln/>
        </p:spPr>
        <p:txBody>
          <a:bodyPr wrap="square" lIns="0" tIns="0" rIns="0" bIns="0" rtlCol="0" anchor="ctr"/>
          <a:lstStyle/>
          <a:p>
            <a:pPr marL="0" indent="0">
              <a:buNone/>
            </a:pPr>
            <a:r>
              <a:rPr lang="en-US" sz="900" b="1" dirty="0">
                <a:solidFill>
                  <a:srgbClr val="3B82F6"/>
                </a:solidFill>
              </a:rPr>
              <a:t>MECHANICAL STRUCTURE</a:t>
            </a:r>
            <a:endParaRPr lang="en-US" sz="900" dirty="0"/>
          </a:p>
        </p:txBody>
      </p:sp>
      <p:sp>
        <p:nvSpPr>
          <p:cNvPr id="26" name="Text 24"/>
          <p:cNvSpPr/>
          <p:nvPr/>
        </p:nvSpPr>
        <p:spPr>
          <a:xfrm>
            <a:off x="713232" y="4389120"/>
            <a:ext cx="3474720" cy="347472"/>
          </a:xfrm>
          <a:prstGeom prst="rect">
            <a:avLst/>
          </a:prstGeom>
          <a:noFill/>
          <a:ln/>
        </p:spPr>
        <p:txBody>
          <a:bodyPr wrap="square" lIns="0" tIns="0" rIns="0" bIns="0" rtlCol="0" anchor="ctr"/>
          <a:lstStyle/>
          <a:p>
            <a:pPr marL="0" indent="0">
              <a:buNone/>
            </a:pPr>
            <a:r>
              <a:rPr lang="en-US" sz="750" dirty="0">
                <a:solidFill>
                  <a:srgbClr val="E2E8F5"/>
                </a:solidFill>
              </a:rPr>
              <a:t>Aluminum vs. titanium vs. carbon fiber tradeoffs for strength/weight. Bipedal balance is a control problem, not a materials problem. Boston Dynamics Atlas: titanium frame, fully electric since 2024. Agility Robotics Digit: polymer frame for cost reduction.</a:t>
            </a:r>
            <a:endParaRPr lang="en-US" sz="750" dirty="0"/>
          </a:p>
        </p:txBody>
      </p:sp>
      <p:sp>
        <p:nvSpPr>
          <p:cNvPr id="27" name="Shape 25"/>
          <p:cNvSpPr/>
          <p:nvPr/>
        </p:nvSpPr>
        <p:spPr>
          <a:xfrm>
            <a:off x="4617720" y="960120"/>
            <a:ext cx="4206240" cy="4023360"/>
          </a:xfrm>
          <a:prstGeom prst="rect">
            <a:avLst/>
          </a:prstGeom>
          <a:solidFill>
            <a:srgbClr val="1A2850"/>
          </a:solidFill>
          <a:ln w="6350">
            <a:solidFill>
              <a:srgbClr val="FFFFFF">
                <a:alpha val="6000"/>
              </a:srgbClr>
            </a:solidFill>
            <a:prstDash val="solid"/>
          </a:ln>
        </p:spPr>
      </p:sp>
      <p:sp>
        <p:nvSpPr>
          <p:cNvPr id="28" name="Text 26"/>
          <p:cNvSpPr/>
          <p:nvPr/>
        </p:nvSpPr>
        <p:spPr>
          <a:xfrm>
            <a:off x="4754880" y="1005840"/>
            <a:ext cx="3931920" cy="274320"/>
          </a:xfrm>
          <a:prstGeom prst="rect">
            <a:avLst/>
          </a:prstGeom>
          <a:noFill/>
          <a:ln/>
        </p:spPr>
        <p:txBody>
          <a:bodyPr wrap="square" lIns="0" tIns="0" rIns="0" bIns="0" rtlCol="0" anchor="ctr"/>
          <a:lstStyle/>
          <a:p>
            <a:pPr marL="0" indent="0">
              <a:buNone/>
            </a:pPr>
            <a:r>
              <a:rPr lang="en-US" sz="900" b="1" kern="0" spc="100" dirty="0">
                <a:solidFill>
                  <a:srgbClr val="A855F7"/>
                </a:solidFill>
              </a:rPr>
              <a:t>SOFTWARE STACK — WHAT MAKES A ROBOT THINK</a:t>
            </a:r>
            <a:endParaRPr lang="en-US" sz="900" dirty="0"/>
          </a:p>
        </p:txBody>
      </p:sp>
      <p:sp>
        <p:nvSpPr>
          <p:cNvPr id="29" name="Shape 27"/>
          <p:cNvSpPr/>
          <p:nvPr/>
        </p:nvSpPr>
        <p:spPr>
          <a:xfrm>
            <a:off x="4736592" y="1371600"/>
            <a:ext cx="3931920" cy="640080"/>
          </a:xfrm>
          <a:prstGeom prst="roundRect">
            <a:avLst>
              <a:gd name="adj" fmla="val 8571"/>
            </a:avLst>
          </a:prstGeom>
          <a:solidFill>
            <a:srgbClr val="111830"/>
          </a:solidFill>
          <a:ln/>
        </p:spPr>
      </p:sp>
      <p:sp>
        <p:nvSpPr>
          <p:cNvPr id="30" name="Shape 28"/>
          <p:cNvSpPr/>
          <p:nvPr/>
        </p:nvSpPr>
        <p:spPr>
          <a:xfrm>
            <a:off x="4846320" y="1490472"/>
            <a:ext cx="128016" cy="128016"/>
          </a:xfrm>
          <a:prstGeom prst="ellipse">
            <a:avLst/>
          </a:prstGeom>
          <a:solidFill>
            <a:srgbClr val="3B82F6"/>
          </a:solidFill>
          <a:ln/>
        </p:spPr>
      </p:sp>
      <p:sp>
        <p:nvSpPr>
          <p:cNvPr id="31" name="Text 29"/>
          <p:cNvSpPr/>
          <p:nvPr/>
        </p:nvSpPr>
        <p:spPr>
          <a:xfrm>
            <a:off x="5047488" y="1408176"/>
            <a:ext cx="3520440" cy="201168"/>
          </a:xfrm>
          <a:prstGeom prst="rect">
            <a:avLst/>
          </a:prstGeom>
          <a:noFill/>
          <a:ln/>
        </p:spPr>
        <p:txBody>
          <a:bodyPr wrap="square" lIns="0" tIns="0" rIns="0" bIns="0" rtlCol="0" anchor="ctr"/>
          <a:lstStyle/>
          <a:p>
            <a:pPr marL="0" indent="0">
              <a:buNone/>
            </a:pPr>
            <a:r>
              <a:rPr lang="en-US" sz="900" b="1" dirty="0">
                <a:solidFill>
                  <a:srgbClr val="3B82F6"/>
                </a:solidFill>
              </a:rPr>
              <a:t>SIMULATION — Training reality</a:t>
            </a:r>
            <a:endParaRPr lang="en-US" sz="900" dirty="0"/>
          </a:p>
        </p:txBody>
      </p:sp>
      <p:sp>
        <p:nvSpPr>
          <p:cNvPr id="32" name="Text 30"/>
          <p:cNvSpPr/>
          <p:nvPr/>
        </p:nvSpPr>
        <p:spPr>
          <a:xfrm>
            <a:off x="5047488" y="1609344"/>
            <a:ext cx="3520440" cy="347472"/>
          </a:xfrm>
          <a:prstGeom prst="rect">
            <a:avLst/>
          </a:prstGeom>
          <a:noFill/>
          <a:ln/>
        </p:spPr>
        <p:txBody>
          <a:bodyPr wrap="square" lIns="0" tIns="0" rIns="0" bIns="0" rtlCol="0" anchor="ctr"/>
          <a:lstStyle/>
          <a:p>
            <a:pPr marL="0" indent="0">
              <a:buNone/>
            </a:pPr>
            <a:r>
              <a:rPr lang="en-US" sz="750" dirty="0">
                <a:solidFill>
                  <a:srgbClr val="E2E8F5"/>
                </a:solidFill>
              </a:rPr>
              <a:t>NVIDIA IsaacSim (Omniverse-based), MuJoCo (DeepMind, free), PyBullet, Genesis (MIT). AI models train in simulation millions of times; then transfer to real robots. Sim-to-real gap is the core research problem.</a:t>
            </a:r>
            <a:endParaRPr lang="en-US" sz="750" dirty="0"/>
          </a:p>
        </p:txBody>
      </p:sp>
      <p:sp>
        <p:nvSpPr>
          <p:cNvPr id="33" name="Shape 31"/>
          <p:cNvSpPr/>
          <p:nvPr/>
        </p:nvSpPr>
        <p:spPr>
          <a:xfrm>
            <a:off x="4736592" y="2066544"/>
            <a:ext cx="3931920" cy="640080"/>
          </a:xfrm>
          <a:prstGeom prst="roundRect">
            <a:avLst>
              <a:gd name="adj" fmla="val 8571"/>
            </a:avLst>
          </a:prstGeom>
          <a:solidFill>
            <a:srgbClr val="111830"/>
          </a:solidFill>
          <a:ln/>
        </p:spPr>
      </p:sp>
      <p:sp>
        <p:nvSpPr>
          <p:cNvPr id="34" name="Shape 32"/>
          <p:cNvSpPr/>
          <p:nvPr/>
        </p:nvSpPr>
        <p:spPr>
          <a:xfrm>
            <a:off x="4846320" y="2185416"/>
            <a:ext cx="128016" cy="128016"/>
          </a:xfrm>
          <a:prstGeom prst="ellipse">
            <a:avLst/>
          </a:prstGeom>
          <a:solidFill>
            <a:srgbClr val="06B6D4"/>
          </a:solidFill>
          <a:ln/>
        </p:spPr>
      </p:sp>
      <p:sp>
        <p:nvSpPr>
          <p:cNvPr id="35" name="Text 33"/>
          <p:cNvSpPr/>
          <p:nvPr/>
        </p:nvSpPr>
        <p:spPr>
          <a:xfrm>
            <a:off x="5047488" y="2103120"/>
            <a:ext cx="3520440" cy="201168"/>
          </a:xfrm>
          <a:prstGeom prst="rect">
            <a:avLst/>
          </a:prstGeom>
          <a:noFill/>
          <a:ln/>
        </p:spPr>
        <p:txBody>
          <a:bodyPr wrap="square" lIns="0" tIns="0" rIns="0" bIns="0" rtlCol="0" anchor="ctr"/>
          <a:lstStyle/>
          <a:p>
            <a:pPr marL="0" indent="0">
              <a:buNone/>
            </a:pPr>
            <a:r>
              <a:rPr lang="en-US" sz="900" b="1" dirty="0">
                <a:solidFill>
                  <a:srgbClr val="06B6D4"/>
                </a:solidFill>
              </a:rPr>
              <a:t>ROBOT OS — The operating system</a:t>
            </a:r>
            <a:endParaRPr lang="en-US" sz="900" dirty="0"/>
          </a:p>
        </p:txBody>
      </p:sp>
      <p:sp>
        <p:nvSpPr>
          <p:cNvPr id="36" name="Text 34"/>
          <p:cNvSpPr/>
          <p:nvPr/>
        </p:nvSpPr>
        <p:spPr>
          <a:xfrm>
            <a:off x="5047488" y="2304288"/>
            <a:ext cx="3520440" cy="347472"/>
          </a:xfrm>
          <a:prstGeom prst="rect">
            <a:avLst/>
          </a:prstGeom>
          <a:noFill/>
          <a:ln/>
        </p:spPr>
        <p:txBody>
          <a:bodyPr wrap="square" lIns="0" tIns="0" rIns="0" bIns="0" rtlCol="0" anchor="ctr"/>
          <a:lstStyle/>
          <a:p>
            <a:pPr marL="0" indent="0">
              <a:buNone/>
            </a:pPr>
            <a:r>
              <a:rPr lang="en-US" sz="750" dirty="0">
                <a:solidFill>
                  <a:srgbClr val="E2E8F5"/>
                </a:solidFill>
              </a:rPr>
              <a:t>ROS2 (Robot Operating System 2): open-source, DARPA-funded, used by 90%+ of research robots. Real-time extension: RTRos2. Commercial: AutoCore, Wind River. Microcontrollers run VxWorks (proprietary, safety-certified).</a:t>
            </a:r>
            <a:endParaRPr lang="en-US" sz="750" dirty="0"/>
          </a:p>
        </p:txBody>
      </p:sp>
      <p:sp>
        <p:nvSpPr>
          <p:cNvPr id="37" name="Shape 35"/>
          <p:cNvSpPr/>
          <p:nvPr/>
        </p:nvSpPr>
        <p:spPr>
          <a:xfrm>
            <a:off x="4736592" y="2761488"/>
            <a:ext cx="3931920" cy="640080"/>
          </a:xfrm>
          <a:prstGeom prst="roundRect">
            <a:avLst>
              <a:gd name="adj" fmla="val 8571"/>
            </a:avLst>
          </a:prstGeom>
          <a:solidFill>
            <a:srgbClr val="111830"/>
          </a:solidFill>
          <a:ln/>
        </p:spPr>
      </p:sp>
      <p:sp>
        <p:nvSpPr>
          <p:cNvPr id="38" name="Shape 36"/>
          <p:cNvSpPr/>
          <p:nvPr/>
        </p:nvSpPr>
        <p:spPr>
          <a:xfrm>
            <a:off x="4846320" y="2880360"/>
            <a:ext cx="128016" cy="128016"/>
          </a:xfrm>
          <a:prstGeom prst="ellipse">
            <a:avLst/>
          </a:prstGeom>
          <a:solidFill>
            <a:srgbClr val="0D9488"/>
          </a:solidFill>
          <a:ln/>
        </p:spPr>
      </p:sp>
      <p:sp>
        <p:nvSpPr>
          <p:cNvPr id="39" name="Text 37"/>
          <p:cNvSpPr/>
          <p:nvPr/>
        </p:nvSpPr>
        <p:spPr>
          <a:xfrm>
            <a:off x="5047488" y="2798064"/>
            <a:ext cx="3520440" cy="201168"/>
          </a:xfrm>
          <a:prstGeom prst="rect">
            <a:avLst/>
          </a:prstGeom>
          <a:noFill/>
          <a:ln/>
        </p:spPr>
        <p:txBody>
          <a:bodyPr wrap="square" lIns="0" tIns="0" rIns="0" bIns="0" rtlCol="0" anchor="ctr"/>
          <a:lstStyle/>
          <a:p>
            <a:pPr marL="0" indent="0">
              <a:buNone/>
            </a:pPr>
            <a:r>
              <a:rPr lang="en-US" sz="900" b="1" dirty="0">
                <a:solidFill>
                  <a:srgbClr val="0D9488"/>
                </a:solidFill>
              </a:rPr>
              <a:t>PERCEPTION AI — Seeing the world</a:t>
            </a:r>
            <a:endParaRPr lang="en-US" sz="900" dirty="0"/>
          </a:p>
        </p:txBody>
      </p:sp>
      <p:sp>
        <p:nvSpPr>
          <p:cNvPr id="40" name="Text 38"/>
          <p:cNvSpPr/>
          <p:nvPr/>
        </p:nvSpPr>
        <p:spPr>
          <a:xfrm>
            <a:off x="5047488" y="2999232"/>
            <a:ext cx="3520440" cy="347472"/>
          </a:xfrm>
          <a:prstGeom prst="rect">
            <a:avLst/>
          </a:prstGeom>
          <a:noFill/>
          <a:ln/>
        </p:spPr>
        <p:txBody>
          <a:bodyPr wrap="square" lIns="0" tIns="0" rIns="0" bIns="0" rtlCol="0" anchor="ctr"/>
          <a:lstStyle/>
          <a:p>
            <a:pPr marL="0" indent="0">
              <a:buNone/>
            </a:pPr>
            <a:r>
              <a:rPr lang="en-US" sz="750" dirty="0">
                <a:solidFill>
                  <a:srgbClr val="E2E8F5"/>
                </a:solidFill>
              </a:rPr>
              <a:t>Object detection (YOLOv9, SAM2), depth estimation, 3D point cloud processing. Key companies: Mobileye (automotive perception, Intel subsidiary), Wayve (end-to-end neural driving), Cogniteam. OpenAI's GPT-4V now used for robot scene understanding.</a:t>
            </a:r>
            <a:endParaRPr lang="en-US" sz="750" dirty="0"/>
          </a:p>
        </p:txBody>
      </p:sp>
      <p:sp>
        <p:nvSpPr>
          <p:cNvPr id="41" name="Shape 39"/>
          <p:cNvSpPr/>
          <p:nvPr/>
        </p:nvSpPr>
        <p:spPr>
          <a:xfrm>
            <a:off x="4736592" y="3456432"/>
            <a:ext cx="3931920" cy="640080"/>
          </a:xfrm>
          <a:prstGeom prst="roundRect">
            <a:avLst>
              <a:gd name="adj" fmla="val 8571"/>
            </a:avLst>
          </a:prstGeom>
          <a:solidFill>
            <a:srgbClr val="111830"/>
          </a:solidFill>
          <a:ln/>
        </p:spPr>
      </p:sp>
      <p:sp>
        <p:nvSpPr>
          <p:cNvPr id="42" name="Shape 40"/>
          <p:cNvSpPr/>
          <p:nvPr/>
        </p:nvSpPr>
        <p:spPr>
          <a:xfrm>
            <a:off x="4846320" y="3575304"/>
            <a:ext cx="128016" cy="128016"/>
          </a:xfrm>
          <a:prstGeom prst="ellipse">
            <a:avLst/>
          </a:prstGeom>
          <a:solidFill>
            <a:srgbClr val="10B981"/>
          </a:solidFill>
          <a:ln/>
        </p:spPr>
      </p:sp>
      <p:sp>
        <p:nvSpPr>
          <p:cNvPr id="43" name="Text 41"/>
          <p:cNvSpPr/>
          <p:nvPr/>
        </p:nvSpPr>
        <p:spPr>
          <a:xfrm>
            <a:off x="5047488" y="3493008"/>
            <a:ext cx="3520440" cy="201168"/>
          </a:xfrm>
          <a:prstGeom prst="rect">
            <a:avLst/>
          </a:prstGeom>
          <a:noFill/>
          <a:ln/>
        </p:spPr>
        <p:txBody>
          <a:bodyPr wrap="square" lIns="0" tIns="0" rIns="0" bIns="0" rtlCol="0" anchor="ctr"/>
          <a:lstStyle/>
          <a:p>
            <a:pPr marL="0" indent="0">
              <a:buNone/>
            </a:pPr>
            <a:r>
              <a:rPr lang="en-US" sz="900" b="1" dirty="0">
                <a:solidFill>
                  <a:srgbClr val="10B981"/>
                </a:solidFill>
              </a:rPr>
              <a:t>MOTION PLANNING AI — Deciding how to move</a:t>
            </a:r>
            <a:endParaRPr lang="en-US" sz="900" dirty="0"/>
          </a:p>
        </p:txBody>
      </p:sp>
      <p:sp>
        <p:nvSpPr>
          <p:cNvPr id="44" name="Text 42"/>
          <p:cNvSpPr/>
          <p:nvPr/>
        </p:nvSpPr>
        <p:spPr>
          <a:xfrm>
            <a:off x="5047488" y="3694176"/>
            <a:ext cx="3520440" cy="347472"/>
          </a:xfrm>
          <a:prstGeom prst="rect">
            <a:avLst/>
          </a:prstGeom>
          <a:noFill/>
          <a:ln/>
        </p:spPr>
        <p:txBody>
          <a:bodyPr wrap="square" lIns="0" tIns="0" rIns="0" bIns="0" rtlCol="0" anchor="ctr"/>
          <a:lstStyle/>
          <a:p>
            <a:pPr marL="0" indent="0">
              <a:buNone/>
            </a:pPr>
            <a:r>
              <a:rPr lang="en-US" sz="750" dirty="0">
                <a:solidFill>
                  <a:srgbClr val="E2E8F5"/>
                </a:solidFill>
              </a:rPr>
              <a:t>Traditional: MoveIt (ROS), OMPL. AI-based: Diffusion Policy (Stanford), RT-2 (Google DeepMind). The breakthrough: training on human teleoperation data (imitation learning) then fine-tuning with reinforcement learning.</a:t>
            </a:r>
            <a:endParaRPr lang="en-US" sz="750" dirty="0"/>
          </a:p>
        </p:txBody>
      </p:sp>
      <p:sp>
        <p:nvSpPr>
          <p:cNvPr id="45" name="Shape 43"/>
          <p:cNvSpPr/>
          <p:nvPr/>
        </p:nvSpPr>
        <p:spPr>
          <a:xfrm>
            <a:off x="4736592" y="4151376"/>
            <a:ext cx="3931920" cy="640080"/>
          </a:xfrm>
          <a:prstGeom prst="roundRect">
            <a:avLst>
              <a:gd name="adj" fmla="val 8571"/>
            </a:avLst>
          </a:prstGeom>
          <a:solidFill>
            <a:srgbClr val="111830"/>
          </a:solidFill>
          <a:ln/>
        </p:spPr>
      </p:sp>
      <p:sp>
        <p:nvSpPr>
          <p:cNvPr id="46" name="Shape 44"/>
          <p:cNvSpPr/>
          <p:nvPr/>
        </p:nvSpPr>
        <p:spPr>
          <a:xfrm>
            <a:off x="4846320" y="4270248"/>
            <a:ext cx="128016" cy="128016"/>
          </a:xfrm>
          <a:prstGeom prst="ellipse">
            <a:avLst/>
          </a:prstGeom>
          <a:solidFill>
            <a:srgbClr val="A855F7"/>
          </a:solidFill>
          <a:ln/>
        </p:spPr>
      </p:sp>
      <p:sp>
        <p:nvSpPr>
          <p:cNvPr id="47" name="Text 45"/>
          <p:cNvSpPr/>
          <p:nvPr/>
        </p:nvSpPr>
        <p:spPr>
          <a:xfrm>
            <a:off x="5047488" y="4187952"/>
            <a:ext cx="3520440" cy="201168"/>
          </a:xfrm>
          <a:prstGeom prst="rect">
            <a:avLst/>
          </a:prstGeom>
          <a:noFill/>
          <a:ln/>
        </p:spPr>
        <p:txBody>
          <a:bodyPr wrap="square" lIns="0" tIns="0" rIns="0" bIns="0" rtlCol="0" anchor="ctr"/>
          <a:lstStyle/>
          <a:p>
            <a:pPr marL="0" indent="0">
              <a:buNone/>
            </a:pPr>
            <a:r>
              <a:rPr lang="en-US" sz="900" b="1" dirty="0">
                <a:solidFill>
                  <a:srgbClr val="A855F7"/>
                </a:solidFill>
              </a:rPr>
              <a:t>FOUNDATION MODELS FOR ROBOTS</a:t>
            </a:r>
            <a:endParaRPr lang="en-US" sz="900" dirty="0"/>
          </a:p>
        </p:txBody>
      </p:sp>
      <p:sp>
        <p:nvSpPr>
          <p:cNvPr id="48" name="Text 46"/>
          <p:cNvSpPr/>
          <p:nvPr/>
        </p:nvSpPr>
        <p:spPr>
          <a:xfrm>
            <a:off x="5047488" y="4389120"/>
            <a:ext cx="3520440" cy="347472"/>
          </a:xfrm>
          <a:prstGeom prst="rect">
            <a:avLst/>
          </a:prstGeom>
          <a:noFill/>
          <a:ln/>
        </p:spPr>
        <p:txBody>
          <a:bodyPr wrap="square" lIns="0" tIns="0" rIns="0" bIns="0" rtlCol="0" anchor="ctr"/>
          <a:lstStyle/>
          <a:p>
            <a:pPr marL="0" indent="0">
              <a:buNone/>
            </a:pPr>
            <a:r>
              <a:rPr lang="en-US" sz="750" dirty="0">
                <a:solidFill>
                  <a:srgbClr val="E2E8F5"/>
                </a:solidFill>
              </a:rPr>
              <a:t>Google RT-2: vision-language-action model. OpenAI fine-tuned models for Humanoid (Figure partnership). Microsoft RoboFlamingo. These are pre-trained on internet data, then fine-tuned on robot trajectories. The convergence with LLMs is happening NOW.</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3">
    <p:bg>
      <p:bgPr>
        <a:solidFill>
          <a:srgbClr val="0A001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C4899"/>
          </a:solidFill>
          <a:ln/>
        </p:spPr>
      </p:sp>
      <p:sp>
        <p:nvSpPr>
          <p:cNvPr id="3" name="Text 1"/>
          <p:cNvSpPr/>
          <p:nvPr/>
        </p:nvSpPr>
        <p:spPr>
          <a:xfrm>
            <a:off x="274320" y="137160"/>
            <a:ext cx="8595360" cy="365760"/>
          </a:xfrm>
          <a:prstGeom prst="rect">
            <a:avLst/>
          </a:prstGeom>
          <a:noFill/>
          <a:ln/>
        </p:spPr>
        <p:txBody>
          <a:bodyPr wrap="square" rtlCol="0" anchor="ctr"/>
          <a:lstStyle/>
          <a:p>
            <a:pPr marL="0" indent="0" algn="ctr">
              <a:buNone/>
            </a:pPr>
            <a:r>
              <a:rPr lang="en-US" sz="2200" b="1" dirty="0">
                <a:solidFill>
                  <a:srgbClr val="FFFFFF"/>
                </a:solidFill>
              </a:rPr>
              <a:t>ROBOTICS: APPLICATION VERTICALS &amp; KEY COMPANIES</a:t>
            </a:r>
            <a:endParaRPr lang="en-US" sz="2200" dirty="0"/>
          </a:p>
        </p:txBody>
      </p:sp>
      <p:sp>
        <p:nvSpPr>
          <p:cNvPr id="4" name="Text 2"/>
          <p:cNvSpPr/>
          <p:nvPr/>
        </p:nvSpPr>
        <p:spPr>
          <a:xfrm>
            <a:off x="274320" y="566928"/>
            <a:ext cx="8595360" cy="365760"/>
          </a:xfrm>
          <a:prstGeom prst="rect">
            <a:avLst/>
          </a:prstGeom>
          <a:noFill/>
          <a:ln/>
        </p:spPr>
        <p:txBody>
          <a:bodyPr wrap="square" rtlCol="0" anchor="ctr"/>
          <a:lstStyle/>
          <a:p>
            <a:pPr marL="0" indent="0" algn="ctr">
              <a:buNone/>
            </a:pPr>
            <a:r>
              <a:rPr lang="en-US" sz="1100" dirty="0">
                <a:solidFill>
                  <a:srgbClr val="EC4899"/>
                </a:solidFill>
              </a:rPr>
              <a:t>Who plays where, what their moat is, and what has to be true for them to win</a:t>
            </a:r>
            <a:endParaRPr lang="en-US" sz="1100" dirty="0"/>
          </a:p>
        </p:txBody>
      </p:sp>
      <p:grpSp>
        <p:nvGrpSpPr>
          <p:cNvPr id="45" name="Group 44">
            <a:extLst>
              <a:ext uri="{FF2B5EF4-FFF2-40B4-BE49-F238E27FC236}">
                <a16:creationId xmlns:a16="http://schemas.microsoft.com/office/drawing/2014/main" id="{CA171898-430B-1300-298E-4E303C6FB259}"/>
              </a:ext>
            </a:extLst>
          </p:cNvPr>
          <p:cNvGrpSpPr/>
          <p:nvPr/>
        </p:nvGrpSpPr>
        <p:grpSpPr>
          <a:xfrm>
            <a:off x="274320" y="938470"/>
            <a:ext cx="8503920" cy="4091940"/>
            <a:chOff x="274320" y="914400"/>
            <a:chExt cx="8503920" cy="3886200"/>
          </a:xfrm>
        </p:grpSpPr>
        <p:sp>
          <p:nvSpPr>
            <p:cNvPr id="5" name="Shape 3"/>
            <p:cNvSpPr/>
            <p:nvPr/>
          </p:nvSpPr>
          <p:spPr>
            <a:xfrm>
              <a:off x="274320" y="914400"/>
              <a:ext cx="4160520" cy="182880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6" name="Shape 4"/>
            <p:cNvSpPr/>
            <p:nvPr/>
          </p:nvSpPr>
          <p:spPr>
            <a:xfrm>
              <a:off x="274320" y="914400"/>
              <a:ext cx="4160520" cy="320040"/>
            </a:xfrm>
            <a:prstGeom prst="rect">
              <a:avLst/>
            </a:prstGeom>
            <a:solidFill>
              <a:srgbClr val="F59E0B">
                <a:alpha val="82000"/>
              </a:srgbClr>
            </a:solidFill>
            <a:ln/>
          </p:spPr>
        </p:sp>
        <p:sp>
          <p:nvSpPr>
            <p:cNvPr id="7" name="Text 5"/>
            <p:cNvSpPr/>
            <p:nvPr/>
          </p:nvSpPr>
          <p:spPr>
            <a:xfrm>
              <a:off x="384048" y="914400"/>
              <a:ext cx="3931920" cy="320040"/>
            </a:xfrm>
            <a:prstGeom prst="rect">
              <a:avLst/>
            </a:prstGeom>
            <a:noFill/>
            <a:ln/>
          </p:spPr>
          <p:txBody>
            <a:bodyPr wrap="square" lIns="0" tIns="0" rIns="0" bIns="0" rtlCol="0" anchor="ctr"/>
            <a:lstStyle/>
            <a:p>
              <a:pPr marL="0" indent="0">
                <a:buNone/>
              </a:pPr>
              <a:r>
                <a:rPr lang="en-US" sz="1100" b="1" dirty="0">
                  <a:solidFill>
                    <a:srgbClr val="FFFFFF"/>
                  </a:solidFill>
                </a:rPr>
                <a:t>Industrial / Manufacturing</a:t>
              </a:r>
              <a:endParaRPr lang="en-US" sz="1100" dirty="0"/>
            </a:p>
          </p:txBody>
        </p:sp>
        <p:sp>
          <p:nvSpPr>
            <p:cNvPr id="8" name="Shape 6"/>
            <p:cNvSpPr/>
            <p:nvPr/>
          </p:nvSpPr>
          <p:spPr>
            <a:xfrm>
              <a:off x="384048" y="1280160"/>
              <a:ext cx="1371600" cy="201168"/>
            </a:xfrm>
            <a:prstGeom prst="roundRect">
              <a:avLst>
                <a:gd name="adj" fmla="val 18182"/>
              </a:avLst>
            </a:prstGeom>
            <a:solidFill>
              <a:srgbClr val="F59E0B">
                <a:alpha val="30000"/>
              </a:srgbClr>
            </a:solidFill>
            <a:ln/>
          </p:spPr>
        </p:sp>
        <p:sp>
          <p:nvSpPr>
            <p:cNvPr id="9" name="Text 7"/>
            <p:cNvSpPr/>
            <p:nvPr/>
          </p:nvSpPr>
          <p:spPr>
            <a:xfrm>
              <a:off x="384048" y="1280160"/>
              <a:ext cx="1371600" cy="201168"/>
            </a:xfrm>
            <a:prstGeom prst="rect">
              <a:avLst/>
            </a:prstGeom>
            <a:noFill/>
            <a:ln/>
          </p:spPr>
          <p:txBody>
            <a:bodyPr wrap="square" rtlCol="0" anchor="ctr"/>
            <a:lstStyle/>
            <a:p>
              <a:pPr marL="0" indent="0" algn="ctr">
                <a:buNone/>
              </a:pPr>
              <a:r>
                <a:rPr lang="en-US" sz="700" dirty="0">
                  <a:solidFill>
                    <a:srgbClr val="FFFFFF"/>
                  </a:solidFill>
                </a:rPr>
                <a:t>TAM: $50B today</a:t>
              </a:r>
              <a:endParaRPr lang="en-US" sz="700" dirty="0"/>
            </a:p>
          </p:txBody>
        </p:sp>
        <p:sp>
          <p:nvSpPr>
            <p:cNvPr id="10" name="Text 8"/>
            <p:cNvSpPr/>
            <p:nvPr/>
          </p:nvSpPr>
          <p:spPr>
            <a:xfrm>
              <a:off x="384048" y="1517904"/>
              <a:ext cx="3886200" cy="164592"/>
            </a:xfrm>
            <a:prstGeom prst="rect">
              <a:avLst/>
            </a:prstGeom>
            <a:noFill/>
            <a:ln/>
          </p:spPr>
          <p:txBody>
            <a:bodyPr wrap="square" lIns="0" tIns="0" rIns="0" bIns="0" rtlCol="0" anchor="ctr"/>
            <a:lstStyle/>
            <a:p>
              <a:pPr marL="0" indent="0">
                <a:buNone/>
              </a:pPr>
              <a:r>
                <a:rPr lang="en-US" sz="750" dirty="0">
                  <a:solidFill>
                    <a:srgbClr val="F59E0B"/>
                  </a:solidFill>
                </a:rPr>
                <a:t>ABB · FANUC · Kuka (Midea) · YASKAWA · Teradyne (UR)</a:t>
              </a:r>
              <a:endParaRPr lang="en-US" sz="750" dirty="0"/>
            </a:p>
          </p:txBody>
        </p:sp>
        <p:sp>
          <p:nvSpPr>
            <p:cNvPr id="11" name="Text 9"/>
            <p:cNvSpPr/>
            <p:nvPr/>
          </p:nvSpPr>
          <p:spPr>
            <a:xfrm>
              <a:off x="384048" y="1719072"/>
              <a:ext cx="3886200" cy="164592"/>
            </a:xfrm>
            <a:prstGeom prst="rect">
              <a:avLst/>
            </a:prstGeom>
            <a:noFill/>
            <a:ln/>
          </p:spPr>
          <p:txBody>
            <a:bodyPr wrap="square" lIns="0" tIns="0" rIns="0" bIns="0" rtlCol="0" anchor="ctr"/>
            <a:lstStyle/>
            <a:p>
              <a:pPr marL="0" indent="0">
                <a:buNone/>
              </a:pPr>
              <a:r>
                <a:rPr lang="en-US" sz="750" b="1" dirty="0">
                  <a:solidFill>
                    <a:srgbClr val="64748B"/>
                  </a:solidFill>
                </a:rPr>
                <a:t>MOAT:</a:t>
              </a:r>
              <a:endParaRPr lang="en-US" sz="750" dirty="0"/>
            </a:p>
          </p:txBody>
        </p:sp>
        <p:sp>
          <p:nvSpPr>
            <p:cNvPr id="12" name="Text 10"/>
            <p:cNvSpPr/>
            <p:nvPr/>
          </p:nvSpPr>
          <p:spPr>
            <a:xfrm>
              <a:off x="292608" y="1879092"/>
              <a:ext cx="3886200" cy="457200"/>
            </a:xfrm>
            <a:prstGeom prst="rect">
              <a:avLst/>
            </a:prstGeom>
            <a:noFill/>
            <a:ln/>
          </p:spPr>
          <p:txBody>
            <a:bodyPr wrap="square" rtlCol="0" anchor="ctr"/>
            <a:lstStyle/>
            <a:p>
              <a:pPr marL="0" indent="0">
                <a:buNone/>
              </a:pPr>
              <a:r>
                <a:rPr lang="en-US" sz="800" dirty="0">
                  <a:solidFill>
                    <a:srgbClr val="E2E8F5"/>
                  </a:solidFill>
                </a:rPr>
                <a:t>ABB: integrated motion control + drives + robots. 40-year customer relationships in automotive. FANUC: most reliable industrial robot (99.99% uptime), 25-year replacement cycles. Moat is reliability and longevity, not cutting-edge AI.</a:t>
              </a:r>
              <a:endParaRPr lang="en-US" sz="800" dirty="0"/>
            </a:p>
          </p:txBody>
        </p:sp>
        <p:sp>
          <p:nvSpPr>
            <p:cNvPr id="13" name="Text 11"/>
            <p:cNvSpPr/>
            <p:nvPr/>
          </p:nvSpPr>
          <p:spPr>
            <a:xfrm>
              <a:off x="384048" y="2359152"/>
              <a:ext cx="3886200" cy="146304"/>
            </a:xfrm>
            <a:prstGeom prst="rect">
              <a:avLst/>
            </a:prstGeom>
            <a:noFill/>
            <a:ln/>
          </p:spPr>
          <p:txBody>
            <a:bodyPr wrap="square" lIns="0" tIns="0" rIns="0" bIns="0" rtlCol="0" anchor="ctr"/>
            <a:lstStyle/>
            <a:p>
              <a:pPr marL="0" indent="0">
                <a:buNone/>
              </a:pPr>
              <a:r>
                <a:rPr lang="en-US" sz="750" b="1" dirty="0">
                  <a:solidFill>
                    <a:srgbClr val="F59E0B"/>
                  </a:solidFill>
                </a:rPr>
                <a:t>STATUS:</a:t>
              </a:r>
              <a:endParaRPr lang="en-US" sz="750" dirty="0"/>
            </a:p>
          </p:txBody>
        </p:sp>
        <p:sp>
          <p:nvSpPr>
            <p:cNvPr id="14" name="Text 12"/>
            <p:cNvSpPr/>
            <p:nvPr/>
          </p:nvSpPr>
          <p:spPr>
            <a:xfrm>
              <a:off x="384048" y="2496312"/>
              <a:ext cx="3886200" cy="219456"/>
            </a:xfrm>
            <a:prstGeom prst="rect">
              <a:avLst/>
            </a:prstGeom>
            <a:noFill/>
            <a:ln/>
          </p:spPr>
          <p:txBody>
            <a:bodyPr wrap="square" lIns="0" tIns="0" rIns="0" bIns="0" rtlCol="0" anchor="ctr"/>
            <a:lstStyle/>
            <a:p>
              <a:pPr marL="0" indent="0">
                <a:buNone/>
              </a:pPr>
              <a:r>
                <a:rPr lang="en-US" sz="750" dirty="0"/>
                <a:t>Mature and stable. AI adding edge: vision-guided grasping, predictive maintenance, flexible programming. ABB Y</a:t>
              </a:r>
            </a:p>
          </p:txBody>
        </p:sp>
        <p:sp>
          <p:nvSpPr>
            <p:cNvPr id="15" name="Shape 13"/>
            <p:cNvSpPr/>
            <p:nvPr/>
          </p:nvSpPr>
          <p:spPr>
            <a:xfrm>
              <a:off x="274320" y="2880360"/>
              <a:ext cx="4160520" cy="192024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16" name="Shape 14"/>
            <p:cNvSpPr/>
            <p:nvPr/>
          </p:nvSpPr>
          <p:spPr>
            <a:xfrm>
              <a:off x="274320" y="2880360"/>
              <a:ext cx="4160520" cy="320040"/>
            </a:xfrm>
            <a:prstGeom prst="rect">
              <a:avLst/>
            </a:prstGeom>
            <a:solidFill>
              <a:srgbClr val="0D9488">
                <a:alpha val="82000"/>
              </a:srgbClr>
            </a:solidFill>
            <a:ln/>
          </p:spPr>
        </p:sp>
        <p:sp>
          <p:nvSpPr>
            <p:cNvPr id="17" name="Text 15"/>
            <p:cNvSpPr/>
            <p:nvPr/>
          </p:nvSpPr>
          <p:spPr>
            <a:xfrm>
              <a:off x="384048" y="2880360"/>
              <a:ext cx="3931920" cy="320040"/>
            </a:xfrm>
            <a:prstGeom prst="rect">
              <a:avLst/>
            </a:prstGeom>
            <a:noFill/>
            <a:ln/>
          </p:spPr>
          <p:txBody>
            <a:bodyPr wrap="square" lIns="0" tIns="0" rIns="0" bIns="0" rtlCol="0" anchor="ctr"/>
            <a:lstStyle/>
            <a:p>
              <a:pPr marL="0" indent="0">
                <a:buNone/>
              </a:pPr>
              <a:r>
                <a:rPr lang="en-US" sz="1100" b="1" dirty="0">
                  <a:solidFill>
                    <a:srgbClr val="FFFFFF"/>
                  </a:solidFill>
                </a:rPr>
                <a:t>Warehouse &amp; Logistics</a:t>
              </a:r>
              <a:endParaRPr lang="en-US" sz="1100" dirty="0"/>
            </a:p>
          </p:txBody>
        </p:sp>
        <p:sp>
          <p:nvSpPr>
            <p:cNvPr id="18" name="Shape 16"/>
            <p:cNvSpPr/>
            <p:nvPr/>
          </p:nvSpPr>
          <p:spPr>
            <a:xfrm>
              <a:off x="384048" y="3246120"/>
              <a:ext cx="1371600" cy="201168"/>
            </a:xfrm>
            <a:prstGeom prst="roundRect">
              <a:avLst>
                <a:gd name="adj" fmla="val 18182"/>
              </a:avLst>
            </a:prstGeom>
            <a:solidFill>
              <a:srgbClr val="0D9488">
                <a:alpha val="30000"/>
              </a:srgbClr>
            </a:solidFill>
            <a:ln/>
          </p:spPr>
        </p:sp>
        <p:sp>
          <p:nvSpPr>
            <p:cNvPr id="19" name="Text 17"/>
            <p:cNvSpPr/>
            <p:nvPr/>
          </p:nvSpPr>
          <p:spPr>
            <a:xfrm>
              <a:off x="384048" y="3246120"/>
              <a:ext cx="1371600" cy="201168"/>
            </a:xfrm>
            <a:prstGeom prst="rect">
              <a:avLst/>
            </a:prstGeom>
            <a:noFill/>
            <a:ln/>
          </p:spPr>
          <p:txBody>
            <a:bodyPr wrap="square" rtlCol="0" anchor="ctr"/>
            <a:lstStyle/>
            <a:p>
              <a:pPr marL="0" indent="0" algn="ctr">
                <a:buNone/>
              </a:pPr>
              <a:r>
                <a:rPr lang="en-US" sz="700" dirty="0">
                  <a:solidFill>
                    <a:srgbClr val="FFFFFF"/>
                  </a:solidFill>
                </a:rPr>
                <a:t>TAM: $15B today</a:t>
              </a:r>
              <a:endParaRPr lang="en-US" sz="700" dirty="0"/>
            </a:p>
          </p:txBody>
        </p:sp>
        <p:sp>
          <p:nvSpPr>
            <p:cNvPr id="20" name="Text 18"/>
            <p:cNvSpPr/>
            <p:nvPr/>
          </p:nvSpPr>
          <p:spPr>
            <a:xfrm>
              <a:off x="384048" y="3483864"/>
              <a:ext cx="3886200" cy="164592"/>
            </a:xfrm>
            <a:prstGeom prst="rect">
              <a:avLst/>
            </a:prstGeom>
            <a:noFill/>
            <a:ln/>
          </p:spPr>
          <p:txBody>
            <a:bodyPr wrap="square" lIns="0" tIns="0" rIns="0" bIns="0" rtlCol="0" anchor="ctr"/>
            <a:lstStyle/>
            <a:p>
              <a:pPr marL="0" indent="0">
                <a:buNone/>
              </a:pPr>
              <a:r>
                <a:rPr lang="en-US" sz="750" dirty="0">
                  <a:solidFill>
                    <a:srgbClr val="0D9488"/>
                  </a:solidFill>
                </a:rPr>
                <a:t>Amazon Robotics · Symbotic · Locus Robotics · 6River (Shopify) · Geek+</a:t>
              </a:r>
              <a:endParaRPr lang="en-US" sz="750" dirty="0"/>
            </a:p>
          </p:txBody>
        </p:sp>
        <p:sp>
          <p:nvSpPr>
            <p:cNvPr id="21" name="Text 19"/>
            <p:cNvSpPr/>
            <p:nvPr/>
          </p:nvSpPr>
          <p:spPr>
            <a:xfrm>
              <a:off x="384048" y="3685032"/>
              <a:ext cx="3886200" cy="164592"/>
            </a:xfrm>
            <a:prstGeom prst="rect">
              <a:avLst/>
            </a:prstGeom>
            <a:noFill/>
            <a:ln/>
          </p:spPr>
          <p:txBody>
            <a:bodyPr wrap="square" lIns="0" tIns="0" rIns="0" bIns="0" rtlCol="0" anchor="ctr"/>
            <a:lstStyle/>
            <a:p>
              <a:pPr marL="0" indent="0">
                <a:buNone/>
              </a:pPr>
              <a:r>
                <a:rPr lang="en-US" sz="750" b="1" dirty="0">
                  <a:solidFill>
                    <a:srgbClr val="64748B"/>
                  </a:solidFill>
                </a:rPr>
                <a:t>MOAT:</a:t>
              </a:r>
              <a:endParaRPr lang="en-US" sz="750" dirty="0"/>
            </a:p>
          </p:txBody>
        </p:sp>
        <p:sp>
          <p:nvSpPr>
            <p:cNvPr id="22" name="Text 20"/>
            <p:cNvSpPr/>
            <p:nvPr/>
          </p:nvSpPr>
          <p:spPr>
            <a:xfrm>
              <a:off x="282271" y="3809470"/>
              <a:ext cx="3886200" cy="548640"/>
            </a:xfrm>
            <a:prstGeom prst="rect">
              <a:avLst/>
            </a:prstGeom>
            <a:noFill/>
            <a:ln/>
          </p:spPr>
          <p:txBody>
            <a:bodyPr wrap="square" rtlCol="0" anchor="ctr"/>
            <a:lstStyle/>
            <a:p>
              <a:pPr marL="0" indent="0">
                <a:buNone/>
              </a:pPr>
              <a:r>
                <a:rPr lang="en-US" sz="800" dirty="0">
                  <a:solidFill>
                    <a:srgbClr val="E2E8F5"/>
                  </a:solidFill>
                </a:rPr>
                <a:t>Amazon Robotics: captive customer (Amazon.com logistics) provides unlimited training data and deployment scale — no external competitor can match. Symbotic: patented "chaotic storage" algorithm optimizes Walmart's warehouses. AI-driven path planning is the moat.</a:t>
              </a:r>
              <a:endParaRPr lang="en-US" sz="800" dirty="0"/>
            </a:p>
          </p:txBody>
        </p:sp>
        <p:sp>
          <p:nvSpPr>
            <p:cNvPr id="23" name="Text 21"/>
            <p:cNvSpPr/>
            <p:nvPr/>
          </p:nvSpPr>
          <p:spPr>
            <a:xfrm>
              <a:off x="384048" y="4416552"/>
              <a:ext cx="3886200" cy="146304"/>
            </a:xfrm>
            <a:prstGeom prst="rect">
              <a:avLst/>
            </a:prstGeom>
            <a:noFill/>
            <a:ln/>
          </p:spPr>
          <p:txBody>
            <a:bodyPr wrap="square" lIns="0" tIns="0" rIns="0" bIns="0" rtlCol="0" anchor="ctr"/>
            <a:lstStyle/>
            <a:p>
              <a:pPr marL="0" indent="0">
                <a:buNone/>
              </a:pPr>
              <a:r>
                <a:rPr lang="en-US" sz="750" b="1" dirty="0">
                  <a:solidFill>
                    <a:srgbClr val="0D9488"/>
                  </a:solidFill>
                </a:rPr>
                <a:t>STATUS:</a:t>
              </a:r>
              <a:endParaRPr lang="en-US" sz="750" dirty="0"/>
            </a:p>
          </p:txBody>
        </p:sp>
        <p:sp>
          <p:nvSpPr>
            <p:cNvPr id="24" name="Text 22"/>
            <p:cNvSpPr/>
            <p:nvPr/>
          </p:nvSpPr>
          <p:spPr>
            <a:xfrm>
              <a:off x="384048" y="4553712"/>
              <a:ext cx="3886200" cy="219456"/>
            </a:xfrm>
            <a:prstGeom prst="rect">
              <a:avLst/>
            </a:prstGeom>
            <a:noFill/>
            <a:ln/>
          </p:spPr>
          <p:txBody>
            <a:bodyPr wrap="square" lIns="0" tIns="0" rIns="0" bIns="0" rtlCol="0" anchor="ctr"/>
            <a:lstStyle/>
            <a:p>
              <a:pPr marL="0" indent="0">
                <a:buNone/>
              </a:pPr>
              <a:r>
                <a:rPr lang="en-US" sz="750" dirty="0"/>
                <a:t>Fastest growing vertical today. AMR (Autonomous Mobile Robots) market doubling every 3 years. Driven by e-comm</a:t>
              </a:r>
            </a:p>
          </p:txBody>
        </p:sp>
        <p:sp>
          <p:nvSpPr>
            <p:cNvPr id="25" name="Shape 23"/>
            <p:cNvSpPr/>
            <p:nvPr/>
          </p:nvSpPr>
          <p:spPr>
            <a:xfrm>
              <a:off x="4617720" y="914400"/>
              <a:ext cx="4160520" cy="205740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26" name="Shape 24"/>
            <p:cNvSpPr/>
            <p:nvPr/>
          </p:nvSpPr>
          <p:spPr>
            <a:xfrm>
              <a:off x="4617720" y="914400"/>
              <a:ext cx="4160520" cy="320040"/>
            </a:xfrm>
            <a:prstGeom prst="rect">
              <a:avLst/>
            </a:prstGeom>
            <a:solidFill>
              <a:srgbClr val="A855F7">
                <a:alpha val="82000"/>
              </a:srgbClr>
            </a:solidFill>
            <a:ln/>
          </p:spPr>
        </p:sp>
        <p:sp>
          <p:nvSpPr>
            <p:cNvPr id="27" name="Text 25"/>
            <p:cNvSpPr/>
            <p:nvPr/>
          </p:nvSpPr>
          <p:spPr>
            <a:xfrm>
              <a:off x="4727448" y="914400"/>
              <a:ext cx="3931920" cy="320040"/>
            </a:xfrm>
            <a:prstGeom prst="rect">
              <a:avLst/>
            </a:prstGeom>
            <a:noFill/>
            <a:ln/>
          </p:spPr>
          <p:txBody>
            <a:bodyPr wrap="square" lIns="0" tIns="0" rIns="0" bIns="0" rtlCol="0" anchor="ctr"/>
            <a:lstStyle/>
            <a:p>
              <a:pPr marL="0" indent="0">
                <a:buNone/>
              </a:pPr>
              <a:r>
                <a:rPr lang="en-US" sz="1100" b="1" dirty="0">
                  <a:solidFill>
                    <a:srgbClr val="FFFFFF"/>
                  </a:solidFill>
                </a:rPr>
                <a:t>Humanoid Robots</a:t>
              </a:r>
              <a:endParaRPr lang="en-US" sz="1100" dirty="0"/>
            </a:p>
          </p:txBody>
        </p:sp>
        <p:sp>
          <p:nvSpPr>
            <p:cNvPr id="28" name="Shape 26"/>
            <p:cNvSpPr/>
            <p:nvPr/>
          </p:nvSpPr>
          <p:spPr>
            <a:xfrm>
              <a:off x="4727448" y="1280160"/>
              <a:ext cx="1371600" cy="201168"/>
            </a:xfrm>
            <a:prstGeom prst="roundRect">
              <a:avLst>
                <a:gd name="adj" fmla="val 18182"/>
              </a:avLst>
            </a:prstGeom>
            <a:solidFill>
              <a:srgbClr val="A855F7">
                <a:alpha val="30000"/>
              </a:srgbClr>
            </a:solidFill>
            <a:ln/>
          </p:spPr>
        </p:sp>
        <p:sp>
          <p:nvSpPr>
            <p:cNvPr id="29" name="Text 27"/>
            <p:cNvSpPr/>
            <p:nvPr/>
          </p:nvSpPr>
          <p:spPr>
            <a:xfrm>
              <a:off x="4727448" y="1280160"/>
              <a:ext cx="1371600" cy="201168"/>
            </a:xfrm>
            <a:prstGeom prst="rect">
              <a:avLst/>
            </a:prstGeom>
            <a:noFill/>
            <a:ln/>
          </p:spPr>
          <p:txBody>
            <a:bodyPr wrap="square" rtlCol="0" anchor="ctr"/>
            <a:lstStyle/>
            <a:p>
              <a:pPr marL="0" indent="0" algn="ctr">
                <a:buNone/>
              </a:pPr>
              <a:r>
                <a:rPr lang="en-US" sz="700" dirty="0">
                  <a:solidFill>
                    <a:srgbClr val="FFFFFF"/>
                  </a:solidFill>
                </a:rPr>
                <a:t>TAM: &lt;$1B today</a:t>
              </a:r>
              <a:endParaRPr lang="en-US" sz="700" dirty="0"/>
            </a:p>
          </p:txBody>
        </p:sp>
        <p:sp>
          <p:nvSpPr>
            <p:cNvPr id="30" name="Text 28"/>
            <p:cNvSpPr/>
            <p:nvPr/>
          </p:nvSpPr>
          <p:spPr>
            <a:xfrm>
              <a:off x="4727448" y="1517904"/>
              <a:ext cx="3886200" cy="164592"/>
            </a:xfrm>
            <a:prstGeom prst="rect">
              <a:avLst/>
            </a:prstGeom>
            <a:noFill/>
            <a:ln/>
          </p:spPr>
          <p:txBody>
            <a:bodyPr wrap="square" lIns="0" tIns="0" rIns="0" bIns="0" rtlCol="0" anchor="ctr"/>
            <a:lstStyle/>
            <a:p>
              <a:pPr marL="0" indent="0">
                <a:buNone/>
              </a:pPr>
              <a:r>
                <a:rPr lang="en-US" sz="750" dirty="0">
                  <a:solidFill>
                    <a:srgbClr val="A855F7"/>
                  </a:solidFill>
                </a:rPr>
                <a:t>Figure AI · Boston Dynamics (Hyundai) · Tesla Optimus · Agility Robotics (Amazon) · 1X (OpenAI-backed) · Apptronik (NASA) · Fourier Intelligence</a:t>
              </a:r>
              <a:endParaRPr lang="en-US" sz="750" dirty="0"/>
            </a:p>
          </p:txBody>
        </p:sp>
        <p:sp>
          <p:nvSpPr>
            <p:cNvPr id="31" name="Text 29"/>
            <p:cNvSpPr/>
            <p:nvPr/>
          </p:nvSpPr>
          <p:spPr>
            <a:xfrm>
              <a:off x="4727448" y="1805940"/>
              <a:ext cx="3886200" cy="164592"/>
            </a:xfrm>
            <a:prstGeom prst="rect">
              <a:avLst/>
            </a:prstGeom>
            <a:noFill/>
            <a:ln/>
          </p:spPr>
          <p:txBody>
            <a:bodyPr wrap="square" lIns="0" tIns="0" rIns="0" bIns="0" rtlCol="0" anchor="ctr"/>
            <a:lstStyle/>
            <a:p>
              <a:pPr marL="0" indent="0">
                <a:buNone/>
              </a:pPr>
              <a:r>
                <a:rPr lang="en-US" sz="750" b="1" dirty="0">
                  <a:solidFill>
                    <a:srgbClr val="64748B"/>
                  </a:solidFill>
                </a:rPr>
                <a:t>MOAT:</a:t>
              </a:r>
              <a:endParaRPr lang="en-US" sz="750" dirty="0"/>
            </a:p>
          </p:txBody>
        </p:sp>
        <p:sp>
          <p:nvSpPr>
            <p:cNvPr id="32" name="Text 30"/>
            <p:cNvSpPr/>
            <p:nvPr/>
          </p:nvSpPr>
          <p:spPr>
            <a:xfrm>
              <a:off x="4636008" y="1888236"/>
              <a:ext cx="3886200" cy="685800"/>
            </a:xfrm>
            <a:prstGeom prst="rect">
              <a:avLst/>
            </a:prstGeom>
            <a:noFill/>
            <a:ln/>
          </p:spPr>
          <p:txBody>
            <a:bodyPr wrap="square" rtlCol="0" anchor="ctr"/>
            <a:lstStyle/>
            <a:p>
              <a:pPr marL="0" indent="0">
                <a:buNone/>
              </a:pPr>
              <a:r>
                <a:rPr lang="en-US" sz="800" dirty="0">
                  <a:solidFill>
                    <a:srgbClr val="E2E8F5"/>
                  </a:solidFill>
                </a:rPr>
                <a:t>Tesla: vertical integration (in-house chip, software, manufacturing at scale). Figure AI: exclusive foundation model partnership with OpenAI + BMW factory deployment. Boston Dynamics: most advanced bipedal locomotion (2 decades of R&amp;D). No one has a sustainable moat yet — this is an open field.</a:t>
              </a:r>
              <a:endParaRPr lang="en-US" sz="800" dirty="0"/>
            </a:p>
          </p:txBody>
        </p:sp>
        <p:sp>
          <p:nvSpPr>
            <p:cNvPr id="33" name="Text 31"/>
            <p:cNvSpPr/>
            <p:nvPr/>
          </p:nvSpPr>
          <p:spPr>
            <a:xfrm>
              <a:off x="4727448" y="2587752"/>
              <a:ext cx="3886200" cy="146304"/>
            </a:xfrm>
            <a:prstGeom prst="rect">
              <a:avLst/>
            </a:prstGeom>
            <a:noFill/>
            <a:ln/>
          </p:spPr>
          <p:txBody>
            <a:bodyPr wrap="square" lIns="0" tIns="0" rIns="0" bIns="0" rtlCol="0" anchor="ctr"/>
            <a:lstStyle/>
            <a:p>
              <a:pPr marL="0" indent="0">
                <a:buNone/>
              </a:pPr>
              <a:r>
                <a:rPr lang="en-US" sz="750" b="1" dirty="0">
                  <a:solidFill>
                    <a:srgbClr val="A855F7"/>
                  </a:solidFill>
                </a:rPr>
                <a:t>STATUS:</a:t>
              </a:r>
              <a:endParaRPr lang="en-US" sz="750" dirty="0"/>
            </a:p>
          </p:txBody>
        </p:sp>
        <p:sp>
          <p:nvSpPr>
            <p:cNvPr id="34" name="Text 32"/>
            <p:cNvSpPr/>
            <p:nvPr/>
          </p:nvSpPr>
          <p:spPr>
            <a:xfrm>
              <a:off x="4727448" y="2724912"/>
              <a:ext cx="3886200" cy="219456"/>
            </a:xfrm>
            <a:prstGeom prst="rect">
              <a:avLst/>
            </a:prstGeom>
            <a:noFill/>
            <a:ln/>
          </p:spPr>
          <p:txBody>
            <a:bodyPr wrap="square" lIns="0" tIns="0" rIns="0" bIns="0" rtlCol="0" anchor="ctr"/>
            <a:lstStyle/>
            <a:p>
              <a:pPr marL="0" indent="0">
                <a:buNone/>
              </a:pPr>
              <a:r>
                <a:rPr lang="en-US" sz="750" dirty="0"/>
                <a:t>Pre-commercial. First deployments: factory floor (BMW, Amazon). Gating constraints: battery life (2-4 hrs), de</a:t>
              </a:r>
            </a:p>
          </p:txBody>
        </p:sp>
        <p:sp>
          <p:nvSpPr>
            <p:cNvPr id="35" name="Shape 33"/>
            <p:cNvSpPr/>
            <p:nvPr/>
          </p:nvSpPr>
          <p:spPr>
            <a:xfrm>
              <a:off x="4617720" y="3108960"/>
              <a:ext cx="4160520" cy="169164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36" name="Shape 34"/>
            <p:cNvSpPr/>
            <p:nvPr/>
          </p:nvSpPr>
          <p:spPr>
            <a:xfrm>
              <a:off x="4617720" y="3108960"/>
              <a:ext cx="4160520" cy="320040"/>
            </a:xfrm>
            <a:prstGeom prst="rect">
              <a:avLst/>
            </a:prstGeom>
            <a:solidFill>
              <a:srgbClr val="3B82F6">
                <a:alpha val="82000"/>
              </a:srgbClr>
            </a:solidFill>
            <a:ln/>
          </p:spPr>
        </p:sp>
        <p:sp>
          <p:nvSpPr>
            <p:cNvPr id="37" name="Text 35"/>
            <p:cNvSpPr/>
            <p:nvPr/>
          </p:nvSpPr>
          <p:spPr>
            <a:xfrm>
              <a:off x="4727448" y="3108960"/>
              <a:ext cx="3931920" cy="320040"/>
            </a:xfrm>
            <a:prstGeom prst="rect">
              <a:avLst/>
            </a:prstGeom>
            <a:noFill/>
            <a:ln/>
          </p:spPr>
          <p:txBody>
            <a:bodyPr wrap="square" lIns="0" tIns="0" rIns="0" bIns="0" rtlCol="0" anchor="ctr"/>
            <a:lstStyle/>
            <a:p>
              <a:pPr marL="0" indent="0">
                <a:buNone/>
              </a:pPr>
              <a:r>
                <a:rPr lang="en-US" sz="1100" b="1" dirty="0">
                  <a:solidFill>
                    <a:srgbClr val="FFFFFF"/>
                  </a:solidFill>
                </a:rPr>
                <a:t>Autonomous Vehicles</a:t>
              </a:r>
              <a:endParaRPr lang="en-US" sz="1100" dirty="0"/>
            </a:p>
          </p:txBody>
        </p:sp>
        <p:sp>
          <p:nvSpPr>
            <p:cNvPr id="38" name="Shape 36"/>
            <p:cNvSpPr/>
            <p:nvPr/>
          </p:nvSpPr>
          <p:spPr>
            <a:xfrm>
              <a:off x="4727448" y="3474720"/>
              <a:ext cx="1371600" cy="201168"/>
            </a:xfrm>
            <a:prstGeom prst="roundRect">
              <a:avLst>
                <a:gd name="adj" fmla="val 18182"/>
              </a:avLst>
            </a:prstGeom>
            <a:solidFill>
              <a:srgbClr val="3B82F6">
                <a:alpha val="30000"/>
              </a:srgbClr>
            </a:solidFill>
            <a:ln/>
          </p:spPr>
        </p:sp>
        <p:sp>
          <p:nvSpPr>
            <p:cNvPr id="39" name="Text 37"/>
            <p:cNvSpPr/>
            <p:nvPr/>
          </p:nvSpPr>
          <p:spPr>
            <a:xfrm>
              <a:off x="4727448" y="3474720"/>
              <a:ext cx="1371600" cy="201168"/>
            </a:xfrm>
            <a:prstGeom prst="rect">
              <a:avLst/>
            </a:prstGeom>
            <a:noFill/>
            <a:ln/>
          </p:spPr>
          <p:txBody>
            <a:bodyPr wrap="square" rtlCol="0" anchor="ctr"/>
            <a:lstStyle/>
            <a:p>
              <a:pPr marL="0" indent="0" algn="ctr">
                <a:buNone/>
              </a:pPr>
              <a:r>
                <a:rPr lang="en-US" sz="700" dirty="0">
                  <a:solidFill>
                    <a:srgbClr val="FFFFFF"/>
                  </a:solidFill>
                </a:rPr>
                <a:t>TAM: $50B fleet value today</a:t>
              </a:r>
              <a:endParaRPr lang="en-US" sz="700" dirty="0"/>
            </a:p>
          </p:txBody>
        </p:sp>
        <p:sp>
          <p:nvSpPr>
            <p:cNvPr id="40" name="Text 38"/>
            <p:cNvSpPr/>
            <p:nvPr/>
          </p:nvSpPr>
          <p:spPr>
            <a:xfrm>
              <a:off x="4727448" y="3712464"/>
              <a:ext cx="3886200" cy="164592"/>
            </a:xfrm>
            <a:prstGeom prst="rect">
              <a:avLst/>
            </a:prstGeom>
            <a:noFill/>
            <a:ln/>
          </p:spPr>
          <p:txBody>
            <a:bodyPr wrap="square" lIns="0" tIns="0" rIns="0" bIns="0" rtlCol="0" anchor="ctr"/>
            <a:lstStyle/>
            <a:p>
              <a:pPr marL="0" indent="0">
                <a:buNone/>
              </a:pPr>
              <a:r>
                <a:rPr lang="en-US" sz="750" dirty="0">
                  <a:solidFill>
                    <a:srgbClr val="3B82F6"/>
                  </a:solidFill>
                </a:rPr>
                <a:t>Waymo (Google) · Zoox (Amazon) · Cruise (GM) · Mobileye (Intel) · Wayve · Aurora</a:t>
              </a:r>
              <a:endParaRPr lang="en-US" sz="750" dirty="0"/>
            </a:p>
          </p:txBody>
        </p:sp>
        <p:sp>
          <p:nvSpPr>
            <p:cNvPr id="41" name="Text 39"/>
            <p:cNvSpPr/>
            <p:nvPr/>
          </p:nvSpPr>
          <p:spPr>
            <a:xfrm>
              <a:off x="4750308" y="3886200"/>
              <a:ext cx="3886200" cy="164592"/>
            </a:xfrm>
            <a:prstGeom prst="rect">
              <a:avLst/>
            </a:prstGeom>
            <a:noFill/>
            <a:ln/>
          </p:spPr>
          <p:txBody>
            <a:bodyPr wrap="square" lIns="0" tIns="0" rIns="0" bIns="0" rtlCol="0" anchor="ctr"/>
            <a:lstStyle/>
            <a:p>
              <a:pPr marL="0" indent="0">
                <a:buNone/>
              </a:pPr>
              <a:r>
                <a:rPr lang="en-US" sz="750" b="1" dirty="0">
                  <a:solidFill>
                    <a:srgbClr val="64748B"/>
                  </a:solidFill>
                </a:rPr>
                <a:t>MOAT:</a:t>
              </a:r>
              <a:endParaRPr lang="en-US" sz="750" dirty="0"/>
            </a:p>
          </p:txBody>
        </p:sp>
        <p:sp>
          <p:nvSpPr>
            <p:cNvPr id="42" name="Text 40"/>
            <p:cNvSpPr/>
            <p:nvPr/>
          </p:nvSpPr>
          <p:spPr>
            <a:xfrm>
              <a:off x="4636008" y="4069080"/>
              <a:ext cx="4142232" cy="320040"/>
            </a:xfrm>
            <a:prstGeom prst="rect">
              <a:avLst/>
            </a:prstGeom>
            <a:noFill/>
            <a:ln/>
          </p:spPr>
          <p:txBody>
            <a:bodyPr wrap="square" rtlCol="0" anchor="ctr"/>
            <a:lstStyle/>
            <a:p>
              <a:pPr marL="0" indent="0">
                <a:buNone/>
              </a:pPr>
              <a:r>
                <a:rPr lang="en-US" sz="800" dirty="0">
                  <a:solidFill>
                    <a:srgbClr val="E2E8F5"/>
                  </a:solidFill>
                </a:rPr>
                <a:t>Waymo: 20M+ miles of real-world data — the single most valuable AV dataset. Safety record establishes regulatory precedent. Mobileye: 40%+ of all ADAS (Advanced Driver Assistance) in production vehicles globally. Razor/blade model: sell at cost, earn on software updates.</a:t>
              </a:r>
              <a:endParaRPr lang="en-US" sz="800" dirty="0"/>
            </a:p>
          </p:txBody>
        </p:sp>
        <p:sp>
          <p:nvSpPr>
            <p:cNvPr id="43" name="Text 41"/>
            <p:cNvSpPr/>
            <p:nvPr/>
          </p:nvSpPr>
          <p:spPr>
            <a:xfrm>
              <a:off x="4727448" y="4416552"/>
              <a:ext cx="3886200" cy="146304"/>
            </a:xfrm>
            <a:prstGeom prst="rect">
              <a:avLst/>
            </a:prstGeom>
            <a:noFill/>
            <a:ln/>
          </p:spPr>
          <p:txBody>
            <a:bodyPr wrap="square" lIns="0" tIns="0" rIns="0" bIns="0" rtlCol="0" anchor="ctr"/>
            <a:lstStyle/>
            <a:p>
              <a:pPr marL="0" indent="0">
                <a:buNone/>
              </a:pPr>
              <a:r>
                <a:rPr lang="en-US" sz="750" b="1" dirty="0">
                  <a:solidFill>
                    <a:srgbClr val="3B82F6"/>
                  </a:solidFill>
                </a:rPr>
                <a:t>STATUS:</a:t>
              </a:r>
              <a:endParaRPr lang="en-US" sz="750" dirty="0"/>
            </a:p>
          </p:txBody>
        </p:sp>
        <p:sp>
          <p:nvSpPr>
            <p:cNvPr id="44" name="Text 42"/>
            <p:cNvSpPr/>
            <p:nvPr/>
          </p:nvSpPr>
          <p:spPr>
            <a:xfrm>
              <a:off x="4727448" y="4553712"/>
              <a:ext cx="3886200" cy="219456"/>
            </a:xfrm>
            <a:prstGeom prst="rect">
              <a:avLst/>
            </a:prstGeom>
            <a:noFill/>
            <a:ln/>
          </p:spPr>
          <p:txBody>
            <a:bodyPr wrap="square" lIns="0" tIns="0" rIns="0" bIns="0" rtlCol="0" anchor="ctr"/>
            <a:lstStyle/>
            <a:p>
              <a:pPr marL="0" indent="0">
                <a:buNone/>
              </a:pPr>
              <a:r>
                <a:rPr lang="en-US" sz="750" dirty="0"/>
                <a:t>Waymo commercially operating in SF, Phoenix, Austin, LA. Scaling is the challenge: each Waymo vehicle has $100</a:t>
              </a: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4">
    <p:bg>
      <p:bgPr>
        <a:solidFill>
          <a:srgbClr val="0A001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C4899"/>
          </a:solidFill>
          <a:ln/>
        </p:spPr>
      </p:sp>
      <p:sp>
        <p:nvSpPr>
          <p:cNvPr id="3" name="Text 1"/>
          <p:cNvSpPr/>
          <p:nvPr/>
        </p:nvSpPr>
        <p:spPr>
          <a:xfrm>
            <a:off x="274320" y="137160"/>
            <a:ext cx="8595360" cy="365760"/>
          </a:xfrm>
          <a:prstGeom prst="rect">
            <a:avLst/>
          </a:prstGeom>
          <a:noFill/>
          <a:ln/>
        </p:spPr>
        <p:txBody>
          <a:bodyPr wrap="square" rtlCol="0" anchor="ctr"/>
          <a:lstStyle/>
          <a:p>
            <a:pPr marL="0" indent="0" algn="ctr">
              <a:buNone/>
            </a:pPr>
            <a:r>
              <a:rPr lang="en-US" sz="2200" b="1" dirty="0">
                <a:solidFill>
                  <a:srgbClr val="FFFFFF"/>
                </a:solidFill>
              </a:rPr>
              <a:t>ROBOTICS SUPPLY CHAIN: COMPONENT DEEP DIVE</a:t>
            </a:r>
            <a:endParaRPr lang="en-US" sz="2200" dirty="0"/>
          </a:p>
        </p:txBody>
      </p:sp>
      <p:sp>
        <p:nvSpPr>
          <p:cNvPr id="4" name="Text 2"/>
          <p:cNvSpPr/>
          <p:nvPr/>
        </p:nvSpPr>
        <p:spPr>
          <a:xfrm>
            <a:off x="274320" y="566928"/>
            <a:ext cx="8595360" cy="365760"/>
          </a:xfrm>
          <a:prstGeom prst="rect">
            <a:avLst/>
          </a:prstGeom>
          <a:noFill/>
          <a:ln/>
        </p:spPr>
        <p:txBody>
          <a:bodyPr wrap="square" rtlCol="0" anchor="ctr"/>
          <a:lstStyle/>
          <a:p>
            <a:pPr marL="0" indent="0" algn="ctr">
              <a:buNone/>
            </a:pPr>
            <a:r>
              <a:rPr lang="en-US" sz="1100" dirty="0">
                <a:solidFill>
                  <a:srgbClr val="EC4899"/>
                </a:solidFill>
              </a:rPr>
              <a:t>The physical components of robots — their suppliers, moats, and geographic concentration</a:t>
            </a:r>
            <a:endParaRPr lang="en-US" sz="1100" dirty="0"/>
          </a:p>
        </p:txBody>
      </p:sp>
      <p:grpSp>
        <p:nvGrpSpPr>
          <p:cNvPr id="37" name="Group 36">
            <a:extLst>
              <a:ext uri="{FF2B5EF4-FFF2-40B4-BE49-F238E27FC236}">
                <a16:creationId xmlns:a16="http://schemas.microsoft.com/office/drawing/2014/main" id="{361E4F26-E150-CB6F-5A46-4DCBB39CF650}"/>
              </a:ext>
            </a:extLst>
          </p:cNvPr>
          <p:cNvGrpSpPr/>
          <p:nvPr/>
        </p:nvGrpSpPr>
        <p:grpSpPr>
          <a:xfrm>
            <a:off x="274320" y="1074420"/>
            <a:ext cx="8549640" cy="3977640"/>
            <a:chOff x="274320" y="1005840"/>
            <a:chExt cx="8549640" cy="3977640"/>
          </a:xfrm>
        </p:grpSpPr>
        <p:sp>
          <p:nvSpPr>
            <p:cNvPr id="5" name="Shape 3"/>
            <p:cNvSpPr/>
            <p:nvPr/>
          </p:nvSpPr>
          <p:spPr>
            <a:xfrm>
              <a:off x="274320" y="1005840"/>
              <a:ext cx="4160520" cy="192024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6" name="Shape 4"/>
            <p:cNvSpPr/>
            <p:nvPr/>
          </p:nvSpPr>
          <p:spPr>
            <a:xfrm>
              <a:off x="274320" y="1005840"/>
              <a:ext cx="4160520" cy="292608"/>
            </a:xfrm>
            <a:prstGeom prst="rect">
              <a:avLst/>
            </a:prstGeom>
            <a:solidFill>
              <a:srgbClr val="EF4444">
                <a:alpha val="80000"/>
              </a:srgbClr>
            </a:solidFill>
            <a:ln/>
          </p:spPr>
        </p:sp>
        <p:sp>
          <p:nvSpPr>
            <p:cNvPr id="7" name="Text 5"/>
            <p:cNvSpPr/>
            <p:nvPr/>
          </p:nvSpPr>
          <p:spPr>
            <a:xfrm>
              <a:off x="384048" y="1005840"/>
              <a:ext cx="3941064" cy="292608"/>
            </a:xfrm>
            <a:prstGeom prst="rect">
              <a:avLst/>
            </a:prstGeom>
            <a:noFill/>
            <a:ln/>
          </p:spPr>
          <p:txBody>
            <a:bodyPr wrap="square" lIns="0" tIns="0" rIns="0" bIns="0" rtlCol="0" anchor="ctr"/>
            <a:lstStyle/>
            <a:p>
              <a:pPr marL="0" indent="0">
                <a:buNone/>
              </a:pPr>
              <a:r>
                <a:rPr lang="en-US" sz="1000" b="1" dirty="0">
                  <a:solidFill>
                    <a:srgbClr val="FFFFFF"/>
                  </a:solidFill>
                </a:rPr>
                <a:t>PRECISION GEARBOXES</a:t>
              </a:r>
              <a:endParaRPr lang="en-US" sz="1000" dirty="0"/>
            </a:p>
          </p:txBody>
        </p:sp>
        <p:sp>
          <p:nvSpPr>
            <p:cNvPr id="8" name="Text 6"/>
            <p:cNvSpPr/>
            <p:nvPr/>
          </p:nvSpPr>
          <p:spPr>
            <a:xfrm>
              <a:off x="384048" y="1444802"/>
              <a:ext cx="3941064" cy="274320"/>
            </a:xfrm>
            <a:prstGeom prst="rect">
              <a:avLst/>
            </a:prstGeom>
            <a:noFill/>
            <a:ln/>
          </p:spPr>
          <p:txBody>
            <a:bodyPr wrap="square" lIns="0" tIns="0" rIns="0" bIns="0" rtlCol="0" anchor="ctr"/>
            <a:lstStyle/>
            <a:p>
              <a:pPr marL="0" indent="0">
                <a:buNone/>
              </a:pPr>
              <a:r>
                <a:rPr lang="en-US" sz="800" dirty="0">
                  <a:solidFill>
                    <a:srgbClr val="E2E8F5"/>
                  </a:solidFill>
                </a:rPr>
                <a:t>Harmonic drive gearboxes convert high-speed motor rotation into precise low-speed output. The wave generator + flex spline design achieves near-zero backlash — essential for precise arm positioning.</a:t>
              </a:r>
              <a:endParaRPr lang="en-US" sz="800" dirty="0"/>
            </a:p>
          </p:txBody>
        </p:sp>
        <p:sp>
          <p:nvSpPr>
            <p:cNvPr id="9" name="Text 7"/>
            <p:cNvSpPr/>
            <p:nvPr/>
          </p:nvSpPr>
          <p:spPr>
            <a:xfrm>
              <a:off x="384048" y="1892808"/>
              <a:ext cx="3941064" cy="164592"/>
            </a:xfrm>
            <a:prstGeom prst="rect">
              <a:avLst/>
            </a:prstGeom>
            <a:noFill/>
            <a:ln/>
          </p:spPr>
          <p:txBody>
            <a:bodyPr wrap="square" lIns="0" tIns="0" rIns="0" bIns="0" rtlCol="0" anchor="ctr"/>
            <a:lstStyle/>
            <a:p>
              <a:pPr marL="0" indent="0">
                <a:buNone/>
              </a:pPr>
              <a:r>
                <a:rPr lang="en-US" sz="700" b="1" dirty="0">
                  <a:solidFill>
                    <a:srgbClr val="64748B"/>
                  </a:solidFill>
                </a:rPr>
                <a:t>PLAYERS &amp; MOATS:</a:t>
              </a:r>
              <a:endParaRPr lang="en-US" sz="700" dirty="0"/>
            </a:p>
          </p:txBody>
        </p:sp>
        <p:sp>
          <p:nvSpPr>
            <p:cNvPr id="10" name="Text 8"/>
            <p:cNvSpPr/>
            <p:nvPr/>
          </p:nvSpPr>
          <p:spPr>
            <a:xfrm>
              <a:off x="297181" y="1920140"/>
              <a:ext cx="3941064" cy="685800"/>
            </a:xfrm>
            <a:prstGeom prst="rect">
              <a:avLst/>
            </a:prstGeom>
            <a:noFill/>
            <a:ln/>
          </p:spPr>
          <p:txBody>
            <a:bodyPr wrap="square" rtlCol="0" anchor="ctr"/>
            <a:lstStyle/>
            <a:p>
              <a:pPr marL="0" indent="0">
                <a:buNone/>
              </a:pPr>
              <a:r>
                <a:rPr lang="en-US" sz="800" dirty="0">
                  <a:solidFill>
                    <a:srgbClr val="E2E8F5"/>
                  </a:solidFill>
                </a:rPr>
                <a:t>Harmonic Drive (Japan): 70%+ market share. Patent wall. No viable Western alternative. Nabtesco (Japan): 30%+ share in industrial robots. RV gearboxes for heavier joints. Chinese alternatives (Leaderdrive) are 5-10 years behind on quality.</a:t>
              </a:r>
              <a:endParaRPr lang="en-US" sz="800" dirty="0"/>
            </a:p>
          </p:txBody>
        </p:sp>
        <p:sp>
          <p:nvSpPr>
            <p:cNvPr id="11" name="Text 9"/>
            <p:cNvSpPr/>
            <p:nvPr/>
          </p:nvSpPr>
          <p:spPr>
            <a:xfrm>
              <a:off x="384048" y="2487168"/>
              <a:ext cx="3941064" cy="164592"/>
            </a:xfrm>
            <a:prstGeom prst="rect">
              <a:avLst/>
            </a:prstGeom>
            <a:noFill/>
            <a:ln/>
          </p:spPr>
          <p:txBody>
            <a:bodyPr wrap="square" lIns="0" tIns="0" rIns="0" bIns="0" rtlCol="0" anchor="ctr"/>
            <a:lstStyle/>
            <a:p>
              <a:pPr marL="0" indent="0">
                <a:buNone/>
              </a:pPr>
              <a:r>
                <a:rPr lang="en-US" sz="700" b="1" dirty="0">
                  <a:solidFill>
                    <a:srgbClr val="EF4444"/>
                  </a:solidFill>
                </a:rPr>
                <a:t>SUPPLY RISK:</a:t>
              </a:r>
              <a:endParaRPr lang="en-US" sz="700" dirty="0"/>
            </a:p>
          </p:txBody>
        </p:sp>
        <p:sp>
          <p:nvSpPr>
            <p:cNvPr id="12" name="Text 10"/>
            <p:cNvSpPr/>
            <p:nvPr/>
          </p:nvSpPr>
          <p:spPr>
            <a:xfrm>
              <a:off x="384048" y="2651760"/>
              <a:ext cx="3941064" cy="219456"/>
            </a:xfrm>
            <a:prstGeom prst="rect">
              <a:avLst/>
            </a:prstGeom>
            <a:noFill/>
            <a:ln/>
          </p:spPr>
          <p:txBody>
            <a:bodyPr wrap="square" lIns="0" tIns="0" rIns="0" bIns="0" rtlCol="0" anchor="ctr"/>
            <a:lstStyle/>
            <a:p>
              <a:pPr marL="0" indent="0">
                <a:buNone/>
              </a:pPr>
              <a:r>
                <a:rPr lang="en-US" sz="700" dirty="0"/>
                <a:t>CRITICAL geographic concentration in Japan. A major earthquake or conflict affecting Japanese supply chains would halt the entire humanoid robot industry.</a:t>
              </a:r>
            </a:p>
          </p:txBody>
        </p:sp>
        <p:sp>
          <p:nvSpPr>
            <p:cNvPr id="13" name="Shape 11"/>
            <p:cNvSpPr/>
            <p:nvPr/>
          </p:nvSpPr>
          <p:spPr>
            <a:xfrm>
              <a:off x="4663440" y="1005840"/>
              <a:ext cx="4160520" cy="192024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14" name="Shape 12"/>
            <p:cNvSpPr/>
            <p:nvPr/>
          </p:nvSpPr>
          <p:spPr>
            <a:xfrm>
              <a:off x="4663440" y="1005840"/>
              <a:ext cx="4160520" cy="292608"/>
            </a:xfrm>
            <a:prstGeom prst="rect">
              <a:avLst/>
            </a:prstGeom>
            <a:solidFill>
              <a:srgbClr val="F97316">
                <a:alpha val="80000"/>
              </a:srgbClr>
            </a:solidFill>
            <a:ln/>
          </p:spPr>
        </p:sp>
        <p:sp>
          <p:nvSpPr>
            <p:cNvPr id="15" name="Text 13"/>
            <p:cNvSpPr/>
            <p:nvPr/>
          </p:nvSpPr>
          <p:spPr>
            <a:xfrm>
              <a:off x="4773168" y="1005840"/>
              <a:ext cx="3941064" cy="292608"/>
            </a:xfrm>
            <a:prstGeom prst="rect">
              <a:avLst/>
            </a:prstGeom>
            <a:noFill/>
            <a:ln/>
          </p:spPr>
          <p:txBody>
            <a:bodyPr wrap="square" lIns="0" tIns="0" rIns="0" bIns="0" rtlCol="0" anchor="ctr"/>
            <a:lstStyle/>
            <a:p>
              <a:pPr marL="0" indent="0">
                <a:buNone/>
              </a:pPr>
              <a:r>
                <a:rPr lang="en-US" sz="1000" b="1" dirty="0">
                  <a:solidFill>
                    <a:srgbClr val="FFFFFF"/>
                  </a:solidFill>
                </a:rPr>
                <a:t>BRUSHLESS MOTORS &amp; DRIVES</a:t>
              </a:r>
              <a:endParaRPr lang="en-US" sz="1000" dirty="0"/>
            </a:p>
          </p:txBody>
        </p:sp>
        <p:sp>
          <p:nvSpPr>
            <p:cNvPr id="16" name="Text 14"/>
            <p:cNvSpPr/>
            <p:nvPr/>
          </p:nvSpPr>
          <p:spPr>
            <a:xfrm>
              <a:off x="4773168" y="1373687"/>
              <a:ext cx="3941064" cy="274320"/>
            </a:xfrm>
            <a:prstGeom prst="rect">
              <a:avLst/>
            </a:prstGeom>
            <a:noFill/>
            <a:ln/>
          </p:spPr>
          <p:txBody>
            <a:bodyPr wrap="square" lIns="0" tIns="0" rIns="0" bIns="0" rtlCol="0" anchor="ctr"/>
            <a:lstStyle/>
            <a:p>
              <a:pPr marL="0" indent="0">
                <a:buNone/>
              </a:pPr>
              <a:r>
                <a:rPr lang="en-US" sz="800" dirty="0">
                  <a:solidFill>
                    <a:srgbClr val="E2E8F5"/>
                  </a:solidFill>
                </a:rPr>
                <a:t>BLDC (Brushless DC) motors are the standard actuator. Torque density, efficiency, and controllability are the key specs. For humanoids: 28+ motors per robot, each with its own controller.</a:t>
              </a:r>
              <a:endParaRPr lang="en-US" sz="800" dirty="0"/>
            </a:p>
          </p:txBody>
        </p:sp>
        <p:sp>
          <p:nvSpPr>
            <p:cNvPr id="17" name="Text 15"/>
            <p:cNvSpPr/>
            <p:nvPr/>
          </p:nvSpPr>
          <p:spPr>
            <a:xfrm>
              <a:off x="4773168" y="1755548"/>
              <a:ext cx="3941064" cy="164592"/>
            </a:xfrm>
            <a:prstGeom prst="rect">
              <a:avLst/>
            </a:prstGeom>
            <a:noFill/>
            <a:ln/>
          </p:spPr>
          <p:txBody>
            <a:bodyPr wrap="square" lIns="0" tIns="0" rIns="0" bIns="0" rtlCol="0" anchor="ctr"/>
            <a:lstStyle/>
            <a:p>
              <a:pPr marL="0" indent="0">
                <a:buNone/>
              </a:pPr>
              <a:r>
                <a:rPr lang="en-US" sz="700" b="1" dirty="0">
                  <a:solidFill>
                    <a:srgbClr val="64748B"/>
                  </a:solidFill>
                </a:rPr>
                <a:t>PLAYERS &amp; MOATS:</a:t>
              </a:r>
              <a:endParaRPr lang="en-US" sz="700" dirty="0"/>
            </a:p>
          </p:txBody>
        </p:sp>
        <p:sp>
          <p:nvSpPr>
            <p:cNvPr id="18" name="Text 16"/>
            <p:cNvSpPr/>
            <p:nvPr/>
          </p:nvSpPr>
          <p:spPr>
            <a:xfrm>
              <a:off x="4663440" y="1833074"/>
              <a:ext cx="3941064" cy="685800"/>
            </a:xfrm>
            <a:prstGeom prst="rect">
              <a:avLst/>
            </a:prstGeom>
            <a:noFill/>
            <a:ln/>
          </p:spPr>
          <p:txBody>
            <a:bodyPr wrap="square" rtlCol="0" anchor="ctr"/>
            <a:lstStyle/>
            <a:p>
              <a:pPr marL="0" indent="0">
                <a:buNone/>
              </a:pPr>
              <a:r>
                <a:rPr lang="en-US" sz="800" dirty="0">
                  <a:solidFill>
                    <a:srgbClr val="E2E8F5"/>
                  </a:solidFill>
                </a:rPr>
                <a:t>Maxon (Switzerland): precision motors for Mars rovers — premium quality, high cost. Kollmorgen (US): industrial servo motors. Moog (US): high-performance aerospace/industrial. Chinese: Leadshine, Inovance — rapidly closing quality gap, 30-50% cheaper.</a:t>
              </a:r>
              <a:endParaRPr lang="en-US" sz="800" dirty="0"/>
            </a:p>
          </p:txBody>
        </p:sp>
        <p:sp>
          <p:nvSpPr>
            <p:cNvPr id="19" name="Text 17"/>
            <p:cNvSpPr/>
            <p:nvPr/>
          </p:nvSpPr>
          <p:spPr>
            <a:xfrm>
              <a:off x="4773168" y="2487168"/>
              <a:ext cx="3941064" cy="164592"/>
            </a:xfrm>
            <a:prstGeom prst="rect">
              <a:avLst/>
            </a:prstGeom>
            <a:noFill/>
            <a:ln/>
          </p:spPr>
          <p:txBody>
            <a:bodyPr wrap="square" lIns="0" tIns="0" rIns="0" bIns="0" rtlCol="0" anchor="ctr"/>
            <a:lstStyle/>
            <a:p>
              <a:pPr marL="0" indent="0">
                <a:buNone/>
              </a:pPr>
              <a:r>
                <a:rPr lang="en-US" sz="700" b="1" dirty="0">
                  <a:solidFill>
                    <a:srgbClr val="F97316"/>
                  </a:solidFill>
                </a:rPr>
                <a:t>SUPPLY RISK:</a:t>
              </a:r>
              <a:endParaRPr lang="en-US" sz="700" dirty="0"/>
            </a:p>
          </p:txBody>
        </p:sp>
        <p:sp>
          <p:nvSpPr>
            <p:cNvPr id="20" name="Text 18"/>
            <p:cNvSpPr/>
            <p:nvPr/>
          </p:nvSpPr>
          <p:spPr>
            <a:xfrm>
              <a:off x="4773168" y="2651760"/>
              <a:ext cx="3941064" cy="219456"/>
            </a:xfrm>
            <a:prstGeom prst="rect">
              <a:avLst/>
            </a:prstGeom>
            <a:noFill/>
            <a:ln/>
          </p:spPr>
          <p:txBody>
            <a:bodyPr wrap="square" lIns="0" tIns="0" rIns="0" bIns="0" rtlCol="0" anchor="ctr"/>
            <a:lstStyle/>
            <a:p>
              <a:pPr marL="0" indent="0">
                <a:buNone/>
              </a:pPr>
              <a:r>
                <a:rPr lang="en-US" sz="700" dirty="0"/>
                <a:t>Less concentrated than gearboxes. Western supply chains viable. Chinese manufacturers aggressive on price — could commoditize by 2028.</a:t>
              </a:r>
            </a:p>
          </p:txBody>
        </p:sp>
        <p:sp>
          <p:nvSpPr>
            <p:cNvPr id="21" name="Shape 19"/>
            <p:cNvSpPr/>
            <p:nvPr/>
          </p:nvSpPr>
          <p:spPr>
            <a:xfrm>
              <a:off x="274320" y="3063240"/>
              <a:ext cx="4160520" cy="192024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22" name="Shape 20"/>
            <p:cNvSpPr/>
            <p:nvPr/>
          </p:nvSpPr>
          <p:spPr>
            <a:xfrm>
              <a:off x="274320" y="3063240"/>
              <a:ext cx="4160520" cy="292608"/>
            </a:xfrm>
            <a:prstGeom prst="rect">
              <a:avLst/>
            </a:prstGeom>
            <a:solidFill>
              <a:srgbClr val="F59E0B">
                <a:alpha val="80000"/>
              </a:srgbClr>
            </a:solidFill>
            <a:ln/>
          </p:spPr>
        </p:sp>
        <p:sp>
          <p:nvSpPr>
            <p:cNvPr id="23" name="Text 21"/>
            <p:cNvSpPr/>
            <p:nvPr/>
          </p:nvSpPr>
          <p:spPr>
            <a:xfrm>
              <a:off x="384048" y="3063240"/>
              <a:ext cx="3941064" cy="292608"/>
            </a:xfrm>
            <a:prstGeom prst="rect">
              <a:avLst/>
            </a:prstGeom>
            <a:noFill/>
            <a:ln/>
          </p:spPr>
          <p:txBody>
            <a:bodyPr wrap="square" lIns="0" tIns="0" rIns="0" bIns="0" rtlCol="0" anchor="ctr"/>
            <a:lstStyle/>
            <a:p>
              <a:pPr marL="0" indent="0">
                <a:buNone/>
              </a:pPr>
              <a:r>
                <a:rPr lang="en-US" sz="1000" b="1" dirty="0">
                  <a:solidFill>
                    <a:srgbClr val="FFFFFF"/>
                  </a:solidFill>
                </a:rPr>
                <a:t>LIDAR &amp; VISION SENSORS</a:t>
              </a:r>
              <a:endParaRPr lang="en-US" sz="1000" dirty="0"/>
            </a:p>
          </p:txBody>
        </p:sp>
        <p:sp>
          <p:nvSpPr>
            <p:cNvPr id="24" name="Text 22"/>
            <p:cNvSpPr/>
            <p:nvPr/>
          </p:nvSpPr>
          <p:spPr>
            <a:xfrm>
              <a:off x="384048" y="3480485"/>
              <a:ext cx="3941064" cy="274320"/>
            </a:xfrm>
            <a:prstGeom prst="rect">
              <a:avLst/>
            </a:prstGeom>
            <a:noFill/>
            <a:ln/>
          </p:spPr>
          <p:txBody>
            <a:bodyPr wrap="square" lIns="0" tIns="0" rIns="0" bIns="0" rtlCol="0" anchor="ctr"/>
            <a:lstStyle/>
            <a:p>
              <a:pPr marL="0" indent="0">
                <a:buNone/>
              </a:pPr>
              <a:r>
                <a:rPr lang="en-US" sz="800" dirty="0">
                  <a:solidFill>
                    <a:srgbClr val="E2E8F5"/>
                  </a:solidFill>
                </a:rPr>
                <a:t>LiDAR = 3D point cloud (safe navigation). Stereo cameras = depth + texture. Time-of-flight = close-range depth. Event cameras = high-speed dynamic scenes. Most humanoids use camera-first (cheaper, more data) rather than LiDAR.</a:t>
              </a:r>
              <a:endParaRPr lang="en-US" sz="800" dirty="0"/>
            </a:p>
          </p:txBody>
        </p:sp>
        <p:sp>
          <p:nvSpPr>
            <p:cNvPr id="25" name="Text 23"/>
            <p:cNvSpPr/>
            <p:nvPr/>
          </p:nvSpPr>
          <p:spPr>
            <a:xfrm>
              <a:off x="384048" y="3858768"/>
              <a:ext cx="3941064" cy="164592"/>
            </a:xfrm>
            <a:prstGeom prst="rect">
              <a:avLst/>
            </a:prstGeom>
            <a:noFill/>
            <a:ln/>
          </p:spPr>
          <p:txBody>
            <a:bodyPr wrap="square" lIns="0" tIns="0" rIns="0" bIns="0" rtlCol="0" anchor="ctr"/>
            <a:lstStyle/>
            <a:p>
              <a:pPr marL="0" indent="0">
                <a:buNone/>
              </a:pPr>
              <a:r>
                <a:rPr lang="en-US" sz="700" b="1" dirty="0">
                  <a:solidFill>
                    <a:srgbClr val="64748B"/>
                  </a:solidFill>
                </a:rPr>
                <a:t>PLAYERS &amp; MOATS:</a:t>
              </a:r>
              <a:endParaRPr lang="en-US" sz="700" dirty="0"/>
            </a:p>
          </p:txBody>
        </p:sp>
        <p:sp>
          <p:nvSpPr>
            <p:cNvPr id="26" name="Text 24"/>
            <p:cNvSpPr/>
            <p:nvPr/>
          </p:nvSpPr>
          <p:spPr>
            <a:xfrm>
              <a:off x="297181" y="3941064"/>
              <a:ext cx="3941064" cy="685800"/>
            </a:xfrm>
            <a:prstGeom prst="rect">
              <a:avLst/>
            </a:prstGeom>
            <a:noFill/>
            <a:ln/>
          </p:spPr>
          <p:txBody>
            <a:bodyPr wrap="square" rtlCol="0" anchor="ctr"/>
            <a:lstStyle/>
            <a:p>
              <a:pPr marL="0" indent="0">
                <a:buNone/>
              </a:pPr>
              <a:r>
                <a:rPr lang="en-US" sz="800" dirty="0">
                  <a:solidFill>
                    <a:srgbClr val="E2E8F5"/>
                  </a:solidFill>
                </a:rPr>
                <a:t>Luminar: automotive LiDAR, long range. Ouster (now Ouster+Velodyne merged): robotics/industrial. Intel RealSense: low-cost depth cameras. Stereolabs ZED: stereo cameras with AI depth. Prophesee: event cameras (Bosch-backed). Sony: back-illuminated CMOS sensors for machine vision.</a:t>
              </a:r>
              <a:endParaRPr lang="en-US" sz="800" dirty="0"/>
            </a:p>
          </p:txBody>
        </p:sp>
        <p:sp>
          <p:nvSpPr>
            <p:cNvPr id="27" name="Text 25"/>
            <p:cNvSpPr/>
            <p:nvPr/>
          </p:nvSpPr>
          <p:spPr>
            <a:xfrm>
              <a:off x="384048" y="4544568"/>
              <a:ext cx="3941064" cy="164592"/>
            </a:xfrm>
            <a:prstGeom prst="rect">
              <a:avLst/>
            </a:prstGeom>
            <a:noFill/>
            <a:ln/>
          </p:spPr>
          <p:txBody>
            <a:bodyPr wrap="square" lIns="0" tIns="0" rIns="0" bIns="0" rtlCol="0" anchor="ctr"/>
            <a:lstStyle/>
            <a:p>
              <a:pPr marL="0" indent="0">
                <a:buNone/>
              </a:pPr>
              <a:r>
                <a:rPr lang="en-US" sz="700" b="1" dirty="0">
                  <a:solidFill>
                    <a:srgbClr val="F59E0B"/>
                  </a:solidFill>
                </a:rPr>
                <a:t>SUPPLY RISK:</a:t>
              </a:r>
              <a:endParaRPr lang="en-US" sz="700" dirty="0"/>
            </a:p>
          </p:txBody>
        </p:sp>
        <p:sp>
          <p:nvSpPr>
            <p:cNvPr id="28" name="Text 26"/>
            <p:cNvSpPr/>
            <p:nvPr/>
          </p:nvSpPr>
          <p:spPr>
            <a:xfrm>
              <a:off x="384048" y="4709160"/>
              <a:ext cx="3941064" cy="219456"/>
            </a:xfrm>
            <a:prstGeom prst="rect">
              <a:avLst/>
            </a:prstGeom>
            <a:noFill/>
            <a:ln/>
          </p:spPr>
          <p:txBody>
            <a:bodyPr wrap="square" lIns="0" tIns="0" rIns="0" bIns="0" rtlCol="0" anchor="ctr"/>
            <a:lstStyle/>
            <a:p>
              <a:pPr marL="0" indent="0">
                <a:buNone/>
              </a:pPr>
              <a:r>
                <a:rPr lang="en-US" sz="700" dirty="0"/>
                <a:t>Market rapidly commoditizing. Chinese manufacturers (Livox, Hesai) are competitive. Sony image sensor dominance is durable.</a:t>
              </a:r>
            </a:p>
          </p:txBody>
        </p:sp>
        <p:sp>
          <p:nvSpPr>
            <p:cNvPr id="29" name="Shape 27"/>
            <p:cNvSpPr/>
            <p:nvPr/>
          </p:nvSpPr>
          <p:spPr>
            <a:xfrm>
              <a:off x="4663440" y="3063240"/>
              <a:ext cx="4160520" cy="192024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30" name="Shape 28"/>
            <p:cNvSpPr/>
            <p:nvPr/>
          </p:nvSpPr>
          <p:spPr>
            <a:xfrm>
              <a:off x="4663440" y="3063240"/>
              <a:ext cx="4160520" cy="292608"/>
            </a:xfrm>
            <a:prstGeom prst="rect">
              <a:avLst/>
            </a:prstGeom>
            <a:solidFill>
              <a:srgbClr val="84CC16">
                <a:alpha val="80000"/>
              </a:srgbClr>
            </a:solidFill>
            <a:ln/>
          </p:spPr>
        </p:sp>
        <p:sp>
          <p:nvSpPr>
            <p:cNvPr id="31" name="Text 29"/>
            <p:cNvSpPr/>
            <p:nvPr/>
          </p:nvSpPr>
          <p:spPr>
            <a:xfrm>
              <a:off x="4773168" y="3063240"/>
              <a:ext cx="3941064" cy="292608"/>
            </a:xfrm>
            <a:prstGeom prst="rect">
              <a:avLst/>
            </a:prstGeom>
            <a:noFill/>
            <a:ln/>
          </p:spPr>
          <p:txBody>
            <a:bodyPr wrap="square" lIns="0" tIns="0" rIns="0" bIns="0" rtlCol="0" anchor="ctr"/>
            <a:lstStyle/>
            <a:p>
              <a:pPr marL="0" indent="0">
                <a:buNone/>
              </a:pPr>
              <a:r>
                <a:rPr lang="en-US" sz="1000" b="1" dirty="0">
                  <a:solidFill>
                    <a:srgbClr val="FFFFFF"/>
                  </a:solidFill>
                </a:rPr>
                <a:t>FORCE / TORQUE &amp; TACTILE SENSORS</a:t>
              </a:r>
              <a:endParaRPr lang="en-US" sz="1000" dirty="0"/>
            </a:p>
          </p:txBody>
        </p:sp>
        <p:sp>
          <p:nvSpPr>
            <p:cNvPr id="32" name="Text 30"/>
            <p:cNvSpPr/>
            <p:nvPr/>
          </p:nvSpPr>
          <p:spPr>
            <a:xfrm>
              <a:off x="4773168" y="3450569"/>
              <a:ext cx="3941064" cy="274320"/>
            </a:xfrm>
            <a:prstGeom prst="rect">
              <a:avLst/>
            </a:prstGeom>
            <a:noFill/>
            <a:ln/>
          </p:spPr>
          <p:txBody>
            <a:bodyPr wrap="square" lIns="0" tIns="0" rIns="0" bIns="0" rtlCol="0" anchor="ctr"/>
            <a:lstStyle/>
            <a:p>
              <a:pPr marL="0" indent="0">
                <a:buNone/>
              </a:pPr>
              <a:r>
                <a:rPr lang="en-US" sz="800" dirty="0">
                  <a:solidFill>
                    <a:srgbClr val="E2E8F5"/>
                  </a:solidFill>
                </a:rPr>
                <a:t>Critical for safe human-robot interaction and dexterous manipulation. Tells the robot how hard it is gripping, pushing, or pulling. Required for unstructured manipulation (picking irregularly shaped objects).</a:t>
              </a:r>
              <a:endParaRPr lang="en-US" sz="800" dirty="0"/>
            </a:p>
          </p:txBody>
        </p:sp>
        <p:sp>
          <p:nvSpPr>
            <p:cNvPr id="33" name="Text 31"/>
            <p:cNvSpPr/>
            <p:nvPr/>
          </p:nvSpPr>
          <p:spPr>
            <a:xfrm>
              <a:off x="4796029" y="3833523"/>
              <a:ext cx="3941064" cy="164592"/>
            </a:xfrm>
            <a:prstGeom prst="rect">
              <a:avLst/>
            </a:prstGeom>
            <a:noFill/>
            <a:ln/>
          </p:spPr>
          <p:txBody>
            <a:bodyPr wrap="square" lIns="0" tIns="0" rIns="0" bIns="0" rtlCol="0" anchor="ctr"/>
            <a:lstStyle/>
            <a:p>
              <a:pPr marL="0" indent="0">
                <a:buNone/>
              </a:pPr>
              <a:r>
                <a:rPr lang="en-US" sz="700" b="1" dirty="0">
                  <a:solidFill>
                    <a:srgbClr val="64748B"/>
                  </a:solidFill>
                </a:rPr>
                <a:t>PLAYERS &amp; MOATS:</a:t>
              </a:r>
              <a:endParaRPr lang="en-US" sz="700" dirty="0"/>
            </a:p>
          </p:txBody>
        </p:sp>
        <p:sp>
          <p:nvSpPr>
            <p:cNvPr id="34" name="Text 32"/>
            <p:cNvSpPr/>
            <p:nvPr/>
          </p:nvSpPr>
          <p:spPr>
            <a:xfrm>
              <a:off x="4709162" y="3915819"/>
              <a:ext cx="3941064" cy="685800"/>
            </a:xfrm>
            <a:prstGeom prst="rect">
              <a:avLst/>
            </a:prstGeom>
            <a:noFill/>
            <a:ln/>
          </p:spPr>
          <p:txBody>
            <a:bodyPr wrap="square" rtlCol="0" anchor="ctr"/>
            <a:lstStyle/>
            <a:p>
              <a:pPr marL="0" indent="0">
                <a:buNone/>
              </a:pPr>
              <a:r>
                <a:rPr lang="en-US" sz="800" dirty="0">
                  <a:solidFill>
                    <a:srgbClr val="E2E8F5"/>
                  </a:solidFill>
                </a:rPr>
                <a:t>ATI Industrial Automation (Apex NC): dominant in industrial force/torque. Robotiq: collaborative robot grippers + force sensors. GelSight (MIT spinout, acquired by various): high-resolution tactile sensors. SynTouch (now part of Haptx): biomimetic fingertip tactile. This segment is FRAGMENTED — no single dominant player.</a:t>
              </a:r>
              <a:endParaRPr lang="en-US" sz="800" dirty="0"/>
            </a:p>
          </p:txBody>
        </p:sp>
        <p:sp>
          <p:nvSpPr>
            <p:cNvPr id="35" name="Text 33"/>
            <p:cNvSpPr/>
            <p:nvPr/>
          </p:nvSpPr>
          <p:spPr>
            <a:xfrm>
              <a:off x="4773168" y="4544568"/>
              <a:ext cx="3941064" cy="164592"/>
            </a:xfrm>
            <a:prstGeom prst="rect">
              <a:avLst/>
            </a:prstGeom>
            <a:noFill/>
            <a:ln/>
          </p:spPr>
          <p:txBody>
            <a:bodyPr wrap="square" lIns="0" tIns="0" rIns="0" bIns="0" rtlCol="0" anchor="ctr"/>
            <a:lstStyle/>
            <a:p>
              <a:pPr marL="0" indent="0">
                <a:buNone/>
              </a:pPr>
              <a:r>
                <a:rPr lang="en-US" sz="700" b="1" dirty="0">
                  <a:solidFill>
                    <a:srgbClr val="84CC16"/>
                  </a:solidFill>
                </a:rPr>
                <a:t>SUPPLY RISK:</a:t>
              </a:r>
              <a:endParaRPr lang="en-US" sz="700" dirty="0"/>
            </a:p>
          </p:txBody>
        </p:sp>
        <p:sp>
          <p:nvSpPr>
            <p:cNvPr id="36" name="Text 34"/>
            <p:cNvSpPr/>
            <p:nvPr/>
          </p:nvSpPr>
          <p:spPr>
            <a:xfrm>
              <a:off x="4773168" y="4709160"/>
              <a:ext cx="3941064" cy="219456"/>
            </a:xfrm>
            <a:prstGeom prst="rect">
              <a:avLst/>
            </a:prstGeom>
            <a:noFill/>
            <a:ln/>
          </p:spPr>
          <p:txBody>
            <a:bodyPr wrap="square" lIns="0" tIns="0" rIns="0" bIns="0" rtlCol="0" anchor="ctr"/>
            <a:lstStyle/>
            <a:p>
              <a:pPr marL="0" indent="0">
                <a:buNone/>
              </a:pPr>
              <a:r>
                <a:rPr lang="en-US" sz="700" dirty="0"/>
                <a:t>Key technological gap: current tactile sensors are too slow, too fragile, or too expensive. Solving this enables humanoid hands that can handle arbitrary objects.</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0B981"/>
          </a:solidFill>
          <a:ln/>
        </p:spPr>
      </p:sp>
      <p:sp>
        <p:nvSpPr>
          <p:cNvPr id="3" name="Text 1"/>
          <p:cNvSpPr/>
          <p:nvPr/>
        </p:nvSpPr>
        <p:spPr>
          <a:xfrm>
            <a:off x="182880" y="0"/>
            <a:ext cx="8778240" cy="621792"/>
          </a:xfrm>
          <a:prstGeom prst="rect">
            <a:avLst/>
          </a:prstGeom>
          <a:noFill/>
          <a:ln/>
        </p:spPr>
        <p:txBody>
          <a:bodyPr wrap="square" rtlCol="0" anchor="ctr"/>
          <a:lstStyle/>
          <a:p>
            <a:pPr marL="0" indent="0">
              <a:buNone/>
            </a:pPr>
            <a:r>
              <a:rPr lang="en-US" sz="1300" b="1" dirty="0">
                <a:solidFill>
                  <a:srgbClr val="050A1A"/>
                </a:solidFill>
              </a:rPr>
              <a:t>PHYSICAL AI &amp; AUTONOMY — TESLA (TSLA)</a:t>
            </a:r>
            <a:endParaRPr lang="en-US" sz="1300" dirty="0"/>
          </a:p>
        </p:txBody>
      </p:sp>
      <p:sp>
        <p:nvSpPr>
          <p:cNvPr id="4" name="Text 2"/>
          <p:cNvSpPr/>
          <p:nvPr/>
        </p:nvSpPr>
        <p:spPr>
          <a:xfrm>
            <a:off x="201168" y="627308"/>
            <a:ext cx="8778240" cy="274320"/>
          </a:xfrm>
          <a:prstGeom prst="rect">
            <a:avLst/>
          </a:prstGeom>
          <a:noFill/>
          <a:ln/>
        </p:spPr>
        <p:txBody>
          <a:bodyPr wrap="square" rtlCol="0" anchor="ctr"/>
          <a:lstStyle/>
          <a:p>
            <a:pPr marL="0" indent="0">
              <a:buNone/>
            </a:pPr>
            <a:r>
              <a:rPr lang="en-US" sz="1100" i="1" dirty="0">
                <a:solidFill>
                  <a:srgbClr val="10B981"/>
                </a:solidFill>
              </a:rPr>
              <a:t>Two Bets, One Platform: Tesla FSD + Robotaxi (Cybercab) + Optimus Humanoid — the most ambitious Physical AI program in the West</a:t>
            </a:r>
            <a:endParaRPr lang="en-US" sz="1100" dirty="0"/>
          </a:p>
        </p:txBody>
      </p:sp>
      <p:sp>
        <p:nvSpPr>
          <p:cNvPr id="5" name="Shape 3"/>
          <p:cNvSpPr/>
          <p:nvPr/>
        </p:nvSpPr>
        <p:spPr>
          <a:xfrm>
            <a:off x="182880" y="1005840"/>
            <a:ext cx="2834640" cy="4023360"/>
          </a:xfrm>
          <a:prstGeom prst="rect">
            <a:avLst/>
          </a:prstGeom>
          <a:solidFill>
            <a:srgbClr val="0F1F3D"/>
          </a:solidFill>
          <a:ln/>
          <a:effectLst>
            <a:outerShdw blurRad="127000" dist="50800" dir="8100000" algn="bl" rotWithShape="0">
              <a:srgbClr val="000000">
                <a:alpha val="25000"/>
              </a:srgbClr>
            </a:outerShdw>
          </a:effectLst>
        </p:spPr>
      </p:sp>
      <p:sp>
        <p:nvSpPr>
          <p:cNvPr id="6" name="Shape 4"/>
          <p:cNvSpPr/>
          <p:nvPr/>
        </p:nvSpPr>
        <p:spPr>
          <a:xfrm>
            <a:off x="201168" y="941832"/>
            <a:ext cx="2834640" cy="329184"/>
          </a:xfrm>
          <a:prstGeom prst="rect">
            <a:avLst/>
          </a:prstGeom>
          <a:solidFill>
            <a:srgbClr val="10B981"/>
          </a:solidFill>
          <a:ln/>
        </p:spPr>
      </p:sp>
      <p:sp>
        <p:nvSpPr>
          <p:cNvPr id="7" name="Text 5"/>
          <p:cNvSpPr/>
          <p:nvPr/>
        </p:nvSpPr>
        <p:spPr>
          <a:xfrm>
            <a:off x="274320" y="941832"/>
            <a:ext cx="2688336" cy="329184"/>
          </a:xfrm>
          <a:prstGeom prst="rect">
            <a:avLst/>
          </a:prstGeom>
          <a:noFill/>
          <a:ln/>
        </p:spPr>
        <p:txBody>
          <a:bodyPr wrap="square" rtlCol="0" anchor="ctr"/>
          <a:lstStyle/>
          <a:p>
            <a:pPr marL="0" indent="0">
              <a:buNone/>
            </a:pPr>
            <a:r>
              <a:rPr lang="en-US" sz="1200" b="1" dirty="0">
                <a:solidFill>
                  <a:srgbClr val="FFFFFF"/>
                </a:solidFill>
              </a:rPr>
              <a:t>Optimus Humanoid</a:t>
            </a:r>
            <a:endParaRPr lang="en-US" sz="1200" dirty="0"/>
          </a:p>
        </p:txBody>
      </p:sp>
      <p:sp>
        <p:nvSpPr>
          <p:cNvPr id="8" name="Text 6"/>
          <p:cNvSpPr/>
          <p:nvPr/>
        </p:nvSpPr>
        <p:spPr>
          <a:xfrm>
            <a:off x="292608" y="13075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Gen 2 demonstrated delicate object handling; 22-DOF hands</a:t>
            </a:r>
            <a:endParaRPr lang="en-US" sz="900" dirty="0"/>
          </a:p>
        </p:txBody>
      </p:sp>
      <p:sp>
        <p:nvSpPr>
          <p:cNvPr id="9" name="Text 7"/>
          <p:cNvSpPr/>
          <p:nvPr/>
        </p:nvSpPr>
        <p:spPr>
          <a:xfrm>
            <a:off x="292608" y="17647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Internal Tesla factory deployment underway (thousands of units)</a:t>
            </a:r>
            <a:endParaRPr lang="en-US" sz="900" dirty="0"/>
          </a:p>
        </p:txBody>
      </p:sp>
      <p:sp>
        <p:nvSpPr>
          <p:cNvPr id="10" name="Text 8"/>
          <p:cNvSpPr/>
          <p:nvPr/>
        </p:nvSpPr>
        <p:spPr>
          <a:xfrm>
            <a:off x="292608" y="22219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Fremont factory partially converting to Optimus production 2026</a:t>
            </a:r>
            <a:endParaRPr lang="en-US" sz="900" dirty="0"/>
          </a:p>
        </p:txBody>
      </p:sp>
      <p:sp>
        <p:nvSpPr>
          <p:cNvPr id="11" name="Text 9"/>
          <p:cNvSpPr/>
          <p:nvPr/>
        </p:nvSpPr>
        <p:spPr>
          <a:xfrm>
            <a:off x="292608" y="26791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Target price: $20,000–$30,000/unit at mass scale</a:t>
            </a:r>
            <a:endParaRPr lang="en-US" sz="900" dirty="0"/>
          </a:p>
        </p:txBody>
      </p:sp>
      <p:sp>
        <p:nvSpPr>
          <p:cNvPr id="12" name="Text 10"/>
          <p:cNvSpPr/>
          <p:nvPr/>
        </p:nvSpPr>
        <p:spPr>
          <a:xfrm>
            <a:off x="292608" y="31363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Competitor Figure AI costs &gt;$100K; Boston Dynamics Atlas ~$140K</a:t>
            </a:r>
            <a:endParaRPr lang="en-US" sz="900" dirty="0"/>
          </a:p>
        </p:txBody>
      </p:sp>
      <p:sp>
        <p:nvSpPr>
          <p:cNvPr id="13" name="Text 11"/>
          <p:cNvSpPr/>
          <p:nvPr/>
        </p:nvSpPr>
        <p:spPr>
          <a:xfrm>
            <a:off x="292608" y="35935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Musk: '80% of Tesla value will eventually come from Optimus'</a:t>
            </a:r>
            <a:endParaRPr lang="en-US" sz="900" dirty="0"/>
          </a:p>
        </p:txBody>
      </p:sp>
      <p:sp>
        <p:nvSpPr>
          <p:cNvPr id="14" name="Text 12"/>
          <p:cNvSpPr/>
          <p:nvPr/>
        </p:nvSpPr>
        <p:spPr>
          <a:xfrm>
            <a:off x="292608" y="40507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Gen 3 V3 prototype targeted for 2026 with enhanced actuators</a:t>
            </a:r>
            <a:endParaRPr lang="en-US" sz="900" dirty="0"/>
          </a:p>
        </p:txBody>
      </p:sp>
      <p:sp>
        <p:nvSpPr>
          <p:cNvPr id="15" name="Text 13"/>
          <p:cNvSpPr/>
          <p:nvPr/>
        </p:nvSpPr>
        <p:spPr>
          <a:xfrm>
            <a:off x="292608" y="4405521"/>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Manufacturing moat: Tesla's Gigafactory model applied to robots</a:t>
            </a:r>
            <a:endParaRPr lang="en-US" sz="900" dirty="0"/>
          </a:p>
        </p:txBody>
      </p:sp>
      <p:sp>
        <p:nvSpPr>
          <p:cNvPr id="16" name="Shape 14"/>
          <p:cNvSpPr/>
          <p:nvPr/>
        </p:nvSpPr>
        <p:spPr>
          <a:xfrm>
            <a:off x="3154680" y="1005840"/>
            <a:ext cx="2834640" cy="4023360"/>
          </a:xfrm>
          <a:prstGeom prst="rect">
            <a:avLst/>
          </a:prstGeom>
          <a:solidFill>
            <a:srgbClr val="0F1F3D"/>
          </a:solidFill>
          <a:ln/>
          <a:effectLst>
            <a:outerShdw blurRad="127000" dist="50800" dir="8100000" algn="bl" rotWithShape="0">
              <a:srgbClr val="000000">
                <a:alpha val="25000"/>
              </a:srgbClr>
            </a:outerShdw>
          </a:effectLst>
        </p:spPr>
      </p:sp>
      <p:sp>
        <p:nvSpPr>
          <p:cNvPr id="17" name="Shape 15"/>
          <p:cNvSpPr/>
          <p:nvPr/>
        </p:nvSpPr>
        <p:spPr>
          <a:xfrm>
            <a:off x="3172968" y="941832"/>
            <a:ext cx="2834640" cy="329184"/>
          </a:xfrm>
          <a:prstGeom prst="rect">
            <a:avLst/>
          </a:prstGeom>
          <a:solidFill>
            <a:srgbClr val="0EA5E9"/>
          </a:solidFill>
          <a:ln/>
        </p:spPr>
      </p:sp>
      <p:sp>
        <p:nvSpPr>
          <p:cNvPr id="18" name="Text 16"/>
          <p:cNvSpPr/>
          <p:nvPr/>
        </p:nvSpPr>
        <p:spPr>
          <a:xfrm>
            <a:off x="3246120" y="941832"/>
            <a:ext cx="2688336" cy="329184"/>
          </a:xfrm>
          <a:prstGeom prst="rect">
            <a:avLst/>
          </a:prstGeom>
          <a:noFill/>
          <a:ln/>
        </p:spPr>
        <p:txBody>
          <a:bodyPr wrap="square" rtlCol="0" anchor="ctr"/>
          <a:lstStyle/>
          <a:p>
            <a:pPr marL="0" indent="0">
              <a:buNone/>
            </a:pPr>
            <a:r>
              <a:rPr lang="en-US" sz="1200" b="1" dirty="0">
                <a:solidFill>
                  <a:srgbClr val="FFFFFF"/>
                </a:solidFill>
              </a:rPr>
              <a:t>Full Self-Driving (FSD)</a:t>
            </a:r>
            <a:endParaRPr lang="en-US" sz="1200" dirty="0"/>
          </a:p>
        </p:txBody>
      </p:sp>
      <p:sp>
        <p:nvSpPr>
          <p:cNvPr id="19" name="Text 17"/>
          <p:cNvSpPr/>
          <p:nvPr/>
        </p:nvSpPr>
        <p:spPr>
          <a:xfrm>
            <a:off x="3264408" y="13075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FSD v13+ using end-to-end neural network (no HD maps)</a:t>
            </a:r>
            <a:endParaRPr lang="en-US" sz="900" dirty="0"/>
          </a:p>
        </p:txBody>
      </p:sp>
      <p:sp>
        <p:nvSpPr>
          <p:cNvPr id="20" name="Text 18"/>
          <p:cNvSpPr/>
          <p:nvPr/>
        </p:nvSpPr>
        <p:spPr>
          <a:xfrm>
            <a:off x="3264408" y="17647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Cybercab robotaxi launched Austin, TX in 2026 — limited scale</a:t>
            </a:r>
            <a:endParaRPr lang="en-US" sz="900" dirty="0"/>
          </a:p>
        </p:txBody>
      </p:sp>
      <p:sp>
        <p:nvSpPr>
          <p:cNvPr id="21" name="Text 19"/>
          <p:cNvSpPr/>
          <p:nvPr/>
        </p:nvSpPr>
        <p:spPr>
          <a:xfrm>
            <a:off x="3264408" y="22219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Waymo remains autonomous leader (250K+ weekly rides, 5 cities)</a:t>
            </a:r>
            <a:endParaRPr lang="en-US" sz="900" dirty="0"/>
          </a:p>
        </p:txBody>
      </p:sp>
      <p:sp>
        <p:nvSpPr>
          <p:cNvPr id="22" name="Text 20"/>
          <p:cNvSpPr/>
          <p:nvPr/>
        </p:nvSpPr>
        <p:spPr>
          <a:xfrm>
            <a:off x="3264408" y="26791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Tesla FSD still classified SAE Level 2 in most jurisdictions</a:t>
            </a:r>
            <a:endParaRPr lang="en-US" sz="900" dirty="0"/>
          </a:p>
        </p:txBody>
      </p:sp>
      <p:sp>
        <p:nvSpPr>
          <p:cNvPr id="23" name="Text 21"/>
          <p:cNvSpPr/>
          <p:nvPr/>
        </p:nvSpPr>
        <p:spPr>
          <a:xfrm>
            <a:off x="3264408" y="31363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EU FSD approval pending; California permit for robotaxi in progress</a:t>
            </a:r>
            <a:endParaRPr lang="en-US" sz="900" dirty="0"/>
          </a:p>
        </p:txBody>
      </p:sp>
      <p:sp>
        <p:nvSpPr>
          <p:cNvPr id="24" name="Text 22"/>
          <p:cNvSpPr/>
          <p:nvPr/>
        </p:nvSpPr>
        <p:spPr>
          <a:xfrm>
            <a:off x="3264408" y="35935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Reuters investigation (May 2026): safety stat methodology disputed</a:t>
            </a:r>
            <a:endParaRPr lang="en-US" sz="900" dirty="0"/>
          </a:p>
        </p:txBody>
      </p:sp>
      <p:sp>
        <p:nvSpPr>
          <p:cNvPr id="25" name="Text 23"/>
          <p:cNvSpPr/>
          <p:nvPr/>
        </p:nvSpPr>
        <p:spPr>
          <a:xfrm>
            <a:off x="3264408" y="40507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~4M vehicles with FSD hardware — massive data generation moat</a:t>
            </a:r>
            <a:endParaRPr lang="en-US" sz="900" dirty="0"/>
          </a:p>
        </p:txBody>
      </p:sp>
      <p:sp>
        <p:nvSpPr>
          <p:cNvPr id="26" name="Text 24"/>
          <p:cNvSpPr/>
          <p:nvPr/>
        </p:nvSpPr>
        <p:spPr>
          <a:xfrm>
            <a:off x="3264408" y="4427583"/>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Vision-only approach: camera + AI (no LiDAR) — cost advantage</a:t>
            </a:r>
            <a:endParaRPr lang="en-US" sz="900" dirty="0"/>
          </a:p>
        </p:txBody>
      </p:sp>
      <p:sp>
        <p:nvSpPr>
          <p:cNvPr id="27" name="Shape 25"/>
          <p:cNvSpPr/>
          <p:nvPr/>
        </p:nvSpPr>
        <p:spPr>
          <a:xfrm>
            <a:off x="6126480" y="1005840"/>
            <a:ext cx="2834640" cy="4023360"/>
          </a:xfrm>
          <a:prstGeom prst="rect">
            <a:avLst/>
          </a:prstGeom>
          <a:solidFill>
            <a:srgbClr val="0F1F3D"/>
          </a:solidFill>
          <a:ln/>
          <a:effectLst>
            <a:outerShdw blurRad="127000" dist="50800" dir="8100000" algn="bl" rotWithShape="0">
              <a:srgbClr val="000000">
                <a:alpha val="25000"/>
              </a:srgbClr>
            </a:outerShdw>
          </a:effectLst>
        </p:spPr>
      </p:sp>
      <p:sp>
        <p:nvSpPr>
          <p:cNvPr id="28" name="Shape 26"/>
          <p:cNvSpPr/>
          <p:nvPr/>
        </p:nvSpPr>
        <p:spPr>
          <a:xfrm>
            <a:off x="6144768" y="941832"/>
            <a:ext cx="2834640" cy="329184"/>
          </a:xfrm>
          <a:prstGeom prst="rect">
            <a:avLst/>
          </a:prstGeom>
          <a:solidFill>
            <a:srgbClr val="7C3AED"/>
          </a:solidFill>
          <a:ln/>
        </p:spPr>
      </p:sp>
      <p:sp>
        <p:nvSpPr>
          <p:cNvPr id="29" name="Text 27"/>
          <p:cNvSpPr/>
          <p:nvPr/>
        </p:nvSpPr>
        <p:spPr>
          <a:xfrm>
            <a:off x="6217920" y="941832"/>
            <a:ext cx="2688336" cy="329184"/>
          </a:xfrm>
          <a:prstGeom prst="rect">
            <a:avLst/>
          </a:prstGeom>
          <a:noFill/>
          <a:ln/>
        </p:spPr>
        <p:txBody>
          <a:bodyPr wrap="square" rtlCol="0" anchor="ctr"/>
          <a:lstStyle/>
          <a:p>
            <a:pPr marL="0" indent="0">
              <a:buNone/>
            </a:pPr>
            <a:r>
              <a:rPr lang="en-US" sz="1200" b="1" dirty="0">
                <a:solidFill>
                  <a:srgbClr val="FFFFFF"/>
                </a:solidFill>
              </a:rPr>
              <a:t>AI Training Infrastructure</a:t>
            </a:r>
            <a:endParaRPr lang="en-US" sz="1200" dirty="0"/>
          </a:p>
        </p:txBody>
      </p:sp>
      <p:sp>
        <p:nvSpPr>
          <p:cNvPr id="30" name="Text 28"/>
          <p:cNvSpPr/>
          <p:nvPr/>
        </p:nvSpPr>
        <p:spPr>
          <a:xfrm>
            <a:off x="6236208" y="13075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Dojo supercomputer: custom AI training chip (D1) at scale</a:t>
            </a:r>
            <a:endParaRPr lang="en-US" sz="900" dirty="0"/>
          </a:p>
        </p:txBody>
      </p:sp>
      <p:sp>
        <p:nvSpPr>
          <p:cNvPr id="31" name="Text 29"/>
          <p:cNvSpPr/>
          <p:nvPr/>
        </p:nvSpPr>
        <p:spPr>
          <a:xfrm>
            <a:off x="6236208" y="17647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Cortex cluster: 50,000+ NVIDIA H100 GPUs + 50K Dojo chips</a:t>
            </a:r>
            <a:endParaRPr lang="en-US" sz="900" dirty="0"/>
          </a:p>
        </p:txBody>
      </p:sp>
      <p:sp>
        <p:nvSpPr>
          <p:cNvPr id="32" name="Text 30"/>
          <p:cNvSpPr/>
          <p:nvPr/>
        </p:nvSpPr>
        <p:spPr>
          <a:xfrm>
            <a:off x="6236208" y="22219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$10B committed to autonomous driving infrastructure by end-2026</a:t>
            </a:r>
            <a:endParaRPr lang="en-US" sz="900" dirty="0"/>
          </a:p>
        </p:txBody>
      </p:sp>
      <p:sp>
        <p:nvSpPr>
          <p:cNvPr id="33" name="Text 31"/>
          <p:cNvSpPr/>
          <p:nvPr/>
        </p:nvSpPr>
        <p:spPr>
          <a:xfrm>
            <a:off x="6236208" y="26791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FSD training on 10B+ miles of real-world driving data</a:t>
            </a:r>
            <a:endParaRPr lang="en-US" sz="900" dirty="0"/>
          </a:p>
        </p:txBody>
      </p:sp>
      <p:sp>
        <p:nvSpPr>
          <p:cNvPr id="34" name="Text 32"/>
          <p:cNvSpPr/>
          <p:nvPr/>
        </p:nvSpPr>
        <p:spPr>
          <a:xfrm>
            <a:off x="6236208" y="31363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Unique advantage: real-world robot data from ~115M Optimus hours</a:t>
            </a:r>
            <a:endParaRPr lang="en-US" sz="900" dirty="0"/>
          </a:p>
        </p:txBody>
      </p:sp>
      <p:sp>
        <p:nvSpPr>
          <p:cNvPr id="35" name="Text 33"/>
          <p:cNvSpPr/>
          <p:nvPr/>
        </p:nvSpPr>
        <p:spPr>
          <a:xfrm>
            <a:off x="6236208" y="35935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Data flywheel: every Optimus unit makes all other units smarter</a:t>
            </a:r>
            <a:endParaRPr lang="en-US" sz="900" dirty="0"/>
          </a:p>
        </p:txBody>
      </p:sp>
      <p:sp>
        <p:nvSpPr>
          <p:cNvPr id="36" name="Text 34"/>
          <p:cNvSpPr/>
          <p:nvPr/>
        </p:nvSpPr>
        <p:spPr>
          <a:xfrm>
            <a:off x="6236208" y="4050792"/>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Synthetic data from simulation (sim-to-real transfer key challenge)</a:t>
            </a:r>
            <a:endParaRPr lang="en-US" sz="900" dirty="0"/>
          </a:p>
        </p:txBody>
      </p:sp>
      <p:sp>
        <p:nvSpPr>
          <p:cNvPr id="37" name="Text 35"/>
          <p:cNvSpPr/>
          <p:nvPr/>
        </p:nvSpPr>
        <p:spPr>
          <a:xfrm>
            <a:off x="6254496" y="4419237"/>
            <a:ext cx="2651760" cy="429768"/>
          </a:xfrm>
          <a:prstGeom prst="rect">
            <a:avLst/>
          </a:prstGeom>
          <a:noFill/>
          <a:ln/>
        </p:spPr>
        <p:txBody>
          <a:bodyPr wrap="square" rtlCol="0" anchor="ctr"/>
          <a:lstStyle/>
          <a:p>
            <a:pPr marL="342900" indent="-342900">
              <a:buSzPct val="100000"/>
              <a:buChar char="•"/>
            </a:pPr>
            <a:r>
              <a:rPr lang="en-US" sz="900" dirty="0">
                <a:solidFill>
                  <a:srgbClr val="E2E8F0"/>
                </a:solidFill>
              </a:rPr>
              <a:t>In-house silicon (HW4 inference chip) reduces NVIDIA dependency</a:t>
            </a:r>
            <a:endParaRPr lang="en-US" sz="900" dirty="0"/>
          </a:p>
        </p:txBody>
      </p:sp>
      <p:sp>
        <p:nvSpPr>
          <p:cNvPr id="38" name="Shape 36"/>
          <p:cNvSpPr/>
          <p:nvPr/>
        </p:nvSpPr>
        <p:spPr>
          <a:xfrm>
            <a:off x="182880" y="4846320"/>
            <a:ext cx="8778240" cy="201168"/>
          </a:xfrm>
          <a:prstGeom prst="rect">
            <a:avLst/>
          </a:prstGeom>
          <a:solidFill>
            <a:srgbClr val="0A1628"/>
          </a:solidFill>
          <a:ln/>
        </p:spPr>
      </p:sp>
      <p:sp>
        <p:nvSpPr>
          <p:cNvPr id="39" name="Text 37"/>
          <p:cNvSpPr/>
          <p:nvPr/>
        </p:nvSpPr>
        <p:spPr>
          <a:xfrm>
            <a:off x="320040" y="4913957"/>
            <a:ext cx="8503920" cy="201168"/>
          </a:xfrm>
          <a:prstGeom prst="rect">
            <a:avLst/>
          </a:prstGeom>
          <a:noFill/>
          <a:ln/>
        </p:spPr>
        <p:txBody>
          <a:bodyPr wrap="square" rtlCol="0" anchor="ctr"/>
          <a:lstStyle/>
          <a:p>
            <a:pPr marL="0" indent="0">
              <a:buNone/>
            </a:pPr>
            <a:r>
              <a:rPr lang="en-US" sz="900" b="1" dirty="0">
                <a:solidFill>
                  <a:srgbClr val="F59E0B"/>
                </a:solidFill>
              </a:rPr>
              <a:t>KEY INSIGHT: Tesla is not a car company. It is the only organization building humanoid robots + autonomous vehicles + AI training infrastructure simultaneously at scale.</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651510"/>
          </a:xfrm>
          <a:prstGeom prst="rect">
            <a:avLst/>
          </a:prstGeom>
          <a:solidFill>
            <a:srgbClr val="101828"/>
          </a:solidFill>
          <a:ln/>
        </p:spPr>
      </p:sp>
      <p:sp>
        <p:nvSpPr>
          <p:cNvPr id="3" name="Text 1"/>
          <p:cNvSpPr/>
          <p:nvPr/>
        </p:nvSpPr>
        <p:spPr>
          <a:xfrm>
            <a:off x="240030" y="7249"/>
            <a:ext cx="6172200" cy="387822"/>
          </a:xfrm>
          <a:prstGeom prst="rect">
            <a:avLst/>
          </a:prstGeom>
          <a:noFill/>
          <a:ln/>
        </p:spPr>
        <p:txBody>
          <a:bodyPr wrap="square" lIns="0" tIns="0" rIns="0" bIns="0" rtlCol="0" anchor="ctr"/>
          <a:lstStyle/>
          <a:p>
            <a:r>
              <a:rPr lang="en-US" sz="1650" b="1" dirty="0">
                <a:solidFill>
                  <a:srgbClr val="4F9CF9"/>
                </a:solidFill>
                <a:latin typeface="Calibri" pitchFamily="34" charset="0"/>
                <a:ea typeface="Calibri" pitchFamily="34" charset="-122"/>
                <a:cs typeface="Calibri" pitchFamily="34" charset="-120"/>
              </a:rPr>
              <a:t>CROSS-LAYER COMPARISON MATRIX</a:t>
            </a:r>
            <a:endParaRPr lang="en-US" sz="1650" dirty="0"/>
          </a:p>
        </p:txBody>
      </p:sp>
      <p:sp>
        <p:nvSpPr>
          <p:cNvPr id="4" name="Text 2"/>
          <p:cNvSpPr/>
          <p:nvPr/>
        </p:nvSpPr>
        <p:spPr>
          <a:xfrm>
            <a:off x="3745230" y="70858"/>
            <a:ext cx="8229600" cy="260604"/>
          </a:xfrm>
          <a:prstGeom prst="rect">
            <a:avLst/>
          </a:prstGeom>
          <a:noFill/>
          <a:ln/>
        </p:spPr>
        <p:txBody>
          <a:bodyPr wrap="square" lIns="0" tIns="0" rIns="0" bIns="0" rtlCol="0" anchor="ctr"/>
          <a:lstStyle/>
          <a:p>
            <a:r>
              <a:rPr lang="en-US" sz="825" dirty="0">
                <a:solidFill>
                  <a:srgbClr val="94A3B8"/>
                </a:solidFill>
                <a:latin typeface="Calibri" pitchFamily="34" charset="0"/>
                <a:ea typeface="Calibri" pitchFamily="34" charset="-122"/>
                <a:cs typeface="Calibri" pitchFamily="34" charset="-120"/>
              </a:rPr>
              <a:t>All 25 Companies | Competitive Position | Layer Winner Ranking</a:t>
            </a:r>
            <a:endParaRPr lang="en-US" sz="825" dirty="0"/>
          </a:p>
        </p:txBody>
      </p:sp>
      <p:graphicFrame>
        <p:nvGraphicFramePr>
          <p:cNvPr id="10" name="Table 0"/>
          <p:cNvGraphicFramePr>
            <a:graphicFrameLocks noGrp="1"/>
          </p:cNvGraphicFramePr>
          <p:nvPr>
            <p:extLst>
              <p:ext uri="{D42A27DB-BD31-4B8C-83A1-F6EECF244321}">
                <p14:modId xmlns:p14="http://schemas.microsoft.com/office/powerpoint/2010/main" val="3127180194"/>
              </p:ext>
            </p:extLst>
          </p:nvPr>
        </p:nvGraphicFramePr>
        <p:xfrm>
          <a:off x="194889" y="462820"/>
          <a:ext cx="8731362" cy="4572000"/>
        </p:xfrm>
        <a:graphic>
          <a:graphicData uri="http://schemas.openxmlformats.org/drawingml/2006/table">
            <a:tbl>
              <a:tblPr/>
              <a:tblGrid>
                <a:gridCol w="567539">
                  <a:extLst>
                    <a:ext uri="{9D8B030D-6E8A-4147-A177-3AD203B41FA5}">
                      <a16:colId xmlns:a16="http://schemas.microsoft.com/office/drawing/2014/main" val="20000"/>
                    </a:ext>
                  </a:extLst>
                </a:gridCol>
                <a:gridCol w="1440674">
                  <a:extLst>
                    <a:ext uri="{9D8B030D-6E8A-4147-A177-3AD203B41FA5}">
                      <a16:colId xmlns:a16="http://schemas.microsoft.com/office/drawing/2014/main" val="20001"/>
                    </a:ext>
                  </a:extLst>
                </a:gridCol>
                <a:gridCol w="785823">
                  <a:extLst>
                    <a:ext uri="{9D8B030D-6E8A-4147-A177-3AD203B41FA5}">
                      <a16:colId xmlns:a16="http://schemas.microsoft.com/office/drawing/2014/main" val="20002"/>
                    </a:ext>
                  </a:extLst>
                </a:gridCol>
                <a:gridCol w="698509">
                  <a:extLst>
                    <a:ext uri="{9D8B030D-6E8A-4147-A177-3AD203B41FA5}">
                      <a16:colId xmlns:a16="http://schemas.microsoft.com/office/drawing/2014/main" val="20003"/>
                    </a:ext>
                  </a:extLst>
                </a:gridCol>
                <a:gridCol w="2357468">
                  <a:extLst>
                    <a:ext uri="{9D8B030D-6E8A-4147-A177-3AD203B41FA5}">
                      <a16:colId xmlns:a16="http://schemas.microsoft.com/office/drawing/2014/main" val="20004"/>
                    </a:ext>
                  </a:extLst>
                </a:gridCol>
                <a:gridCol w="1484331">
                  <a:extLst>
                    <a:ext uri="{9D8B030D-6E8A-4147-A177-3AD203B41FA5}">
                      <a16:colId xmlns:a16="http://schemas.microsoft.com/office/drawing/2014/main" val="20005"/>
                    </a:ext>
                  </a:extLst>
                </a:gridCol>
                <a:gridCol w="1397018">
                  <a:extLst>
                    <a:ext uri="{9D8B030D-6E8A-4147-A177-3AD203B41FA5}">
                      <a16:colId xmlns:a16="http://schemas.microsoft.com/office/drawing/2014/main" val="20006"/>
                    </a:ext>
                  </a:extLst>
                </a:gridCol>
              </a:tblGrid>
              <a:tr h="186703">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Ticker</a:t>
                      </a:r>
                      <a:endParaRPr lang="en-US" sz="8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2540"/>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Company</a:t>
                      </a:r>
                      <a:endParaRPr lang="en-US" sz="8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2540"/>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Layer</a:t>
                      </a:r>
                      <a:endParaRPr lang="en-US" sz="8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2540"/>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Layer Rank</a:t>
                      </a:r>
                      <a:endParaRPr lang="en-US" sz="8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2540"/>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Core Moat</a:t>
                      </a:r>
                      <a:endParaRPr lang="en-US" sz="8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2540"/>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Key Risk</a:t>
                      </a:r>
                      <a:endParaRPr lang="en-US" sz="8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2540"/>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Verdict</a:t>
                      </a:r>
                      <a:endParaRPr lang="en-US" sz="8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2540"/>
                    </a:solidFill>
                  </a:tcPr>
                </a:tc>
                <a:extLst>
                  <a:ext uri="{0D108BD9-81ED-4DB2-BD59-A6C34878D82A}">
                    <a16:rowId xmlns:a16="http://schemas.microsoft.com/office/drawing/2014/main" val="10000"/>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CEG</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Constellation Energy</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Energy</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b="1" dirty="0">
                          <a:solidFill>
                            <a:srgbClr val="F5C842"/>
                          </a:solidFill>
                          <a:latin typeface="Calibri" pitchFamily="34" charset="0"/>
                          <a:ea typeface="Calibri" pitchFamily="34" charset="-122"/>
                          <a:cs typeface="Calibri" pitchFamily="34" charset="-120"/>
                        </a:rPr>
                        <a:t>#1 ⭐</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21-plant nuclear fleet, 20-yr PPAs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Nuclear regulation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b="1" dirty="0">
                          <a:solidFill>
                            <a:srgbClr val="F5C842"/>
                          </a:solidFill>
                          <a:latin typeface="Calibri" pitchFamily="34" charset="0"/>
                          <a:ea typeface="Calibri" pitchFamily="34" charset="-122"/>
                          <a:cs typeface="Calibri" pitchFamily="34" charset="-120"/>
                        </a:rPr>
                        <a:t>Layer Winner</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extLst>
                  <a:ext uri="{0D108BD9-81ED-4DB2-BD59-A6C34878D82A}">
                    <a16:rowId xmlns:a16="http://schemas.microsoft.com/office/drawing/2014/main" val="10001"/>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VST</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Vistra Corp</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Energy</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#2</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Nuclear + gas dispatchable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Leverage, gas exposure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Strong #2</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extLst>
                  <a:ext uri="{0D108BD9-81ED-4DB2-BD59-A6C34878D82A}">
                    <a16:rowId xmlns:a16="http://schemas.microsoft.com/office/drawing/2014/main" val="10002"/>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OKLO</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Oklo</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Energy</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#3</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SMR micro-reactor, Altman-backed</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Pre-revenue, speculative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High Risk Option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extLst>
                  <a:ext uri="{0D108BD9-81ED-4DB2-BD59-A6C34878D82A}">
                    <a16:rowId xmlns:a16="http://schemas.microsoft.com/office/drawing/2014/main" val="10003"/>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GEV</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GE Vernova</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Energy</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#4</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50%+ gas turbine market share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Industrial cyclicality</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Solid Industrial</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extLst>
                  <a:ext uri="{0D108BD9-81ED-4DB2-BD59-A6C34878D82A}">
                    <a16:rowId xmlns:a16="http://schemas.microsoft.com/office/drawing/2014/main" val="10004"/>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EOSE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Eos Energy</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Energy</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Zinc battery storage niche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Speculative, tiny revenue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Speculative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F"/>
                    </a:solidFill>
                  </a:tcPr>
                </a:tc>
                <a:extLst>
                  <a:ext uri="{0D108BD9-81ED-4DB2-BD59-A6C34878D82A}">
                    <a16:rowId xmlns:a16="http://schemas.microsoft.com/office/drawing/2014/main" val="10005"/>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NVDA</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NVIDIA</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Chips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b="1" dirty="0">
                          <a:solidFill>
                            <a:srgbClr val="A855F7"/>
                          </a:solidFill>
                          <a:latin typeface="Calibri" pitchFamily="34" charset="0"/>
                          <a:ea typeface="Calibri" pitchFamily="34" charset="-122"/>
                          <a:cs typeface="Calibri" pitchFamily="34" charset="-120"/>
                        </a:rPr>
                        <a:t>#1 ⭐</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19yr CUDA moat, 80% AI share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Export controls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b="1" dirty="0">
                          <a:solidFill>
                            <a:srgbClr val="F5C842"/>
                          </a:solidFill>
                          <a:latin typeface="Calibri" pitchFamily="34" charset="0"/>
                          <a:ea typeface="Calibri" pitchFamily="34" charset="-122"/>
                          <a:cs typeface="Calibri" pitchFamily="34" charset="-120"/>
                        </a:rPr>
                        <a:t>Undisputed Champion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extLst>
                  <a:ext uri="{0D108BD9-81ED-4DB2-BD59-A6C34878D82A}">
                    <a16:rowId xmlns:a16="http://schemas.microsoft.com/office/drawing/2014/main" val="10006"/>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TSM</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TSMC</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Chips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#2</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Only N3/N2 foundry, CoWoS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Geopolitical (Taiwan)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The Toll Booth</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extLst>
                  <a:ext uri="{0D108BD9-81ED-4DB2-BD59-A6C34878D82A}">
                    <a16:rowId xmlns:a16="http://schemas.microsoft.com/office/drawing/2014/main" val="10007"/>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MU</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Micron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Chips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#3</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Only US HBM maker, inside NVDA GPU</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Memory cyclicality</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Hidden Gem</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extLst>
                  <a:ext uri="{0D108BD9-81ED-4DB2-BD59-A6C34878D82A}">
                    <a16:rowId xmlns:a16="http://schemas.microsoft.com/office/drawing/2014/main" val="10008"/>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AMD</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AMD</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Chips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#4</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MI400/450 + EPYC CPU combo</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ROCm behind CUDA</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Strong #2 In Chips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extLst>
                  <a:ext uri="{0D108BD9-81ED-4DB2-BD59-A6C34878D82A}">
                    <a16:rowId xmlns:a16="http://schemas.microsoft.com/office/drawing/2014/main" val="10009"/>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ARM</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Arm Holdings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Chips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IP royalties, 99% smartphone share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No direct GPU exposure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Royalty Platform</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30A1F"/>
                    </a:solidFill>
                  </a:tcPr>
                </a:tc>
                <a:extLst>
                  <a:ext uri="{0D108BD9-81ED-4DB2-BD59-A6C34878D82A}">
                    <a16:rowId xmlns:a16="http://schemas.microsoft.com/office/drawing/2014/main" val="10010"/>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CRWV</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CoreWeave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Cloud/DC</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b="1" dirty="0">
                          <a:solidFill>
                            <a:srgbClr val="34D399"/>
                          </a:solidFill>
                          <a:latin typeface="Calibri" pitchFamily="34" charset="0"/>
                          <a:ea typeface="Calibri" pitchFamily="34" charset="-122"/>
                          <a:cs typeface="Calibri" pitchFamily="34" charset="-120"/>
                        </a:rPr>
                        <a:t>#1 ⭐</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$55B backlog, OpenAI+Meta tenants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4.8x debt/equity</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b="1" dirty="0">
                          <a:solidFill>
                            <a:srgbClr val="F5C842"/>
                          </a:solidFill>
                          <a:latin typeface="Calibri" pitchFamily="34" charset="0"/>
                          <a:ea typeface="Calibri" pitchFamily="34" charset="-122"/>
                          <a:cs typeface="Calibri" pitchFamily="34" charset="-120"/>
                        </a:rPr>
                        <a:t>Dominant Neocloud</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extLst>
                  <a:ext uri="{0D108BD9-81ED-4DB2-BD59-A6C34878D82A}">
                    <a16:rowId xmlns:a16="http://schemas.microsoft.com/office/drawing/2014/main" val="10011"/>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NBIS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Nebius Group</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Cloud/DC</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#2</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Software-first, $1.8B cash, low leverage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Customer concentration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Best Risk/Reward</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extLst>
                  <a:ext uri="{0D108BD9-81ED-4DB2-BD59-A6C34878D82A}">
                    <a16:rowId xmlns:a16="http://schemas.microsoft.com/office/drawing/2014/main" val="10012"/>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IREN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Iris Energy</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Cloud/DC</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#3</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Owned power infra, Microsoft tenant</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Bitcoin distraction, execution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Asset-Heavy Upside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extLst>
                  <a:ext uri="{0D108BD9-81ED-4DB2-BD59-A6C34878D82A}">
                    <a16:rowId xmlns:a16="http://schemas.microsoft.com/office/drawing/2014/main" val="10013"/>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APLD</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Applied Digital</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Cloud/DC</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#4</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$16B CoreWeave/hyperscaler leases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CoreWeave concentration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Real Estate Play</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extLst>
                  <a:ext uri="{0D108BD9-81ED-4DB2-BD59-A6C34878D82A}">
                    <a16:rowId xmlns:a16="http://schemas.microsoft.com/office/drawing/2014/main" val="10014"/>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CIFR</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Cipher Mining</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Cloud/DC</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$8.5B AWS+Fluidstack contracts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Scale, execution, Bitcoin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High-Beta Option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0A1A12"/>
                    </a:solidFill>
                  </a:tcPr>
                </a:tc>
                <a:extLst>
                  <a:ext uri="{0D108BD9-81ED-4DB2-BD59-A6C34878D82A}">
                    <a16:rowId xmlns:a16="http://schemas.microsoft.com/office/drawing/2014/main" val="10015"/>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MSFT</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Microsoft</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AI Models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b="1" dirty="0">
                          <a:solidFill>
                            <a:srgbClr val="F472B6"/>
                          </a:solidFill>
                          <a:latin typeface="Calibri" pitchFamily="34" charset="0"/>
                          <a:ea typeface="Calibri" pitchFamily="34" charset="-122"/>
                          <a:cs typeface="Calibri" pitchFamily="34" charset="-120"/>
                        </a:rPr>
                        <a:t>#1 ⭐</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OpenAI + Azure + Copilot 350M users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$190B capex strain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b="1" dirty="0">
                          <a:solidFill>
                            <a:srgbClr val="F5C842"/>
                          </a:solidFill>
                          <a:latin typeface="Calibri" pitchFamily="34" charset="0"/>
                          <a:ea typeface="Calibri" pitchFamily="34" charset="-122"/>
                          <a:cs typeface="Calibri" pitchFamily="34" charset="-120"/>
                        </a:rPr>
                        <a:t>AI Distribution King</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extLst>
                  <a:ext uri="{0D108BD9-81ED-4DB2-BD59-A6C34878D82A}">
                    <a16:rowId xmlns:a16="http://schemas.microsoft.com/office/drawing/2014/main" val="10016"/>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GOOGL</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Alphabet</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AI Models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#2</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TPUs + Gemini + Cloud +48%</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Search AI threat</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Vertically Integrated</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extLst>
                  <a:ext uri="{0D108BD9-81ED-4DB2-BD59-A6C34878D82A}">
                    <a16:rowId xmlns:a16="http://schemas.microsoft.com/office/drawing/2014/main" val="10017"/>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META</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Meta</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AI Models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#3</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Llama open-source + 3.3B users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Metaverse losses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Open-Source AI Bet</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extLst>
                  <a:ext uri="{0D108BD9-81ED-4DB2-BD59-A6C34878D82A}">
                    <a16:rowId xmlns:a16="http://schemas.microsoft.com/office/drawing/2014/main" val="10018"/>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AMZN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Amazon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AI Models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#4</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AWS #1 cloud, $200B 2026 capex</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No frontier model</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AWS Moat is Real</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extLst>
                  <a:ext uri="{0D108BD9-81ED-4DB2-BD59-A6C34878D82A}">
                    <a16:rowId xmlns:a16="http://schemas.microsoft.com/office/drawing/2014/main" val="10019"/>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ORCL</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Oracle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AI Models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Stargate JV, OCI fastest growing</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Stargate execution risk</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Dark Horse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A18"/>
                    </a:solidFill>
                  </a:tcPr>
                </a:tc>
                <a:extLst>
                  <a:ext uri="{0D108BD9-81ED-4DB2-BD59-A6C34878D82A}">
                    <a16:rowId xmlns:a16="http://schemas.microsoft.com/office/drawing/2014/main" val="10020"/>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PLTR</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Palantir</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Apps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b="1" dirty="0">
                          <a:solidFill>
                            <a:srgbClr val="FB923C"/>
                          </a:solidFill>
                          <a:latin typeface="Calibri" pitchFamily="34" charset="0"/>
                          <a:ea typeface="Calibri" pitchFamily="34" charset="-122"/>
                          <a:cs typeface="Calibri" pitchFamily="34" charset="-120"/>
                        </a:rPr>
                        <a:t>#1 ⭐</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AIP decision-grade AI, govt contracts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Valuation 80x sales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b="1" dirty="0">
                          <a:solidFill>
                            <a:srgbClr val="F5C842"/>
                          </a:solidFill>
                          <a:latin typeface="Calibri" pitchFamily="34" charset="0"/>
                          <a:ea typeface="Calibri" pitchFamily="34" charset="-122"/>
                          <a:cs typeface="Calibri" pitchFamily="34" charset="-120"/>
                        </a:rPr>
                        <a:t>AI Decision Layer</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extLst>
                  <a:ext uri="{0D108BD9-81ED-4DB2-BD59-A6C34878D82A}">
                    <a16:rowId xmlns:a16="http://schemas.microsoft.com/office/drawing/2014/main" val="10021"/>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TSLA</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Tesla</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Apps/Robotics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#2</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Optimus robot + FSD AI + data</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Musk risk, auto pressure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Robotics Wildcard</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extLst>
                  <a:ext uri="{0D108BD9-81ED-4DB2-BD59-A6C34878D82A}">
                    <a16:rowId xmlns:a16="http://schemas.microsoft.com/office/drawing/2014/main" val="10022"/>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NOW</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ServiceNow</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Apps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#3</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Fortune 500 workflow lock-in + AI agents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MSFT Copilot competition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Enterprise AI Workflow</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extLst>
                  <a:ext uri="{0D108BD9-81ED-4DB2-BD59-A6C34878D82A}">
                    <a16:rowId xmlns:a16="http://schemas.microsoft.com/office/drawing/2014/main" val="10023"/>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SNOW</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Snowflake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Apps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#4</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AI data backbone, Cortex AI</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Hyperscaler competition</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AI Data Backbone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extLst>
                  <a:ext uri="{0D108BD9-81ED-4DB2-BD59-A6C34878D82A}">
                    <a16:rowId xmlns:a16="http://schemas.microsoft.com/office/drawing/2014/main" val="10024"/>
                  </a:ext>
                </a:extLst>
              </a:tr>
              <a:tr h="171767">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CRM</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Salesforce</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Apps</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Agentforce AI agents + CRM data</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Growth moderating</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tc>
                  <a:txBody>
                    <a:bodyPr/>
                    <a:lstStyle/>
                    <a:p>
                      <a:pPr marL="0" indent="0">
                        <a:buNone/>
                      </a:pPr>
                      <a:r>
                        <a:rPr lang="en-US" sz="700" dirty="0">
                          <a:solidFill>
                            <a:srgbClr val="E2E8F0"/>
                          </a:solidFill>
                          <a:latin typeface="Calibri" pitchFamily="34" charset="0"/>
                          <a:ea typeface="Calibri" pitchFamily="34" charset="-122"/>
                          <a:cs typeface="Calibri" pitchFamily="34" charset="-120"/>
                        </a:rPr>
                        <a:t>Agentforce Pivot</a:t>
                      </a:r>
                      <a:endParaRPr lang="en-US" sz="700" dirty="0">
                        <a:latin typeface="Calibri" charset="0"/>
                        <a:ea typeface="Calibri" charset="0"/>
                        <a:cs typeface="Calibri" charset="0"/>
                      </a:endParaRPr>
                    </a:p>
                  </a:txBody>
                  <a:tcPr marL="68580" marR="68580" marT="34290" marB="34290">
                    <a:lnL w="6350" cap="flat" cmpd="sng" algn="ctr">
                      <a:solidFill>
                        <a:srgbClr val="243050"/>
                      </a:solidFill>
                      <a:prstDash val="solid"/>
                      <a:round/>
                      <a:headEnd type="none" w="med" len="med"/>
                      <a:tailEnd type="none" w="med" len="med"/>
                    </a:lnL>
                    <a:lnR w="6350" cap="flat" cmpd="sng" algn="ctr">
                      <a:solidFill>
                        <a:srgbClr val="243050"/>
                      </a:solidFill>
                      <a:prstDash val="solid"/>
                      <a:round/>
                      <a:headEnd type="none" w="med" len="med"/>
                      <a:tailEnd type="none" w="med" len="med"/>
                    </a:lnR>
                    <a:lnT w="6350" cap="flat" cmpd="sng" algn="ctr">
                      <a:solidFill>
                        <a:srgbClr val="243050"/>
                      </a:solidFill>
                      <a:prstDash val="solid"/>
                      <a:round/>
                      <a:headEnd type="none" w="med" len="med"/>
                      <a:tailEnd type="none" w="med" len="med"/>
                    </a:lnT>
                    <a:lnB w="6350" cap="flat" cmpd="sng" algn="ctr">
                      <a:solidFill>
                        <a:srgbClr val="243050"/>
                      </a:solidFill>
                      <a:prstDash val="solid"/>
                      <a:round/>
                      <a:headEnd type="none" w="med" len="med"/>
                      <a:tailEnd type="none" w="med" len="med"/>
                    </a:lnB>
                    <a:solidFill>
                      <a:srgbClr val="1A0F0A"/>
                    </a:solidFill>
                  </a:tcPr>
                </a:tc>
                <a:extLst>
                  <a:ext uri="{0D108BD9-81ED-4DB2-BD59-A6C34878D82A}">
                    <a16:rowId xmlns:a16="http://schemas.microsoft.com/office/drawing/2014/main" val="10025"/>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92608"/>
            <a:ext cx="8229600" cy="201168"/>
          </a:xfrm>
          <a:prstGeom prst="rect">
            <a:avLst/>
          </a:prstGeom>
          <a:noFill/>
          <a:ln/>
        </p:spPr>
        <p:txBody>
          <a:bodyPr wrap="square" rtlCol="0" anchor="ctr"/>
          <a:lstStyle/>
          <a:p>
            <a:pPr marL="0" indent="0" algn="l">
              <a:buNone/>
            </a:pPr>
            <a:r>
              <a:rPr lang="en-US" sz="850" kern="0" spc="300" dirty="0">
                <a:solidFill>
                  <a:srgbClr val="4A7EC7"/>
                </a:solidFill>
                <a:latin typeface="Calibri" pitchFamily="34" charset="0"/>
                <a:ea typeface="Calibri" pitchFamily="34" charset="-122"/>
                <a:cs typeface="Calibri" pitchFamily="34" charset="-120"/>
              </a:rPr>
              <a:t>DREAMLIT EQUITY RESEARCH  ·  AI &amp; ROBOTICS</a:t>
            </a:r>
            <a:endParaRPr lang="en-US" sz="850" dirty="0"/>
          </a:p>
        </p:txBody>
      </p:sp>
      <p:sp>
        <p:nvSpPr>
          <p:cNvPr id="3" name="Text 1"/>
          <p:cNvSpPr/>
          <p:nvPr/>
        </p:nvSpPr>
        <p:spPr>
          <a:xfrm>
            <a:off x="457200" y="914400"/>
            <a:ext cx="7685314" cy="1097280"/>
          </a:xfrm>
          <a:prstGeom prst="rect">
            <a:avLst/>
          </a:prstGeom>
          <a:noFill/>
          <a:ln/>
        </p:spPr>
        <p:txBody>
          <a:bodyPr wrap="square" lIns="0" tIns="0" rIns="0" bIns="0" rtlCol="0" anchor="t"/>
          <a:lstStyle/>
          <a:p>
            <a:pPr marL="0" indent="0" algn="l">
              <a:buNone/>
            </a:pPr>
            <a:r>
              <a:rPr lang="en-US" sz="6000" b="1" dirty="0">
                <a:solidFill>
                  <a:srgbClr val="1E3A6E"/>
                </a:solidFill>
                <a:latin typeface="Calibri" pitchFamily="34" charset="0"/>
                <a:ea typeface="Calibri" pitchFamily="34" charset="-122"/>
                <a:cs typeface="Calibri" pitchFamily="34" charset="-120"/>
              </a:rPr>
              <a:t>Investor Checkpoints </a:t>
            </a:r>
            <a:endParaRPr lang="en-US" sz="6000" dirty="0"/>
          </a:p>
        </p:txBody>
      </p:sp>
      <p:sp>
        <p:nvSpPr>
          <p:cNvPr id="4" name="Text 2"/>
          <p:cNvSpPr/>
          <p:nvPr/>
        </p:nvSpPr>
        <p:spPr>
          <a:xfrm>
            <a:off x="502920" y="2057400"/>
            <a:ext cx="8229600" cy="457200"/>
          </a:xfrm>
          <a:prstGeom prst="rect">
            <a:avLst/>
          </a:prstGeom>
          <a:noFill/>
          <a:ln/>
        </p:spPr>
        <p:txBody>
          <a:bodyPr wrap="square" rtlCol="0" anchor="ctr"/>
          <a:lstStyle/>
          <a:p>
            <a:pPr marL="0" indent="0" algn="l">
              <a:buNone/>
            </a:pPr>
            <a:r>
              <a:rPr lang="en-US" sz="1100" b="1" kern="0" spc="500" dirty="0">
                <a:solidFill>
                  <a:srgbClr val="4A7EC7"/>
                </a:solidFill>
                <a:latin typeface="Calibri" pitchFamily="34" charset="0"/>
                <a:ea typeface="Calibri" pitchFamily="34" charset="-122"/>
                <a:cs typeface="Calibri" pitchFamily="34" charset="-120"/>
              </a:rPr>
              <a:t>Know the Risk</a:t>
            </a:r>
            <a:endParaRPr lang="en-US" sz="1100" dirty="0"/>
          </a:p>
        </p:txBody>
      </p:sp>
      <p:sp>
        <p:nvSpPr>
          <p:cNvPr id="5" name="Text 3"/>
          <p:cNvSpPr/>
          <p:nvPr/>
        </p:nvSpPr>
        <p:spPr>
          <a:xfrm>
            <a:off x="502920" y="2487168"/>
            <a:ext cx="8229600" cy="731520"/>
          </a:xfrm>
          <a:prstGeom prst="rect">
            <a:avLst/>
          </a:prstGeom>
          <a:noFill/>
          <a:ln/>
        </p:spPr>
        <p:txBody>
          <a:bodyPr wrap="square"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Deep Research</a:t>
            </a:r>
            <a:endParaRPr lang="en-US" sz="4200" dirty="0"/>
          </a:p>
        </p:txBody>
      </p:sp>
      <p:sp>
        <p:nvSpPr>
          <p:cNvPr id="6" name="Text 4"/>
          <p:cNvSpPr/>
          <p:nvPr/>
        </p:nvSpPr>
        <p:spPr>
          <a:xfrm>
            <a:off x="502920" y="3273552"/>
            <a:ext cx="7772400" cy="502920"/>
          </a:xfrm>
          <a:prstGeom prst="rect">
            <a:avLst/>
          </a:prstGeom>
          <a:noFill/>
          <a:ln/>
        </p:spPr>
        <p:txBody>
          <a:bodyPr wrap="square" rtlCol="0" anchor="ctr"/>
          <a:lstStyle/>
          <a:p>
            <a:pPr marL="0" indent="0" algn="l">
              <a:buNone/>
            </a:pPr>
            <a:r>
              <a:rPr lang="en-US" sz="1200" dirty="0">
                <a:solidFill>
                  <a:srgbClr val="4A7EC7"/>
                </a:solidFill>
                <a:latin typeface="Calibri" pitchFamily="34" charset="0"/>
                <a:ea typeface="Calibri" pitchFamily="34" charset="-122"/>
                <a:cs typeface="Calibri" pitchFamily="34" charset="-120"/>
              </a:rPr>
              <a:t>Supply chain · Demand wave timing · Geopolitical risk · Demand strength matrix · Synthesis framework · Key questions</a:t>
            </a:r>
            <a:endParaRPr lang="en-US" sz="1200" dirty="0"/>
          </a:p>
        </p:txBody>
      </p:sp>
      <p:sp>
        <p:nvSpPr>
          <p:cNvPr id="7" name="Shape 5"/>
          <p:cNvSpPr/>
          <p:nvPr/>
        </p:nvSpPr>
        <p:spPr>
          <a:xfrm>
            <a:off x="502920" y="4663440"/>
            <a:ext cx="8138160" cy="0"/>
          </a:xfrm>
          <a:prstGeom prst="line">
            <a:avLst/>
          </a:prstGeom>
          <a:noFill/>
          <a:ln w="9525">
            <a:solidFill>
              <a:srgbClr val="1E3A6E"/>
            </a:solidFill>
            <a:prstDash val="solid"/>
          </a:ln>
        </p:spPr>
      </p:sp>
      <p:sp>
        <p:nvSpPr>
          <p:cNvPr id="8" name="Text 6"/>
          <p:cNvSpPr/>
          <p:nvPr/>
        </p:nvSpPr>
        <p:spPr>
          <a:xfrm>
            <a:off x="502920" y="4773168"/>
            <a:ext cx="8138160" cy="201168"/>
          </a:xfrm>
          <a:prstGeom prst="rect">
            <a:avLst/>
          </a:prstGeom>
          <a:noFill/>
          <a:ln/>
        </p:spPr>
        <p:txBody>
          <a:bodyPr wrap="square" rtlCol="0" anchor="ctr"/>
          <a:lstStyle/>
          <a:p>
            <a:pPr marL="0" indent="0" algn="l">
              <a:buNone/>
            </a:pPr>
            <a:r>
              <a:rPr lang="en-US" sz="850" dirty="0">
                <a:solidFill>
                  <a:srgbClr val="2D4A6E"/>
                </a:solidFill>
                <a:latin typeface="Calibri" pitchFamily="34" charset="0"/>
                <a:ea typeface="Calibri" pitchFamily="34" charset="-122"/>
                <a:cs typeface="Calibri" pitchFamily="34" charset="-120"/>
              </a:rPr>
              <a:t>The following slides provide structural analysis beyond the primary investment thesis — reference material for deeper due diligence.</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651510"/>
          </a:xfrm>
          <a:prstGeom prst="rect">
            <a:avLst/>
          </a:prstGeom>
          <a:solidFill>
            <a:srgbClr val="101828"/>
          </a:solidFill>
          <a:ln/>
        </p:spPr>
      </p:sp>
      <p:sp>
        <p:nvSpPr>
          <p:cNvPr id="3" name="Text 1"/>
          <p:cNvSpPr/>
          <p:nvPr/>
        </p:nvSpPr>
        <p:spPr>
          <a:xfrm>
            <a:off x="240030" y="54864"/>
            <a:ext cx="6172200" cy="514350"/>
          </a:xfrm>
          <a:prstGeom prst="rect">
            <a:avLst/>
          </a:prstGeom>
          <a:noFill/>
          <a:ln/>
        </p:spPr>
        <p:txBody>
          <a:bodyPr wrap="square" lIns="0" tIns="0" rIns="0" bIns="0" rtlCol="0" anchor="ctr"/>
          <a:lstStyle/>
          <a:p>
            <a:r>
              <a:rPr lang="en-US" sz="1650" b="1" dirty="0">
                <a:solidFill>
                  <a:srgbClr val="F5C842"/>
                </a:solidFill>
                <a:latin typeface="Calibri" pitchFamily="34" charset="0"/>
                <a:ea typeface="Calibri" pitchFamily="34" charset="-122"/>
                <a:cs typeface="Calibri" pitchFamily="34" charset="-120"/>
              </a:rPr>
              <a:t>OVERALL STACK RANKINGS: WHO WILL WIN THE AI DECADE?</a:t>
            </a:r>
            <a:endParaRPr lang="en-US" sz="1650" dirty="0"/>
          </a:p>
        </p:txBody>
      </p:sp>
      <p:sp>
        <p:nvSpPr>
          <p:cNvPr id="4" name="Text 2"/>
          <p:cNvSpPr/>
          <p:nvPr/>
        </p:nvSpPr>
        <p:spPr>
          <a:xfrm>
            <a:off x="240030" y="377190"/>
            <a:ext cx="8229600" cy="260604"/>
          </a:xfrm>
          <a:prstGeom prst="rect">
            <a:avLst/>
          </a:prstGeom>
          <a:noFill/>
          <a:ln/>
        </p:spPr>
        <p:txBody>
          <a:bodyPr wrap="square" lIns="0" tIns="0" rIns="0" bIns="0" rtlCol="0" anchor="ctr"/>
          <a:lstStyle/>
          <a:p>
            <a:r>
              <a:rPr lang="en-US" sz="825" dirty="0">
                <a:solidFill>
                  <a:srgbClr val="94A3B8"/>
                </a:solidFill>
                <a:latin typeface="Calibri" pitchFamily="34" charset="0"/>
                <a:ea typeface="Calibri" pitchFamily="34" charset="-122"/>
                <a:cs typeface="Calibri" pitchFamily="34" charset="-120"/>
              </a:rPr>
              <a:t>Cross-layer analysis | Ranked by moat strength, growth conviction, and competitive positioning</a:t>
            </a:r>
            <a:endParaRPr lang="en-US" sz="825" dirty="0"/>
          </a:p>
        </p:txBody>
      </p:sp>
      <p:sp>
        <p:nvSpPr>
          <p:cNvPr id="7" name="Text 5"/>
          <p:cNvSpPr/>
          <p:nvPr/>
        </p:nvSpPr>
        <p:spPr>
          <a:xfrm>
            <a:off x="240030" y="720090"/>
            <a:ext cx="8641080" cy="171450"/>
          </a:xfrm>
          <a:prstGeom prst="rect">
            <a:avLst/>
          </a:prstGeom>
          <a:noFill/>
          <a:ln/>
        </p:spPr>
        <p:txBody>
          <a:bodyPr wrap="square" lIns="0" tIns="0" rIns="0" bIns="0" rtlCol="0" anchor="ctr"/>
          <a:lstStyle/>
          <a:p>
            <a:r>
              <a:rPr lang="en-US" sz="675" i="1" dirty="0">
                <a:solidFill>
                  <a:srgbClr val="EF4444"/>
                </a:solidFill>
                <a:latin typeface="Calibri" pitchFamily="34" charset="0"/>
                <a:ea typeface="Calibri" pitchFamily="34" charset="-122"/>
                <a:cs typeface="Calibri" pitchFamily="34" charset="-120"/>
              </a:rPr>
              <a:t>Rankings reflect analytical conviction on competitive positioning — not a recommendation to buy or sell.</a:t>
            </a:r>
            <a:endParaRPr lang="en-US" sz="675" dirty="0"/>
          </a:p>
        </p:txBody>
      </p:sp>
      <p:sp>
        <p:nvSpPr>
          <p:cNvPr id="8" name="Shape 6"/>
          <p:cNvSpPr/>
          <p:nvPr/>
        </p:nvSpPr>
        <p:spPr>
          <a:xfrm>
            <a:off x="240030" y="925830"/>
            <a:ext cx="418338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9" name="Shape 7"/>
          <p:cNvSpPr/>
          <p:nvPr/>
        </p:nvSpPr>
        <p:spPr>
          <a:xfrm>
            <a:off x="322326" y="1008126"/>
            <a:ext cx="288036" cy="288036"/>
          </a:xfrm>
          <a:prstGeom prst="ellipse">
            <a:avLst/>
          </a:prstGeom>
          <a:solidFill>
            <a:srgbClr val="F5C842"/>
          </a:solidFill>
          <a:ln/>
        </p:spPr>
      </p:sp>
      <p:sp>
        <p:nvSpPr>
          <p:cNvPr id="10" name="Text 8"/>
          <p:cNvSpPr/>
          <p:nvPr/>
        </p:nvSpPr>
        <p:spPr>
          <a:xfrm>
            <a:off x="322326" y="1008126"/>
            <a:ext cx="288036" cy="288036"/>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#1</a:t>
            </a:r>
            <a:endParaRPr lang="en-US" sz="825" dirty="0"/>
          </a:p>
        </p:txBody>
      </p:sp>
      <p:sp>
        <p:nvSpPr>
          <p:cNvPr id="11" name="Text 9"/>
          <p:cNvSpPr/>
          <p:nvPr/>
        </p:nvSpPr>
        <p:spPr>
          <a:xfrm>
            <a:off x="685800" y="980694"/>
            <a:ext cx="685800" cy="240030"/>
          </a:xfrm>
          <a:prstGeom prst="rect">
            <a:avLst/>
          </a:prstGeom>
          <a:noFill/>
          <a:ln/>
        </p:spPr>
        <p:txBody>
          <a:bodyPr wrap="square" lIns="0" tIns="0" rIns="0" bIns="0" rtlCol="0" anchor="ctr"/>
          <a:lstStyle/>
          <a:p>
            <a:r>
              <a:rPr lang="en-US" sz="1125" b="1" dirty="0">
                <a:solidFill>
                  <a:srgbClr val="F5C842"/>
                </a:solidFill>
                <a:latin typeface="Cambria" pitchFamily="34" charset="0"/>
                <a:ea typeface="Cambria" pitchFamily="34" charset="-122"/>
                <a:cs typeface="Cambria" pitchFamily="34" charset="-120"/>
              </a:rPr>
              <a:t>NVDA</a:t>
            </a:r>
            <a:endParaRPr lang="en-US" sz="1125" dirty="0"/>
          </a:p>
        </p:txBody>
      </p:sp>
      <p:sp>
        <p:nvSpPr>
          <p:cNvPr id="12" name="Text 10"/>
          <p:cNvSpPr/>
          <p:nvPr/>
        </p:nvSpPr>
        <p:spPr>
          <a:xfrm>
            <a:off x="1351026" y="994410"/>
            <a:ext cx="1371600" cy="205740"/>
          </a:xfrm>
          <a:prstGeom prst="rect">
            <a:avLst/>
          </a:prstGeom>
          <a:noFill/>
          <a:ln/>
        </p:spPr>
        <p:txBody>
          <a:bodyPr wrap="square" lIns="0" tIns="0" rIns="0" bIns="0" rtlCol="0" anchor="ctr"/>
          <a:lstStyle/>
          <a:p>
            <a:r>
              <a:rPr lang="en-US" sz="675" dirty="0">
                <a:solidFill>
                  <a:srgbClr val="94A3B8"/>
                </a:solidFill>
                <a:latin typeface="Calibri" pitchFamily="34" charset="0"/>
                <a:ea typeface="Calibri" pitchFamily="34" charset="-122"/>
                <a:cs typeface="Calibri" pitchFamily="34" charset="-120"/>
              </a:rPr>
              <a:t>NVIDIA  |  Chips</a:t>
            </a:r>
            <a:endParaRPr lang="en-US" sz="675" dirty="0"/>
          </a:p>
        </p:txBody>
      </p:sp>
      <p:sp>
        <p:nvSpPr>
          <p:cNvPr id="13" name="Text 11"/>
          <p:cNvSpPr/>
          <p:nvPr/>
        </p:nvSpPr>
        <p:spPr>
          <a:xfrm>
            <a:off x="2674620" y="980694"/>
            <a:ext cx="1645920" cy="192024"/>
          </a:xfrm>
          <a:prstGeom prst="rect">
            <a:avLst/>
          </a:prstGeom>
          <a:noFill/>
          <a:ln/>
        </p:spPr>
        <p:txBody>
          <a:bodyPr wrap="square" lIns="0" tIns="0" rIns="0" bIns="0" rtlCol="0" anchor="ctr"/>
          <a:lstStyle/>
          <a:p>
            <a:pPr algn="r"/>
            <a:r>
              <a:rPr lang="en-US" sz="675" dirty="0">
                <a:solidFill>
                  <a:srgbClr val="F5C842"/>
                </a:solidFill>
                <a:latin typeface="Calibri" pitchFamily="34" charset="0"/>
                <a:ea typeface="Calibri" pitchFamily="34" charset="-122"/>
                <a:cs typeface="Calibri" pitchFamily="34" charset="-120"/>
              </a:rPr>
              <a:t>⭐⭐⭐⭐⭐</a:t>
            </a:r>
            <a:endParaRPr lang="en-US" sz="675" dirty="0"/>
          </a:p>
        </p:txBody>
      </p:sp>
      <p:sp>
        <p:nvSpPr>
          <p:cNvPr id="14" name="Text 12"/>
          <p:cNvSpPr/>
          <p:nvPr/>
        </p:nvSpPr>
        <p:spPr>
          <a:xfrm>
            <a:off x="342900" y="1248156"/>
            <a:ext cx="4011930" cy="37719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19-year CUDA moat. 80%+ AI market share. Blackwell sold out. FY26 $194B data center revenue. The defining company of the AI decade. Every dollar of AI flows through NVDA chips. Moat deepens each year.</a:t>
            </a:r>
            <a:endParaRPr lang="en-US" sz="600" dirty="0"/>
          </a:p>
        </p:txBody>
      </p:sp>
      <p:sp>
        <p:nvSpPr>
          <p:cNvPr id="15" name="Shape 13"/>
          <p:cNvSpPr/>
          <p:nvPr/>
        </p:nvSpPr>
        <p:spPr>
          <a:xfrm>
            <a:off x="240030" y="1728216"/>
            <a:ext cx="418338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16" name="Shape 14"/>
          <p:cNvSpPr/>
          <p:nvPr/>
        </p:nvSpPr>
        <p:spPr>
          <a:xfrm>
            <a:off x="322326" y="1810512"/>
            <a:ext cx="288036" cy="288036"/>
          </a:xfrm>
          <a:prstGeom prst="ellipse">
            <a:avLst/>
          </a:prstGeom>
          <a:solidFill>
            <a:srgbClr val="4F9CF9"/>
          </a:solidFill>
          <a:ln/>
        </p:spPr>
      </p:sp>
      <p:sp>
        <p:nvSpPr>
          <p:cNvPr id="17" name="Text 15"/>
          <p:cNvSpPr/>
          <p:nvPr/>
        </p:nvSpPr>
        <p:spPr>
          <a:xfrm>
            <a:off x="322326" y="1810512"/>
            <a:ext cx="288036" cy="288036"/>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#2</a:t>
            </a:r>
            <a:endParaRPr lang="en-US" sz="825" dirty="0"/>
          </a:p>
        </p:txBody>
      </p:sp>
      <p:sp>
        <p:nvSpPr>
          <p:cNvPr id="18" name="Text 16"/>
          <p:cNvSpPr/>
          <p:nvPr/>
        </p:nvSpPr>
        <p:spPr>
          <a:xfrm>
            <a:off x="685800" y="1783080"/>
            <a:ext cx="685800" cy="240030"/>
          </a:xfrm>
          <a:prstGeom prst="rect">
            <a:avLst/>
          </a:prstGeom>
          <a:noFill/>
          <a:ln/>
        </p:spPr>
        <p:txBody>
          <a:bodyPr wrap="square" lIns="0" tIns="0" rIns="0" bIns="0" rtlCol="0" anchor="ctr"/>
          <a:lstStyle/>
          <a:p>
            <a:r>
              <a:rPr lang="en-US" sz="1125" b="1" dirty="0">
                <a:solidFill>
                  <a:srgbClr val="4F9CF9"/>
                </a:solidFill>
                <a:latin typeface="Cambria" pitchFamily="34" charset="0"/>
                <a:ea typeface="Cambria" pitchFamily="34" charset="-122"/>
                <a:cs typeface="Cambria" pitchFamily="34" charset="-120"/>
              </a:rPr>
              <a:t>MSFT</a:t>
            </a:r>
            <a:endParaRPr lang="en-US" sz="1125" dirty="0"/>
          </a:p>
        </p:txBody>
      </p:sp>
      <p:sp>
        <p:nvSpPr>
          <p:cNvPr id="19" name="Text 17"/>
          <p:cNvSpPr/>
          <p:nvPr/>
        </p:nvSpPr>
        <p:spPr>
          <a:xfrm>
            <a:off x="1351026" y="1796796"/>
            <a:ext cx="1371600" cy="205740"/>
          </a:xfrm>
          <a:prstGeom prst="rect">
            <a:avLst/>
          </a:prstGeom>
          <a:noFill/>
          <a:ln/>
        </p:spPr>
        <p:txBody>
          <a:bodyPr wrap="square" lIns="0" tIns="0" rIns="0" bIns="0" rtlCol="0" anchor="ctr"/>
          <a:lstStyle/>
          <a:p>
            <a:r>
              <a:rPr lang="en-US" sz="675" dirty="0">
                <a:solidFill>
                  <a:srgbClr val="94A3B8"/>
                </a:solidFill>
                <a:latin typeface="Calibri" pitchFamily="34" charset="0"/>
                <a:ea typeface="Calibri" pitchFamily="34" charset="-122"/>
                <a:cs typeface="Calibri" pitchFamily="34" charset="-120"/>
              </a:rPr>
              <a:t>Microsoft  |  AI Models</a:t>
            </a:r>
            <a:endParaRPr lang="en-US" sz="675" dirty="0"/>
          </a:p>
        </p:txBody>
      </p:sp>
      <p:sp>
        <p:nvSpPr>
          <p:cNvPr id="20" name="Text 18"/>
          <p:cNvSpPr/>
          <p:nvPr/>
        </p:nvSpPr>
        <p:spPr>
          <a:xfrm>
            <a:off x="2674620" y="1783080"/>
            <a:ext cx="1645920" cy="192024"/>
          </a:xfrm>
          <a:prstGeom prst="rect">
            <a:avLst/>
          </a:prstGeom>
          <a:noFill/>
          <a:ln/>
        </p:spPr>
        <p:txBody>
          <a:bodyPr wrap="square" lIns="0" tIns="0" rIns="0" bIns="0" rtlCol="0" anchor="ctr"/>
          <a:lstStyle/>
          <a:p>
            <a:pPr algn="r"/>
            <a:r>
              <a:rPr lang="en-US" sz="675" dirty="0">
                <a:solidFill>
                  <a:srgbClr val="F5C842"/>
                </a:solidFill>
                <a:latin typeface="Calibri" pitchFamily="34" charset="0"/>
                <a:ea typeface="Calibri" pitchFamily="34" charset="-122"/>
                <a:cs typeface="Calibri" pitchFamily="34" charset="-120"/>
              </a:rPr>
              <a:t>⭐⭐⭐⭐⭐</a:t>
            </a:r>
            <a:endParaRPr lang="en-US" sz="675" dirty="0"/>
          </a:p>
        </p:txBody>
      </p:sp>
      <p:sp>
        <p:nvSpPr>
          <p:cNvPr id="21" name="Text 19"/>
          <p:cNvSpPr/>
          <p:nvPr/>
        </p:nvSpPr>
        <p:spPr>
          <a:xfrm>
            <a:off x="342900" y="2050542"/>
            <a:ext cx="4011930" cy="37719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OpenAI + Azure + 350M Copilot users. $13B AI ARR growing 175%. The best enterprise AI distribution platform. Every company will pay Microsoft to AI-enable its workflows.</a:t>
            </a:r>
            <a:endParaRPr lang="en-US" sz="600" dirty="0"/>
          </a:p>
        </p:txBody>
      </p:sp>
      <p:sp>
        <p:nvSpPr>
          <p:cNvPr id="22" name="Shape 20"/>
          <p:cNvSpPr/>
          <p:nvPr/>
        </p:nvSpPr>
        <p:spPr>
          <a:xfrm>
            <a:off x="240030" y="2530602"/>
            <a:ext cx="418338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23" name="Shape 21"/>
          <p:cNvSpPr/>
          <p:nvPr/>
        </p:nvSpPr>
        <p:spPr>
          <a:xfrm>
            <a:off x="322326" y="2612898"/>
            <a:ext cx="288036" cy="288036"/>
          </a:xfrm>
          <a:prstGeom prst="ellipse">
            <a:avLst/>
          </a:prstGeom>
          <a:solidFill>
            <a:srgbClr val="4F9CF9"/>
          </a:solidFill>
          <a:ln/>
        </p:spPr>
      </p:sp>
      <p:sp>
        <p:nvSpPr>
          <p:cNvPr id="24" name="Text 22"/>
          <p:cNvSpPr/>
          <p:nvPr/>
        </p:nvSpPr>
        <p:spPr>
          <a:xfrm>
            <a:off x="322326" y="2612898"/>
            <a:ext cx="288036" cy="288036"/>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#3</a:t>
            </a:r>
            <a:endParaRPr lang="en-US" sz="825" dirty="0"/>
          </a:p>
        </p:txBody>
      </p:sp>
      <p:sp>
        <p:nvSpPr>
          <p:cNvPr id="25" name="Text 23"/>
          <p:cNvSpPr/>
          <p:nvPr/>
        </p:nvSpPr>
        <p:spPr>
          <a:xfrm>
            <a:off x="685800" y="2585466"/>
            <a:ext cx="685800" cy="240030"/>
          </a:xfrm>
          <a:prstGeom prst="rect">
            <a:avLst/>
          </a:prstGeom>
          <a:noFill/>
          <a:ln/>
        </p:spPr>
        <p:txBody>
          <a:bodyPr wrap="square" lIns="0" tIns="0" rIns="0" bIns="0" rtlCol="0" anchor="ctr"/>
          <a:lstStyle/>
          <a:p>
            <a:r>
              <a:rPr lang="en-US" sz="1125" b="1" dirty="0">
                <a:solidFill>
                  <a:srgbClr val="4F9CF9"/>
                </a:solidFill>
                <a:latin typeface="Cambria" pitchFamily="34" charset="0"/>
                <a:ea typeface="Cambria" pitchFamily="34" charset="-122"/>
                <a:cs typeface="Cambria" pitchFamily="34" charset="-120"/>
              </a:rPr>
              <a:t>GOOGL</a:t>
            </a:r>
            <a:endParaRPr lang="en-US" sz="1125" dirty="0"/>
          </a:p>
        </p:txBody>
      </p:sp>
      <p:sp>
        <p:nvSpPr>
          <p:cNvPr id="26" name="Text 24"/>
          <p:cNvSpPr/>
          <p:nvPr/>
        </p:nvSpPr>
        <p:spPr>
          <a:xfrm>
            <a:off x="1351026" y="2599182"/>
            <a:ext cx="1371600" cy="205740"/>
          </a:xfrm>
          <a:prstGeom prst="rect">
            <a:avLst/>
          </a:prstGeom>
          <a:noFill/>
          <a:ln/>
        </p:spPr>
        <p:txBody>
          <a:bodyPr wrap="square" lIns="0" tIns="0" rIns="0" bIns="0" rtlCol="0" anchor="ctr"/>
          <a:lstStyle/>
          <a:p>
            <a:r>
              <a:rPr lang="en-US" sz="675" dirty="0">
                <a:solidFill>
                  <a:srgbClr val="94A3B8"/>
                </a:solidFill>
                <a:latin typeface="Calibri" pitchFamily="34" charset="0"/>
                <a:ea typeface="Calibri" pitchFamily="34" charset="-122"/>
                <a:cs typeface="Calibri" pitchFamily="34" charset="-120"/>
              </a:rPr>
              <a:t>Alphabet  |  AI Models</a:t>
            </a:r>
            <a:endParaRPr lang="en-US" sz="675" dirty="0"/>
          </a:p>
        </p:txBody>
      </p:sp>
      <p:sp>
        <p:nvSpPr>
          <p:cNvPr id="27" name="Text 25"/>
          <p:cNvSpPr/>
          <p:nvPr/>
        </p:nvSpPr>
        <p:spPr>
          <a:xfrm>
            <a:off x="2674620" y="2585466"/>
            <a:ext cx="1645920" cy="192024"/>
          </a:xfrm>
          <a:prstGeom prst="rect">
            <a:avLst/>
          </a:prstGeom>
          <a:noFill/>
          <a:ln/>
        </p:spPr>
        <p:txBody>
          <a:bodyPr wrap="square" lIns="0" tIns="0" rIns="0" bIns="0" rtlCol="0" anchor="ctr"/>
          <a:lstStyle/>
          <a:p>
            <a:pPr algn="r"/>
            <a:r>
              <a:rPr lang="en-US" sz="675" dirty="0">
                <a:solidFill>
                  <a:srgbClr val="F5C842"/>
                </a:solidFill>
                <a:latin typeface="Calibri" pitchFamily="34" charset="0"/>
                <a:ea typeface="Calibri" pitchFamily="34" charset="-122"/>
                <a:cs typeface="Calibri" pitchFamily="34" charset="-120"/>
              </a:rPr>
              <a:t>⭐⭐⭐⭐</a:t>
            </a:r>
            <a:endParaRPr lang="en-US" sz="675" dirty="0"/>
          </a:p>
        </p:txBody>
      </p:sp>
      <p:sp>
        <p:nvSpPr>
          <p:cNvPr id="28" name="Text 26"/>
          <p:cNvSpPr/>
          <p:nvPr/>
        </p:nvSpPr>
        <p:spPr>
          <a:xfrm>
            <a:off x="342900" y="2852928"/>
            <a:ext cx="4011930" cy="37719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Vertically integrated: own chips (TPU), own models (Gemini), own cloud (+48%). $460B cloud backlog doubling. The only company that can truly go end-to-end without external dependencies.</a:t>
            </a:r>
            <a:endParaRPr lang="en-US" sz="600" dirty="0"/>
          </a:p>
        </p:txBody>
      </p:sp>
      <p:sp>
        <p:nvSpPr>
          <p:cNvPr id="29" name="Shape 27"/>
          <p:cNvSpPr/>
          <p:nvPr/>
        </p:nvSpPr>
        <p:spPr>
          <a:xfrm>
            <a:off x="240030" y="3332988"/>
            <a:ext cx="418338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30" name="Shape 28"/>
          <p:cNvSpPr/>
          <p:nvPr/>
        </p:nvSpPr>
        <p:spPr>
          <a:xfrm>
            <a:off x="322326" y="3415284"/>
            <a:ext cx="288036" cy="288036"/>
          </a:xfrm>
          <a:prstGeom prst="ellipse">
            <a:avLst/>
          </a:prstGeom>
          <a:solidFill>
            <a:srgbClr val="A855F7"/>
          </a:solidFill>
          <a:ln/>
        </p:spPr>
      </p:sp>
      <p:sp>
        <p:nvSpPr>
          <p:cNvPr id="31" name="Text 29"/>
          <p:cNvSpPr/>
          <p:nvPr/>
        </p:nvSpPr>
        <p:spPr>
          <a:xfrm>
            <a:off x="322326" y="3415284"/>
            <a:ext cx="288036" cy="288036"/>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#4</a:t>
            </a:r>
            <a:endParaRPr lang="en-US" sz="825" dirty="0"/>
          </a:p>
        </p:txBody>
      </p:sp>
      <p:sp>
        <p:nvSpPr>
          <p:cNvPr id="32" name="Text 30"/>
          <p:cNvSpPr/>
          <p:nvPr/>
        </p:nvSpPr>
        <p:spPr>
          <a:xfrm>
            <a:off x="685800" y="3387852"/>
            <a:ext cx="685800" cy="240030"/>
          </a:xfrm>
          <a:prstGeom prst="rect">
            <a:avLst/>
          </a:prstGeom>
          <a:noFill/>
          <a:ln/>
        </p:spPr>
        <p:txBody>
          <a:bodyPr wrap="square" lIns="0" tIns="0" rIns="0" bIns="0" rtlCol="0" anchor="ctr"/>
          <a:lstStyle/>
          <a:p>
            <a:r>
              <a:rPr lang="en-US" sz="1125" b="1" dirty="0">
                <a:solidFill>
                  <a:srgbClr val="A855F7"/>
                </a:solidFill>
                <a:latin typeface="Cambria" pitchFamily="34" charset="0"/>
                <a:ea typeface="Cambria" pitchFamily="34" charset="-122"/>
                <a:cs typeface="Cambria" pitchFamily="34" charset="-120"/>
              </a:rPr>
              <a:t>TSM</a:t>
            </a:r>
            <a:endParaRPr lang="en-US" sz="1125" dirty="0"/>
          </a:p>
        </p:txBody>
      </p:sp>
      <p:sp>
        <p:nvSpPr>
          <p:cNvPr id="33" name="Text 31"/>
          <p:cNvSpPr/>
          <p:nvPr/>
        </p:nvSpPr>
        <p:spPr>
          <a:xfrm>
            <a:off x="1351026" y="3401568"/>
            <a:ext cx="1371600" cy="205740"/>
          </a:xfrm>
          <a:prstGeom prst="rect">
            <a:avLst/>
          </a:prstGeom>
          <a:noFill/>
          <a:ln/>
        </p:spPr>
        <p:txBody>
          <a:bodyPr wrap="square" lIns="0" tIns="0" rIns="0" bIns="0" rtlCol="0" anchor="ctr"/>
          <a:lstStyle/>
          <a:p>
            <a:r>
              <a:rPr lang="en-US" sz="675" dirty="0">
                <a:solidFill>
                  <a:srgbClr val="94A3B8"/>
                </a:solidFill>
                <a:latin typeface="Calibri" pitchFamily="34" charset="0"/>
                <a:ea typeface="Calibri" pitchFamily="34" charset="-122"/>
                <a:cs typeface="Calibri" pitchFamily="34" charset="-120"/>
              </a:rPr>
              <a:t>TSMC  |  Chips</a:t>
            </a:r>
            <a:endParaRPr lang="en-US" sz="675" dirty="0"/>
          </a:p>
        </p:txBody>
      </p:sp>
      <p:sp>
        <p:nvSpPr>
          <p:cNvPr id="34" name="Text 32"/>
          <p:cNvSpPr/>
          <p:nvPr/>
        </p:nvSpPr>
        <p:spPr>
          <a:xfrm>
            <a:off x="2674620" y="3387852"/>
            <a:ext cx="1645920" cy="192024"/>
          </a:xfrm>
          <a:prstGeom prst="rect">
            <a:avLst/>
          </a:prstGeom>
          <a:noFill/>
          <a:ln/>
        </p:spPr>
        <p:txBody>
          <a:bodyPr wrap="square" lIns="0" tIns="0" rIns="0" bIns="0" rtlCol="0" anchor="ctr"/>
          <a:lstStyle/>
          <a:p>
            <a:pPr algn="r"/>
            <a:r>
              <a:rPr lang="en-US" sz="675" dirty="0">
                <a:solidFill>
                  <a:srgbClr val="F5C842"/>
                </a:solidFill>
                <a:latin typeface="Calibri" pitchFamily="34" charset="0"/>
                <a:ea typeface="Calibri" pitchFamily="34" charset="-122"/>
                <a:cs typeface="Calibri" pitchFamily="34" charset="-120"/>
              </a:rPr>
              <a:t>⭐⭐⭐⭐</a:t>
            </a:r>
            <a:endParaRPr lang="en-US" sz="675" dirty="0"/>
          </a:p>
        </p:txBody>
      </p:sp>
      <p:sp>
        <p:nvSpPr>
          <p:cNvPr id="35" name="Text 33"/>
          <p:cNvSpPr/>
          <p:nvPr/>
        </p:nvSpPr>
        <p:spPr>
          <a:xfrm>
            <a:off x="342900" y="3655314"/>
            <a:ext cx="4011930" cy="37719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The only company that makes advanced AI chips. Every AI chip — NVDA, AMD, Apple, Google — runs through TSMC. Cannot be replicated for 10+ years. 30% revenue growth expected in 2026.</a:t>
            </a:r>
            <a:endParaRPr lang="en-US" sz="600" dirty="0"/>
          </a:p>
        </p:txBody>
      </p:sp>
      <p:sp>
        <p:nvSpPr>
          <p:cNvPr id="36" name="Shape 34"/>
          <p:cNvSpPr/>
          <p:nvPr/>
        </p:nvSpPr>
        <p:spPr>
          <a:xfrm>
            <a:off x="240030" y="4135374"/>
            <a:ext cx="418338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37" name="Shape 35"/>
          <p:cNvSpPr/>
          <p:nvPr/>
        </p:nvSpPr>
        <p:spPr>
          <a:xfrm>
            <a:off x="322326" y="4217670"/>
            <a:ext cx="288036" cy="288036"/>
          </a:xfrm>
          <a:prstGeom prst="ellipse">
            <a:avLst/>
          </a:prstGeom>
          <a:solidFill>
            <a:srgbClr val="22D3EE"/>
          </a:solidFill>
          <a:ln/>
        </p:spPr>
      </p:sp>
      <p:sp>
        <p:nvSpPr>
          <p:cNvPr id="38" name="Text 36"/>
          <p:cNvSpPr/>
          <p:nvPr/>
        </p:nvSpPr>
        <p:spPr>
          <a:xfrm>
            <a:off x="322326" y="4217670"/>
            <a:ext cx="288036" cy="288036"/>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#5</a:t>
            </a:r>
            <a:endParaRPr lang="en-US" sz="825" dirty="0"/>
          </a:p>
        </p:txBody>
      </p:sp>
      <p:sp>
        <p:nvSpPr>
          <p:cNvPr id="39" name="Text 37"/>
          <p:cNvSpPr/>
          <p:nvPr/>
        </p:nvSpPr>
        <p:spPr>
          <a:xfrm>
            <a:off x="685800" y="4190238"/>
            <a:ext cx="685800" cy="240030"/>
          </a:xfrm>
          <a:prstGeom prst="rect">
            <a:avLst/>
          </a:prstGeom>
          <a:noFill/>
          <a:ln/>
        </p:spPr>
        <p:txBody>
          <a:bodyPr wrap="square" lIns="0" tIns="0" rIns="0" bIns="0" rtlCol="0" anchor="ctr"/>
          <a:lstStyle/>
          <a:p>
            <a:r>
              <a:rPr lang="en-US" sz="1125" b="1" dirty="0">
                <a:solidFill>
                  <a:srgbClr val="22D3EE"/>
                </a:solidFill>
                <a:latin typeface="Cambria" pitchFamily="34" charset="0"/>
                <a:ea typeface="Cambria" pitchFamily="34" charset="-122"/>
                <a:cs typeface="Cambria" pitchFamily="34" charset="-120"/>
              </a:rPr>
              <a:t>CEG</a:t>
            </a:r>
            <a:endParaRPr lang="en-US" sz="1125" dirty="0"/>
          </a:p>
        </p:txBody>
      </p:sp>
      <p:sp>
        <p:nvSpPr>
          <p:cNvPr id="40" name="Text 38"/>
          <p:cNvSpPr/>
          <p:nvPr/>
        </p:nvSpPr>
        <p:spPr>
          <a:xfrm>
            <a:off x="1351026" y="4203954"/>
            <a:ext cx="1371600" cy="205740"/>
          </a:xfrm>
          <a:prstGeom prst="rect">
            <a:avLst/>
          </a:prstGeom>
          <a:noFill/>
          <a:ln/>
        </p:spPr>
        <p:txBody>
          <a:bodyPr wrap="square" lIns="0" tIns="0" rIns="0" bIns="0" rtlCol="0" anchor="ctr"/>
          <a:lstStyle/>
          <a:p>
            <a:r>
              <a:rPr lang="en-US" sz="675" dirty="0">
                <a:solidFill>
                  <a:srgbClr val="94A3B8"/>
                </a:solidFill>
                <a:latin typeface="Calibri" pitchFamily="34" charset="0"/>
                <a:ea typeface="Calibri" pitchFamily="34" charset="-122"/>
                <a:cs typeface="Calibri" pitchFamily="34" charset="-120"/>
              </a:rPr>
              <a:t>Constellation  |  Energy</a:t>
            </a:r>
            <a:endParaRPr lang="en-US" sz="675" dirty="0"/>
          </a:p>
        </p:txBody>
      </p:sp>
      <p:sp>
        <p:nvSpPr>
          <p:cNvPr id="41" name="Text 39"/>
          <p:cNvSpPr/>
          <p:nvPr/>
        </p:nvSpPr>
        <p:spPr>
          <a:xfrm>
            <a:off x="2674620" y="4190238"/>
            <a:ext cx="1645920" cy="192024"/>
          </a:xfrm>
          <a:prstGeom prst="rect">
            <a:avLst/>
          </a:prstGeom>
          <a:noFill/>
          <a:ln/>
        </p:spPr>
        <p:txBody>
          <a:bodyPr wrap="square" lIns="0" tIns="0" rIns="0" bIns="0" rtlCol="0" anchor="ctr"/>
          <a:lstStyle/>
          <a:p>
            <a:pPr algn="r"/>
            <a:r>
              <a:rPr lang="en-US" sz="675" dirty="0">
                <a:solidFill>
                  <a:srgbClr val="F5C842"/>
                </a:solidFill>
                <a:latin typeface="Calibri" pitchFamily="34" charset="0"/>
                <a:ea typeface="Calibri" pitchFamily="34" charset="-122"/>
                <a:cs typeface="Calibri" pitchFamily="34" charset="-120"/>
              </a:rPr>
              <a:t>⭐⭐⭐⭐</a:t>
            </a:r>
            <a:endParaRPr lang="en-US" sz="675" dirty="0"/>
          </a:p>
        </p:txBody>
      </p:sp>
      <p:sp>
        <p:nvSpPr>
          <p:cNvPr id="42" name="Text 40"/>
          <p:cNvSpPr/>
          <p:nvPr/>
        </p:nvSpPr>
        <p:spPr>
          <a:xfrm>
            <a:off x="342900" y="4457700"/>
            <a:ext cx="4011930" cy="37719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Nuclear is the only 24/7 carbon-free power source at scale. CEG has 21 nuclear plants and is the exclusive supplier of power to Microsoft's Three Mile Island restart. The power constraint is real.</a:t>
            </a:r>
            <a:endParaRPr lang="en-US" sz="600" dirty="0"/>
          </a:p>
        </p:txBody>
      </p:sp>
      <p:sp>
        <p:nvSpPr>
          <p:cNvPr id="43" name="Shape 41"/>
          <p:cNvSpPr/>
          <p:nvPr/>
        </p:nvSpPr>
        <p:spPr>
          <a:xfrm>
            <a:off x="4663440" y="925830"/>
            <a:ext cx="418338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44" name="Shape 42"/>
          <p:cNvSpPr/>
          <p:nvPr/>
        </p:nvSpPr>
        <p:spPr>
          <a:xfrm>
            <a:off x="4745736" y="1008126"/>
            <a:ext cx="288036" cy="288036"/>
          </a:xfrm>
          <a:prstGeom prst="ellipse">
            <a:avLst/>
          </a:prstGeom>
          <a:solidFill>
            <a:srgbClr val="A855F7"/>
          </a:solidFill>
          <a:ln/>
        </p:spPr>
      </p:sp>
      <p:sp>
        <p:nvSpPr>
          <p:cNvPr id="45" name="Text 43"/>
          <p:cNvSpPr/>
          <p:nvPr/>
        </p:nvSpPr>
        <p:spPr>
          <a:xfrm>
            <a:off x="4745736" y="1008126"/>
            <a:ext cx="288036" cy="288036"/>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#6</a:t>
            </a:r>
            <a:endParaRPr lang="en-US" sz="825" dirty="0"/>
          </a:p>
        </p:txBody>
      </p:sp>
      <p:sp>
        <p:nvSpPr>
          <p:cNvPr id="46" name="Text 44"/>
          <p:cNvSpPr/>
          <p:nvPr/>
        </p:nvSpPr>
        <p:spPr>
          <a:xfrm>
            <a:off x="5109210" y="980694"/>
            <a:ext cx="685800" cy="240030"/>
          </a:xfrm>
          <a:prstGeom prst="rect">
            <a:avLst/>
          </a:prstGeom>
          <a:noFill/>
          <a:ln/>
        </p:spPr>
        <p:txBody>
          <a:bodyPr wrap="square" lIns="0" tIns="0" rIns="0" bIns="0" rtlCol="0" anchor="ctr"/>
          <a:lstStyle/>
          <a:p>
            <a:r>
              <a:rPr lang="en-US" sz="1125" b="1" dirty="0">
                <a:solidFill>
                  <a:srgbClr val="A855F7"/>
                </a:solidFill>
                <a:latin typeface="Cambria" pitchFamily="34" charset="0"/>
                <a:ea typeface="Cambria" pitchFamily="34" charset="-122"/>
                <a:cs typeface="Cambria" pitchFamily="34" charset="-120"/>
              </a:rPr>
              <a:t>MU</a:t>
            </a:r>
            <a:endParaRPr lang="en-US" sz="1125" dirty="0"/>
          </a:p>
        </p:txBody>
      </p:sp>
      <p:sp>
        <p:nvSpPr>
          <p:cNvPr id="47" name="Text 45"/>
          <p:cNvSpPr/>
          <p:nvPr/>
        </p:nvSpPr>
        <p:spPr>
          <a:xfrm>
            <a:off x="5774436" y="994410"/>
            <a:ext cx="1371600" cy="205740"/>
          </a:xfrm>
          <a:prstGeom prst="rect">
            <a:avLst/>
          </a:prstGeom>
          <a:noFill/>
          <a:ln/>
        </p:spPr>
        <p:txBody>
          <a:bodyPr wrap="square" lIns="0" tIns="0" rIns="0" bIns="0" rtlCol="0" anchor="ctr"/>
          <a:lstStyle/>
          <a:p>
            <a:r>
              <a:rPr lang="en-US" sz="675" dirty="0">
                <a:solidFill>
                  <a:srgbClr val="94A3B8"/>
                </a:solidFill>
                <a:latin typeface="Calibri" pitchFamily="34" charset="0"/>
                <a:ea typeface="Calibri" pitchFamily="34" charset="-122"/>
                <a:cs typeface="Calibri" pitchFamily="34" charset="-120"/>
              </a:rPr>
              <a:t>Micron  |  Chips</a:t>
            </a:r>
            <a:endParaRPr lang="en-US" sz="675" dirty="0"/>
          </a:p>
        </p:txBody>
      </p:sp>
      <p:sp>
        <p:nvSpPr>
          <p:cNvPr id="48" name="Text 46"/>
          <p:cNvSpPr/>
          <p:nvPr/>
        </p:nvSpPr>
        <p:spPr>
          <a:xfrm>
            <a:off x="7098030" y="980694"/>
            <a:ext cx="1645920" cy="192024"/>
          </a:xfrm>
          <a:prstGeom prst="rect">
            <a:avLst/>
          </a:prstGeom>
          <a:noFill/>
          <a:ln/>
        </p:spPr>
        <p:txBody>
          <a:bodyPr wrap="square" lIns="0" tIns="0" rIns="0" bIns="0" rtlCol="0" anchor="ctr"/>
          <a:lstStyle/>
          <a:p>
            <a:pPr algn="r"/>
            <a:r>
              <a:rPr lang="en-US" sz="675" dirty="0">
                <a:solidFill>
                  <a:srgbClr val="F5C842"/>
                </a:solidFill>
                <a:latin typeface="Calibri" pitchFamily="34" charset="0"/>
                <a:ea typeface="Calibri" pitchFamily="34" charset="-122"/>
                <a:cs typeface="Calibri" pitchFamily="34" charset="-120"/>
              </a:rPr>
              <a:t>⭐⭐⭐⭐</a:t>
            </a:r>
            <a:endParaRPr lang="en-US" sz="675" dirty="0"/>
          </a:p>
        </p:txBody>
      </p:sp>
      <p:sp>
        <p:nvSpPr>
          <p:cNvPr id="49" name="Text 47"/>
          <p:cNvSpPr/>
          <p:nvPr/>
        </p:nvSpPr>
        <p:spPr>
          <a:xfrm>
            <a:off x="4766310" y="1248156"/>
            <a:ext cx="4011930" cy="37719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The hidden gem: HBM3E memory is inside every NVDA Blackwell GPU. Only US-based DRAM maker. FQ3 2026 revenue guided $33.5B at 81% gross margin. Structural US government backing.</a:t>
            </a:r>
            <a:endParaRPr lang="en-US" sz="600" dirty="0"/>
          </a:p>
        </p:txBody>
      </p:sp>
      <p:sp>
        <p:nvSpPr>
          <p:cNvPr id="50" name="Shape 48"/>
          <p:cNvSpPr/>
          <p:nvPr/>
        </p:nvSpPr>
        <p:spPr>
          <a:xfrm>
            <a:off x="4663440" y="1728216"/>
            <a:ext cx="418338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51" name="Shape 49"/>
          <p:cNvSpPr/>
          <p:nvPr/>
        </p:nvSpPr>
        <p:spPr>
          <a:xfrm>
            <a:off x="4745736" y="1810512"/>
            <a:ext cx="288036" cy="288036"/>
          </a:xfrm>
          <a:prstGeom prst="ellipse">
            <a:avLst/>
          </a:prstGeom>
          <a:solidFill>
            <a:srgbClr val="FB923C"/>
          </a:solidFill>
          <a:ln/>
        </p:spPr>
      </p:sp>
      <p:sp>
        <p:nvSpPr>
          <p:cNvPr id="52" name="Text 50"/>
          <p:cNvSpPr/>
          <p:nvPr/>
        </p:nvSpPr>
        <p:spPr>
          <a:xfrm>
            <a:off x="4745736" y="1810512"/>
            <a:ext cx="288036" cy="288036"/>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#7</a:t>
            </a:r>
            <a:endParaRPr lang="en-US" sz="825" dirty="0"/>
          </a:p>
        </p:txBody>
      </p:sp>
      <p:sp>
        <p:nvSpPr>
          <p:cNvPr id="53" name="Text 51"/>
          <p:cNvSpPr/>
          <p:nvPr/>
        </p:nvSpPr>
        <p:spPr>
          <a:xfrm>
            <a:off x="5109210" y="1783080"/>
            <a:ext cx="685800" cy="240030"/>
          </a:xfrm>
          <a:prstGeom prst="rect">
            <a:avLst/>
          </a:prstGeom>
          <a:noFill/>
          <a:ln/>
        </p:spPr>
        <p:txBody>
          <a:bodyPr wrap="square" lIns="0" tIns="0" rIns="0" bIns="0" rtlCol="0" anchor="ctr"/>
          <a:lstStyle/>
          <a:p>
            <a:r>
              <a:rPr lang="en-US" sz="1125" b="1" dirty="0">
                <a:solidFill>
                  <a:srgbClr val="FB923C"/>
                </a:solidFill>
                <a:latin typeface="Cambria" pitchFamily="34" charset="0"/>
                <a:ea typeface="Cambria" pitchFamily="34" charset="-122"/>
                <a:cs typeface="Cambria" pitchFamily="34" charset="-120"/>
              </a:rPr>
              <a:t>PLTR</a:t>
            </a:r>
            <a:endParaRPr lang="en-US" sz="1125" dirty="0"/>
          </a:p>
        </p:txBody>
      </p:sp>
      <p:sp>
        <p:nvSpPr>
          <p:cNvPr id="54" name="Text 52"/>
          <p:cNvSpPr/>
          <p:nvPr/>
        </p:nvSpPr>
        <p:spPr>
          <a:xfrm>
            <a:off x="5774436" y="1796796"/>
            <a:ext cx="1371600" cy="205740"/>
          </a:xfrm>
          <a:prstGeom prst="rect">
            <a:avLst/>
          </a:prstGeom>
          <a:noFill/>
          <a:ln/>
        </p:spPr>
        <p:txBody>
          <a:bodyPr wrap="square" lIns="0" tIns="0" rIns="0" bIns="0" rtlCol="0" anchor="ctr"/>
          <a:lstStyle/>
          <a:p>
            <a:r>
              <a:rPr lang="en-US" sz="675" dirty="0">
                <a:solidFill>
                  <a:srgbClr val="94A3B8"/>
                </a:solidFill>
                <a:latin typeface="Calibri" pitchFamily="34" charset="0"/>
                <a:ea typeface="Calibri" pitchFamily="34" charset="-122"/>
                <a:cs typeface="Calibri" pitchFamily="34" charset="-120"/>
              </a:rPr>
              <a:t>Palantir  |  Apps</a:t>
            </a:r>
            <a:endParaRPr lang="en-US" sz="675" dirty="0"/>
          </a:p>
        </p:txBody>
      </p:sp>
      <p:sp>
        <p:nvSpPr>
          <p:cNvPr id="55" name="Text 53"/>
          <p:cNvSpPr/>
          <p:nvPr/>
        </p:nvSpPr>
        <p:spPr>
          <a:xfrm>
            <a:off x="7098030" y="1783080"/>
            <a:ext cx="1645920" cy="192024"/>
          </a:xfrm>
          <a:prstGeom prst="rect">
            <a:avLst/>
          </a:prstGeom>
          <a:noFill/>
          <a:ln/>
        </p:spPr>
        <p:txBody>
          <a:bodyPr wrap="square" lIns="0" tIns="0" rIns="0" bIns="0" rtlCol="0" anchor="ctr"/>
          <a:lstStyle/>
          <a:p>
            <a:pPr algn="r"/>
            <a:r>
              <a:rPr lang="en-US" sz="675" dirty="0">
                <a:solidFill>
                  <a:srgbClr val="F5C842"/>
                </a:solidFill>
                <a:latin typeface="Calibri" pitchFamily="34" charset="0"/>
                <a:ea typeface="Calibri" pitchFamily="34" charset="-122"/>
                <a:cs typeface="Calibri" pitchFamily="34" charset="-120"/>
              </a:rPr>
              <a:t>⭐⭐⭐</a:t>
            </a:r>
            <a:endParaRPr lang="en-US" sz="675" dirty="0"/>
          </a:p>
        </p:txBody>
      </p:sp>
      <p:sp>
        <p:nvSpPr>
          <p:cNvPr id="56" name="Text 54"/>
          <p:cNvSpPr/>
          <p:nvPr/>
        </p:nvSpPr>
        <p:spPr>
          <a:xfrm>
            <a:off x="4766310" y="2050542"/>
            <a:ext cx="4011930" cy="37719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AIP is the only enterprise platform that turns frontier AI into operational decisions. 85% YoY revenue growth. $11.8B RPV. US Commercial +121%. The application layer dark horse with a real product moat.</a:t>
            </a:r>
            <a:endParaRPr lang="en-US" sz="600" dirty="0"/>
          </a:p>
        </p:txBody>
      </p:sp>
      <p:sp>
        <p:nvSpPr>
          <p:cNvPr id="57" name="Shape 55"/>
          <p:cNvSpPr/>
          <p:nvPr/>
        </p:nvSpPr>
        <p:spPr>
          <a:xfrm>
            <a:off x="4663440" y="2530602"/>
            <a:ext cx="418338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58" name="Shape 56"/>
          <p:cNvSpPr/>
          <p:nvPr/>
        </p:nvSpPr>
        <p:spPr>
          <a:xfrm>
            <a:off x="4745736" y="2612898"/>
            <a:ext cx="288036" cy="288036"/>
          </a:xfrm>
          <a:prstGeom prst="ellipse">
            <a:avLst/>
          </a:prstGeom>
          <a:solidFill>
            <a:srgbClr val="34D399"/>
          </a:solidFill>
          <a:ln/>
        </p:spPr>
      </p:sp>
      <p:sp>
        <p:nvSpPr>
          <p:cNvPr id="59" name="Text 57"/>
          <p:cNvSpPr/>
          <p:nvPr/>
        </p:nvSpPr>
        <p:spPr>
          <a:xfrm>
            <a:off x="4745736" y="2612898"/>
            <a:ext cx="288036" cy="288036"/>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#8</a:t>
            </a:r>
            <a:endParaRPr lang="en-US" sz="825" dirty="0"/>
          </a:p>
        </p:txBody>
      </p:sp>
      <p:sp>
        <p:nvSpPr>
          <p:cNvPr id="60" name="Text 58"/>
          <p:cNvSpPr/>
          <p:nvPr/>
        </p:nvSpPr>
        <p:spPr>
          <a:xfrm>
            <a:off x="5109210" y="2585466"/>
            <a:ext cx="685800" cy="240030"/>
          </a:xfrm>
          <a:prstGeom prst="rect">
            <a:avLst/>
          </a:prstGeom>
          <a:noFill/>
          <a:ln/>
        </p:spPr>
        <p:txBody>
          <a:bodyPr wrap="square" lIns="0" tIns="0" rIns="0" bIns="0" rtlCol="0" anchor="ctr"/>
          <a:lstStyle/>
          <a:p>
            <a:r>
              <a:rPr lang="en-US" sz="1125" b="1" dirty="0">
                <a:solidFill>
                  <a:srgbClr val="34D399"/>
                </a:solidFill>
                <a:latin typeface="Cambria" pitchFamily="34" charset="0"/>
                <a:ea typeface="Cambria" pitchFamily="34" charset="-122"/>
                <a:cs typeface="Cambria" pitchFamily="34" charset="-120"/>
              </a:rPr>
              <a:t>CRWV</a:t>
            </a:r>
            <a:endParaRPr lang="en-US" sz="1125" dirty="0"/>
          </a:p>
        </p:txBody>
      </p:sp>
      <p:sp>
        <p:nvSpPr>
          <p:cNvPr id="61" name="Text 59"/>
          <p:cNvSpPr/>
          <p:nvPr/>
        </p:nvSpPr>
        <p:spPr>
          <a:xfrm>
            <a:off x="5774436" y="2599182"/>
            <a:ext cx="1371600" cy="205740"/>
          </a:xfrm>
          <a:prstGeom prst="rect">
            <a:avLst/>
          </a:prstGeom>
          <a:noFill/>
          <a:ln/>
        </p:spPr>
        <p:txBody>
          <a:bodyPr wrap="square" lIns="0" tIns="0" rIns="0" bIns="0" rtlCol="0" anchor="ctr"/>
          <a:lstStyle/>
          <a:p>
            <a:r>
              <a:rPr lang="en-US" sz="675" dirty="0">
                <a:solidFill>
                  <a:srgbClr val="94A3B8"/>
                </a:solidFill>
                <a:latin typeface="Calibri" pitchFamily="34" charset="0"/>
                <a:ea typeface="Calibri" pitchFamily="34" charset="-122"/>
                <a:cs typeface="Calibri" pitchFamily="34" charset="-120"/>
              </a:rPr>
              <a:t>CoreWeave  |  Cloud/DC</a:t>
            </a:r>
            <a:endParaRPr lang="en-US" sz="675" dirty="0"/>
          </a:p>
        </p:txBody>
      </p:sp>
      <p:sp>
        <p:nvSpPr>
          <p:cNvPr id="62" name="Text 60"/>
          <p:cNvSpPr/>
          <p:nvPr/>
        </p:nvSpPr>
        <p:spPr>
          <a:xfrm>
            <a:off x="7098030" y="2585466"/>
            <a:ext cx="1645920" cy="192024"/>
          </a:xfrm>
          <a:prstGeom prst="rect">
            <a:avLst/>
          </a:prstGeom>
          <a:noFill/>
          <a:ln/>
        </p:spPr>
        <p:txBody>
          <a:bodyPr wrap="square" lIns="0" tIns="0" rIns="0" bIns="0" rtlCol="0" anchor="ctr"/>
          <a:lstStyle/>
          <a:p>
            <a:pPr algn="r"/>
            <a:r>
              <a:rPr lang="en-US" sz="675" dirty="0">
                <a:solidFill>
                  <a:srgbClr val="F5C842"/>
                </a:solidFill>
                <a:latin typeface="Calibri" pitchFamily="34" charset="0"/>
                <a:ea typeface="Calibri" pitchFamily="34" charset="-122"/>
                <a:cs typeface="Calibri" pitchFamily="34" charset="-120"/>
              </a:rPr>
              <a:t>⭐⭐⭐</a:t>
            </a:r>
            <a:endParaRPr lang="en-US" sz="675" dirty="0"/>
          </a:p>
        </p:txBody>
      </p:sp>
      <p:sp>
        <p:nvSpPr>
          <p:cNvPr id="63" name="Text 61"/>
          <p:cNvSpPr/>
          <p:nvPr/>
        </p:nvSpPr>
        <p:spPr>
          <a:xfrm>
            <a:off x="4766310" y="2852928"/>
            <a:ext cx="4011930" cy="37719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$55B backlog. OpenAI + Meta tenants. Capacity sold out 2026. The GPU cloud blueprint. High conviction on demand, high risk on leverage (4.8x D/E). The dominant neocloud.</a:t>
            </a:r>
            <a:endParaRPr lang="en-US" sz="600" dirty="0"/>
          </a:p>
        </p:txBody>
      </p:sp>
      <p:sp>
        <p:nvSpPr>
          <p:cNvPr id="64" name="Shape 62"/>
          <p:cNvSpPr/>
          <p:nvPr/>
        </p:nvSpPr>
        <p:spPr>
          <a:xfrm>
            <a:off x="4663440" y="3332988"/>
            <a:ext cx="418338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65" name="Shape 63"/>
          <p:cNvSpPr/>
          <p:nvPr/>
        </p:nvSpPr>
        <p:spPr>
          <a:xfrm>
            <a:off x="4745736" y="3415284"/>
            <a:ext cx="288036" cy="288036"/>
          </a:xfrm>
          <a:prstGeom prst="ellipse">
            <a:avLst/>
          </a:prstGeom>
          <a:solidFill>
            <a:srgbClr val="F472B6"/>
          </a:solidFill>
          <a:ln/>
        </p:spPr>
      </p:sp>
      <p:sp>
        <p:nvSpPr>
          <p:cNvPr id="66" name="Text 64"/>
          <p:cNvSpPr/>
          <p:nvPr/>
        </p:nvSpPr>
        <p:spPr>
          <a:xfrm>
            <a:off x="4745736" y="3415284"/>
            <a:ext cx="288036" cy="288036"/>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#9</a:t>
            </a:r>
            <a:endParaRPr lang="en-US" sz="825" dirty="0"/>
          </a:p>
        </p:txBody>
      </p:sp>
      <p:sp>
        <p:nvSpPr>
          <p:cNvPr id="67" name="Text 65"/>
          <p:cNvSpPr/>
          <p:nvPr/>
        </p:nvSpPr>
        <p:spPr>
          <a:xfrm>
            <a:off x="5109210" y="3387852"/>
            <a:ext cx="685800" cy="240030"/>
          </a:xfrm>
          <a:prstGeom prst="rect">
            <a:avLst/>
          </a:prstGeom>
          <a:noFill/>
          <a:ln/>
        </p:spPr>
        <p:txBody>
          <a:bodyPr wrap="square" lIns="0" tIns="0" rIns="0" bIns="0" rtlCol="0" anchor="ctr"/>
          <a:lstStyle/>
          <a:p>
            <a:r>
              <a:rPr lang="en-US" sz="1125" b="1" dirty="0">
                <a:solidFill>
                  <a:srgbClr val="F472B6"/>
                </a:solidFill>
                <a:latin typeface="Cambria" pitchFamily="34" charset="0"/>
                <a:ea typeface="Cambria" pitchFamily="34" charset="-122"/>
                <a:cs typeface="Cambria" pitchFamily="34" charset="-120"/>
              </a:rPr>
              <a:t>META</a:t>
            </a:r>
            <a:endParaRPr lang="en-US" sz="1125" dirty="0"/>
          </a:p>
        </p:txBody>
      </p:sp>
      <p:sp>
        <p:nvSpPr>
          <p:cNvPr id="68" name="Text 66"/>
          <p:cNvSpPr/>
          <p:nvPr/>
        </p:nvSpPr>
        <p:spPr>
          <a:xfrm>
            <a:off x="5774436" y="3401568"/>
            <a:ext cx="1371600" cy="205740"/>
          </a:xfrm>
          <a:prstGeom prst="rect">
            <a:avLst/>
          </a:prstGeom>
          <a:noFill/>
          <a:ln/>
        </p:spPr>
        <p:txBody>
          <a:bodyPr wrap="square" lIns="0" tIns="0" rIns="0" bIns="0" rtlCol="0" anchor="ctr"/>
          <a:lstStyle/>
          <a:p>
            <a:r>
              <a:rPr lang="en-US" sz="675" dirty="0">
                <a:solidFill>
                  <a:srgbClr val="94A3B8"/>
                </a:solidFill>
                <a:latin typeface="Calibri" pitchFamily="34" charset="0"/>
                <a:ea typeface="Calibri" pitchFamily="34" charset="-122"/>
                <a:cs typeface="Calibri" pitchFamily="34" charset="-120"/>
              </a:rPr>
              <a:t>Meta  |  AI Models</a:t>
            </a:r>
            <a:endParaRPr lang="en-US" sz="675" dirty="0"/>
          </a:p>
        </p:txBody>
      </p:sp>
      <p:sp>
        <p:nvSpPr>
          <p:cNvPr id="69" name="Text 67"/>
          <p:cNvSpPr/>
          <p:nvPr/>
        </p:nvSpPr>
        <p:spPr>
          <a:xfrm>
            <a:off x="7098030" y="3387852"/>
            <a:ext cx="1645920" cy="192024"/>
          </a:xfrm>
          <a:prstGeom prst="rect">
            <a:avLst/>
          </a:prstGeom>
          <a:noFill/>
          <a:ln/>
        </p:spPr>
        <p:txBody>
          <a:bodyPr wrap="square" lIns="0" tIns="0" rIns="0" bIns="0" rtlCol="0" anchor="ctr"/>
          <a:lstStyle/>
          <a:p>
            <a:pPr algn="r"/>
            <a:r>
              <a:rPr lang="en-US" sz="675" dirty="0">
                <a:solidFill>
                  <a:srgbClr val="F5C842"/>
                </a:solidFill>
                <a:latin typeface="Calibri" pitchFamily="34" charset="0"/>
                <a:ea typeface="Calibri" pitchFamily="34" charset="-122"/>
                <a:cs typeface="Calibri" pitchFamily="34" charset="-120"/>
              </a:rPr>
              <a:t>⭐⭐⭐</a:t>
            </a:r>
            <a:endParaRPr lang="en-US" sz="675" dirty="0"/>
          </a:p>
        </p:txBody>
      </p:sp>
      <p:sp>
        <p:nvSpPr>
          <p:cNvPr id="70" name="Text 68"/>
          <p:cNvSpPr/>
          <p:nvPr/>
        </p:nvSpPr>
        <p:spPr>
          <a:xfrm>
            <a:off x="4766310" y="3655314"/>
            <a:ext cx="4011930" cy="37719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Llama open-source ecosystem + 3.3B users + AI-enhanced ads. The social AI bet. Optimus alternative: Meta glasses. Long-duration play on AI commoditization driving Meta distribution.</a:t>
            </a:r>
            <a:endParaRPr lang="en-US" sz="600" dirty="0"/>
          </a:p>
        </p:txBody>
      </p:sp>
      <p:sp>
        <p:nvSpPr>
          <p:cNvPr id="71" name="Shape 69"/>
          <p:cNvSpPr/>
          <p:nvPr/>
        </p:nvSpPr>
        <p:spPr>
          <a:xfrm>
            <a:off x="4663440" y="4135374"/>
            <a:ext cx="4183380" cy="740664"/>
          </a:xfrm>
          <a:prstGeom prst="roundRect">
            <a:avLst>
              <a:gd name="adj" fmla="val 7407"/>
            </a:avLst>
          </a:prstGeom>
          <a:solidFill>
            <a:srgbClr val="131F35"/>
          </a:solidFill>
          <a:ln/>
          <a:effectLst>
            <a:outerShdw blurRad="127000" dist="38100" dir="2700000" algn="bl" rotWithShape="0">
              <a:srgbClr val="000000">
                <a:alpha val="30000"/>
              </a:srgbClr>
            </a:outerShdw>
          </a:effectLst>
        </p:spPr>
      </p:sp>
      <p:sp>
        <p:nvSpPr>
          <p:cNvPr id="72" name="Shape 70"/>
          <p:cNvSpPr/>
          <p:nvPr/>
        </p:nvSpPr>
        <p:spPr>
          <a:xfrm>
            <a:off x="4745736" y="4217670"/>
            <a:ext cx="288036" cy="288036"/>
          </a:xfrm>
          <a:prstGeom prst="ellipse">
            <a:avLst/>
          </a:prstGeom>
          <a:solidFill>
            <a:srgbClr val="F472B6"/>
          </a:solidFill>
          <a:ln/>
        </p:spPr>
      </p:sp>
      <p:sp>
        <p:nvSpPr>
          <p:cNvPr id="73" name="Text 71"/>
          <p:cNvSpPr/>
          <p:nvPr/>
        </p:nvSpPr>
        <p:spPr>
          <a:xfrm>
            <a:off x="4745736" y="4217670"/>
            <a:ext cx="288036" cy="288036"/>
          </a:xfrm>
          <a:prstGeom prst="rect">
            <a:avLst/>
          </a:prstGeom>
          <a:noFill/>
          <a:ln/>
        </p:spPr>
        <p:txBody>
          <a:bodyPr wrap="square" lIns="0" tIns="0" rIns="0" bIns="0" rtlCol="0" anchor="ctr"/>
          <a:lstStyle/>
          <a:p>
            <a:pPr algn="ctr"/>
            <a:r>
              <a:rPr lang="en-US" sz="825" b="1" dirty="0">
                <a:solidFill>
                  <a:srgbClr val="000000"/>
                </a:solidFill>
                <a:latin typeface="Calibri" pitchFamily="34" charset="0"/>
                <a:ea typeface="Calibri" pitchFamily="34" charset="-122"/>
                <a:cs typeface="Calibri" pitchFamily="34" charset="-120"/>
              </a:rPr>
              <a:t>#10</a:t>
            </a:r>
            <a:endParaRPr lang="en-US" sz="825" dirty="0"/>
          </a:p>
        </p:txBody>
      </p:sp>
      <p:sp>
        <p:nvSpPr>
          <p:cNvPr id="74" name="Text 72"/>
          <p:cNvSpPr/>
          <p:nvPr/>
        </p:nvSpPr>
        <p:spPr>
          <a:xfrm>
            <a:off x="5109210" y="4190238"/>
            <a:ext cx="685800" cy="240030"/>
          </a:xfrm>
          <a:prstGeom prst="rect">
            <a:avLst/>
          </a:prstGeom>
          <a:noFill/>
          <a:ln/>
        </p:spPr>
        <p:txBody>
          <a:bodyPr wrap="square" lIns="0" tIns="0" rIns="0" bIns="0" rtlCol="0" anchor="ctr"/>
          <a:lstStyle/>
          <a:p>
            <a:r>
              <a:rPr lang="en-US" sz="1125" b="1" dirty="0">
                <a:solidFill>
                  <a:srgbClr val="F472B6"/>
                </a:solidFill>
                <a:latin typeface="Cambria" pitchFamily="34" charset="0"/>
                <a:ea typeface="Cambria" pitchFamily="34" charset="-122"/>
                <a:cs typeface="Cambria" pitchFamily="34" charset="-120"/>
              </a:rPr>
              <a:t>AMZN</a:t>
            </a:r>
            <a:endParaRPr lang="en-US" sz="1125" dirty="0"/>
          </a:p>
        </p:txBody>
      </p:sp>
      <p:sp>
        <p:nvSpPr>
          <p:cNvPr id="75" name="Text 73"/>
          <p:cNvSpPr/>
          <p:nvPr/>
        </p:nvSpPr>
        <p:spPr>
          <a:xfrm>
            <a:off x="5774436" y="4203954"/>
            <a:ext cx="1371600" cy="205740"/>
          </a:xfrm>
          <a:prstGeom prst="rect">
            <a:avLst/>
          </a:prstGeom>
          <a:noFill/>
          <a:ln/>
        </p:spPr>
        <p:txBody>
          <a:bodyPr wrap="square" lIns="0" tIns="0" rIns="0" bIns="0" rtlCol="0" anchor="ctr"/>
          <a:lstStyle/>
          <a:p>
            <a:r>
              <a:rPr lang="en-US" sz="675" dirty="0">
                <a:solidFill>
                  <a:srgbClr val="94A3B8"/>
                </a:solidFill>
                <a:latin typeface="Calibri" pitchFamily="34" charset="0"/>
                <a:ea typeface="Calibri" pitchFamily="34" charset="-122"/>
                <a:cs typeface="Calibri" pitchFamily="34" charset="-120"/>
              </a:rPr>
              <a:t>Amazon  |  AI Models</a:t>
            </a:r>
            <a:endParaRPr lang="en-US" sz="675" dirty="0"/>
          </a:p>
        </p:txBody>
      </p:sp>
      <p:sp>
        <p:nvSpPr>
          <p:cNvPr id="76" name="Text 74"/>
          <p:cNvSpPr/>
          <p:nvPr/>
        </p:nvSpPr>
        <p:spPr>
          <a:xfrm>
            <a:off x="7098030" y="4190238"/>
            <a:ext cx="1645920" cy="192024"/>
          </a:xfrm>
          <a:prstGeom prst="rect">
            <a:avLst/>
          </a:prstGeom>
          <a:noFill/>
          <a:ln/>
        </p:spPr>
        <p:txBody>
          <a:bodyPr wrap="square" lIns="0" tIns="0" rIns="0" bIns="0" rtlCol="0" anchor="ctr"/>
          <a:lstStyle/>
          <a:p>
            <a:pPr algn="r"/>
            <a:r>
              <a:rPr lang="en-US" sz="675" dirty="0">
                <a:solidFill>
                  <a:srgbClr val="F5C842"/>
                </a:solidFill>
                <a:latin typeface="Calibri" pitchFamily="34" charset="0"/>
                <a:ea typeface="Calibri" pitchFamily="34" charset="-122"/>
                <a:cs typeface="Calibri" pitchFamily="34" charset="-120"/>
              </a:rPr>
              <a:t>⭐⭐⭐</a:t>
            </a:r>
            <a:endParaRPr lang="en-US" sz="675" dirty="0"/>
          </a:p>
        </p:txBody>
      </p:sp>
      <p:sp>
        <p:nvSpPr>
          <p:cNvPr id="77" name="Text 75"/>
          <p:cNvSpPr/>
          <p:nvPr/>
        </p:nvSpPr>
        <p:spPr>
          <a:xfrm>
            <a:off x="4766310" y="4457700"/>
            <a:ext cx="4011930" cy="377190"/>
          </a:xfrm>
          <a:prstGeom prst="rect">
            <a:avLst/>
          </a:prstGeom>
          <a:noFill/>
          <a:ln/>
        </p:spPr>
        <p:txBody>
          <a:bodyPr wrap="square" lIns="0" tIns="0" rIns="0" bIns="0" rtlCol="0" anchor="ctr"/>
          <a:lstStyle/>
          <a:p>
            <a:r>
              <a:rPr lang="en-US" sz="600" dirty="0">
                <a:solidFill>
                  <a:srgbClr val="E2E8F0"/>
                </a:solidFill>
                <a:latin typeface="Calibri" pitchFamily="34" charset="0"/>
                <a:ea typeface="Calibri" pitchFamily="34" charset="-122"/>
                <a:cs typeface="Calibri" pitchFamily="34" charset="-120"/>
              </a:rPr>
              <a:t>AWS #1 cloud, $200B 2026 capex, Bedrock multi-model platform. Solid but lacks a clear frontier model. The AI strategy is pragmatic but may cede positioning to MSFT/GOOGL in the model layer.</a:t>
            </a:r>
            <a:endParaRPr lang="en-US" sz="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651510"/>
          </a:xfrm>
          <a:prstGeom prst="rect">
            <a:avLst/>
          </a:prstGeom>
          <a:solidFill>
            <a:srgbClr val="101828"/>
          </a:solidFill>
          <a:ln/>
        </p:spPr>
      </p:sp>
      <p:sp>
        <p:nvSpPr>
          <p:cNvPr id="3" name="Text 1"/>
          <p:cNvSpPr/>
          <p:nvPr/>
        </p:nvSpPr>
        <p:spPr>
          <a:xfrm>
            <a:off x="240030" y="54864"/>
            <a:ext cx="6172200" cy="514350"/>
          </a:xfrm>
          <a:prstGeom prst="rect">
            <a:avLst/>
          </a:prstGeom>
          <a:noFill/>
          <a:ln/>
        </p:spPr>
        <p:txBody>
          <a:bodyPr wrap="square" lIns="0" tIns="0" rIns="0" bIns="0" rtlCol="0" anchor="ctr"/>
          <a:lstStyle/>
          <a:p>
            <a:r>
              <a:rPr lang="en-US" sz="1650" b="1" dirty="0">
                <a:solidFill>
                  <a:srgbClr val="EF4444"/>
                </a:solidFill>
                <a:latin typeface="Calibri" pitchFamily="34" charset="0"/>
                <a:ea typeface="Calibri" pitchFamily="34" charset="-122"/>
                <a:cs typeface="Calibri" pitchFamily="34" charset="-120"/>
              </a:rPr>
              <a:t>KEY RISKS &amp; MONITORING FRAMEWORK</a:t>
            </a:r>
            <a:endParaRPr lang="en-US" sz="1650" dirty="0"/>
          </a:p>
        </p:txBody>
      </p:sp>
      <p:sp>
        <p:nvSpPr>
          <p:cNvPr id="4" name="Text 2"/>
          <p:cNvSpPr/>
          <p:nvPr/>
        </p:nvSpPr>
        <p:spPr>
          <a:xfrm>
            <a:off x="240030" y="377190"/>
            <a:ext cx="8229600" cy="260604"/>
          </a:xfrm>
          <a:prstGeom prst="rect">
            <a:avLst/>
          </a:prstGeom>
          <a:noFill/>
          <a:ln/>
        </p:spPr>
        <p:txBody>
          <a:bodyPr wrap="square" lIns="0" tIns="0" rIns="0" bIns="0" rtlCol="0" anchor="ctr"/>
          <a:lstStyle/>
          <a:p>
            <a:r>
              <a:rPr lang="en-US" sz="825" dirty="0">
                <a:solidFill>
                  <a:srgbClr val="94A3B8"/>
                </a:solidFill>
                <a:latin typeface="Calibri" pitchFamily="34" charset="0"/>
                <a:ea typeface="Calibri" pitchFamily="34" charset="-122"/>
                <a:cs typeface="Calibri" pitchFamily="34" charset="-120"/>
              </a:rPr>
              <a:t>What could derail the AI supercycle | What to watch each quarter</a:t>
            </a:r>
            <a:endParaRPr lang="en-US" sz="825" dirty="0"/>
          </a:p>
        </p:txBody>
      </p:sp>
      <p:sp>
        <p:nvSpPr>
          <p:cNvPr id="7" name="Shape 5"/>
          <p:cNvSpPr/>
          <p:nvPr/>
        </p:nvSpPr>
        <p:spPr>
          <a:xfrm>
            <a:off x="240030" y="740664"/>
            <a:ext cx="4183380" cy="877824"/>
          </a:xfrm>
          <a:prstGeom prst="roundRect">
            <a:avLst>
              <a:gd name="adj" fmla="val 6250"/>
            </a:avLst>
          </a:prstGeom>
          <a:solidFill>
            <a:srgbClr val="131F35"/>
          </a:solidFill>
          <a:ln/>
          <a:effectLst>
            <a:outerShdw blurRad="127000" dist="38100" dir="2700000" algn="bl" rotWithShape="0">
              <a:srgbClr val="000000">
                <a:alpha val="30000"/>
              </a:srgbClr>
            </a:outerShdw>
          </a:effectLst>
        </p:spPr>
      </p:sp>
      <p:sp>
        <p:nvSpPr>
          <p:cNvPr id="8" name="Shape 6"/>
          <p:cNvSpPr/>
          <p:nvPr/>
        </p:nvSpPr>
        <p:spPr>
          <a:xfrm>
            <a:off x="240030" y="740664"/>
            <a:ext cx="123444" cy="877824"/>
          </a:xfrm>
          <a:prstGeom prst="roundRect">
            <a:avLst/>
          </a:prstGeom>
          <a:solidFill>
            <a:srgbClr val="EF4444"/>
          </a:solidFill>
          <a:ln/>
        </p:spPr>
      </p:sp>
      <p:sp>
        <p:nvSpPr>
          <p:cNvPr id="9" name="Text 7"/>
          <p:cNvSpPr/>
          <p:nvPr/>
        </p:nvSpPr>
        <p:spPr>
          <a:xfrm>
            <a:off x="432054" y="809244"/>
            <a:ext cx="3874770" cy="219456"/>
          </a:xfrm>
          <a:prstGeom prst="rect">
            <a:avLst/>
          </a:prstGeom>
          <a:noFill/>
          <a:ln/>
        </p:spPr>
        <p:txBody>
          <a:bodyPr wrap="square" lIns="0" tIns="0" rIns="0" bIns="0" rtlCol="0" anchor="ctr"/>
          <a:lstStyle/>
          <a:p>
            <a:r>
              <a:rPr lang="en-US" sz="825" b="1" dirty="0">
                <a:solidFill>
                  <a:srgbClr val="EF4444"/>
                </a:solidFill>
                <a:latin typeface="Calibri" pitchFamily="34" charset="0"/>
                <a:ea typeface="Calibri" pitchFamily="34" charset="-122"/>
                <a:cs typeface="Calibri" pitchFamily="34" charset="-120"/>
              </a:rPr>
              <a:t>AI Winter / Demand Collapse</a:t>
            </a:r>
            <a:endParaRPr lang="en-US" sz="825" dirty="0"/>
          </a:p>
        </p:txBody>
      </p:sp>
      <p:sp>
        <p:nvSpPr>
          <p:cNvPr id="10" name="Text 8"/>
          <p:cNvSpPr/>
          <p:nvPr/>
        </p:nvSpPr>
        <p:spPr>
          <a:xfrm>
            <a:off x="432054" y="1049274"/>
            <a:ext cx="3874770" cy="514350"/>
          </a:xfrm>
          <a:prstGeom prst="rect">
            <a:avLst/>
          </a:prstGeom>
          <a:noFill/>
          <a:ln/>
        </p:spPr>
        <p:txBody>
          <a:bodyPr wrap="square" lIns="0" tIns="0" rIns="0" bIns="0" rtlCol="0" anchor="ctr"/>
          <a:lstStyle/>
          <a:p>
            <a:r>
              <a:rPr lang="en-US" sz="900" dirty="0">
                <a:solidFill>
                  <a:srgbClr val="E2E8F0"/>
                </a:solidFill>
                <a:latin typeface="Calibri" pitchFamily="34" charset="0"/>
                <a:ea typeface="Calibri" pitchFamily="34" charset="-122"/>
                <a:cs typeface="Calibri" pitchFamily="34" charset="-120"/>
              </a:rPr>
              <a:t>If hyperscalers stop spending, the entire stack de-rates. Watch: AWS/Azure/Google Cloud growth rates. If cloud growth falls below 20%, the infrastructure thesis weakens.</a:t>
            </a:r>
            <a:endParaRPr lang="en-US" sz="900" dirty="0"/>
          </a:p>
        </p:txBody>
      </p:sp>
      <p:sp>
        <p:nvSpPr>
          <p:cNvPr id="11" name="Shape 9"/>
          <p:cNvSpPr/>
          <p:nvPr/>
        </p:nvSpPr>
        <p:spPr>
          <a:xfrm>
            <a:off x="4594860" y="740664"/>
            <a:ext cx="4183380" cy="877824"/>
          </a:xfrm>
          <a:prstGeom prst="roundRect">
            <a:avLst>
              <a:gd name="adj" fmla="val 6250"/>
            </a:avLst>
          </a:prstGeom>
          <a:solidFill>
            <a:srgbClr val="131F35"/>
          </a:solidFill>
          <a:ln/>
          <a:effectLst>
            <a:outerShdw blurRad="127000" dist="38100" dir="2700000" algn="bl" rotWithShape="0">
              <a:srgbClr val="000000">
                <a:alpha val="30000"/>
              </a:srgbClr>
            </a:outerShdw>
          </a:effectLst>
        </p:spPr>
      </p:sp>
      <p:sp>
        <p:nvSpPr>
          <p:cNvPr id="12" name="Shape 10"/>
          <p:cNvSpPr/>
          <p:nvPr/>
        </p:nvSpPr>
        <p:spPr>
          <a:xfrm>
            <a:off x="4594860" y="740664"/>
            <a:ext cx="123444" cy="877824"/>
          </a:xfrm>
          <a:prstGeom prst="roundRect">
            <a:avLst/>
          </a:prstGeom>
          <a:solidFill>
            <a:srgbClr val="F97316"/>
          </a:solidFill>
          <a:ln/>
        </p:spPr>
      </p:sp>
      <p:sp>
        <p:nvSpPr>
          <p:cNvPr id="13" name="Text 11"/>
          <p:cNvSpPr/>
          <p:nvPr/>
        </p:nvSpPr>
        <p:spPr>
          <a:xfrm>
            <a:off x="4786884" y="809244"/>
            <a:ext cx="3874770" cy="219456"/>
          </a:xfrm>
          <a:prstGeom prst="rect">
            <a:avLst/>
          </a:prstGeom>
          <a:noFill/>
          <a:ln/>
        </p:spPr>
        <p:txBody>
          <a:bodyPr wrap="square" lIns="0" tIns="0" rIns="0" bIns="0" rtlCol="0" anchor="ctr"/>
          <a:lstStyle/>
          <a:p>
            <a:r>
              <a:rPr lang="en-US" sz="825" b="1" dirty="0">
                <a:solidFill>
                  <a:srgbClr val="F97316"/>
                </a:solidFill>
                <a:latin typeface="Calibri" pitchFamily="34" charset="0"/>
                <a:ea typeface="Calibri" pitchFamily="34" charset="-122"/>
                <a:cs typeface="Calibri" pitchFamily="34" charset="-120"/>
              </a:rPr>
              <a:t>Export Controls &amp; Geopolitics</a:t>
            </a:r>
            <a:endParaRPr lang="en-US" sz="825" dirty="0"/>
          </a:p>
        </p:txBody>
      </p:sp>
      <p:sp>
        <p:nvSpPr>
          <p:cNvPr id="14" name="Text 12"/>
          <p:cNvSpPr/>
          <p:nvPr/>
        </p:nvSpPr>
        <p:spPr>
          <a:xfrm>
            <a:off x="4786884" y="1049274"/>
            <a:ext cx="3874770" cy="514350"/>
          </a:xfrm>
          <a:prstGeom prst="rect">
            <a:avLst/>
          </a:prstGeom>
          <a:noFill/>
          <a:ln/>
        </p:spPr>
        <p:txBody>
          <a:bodyPr wrap="square" lIns="0" tIns="0" rIns="0" bIns="0" rtlCol="0" anchor="ctr"/>
          <a:lstStyle/>
          <a:p>
            <a:r>
              <a:rPr lang="en-US" sz="900" dirty="0">
                <a:solidFill>
                  <a:srgbClr val="E2E8F0"/>
                </a:solidFill>
                <a:latin typeface="Calibri" pitchFamily="34" charset="0"/>
                <a:ea typeface="Calibri" pitchFamily="34" charset="-122"/>
                <a:cs typeface="Calibri" pitchFamily="34" charset="-120"/>
              </a:rPr>
              <a:t>NVDA lost $15–16B/yr from China H20 restrictions. Taiwan Strait tensions = TSMC risk. NVDA, TSM, MU all have material geopolitical exposure. Watch US-China tech policy.</a:t>
            </a:r>
            <a:endParaRPr lang="en-US" sz="900" dirty="0"/>
          </a:p>
        </p:txBody>
      </p:sp>
      <p:sp>
        <p:nvSpPr>
          <p:cNvPr id="15" name="Shape 13"/>
          <p:cNvSpPr/>
          <p:nvPr/>
        </p:nvSpPr>
        <p:spPr>
          <a:xfrm>
            <a:off x="240030" y="1714500"/>
            <a:ext cx="4183380" cy="877824"/>
          </a:xfrm>
          <a:prstGeom prst="roundRect">
            <a:avLst>
              <a:gd name="adj" fmla="val 6250"/>
            </a:avLst>
          </a:prstGeom>
          <a:solidFill>
            <a:srgbClr val="131F35"/>
          </a:solidFill>
          <a:ln/>
          <a:effectLst>
            <a:outerShdw blurRad="127000" dist="38100" dir="2700000" algn="bl" rotWithShape="0">
              <a:srgbClr val="000000">
                <a:alpha val="30000"/>
              </a:srgbClr>
            </a:outerShdw>
          </a:effectLst>
        </p:spPr>
      </p:sp>
      <p:sp>
        <p:nvSpPr>
          <p:cNvPr id="16" name="Shape 14"/>
          <p:cNvSpPr/>
          <p:nvPr/>
        </p:nvSpPr>
        <p:spPr>
          <a:xfrm>
            <a:off x="240030" y="1714500"/>
            <a:ext cx="123444" cy="877824"/>
          </a:xfrm>
          <a:prstGeom prst="roundRect">
            <a:avLst/>
          </a:prstGeom>
          <a:solidFill>
            <a:srgbClr val="F97316"/>
          </a:solidFill>
          <a:ln/>
        </p:spPr>
      </p:sp>
      <p:sp>
        <p:nvSpPr>
          <p:cNvPr id="17" name="Text 15"/>
          <p:cNvSpPr/>
          <p:nvPr/>
        </p:nvSpPr>
        <p:spPr>
          <a:xfrm>
            <a:off x="432054" y="1783080"/>
            <a:ext cx="3874770" cy="219456"/>
          </a:xfrm>
          <a:prstGeom prst="rect">
            <a:avLst/>
          </a:prstGeom>
          <a:noFill/>
          <a:ln/>
        </p:spPr>
        <p:txBody>
          <a:bodyPr wrap="square" lIns="0" tIns="0" rIns="0" bIns="0" rtlCol="0" anchor="ctr"/>
          <a:lstStyle/>
          <a:p>
            <a:r>
              <a:rPr lang="en-US" sz="825" b="1" dirty="0">
                <a:solidFill>
                  <a:srgbClr val="F97316"/>
                </a:solidFill>
                <a:latin typeface="Calibri" pitchFamily="34" charset="0"/>
                <a:ea typeface="Calibri" pitchFamily="34" charset="-122"/>
                <a:cs typeface="Calibri" pitchFamily="34" charset="-120"/>
              </a:rPr>
              <a:t>GPU Commoditization</a:t>
            </a:r>
            <a:endParaRPr lang="en-US" sz="825" dirty="0"/>
          </a:p>
        </p:txBody>
      </p:sp>
      <p:sp>
        <p:nvSpPr>
          <p:cNvPr id="18" name="Text 16"/>
          <p:cNvSpPr/>
          <p:nvPr/>
        </p:nvSpPr>
        <p:spPr>
          <a:xfrm>
            <a:off x="432054" y="2023110"/>
            <a:ext cx="3874770" cy="514350"/>
          </a:xfrm>
          <a:prstGeom prst="rect">
            <a:avLst/>
          </a:prstGeom>
          <a:noFill/>
          <a:ln/>
        </p:spPr>
        <p:txBody>
          <a:bodyPr wrap="square" lIns="0" tIns="0" rIns="0" bIns="0" rtlCol="0" anchor="ctr"/>
          <a:lstStyle/>
          <a:p>
            <a:r>
              <a:rPr lang="en-US" sz="900" dirty="0">
                <a:solidFill>
                  <a:srgbClr val="E2E8F0"/>
                </a:solidFill>
                <a:latin typeface="Calibri" pitchFamily="34" charset="0"/>
                <a:ea typeface="Calibri" pitchFamily="34" charset="-122"/>
                <a:cs typeface="Calibri" pitchFamily="34" charset="-120"/>
              </a:rPr>
              <a:t>H100 rental rates already down 60–75% from peak. If AI workloads shift to open-source + efficient models (DeepSeek-style), NVDA pricing power erodes. Hyperscaler ASICs are the structural risk.</a:t>
            </a:r>
            <a:endParaRPr lang="en-US" sz="900" dirty="0"/>
          </a:p>
        </p:txBody>
      </p:sp>
      <p:sp>
        <p:nvSpPr>
          <p:cNvPr id="19" name="Shape 17"/>
          <p:cNvSpPr/>
          <p:nvPr/>
        </p:nvSpPr>
        <p:spPr>
          <a:xfrm>
            <a:off x="4594860" y="1714500"/>
            <a:ext cx="4183380" cy="877824"/>
          </a:xfrm>
          <a:prstGeom prst="roundRect">
            <a:avLst>
              <a:gd name="adj" fmla="val 6250"/>
            </a:avLst>
          </a:prstGeom>
          <a:solidFill>
            <a:srgbClr val="131F35"/>
          </a:solidFill>
          <a:ln/>
          <a:effectLst>
            <a:outerShdw blurRad="127000" dist="38100" dir="2700000" algn="bl" rotWithShape="0">
              <a:srgbClr val="000000">
                <a:alpha val="30000"/>
              </a:srgbClr>
            </a:outerShdw>
          </a:effectLst>
        </p:spPr>
      </p:sp>
      <p:sp>
        <p:nvSpPr>
          <p:cNvPr id="20" name="Shape 18"/>
          <p:cNvSpPr/>
          <p:nvPr/>
        </p:nvSpPr>
        <p:spPr>
          <a:xfrm>
            <a:off x="4594860" y="1714500"/>
            <a:ext cx="123444" cy="877824"/>
          </a:xfrm>
          <a:prstGeom prst="roundRect">
            <a:avLst/>
          </a:prstGeom>
          <a:solidFill>
            <a:srgbClr val="EF4444"/>
          </a:solidFill>
          <a:ln/>
        </p:spPr>
      </p:sp>
      <p:sp>
        <p:nvSpPr>
          <p:cNvPr id="21" name="Text 19"/>
          <p:cNvSpPr/>
          <p:nvPr/>
        </p:nvSpPr>
        <p:spPr>
          <a:xfrm>
            <a:off x="4786884" y="1783080"/>
            <a:ext cx="3874770" cy="219456"/>
          </a:xfrm>
          <a:prstGeom prst="rect">
            <a:avLst/>
          </a:prstGeom>
          <a:noFill/>
          <a:ln/>
        </p:spPr>
        <p:txBody>
          <a:bodyPr wrap="square" lIns="0" tIns="0" rIns="0" bIns="0" rtlCol="0" anchor="ctr"/>
          <a:lstStyle/>
          <a:p>
            <a:r>
              <a:rPr lang="en-US" sz="825" b="1" dirty="0">
                <a:solidFill>
                  <a:srgbClr val="EF4444"/>
                </a:solidFill>
                <a:latin typeface="Calibri" pitchFamily="34" charset="0"/>
                <a:ea typeface="Calibri" pitchFamily="34" charset="-122"/>
                <a:cs typeface="Calibri" pitchFamily="34" charset="-120"/>
              </a:rPr>
              <a:t>AI ROI Scrutiny</a:t>
            </a:r>
            <a:endParaRPr lang="en-US" sz="825" dirty="0"/>
          </a:p>
        </p:txBody>
      </p:sp>
      <p:sp>
        <p:nvSpPr>
          <p:cNvPr id="22" name="Text 20"/>
          <p:cNvSpPr/>
          <p:nvPr/>
        </p:nvSpPr>
        <p:spPr>
          <a:xfrm>
            <a:off x="4786884" y="2023110"/>
            <a:ext cx="3874770" cy="514350"/>
          </a:xfrm>
          <a:prstGeom prst="rect">
            <a:avLst/>
          </a:prstGeom>
          <a:noFill/>
          <a:ln/>
        </p:spPr>
        <p:txBody>
          <a:bodyPr wrap="square" lIns="0" tIns="0" rIns="0" bIns="0" rtlCol="0" anchor="ctr"/>
          <a:lstStyle/>
          <a:p>
            <a:r>
              <a:rPr lang="en-US" sz="900" dirty="0">
                <a:solidFill>
                  <a:srgbClr val="E2E8F0"/>
                </a:solidFill>
                <a:latin typeface="Calibri" pitchFamily="34" charset="0"/>
                <a:ea typeface="Calibri" pitchFamily="34" charset="-122"/>
                <a:cs typeface="Calibri" pitchFamily="34" charset="-120"/>
              </a:rPr>
              <a:t>Big Tech raised $108B in bonds in 2025 alone. Investors are asking: will AI services justify $690B capex? AI generates only ~$25B in direct revenue vs $690B spend. ROI gap must close.</a:t>
            </a:r>
            <a:endParaRPr lang="en-US" sz="900" dirty="0"/>
          </a:p>
        </p:txBody>
      </p:sp>
      <p:sp>
        <p:nvSpPr>
          <p:cNvPr id="23" name="Shape 21"/>
          <p:cNvSpPr/>
          <p:nvPr/>
        </p:nvSpPr>
        <p:spPr>
          <a:xfrm>
            <a:off x="240030" y="2688336"/>
            <a:ext cx="4183380" cy="877824"/>
          </a:xfrm>
          <a:prstGeom prst="roundRect">
            <a:avLst>
              <a:gd name="adj" fmla="val 6250"/>
            </a:avLst>
          </a:prstGeom>
          <a:solidFill>
            <a:srgbClr val="131F35"/>
          </a:solidFill>
          <a:ln/>
          <a:effectLst>
            <a:outerShdw blurRad="127000" dist="38100" dir="2700000" algn="bl" rotWithShape="0">
              <a:srgbClr val="000000">
                <a:alpha val="30000"/>
              </a:srgbClr>
            </a:outerShdw>
          </a:effectLst>
        </p:spPr>
      </p:sp>
      <p:sp>
        <p:nvSpPr>
          <p:cNvPr id="24" name="Shape 22"/>
          <p:cNvSpPr/>
          <p:nvPr/>
        </p:nvSpPr>
        <p:spPr>
          <a:xfrm>
            <a:off x="240030" y="2688336"/>
            <a:ext cx="123444" cy="877824"/>
          </a:xfrm>
          <a:prstGeom prst="roundRect">
            <a:avLst/>
          </a:prstGeom>
          <a:solidFill>
            <a:srgbClr val="F97316"/>
          </a:solidFill>
          <a:ln/>
        </p:spPr>
      </p:sp>
      <p:sp>
        <p:nvSpPr>
          <p:cNvPr id="25" name="Text 23"/>
          <p:cNvSpPr/>
          <p:nvPr/>
        </p:nvSpPr>
        <p:spPr>
          <a:xfrm>
            <a:off x="432054" y="2756916"/>
            <a:ext cx="3874770" cy="219456"/>
          </a:xfrm>
          <a:prstGeom prst="rect">
            <a:avLst/>
          </a:prstGeom>
          <a:noFill/>
          <a:ln/>
        </p:spPr>
        <p:txBody>
          <a:bodyPr wrap="square" lIns="0" tIns="0" rIns="0" bIns="0" rtlCol="0" anchor="ctr"/>
          <a:lstStyle/>
          <a:p>
            <a:r>
              <a:rPr lang="en-US" sz="825" b="1" dirty="0">
                <a:solidFill>
                  <a:srgbClr val="F97316"/>
                </a:solidFill>
                <a:latin typeface="Calibri" pitchFamily="34" charset="0"/>
                <a:ea typeface="Calibri" pitchFamily="34" charset="-122"/>
                <a:cs typeface="Calibri" pitchFamily="34" charset="-120"/>
              </a:rPr>
              <a:t>Neocloud Leverage</a:t>
            </a:r>
            <a:endParaRPr lang="en-US" sz="825" dirty="0"/>
          </a:p>
        </p:txBody>
      </p:sp>
      <p:sp>
        <p:nvSpPr>
          <p:cNvPr id="26" name="Text 24"/>
          <p:cNvSpPr/>
          <p:nvPr/>
        </p:nvSpPr>
        <p:spPr>
          <a:xfrm>
            <a:off x="432054" y="2996946"/>
            <a:ext cx="3874770" cy="514350"/>
          </a:xfrm>
          <a:prstGeom prst="rect">
            <a:avLst/>
          </a:prstGeom>
          <a:noFill/>
          <a:ln/>
        </p:spPr>
        <p:txBody>
          <a:bodyPr wrap="square" lIns="0" tIns="0" rIns="0" bIns="0" rtlCol="0" anchor="ctr"/>
          <a:lstStyle/>
          <a:p>
            <a:r>
              <a:rPr lang="en-US" sz="900" dirty="0">
                <a:solidFill>
                  <a:srgbClr val="E2E8F0"/>
                </a:solidFill>
                <a:latin typeface="Calibri" pitchFamily="34" charset="0"/>
                <a:ea typeface="Calibri" pitchFamily="34" charset="-122"/>
                <a:cs typeface="Calibri" pitchFamily="34" charset="-120"/>
              </a:rPr>
              <a:t>CoreWeave 4.8x D/E, $34B off-balance-sheet leases. APLD reliant on CoreWeave. If AI demand slows or GPU prices drop, leveraged neoclouds face covenant risk and potential distress.</a:t>
            </a:r>
            <a:endParaRPr lang="en-US" sz="900" dirty="0"/>
          </a:p>
        </p:txBody>
      </p:sp>
      <p:sp>
        <p:nvSpPr>
          <p:cNvPr id="27" name="Shape 25"/>
          <p:cNvSpPr/>
          <p:nvPr/>
        </p:nvSpPr>
        <p:spPr>
          <a:xfrm>
            <a:off x="4594860" y="2688336"/>
            <a:ext cx="4183380" cy="877824"/>
          </a:xfrm>
          <a:prstGeom prst="roundRect">
            <a:avLst>
              <a:gd name="adj" fmla="val 6250"/>
            </a:avLst>
          </a:prstGeom>
          <a:solidFill>
            <a:srgbClr val="131F35"/>
          </a:solidFill>
          <a:ln/>
          <a:effectLst>
            <a:outerShdw blurRad="127000" dist="38100" dir="2700000" algn="bl" rotWithShape="0">
              <a:srgbClr val="000000">
                <a:alpha val="30000"/>
              </a:srgbClr>
            </a:outerShdw>
          </a:effectLst>
        </p:spPr>
      </p:sp>
      <p:sp>
        <p:nvSpPr>
          <p:cNvPr id="28" name="Shape 26"/>
          <p:cNvSpPr/>
          <p:nvPr/>
        </p:nvSpPr>
        <p:spPr>
          <a:xfrm>
            <a:off x="4594860" y="2688336"/>
            <a:ext cx="123444" cy="877824"/>
          </a:xfrm>
          <a:prstGeom prst="roundRect">
            <a:avLst/>
          </a:prstGeom>
          <a:solidFill>
            <a:srgbClr val="F97316"/>
          </a:solidFill>
          <a:ln/>
        </p:spPr>
      </p:sp>
      <p:sp>
        <p:nvSpPr>
          <p:cNvPr id="29" name="Text 27"/>
          <p:cNvSpPr/>
          <p:nvPr/>
        </p:nvSpPr>
        <p:spPr>
          <a:xfrm>
            <a:off x="4786884" y="2756916"/>
            <a:ext cx="3874770" cy="219456"/>
          </a:xfrm>
          <a:prstGeom prst="rect">
            <a:avLst/>
          </a:prstGeom>
          <a:noFill/>
          <a:ln/>
        </p:spPr>
        <p:txBody>
          <a:bodyPr wrap="square" lIns="0" tIns="0" rIns="0" bIns="0" rtlCol="0" anchor="ctr"/>
          <a:lstStyle/>
          <a:p>
            <a:r>
              <a:rPr lang="en-US" sz="825" b="1" dirty="0">
                <a:solidFill>
                  <a:srgbClr val="F97316"/>
                </a:solidFill>
                <a:latin typeface="Calibri" pitchFamily="34" charset="0"/>
                <a:ea typeface="Calibri" pitchFamily="34" charset="-122"/>
                <a:cs typeface="Calibri" pitchFamily="34" charset="-120"/>
              </a:rPr>
              <a:t>Valuation Reset</a:t>
            </a:r>
            <a:endParaRPr lang="en-US" sz="825" dirty="0"/>
          </a:p>
        </p:txBody>
      </p:sp>
      <p:sp>
        <p:nvSpPr>
          <p:cNvPr id="30" name="Text 28"/>
          <p:cNvSpPr/>
          <p:nvPr/>
        </p:nvSpPr>
        <p:spPr>
          <a:xfrm>
            <a:off x="4786884" y="2996946"/>
            <a:ext cx="3874770" cy="514350"/>
          </a:xfrm>
          <a:prstGeom prst="rect">
            <a:avLst/>
          </a:prstGeom>
          <a:noFill/>
          <a:ln/>
        </p:spPr>
        <p:txBody>
          <a:bodyPr wrap="square" lIns="0" tIns="0" rIns="0" bIns="0" rtlCol="0" anchor="ctr"/>
          <a:lstStyle/>
          <a:p>
            <a:r>
              <a:rPr lang="en-US" sz="900" dirty="0">
                <a:solidFill>
                  <a:srgbClr val="E2E8F0"/>
                </a:solidFill>
                <a:latin typeface="Calibri" pitchFamily="34" charset="0"/>
                <a:ea typeface="Calibri" pitchFamily="34" charset="-122"/>
                <a:cs typeface="Calibri" pitchFamily="34" charset="-120"/>
              </a:rPr>
              <a:t>PLTR at 80x trailing sales. NVDA at 35x forward earnings. Any AI revenue miss triggers multiple compression across the stack. Valuation risk is higher in Apps and GPU Cloud layers.</a:t>
            </a:r>
            <a:endParaRPr lang="en-US" sz="900" dirty="0"/>
          </a:p>
        </p:txBody>
      </p:sp>
      <p:sp>
        <p:nvSpPr>
          <p:cNvPr id="31" name="Text 29"/>
          <p:cNvSpPr/>
          <p:nvPr/>
        </p:nvSpPr>
        <p:spPr>
          <a:xfrm>
            <a:off x="274320" y="3909060"/>
            <a:ext cx="8641080" cy="192024"/>
          </a:xfrm>
          <a:prstGeom prst="rect">
            <a:avLst/>
          </a:prstGeom>
          <a:noFill/>
          <a:ln/>
        </p:spPr>
        <p:txBody>
          <a:bodyPr wrap="square" lIns="0" tIns="0" rIns="0" bIns="0" rtlCol="0" anchor="ctr"/>
          <a:lstStyle/>
          <a:p>
            <a:r>
              <a:rPr lang="en-US" sz="750" b="1" kern="0" spc="150" dirty="0">
                <a:solidFill>
                  <a:srgbClr val="4F9CF9"/>
                </a:solidFill>
                <a:latin typeface="Calibri" pitchFamily="34" charset="0"/>
                <a:ea typeface="Calibri" pitchFamily="34" charset="-122"/>
                <a:cs typeface="Calibri" pitchFamily="34" charset="-120"/>
              </a:rPr>
              <a:t>QUARTERLY MONITORING CHECKLIST</a:t>
            </a:r>
            <a:endParaRPr lang="en-US" sz="750" dirty="0"/>
          </a:p>
        </p:txBody>
      </p:sp>
      <p:sp>
        <p:nvSpPr>
          <p:cNvPr id="32" name="Shape 30"/>
          <p:cNvSpPr/>
          <p:nvPr/>
        </p:nvSpPr>
        <p:spPr>
          <a:xfrm>
            <a:off x="274320" y="4155948"/>
            <a:ext cx="102870" cy="102870"/>
          </a:xfrm>
          <a:prstGeom prst="ellipse">
            <a:avLst/>
          </a:prstGeom>
          <a:solidFill>
            <a:srgbClr val="22C55E"/>
          </a:solidFill>
          <a:ln/>
        </p:spPr>
      </p:sp>
      <p:sp>
        <p:nvSpPr>
          <p:cNvPr id="33" name="Text 31"/>
          <p:cNvSpPr/>
          <p:nvPr/>
        </p:nvSpPr>
        <p:spPr>
          <a:xfrm>
            <a:off x="432054" y="4114800"/>
            <a:ext cx="3977640" cy="192024"/>
          </a:xfrm>
          <a:prstGeom prst="rect">
            <a:avLst/>
          </a:prstGeom>
          <a:noFill/>
          <a:ln/>
        </p:spPr>
        <p:txBody>
          <a:bodyPr wrap="square" lIns="0" tIns="0" rIns="0" bIns="0" rtlCol="0" anchor="ctr"/>
          <a:lstStyle/>
          <a:p>
            <a:r>
              <a:rPr lang="en-US" sz="800" dirty="0">
                <a:solidFill>
                  <a:srgbClr val="E2E8F0"/>
                </a:solidFill>
                <a:latin typeface="Calibri" pitchFamily="34" charset="0"/>
                <a:ea typeface="Calibri" pitchFamily="34" charset="-122"/>
                <a:cs typeface="Calibri" pitchFamily="34" charset="-120"/>
              </a:rPr>
              <a:t>AWS/Azure/GCP cloud growth rates (must stay 20%+ for infrastructure thesis)</a:t>
            </a:r>
            <a:endParaRPr lang="en-US" sz="800" dirty="0"/>
          </a:p>
        </p:txBody>
      </p:sp>
      <p:sp>
        <p:nvSpPr>
          <p:cNvPr id="34" name="Shape 32"/>
          <p:cNvSpPr/>
          <p:nvPr/>
        </p:nvSpPr>
        <p:spPr>
          <a:xfrm>
            <a:off x="274320" y="4361688"/>
            <a:ext cx="102870" cy="102870"/>
          </a:xfrm>
          <a:prstGeom prst="ellipse">
            <a:avLst/>
          </a:prstGeom>
          <a:solidFill>
            <a:srgbClr val="22C55E"/>
          </a:solidFill>
          <a:ln/>
        </p:spPr>
      </p:sp>
      <p:sp>
        <p:nvSpPr>
          <p:cNvPr id="35" name="Text 33"/>
          <p:cNvSpPr/>
          <p:nvPr/>
        </p:nvSpPr>
        <p:spPr>
          <a:xfrm>
            <a:off x="432054" y="4320540"/>
            <a:ext cx="3977640" cy="192024"/>
          </a:xfrm>
          <a:prstGeom prst="rect">
            <a:avLst/>
          </a:prstGeom>
          <a:noFill/>
          <a:ln/>
        </p:spPr>
        <p:txBody>
          <a:bodyPr wrap="square" lIns="0" tIns="0" rIns="0" bIns="0" rtlCol="0" anchor="ctr"/>
          <a:lstStyle/>
          <a:p>
            <a:r>
              <a:rPr lang="en-US" sz="800" dirty="0">
                <a:solidFill>
                  <a:srgbClr val="E2E8F0"/>
                </a:solidFill>
                <a:latin typeface="Calibri" pitchFamily="34" charset="0"/>
                <a:ea typeface="Calibri" pitchFamily="34" charset="-122"/>
                <a:cs typeface="Calibri" pitchFamily="34" charset="-120"/>
              </a:rPr>
              <a:t>NVDA data center revenue and gross margin trajectory</a:t>
            </a:r>
            <a:endParaRPr lang="en-US" sz="800" dirty="0"/>
          </a:p>
        </p:txBody>
      </p:sp>
      <p:sp>
        <p:nvSpPr>
          <p:cNvPr id="36" name="Shape 34"/>
          <p:cNvSpPr/>
          <p:nvPr/>
        </p:nvSpPr>
        <p:spPr>
          <a:xfrm>
            <a:off x="274320" y="4567428"/>
            <a:ext cx="102870" cy="102870"/>
          </a:xfrm>
          <a:prstGeom prst="ellipse">
            <a:avLst/>
          </a:prstGeom>
          <a:solidFill>
            <a:srgbClr val="22C55E"/>
          </a:solidFill>
          <a:ln/>
        </p:spPr>
      </p:sp>
      <p:sp>
        <p:nvSpPr>
          <p:cNvPr id="37" name="Text 35"/>
          <p:cNvSpPr/>
          <p:nvPr/>
        </p:nvSpPr>
        <p:spPr>
          <a:xfrm>
            <a:off x="432054" y="4526280"/>
            <a:ext cx="3977640" cy="192024"/>
          </a:xfrm>
          <a:prstGeom prst="rect">
            <a:avLst/>
          </a:prstGeom>
          <a:noFill/>
          <a:ln/>
        </p:spPr>
        <p:txBody>
          <a:bodyPr wrap="square" lIns="0" tIns="0" rIns="0" bIns="0" rtlCol="0" anchor="ctr"/>
          <a:lstStyle/>
          <a:p>
            <a:r>
              <a:rPr lang="en-US" sz="800" dirty="0">
                <a:solidFill>
                  <a:srgbClr val="E2E8F0"/>
                </a:solidFill>
                <a:latin typeface="Calibri" pitchFamily="34" charset="0"/>
                <a:ea typeface="Calibri" pitchFamily="34" charset="-122"/>
                <a:cs typeface="Calibri" pitchFamily="34" charset="-120"/>
              </a:rPr>
              <a:t>Hyperscaler capex guidance (any reduction signals demand slowdown)</a:t>
            </a:r>
            <a:endParaRPr lang="en-US" sz="800" dirty="0"/>
          </a:p>
        </p:txBody>
      </p:sp>
      <p:sp>
        <p:nvSpPr>
          <p:cNvPr id="38" name="Shape 36"/>
          <p:cNvSpPr/>
          <p:nvPr/>
        </p:nvSpPr>
        <p:spPr>
          <a:xfrm>
            <a:off x="274320" y="4773168"/>
            <a:ext cx="102870" cy="102870"/>
          </a:xfrm>
          <a:prstGeom prst="ellipse">
            <a:avLst/>
          </a:prstGeom>
          <a:solidFill>
            <a:srgbClr val="22C55E"/>
          </a:solidFill>
          <a:ln/>
        </p:spPr>
      </p:sp>
      <p:sp>
        <p:nvSpPr>
          <p:cNvPr id="39" name="Text 37"/>
          <p:cNvSpPr/>
          <p:nvPr/>
        </p:nvSpPr>
        <p:spPr>
          <a:xfrm>
            <a:off x="432054" y="4732020"/>
            <a:ext cx="3977640" cy="192024"/>
          </a:xfrm>
          <a:prstGeom prst="rect">
            <a:avLst/>
          </a:prstGeom>
          <a:noFill/>
          <a:ln/>
        </p:spPr>
        <p:txBody>
          <a:bodyPr wrap="square" lIns="0" tIns="0" rIns="0" bIns="0" rtlCol="0" anchor="ctr"/>
          <a:lstStyle/>
          <a:p>
            <a:r>
              <a:rPr lang="en-US" sz="800" dirty="0">
                <a:solidFill>
                  <a:srgbClr val="E2E8F0"/>
                </a:solidFill>
                <a:latin typeface="Calibri" pitchFamily="34" charset="0"/>
                <a:ea typeface="Calibri" pitchFamily="34" charset="-122"/>
                <a:cs typeface="Calibri" pitchFamily="34" charset="-120"/>
              </a:rPr>
              <a:t>CoreWeave backlog and contract term extensions</a:t>
            </a:r>
            <a:endParaRPr lang="en-US" sz="800" dirty="0"/>
          </a:p>
        </p:txBody>
      </p:sp>
      <p:sp>
        <p:nvSpPr>
          <p:cNvPr id="40" name="Shape 38"/>
          <p:cNvSpPr/>
          <p:nvPr/>
        </p:nvSpPr>
        <p:spPr>
          <a:xfrm>
            <a:off x="4629150" y="4155948"/>
            <a:ext cx="102870" cy="102870"/>
          </a:xfrm>
          <a:prstGeom prst="ellipse">
            <a:avLst/>
          </a:prstGeom>
          <a:solidFill>
            <a:srgbClr val="22C55E"/>
          </a:solidFill>
          <a:ln/>
        </p:spPr>
      </p:sp>
      <p:sp>
        <p:nvSpPr>
          <p:cNvPr id="41" name="Text 39"/>
          <p:cNvSpPr/>
          <p:nvPr/>
        </p:nvSpPr>
        <p:spPr>
          <a:xfrm>
            <a:off x="4786884" y="4114800"/>
            <a:ext cx="3977640" cy="192024"/>
          </a:xfrm>
          <a:prstGeom prst="rect">
            <a:avLst/>
          </a:prstGeom>
          <a:noFill/>
          <a:ln/>
        </p:spPr>
        <p:txBody>
          <a:bodyPr wrap="square" lIns="0" tIns="0" rIns="0" bIns="0" rtlCol="0" anchor="ctr"/>
          <a:lstStyle/>
          <a:p>
            <a:r>
              <a:rPr lang="en-US" sz="800" dirty="0">
                <a:solidFill>
                  <a:srgbClr val="E2E8F0"/>
                </a:solidFill>
                <a:latin typeface="Calibri" pitchFamily="34" charset="0"/>
                <a:ea typeface="Calibri" pitchFamily="34" charset="-122"/>
                <a:cs typeface="Calibri" pitchFamily="34" charset="-120"/>
              </a:rPr>
              <a:t>Micron HBM market share vs SK Hynix</a:t>
            </a:r>
            <a:endParaRPr lang="en-US" sz="800" dirty="0"/>
          </a:p>
        </p:txBody>
      </p:sp>
      <p:sp>
        <p:nvSpPr>
          <p:cNvPr id="42" name="Shape 40"/>
          <p:cNvSpPr/>
          <p:nvPr/>
        </p:nvSpPr>
        <p:spPr>
          <a:xfrm>
            <a:off x="4629150" y="4361688"/>
            <a:ext cx="102870" cy="102870"/>
          </a:xfrm>
          <a:prstGeom prst="ellipse">
            <a:avLst/>
          </a:prstGeom>
          <a:solidFill>
            <a:srgbClr val="22C55E"/>
          </a:solidFill>
          <a:ln/>
        </p:spPr>
      </p:sp>
      <p:sp>
        <p:nvSpPr>
          <p:cNvPr id="43" name="Text 41"/>
          <p:cNvSpPr/>
          <p:nvPr/>
        </p:nvSpPr>
        <p:spPr>
          <a:xfrm>
            <a:off x="4786884" y="4320540"/>
            <a:ext cx="3977640" cy="192024"/>
          </a:xfrm>
          <a:prstGeom prst="rect">
            <a:avLst/>
          </a:prstGeom>
          <a:noFill/>
          <a:ln/>
        </p:spPr>
        <p:txBody>
          <a:bodyPr wrap="square" lIns="0" tIns="0" rIns="0" bIns="0" rtlCol="0" anchor="ctr"/>
          <a:lstStyle/>
          <a:p>
            <a:r>
              <a:rPr lang="en-US" sz="800" dirty="0">
                <a:solidFill>
                  <a:srgbClr val="E2E8F0"/>
                </a:solidFill>
                <a:latin typeface="Calibri" pitchFamily="34" charset="0"/>
                <a:ea typeface="Calibri" pitchFamily="34" charset="-122"/>
                <a:cs typeface="Calibri" pitchFamily="34" charset="-120"/>
              </a:rPr>
              <a:t>Palantir US Commercial revenue growth rate</a:t>
            </a:r>
            <a:endParaRPr lang="en-US" sz="800" dirty="0"/>
          </a:p>
        </p:txBody>
      </p:sp>
      <p:sp>
        <p:nvSpPr>
          <p:cNvPr id="44" name="Shape 42"/>
          <p:cNvSpPr/>
          <p:nvPr/>
        </p:nvSpPr>
        <p:spPr>
          <a:xfrm>
            <a:off x="4629150" y="4567428"/>
            <a:ext cx="102870" cy="102870"/>
          </a:xfrm>
          <a:prstGeom prst="ellipse">
            <a:avLst/>
          </a:prstGeom>
          <a:solidFill>
            <a:srgbClr val="22C55E"/>
          </a:solidFill>
          <a:ln/>
        </p:spPr>
      </p:sp>
      <p:sp>
        <p:nvSpPr>
          <p:cNvPr id="45" name="Text 43"/>
          <p:cNvSpPr/>
          <p:nvPr/>
        </p:nvSpPr>
        <p:spPr>
          <a:xfrm>
            <a:off x="4786884" y="4526280"/>
            <a:ext cx="3977640" cy="192024"/>
          </a:xfrm>
          <a:prstGeom prst="rect">
            <a:avLst/>
          </a:prstGeom>
          <a:noFill/>
          <a:ln/>
        </p:spPr>
        <p:txBody>
          <a:bodyPr wrap="square" lIns="0" tIns="0" rIns="0" bIns="0" rtlCol="0" anchor="ctr"/>
          <a:lstStyle/>
          <a:p>
            <a:r>
              <a:rPr lang="en-US" sz="800" dirty="0">
                <a:solidFill>
                  <a:srgbClr val="E2E8F0"/>
                </a:solidFill>
                <a:latin typeface="Calibri" pitchFamily="34" charset="0"/>
                <a:ea typeface="Calibri" pitchFamily="34" charset="-122"/>
                <a:cs typeface="Calibri" pitchFamily="34" charset="-120"/>
              </a:rPr>
              <a:t>US-China chip export policy changes</a:t>
            </a:r>
            <a:endParaRPr lang="en-US" sz="800" dirty="0"/>
          </a:p>
        </p:txBody>
      </p:sp>
      <p:sp>
        <p:nvSpPr>
          <p:cNvPr id="46" name="Shape 44"/>
          <p:cNvSpPr/>
          <p:nvPr/>
        </p:nvSpPr>
        <p:spPr>
          <a:xfrm>
            <a:off x="4629150" y="4773168"/>
            <a:ext cx="102870" cy="102870"/>
          </a:xfrm>
          <a:prstGeom prst="ellipse">
            <a:avLst/>
          </a:prstGeom>
          <a:solidFill>
            <a:srgbClr val="22C55E"/>
          </a:solidFill>
          <a:ln/>
        </p:spPr>
      </p:sp>
      <p:sp>
        <p:nvSpPr>
          <p:cNvPr id="47" name="Text 45"/>
          <p:cNvSpPr/>
          <p:nvPr/>
        </p:nvSpPr>
        <p:spPr>
          <a:xfrm>
            <a:off x="4786884" y="4732020"/>
            <a:ext cx="3977640" cy="192024"/>
          </a:xfrm>
          <a:prstGeom prst="rect">
            <a:avLst/>
          </a:prstGeom>
          <a:noFill/>
          <a:ln/>
        </p:spPr>
        <p:txBody>
          <a:bodyPr wrap="square" lIns="0" tIns="0" rIns="0" bIns="0" rtlCol="0" anchor="ctr"/>
          <a:lstStyle/>
          <a:p>
            <a:r>
              <a:rPr lang="en-US" sz="800" dirty="0">
                <a:solidFill>
                  <a:srgbClr val="E2E8F0"/>
                </a:solidFill>
                <a:latin typeface="Calibri" pitchFamily="34" charset="0"/>
                <a:ea typeface="Calibri" pitchFamily="34" charset="-122"/>
                <a:cs typeface="Calibri" pitchFamily="34" charset="-120"/>
              </a:rPr>
              <a:t>AI revenue as % of total hyperscaler revenue (the ROI gap)</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EF4444"/>
          </a:solidFill>
          <a:ln/>
        </p:spPr>
      </p:sp>
      <p:sp>
        <p:nvSpPr>
          <p:cNvPr id="3" name="Text 1"/>
          <p:cNvSpPr/>
          <p:nvPr/>
        </p:nvSpPr>
        <p:spPr>
          <a:xfrm>
            <a:off x="182880" y="0"/>
            <a:ext cx="8778240" cy="621792"/>
          </a:xfrm>
          <a:prstGeom prst="rect">
            <a:avLst/>
          </a:prstGeom>
          <a:noFill/>
          <a:ln/>
        </p:spPr>
        <p:txBody>
          <a:bodyPr wrap="square" rtlCol="0" anchor="ctr"/>
          <a:lstStyle/>
          <a:p>
            <a:pPr marL="0" indent="0">
              <a:buNone/>
            </a:pPr>
            <a:r>
              <a:rPr lang="en-US" sz="1300" b="1" dirty="0">
                <a:solidFill>
                  <a:srgbClr val="FFFFFF"/>
                </a:solidFill>
              </a:rPr>
              <a:t>RED FLAGS &amp; KEY SECTOR RISKS</a:t>
            </a:r>
            <a:endParaRPr lang="en-US" sz="1300" dirty="0"/>
          </a:p>
        </p:txBody>
      </p:sp>
      <p:sp>
        <p:nvSpPr>
          <p:cNvPr id="4" name="Text 2"/>
          <p:cNvSpPr/>
          <p:nvPr/>
        </p:nvSpPr>
        <p:spPr>
          <a:xfrm>
            <a:off x="182880" y="667512"/>
            <a:ext cx="8778240" cy="274320"/>
          </a:xfrm>
          <a:prstGeom prst="rect">
            <a:avLst/>
          </a:prstGeom>
          <a:noFill/>
          <a:ln/>
        </p:spPr>
        <p:txBody>
          <a:bodyPr wrap="square" rtlCol="0" anchor="ctr"/>
          <a:lstStyle/>
          <a:p>
            <a:pPr marL="0" indent="0">
              <a:buNone/>
            </a:pPr>
            <a:r>
              <a:rPr lang="en-US" sz="1100" i="1" dirty="0">
                <a:solidFill>
                  <a:srgbClr val="EF4444"/>
                </a:solidFill>
              </a:rPr>
              <a:t>Structural, technical, regulatory, and valuation risks investors must understand before sector exposure</a:t>
            </a:r>
            <a:endParaRPr lang="en-US" sz="1100" dirty="0"/>
          </a:p>
        </p:txBody>
      </p:sp>
      <p:sp>
        <p:nvSpPr>
          <p:cNvPr id="5" name="Shape 3"/>
          <p:cNvSpPr/>
          <p:nvPr/>
        </p:nvSpPr>
        <p:spPr>
          <a:xfrm>
            <a:off x="182880" y="1005840"/>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6" name="Shape 4"/>
          <p:cNvSpPr/>
          <p:nvPr/>
        </p:nvSpPr>
        <p:spPr>
          <a:xfrm>
            <a:off x="182880" y="1005840"/>
            <a:ext cx="64008" cy="886968"/>
          </a:xfrm>
          <a:prstGeom prst="rect">
            <a:avLst/>
          </a:prstGeom>
          <a:solidFill>
            <a:srgbClr val="EF4444"/>
          </a:solidFill>
          <a:ln/>
        </p:spPr>
      </p:sp>
      <p:sp>
        <p:nvSpPr>
          <p:cNvPr id="7" name="Shape 5"/>
          <p:cNvSpPr/>
          <p:nvPr/>
        </p:nvSpPr>
        <p:spPr>
          <a:xfrm>
            <a:off x="320040" y="1051560"/>
            <a:ext cx="1005840" cy="201168"/>
          </a:xfrm>
          <a:prstGeom prst="rect">
            <a:avLst/>
          </a:prstGeom>
          <a:solidFill>
            <a:srgbClr val="EF4444"/>
          </a:solidFill>
          <a:ln/>
        </p:spPr>
      </p:sp>
      <p:sp>
        <p:nvSpPr>
          <p:cNvPr id="8" name="Text 6"/>
          <p:cNvSpPr/>
          <p:nvPr/>
        </p:nvSpPr>
        <p:spPr>
          <a:xfrm>
            <a:off x="320040" y="1051560"/>
            <a:ext cx="1005840" cy="201168"/>
          </a:xfrm>
          <a:prstGeom prst="rect">
            <a:avLst/>
          </a:prstGeom>
          <a:noFill/>
          <a:ln/>
        </p:spPr>
        <p:txBody>
          <a:bodyPr wrap="square" rtlCol="0" anchor="ctr"/>
          <a:lstStyle/>
          <a:p>
            <a:pPr marL="0" indent="0" algn="ctr">
              <a:buNone/>
            </a:pPr>
            <a:r>
              <a:rPr lang="en-US" sz="750" b="1" dirty="0">
                <a:solidFill>
                  <a:srgbClr val="FFFFFF"/>
                </a:solidFill>
              </a:rPr>
              <a:t>STRUCTURAL</a:t>
            </a:r>
            <a:endParaRPr lang="en-US" sz="750" dirty="0"/>
          </a:p>
        </p:txBody>
      </p:sp>
      <p:sp>
        <p:nvSpPr>
          <p:cNvPr id="9" name="Text 7"/>
          <p:cNvSpPr/>
          <p:nvPr/>
        </p:nvSpPr>
        <p:spPr>
          <a:xfrm>
            <a:off x="1417320" y="1042416"/>
            <a:ext cx="2999232" cy="246888"/>
          </a:xfrm>
          <a:prstGeom prst="rect">
            <a:avLst/>
          </a:prstGeom>
          <a:noFill/>
          <a:ln/>
        </p:spPr>
        <p:txBody>
          <a:bodyPr wrap="square" rtlCol="0" anchor="ctr"/>
          <a:lstStyle/>
          <a:p>
            <a:pPr marL="0" indent="0">
              <a:buNone/>
            </a:pPr>
            <a:r>
              <a:rPr lang="en-US" sz="950" b="1" dirty="0">
                <a:solidFill>
                  <a:srgbClr val="FFFFFF"/>
                </a:solidFill>
              </a:rPr>
              <a:t>The 'CapEx to Revenue' Gap — $700B Spend, Unproven ROI</a:t>
            </a:r>
            <a:endParaRPr lang="en-US" sz="950" dirty="0"/>
          </a:p>
        </p:txBody>
      </p:sp>
      <p:sp>
        <p:nvSpPr>
          <p:cNvPr id="10" name="Text 8"/>
          <p:cNvSpPr/>
          <p:nvPr/>
        </p:nvSpPr>
        <p:spPr>
          <a:xfrm>
            <a:off x="320040" y="1298448"/>
            <a:ext cx="4096512" cy="566928"/>
          </a:xfrm>
          <a:prstGeom prst="rect">
            <a:avLst/>
          </a:prstGeom>
          <a:noFill/>
          <a:ln/>
        </p:spPr>
        <p:txBody>
          <a:bodyPr wrap="square" rtlCol="0" anchor="ctr"/>
          <a:lstStyle/>
          <a:p>
            <a:pPr marL="0" indent="0">
              <a:buNone/>
            </a:pPr>
            <a:r>
              <a:rPr lang="en-US" sz="850" dirty="0"/>
              <a:t>Hyperscalers committing $700B+ with limited evidence AI revenues will close the gap. Amazon FCF dropped 95% TTM. Meta FCF near zero in Q1 2026. BofA modeling negative FCF for Meta 2027–28. 'AI revenues must catch the capex curve before patience runs out.'</a:t>
            </a:r>
          </a:p>
        </p:txBody>
      </p:sp>
      <p:sp>
        <p:nvSpPr>
          <p:cNvPr id="11" name="Shape 9"/>
          <p:cNvSpPr/>
          <p:nvPr/>
        </p:nvSpPr>
        <p:spPr>
          <a:xfrm>
            <a:off x="4681728" y="1005840"/>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12" name="Shape 10"/>
          <p:cNvSpPr/>
          <p:nvPr/>
        </p:nvSpPr>
        <p:spPr>
          <a:xfrm>
            <a:off x="4681728" y="1005840"/>
            <a:ext cx="64008" cy="886968"/>
          </a:xfrm>
          <a:prstGeom prst="rect">
            <a:avLst/>
          </a:prstGeom>
          <a:solidFill>
            <a:srgbClr val="EF4444"/>
          </a:solidFill>
          <a:ln/>
        </p:spPr>
      </p:sp>
      <p:sp>
        <p:nvSpPr>
          <p:cNvPr id="13" name="Shape 11"/>
          <p:cNvSpPr/>
          <p:nvPr/>
        </p:nvSpPr>
        <p:spPr>
          <a:xfrm>
            <a:off x="4818888" y="1051560"/>
            <a:ext cx="1005840" cy="201168"/>
          </a:xfrm>
          <a:prstGeom prst="rect">
            <a:avLst/>
          </a:prstGeom>
          <a:solidFill>
            <a:srgbClr val="EF4444"/>
          </a:solidFill>
          <a:ln/>
        </p:spPr>
      </p:sp>
      <p:sp>
        <p:nvSpPr>
          <p:cNvPr id="14" name="Text 12"/>
          <p:cNvSpPr/>
          <p:nvPr/>
        </p:nvSpPr>
        <p:spPr>
          <a:xfrm>
            <a:off x="4818888" y="1051560"/>
            <a:ext cx="1005840" cy="201168"/>
          </a:xfrm>
          <a:prstGeom prst="rect">
            <a:avLst/>
          </a:prstGeom>
          <a:noFill/>
          <a:ln/>
        </p:spPr>
        <p:txBody>
          <a:bodyPr wrap="square" rtlCol="0" anchor="ctr"/>
          <a:lstStyle/>
          <a:p>
            <a:pPr marL="0" indent="0" algn="ctr">
              <a:buNone/>
            </a:pPr>
            <a:r>
              <a:rPr lang="en-US" sz="750" b="1" dirty="0">
                <a:solidFill>
                  <a:srgbClr val="FFFFFF"/>
                </a:solidFill>
              </a:rPr>
              <a:t>STRUCTURAL</a:t>
            </a:r>
            <a:endParaRPr lang="en-US" sz="750" dirty="0"/>
          </a:p>
        </p:txBody>
      </p:sp>
      <p:sp>
        <p:nvSpPr>
          <p:cNvPr id="15" name="Text 13"/>
          <p:cNvSpPr/>
          <p:nvPr/>
        </p:nvSpPr>
        <p:spPr>
          <a:xfrm>
            <a:off x="5916168" y="1042416"/>
            <a:ext cx="2999232" cy="246888"/>
          </a:xfrm>
          <a:prstGeom prst="rect">
            <a:avLst/>
          </a:prstGeom>
          <a:noFill/>
          <a:ln/>
        </p:spPr>
        <p:txBody>
          <a:bodyPr wrap="square" rtlCol="0" anchor="ctr"/>
          <a:lstStyle/>
          <a:p>
            <a:pPr marL="0" indent="0">
              <a:buNone/>
            </a:pPr>
            <a:r>
              <a:rPr lang="en-US" sz="950" b="1" dirty="0">
                <a:solidFill>
                  <a:srgbClr val="FFFFFF"/>
                </a:solidFill>
              </a:rPr>
              <a:t>Humanoid Timelines Consistently Slip</a:t>
            </a:r>
            <a:endParaRPr lang="en-US" sz="950" dirty="0"/>
          </a:p>
        </p:txBody>
      </p:sp>
      <p:sp>
        <p:nvSpPr>
          <p:cNvPr id="16" name="Text 14"/>
          <p:cNvSpPr/>
          <p:nvPr/>
        </p:nvSpPr>
        <p:spPr>
          <a:xfrm>
            <a:off x="4818888" y="1298448"/>
            <a:ext cx="4096512" cy="566928"/>
          </a:xfrm>
          <a:prstGeom prst="rect">
            <a:avLst/>
          </a:prstGeom>
          <a:noFill/>
          <a:ln/>
        </p:spPr>
        <p:txBody>
          <a:bodyPr wrap="square" rtlCol="0" anchor="ctr"/>
          <a:lstStyle/>
          <a:p>
            <a:pPr marL="0" indent="0">
              <a:buNone/>
            </a:pPr>
            <a:r>
              <a:rPr lang="en-US" sz="850" dirty="0"/>
              <a:t>Musk predicted 5,000–10,000 Optimus units in 2025. Zero external deliveries. Boston Dynamics Atlas commercial production just beginning 2026. Figure AI pivoting from BMW pilot. History of overpromising in robotics is long. Investors risk 'bot bubble' pricing in perfection.</a:t>
            </a:r>
          </a:p>
        </p:txBody>
      </p:sp>
      <p:sp>
        <p:nvSpPr>
          <p:cNvPr id="17" name="Shape 15"/>
          <p:cNvSpPr/>
          <p:nvPr/>
        </p:nvSpPr>
        <p:spPr>
          <a:xfrm>
            <a:off x="182880" y="1965960"/>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18" name="Shape 16"/>
          <p:cNvSpPr/>
          <p:nvPr/>
        </p:nvSpPr>
        <p:spPr>
          <a:xfrm>
            <a:off x="182880" y="1965960"/>
            <a:ext cx="64008" cy="886968"/>
          </a:xfrm>
          <a:prstGeom prst="rect">
            <a:avLst/>
          </a:prstGeom>
          <a:solidFill>
            <a:srgbClr val="F97316"/>
          </a:solidFill>
          <a:ln/>
        </p:spPr>
      </p:sp>
      <p:sp>
        <p:nvSpPr>
          <p:cNvPr id="19" name="Shape 17"/>
          <p:cNvSpPr/>
          <p:nvPr/>
        </p:nvSpPr>
        <p:spPr>
          <a:xfrm>
            <a:off x="320040" y="2011680"/>
            <a:ext cx="1005840" cy="201168"/>
          </a:xfrm>
          <a:prstGeom prst="rect">
            <a:avLst/>
          </a:prstGeom>
          <a:solidFill>
            <a:srgbClr val="F97316"/>
          </a:solidFill>
          <a:ln/>
        </p:spPr>
      </p:sp>
      <p:sp>
        <p:nvSpPr>
          <p:cNvPr id="20" name="Text 18"/>
          <p:cNvSpPr/>
          <p:nvPr/>
        </p:nvSpPr>
        <p:spPr>
          <a:xfrm>
            <a:off x="320040" y="2011680"/>
            <a:ext cx="1005840" cy="201168"/>
          </a:xfrm>
          <a:prstGeom prst="rect">
            <a:avLst/>
          </a:prstGeom>
          <a:noFill/>
          <a:ln/>
        </p:spPr>
        <p:txBody>
          <a:bodyPr wrap="square" rtlCol="0" anchor="ctr"/>
          <a:lstStyle/>
          <a:p>
            <a:pPr marL="0" indent="0" algn="ctr">
              <a:buNone/>
            </a:pPr>
            <a:r>
              <a:rPr lang="en-US" sz="750" b="1" dirty="0">
                <a:solidFill>
                  <a:srgbClr val="FFFFFF"/>
                </a:solidFill>
              </a:rPr>
              <a:t>TECHNICAL</a:t>
            </a:r>
            <a:endParaRPr lang="en-US" sz="750" dirty="0"/>
          </a:p>
        </p:txBody>
      </p:sp>
      <p:sp>
        <p:nvSpPr>
          <p:cNvPr id="21" name="Text 19"/>
          <p:cNvSpPr/>
          <p:nvPr/>
        </p:nvSpPr>
        <p:spPr>
          <a:xfrm>
            <a:off x="1417320" y="2002536"/>
            <a:ext cx="2999232" cy="246888"/>
          </a:xfrm>
          <a:prstGeom prst="rect">
            <a:avLst/>
          </a:prstGeom>
          <a:noFill/>
          <a:ln/>
        </p:spPr>
        <p:txBody>
          <a:bodyPr wrap="square" rtlCol="0" anchor="ctr"/>
          <a:lstStyle/>
          <a:p>
            <a:pPr marL="0" indent="0">
              <a:buNone/>
            </a:pPr>
            <a:r>
              <a:rPr lang="en-US" sz="950" b="1" dirty="0">
                <a:solidFill>
                  <a:srgbClr val="FFFFFF"/>
                </a:solidFill>
              </a:rPr>
              <a:t>Sim-to-Real Gap — Robots Still Fail at Unstructured Tasks</a:t>
            </a:r>
            <a:endParaRPr lang="en-US" sz="950" dirty="0"/>
          </a:p>
        </p:txBody>
      </p:sp>
      <p:sp>
        <p:nvSpPr>
          <p:cNvPr id="22" name="Text 20"/>
          <p:cNvSpPr/>
          <p:nvPr/>
        </p:nvSpPr>
        <p:spPr>
          <a:xfrm>
            <a:off x="320040" y="2258568"/>
            <a:ext cx="4096512" cy="566928"/>
          </a:xfrm>
          <a:prstGeom prst="rect">
            <a:avLst/>
          </a:prstGeom>
          <a:noFill/>
          <a:ln/>
        </p:spPr>
        <p:txBody>
          <a:bodyPr wrap="square" rtlCol="0" anchor="ctr"/>
          <a:lstStyle/>
          <a:p>
            <a:pPr marL="0" indent="0">
              <a:buNone/>
            </a:pPr>
            <a:r>
              <a:rPr lang="en-US" sz="850" dirty="0"/>
              <a:t>Robots trained in simulation (Omniverse, Cosmos) struggle in real-world environments with dust, humidity, varying lighting, unexpected objects. The 'last mile' of physical AI remains extremely hard. All companies working on this simultaneously.</a:t>
            </a:r>
          </a:p>
        </p:txBody>
      </p:sp>
      <p:sp>
        <p:nvSpPr>
          <p:cNvPr id="23" name="Shape 21"/>
          <p:cNvSpPr/>
          <p:nvPr/>
        </p:nvSpPr>
        <p:spPr>
          <a:xfrm>
            <a:off x="4681728" y="1965960"/>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24" name="Shape 22"/>
          <p:cNvSpPr/>
          <p:nvPr/>
        </p:nvSpPr>
        <p:spPr>
          <a:xfrm>
            <a:off x="4681728" y="1965960"/>
            <a:ext cx="64008" cy="886968"/>
          </a:xfrm>
          <a:prstGeom prst="rect">
            <a:avLst/>
          </a:prstGeom>
          <a:solidFill>
            <a:srgbClr val="F97316"/>
          </a:solidFill>
          <a:ln/>
        </p:spPr>
      </p:sp>
      <p:sp>
        <p:nvSpPr>
          <p:cNvPr id="25" name="Shape 23"/>
          <p:cNvSpPr/>
          <p:nvPr/>
        </p:nvSpPr>
        <p:spPr>
          <a:xfrm>
            <a:off x="4818888" y="2011680"/>
            <a:ext cx="1005840" cy="201168"/>
          </a:xfrm>
          <a:prstGeom prst="rect">
            <a:avLst/>
          </a:prstGeom>
          <a:solidFill>
            <a:srgbClr val="F97316"/>
          </a:solidFill>
          <a:ln/>
        </p:spPr>
      </p:sp>
      <p:sp>
        <p:nvSpPr>
          <p:cNvPr id="26" name="Text 24"/>
          <p:cNvSpPr/>
          <p:nvPr/>
        </p:nvSpPr>
        <p:spPr>
          <a:xfrm>
            <a:off x="4818888" y="2011680"/>
            <a:ext cx="1005840" cy="201168"/>
          </a:xfrm>
          <a:prstGeom prst="rect">
            <a:avLst/>
          </a:prstGeom>
          <a:noFill/>
          <a:ln/>
        </p:spPr>
        <p:txBody>
          <a:bodyPr wrap="square" rtlCol="0" anchor="ctr"/>
          <a:lstStyle/>
          <a:p>
            <a:pPr marL="0" indent="0" algn="ctr">
              <a:buNone/>
            </a:pPr>
            <a:r>
              <a:rPr lang="en-US" sz="750" b="1" dirty="0">
                <a:solidFill>
                  <a:srgbClr val="FFFFFF"/>
                </a:solidFill>
              </a:rPr>
              <a:t>TECHNICAL</a:t>
            </a:r>
            <a:endParaRPr lang="en-US" sz="750" dirty="0"/>
          </a:p>
        </p:txBody>
      </p:sp>
      <p:sp>
        <p:nvSpPr>
          <p:cNvPr id="27" name="Text 25"/>
          <p:cNvSpPr/>
          <p:nvPr/>
        </p:nvSpPr>
        <p:spPr>
          <a:xfrm>
            <a:off x="5916168" y="2002536"/>
            <a:ext cx="2999232" cy="246888"/>
          </a:xfrm>
          <a:prstGeom prst="rect">
            <a:avLst/>
          </a:prstGeom>
          <a:noFill/>
          <a:ln/>
        </p:spPr>
        <p:txBody>
          <a:bodyPr wrap="square" rtlCol="0" anchor="ctr"/>
          <a:lstStyle/>
          <a:p>
            <a:pPr marL="0" indent="0">
              <a:buNone/>
            </a:pPr>
            <a:r>
              <a:rPr lang="en-US" sz="950" b="1" dirty="0">
                <a:solidFill>
                  <a:srgbClr val="FFFFFF"/>
                </a:solidFill>
              </a:rPr>
              <a:t>Battery &amp; Actuator Limits — 4–8 Hour Runtime Constraint</a:t>
            </a:r>
            <a:endParaRPr lang="en-US" sz="950" dirty="0"/>
          </a:p>
        </p:txBody>
      </p:sp>
      <p:sp>
        <p:nvSpPr>
          <p:cNvPr id="28" name="Text 26"/>
          <p:cNvSpPr/>
          <p:nvPr/>
        </p:nvSpPr>
        <p:spPr>
          <a:xfrm>
            <a:off x="4818888" y="2258568"/>
            <a:ext cx="4096512" cy="566928"/>
          </a:xfrm>
          <a:prstGeom prst="rect">
            <a:avLst/>
          </a:prstGeom>
          <a:noFill/>
          <a:ln/>
        </p:spPr>
        <p:txBody>
          <a:bodyPr wrap="square" rtlCol="0" anchor="ctr"/>
          <a:lstStyle/>
          <a:p>
            <a:pPr marL="0" indent="0">
              <a:buNone/>
            </a:pPr>
            <a:r>
              <a:rPr lang="en-US" sz="850" dirty="0"/>
              <a:t>Current humanoid robots run 4–8 hours per charge. Actuators (the joints/motors) remain expensive and prone to failure. No commercial humanoid has demonstrated 24/7 industrial reliability at scale. Manufacturing deployment requires near-perfect uptime.</a:t>
            </a:r>
          </a:p>
        </p:txBody>
      </p:sp>
      <p:sp>
        <p:nvSpPr>
          <p:cNvPr id="29" name="Shape 27"/>
          <p:cNvSpPr/>
          <p:nvPr/>
        </p:nvSpPr>
        <p:spPr>
          <a:xfrm>
            <a:off x="182880" y="2926080"/>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30" name="Shape 28"/>
          <p:cNvSpPr/>
          <p:nvPr/>
        </p:nvSpPr>
        <p:spPr>
          <a:xfrm>
            <a:off x="182880" y="2926080"/>
            <a:ext cx="64008" cy="886968"/>
          </a:xfrm>
          <a:prstGeom prst="rect">
            <a:avLst/>
          </a:prstGeom>
          <a:solidFill>
            <a:srgbClr val="F59E0B"/>
          </a:solidFill>
          <a:ln/>
        </p:spPr>
      </p:sp>
      <p:sp>
        <p:nvSpPr>
          <p:cNvPr id="31" name="Shape 29"/>
          <p:cNvSpPr/>
          <p:nvPr/>
        </p:nvSpPr>
        <p:spPr>
          <a:xfrm>
            <a:off x="320040" y="2971800"/>
            <a:ext cx="1005840" cy="201168"/>
          </a:xfrm>
          <a:prstGeom prst="rect">
            <a:avLst/>
          </a:prstGeom>
          <a:solidFill>
            <a:srgbClr val="F59E0B"/>
          </a:solidFill>
          <a:ln/>
        </p:spPr>
      </p:sp>
      <p:sp>
        <p:nvSpPr>
          <p:cNvPr id="32" name="Text 30"/>
          <p:cNvSpPr/>
          <p:nvPr/>
        </p:nvSpPr>
        <p:spPr>
          <a:xfrm>
            <a:off x="320040" y="2971800"/>
            <a:ext cx="1005840" cy="201168"/>
          </a:xfrm>
          <a:prstGeom prst="rect">
            <a:avLst/>
          </a:prstGeom>
          <a:noFill/>
          <a:ln/>
        </p:spPr>
        <p:txBody>
          <a:bodyPr wrap="square" rtlCol="0" anchor="ctr"/>
          <a:lstStyle/>
          <a:p>
            <a:pPr marL="0" indent="0" algn="ctr">
              <a:buNone/>
            </a:pPr>
            <a:r>
              <a:rPr lang="en-US" sz="750" b="1" dirty="0">
                <a:solidFill>
                  <a:srgbClr val="FFFFFF"/>
                </a:solidFill>
              </a:rPr>
              <a:t>REGULATORY</a:t>
            </a:r>
            <a:endParaRPr lang="en-US" sz="750" dirty="0"/>
          </a:p>
        </p:txBody>
      </p:sp>
      <p:sp>
        <p:nvSpPr>
          <p:cNvPr id="33" name="Text 31"/>
          <p:cNvSpPr/>
          <p:nvPr/>
        </p:nvSpPr>
        <p:spPr>
          <a:xfrm>
            <a:off x="1417320" y="2962656"/>
            <a:ext cx="2999232" cy="246888"/>
          </a:xfrm>
          <a:prstGeom prst="rect">
            <a:avLst/>
          </a:prstGeom>
          <a:noFill/>
          <a:ln/>
        </p:spPr>
        <p:txBody>
          <a:bodyPr wrap="square" rtlCol="0" anchor="ctr"/>
          <a:lstStyle/>
          <a:p>
            <a:pPr marL="0" indent="0">
              <a:buNone/>
            </a:pPr>
            <a:r>
              <a:rPr lang="en-US" sz="950" b="1" dirty="0">
                <a:solidFill>
                  <a:srgbClr val="FFFFFF"/>
                </a:solidFill>
              </a:rPr>
              <a:t>FSD / Robotaxi Safety — Regulatory and Legal Overhang</a:t>
            </a:r>
            <a:endParaRPr lang="en-US" sz="950" dirty="0"/>
          </a:p>
        </p:txBody>
      </p:sp>
      <p:sp>
        <p:nvSpPr>
          <p:cNvPr id="34" name="Text 32"/>
          <p:cNvSpPr/>
          <p:nvPr/>
        </p:nvSpPr>
        <p:spPr>
          <a:xfrm>
            <a:off x="320040" y="3218688"/>
            <a:ext cx="4096512" cy="566928"/>
          </a:xfrm>
          <a:prstGeom prst="rect">
            <a:avLst/>
          </a:prstGeom>
          <a:noFill/>
          <a:ln/>
        </p:spPr>
        <p:txBody>
          <a:bodyPr wrap="square" rtlCol="0" anchor="ctr"/>
          <a:lstStyle/>
          <a:p>
            <a:pPr marL="0" indent="0">
              <a:buNone/>
            </a:pPr>
            <a:r>
              <a:rPr lang="en-US" sz="850" dirty="0"/>
              <a:t>Reuters May 2026 investigation found Tesla inflated FSD safety statistics 3×. California CPUC permit pending. Multiple lawsuits across EU (Netherlands HW3 claims). NHTSA scrutiny increasing. Regulatory approval for unsupervised FSD in dense markets could take years.</a:t>
            </a:r>
          </a:p>
        </p:txBody>
      </p:sp>
      <p:sp>
        <p:nvSpPr>
          <p:cNvPr id="35" name="Shape 33"/>
          <p:cNvSpPr/>
          <p:nvPr/>
        </p:nvSpPr>
        <p:spPr>
          <a:xfrm>
            <a:off x="4681728" y="2926080"/>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36" name="Shape 34"/>
          <p:cNvSpPr/>
          <p:nvPr/>
        </p:nvSpPr>
        <p:spPr>
          <a:xfrm>
            <a:off x="4681728" y="2926080"/>
            <a:ext cx="64008" cy="886968"/>
          </a:xfrm>
          <a:prstGeom prst="rect">
            <a:avLst/>
          </a:prstGeom>
          <a:solidFill>
            <a:srgbClr val="F59E0B"/>
          </a:solidFill>
          <a:ln/>
        </p:spPr>
      </p:sp>
      <p:sp>
        <p:nvSpPr>
          <p:cNvPr id="37" name="Shape 35"/>
          <p:cNvSpPr/>
          <p:nvPr/>
        </p:nvSpPr>
        <p:spPr>
          <a:xfrm>
            <a:off x="4818888" y="2971800"/>
            <a:ext cx="1005840" cy="201168"/>
          </a:xfrm>
          <a:prstGeom prst="rect">
            <a:avLst/>
          </a:prstGeom>
          <a:solidFill>
            <a:srgbClr val="F59E0B"/>
          </a:solidFill>
          <a:ln/>
        </p:spPr>
      </p:sp>
      <p:sp>
        <p:nvSpPr>
          <p:cNvPr id="38" name="Text 36"/>
          <p:cNvSpPr/>
          <p:nvPr/>
        </p:nvSpPr>
        <p:spPr>
          <a:xfrm>
            <a:off x="4818888" y="2971800"/>
            <a:ext cx="1005840" cy="201168"/>
          </a:xfrm>
          <a:prstGeom prst="rect">
            <a:avLst/>
          </a:prstGeom>
          <a:noFill/>
          <a:ln/>
        </p:spPr>
        <p:txBody>
          <a:bodyPr wrap="square" rtlCol="0" anchor="ctr"/>
          <a:lstStyle/>
          <a:p>
            <a:pPr marL="0" indent="0" algn="ctr">
              <a:buNone/>
            </a:pPr>
            <a:r>
              <a:rPr lang="en-US" sz="750" b="1" dirty="0">
                <a:solidFill>
                  <a:srgbClr val="FFFFFF"/>
                </a:solidFill>
              </a:rPr>
              <a:t>REGULATORY</a:t>
            </a:r>
            <a:endParaRPr lang="en-US" sz="750" dirty="0"/>
          </a:p>
        </p:txBody>
      </p:sp>
      <p:sp>
        <p:nvSpPr>
          <p:cNvPr id="39" name="Text 37"/>
          <p:cNvSpPr/>
          <p:nvPr/>
        </p:nvSpPr>
        <p:spPr>
          <a:xfrm>
            <a:off x="5916168" y="2962656"/>
            <a:ext cx="2999232" cy="246888"/>
          </a:xfrm>
          <a:prstGeom prst="rect">
            <a:avLst/>
          </a:prstGeom>
          <a:noFill/>
          <a:ln/>
        </p:spPr>
        <p:txBody>
          <a:bodyPr wrap="square" rtlCol="0" anchor="ctr"/>
          <a:lstStyle/>
          <a:p>
            <a:pPr marL="0" indent="0">
              <a:buNone/>
            </a:pPr>
            <a:r>
              <a:rPr lang="en-US" sz="950" b="1" dirty="0">
                <a:solidFill>
                  <a:srgbClr val="FFFFFF"/>
                </a:solidFill>
              </a:rPr>
              <a:t>AI Act (EU) + Export Controls (US) — Regulatory Bifurcation</a:t>
            </a:r>
            <a:endParaRPr lang="en-US" sz="950" dirty="0"/>
          </a:p>
        </p:txBody>
      </p:sp>
      <p:sp>
        <p:nvSpPr>
          <p:cNvPr id="40" name="Text 38"/>
          <p:cNvSpPr/>
          <p:nvPr/>
        </p:nvSpPr>
        <p:spPr>
          <a:xfrm>
            <a:off x="4818888" y="3218688"/>
            <a:ext cx="4096512" cy="566928"/>
          </a:xfrm>
          <a:prstGeom prst="rect">
            <a:avLst/>
          </a:prstGeom>
          <a:noFill/>
          <a:ln/>
        </p:spPr>
        <p:txBody>
          <a:bodyPr wrap="square" rtlCol="0" anchor="ctr"/>
          <a:lstStyle/>
          <a:p>
            <a:pPr marL="0" indent="0">
              <a:buNone/>
            </a:pPr>
            <a:r>
              <a:rPr lang="en-US" sz="850" dirty="0"/>
              <a:t>EU AI Act classifies some robot deployments as 'high risk' requiring conformity assessments. US chip export controls restrict NVIDIA GPU sales to China, accelerating Chinese self-sufficiency efforts (Huawei Ascend). Global market fragmentation risk.</a:t>
            </a:r>
          </a:p>
        </p:txBody>
      </p:sp>
      <p:sp>
        <p:nvSpPr>
          <p:cNvPr id="41" name="Shape 39"/>
          <p:cNvSpPr/>
          <p:nvPr/>
        </p:nvSpPr>
        <p:spPr>
          <a:xfrm>
            <a:off x="182880" y="3886200"/>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42" name="Shape 40"/>
          <p:cNvSpPr/>
          <p:nvPr/>
        </p:nvSpPr>
        <p:spPr>
          <a:xfrm>
            <a:off x="182880" y="3886200"/>
            <a:ext cx="64008" cy="886968"/>
          </a:xfrm>
          <a:prstGeom prst="rect">
            <a:avLst/>
          </a:prstGeom>
          <a:solidFill>
            <a:srgbClr val="64748B"/>
          </a:solidFill>
          <a:ln/>
        </p:spPr>
      </p:sp>
      <p:sp>
        <p:nvSpPr>
          <p:cNvPr id="43" name="Shape 41"/>
          <p:cNvSpPr/>
          <p:nvPr/>
        </p:nvSpPr>
        <p:spPr>
          <a:xfrm>
            <a:off x="320040" y="3931920"/>
            <a:ext cx="1005840" cy="201168"/>
          </a:xfrm>
          <a:prstGeom prst="rect">
            <a:avLst/>
          </a:prstGeom>
          <a:solidFill>
            <a:srgbClr val="64748B"/>
          </a:solidFill>
          <a:ln/>
        </p:spPr>
      </p:sp>
      <p:sp>
        <p:nvSpPr>
          <p:cNvPr id="44" name="Text 42"/>
          <p:cNvSpPr/>
          <p:nvPr/>
        </p:nvSpPr>
        <p:spPr>
          <a:xfrm>
            <a:off x="320040" y="3931920"/>
            <a:ext cx="1005840" cy="201168"/>
          </a:xfrm>
          <a:prstGeom prst="rect">
            <a:avLst/>
          </a:prstGeom>
          <a:noFill/>
          <a:ln/>
        </p:spPr>
        <p:txBody>
          <a:bodyPr wrap="square" rtlCol="0" anchor="ctr"/>
          <a:lstStyle/>
          <a:p>
            <a:pPr marL="0" indent="0" algn="ctr">
              <a:buNone/>
            </a:pPr>
            <a:r>
              <a:rPr lang="en-US" sz="750" b="1" dirty="0">
                <a:solidFill>
                  <a:srgbClr val="FFFFFF"/>
                </a:solidFill>
              </a:rPr>
              <a:t>VALUATION</a:t>
            </a:r>
            <a:endParaRPr lang="en-US" sz="750" dirty="0"/>
          </a:p>
        </p:txBody>
      </p:sp>
      <p:sp>
        <p:nvSpPr>
          <p:cNvPr id="45" name="Text 43"/>
          <p:cNvSpPr/>
          <p:nvPr/>
        </p:nvSpPr>
        <p:spPr>
          <a:xfrm>
            <a:off x="1417320" y="3922776"/>
            <a:ext cx="2999232" cy="246888"/>
          </a:xfrm>
          <a:prstGeom prst="rect">
            <a:avLst/>
          </a:prstGeom>
          <a:noFill/>
          <a:ln/>
        </p:spPr>
        <p:txBody>
          <a:bodyPr wrap="square" rtlCol="0" anchor="ctr"/>
          <a:lstStyle/>
          <a:p>
            <a:pPr marL="0" indent="0">
              <a:buNone/>
            </a:pPr>
            <a:r>
              <a:rPr lang="en-US" sz="950" b="1" dirty="0">
                <a:solidFill>
                  <a:srgbClr val="FFFFFF"/>
                </a:solidFill>
              </a:rPr>
              <a:t>NVIDIA at $3.3T — Historical Peak Valuation for Any Company</a:t>
            </a:r>
            <a:endParaRPr lang="en-US" sz="950" dirty="0"/>
          </a:p>
        </p:txBody>
      </p:sp>
      <p:sp>
        <p:nvSpPr>
          <p:cNvPr id="46" name="Text 44"/>
          <p:cNvSpPr/>
          <p:nvPr/>
        </p:nvSpPr>
        <p:spPr>
          <a:xfrm>
            <a:off x="320040" y="4178808"/>
            <a:ext cx="4096512" cy="566928"/>
          </a:xfrm>
          <a:prstGeom prst="rect">
            <a:avLst/>
          </a:prstGeom>
          <a:noFill/>
          <a:ln/>
        </p:spPr>
        <p:txBody>
          <a:bodyPr wrap="square" rtlCol="0" anchor="ctr"/>
          <a:lstStyle/>
          <a:p>
            <a:pPr marL="0" indent="0">
              <a:buNone/>
            </a:pPr>
            <a:r>
              <a:rPr lang="en-US" sz="850" dirty="0"/>
              <a:t>NVIDIA is priced for perfection. At $3.3T market cap with ~60x forward earnings, any deceleration in AI capex, a competing architecture gaining ground, or supply chain normalization could compress multiples significantly.</a:t>
            </a:r>
          </a:p>
        </p:txBody>
      </p:sp>
      <p:sp>
        <p:nvSpPr>
          <p:cNvPr id="47" name="Shape 45"/>
          <p:cNvSpPr/>
          <p:nvPr/>
        </p:nvSpPr>
        <p:spPr>
          <a:xfrm>
            <a:off x="4681728" y="3886200"/>
            <a:ext cx="4343400" cy="886968"/>
          </a:xfrm>
          <a:prstGeom prst="rect">
            <a:avLst/>
          </a:prstGeom>
          <a:solidFill>
            <a:srgbClr val="0F1F3D"/>
          </a:solidFill>
          <a:ln/>
          <a:effectLst>
            <a:outerShdw blurRad="127000" dist="50800" dir="8100000" algn="bl" rotWithShape="0">
              <a:srgbClr val="000000">
                <a:alpha val="25000"/>
              </a:srgbClr>
            </a:outerShdw>
          </a:effectLst>
        </p:spPr>
      </p:sp>
      <p:sp>
        <p:nvSpPr>
          <p:cNvPr id="48" name="Shape 46"/>
          <p:cNvSpPr/>
          <p:nvPr/>
        </p:nvSpPr>
        <p:spPr>
          <a:xfrm>
            <a:off x="4681728" y="3886200"/>
            <a:ext cx="64008" cy="886968"/>
          </a:xfrm>
          <a:prstGeom prst="rect">
            <a:avLst/>
          </a:prstGeom>
          <a:solidFill>
            <a:srgbClr val="64748B"/>
          </a:solidFill>
          <a:ln/>
        </p:spPr>
      </p:sp>
      <p:sp>
        <p:nvSpPr>
          <p:cNvPr id="49" name="Shape 47"/>
          <p:cNvSpPr/>
          <p:nvPr/>
        </p:nvSpPr>
        <p:spPr>
          <a:xfrm>
            <a:off x="4818888" y="3931920"/>
            <a:ext cx="1005840" cy="201168"/>
          </a:xfrm>
          <a:prstGeom prst="rect">
            <a:avLst/>
          </a:prstGeom>
          <a:solidFill>
            <a:srgbClr val="64748B"/>
          </a:solidFill>
          <a:ln/>
        </p:spPr>
      </p:sp>
      <p:sp>
        <p:nvSpPr>
          <p:cNvPr id="50" name="Text 48"/>
          <p:cNvSpPr/>
          <p:nvPr/>
        </p:nvSpPr>
        <p:spPr>
          <a:xfrm>
            <a:off x="4818888" y="3931920"/>
            <a:ext cx="1005840" cy="201168"/>
          </a:xfrm>
          <a:prstGeom prst="rect">
            <a:avLst/>
          </a:prstGeom>
          <a:noFill/>
          <a:ln/>
        </p:spPr>
        <p:txBody>
          <a:bodyPr wrap="square" rtlCol="0" anchor="ctr"/>
          <a:lstStyle/>
          <a:p>
            <a:pPr marL="0" indent="0" algn="ctr">
              <a:buNone/>
            </a:pPr>
            <a:r>
              <a:rPr lang="en-US" sz="750" b="1" dirty="0">
                <a:solidFill>
                  <a:srgbClr val="FFFFFF"/>
                </a:solidFill>
              </a:rPr>
              <a:t>VALUATION</a:t>
            </a:r>
            <a:endParaRPr lang="en-US" sz="750" dirty="0"/>
          </a:p>
        </p:txBody>
      </p:sp>
      <p:sp>
        <p:nvSpPr>
          <p:cNvPr id="51" name="Text 49"/>
          <p:cNvSpPr/>
          <p:nvPr/>
        </p:nvSpPr>
        <p:spPr>
          <a:xfrm>
            <a:off x="5916168" y="3922776"/>
            <a:ext cx="2999232" cy="246888"/>
          </a:xfrm>
          <a:prstGeom prst="rect">
            <a:avLst/>
          </a:prstGeom>
          <a:noFill/>
          <a:ln/>
        </p:spPr>
        <p:txBody>
          <a:bodyPr wrap="square" rtlCol="0" anchor="ctr"/>
          <a:lstStyle/>
          <a:p>
            <a:pPr marL="0" indent="0">
              <a:buNone/>
            </a:pPr>
            <a:r>
              <a:rPr lang="en-US" sz="950" b="1" dirty="0">
                <a:solidFill>
                  <a:srgbClr val="FFFFFF"/>
                </a:solidFill>
              </a:rPr>
              <a:t>Palantir at 100x+ Revenue — Premium Requires Perfect Execution</a:t>
            </a:r>
            <a:endParaRPr lang="en-US" sz="950" dirty="0"/>
          </a:p>
        </p:txBody>
      </p:sp>
      <p:sp>
        <p:nvSpPr>
          <p:cNvPr id="52" name="Text 50"/>
          <p:cNvSpPr/>
          <p:nvPr/>
        </p:nvSpPr>
        <p:spPr>
          <a:xfrm>
            <a:off x="4818888" y="4178808"/>
            <a:ext cx="4096512" cy="566928"/>
          </a:xfrm>
          <a:prstGeom prst="rect">
            <a:avLst/>
          </a:prstGeom>
          <a:noFill/>
          <a:ln/>
        </p:spPr>
        <p:txBody>
          <a:bodyPr wrap="square" rtlCol="0" anchor="ctr"/>
          <a:lstStyle/>
          <a:p>
            <a:pPr marL="0" indent="0">
              <a:buNone/>
            </a:pPr>
            <a:r>
              <a:rPr lang="en-US" sz="850" dirty="0"/>
              <a:t>PLTR trades at &gt;100x LTM revenue and ~200x+ forward P/E. Rule of 40 of 145% is extraordinary but priced in. Any guidance miss, contract loss, or government budget cut could trigger significant de-rating.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5">
    <p:bg>
      <p:bgPr>
        <a:solidFill>
          <a:srgbClr val="0D1226"/>
        </a:solidFill>
        <a:effectLst/>
      </p:bgPr>
    </p:bg>
    <p:spTree>
      <p:nvGrpSpPr>
        <p:cNvPr id="1" name=""/>
        <p:cNvGrpSpPr/>
        <p:nvPr/>
      </p:nvGrpSpPr>
      <p:grpSpPr>
        <a:xfrm>
          <a:off x="0" y="0"/>
          <a:ext cx="0" cy="0"/>
          <a:chOff x="0" y="0"/>
          <a:chExt cx="0" cy="0"/>
        </a:xfrm>
      </p:grpSpPr>
      <p:sp>
        <p:nvSpPr>
          <p:cNvPr id="2" name="Text 0"/>
          <p:cNvSpPr/>
          <p:nvPr/>
        </p:nvSpPr>
        <p:spPr>
          <a:xfrm>
            <a:off x="274320" y="137160"/>
            <a:ext cx="8595360" cy="365760"/>
          </a:xfrm>
          <a:prstGeom prst="rect">
            <a:avLst/>
          </a:prstGeom>
          <a:noFill/>
          <a:ln/>
        </p:spPr>
        <p:txBody>
          <a:bodyPr wrap="square" rtlCol="0" anchor="ctr"/>
          <a:lstStyle/>
          <a:p>
            <a:pPr marL="0" indent="0" algn="ctr">
              <a:buNone/>
            </a:pPr>
            <a:r>
              <a:rPr lang="en-US" sz="2200" b="1" dirty="0">
                <a:solidFill>
                  <a:srgbClr val="FFFFFF"/>
                </a:solidFill>
              </a:rPr>
              <a:t>GEOPOLITICAL RISKS &amp; SUPPLY CHAIN RESILIENCE</a:t>
            </a:r>
            <a:endParaRPr lang="en-US" sz="2200" dirty="0"/>
          </a:p>
        </p:txBody>
      </p:sp>
      <p:sp>
        <p:nvSpPr>
          <p:cNvPr id="3" name="Text 1"/>
          <p:cNvSpPr/>
          <p:nvPr/>
        </p:nvSpPr>
        <p:spPr>
          <a:xfrm>
            <a:off x="274320" y="566928"/>
            <a:ext cx="8595360" cy="365760"/>
          </a:xfrm>
          <a:prstGeom prst="rect">
            <a:avLst/>
          </a:prstGeom>
          <a:noFill/>
          <a:ln/>
        </p:spPr>
        <p:txBody>
          <a:bodyPr wrap="square" rtlCol="0" anchor="ctr"/>
          <a:lstStyle/>
          <a:p>
            <a:pPr marL="0" indent="0" algn="ctr">
              <a:buNone/>
            </a:pPr>
            <a:r>
              <a:rPr lang="en-US" sz="1100" dirty="0">
                <a:solidFill>
                  <a:srgbClr val="EF4444"/>
                </a:solidFill>
              </a:rPr>
              <a:t>The AI supply chain is geographically fragile — understanding exposure is essential for structural analysis</a:t>
            </a:r>
            <a:endParaRPr lang="en-US" sz="1100" dirty="0"/>
          </a:p>
        </p:txBody>
      </p:sp>
      <p:sp>
        <p:nvSpPr>
          <p:cNvPr id="4" name="Shape 2"/>
          <p:cNvSpPr/>
          <p:nvPr/>
        </p:nvSpPr>
        <p:spPr>
          <a:xfrm>
            <a:off x="274320" y="914400"/>
            <a:ext cx="8595360" cy="1179576"/>
          </a:xfrm>
          <a:prstGeom prst="rect">
            <a:avLst/>
          </a:prstGeom>
          <a:solidFill>
            <a:srgbClr val="1A2850"/>
          </a:solidFill>
          <a:ln w="6350">
            <a:solidFill>
              <a:srgbClr val="FFFFFF">
                <a:alpha val="6000"/>
              </a:srgbClr>
            </a:solidFill>
            <a:prstDash val="solid"/>
          </a:ln>
        </p:spPr>
      </p:sp>
      <p:sp>
        <p:nvSpPr>
          <p:cNvPr id="5" name="Text 3"/>
          <p:cNvSpPr/>
          <p:nvPr/>
        </p:nvSpPr>
        <p:spPr>
          <a:xfrm>
            <a:off x="411480" y="960120"/>
            <a:ext cx="8229600" cy="256032"/>
          </a:xfrm>
          <a:prstGeom prst="rect">
            <a:avLst/>
          </a:prstGeom>
          <a:noFill/>
          <a:ln/>
        </p:spPr>
        <p:txBody>
          <a:bodyPr wrap="square" lIns="0" tIns="0" rIns="0" bIns="0" rtlCol="0" anchor="ctr"/>
          <a:lstStyle/>
          <a:p>
            <a:pPr marL="0" indent="0">
              <a:buNone/>
            </a:pPr>
            <a:r>
              <a:rPr lang="en-US" sz="900" b="1" kern="0" spc="200" dirty="0">
                <a:solidFill>
                  <a:srgbClr val="EF4444"/>
                </a:solidFill>
              </a:rPr>
              <a:t>THE TAIWAN SCENARIO: UNDERSTANDING THE ACTUAL EXPOSURE</a:t>
            </a:r>
            <a:endParaRPr lang="en-US" sz="900" dirty="0"/>
          </a:p>
        </p:txBody>
      </p:sp>
      <p:sp>
        <p:nvSpPr>
          <p:cNvPr id="6" name="Shape 4"/>
          <p:cNvSpPr/>
          <p:nvPr/>
        </p:nvSpPr>
        <p:spPr>
          <a:xfrm>
            <a:off x="438912" y="1280160"/>
            <a:ext cx="91440" cy="91440"/>
          </a:xfrm>
          <a:prstGeom prst="ellipse">
            <a:avLst/>
          </a:prstGeom>
          <a:solidFill>
            <a:srgbClr val="EF4444"/>
          </a:solidFill>
          <a:ln/>
        </p:spPr>
      </p:sp>
      <p:sp>
        <p:nvSpPr>
          <p:cNvPr id="7" name="Text 5"/>
          <p:cNvSpPr/>
          <p:nvPr/>
        </p:nvSpPr>
        <p:spPr>
          <a:xfrm>
            <a:off x="621792" y="1234440"/>
            <a:ext cx="8092440" cy="201168"/>
          </a:xfrm>
          <a:prstGeom prst="rect">
            <a:avLst/>
          </a:prstGeom>
          <a:noFill/>
          <a:ln/>
        </p:spPr>
        <p:txBody>
          <a:bodyPr wrap="square" lIns="0" tIns="0" rIns="0" bIns="0" rtlCol="0" anchor="ctr"/>
          <a:lstStyle/>
          <a:p>
            <a:pPr marL="0" indent="0">
              <a:buNone/>
            </a:pPr>
            <a:r>
              <a:rPr lang="en-US" sz="850" dirty="0">
                <a:solidFill>
                  <a:srgbClr val="E2E8F5"/>
                </a:solidFill>
              </a:rPr>
              <a:t>TSMC manufactures 92%+ of sub-5nm logic chips. This includes NVIDIA GPUs, Apple A-series, AMD Epyc, Qualcomm Snapdragon — the entire AI compute ecosystem.</a:t>
            </a:r>
            <a:endParaRPr lang="en-US" sz="850" dirty="0"/>
          </a:p>
        </p:txBody>
      </p:sp>
      <p:sp>
        <p:nvSpPr>
          <p:cNvPr id="8" name="Shape 6"/>
          <p:cNvSpPr/>
          <p:nvPr/>
        </p:nvSpPr>
        <p:spPr>
          <a:xfrm>
            <a:off x="438912" y="1490472"/>
            <a:ext cx="91440" cy="91440"/>
          </a:xfrm>
          <a:prstGeom prst="ellipse">
            <a:avLst/>
          </a:prstGeom>
          <a:solidFill>
            <a:srgbClr val="EF4444"/>
          </a:solidFill>
          <a:ln/>
        </p:spPr>
      </p:sp>
      <p:sp>
        <p:nvSpPr>
          <p:cNvPr id="9" name="Text 7"/>
          <p:cNvSpPr/>
          <p:nvPr/>
        </p:nvSpPr>
        <p:spPr>
          <a:xfrm>
            <a:off x="621792" y="1444752"/>
            <a:ext cx="8092440" cy="201168"/>
          </a:xfrm>
          <a:prstGeom prst="rect">
            <a:avLst/>
          </a:prstGeom>
          <a:noFill/>
          <a:ln/>
        </p:spPr>
        <p:txBody>
          <a:bodyPr wrap="square" lIns="0" tIns="0" rIns="0" bIns="0" rtlCol="0" anchor="ctr"/>
          <a:lstStyle/>
          <a:p>
            <a:pPr marL="0" indent="0">
              <a:buNone/>
            </a:pPr>
            <a:r>
              <a:rPr lang="en-US" sz="850" dirty="0">
                <a:solidFill>
                  <a:srgbClr val="E2E8F5"/>
                </a:solidFill>
              </a:rPr>
              <a:t>A Taiwan conflict does not just "raise prices." It halts new AI chip production entirely for 2-5 years while TSMC-equivalent fabs are built elsewhere (even with $100B investment, process knowledge takes 3-5 years to transfer).</a:t>
            </a:r>
            <a:endParaRPr lang="en-US" sz="850" dirty="0"/>
          </a:p>
        </p:txBody>
      </p:sp>
      <p:sp>
        <p:nvSpPr>
          <p:cNvPr id="10" name="Shape 8"/>
          <p:cNvSpPr/>
          <p:nvPr/>
        </p:nvSpPr>
        <p:spPr>
          <a:xfrm>
            <a:off x="438912" y="1700784"/>
            <a:ext cx="91440" cy="91440"/>
          </a:xfrm>
          <a:prstGeom prst="ellipse">
            <a:avLst/>
          </a:prstGeom>
          <a:solidFill>
            <a:srgbClr val="EF4444"/>
          </a:solidFill>
          <a:ln/>
        </p:spPr>
      </p:sp>
      <p:sp>
        <p:nvSpPr>
          <p:cNvPr id="11" name="Text 9"/>
          <p:cNvSpPr/>
          <p:nvPr/>
        </p:nvSpPr>
        <p:spPr>
          <a:xfrm>
            <a:off x="621792" y="1655064"/>
            <a:ext cx="8092440" cy="201168"/>
          </a:xfrm>
          <a:prstGeom prst="rect">
            <a:avLst/>
          </a:prstGeom>
          <a:noFill/>
          <a:ln/>
        </p:spPr>
        <p:txBody>
          <a:bodyPr wrap="square" lIns="0" tIns="0" rIns="0" bIns="0" rtlCol="0" anchor="ctr"/>
          <a:lstStyle/>
          <a:p>
            <a:pPr marL="0" indent="0">
              <a:buNone/>
            </a:pPr>
            <a:r>
              <a:rPr lang="en-US" sz="850" dirty="0">
                <a:solidFill>
                  <a:srgbClr val="E2E8F5"/>
                </a:solidFill>
              </a:rPr>
              <a:t>TSMC Arizona (Fab 21): producing 4nm chips. By 2030: 2nm capability. This reduces but does not eliminate Taiwan concentration — Arizona represents ~10% of TSMC capacity by 2027.</a:t>
            </a:r>
            <a:endParaRPr lang="en-US" sz="850" dirty="0"/>
          </a:p>
        </p:txBody>
      </p:sp>
      <p:sp>
        <p:nvSpPr>
          <p:cNvPr id="12" name="Shape 10"/>
          <p:cNvSpPr/>
          <p:nvPr/>
        </p:nvSpPr>
        <p:spPr>
          <a:xfrm>
            <a:off x="438912" y="1911096"/>
            <a:ext cx="91440" cy="91440"/>
          </a:xfrm>
          <a:prstGeom prst="ellipse">
            <a:avLst/>
          </a:prstGeom>
          <a:solidFill>
            <a:srgbClr val="EF4444"/>
          </a:solidFill>
          <a:ln/>
        </p:spPr>
      </p:sp>
      <p:sp>
        <p:nvSpPr>
          <p:cNvPr id="13" name="Text 11"/>
          <p:cNvSpPr/>
          <p:nvPr/>
        </p:nvSpPr>
        <p:spPr>
          <a:xfrm>
            <a:off x="621792" y="1865376"/>
            <a:ext cx="8092440" cy="201168"/>
          </a:xfrm>
          <a:prstGeom prst="rect">
            <a:avLst/>
          </a:prstGeom>
          <a:noFill/>
          <a:ln/>
        </p:spPr>
        <p:txBody>
          <a:bodyPr wrap="square" lIns="0" tIns="0" rIns="0" bIns="0" rtlCol="0" anchor="ctr"/>
          <a:lstStyle/>
          <a:p>
            <a:pPr marL="0" indent="0">
              <a:buNone/>
            </a:pPr>
            <a:r>
              <a:rPr lang="en-US" sz="850" dirty="0">
                <a:solidFill>
                  <a:srgbClr val="E2E8F5"/>
                </a:solidFill>
              </a:rPr>
              <a:t>Response strategy: Intel 18A, Samsung Foundry, TSMC Arizona, TSMC Europe (Dresden). Collectively: may achieve 30-40% non-Taiwan advanced logic capacity by 2030.</a:t>
            </a:r>
            <a:endParaRPr lang="en-US" sz="850" dirty="0"/>
          </a:p>
        </p:txBody>
      </p:sp>
      <p:grpSp>
        <p:nvGrpSpPr>
          <p:cNvPr id="41" name="Group 40">
            <a:extLst>
              <a:ext uri="{FF2B5EF4-FFF2-40B4-BE49-F238E27FC236}">
                <a16:creationId xmlns:a16="http://schemas.microsoft.com/office/drawing/2014/main" id="{D713608F-C704-520E-7B5C-4355DA7BA788}"/>
              </a:ext>
            </a:extLst>
          </p:cNvPr>
          <p:cNvGrpSpPr/>
          <p:nvPr/>
        </p:nvGrpSpPr>
        <p:grpSpPr>
          <a:xfrm>
            <a:off x="182880" y="2185416"/>
            <a:ext cx="8723376" cy="2834640"/>
            <a:chOff x="182880" y="2185416"/>
            <a:chExt cx="8723376" cy="2834640"/>
          </a:xfrm>
        </p:grpSpPr>
        <p:sp>
          <p:nvSpPr>
            <p:cNvPr id="14" name="Shape 12"/>
            <p:cNvSpPr/>
            <p:nvPr/>
          </p:nvSpPr>
          <p:spPr>
            <a:xfrm>
              <a:off x="182880" y="2185416"/>
              <a:ext cx="2816352" cy="283464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15" name="Shape 13"/>
            <p:cNvSpPr/>
            <p:nvPr/>
          </p:nvSpPr>
          <p:spPr>
            <a:xfrm>
              <a:off x="182880" y="2185416"/>
              <a:ext cx="2816352" cy="292608"/>
            </a:xfrm>
            <a:prstGeom prst="rect">
              <a:avLst/>
            </a:prstGeom>
            <a:solidFill>
              <a:srgbClr val="F97316">
                <a:alpha val="82000"/>
              </a:srgbClr>
            </a:solidFill>
            <a:ln/>
          </p:spPr>
        </p:sp>
        <p:sp>
          <p:nvSpPr>
            <p:cNvPr id="16" name="Text 14"/>
            <p:cNvSpPr/>
            <p:nvPr/>
          </p:nvSpPr>
          <p:spPr>
            <a:xfrm>
              <a:off x="274320" y="2185416"/>
              <a:ext cx="2633472" cy="292608"/>
            </a:xfrm>
            <a:prstGeom prst="rect">
              <a:avLst/>
            </a:prstGeom>
            <a:noFill/>
            <a:ln/>
          </p:spPr>
          <p:txBody>
            <a:bodyPr wrap="square" lIns="0" tIns="0" rIns="0" bIns="0" rtlCol="0" anchor="ctr"/>
            <a:lstStyle/>
            <a:p>
              <a:pPr marL="0" indent="0">
                <a:buNone/>
              </a:pPr>
              <a:r>
                <a:rPr lang="en-US" sz="950" b="1" dirty="0">
                  <a:solidFill>
                    <a:srgbClr val="FFFFFF"/>
                  </a:solidFill>
                </a:rPr>
                <a:t>US Export Controls on China</a:t>
              </a:r>
              <a:endParaRPr lang="en-US" sz="950" dirty="0"/>
            </a:p>
          </p:txBody>
        </p:sp>
        <p:sp>
          <p:nvSpPr>
            <p:cNvPr id="17" name="Text 15"/>
            <p:cNvSpPr/>
            <p:nvPr/>
          </p:nvSpPr>
          <p:spPr>
            <a:xfrm>
              <a:off x="274320" y="2523744"/>
              <a:ext cx="2633472" cy="201168"/>
            </a:xfrm>
            <a:prstGeom prst="rect">
              <a:avLst/>
            </a:prstGeom>
            <a:noFill/>
            <a:ln/>
          </p:spPr>
          <p:txBody>
            <a:bodyPr wrap="square" lIns="0" tIns="0" rIns="0" bIns="0" rtlCol="0" anchor="ctr"/>
            <a:lstStyle/>
            <a:p>
              <a:pPr marL="0" indent="0">
                <a:buNone/>
              </a:pPr>
              <a:r>
                <a:rPr lang="en-US" sz="750" b="1" dirty="0">
                  <a:solidFill>
                    <a:srgbClr val="64748B"/>
                  </a:solidFill>
                </a:rPr>
                <a:t>EXPOSURE:</a:t>
              </a:r>
              <a:endParaRPr lang="en-US" sz="750" dirty="0"/>
            </a:p>
          </p:txBody>
        </p:sp>
        <p:sp>
          <p:nvSpPr>
            <p:cNvPr id="18" name="Text 16"/>
            <p:cNvSpPr/>
            <p:nvPr/>
          </p:nvSpPr>
          <p:spPr>
            <a:xfrm>
              <a:off x="274320" y="2706624"/>
              <a:ext cx="2633472" cy="530352"/>
            </a:xfrm>
            <a:prstGeom prst="rect">
              <a:avLst/>
            </a:prstGeom>
            <a:noFill/>
            <a:ln/>
          </p:spPr>
          <p:txBody>
            <a:bodyPr wrap="square" rtlCol="0" anchor="ctr"/>
            <a:lstStyle/>
            <a:p>
              <a:pPr marL="0" indent="0">
                <a:buNone/>
              </a:pPr>
              <a:r>
                <a:rPr lang="en-US" sz="900" dirty="0"/>
                <a:t>NVIDIA cannot sell H100/A100/H800 to China. Chinese AI industry developing Huawei Ascend 910B as domestic alternative. Estimated 2 generations behind NVIDIA (equivalent to 2022 A100).</a:t>
              </a:r>
            </a:p>
          </p:txBody>
        </p:sp>
        <p:sp>
          <p:nvSpPr>
            <p:cNvPr id="19" name="Text 17"/>
            <p:cNvSpPr/>
            <p:nvPr/>
          </p:nvSpPr>
          <p:spPr>
            <a:xfrm>
              <a:off x="274320" y="3273552"/>
              <a:ext cx="2633472" cy="201168"/>
            </a:xfrm>
            <a:prstGeom prst="rect">
              <a:avLst/>
            </a:prstGeom>
            <a:noFill/>
            <a:ln/>
          </p:spPr>
          <p:txBody>
            <a:bodyPr wrap="square" lIns="0" tIns="0" rIns="0" bIns="0" rtlCol="0" anchor="ctr"/>
            <a:lstStyle/>
            <a:p>
              <a:pPr marL="0" indent="0">
                <a:buNone/>
              </a:pPr>
              <a:r>
                <a:rPr lang="en-US" sz="750" b="1" dirty="0">
                  <a:solidFill>
                    <a:srgbClr val="64748B"/>
                  </a:solidFill>
                </a:rPr>
                <a:t>IMPLICATION:</a:t>
              </a:r>
              <a:endParaRPr lang="en-US" sz="750" dirty="0"/>
            </a:p>
          </p:txBody>
        </p:sp>
        <p:sp>
          <p:nvSpPr>
            <p:cNvPr id="20" name="Text 18"/>
            <p:cNvSpPr/>
            <p:nvPr/>
          </p:nvSpPr>
          <p:spPr>
            <a:xfrm>
              <a:off x="274320" y="3456432"/>
              <a:ext cx="2633472" cy="502920"/>
            </a:xfrm>
            <a:prstGeom prst="rect">
              <a:avLst/>
            </a:prstGeom>
            <a:noFill/>
            <a:ln/>
          </p:spPr>
          <p:txBody>
            <a:bodyPr wrap="square" rtlCol="0" anchor="ctr"/>
            <a:lstStyle/>
            <a:p>
              <a:pPr marL="0" indent="0">
                <a:buNone/>
              </a:pPr>
              <a:r>
                <a:rPr lang="en-US" sz="900" dirty="0"/>
                <a:t>Slows Chinese AI development 2-3 years. Creates permanent technology gap if controls maintained. However: motivates $100B+ Chinese chip investment — long-term competitive risk.</a:t>
              </a:r>
            </a:p>
          </p:txBody>
        </p:sp>
        <p:sp>
          <p:nvSpPr>
            <p:cNvPr id="21" name="Text 19"/>
            <p:cNvSpPr/>
            <p:nvPr/>
          </p:nvSpPr>
          <p:spPr>
            <a:xfrm>
              <a:off x="274320" y="3995928"/>
              <a:ext cx="2633472" cy="201168"/>
            </a:xfrm>
            <a:prstGeom prst="rect">
              <a:avLst/>
            </a:prstGeom>
            <a:noFill/>
            <a:ln/>
          </p:spPr>
          <p:txBody>
            <a:bodyPr wrap="square" lIns="0" tIns="0" rIns="0" bIns="0" rtlCol="0" anchor="ctr"/>
            <a:lstStyle/>
            <a:p>
              <a:pPr marL="0" indent="0">
                <a:buNone/>
              </a:pPr>
              <a:r>
                <a:rPr lang="en-US" sz="750" b="1" dirty="0">
                  <a:solidFill>
                    <a:srgbClr val="F97316"/>
                  </a:solidFill>
                </a:rPr>
                <a:t>DIRECTION:</a:t>
              </a:r>
              <a:endParaRPr lang="en-US" sz="750" dirty="0"/>
            </a:p>
          </p:txBody>
        </p:sp>
        <p:sp>
          <p:nvSpPr>
            <p:cNvPr id="22" name="Text 20"/>
            <p:cNvSpPr/>
            <p:nvPr/>
          </p:nvSpPr>
          <p:spPr>
            <a:xfrm>
              <a:off x="274320" y="4178808"/>
              <a:ext cx="2633472" cy="749808"/>
            </a:xfrm>
            <a:prstGeom prst="rect">
              <a:avLst/>
            </a:prstGeom>
            <a:noFill/>
            <a:ln/>
          </p:spPr>
          <p:txBody>
            <a:bodyPr wrap="square" rtlCol="0" anchor="ctr"/>
            <a:lstStyle/>
            <a:p>
              <a:pPr marL="0" indent="0">
                <a:buNone/>
              </a:pPr>
              <a:r>
                <a:rPr lang="en-US" sz="900" dirty="0"/>
                <a:t>Positive for US AI development pace. Risk: if China closes gap, it commoditizes AI models globally.</a:t>
              </a:r>
            </a:p>
          </p:txBody>
        </p:sp>
        <p:sp>
          <p:nvSpPr>
            <p:cNvPr id="23" name="Shape 21"/>
            <p:cNvSpPr/>
            <p:nvPr/>
          </p:nvSpPr>
          <p:spPr>
            <a:xfrm>
              <a:off x="3136392" y="2185416"/>
              <a:ext cx="2816352" cy="283464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24" name="Shape 22"/>
            <p:cNvSpPr/>
            <p:nvPr/>
          </p:nvSpPr>
          <p:spPr>
            <a:xfrm>
              <a:off x="3136392" y="2185416"/>
              <a:ext cx="2816352" cy="292608"/>
            </a:xfrm>
            <a:prstGeom prst="rect">
              <a:avLst/>
            </a:prstGeom>
            <a:solidFill>
              <a:srgbClr val="F59E0B">
                <a:alpha val="82000"/>
              </a:srgbClr>
            </a:solidFill>
            <a:ln/>
          </p:spPr>
        </p:sp>
        <p:sp>
          <p:nvSpPr>
            <p:cNvPr id="25" name="Text 23"/>
            <p:cNvSpPr/>
            <p:nvPr/>
          </p:nvSpPr>
          <p:spPr>
            <a:xfrm>
              <a:off x="3227832" y="2185416"/>
              <a:ext cx="2633472" cy="292608"/>
            </a:xfrm>
            <a:prstGeom prst="rect">
              <a:avLst/>
            </a:prstGeom>
            <a:noFill/>
            <a:ln/>
          </p:spPr>
          <p:txBody>
            <a:bodyPr wrap="square" lIns="0" tIns="0" rIns="0" bIns="0" rtlCol="0" anchor="ctr"/>
            <a:lstStyle/>
            <a:p>
              <a:pPr marL="0" indent="0">
                <a:buNone/>
              </a:pPr>
              <a:r>
                <a:rPr lang="en-US" sz="950" b="1" dirty="0">
                  <a:solidFill>
                    <a:srgbClr val="FFFFFF"/>
                  </a:solidFill>
                </a:rPr>
                <a:t>Japan Export Controls (Chip Equipment)</a:t>
              </a:r>
              <a:endParaRPr lang="en-US" sz="950" dirty="0"/>
            </a:p>
          </p:txBody>
        </p:sp>
        <p:sp>
          <p:nvSpPr>
            <p:cNvPr id="26" name="Text 24"/>
            <p:cNvSpPr/>
            <p:nvPr/>
          </p:nvSpPr>
          <p:spPr>
            <a:xfrm>
              <a:off x="3227832" y="2523744"/>
              <a:ext cx="2633472" cy="201168"/>
            </a:xfrm>
            <a:prstGeom prst="rect">
              <a:avLst/>
            </a:prstGeom>
            <a:noFill/>
            <a:ln/>
          </p:spPr>
          <p:txBody>
            <a:bodyPr wrap="square" lIns="0" tIns="0" rIns="0" bIns="0" rtlCol="0" anchor="ctr"/>
            <a:lstStyle/>
            <a:p>
              <a:pPr marL="0" indent="0">
                <a:buNone/>
              </a:pPr>
              <a:r>
                <a:rPr lang="en-US" sz="750" b="1" dirty="0">
                  <a:solidFill>
                    <a:srgbClr val="64748B"/>
                  </a:solidFill>
                </a:rPr>
                <a:t>EXPOSURE:</a:t>
              </a:r>
              <a:endParaRPr lang="en-US" sz="750" dirty="0"/>
            </a:p>
          </p:txBody>
        </p:sp>
        <p:sp>
          <p:nvSpPr>
            <p:cNvPr id="27" name="Text 25"/>
            <p:cNvSpPr/>
            <p:nvPr/>
          </p:nvSpPr>
          <p:spPr>
            <a:xfrm>
              <a:off x="3227832" y="2706624"/>
              <a:ext cx="2633472" cy="530352"/>
            </a:xfrm>
            <a:prstGeom prst="rect">
              <a:avLst/>
            </a:prstGeom>
            <a:noFill/>
            <a:ln/>
          </p:spPr>
          <p:txBody>
            <a:bodyPr wrap="square" rtlCol="0" anchor="ctr"/>
            <a:lstStyle/>
            <a:p>
              <a:pPr marL="0" indent="0">
                <a:buNone/>
              </a:pPr>
              <a:r>
                <a:rPr lang="en-US" sz="900" dirty="0"/>
                <a:t>Japan controls key lithography, deposition, and etching equipment. METI (Japan) aligned with US Wassenaar controls: Nikon, Tokyo Electron, Shin-Etsu restricted from China.</a:t>
              </a:r>
            </a:p>
          </p:txBody>
        </p:sp>
        <p:sp>
          <p:nvSpPr>
            <p:cNvPr id="28" name="Text 26"/>
            <p:cNvSpPr/>
            <p:nvPr/>
          </p:nvSpPr>
          <p:spPr>
            <a:xfrm>
              <a:off x="3227832" y="3273552"/>
              <a:ext cx="2633472" cy="201168"/>
            </a:xfrm>
            <a:prstGeom prst="rect">
              <a:avLst/>
            </a:prstGeom>
            <a:noFill/>
            <a:ln/>
          </p:spPr>
          <p:txBody>
            <a:bodyPr wrap="square" lIns="0" tIns="0" rIns="0" bIns="0" rtlCol="0" anchor="ctr"/>
            <a:lstStyle/>
            <a:p>
              <a:pPr marL="0" indent="0">
                <a:buNone/>
              </a:pPr>
              <a:r>
                <a:rPr lang="en-US" sz="750" b="1" dirty="0">
                  <a:solidFill>
                    <a:srgbClr val="64748B"/>
                  </a:solidFill>
                </a:rPr>
                <a:t>IMPLICATION:</a:t>
              </a:r>
              <a:endParaRPr lang="en-US" sz="750" dirty="0"/>
            </a:p>
          </p:txBody>
        </p:sp>
        <p:sp>
          <p:nvSpPr>
            <p:cNvPr id="29" name="Text 27"/>
            <p:cNvSpPr/>
            <p:nvPr/>
          </p:nvSpPr>
          <p:spPr>
            <a:xfrm>
              <a:off x="3227832" y="3456432"/>
              <a:ext cx="2633472" cy="502920"/>
            </a:xfrm>
            <a:prstGeom prst="rect">
              <a:avLst/>
            </a:prstGeom>
            <a:noFill/>
            <a:ln/>
          </p:spPr>
          <p:txBody>
            <a:bodyPr wrap="square" rtlCol="0" anchor="ctr"/>
            <a:lstStyle/>
            <a:p>
              <a:pPr marL="0" indent="0">
                <a:buNone/>
              </a:pPr>
              <a:r>
                <a:rPr lang="en-US" sz="900" dirty="0"/>
                <a:t>China cannot build cutting-edge fabs without Japanese equipment. Effectively extends TSMC advantage by preventing Chinese advanced logic foundry.</a:t>
              </a:r>
            </a:p>
          </p:txBody>
        </p:sp>
        <p:sp>
          <p:nvSpPr>
            <p:cNvPr id="30" name="Text 28"/>
            <p:cNvSpPr/>
            <p:nvPr/>
          </p:nvSpPr>
          <p:spPr>
            <a:xfrm>
              <a:off x="3227832" y="3995928"/>
              <a:ext cx="2633472" cy="201168"/>
            </a:xfrm>
            <a:prstGeom prst="rect">
              <a:avLst/>
            </a:prstGeom>
            <a:noFill/>
            <a:ln/>
          </p:spPr>
          <p:txBody>
            <a:bodyPr wrap="square" lIns="0" tIns="0" rIns="0" bIns="0" rtlCol="0" anchor="ctr"/>
            <a:lstStyle/>
            <a:p>
              <a:pPr marL="0" indent="0">
                <a:buNone/>
              </a:pPr>
              <a:r>
                <a:rPr lang="en-US" sz="750" b="1" dirty="0">
                  <a:solidFill>
                    <a:srgbClr val="F59E0B"/>
                  </a:solidFill>
                </a:rPr>
                <a:t>DIRECTION:</a:t>
              </a:r>
              <a:endParaRPr lang="en-US" sz="750" dirty="0"/>
            </a:p>
          </p:txBody>
        </p:sp>
        <p:sp>
          <p:nvSpPr>
            <p:cNvPr id="31" name="Text 29"/>
            <p:cNvSpPr/>
            <p:nvPr/>
          </p:nvSpPr>
          <p:spPr>
            <a:xfrm>
              <a:off x="3227832" y="4178808"/>
              <a:ext cx="2633472" cy="749808"/>
            </a:xfrm>
            <a:prstGeom prst="rect">
              <a:avLst/>
            </a:prstGeom>
            <a:noFill/>
            <a:ln/>
          </p:spPr>
          <p:txBody>
            <a:bodyPr wrap="square" rtlCol="0" anchor="ctr"/>
            <a:lstStyle/>
            <a:p>
              <a:pPr marL="0" indent="0">
                <a:buNone/>
              </a:pPr>
              <a:r>
                <a:rPr lang="en-US" sz="900" dirty="0"/>
                <a:t>Strong protection for non-China supply chain. Risk: Chinese domestic equipment (SMEE) developing alternatives — 3-5 year catch-up window.</a:t>
              </a:r>
            </a:p>
          </p:txBody>
        </p:sp>
        <p:sp>
          <p:nvSpPr>
            <p:cNvPr id="32" name="Shape 30"/>
            <p:cNvSpPr/>
            <p:nvPr/>
          </p:nvSpPr>
          <p:spPr>
            <a:xfrm>
              <a:off x="6089904" y="2185416"/>
              <a:ext cx="2816352" cy="283464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33" name="Shape 31"/>
            <p:cNvSpPr/>
            <p:nvPr/>
          </p:nvSpPr>
          <p:spPr>
            <a:xfrm>
              <a:off x="6089904" y="2185416"/>
              <a:ext cx="2816352" cy="292608"/>
            </a:xfrm>
            <a:prstGeom prst="rect">
              <a:avLst/>
            </a:prstGeom>
            <a:solidFill>
              <a:srgbClr val="EF4444">
                <a:alpha val="82000"/>
              </a:srgbClr>
            </a:solidFill>
            <a:ln/>
          </p:spPr>
        </p:sp>
        <p:sp>
          <p:nvSpPr>
            <p:cNvPr id="34" name="Text 32"/>
            <p:cNvSpPr/>
            <p:nvPr/>
          </p:nvSpPr>
          <p:spPr>
            <a:xfrm>
              <a:off x="6181344" y="2185416"/>
              <a:ext cx="2633472" cy="292608"/>
            </a:xfrm>
            <a:prstGeom prst="rect">
              <a:avLst/>
            </a:prstGeom>
            <a:noFill/>
            <a:ln/>
          </p:spPr>
          <p:txBody>
            <a:bodyPr wrap="square" lIns="0" tIns="0" rIns="0" bIns="0" rtlCol="0" anchor="ctr"/>
            <a:lstStyle/>
            <a:p>
              <a:pPr marL="0" indent="0">
                <a:buNone/>
              </a:pPr>
              <a:r>
                <a:rPr lang="en-US" sz="950" b="1" dirty="0">
                  <a:solidFill>
                    <a:srgbClr val="FFFFFF"/>
                  </a:solidFill>
                </a:rPr>
                <a:t>Rare Earth / Critical Minerals (China)</a:t>
              </a:r>
              <a:endParaRPr lang="en-US" sz="950" dirty="0"/>
            </a:p>
          </p:txBody>
        </p:sp>
        <p:sp>
          <p:nvSpPr>
            <p:cNvPr id="35" name="Text 33"/>
            <p:cNvSpPr/>
            <p:nvPr/>
          </p:nvSpPr>
          <p:spPr>
            <a:xfrm>
              <a:off x="6181344" y="2523744"/>
              <a:ext cx="2633472" cy="201168"/>
            </a:xfrm>
            <a:prstGeom prst="rect">
              <a:avLst/>
            </a:prstGeom>
            <a:noFill/>
            <a:ln/>
          </p:spPr>
          <p:txBody>
            <a:bodyPr wrap="square" lIns="0" tIns="0" rIns="0" bIns="0" rtlCol="0" anchor="ctr"/>
            <a:lstStyle/>
            <a:p>
              <a:pPr marL="0" indent="0">
                <a:buNone/>
              </a:pPr>
              <a:r>
                <a:rPr lang="en-US" sz="750" b="1" dirty="0">
                  <a:solidFill>
                    <a:srgbClr val="64748B"/>
                  </a:solidFill>
                </a:rPr>
                <a:t>EXPOSURE:</a:t>
              </a:r>
              <a:endParaRPr lang="en-US" sz="750" dirty="0"/>
            </a:p>
          </p:txBody>
        </p:sp>
        <p:sp>
          <p:nvSpPr>
            <p:cNvPr id="36" name="Text 34"/>
            <p:cNvSpPr/>
            <p:nvPr/>
          </p:nvSpPr>
          <p:spPr>
            <a:xfrm>
              <a:off x="6181344" y="2706624"/>
              <a:ext cx="2633472" cy="530352"/>
            </a:xfrm>
            <a:prstGeom prst="rect">
              <a:avLst/>
            </a:prstGeom>
            <a:noFill/>
            <a:ln/>
          </p:spPr>
          <p:txBody>
            <a:bodyPr wrap="square" rtlCol="0" anchor="ctr"/>
            <a:lstStyle/>
            <a:p>
              <a:pPr marL="0" indent="0">
                <a:buNone/>
              </a:pPr>
              <a:r>
                <a:rPr lang="en-US" sz="900" dirty="0"/>
                <a:t>China controls 85%+ of rare earth processing (neodymium, dysprosium for permanent magnets used in ALL electric motors and generators). Export quotas already applied to gallium and germanium (2023).</a:t>
              </a:r>
            </a:p>
          </p:txBody>
        </p:sp>
        <p:sp>
          <p:nvSpPr>
            <p:cNvPr id="37" name="Text 35"/>
            <p:cNvSpPr/>
            <p:nvPr/>
          </p:nvSpPr>
          <p:spPr>
            <a:xfrm>
              <a:off x="6181344" y="3273552"/>
              <a:ext cx="2633472" cy="201168"/>
            </a:xfrm>
            <a:prstGeom prst="rect">
              <a:avLst/>
            </a:prstGeom>
            <a:noFill/>
            <a:ln/>
          </p:spPr>
          <p:txBody>
            <a:bodyPr wrap="square" lIns="0" tIns="0" rIns="0" bIns="0" rtlCol="0" anchor="ctr"/>
            <a:lstStyle/>
            <a:p>
              <a:pPr marL="0" indent="0">
                <a:buNone/>
              </a:pPr>
              <a:r>
                <a:rPr lang="en-US" sz="750" b="1" dirty="0">
                  <a:solidFill>
                    <a:srgbClr val="64748B"/>
                  </a:solidFill>
                </a:rPr>
                <a:t>IMPLICATION:</a:t>
              </a:r>
              <a:endParaRPr lang="en-US" sz="750" dirty="0"/>
            </a:p>
          </p:txBody>
        </p:sp>
        <p:sp>
          <p:nvSpPr>
            <p:cNvPr id="38" name="Text 36"/>
            <p:cNvSpPr/>
            <p:nvPr/>
          </p:nvSpPr>
          <p:spPr>
            <a:xfrm>
              <a:off x="6181344" y="3456432"/>
              <a:ext cx="2633472" cy="502920"/>
            </a:xfrm>
            <a:prstGeom prst="rect">
              <a:avLst/>
            </a:prstGeom>
            <a:noFill/>
            <a:ln/>
          </p:spPr>
          <p:txBody>
            <a:bodyPr wrap="square" rtlCol="0" anchor="ctr"/>
            <a:lstStyle/>
            <a:p>
              <a:pPr marL="0" indent="0">
                <a:buNone/>
              </a:pPr>
              <a:r>
                <a:rPr lang="en-US" sz="900" dirty="0"/>
                <a:t>Robotics and EV supply chains most exposed. Permanent magnets are in every motor — robots, EVs, wind turbines, consumer electronics. Alternative processing: 5-8 years to develop outside China.</a:t>
              </a:r>
            </a:p>
          </p:txBody>
        </p:sp>
        <p:sp>
          <p:nvSpPr>
            <p:cNvPr id="39" name="Text 37"/>
            <p:cNvSpPr/>
            <p:nvPr/>
          </p:nvSpPr>
          <p:spPr>
            <a:xfrm>
              <a:off x="6181344" y="3995928"/>
              <a:ext cx="2633472" cy="201168"/>
            </a:xfrm>
            <a:prstGeom prst="rect">
              <a:avLst/>
            </a:prstGeom>
            <a:noFill/>
            <a:ln/>
          </p:spPr>
          <p:txBody>
            <a:bodyPr wrap="square" lIns="0" tIns="0" rIns="0" bIns="0" rtlCol="0" anchor="ctr"/>
            <a:lstStyle/>
            <a:p>
              <a:pPr marL="0" indent="0">
                <a:buNone/>
              </a:pPr>
              <a:r>
                <a:rPr lang="en-US" sz="750" b="1" dirty="0">
                  <a:solidFill>
                    <a:srgbClr val="EF4444"/>
                  </a:solidFill>
                </a:rPr>
                <a:t>DIRECTION:</a:t>
              </a:r>
              <a:endParaRPr lang="en-US" sz="750" dirty="0"/>
            </a:p>
          </p:txBody>
        </p:sp>
        <p:sp>
          <p:nvSpPr>
            <p:cNvPr id="40" name="Text 38"/>
            <p:cNvSpPr/>
            <p:nvPr/>
          </p:nvSpPr>
          <p:spPr>
            <a:xfrm>
              <a:off x="6181344" y="4178808"/>
              <a:ext cx="2633472" cy="749808"/>
            </a:xfrm>
            <a:prstGeom prst="rect">
              <a:avLst/>
            </a:prstGeom>
            <a:noFill/>
            <a:ln/>
          </p:spPr>
          <p:txBody>
            <a:bodyPr wrap="square" rtlCol="0" anchor="ctr"/>
            <a:lstStyle/>
            <a:p>
              <a:pPr marL="0" indent="0">
                <a:buNone/>
              </a:pPr>
              <a:r>
                <a:rPr lang="en-US" sz="900" dirty="0"/>
                <a:t>Critical and underappreciated vulnerability. No quick fix. Australia, Canada, US rare earth mining cannot replace Chinese processing without 10-year investment.</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
    <p:bg>
      <p:bgPr>
        <a:solidFill>
          <a:srgbClr val="0D1226"/>
        </a:solidFill>
        <a:effectLst/>
      </p:bgPr>
    </p:bg>
    <p:spTree>
      <p:nvGrpSpPr>
        <p:cNvPr id="1" name=""/>
        <p:cNvGrpSpPr/>
        <p:nvPr/>
      </p:nvGrpSpPr>
      <p:grpSpPr>
        <a:xfrm>
          <a:off x="0" y="0"/>
          <a:ext cx="0" cy="0"/>
          <a:chOff x="0" y="0"/>
          <a:chExt cx="0" cy="0"/>
        </a:xfrm>
      </p:grpSpPr>
      <p:sp>
        <p:nvSpPr>
          <p:cNvPr id="2" name="Text 0"/>
          <p:cNvSpPr/>
          <p:nvPr/>
        </p:nvSpPr>
        <p:spPr>
          <a:xfrm>
            <a:off x="274320" y="137160"/>
            <a:ext cx="8595360" cy="365760"/>
          </a:xfrm>
          <a:prstGeom prst="rect">
            <a:avLst/>
          </a:prstGeom>
          <a:noFill/>
          <a:ln/>
        </p:spPr>
        <p:txBody>
          <a:bodyPr wrap="square" rtlCol="0" anchor="ctr"/>
          <a:lstStyle/>
          <a:p>
            <a:pPr marL="0" indent="0" algn="ctr">
              <a:buNone/>
            </a:pPr>
            <a:r>
              <a:rPr lang="en-US" sz="2200" b="1" dirty="0">
                <a:solidFill>
                  <a:srgbClr val="FFFFFF"/>
                </a:solidFill>
              </a:rPr>
              <a:t>SUPPLY CHAIN INTERCONNECTEDNESS</a:t>
            </a:r>
            <a:endParaRPr lang="en-US" sz="2200" dirty="0"/>
          </a:p>
        </p:txBody>
      </p:sp>
      <p:sp>
        <p:nvSpPr>
          <p:cNvPr id="3" name="Text 1"/>
          <p:cNvSpPr/>
          <p:nvPr/>
        </p:nvSpPr>
        <p:spPr>
          <a:xfrm>
            <a:off x="274320" y="566928"/>
            <a:ext cx="8595360" cy="365760"/>
          </a:xfrm>
          <a:prstGeom prst="rect">
            <a:avLst/>
          </a:prstGeom>
          <a:noFill/>
          <a:ln/>
        </p:spPr>
        <p:txBody>
          <a:bodyPr wrap="square" rtlCol="0" anchor="ctr"/>
          <a:lstStyle/>
          <a:p>
            <a:pPr marL="0" indent="0" algn="ctr">
              <a:buNone/>
            </a:pPr>
            <a:r>
              <a:rPr lang="en-US" sz="1100" dirty="0">
                <a:solidFill>
                  <a:srgbClr val="F59E0B"/>
                </a:solidFill>
              </a:rPr>
              <a:t>Critical dependencies, single points of failure, and geographic chokepoints</a:t>
            </a:r>
            <a:endParaRPr lang="en-US" sz="1100" dirty="0"/>
          </a:p>
        </p:txBody>
      </p:sp>
      <p:sp>
        <p:nvSpPr>
          <p:cNvPr id="4" name="Shape 2"/>
          <p:cNvSpPr/>
          <p:nvPr/>
        </p:nvSpPr>
        <p:spPr>
          <a:xfrm>
            <a:off x="274320" y="960120"/>
            <a:ext cx="3931920" cy="406908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5" name="Text 3"/>
          <p:cNvSpPr/>
          <p:nvPr/>
        </p:nvSpPr>
        <p:spPr>
          <a:xfrm>
            <a:off x="384048" y="1005840"/>
            <a:ext cx="3657600" cy="292608"/>
          </a:xfrm>
          <a:prstGeom prst="rect">
            <a:avLst/>
          </a:prstGeom>
          <a:noFill/>
          <a:ln/>
        </p:spPr>
        <p:txBody>
          <a:bodyPr wrap="square" lIns="0" tIns="0" rIns="0" bIns="0" rtlCol="0" anchor="ctr"/>
          <a:lstStyle/>
          <a:p>
            <a:pPr marL="0" indent="0">
              <a:buNone/>
            </a:pPr>
            <a:r>
              <a:rPr lang="en-US" sz="1000" b="1" kern="0" spc="200" dirty="0">
                <a:solidFill>
                  <a:srgbClr val="F59E0B"/>
                </a:solidFill>
              </a:rPr>
              <a:t>CRITICAL DEPENDENCY CHAINS</a:t>
            </a:r>
            <a:endParaRPr lang="en-US" sz="1000" dirty="0"/>
          </a:p>
        </p:txBody>
      </p:sp>
      <p:sp>
        <p:nvSpPr>
          <p:cNvPr id="6" name="Shape 4"/>
          <p:cNvSpPr/>
          <p:nvPr/>
        </p:nvSpPr>
        <p:spPr>
          <a:xfrm>
            <a:off x="384048" y="1444752"/>
            <a:ext cx="3703320" cy="621792"/>
          </a:xfrm>
          <a:prstGeom prst="roundRect">
            <a:avLst>
              <a:gd name="adj" fmla="val 8824"/>
            </a:avLst>
          </a:prstGeom>
          <a:solidFill>
            <a:srgbClr val="111830"/>
          </a:solidFill>
          <a:ln/>
        </p:spPr>
      </p:sp>
      <p:sp>
        <p:nvSpPr>
          <p:cNvPr id="7" name="Shape 5"/>
          <p:cNvSpPr/>
          <p:nvPr/>
        </p:nvSpPr>
        <p:spPr>
          <a:xfrm>
            <a:off x="502920" y="1554480"/>
            <a:ext cx="146304" cy="146304"/>
          </a:xfrm>
          <a:prstGeom prst="ellipse">
            <a:avLst/>
          </a:prstGeom>
          <a:solidFill>
            <a:srgbClr val="EF4444"/>
          </a:solidFill>
          <a:ln/>
        </p:spPr>
      </p:sp>
      <p:sp>
        <p:nvSpPr>
          <p:cNvPr id="8" name="Text 6"/>
          <p:cNvSpPr/>
          <p:nvPr/>
        </p:nvSpPr>
        <p:spPr>
          <a:xfrm>
            <a:off x="749808" y="1481328"/>
            <a:ext cx="3246120" cy="256032"/>
          </a:xfrm>
          <a:prstGeom prst="rect">
            <a:avLst/>
          </a:prstGeom>
          <a:noFill/>
          <a:ln/>
        </p:spPr>
        <p:txBody>
          <a:bodyPr wrap="square" lIns="0" tIns="0" rIns="0" bIns="0" rtlCol="0" anchor="ctr"/>
          <a:lstStyle/>
          <a:p>
            <a:pPr marL="0" indent="0">
              <a:buNone/>
            </a:pPr>
            <a:r>
              <a:rPr lang="en-US" sz="850" b="1" dirty="0">
                <a:solidFill>
                  <a:srgbClr val="FFFFFF"/>
                </a:solidFill>
              </a:rPr>
              <a:t>TSMC 3nm → NVIDIA GPU → HBM (SK Hynix) → DGX system → Training cluster</a:t>
            </a:r>
            <a:endParaRPr lang="en-US" sz="850" dirty="0"/>
          </a:p>
        </p:txBody>
      </p:sp>
      <p:sp>
        <p:nvSpPr>
          <p:cNvPr id="9" name="Text 7"/>
          <p:cNvSpPr/>
          <p:nvPr/>
        </p:nvSpPr>
        <p:spPr>
          <a:xfrm>
            <a:off x="749808" y="1737360"/>
            <a:ext cx="3246120" cy="274320"/>
          </a:xfrm>
          <a:prstGeom prst="rect">
            <a:avLst/>
          </a:prstGeom>
          <a:noFill/>
          <a:ln/>
        </p:spPr>
        <p:txBody>
          <a:bodyPr wrap="square" lIns="0" tIns="0" rIns="0" bIns="0" rtlCol="0" anchor="ctr"/>
          <a:lstStyle/>
          <a:p>
            <a:pPr marL="0" indent="0">
              <a:buNone/>
            </a:pPr>
            <a:r>
              <a:rPr lang="en-US" sz="800" dirty="0">
                <a:solidFill>
                  <a:srgbClr val="64748B"/>
                </a:solidFill>
              </a:rPr>
              <a:t>Break any link = entire frontier AI pipeline halts. TSMC produces 90%+ of sub-5nm logic.</a:t>
            </a:r>
            <a:endParaRPr lang="en-US" sz="800" dirty="0"/>
          </a:p>
        </p:txBody>
      </p:sp>
      <p:sp>
        <p:nvSpPr>
          <p:cNvPr id="10" name="Shape 8"/>
          <p:cNvSpPr/>
          <p:nvPr/>
        </p:nvSpPr>
        <p:spPr>
          <a:xfrm>
            <a:off x="384048" y="2148840"/>
            <a:ext cx="3703320" cy="621792"/>
          </a:xfrm>
          <a:prstGeom prst="roundRect">
            <a:avLst>
              <a:gd name="adj" fmla="val 8824"/>
            </a:avLst>
          </a:prstGeom>
          <a:solidFill>
            <a:srgbClr val="111830"/>
          </a:solidFill>
          <a:ln/>
        </p:spPr>
      </p:sp>
      <p:sp>
        <p:nvSpPr>
          <p:cNvPr id="11" name="Shape 9"/>
          <p:cNvSpPr/>
          <p:nvPr/>
        </p:nvSpPr>
        <p:spPr>
          <a:xfrm>
            <a:off x="502920" y="2258568"/>
            <a:ext cx="146304" cy="146304"/>
          </a:xfrm>
          <a:prstGeom prst="ellipse">
            <a:avLst/>
          </a:prstGeom>
          <a:solidFill>
            <a:srgbClr val="F97316"/>
          </a:solidFill>
          <a:ln/>
        </p:spPr>
      </p:sp>
      <p:sp>
        <p:nvSpPr>
          <p:cNvPr id="12" name="Text 10"/>
          <p:cNvSpPr/>
          <p:nvPr/>
        </p:nvSpPr>
        <p:spPr>
          <a:xfrm>
            <a:off x="749808" y="2185416"/>
            <a:ext cx="3246120" cy="256032"/>
          </a:xfrm>
          <a:prstGeom prst="rect">
            <a:avLst/>
          </a:prstGeom>
          <a:noFill/>
          <a:ln/>
        </p:spPr>
        <p:txBody>
          <a:bodyPr wrap="square" lIns="0" tIns="0" rIns="0" bIns="0" rtlCol="0" anchor="ctr"/>
          <a:lstStyle/>
          <a:p>
            <a:pPr marL="0" indent="0">
              <a:buNone/>
            </a:pPr>
            <a:r>
              <a:rPr lang="en-US" sz="850" b="1" dirty="0">
                <a:solidFill>
                  <a:srgbClr val="FFFFFF"/>
                </a:solidFill>
              </a:rPr>
              <a:t>Neon gas (Ukraine 90%) → Laser systems → Chip lithography (ASML EUV)</a:t>
            </a:r>
            <a:endParaRPr lang="en-US" sz="850" dirty="0"/>
          </a:p>
        </p:txBody>
      </p:sp>
      <p:sp>
        <p:nvSpPr>
          <p:cNvPr id="13" name="Text 11"/>
          <p:cNvSpPr/>
          <p:nvPr/>
        </p:nvSpPr>
        <p:spPr>
          <a:xfrm>
            <a:off x="749808" y="2441448"/>
            <a:ext cx="3246120" cy="274320"/>
          </a:xfrm>
          <a:prstGeom prst="rect">
            <a:avLst/>
          </a:prstGeom>
          <a:noFill/>
          <a:ln/>
        </p:spPr>
        <p:txBody>
          <a:bodyPr wrap="square" lIns="0" tIns="0" rIns="0" bIns="0" rtlCol="0" anchor="ctr"/>
          <a:lstStyle/>
          <a:p>
            <a:pPr marL="0" indent="0">
              <a:buNone/>
            </a:pPr>
            <a:r>
              <a:rPr lang="en-US" sz="800" dirty="0">
                <a:solidFill>
                  <a:srgbClr val="64748B"/>
                </a:solidFill>
              </a:rPr>
              <a:t>A single gas supply disruption proved this in 2022 Ukraine war. Now partially diversified.</a:t>
            </a:r>
            <a:endParaRPr lang="en-US" sz="800" dirty="0"/>
          </a:p>
        </p:txBody>
      </p:sp>
      <p:sp>
        <p:nvSpPr>
          <p:cNvPr id="14" name="Shape 12"/>
          <p:cNvSpPr/>
          <p:nvPr/>
        </p:nvSpPr>
        <p:spPr>
          <a:xfrm>
            <a:off x="384048" y="2852928"/>
            <a:ext cx="3703320" cy="621792"/>
          </a:xfrm>
          <a:prstGeom prst="roundRect">
            <a:avLst>
              <a:gd name="adj" fmla="val 8824"/>
            </a:avLst>
          </a:prstGeom>
          <a:solidFill>
            <a:srgbClr val="111830"/>
          </a:solidFill>
          <a:ln/>
        </p:spPr>
      </p:sp>
      <p:sp>
        <p:nvSpPr>
          <p:cNvPr id="15" name="Shape 13"/>
          <p:cNvSpPr/>
          <p:nvPr/>
        </p:nvSpPr>
        <p:spPr>
          <a:xfrm>
            <a:off x="502920" y="2962656"/>
            <a:ext cx="146304" cy="146304"/>
          </a:xfrm>
          <a:prstGeom prst="ellipse">
            <a:avLst/>
          </a:prstGeom>
          <a:solidFill>
            <a:srgbClr val="F59E0B"/>
          </a:solidFill>
          <a:ln/>
        </p:spPr>
      </p:sp>
      <p:sp>
        <p:nvSpPr>
          <p:cNvPr id="16" name="Text 14"/>
          <p:cNvSpPr/>
          <p:nvPr/>
        </p:nvSpPr>
        <p:spPr>
          <a:xfrm>
            <a:off x="749808" y="2889504"/>
            <a:ext cx="3246120" cy="256032"/>
          </a:xfrm>
          <a:prstGeom prst="rect">
            <a:avLst/>
          </a:prstGeom>
          <a:noFill/>
          <a:ln/>
        </p:spPr>
        <p:txBody>
          <a:bodyPr wrap="square" lIns="0" tIns="0" rIns="0" bIns="0" rtlCol="0" anchor="ctr"/>
          <a:lstStyle/>
          <a:p>
            <a:pPr marL="0" indent="0">
              <a:buNone/>
            </a:pPr>
            <a:r>
              <a:rPr lang="en-US" sz="850" b="1" dirty="0">
                <a:solidFill>
                  <a:srgbClr val="FFFFFF"/>
                </a:solidFill>
              </a:rPr>
              <a:t>Cobalt (Congo 70%) → Battery cathodes → Data center UPS &amp; grid storage</a:t>
            </a:r>
            <a:endParaRPr lang="en-US" sz="850" dirty="0"/>
          </a:p>
        </p:txBody>
      </p:sp>
      <p:sp>
        <p:nvSpPr>
          <p:cNvPr id="17" name="Text 15"/>
          <p:cNvSpPr/>
          <p:nvPr/>
        </p:nvSpPr>
        <p:spPr>
          <a:xfrm>
            <a:off x="749808" y="3145536"/>
            <a:ext cx="3246120" cy="274320"/>
          </a:xfrm>
          <a:prstGeom prst="rect">
            <a:avLst/>
          </a:prstGeom>
          <a:noFill/>
          <a:ln/>
        </p:spPr>
        <p:txBody>
          <a:bodyPr wrap="square" lIns="0" tIns="0" rIns="0" bIns="0" rtlCol="0" anchor="ctr"/>
          <a:lstStyle/>
          <a:p>
            <a:pPr marL="0" indent="0">
              <a:buNone/>
            </a:pPr>
            <a:r>
              <a:rPr lang="en-US" sz="800" dirty="0">
                <a:solidFill>
                  <a:srgbClr val="64748B"/>
                </a:solidFill>
              </a:rPr>
              <a:t>Power backup systems for data centers depend on cobalt supply. EV demand competes.</a:t>
            </a:r>
            <a:endParaRPr lang="en-US" sz="800" dirty="0"/>
          </a:p>
        </p:txBody>
      </p:sp>
      <p:sp>
        <p:nvSpPr>
          <p:cNvPr id="18" name="Shape 16"/>
          <p:cNvSpPr/>
          <p:nvPr/>
        </p:nvSpPr>
        <p:spPr>
          <a:xfrm>
            <a:off x="384048" y="3557016"/>
            <a:ext cx="3703320" cy="621792"/>
          </a:xfrm>
          <a:prstGeom prst="roundRect">
            <a:avLst>
              <a:gd name="adj" fmla="val 8824"/>
            </a:avLst>
          </a:prstGeom>
          <a:solidFill>
            <a:srgbClr val="111830"/>
          </a:solidFill>
          <a:ln/>
        </p:spPr>
      </p:sp>
      <p:sp>
        <p:nvSpPr>
          <p:cNvPr id="19" name="Shape 17"/>
          <p:cNvSpPr/>
          <p:nvPr/>
        </p:nvSpPr>
        <p:spPr>
          <a:xfrm>
            <a:off x="502920" y="3666744"/>
            <a:ext cx="146304" cy="146304"/>
          </a:xfrm>
          <a:prstGeom prst="ellipse">
            <a:avLst/>
          </a:prstGeom>
          <a:solidFill>
            <a:srgbClr val="EF4444"/>
          </a:solidFill>
          <a:ln/>
        </p:spPr>
      </p:sp>
      <p:sp>
        <p:nvSpPr>
          <p:cNvPr id="20" name="Text 18"/>
          <p:cNvSpPr/>
          <p:nvPr/>
        </p:nvSpPr>
        <p:spPr>
          <a:xfrm>
            <a:off x="749808" y="3593592"/>
            <a:ext cx="3246120" cy="256032"/>
          </a:xfrm>
          <a:prstGeom prst="rect">
            <a:avLst/>
          </a:prstGeom>
          <a:noFill/>
          <a:ln/>
        </p:spPr>
        <p:txBody>
          <a:bodyPr wrap="square" lIns="0" tIns="0" rIns="0" bIns="0" rtlCol="0" anchor="ctr"/>
          <a:lstStyle/>
          <a:p>
            <a:pPr marL="0" indent="0">
              <a:buNone/>
            </a:pPr>
            <a:r>
              <a:rPr lang="en-US" sz="850" b="1" dirty="0">
                <a:solidFill>
                  <a:srgbClr val="FFFFFF"/>
                </a:solidFill>
              </a:rPr>
              <a:t>ASML EUV (Netherlands) → Advanced foundry → All modern chips</a:t>
            </a:r>
            <a:endParaRPr lang="en-US" sz="850" dirty="0"/>
          </a:p>
        </p:txBody>
      </p:sp>
      <p:sp>
        <p:nvSpPr>
          <p:cNvPr id="21" name="Text 19"/>
          <p:cNvSpPr/>
          <p:nvPr/>
        </p:nvSpPr>
        <p:spPr>
          <a:xfrm>
            <a:off x="749808" y="3849624"/>
            <a:ext cx="3246120" cy="274320"/>
          </a:xfrm>
          <a:prstGeom prst="rect">
            <a:avLst/>
          </a:prstGeom>
          <a:noFill/>
          <a:ln/>
        </p:spPr>
        <p:txBody>
          <a:bodyPr wrap="square" lIns="0" tIns="0" rIns="0" bIns="0" rtlCol="0" anchor="ctr"/>
          <a:lstStyle/>
          <a:p>
            <a:pPr marL="0" indent="0">
              <a:buNone/>
            </a:pPr>
            <a:r>
              <a:rPr lang="en-US" sz="800" dirty="0">
                <a:solidFill>
                  <a:srgbClr val="64748B"/>
                </a:solidFill>
              </a:rPr>
              <a:t>ASML is a global monopoly on EUV lithography. Each machine takes 18 months to build.</a:t>
            </a:r>
            <a:endParaRPr lang="en-US" sz="800" dirty="0"/>
          </a:p>
        </p:txBody>
      </p:sp>
      <p:sp>
        <p:nvSpPr>
          <p:cNvPr id="22" name="Shape 20"/>
          <p:cNvSpPr/>
          <p:nvPr/>
        </p:nvSpPr>
        <p:spPr>
          <a:xfrm>
            <a:off x="384048" y="4261104"/>
            <a:ext cx="3703320" cy="621792"/>
          </a:xfrm>
          <a:prstGeom prst="roundRect">
            <a:avLst>
              <a:gd name="adj" fmla="val 8824"/>
            </a:avLst>
          </a:prstGeom>
          <a:solidFill>
            <a:srgbClr val="111830"/>
          </a:solidFill>
          <a:ln/>
        </p:spPr>
      </p:sp>
      <p:sp>
        <p:nvSpPr>
          <p:cNvPr id="23" name="Shape 21"/>
          <p:cNvSpPr/>
          <p:nvPr/>
        </p:nvSpPr>
        <p:spPr>
          <a:xfrm>
            <a:off x="502920" y="4370832"/>
            <a:ext cx="146304" cy="146304"/>
          </a:xfrm>
          <a:prstGeom prst="ellipse">
            <a:avLst/>
          </a:prstGeom>
          <a:solidFill>
            <a:srgbClr val="F97316"/>
          </a:solidFill>
          <a:ln/>
        </p:spPr>
      </p:sp>
      <p:sp>
        <p:nvSpPr>
          <p:cNvPr id="24" name="Text 22"/>
          <p:cNvSpPr/>
          <p:nvPr/>
        </p:nvSpPr>
        <p:spPr>
          <a:xfrm>
            <a:off x="749808" y="4297680"/>
            <a:ext cx="3246120" cy="256032"/>
          </a:xfrm>
          <a:prstGeom prst="rect">
            <a:avLst/>
          </a:prstGeom>
          <a:noFill/>
          <a:ln/>
        </p:spPr>
        <p:txBody>
          <a:bodyPr wrap="square" lIns="0" tIns="0" rIns="0" bIns="0" rtlCol="0" anchor="ctr"/>
          <a:lstStyle/>
          <a:p>
            <a:pPr marL="0" indent="0">
              <a:buNone/>
            </a:pPr>
            <a:r>
              <a:rPr lang="en-US" sz="850" b="1" dirty="0">
                <a:solidFill>
                  <a:srgbClr val="FFFFFF"/>
                </a:solidFill>
              </a:rPr>
              <a:t>Rare earths (China 85%) → Permanent magnets → Robot actuators &amp; EV motors</a:t>
            </a:r>
            <a:endParaRPr lang="en-US" sz="850" dirty="0"/>
          </a:p>
        </p:txBody>
      </p:sp>
      <p:sp>
        <p:nvSpPr>
          <p:cNvPr id="25" name="Text 23"/>
          <p:cNvSpPr/>
          <p:nvPr/>
        </p:nvSpPr>
        <p:spPr>
          <a:xfrm>
            <a:off x="749808" y="4553712"/>
            <a:ext cx="3246120" cy="274320"/>
          </a:xfrm>
          <a:prstGeom prst="rect">
            <a:avLst/>
          </a:prstGeom>
          <a:noFill/>
          <a:ln/>
        </p:spPr>
        <p:txBody>
          <a:bodyPr wrap="square" lIns="0" tIns="0" rIns="0" bIns="0" rtlCol="0" anchor="ctr"/>
          <a:lstStyle/>
          <a:p>
            <a:pPr marL="0" indent="0">
              <a:buNone/>
            </a:pPr>
            <a:r>
              <a:rPr lang="en-US" sz="800" dirty="0">
                <a:solidFill>
                  <a:srgbClr val="64748B"/>
                </a:solidFill>
              </a:rPr>
              <a:t>China controls rare earth processing even when mined elsewhere. Robotics is exposed.</a:t>
            </a:r>
            <a:endParaRPr lang="en-US" sz="800" dirty="0"/>
          </a:p>
        </p:txBody>
      </p:sp>
      <p:sp>
        <p:nvSpPr>
          <p:cNvPr id="26" name="Shape 24"/>
          <p:cNvSpPr/>
          <p:nvPr/>
        </p:nvSpPr>
        <p:spPr>
          <a:xfrm>
            <a:off x="4434840" y="960120"/>
            <a:ext cx="4389120" cy="406908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27" name="Text 25"/>
          <p:cNvSpPr/>
          <p:nvPr/>
        </p:nvSpPr>
        <p:spPr>
          <a:xfrm>
            <a:off x="4544568" y="1005840"/>
            <a:ext cx="4206240" cy="292608"/>
          </a:xfrm>
          <a:prstGeom prst="rect">
            <a:avLst/>
          </a:prstGeom>
          <a:noFill/>
          <a:ln/>
        </p:spPr>
        <p:txBody>
          <a:bodyPr wrap="square" lIns="0" tIns="0" rIns="0" bIns="0" rtlCol="0" anchor="ctr"/>
          <a:lstStyle/>
          <a:p>
            <a:pPr marL="0" indent="0">
              <a:buNone/>
            </a:pPr>
            <a:r>
              <a:rPr lang="en-US" sz="1000" b="1" kern="0" spc="200" dirty="0">
                <a:solidFill>
                  <a:srgbClr val="06B6D4"/>
                </a:solidFill>
              </a:rPr>
              <a:t>GEOGRAPHIC CONCENTRATION RISK</a:t>
            </a:r>
            <a:endParaRPr lang="en-US" sz="1000" dirty="0"/>
          </a:p>
        </p:txBody>
      </p:sp>
      <p:sp>
        <p:nvSpPr>
          <p:cNvPr id="28" name="Text 26"/>
          <p:cNvSpPr/>
          <p:nvPr/>
        </p:nvSpPr>
        <p:spPr>
          <a:xfrm>
            <a:off x="4544568" y="1371600"/>
            <a:ext cx="1280160" cy="228600"/>
          </a:xfrm>
          <a:prstGeom prst="rect">
            <a:avLst/>
          </a:prstGeom>
          <a:noFill/>
          <a:ln/>
        </p:spPr>
        <p:txBody>
          <a:bodyPr wrap="square" lIns="0" tIns="0" rIns="0" bIns="0" rtlCol="0" anchor="ctr"/>
          <a:lstStyle/>
          <a:p>
            <a:pPr marL="0" indent="0">
              <a:buNone/>
            </a:pPr>
            <a:r>
              <a:rPr lang="en-US" sz="800" b="1" dirty="0">
                <a:solidFill>
                  <a:srgbClr val="64748B"/>
                </a:solidFill>
              </a:rPr>
              <a:t>COMPONENT</a:t>
            </a:r>
            <a:endParaRPr lang="en-US" sz="800" dirty="0"/>
          </a:p>
        </p:txBody>
      </p:sp>
      <p:sp>
        <p:nvSpPr>
          <p:cNvPr id="29" name="Text 27"/>
          <p:cNvSpPr/>
          <p:nvPr/>
        </p:nvSpPr>
        <p:spPr>
          <a:xfrm>
            <a:off x="5897880" y="1371600"/>
            <a:ext cx="1645920" cy="228600"/>
          </a:xfrm>
          <a:prstGeom prst="rect">
            <a:avLst/>
          </a:prstGeom>
          <a:noFill/>
          <a:ln/>
        </p:spPr>
        <p:txBody>
          <a:bodyPr wrap="square" lIns="0" tIns="0" rIns="0" bIns="0" rtlCol="0" anchor="ctr"/>
          <a:lstStyle/>
          <a:p>
            <a:pPr marL="0" indent="0">
              <a:buNone/>
            </a:pPr>
            <a:r>
              <a:rPr lang="en-US" sz="800" b="1" dirty="0">
                <a:solidFill>
                  <a:srgbClr val="64748B"/>
                </a:solidFill>
              </a:rPr>
              <a:t>CONCENTRATION</a:t>
            </a:r>
            <a:endParaRPr lang="en-US" sz="800" dirty="0"/>
          </a:p>
        </p:txBody>
      </p:sp>
      <p:sp>
        <p:nvSpPr>
          <p:cNvPr id="30" name="Text 28"/>
          <p:cNvSpPr/>
          <p:nvPr/>
        </p:nvSpPr>
        <p:spPr>
          <a:xfrm>
            <a:off x="7589520" y="1371600"/>
            <a:ext cx="1005840" cy="228600"/>
          </a:xfrm>
          <a:prstGeom prst="rect">
            <a:avLst/>
          </a:prstGeom>
          <a:noFill/>
          <a:ln/>
        </p:spPr>
        <p:txBody>
          <a:bodyPr wrap="square" lIns="0" tIns="0" rIns="0" bIns="0" rtlCol="0" anchor="ctr"/>
          <a:lstStyle/>
          <a:p>
            <a:pPr marL="0" indent="0" algn="ctr">
              <a:buNone/>
            </a:pPr>
            <a:r>
              <a:rPr lang="en-US" sz="800" b="1" dirty="0">
                <a:solidFill>
                  <a:srgbClr val="64748B"/>
                </a:solidFill>
              </a:rPr>
              <a:t>RISK</a:t>
            </a:r>
            <a:endParaRPr lang="en-US" sz="800" dirty="0"/>
          </a:p>
        </p:txBody>
      </p:sp>
      <p:sp>
        <p:nvSpPr>
          <p:cNvPr id="31" name="Shape 29"/>
          <p:cNvSpPr/>
          <p:nvPr/>
        </p:nvSpPr>
        <p:spPr>
          <a:xfrm>
            <a:off x="4434840" y="1664208"/>
            <a:ext cx="4389120" cy="384048"/>
          </a:xfrm>
          <a:prstGeom prst="rect">
            <a:avLst/>
          </a:prstGeom>
          <a:solidFill>
            <a:srgbClr val="111830"/>
          </a:solidFill>
          <a:ln w="12700">
            <a:solidFill>
              <a:srgbClr val="FFFFFF">
                <a:alpha val="3000"/>
              </a:srgbClr>
            </a:solidFill>
            <a:prstDash val="solid"/>
          </a:ln>
        </p:spPr>
      </p:sp>
      <p:sp>
        <p:nvSpPr>
          <p:cNvPr id="32" name="Text 30"/>
          <p:cNvSpPr/>
          <p:nvPr/>
        </p:nvSpPr>
        <p:spPr>
          <a:xfrm>
            <a:off x="4544568" y="1664208"/>
            <a:ext cx="1325880" cy="384048"/>
          </a:xfrm>
          <a:prstGeom prst="rect">
            <a:avLst/>
          </a:prstGeom>
          <a:noFill/>
          <a:ln/>
        </p:spPr>
        <p:txBody>
          <a:bodyPr wrap="square" lIns="0" tIns="0" rIns="0" bIns="0" rtlCol="0" anchor="ctr"/>
          <a:lstStyle/>
          <a:p>
            <a:pPr marL="0" indent="0">
              <a:buNone/>
            </a:pPr>
            <a:r>
              <a:rPr lang="en-US" sz="850" dirty="0">
                <a:solidFill>
                  <a:srgbClr val="E2E8F5"/>
                </a:solidFill>
              </a:rPr>
              <a:t>Advanced logic chips (sub-5nm)</a:t>
            </a:r>
            <a:endParaRPr lang="en-US" sz="850" dirty="0"/>
          </a:p>
        </p:txBody>
      </p:sp>
      <p:sp>
        <p:nvSpPr>
          <p:cNvPr id="33" name="Text 31"/>
          <p:cNvSpPr/>
          <p:nvPr/>
        </p:nvSpPr>
        <p:spPr>
          <a:xfrm>
            <a:off x="5916168" y="1664208"/>
            <a:ext cx="1600200" cy="384048"/>
          </a:xfrm>
          <a:prstGeom prst="rect">
            <a:avLst/>
          </a:prstGeom>
          <a:noFill/>
          <a:ln/>
        </p:spPr>
        <p:txBody>
          <a:bodyPr wrap="square" lIns="0" tIns="0" rIns="0" bIns="0" rtlCol="0" anchor="ctr"/>
          <a:lstStyle/>
          <a:p>
            <a:pPr marL="0" indent="0">
              <a:buNone/>
            </a:pPr>
            <a:r>
              <a:rPr lang="en-US" sz="750" dirty="0">
                <a:solidFill>
                  <a:srgbClr val="E2E8F5"/>
                </a:solidFill>
              </a:rPr>
              <a:t>92% TSMC Taiwan</a:t>
            </a:r>
            <a:endParaRPr lang="en-US" sz="750" dirty="0"/>
          </a:p>
        </p:txBody>
      </p:sp>
      <p:sp>
        <p:nvSpPr>
          <p:cNvPr id="34" name="Shape 32"/>
          <p:cNvSpPr/>
          <p:nvPr/>
        </p:nvSpPr>
        <p:spPr>
          <a:xfrm>
            <a:off x="7616952" y="1728216"/>
            <a:ext cx="1005840" cy="256032"/>
          </a:xfrm>
          <a:prstGeom prst="roundRect">
            <a:avLst>
              <a:gd name="adj" fmla="val 17857"/>
            </a:avLst>
          </a:prstGeom>
          <a:solidFill>
            <a:srgbClr val="EF4444">
              <a:alpha val="75000"/>
            </a:srgbClr>
          </a:solidFill>
          <a:ln/>
        </p:spPr>
      </p:sp>
      <p:sp>
        <p:nvSpPr>
          <p:cNvPr id="35" name="Text 33"/>
          <p:cNvSpPr/>
          <p:nvPr/>
        </p:nvSpPr>
        <p:spPr>
          <a:xfrm>
            <a:off x="7616952" y="1728216"/>
            <a:ext cx="1005840" cy="256032"/>
          </a:xfrm>
          <a:prstGeom prst="rect">
            <a:avLst/>
          </a:prstGeom>
          <a:noFill/>
          <a:ln/>
        </p:spPr>
        <p:txBody>
          <a:bodyPr wrap="square" rtlCol="0" anchor="ctr"/>
          <a:lstStyle/>
          <a:p>
            <a:pPr marL="0" indent="0" algn="ctr">
              <a:buNone/>
            </a:pPr>
            <a:r>
              <a:rPr lang="en-US" sz="800" b="1" dirty="0">
                <a:solidFill>
                  <a:srgbClr val="FFFFFF"/>
                </a:solidFill>
              </a:rPr>
              <a:t>CRITICAL</a:t>
            </a:r>
            <a:endParaRPr lang="en-US" sz="800" dirty="0"/>
          </a:p>
        </p:txBody>
      </p:sp>
      <p:sp>
        <p:nvSpPr>
          <p:cNvPr id="36" name="Shape 34"/>
          <p:cNvSpPr/>
          <p:nvPr/>
        </p:nvSpPr>
        <p:spPr>
          <a:xfrm>
            <a:off x="4434840" y="2084832"/>
            <a:ext cx="4389120" cy="384048"/>
          </a:xfrm>
          <a:prstGeom prst="rect">
            <a:avLst/>
          </a:prstGeom>
          <a:solidFill>
            <a:srgbClr val="152045"/>
          </a:solidFill>
          <a:ln w="12700">
            <a:solidFill>
              <a:srgbClr val="FFFFFF">
                <a:alpha val="3000"/>
              </a:srgbClr>
            </a:solidFill>
            <a:prstDash val="solid"/>
          </a:ln>
        </p:spPr>
      </p:sp>
      <p:sp>
        <p:nvSpPr>
          <p:cNvPr id="37" name="Text 35"/>
          <p:cNvSpPr/>
          <p:nvPr/>
        </p:nvSpPr>
        <p:spPr>
          <a:xfrm>
            <a:off x="4544568" y="2084832"/>
            <a:ext cx="1325880" cy="384048"/>
          </a:xfrm>
          <a:prstGeom prst="rect">
            <a:avLst/>
          </a:prstGeom>
          <a:noFill/>
          <a:ln/>
        </p:spPr>
        <p:txBody>
          <a:bodyPr wrap="square" lIns="0" tIns="0" rIns="0" bIns="0" rtlCol="0" anchor="ctr"/>
          <a:lstStyle/>
          <a:p>
            <a:pPr marL="0" indent="0">
              <a:buNone/>
            </a:pPr>
            <a:r>
              <a:rPr lang="en-US" sz="850" dirty="0">
                <a:solidFill>
                  <a:srgbClr val="E2E8F5"/>
                </a:solidFill>
              </a:rPr>
              <a:t>EUV lithography machines</a:t>
            </a:r>
            <a:endParaRPr lang="en-US" sz="850" dirty="0"/>
          </a:p>
        </p:txBody>
      </p:sp>
      <p:sp>
        <p:nvSpPr>
          <p:cNvPr id="38" name="Text 36"/>
          <p:cNvSpPr/>
          <p:nvPr/>
        </p:nvSpPr>
        <p:spPr>
          <a:xfrm>
            <a:off x="5916168" y="2084832"/>
            <a:ext cx="1600200" cy="384048"/>
          </a:xfrm>
          <a:prstGeom prst="rect">
            <a:avLst/>
          </a:prstGeom>
          <a:noFill/>
          <a:ln/>
        </p:spPr>
        <p:txBody>
          <a:bodyPr wrap="square" lIns="0" tIns="0" rIns="0" bIns="0" rtlCol="0" anchor="ctr"/>
          <a:lstStyle/>
          <a:p>
            <a:pPr marL="0" indent="0">
              <a:buNone/>
            </a:pPr>
            <a:r>
              <a:rPr lang="en-US" sz="750" dirty="0">
                <a:solidFill>
                  <a:srgbClr val="E2E8F5"/>
                </a:solidFill>
              </a:rPr>
              <a:t>100% ASML Netherlands</a:t>
            </a:r>
            <a:endParaRPr lang="en-US" sz="750" dirty="0"/>
          </a:p>
        </p:txBody>
      </p:sp>
      <p:sp>
        <p:nvSpPr>
          <p:cNvPr id="39" name="Shape 37"/>
          <p:cNvSpPr/>
          <p:nvPr/>
        </p:nvSpPr>
        <p:spPr>
          <a:xfrm>
            <a:off x="7616952" y="2148840"/>
            <a:ext cx="1005840" cy="256032"/>
          </a:xfrm>
          <a:prstGeom prst="roundRect">
            <a:avLst>
              <a:gd name="adj" fmla="val 17857"/>
            </a:avLst>
          </a:prstGeom>
          <a:solidFill>
            <a:srgbClr val="EF4444">
              <a:alpha val="75000"/>
            </a:srgbClr>
          </a:solidFill>
          <a:ln/>
        </p:spPr>
      </p:sp>
      <p:sp>
        <p:nvSpPr>
          <p:cNvPr id="40" name="Text 38"/>
          <p:cNvSpPr/>
          <p:nvPr/>
        </p:nvSpPr>
        <p:spPr>
          <a:xfrm>
            <a:off x="7616952" y="2148840"/>
            <a:ext cx="1005840" cy="256032"/>
          </a:xfrm>
          <a:prstGeom prst="rect">
            <a:avLst/>
          </a:prstGeom>
          <a:noFill/>
          <a:ln/>
        </p:spPr>
        <p:txBody>
          <a:bodyPr wrap="square" rtlCol="0" anchor="ctr"/>
          <a:lstStyle/>
          <a:p>
            <a:pPr marL="0" indent="0" algn="ctr">
              <a:buNone/>
            </a:pPr>
            <a:r>
              <a:rPr lang="en-US" sz="800" b="1" dirty="0">
                <a:solidFill>
                  <a:srgbClr val="FFFFFF"/>
                </a:solidFill>
              </a:rPr>
              <a:t>CRITICAL</a:t>
            </a:r>
            <a:endParaRPr lang="en-US" sz="800" dirty="0"/>
          </a:p>
        </p:txBody>
      </p:sp>
      <p:sp>
        <p:nvSpPr>
          <p:cNvPr id="41" name="Shape 39"/>
          <p:cNvSpPr/>
          <p:nvPr/>
        </p:nvSpPr>
        <p:spPr>
          <a:xfrm>
            <a:off x="4434840" y="2505456"/>
            <a:ext cx="4389120" cy="384048"/>
          </a:xfrm>
          <a:prstGeom prst="rect">
            <a:avLst/>
          </a:prstGeom>
          <a:solidFill>
            <a:srgbClr val="111830"/>
          </a:solidFill>
          <a:ln w="12700">
            <a:solidFill>
              <a:srgbClr val="FFFFFF">
                <a:alpha val="3000"/>
              </a:srgbClr>
            </a:solidFill>
            <a:prstDash val="solid"/>
          </a:ln>
        </p:spPr>
      </p:sp>
      <p:sp>
        <p:nvSpPr>
          <p:cNvPr id="42" name="Text 40"/>
          <p:cNvSpPr/>
          <p:nvPr/>
        </p:nvSpPr>
        <p:spPr>
          <a:xfrm>
            <a:off x="4544568" y="2505456"/>
            <a:ext cx="1325880" cy="384048"/>
          </a:xfrm>
          <a:prstGeom prst="rect">
            <a:avLst/>
          </a:prstGeom>
          <a:noFill/>
          <a:ln/>
        </p:spPr>
        <p:txBody>
          <a:bodyPr wrap="square" lIns="0" tIns="0" rIns="0" bIns="0" rtlCol="0" anchor="ctr"/>
          <a:lstStyle/>
          <a:p>
            <a:pPr marL="0" indent="0">
              <a:buNone/>
            </a:pPr>
            <a:r>
              <a:rPr lang="en-US" sz="850" dirty="0">
                <a:solidFill>
                  <a:srgbClr val="E2E8F5"/>
                </a:solidFill>
              </a:rPr>
              <a:t>HBM memory (AI training)</a:t>
            </a:r>
            <a:endParaRPr lang="en-US" sz="850" dirty="0"/>
          </a:p>
        </p:txBody>
      </p:sp>
      <p:sp>
        <p:nvSpPr>
          <p:cNvPr id="43" name="Text 41"/>
          <p:cNvSpPr/>
          <p:nvPr/>
        </p:nvSpPr>
        <p:spPr>
          <a:xfrm>
            <a:off x="5916168" y="2505456"/>
            <a:ext cx="1600200" cy="384048"/>
          </a:xfrm>
          <a:prstGeom prst="rect">
            <a:avLst/>
          </a:prstGeom>
          <a:noFill/>
          <a:ln/>
        </p:spPr>
        <p:txBody>
          <a:bodyPr wrap="square" lIns="0" tIns="0" rIns="0" bIns="0" rtlCol="0" anchor="ctr"/>
          <a:lstStyle/>
          <a:p>
            <a:pPr marL="0" indent="0">
              <a:buNone/>
            </a:pPr>
            <a:r>
              <a:rPr lang="en-US" sz="750" dirty="0">
                <a:solidFill>
                  <a:srgbClr val="E2E8F5"/>
                </a:solidFill>
              </a:rPr>
              <a:t>50% SK Hynix Korea · 35% Samsung Korea</a:t>
            </a:r>
            <a:endParaRPr lang="en-US" sz="750" dirty="0"/>
          </a:p>
        </p:txBody>
      </p:sp>
      <p:sp>
        <p:nvSpPr>
          <p:cNvPr id="44" name="Shape 42"/>
          <p:cNvSpPr/>
          <p:nvPr/>
        </p:nvSpPr>
        <p:spPr>
          <a:xfrm>
            <a:off x="7616952" y="2569464"/>
            <a:ext cx="1005840" cy="256032"/>
          </a:xfrm>
          <a:prstGeom prst="roundRect">
            <a:avLst>
              <a:gd name="adj" fmla="val 17857"/>
            </a:avLst>
          </a:prstGeom>
          <a:solidFill>
            <a:srgbClr val="F97316">
              <a:alpha val="75000"/>
            </a:srgbClr>
          </a:solidFill>
          <a:ln/>
        </p:spPr>
      </p:sp>
      <p:sp>
        <p:nvSpPr>
          <p:cNvPr id="45" name="Text 43"/>
          <p:cNvSpPr/>
          <p:nvPr/>
        </p:nvSpPr>
        <p:spPr>
          <a:xfrm>
            <a:off x="7616952" y="2569464"/>
            <a:ext cx="1005840" cy="256032"/>
          </a:xfrm>
          <a:prstGeom prst="rect">
            <a:avLst/>
          </a:prstGeom>
          <a:noFill/>
          <a:ln/>
        </p:spPr>
        <p:txBody>
          <a:bodyPr wrap="square" rtlCol="0" anchor="ctr"/>
          <a:lstStyle/>
          <a:p>
            <a:pPr marL="0" indent="0" algn="ctr">
              <a:buNone/>
            </a:pPr>
            <a:r>
              <a:rPr lang="en-US" sz="800" b="1" dirty="0">
                <a:solidFill>
                  <a:srgbClr val="FFFFFF"/>
                </a:solidFill>
              </a:rPr>
              <a:t>HIGH</a:t>
            </a:r>
            <a:endParaRPr lang="en-US" sz="800" dirty="0"/>
          </a:p>
        </p:txBody>
      </p:sp>
      <p:sp>
        <p:nvSpPr>
          <p:cNvPr id="46" name="Shape 44"/>
          <p:cNvSpPr/>
          <p:nvPr/>
        </p:nvSpPr>
        <p:spPr>
          <a:xfrm>
            <a:off x="4434840" y="2926080"/>
            <a:ext cx="4389120" cy="384048"/>
          </a:xfrm>
          <a:prstGeom prst="rect">
            <a:avLst/>
          </a:prstGeom>
          <a:solidFill>
            <a:srgbClr val="152045"/>
          </a:solidFill>
          <a:ln w="12700">
            <a:solidFill>
              <a:srgbClr val="FFFFFF">
                <a:alpha val="3000"/>
              </a:srgbClr>
            </a:solidFill>
            <a:prstDash val="solid"/>
          </a:ln>
        </p:spPr>
      </p:sp>
      <p:sp>
        <p:nvSpPr>
          <p:cNvPr id="47" name="Text 45"/>
          <p:cNvSpPr/>
          <p:nvPr/>
        </p:nvSpPr>
        <p:spPr>
          <a:xfrm>
            <a:off x="4544568" y="2926080"/>
            <a:ext cx="1325880" cy="384048"/>
          </a:xfrm>
          <a:prstGeom prst="rect">
            <a:avLst/>
          </a:prstGeom>
          <a:noFill/>
          <a:ln/>
        </p:spPr>
        <p:txBody>
          <a:bodyPr wrap="square" lIns="0" tIns="0" rIns="0" bIns="0" rtlCol="0" anchor="ctr"/>
          <a:lstStyle/>
          <a:p>
            <a:pPr marL="0" indent="0">
              <a:buNone/>
            </a:pPr>
            <a:r>
              <a:rPr lang="en-US" sz="850" dirty="0">
                <a:solidFill>
                  <a:srgbClr val="E2E8F5"/>
                </a:solidFill>
              </a:rPr>
              <a:t>Chip packaging (CoWoS)</a:t>
            </a:r>
            <a:endParaRPr lang="en-US" sz="850" dirty="0"/>
          </a:p>
        </p:txBody>
      </p:sp>
      <p:sp>
        <p:nvSpPr>
          <p:cNvPr id="48" name="Text 46"/>
          <p:cNvSpPr/>
          <p:nvPr/>
        </p:nvSpPr>
        <p:spPr>
          <a:xfrm>
            <a:off x="5916168" y="2926080"/>
            <a:ext cx="1600200" cy="384048"/>
          </a:xfrm>
          <a:prstGeom prst="rect">
            <a:avLst/>
          </a:prstGeom>
          <a:noFill/>
          <a:ln/>
        </p:spPr>
        <p:txBody>
          <a:bodyPr wrap="square" lIns="0" tIns="0" rIns="0" bIns="0" rtlCol="0" anchor="ctr"/>
          <a:lstStyle/>
          <a:p>
            <a:pPr marL="0" indent="0">
              <a:buNone/>
            </a:pPr>
            <a:r>
              <a:rPr lang="en-US" sz="750" dirty="0">
                <a:solidFill>
                  <a:srgbClr val="E2E8F5"/>
                </a:solidFill>
              </a:rPr>
              <a:t>85% TSMC + ASE Taiwan</a:t>
            </a:r>
            <a:endParaRPr lang="en-US" sz="750" dirty="0"/>
          </a:p>
        </p:txBody>
      </p:sp>
      <p:sp>
        <p:nvSpPr>
          <p:cNvPr id="49" name="Shape 47"/>
          <p:cNvSpPr/>
          <p:nvPr/>
        </p:nvSpPr>
        <p:spPr>
          <a:xfrm>
            <a:off x="7616952" y="2990088"/>
            <a:ext cx="1005840" cy="256032"/>
          </a:xfrm>
          <a:prstGeom prst="roundRect">
            <a:avLst>
              <a:gd name="adj" fmla="val 17857"/>
            </a:avLst>
          </a:prstGeom>
          <a:solidFill>
            <a:srgbClr val="EF4444">
              <a:alpha val="75000"/>
            </a:srgbClr>
          </a:solidFill>
          <a:ln/>
        </p:spPr>
      </p:sp>
      <p:sp>
        <p:nvSpPr>
          <p:cNvPr id="50" name="Text 48"/>
          <p:cNvSpPr/>
          <p:nvPr/>
        </p:nvSpPr>
        <p:spPr>
          <a:xfrm>
            <a:off x="7616952" y="2990088"/>
            <a:ext cx="1005840" cy="256032"/>
          </a:xfrm>
          <a:prstGeom prst="rect">
            <a:avLst/>
          </a:prstGeom>
          <a:noFill/>
          <a:ln/>
        </p:spPr>
        <p:txBody>
          <a:bodyPr wrap="square" rtlCol="0" anchor="ctr"/>
          <a:lstStyle/>
          <a:p>
            <a:pPr marL="0" indent="0" algn="ctr">
              <a:buNone/>
            </a:pPr>
            <a:r>
              <a:rPr lang="en-US" sz="800" b="1" dirty="0">
                <a:solidFill>
                  <a:srgbClr val="FFFFFF"/>
                </a:solidFill>
              </a:rPr>
              <a:t>CRITICAL</a:t>
            </a:r>
            <a:endParaRPr lang="en-US" sz="800" dirty="0"/>
          </a:p>
        </p:txBody>
      </p:sp>
      <p:sp>
        <p:nvSpPr>
          <p:cNvPr id="51" name="Shape 49"/>
          <p:cNvSpPr/>
          <p:nvPr/>
        </p:nvSpPr>
        <p:spPr>
          <a:xfrm>
            <a:off x="4434840" y="3346704"/>
            <a:ext cx="4389120" cy="384048"/>
          </a:xfrm>
          <a:prstGeom prst="rect">
            <a:avLst/>
          </a:prstGeom>
          <a:solidFill>
            <a:srgbClr val="111830"/>
          </a:solidFill>
          <a:ln w="12700">
            <a:solidFill>
              <a:srgbClr val="FFFFFF">
                <a:alpha val="3000"/>
              </a:srgbClr>
            </a:solidFill>
            <a:prstDash val="solid"/>
          </a:ln>
        </p:spPr>
      </p:sp>
      <p:sp>
        <p:nvSpPr>
          <p:cNvPr id="52" name="Text 50"/>
          <p:cNvSpPr/>
          <p:nvPr/>
        </p:nvSpPr>
        <p:spPr>
          <a:xfrm>
            <a:off x="4544568" y="3346704"/>
            <a:ext cx="1325880" cy="384048"/>
          </a:xfrm>
          <a:prstGeom prst="rect">
            <a:avLst/>
          </a:prstGeom>
          <a:noFill/>
          <a:ln/>
        </p:spPr>
        <p:txBody>
          <a:bodyPr wrap="square" lIns="0" tIns="0" rIns="0" bIns="0" rtlCol="0" anchor="ctr"/>
          <a:lstStyle/>
          <a:p>
            <a:pPr marL="0" indent="0">
              <a:buNone/>
            </a:pPr>
            <a:r>
              <a:rPr lang="en-US" sz="850" dirty="0">
                <a:solidFill>
                  <a:srgbClr val="E2E8F5"/>
                </a:solidFill>
              </a:rPr>
              <a:t>Rare earth processing</a:t>
            </a:r>
            <a:endParaRPr lang="en-US" sz="850" dirty="0"/>
          </a:p>
        </p:txBody>
      </p:sp>
      <p:sp>
        <p:nvSpPr>
          <p:cNvPr id="53" name="Text 51"/>
          <p:cNvSpPr/>
          <p:nvPr/>
        </p:nvSpPr>
        <p:spPr>
          <a:xfrm>
            <a:off x="5916168" y="3346704"/>
            <a:ext cx="1600200" cy="384048"/>
          </a:xfrm>
          <a:prstGeom prst="rect">
            <a:avLst/>
          </a:prstGeom>
          <a:noFill/>
          <a:ln/>
        </p:spPr>
        <p:txBody>
          <a:bodyPr wrap="square" lIns="0" tIns="0" rIns="0" bIns="0" rtlCol="0" anchor="ctr"/>
          <a:lstStyle/>
          <a:p>
            <a:pPr marL="0" indent="0">
              <a:buNone/>
            </a:pPr>
            <a:r>
              <a:rPr lang="en-US" sz="750" dirty="0">
                <a:solidFill>
                  <a:srgbClr val="E2E8F5"/>
                </a:solidFill>
              </a:rPr>
              <a:t>85% China</a:t>
            </a:r>
            <a:endParaRPr lang="en-US" sz="750" dirty="0"/>
          </a:p>
        </p:txBody>
      </p:sp>
      <p:sp>
        <p:nvSpPr>
          <p:cNvPr id="54" name="Shape 52"/>
          <p:cNvSpPr/>
          <p:nvPr/>
        </p:nvSpPr>
        <p:spPr>
          <a:xfrm>
            <a:off x="7616952" y="3410712"/>
            <a:ext cx="1005840" cy="256032"/>
          </a:xfrm>
          <a:prstGeom prst="roundRect">
            <a:avLst>
              <a:gd name="adj" fmla="val 17857"/>
            </a:avLst>
          </a:prstGeom>
          <a:solidFill>
            <a:srgbClr val="F97316">
              <a:alpha val="75000"/>
            </a:srgbClr>
          </a:solidFill>
          <a:ln/>
        </p:spPr>
      </p:sp>
      <p:sp>
        <p:nvSpPr>
          <p:cNvPr id="55" name="Text 53"/>
          <p:cNvSpPr/>
          <p:nvPr/>
        </p:nvSpPr>
        <p:spPr>
          <a:xfrm>
            <a:off x="7616952" y="3410712"/>
            <a:ext cx="1005840" cy="256032"/>
          </a:xfrm>
          <a:prstGeom prst="rect">
            <a:avLst/>
          </a:prstGeom>
          <a:noFill/>
          <a:ln/>
        </p:spPr>
        <p:txBody>
          <a:bodyPr wrap="square" rtlCol="0" anchor="ctr"/>
          <a:lstStyle/>
          <a:p>
            <a:pPr marL="0" indent="0" algn="ctr">
              <a:buNone/>
            </a:pPr>
            <a:r>
              <a:rPr lang="en-US" sz="800" b="1" dirty="0">
                <a:solidFill>
                  <a:srgbClr val="FFFFFF"/>
                </a:solidFill>
              </a:rPr>
              <a:t>HIGH</a:t>
            </a:r>
            <a:endParaRPr lang="en-US" sz="800" dirty="0"/>
          </a:p>
        </p:txBody>
      </p:sp>
      <p:sp>
        <p:nvSpPr>
          <p:cNvPr id="56" name="Shape 54"/>
          <p:cNvSpPr/>
          <p:nvPr/>
        </p:nvSpPr>
        <p:spPr>
          <a:xfrm>
            <a:off x="4434840" y="3767328"/>
            <a:ext cx="4389120" cy="384048"/>
          </a:xfrm>
          <a:prstGeom prst="rect">
            <a:avLst/>
          </a:prstGeom>
          <a:solidFill>
            <a:srgbClr val="152045"/>
          </a:solidFill>
          <a:ln w="12700">
            <a:solidFill>
              <a:srgbClr val="FFFFFF">
                <a:alpha val="3000"/>
              </a:srgbClr>
            </a:solidFill>
            <a:prstDash val="solid"/>
          </a:ln>
        </p:spPr>
      </p:sp>
      <p:sp>
        <p:nvSpPr>
          <p:cNvPr id="57" name="Text 55"/>
          <p:cNvSpPr/>
          <p:nvPr/>
        </p:nvSpPr>
        <p:spPr>
          <a:xfrm>
            <a:off x="4544568" y="3767328"/>
            <a:ext cx="1325880" cy="384048"/>
          </a:xfrm>
          <a:prstGeom prst="rect">
            <a:avLst/>
          </a:prstGeom>
          <a:noFill/>
          <a:ln/>
        </p:spPr>
        <p:txBody>
          <a:bodyPr wrap="square" lIns="0" tIns="0" rIns="0" bIns="0" rtlCol="0" anchor="ctr"/>
          <a:lstStyle/>
          <a:p>
            <a:pPr marL="0" indent="0">
              <a:buNone/>
            </a:pPr>
            <a:r>
              <a:rPr lang="en-US" sz="850" dirty="0">
                <a:solidFill>
                  <a:srgbClr val="E2E8F5"/>
                </a:solidFill>
              </a:rPr>
              <a:t>Solar panel supply chain</a:t>
            </a:r>
            <a:endParaRPr lang="en-US" sz="850" dirty="0"/>
          </a:p>
        </p:txBody>
      </p:sp>
      <p:sp>
        <p:nvSpPr>
          <p:cNvPr id="58" name="Text 56"/>
          <p:cNvSpPr/>
          <p:nvPr/>
        </p:nvSpPr>
        <p:spPr>
          <a:xfrm>
            <a:off x="5916168" y="3767328"/>
            <a:ext cx="1600200" cy="384048"/>
          </a:xfrm>
          <a:prstGeom prst="rect">
            <a:avLst/>
          </a:prstGeom>
          <a:noFill/>
          <a:ln/>
        </p:spPr>
        <p:txBody>
          <a:bodyPr wrap="square" lIns="0" tIns="0" rIns="0" bIns="0" rtlCol="0" anchor="ctr"/>
          <a:lstStyle/>
          <a:p>
            <a:pPr marL="0" indent="0">
              <a:buNone/>
            </a:pPr>
            <a:r>
              <a:rPr lang="en-US" sz="750" dirty="0">
                <a:solidFill>
                  <a:srgbClr val="E2E8F5"/>
                </a:solidFill>
              </a:rPr>
              <a:t>80%+ China (polysilicon)</a:t>
            </a:r>
            <a:endParaRPr lang="en-US" sz="750" dirty="0"/>
          </a:p>
        </p:txBody>
      </p:sp>
      <p:sp>
        <p:nvSpPr>
          <p:cNvPr id="59" name="Shape 57"/>
          <p:cNvSpPr/>
          <p:nvPr/>
        </p:nvSpPr>
        <p:spPr>
          <a:xfrm>
            <a:off x="7616952" y="3831336"/>
            <a:ext cx="1005840" cy="256032"/>
          </a:xfrm>
          <a:prstGeom prst="roundRect">
            <a:avLst>
              <a:gd name="adj" fmla="val 17857"/>
            </a:avLst>
          </a:prstGeom>
          <a:solidFill>
            <a:srgbClr val="F59E0B">
              <a:alpha val="75000"/>
            </a:srgbClr>
          </a:solidFill>
          <a:ln/>
        </p:spPr>
      </p:sp>
      <p:sp>
        <p:nvSpPr>
          <p:cNvPr id="60" name="Text 58"/>
          <p:cNvSpPr/>
          <p:nvPr/>
        </p:nvSpPr>
        <p:spPr>
          <a:xfrm>
            <a:off x="7616952" y="3831336"/>
            <a:ext cx="1005840" cy="256032"/>
          </a:xfrm>
          <a:prstGeom prst="rect">
            <a:avLst/>
          </a:prstGeom>
          <a:noFill/>
          <a:ln/>
        </p:spPr>
        <p:txBody>
          <a:bodyPr wrap="square" rtlCol="0" anchor="ctr"/>
          <a:lstStyle/>
          <a:p>
            <a:pPr marL="0" indent="0" algn="ctr">
              <a:buNone/>
            </a:pPr>
            <a:r>
              <a:rPr lang="en-US" sz="800" b="1" dirty="0">
                <a:solidFill>
                  <a:srgbClr val="FFFFFF"/>
                </a:solidFill>
              </a:rPr>
              <a:t>MED</a:t>
            </a:r>
            <a:endParaRPr lang="en-US" sz="800" dirty="0"/>
          </a:p>
        </p:txBody>
      </p:sp>
      <p:sp>
        <p:nvSpPr>
          <p:cNvPr id="61" name="Shape 59"/>
          <p:cNvSpPr/>
          <p:nvPr/>
        </p:nvSpPr>
        <p:spPr>
          <a:xfrm>
            <a:off x="4434840" y="4187952"/>
            <a:ext cx="4389120" cy="384048"/>
          </a:xfrm>
          <a:prstGeom prst="rect">
            <a:avLst/>
          </a:prstGeom>
          <a:solidFill>
            <a:srgbClr val="111830"/>
          </a:solidFill>
          <a:ln w="12700">
            <a:solidFill>
              <a:srgbClr val="FFFFFF">
                <a:alpha val="3000"/>
              </a:srgbClr>
            </a:solidFill>
            <a:prstDash val="solid"/>
          </a:ln>
        </p:spPr>
      </p:sp>
      <p:sp>
        <p:nvSpPr>
          <p:cNvPr id="62" name="Text 60"/>
          <p:cNvSpPr/>
          <p:nvPr/>
        </p:nvSpPr>
        <p:spPr>
          <a:xfrm>
            <a:off x="4544568" y="4187952"/>
            <a:ext cx="1325880" cy="384048"/>
          </a:xfrm>
          <a:prstGeom prst="rect">
            <a:avLst/>
          </a:prstGeom>
          <a:noFill/>
          <a:ln/>
        </p:spPr>
        <p:txBody>
          <a:bodyPr wrap="square" lIns="0" tIns="0" rIns="0" bIns="0" rtlCol="0" anchor="ctr"/>
          <a:lstStyle/>
          <a:p>
            <a:pPr marL="0" indent="0">
              <a:buNone/>
            </a:pPr>
            <a:r>
              <a:rPr lang="en-US" sz="850" dirty="0">
                <a:solidFill>
                  <a:srgbClr val="E2E8F5"/>
                </a:solidFill>
              </a:rPr>
              <a:t>Robot precision gearboxes</a:t>
            </a:r>
            <a:endParaRPr lang="en-US" sz="850" dirty="0"/>
          </a:p>
        </p:txBody>
      </p:sp>
      <p:sp>
        <p:nvSpPr>
          <p:cNvPr id="63" name="Text 61"/>
          <p:cNvSpPr/>
          <p:nvPr/>
        </p:nvSpPr>
        <p:spPr>
          <a:xfrm>
            <a:off x="5916168" y="4187952"/>
            <a:ext cx="1600200" cy="384048"/>
          </a:xfrm>
          <a:prstGeom prst="rect">
            <a:avLst/>
          </a:prstGeom>
          <a:noFill/>
          <a:ln/>
        </p:spPr>
        <p:txBody>
          <a:bodyPr wrap="square" lIns="0" tIns="0" rIns="0" bIns="0" rtlCol="0" anchor="ctr"/>
          <a:lstStyle/>
          <a:p>
            <a:pPr marL="0" indent="0">
              <a:buNone/>
            </a:pPr>
            <a:r>
              <a:rPr lang="en-US" sz="750" dirty="0">
                <a:solidFill>
                  <a:srgbClr val="E2E8F5"/>
                </a:solidFill>
              </a:rPr>
              <a:t>70% Japan (Harmonic, Nabtesco)</a:t>
            </a:r>
            <a:endParaRPr lang="en-US" sz="750" dirty="0"/>
          </a:p>
        </p:txBody>
      </p:sp>
      <p:sp>
        <p:nvSpPr>
          <p:cNvPr id="64" name="Shape 62"/>
          <p:cNvSpPr/>
          <p:nvPr/>
        </p:nvSpPr>
        <p:spPr>
          <a:xfrm>
            <a:off x="7616952" y="4251960"/>
            <a:ext cx="1005840" cy="256032"/>
          </a:xfrm>
          <a:prstGeom prst="roundRect">
            <a:avLst>
              <a:gd name="adj" fmla="val 17857"/>
            </a:avLst>
          </a:prstGeom>
          <a:solidFill>
            <a:srgbClr val="F59E0B">
              <a:alpha val="75000"/>
            </a:srgbClr>
          </a:solidFill>
          <a:ln/>
        </p:spPr>
      </p:sp>
      <p:sp>
        <p:nvSpPr>
          <p:cNvPr id="65" name="Text 63"/>
          <p:cNvSpPr/>
          <p:nvPr/>
        </p:nvSpPr>
        <p:spPr>
          <a:xfrm>
            <a:off x="7616952" y="4251960"/>
            <a:ext cx="1005840" cy="256032"/>
          </a:xfrm>
          <a:prstGeom prst="rect">
            <a:avLst/>
          </a:prstGeom>
          <a:noFill/>
          <a:ln/>
        </p:spPr>
        <p:txBody>
          <a:bodyPr wrap="square" rtlCol="0" anchor="ctr"/>
          <a:lstStyle/>
          <a:p>
            <a:pPr marL="0" indent="0" algn="ctr">
              <a:buNone/>
            </a:pPr>
            <a:r>
              <a:rPr lang="en-US" sz="800" b="1" dirty="0">
                <a:solidFill>
                  <a:srgbClr val="FFFFFF"/>
                </a:solidFill>
              </a:rPr>
              <a:t>MED</a:t>
            </a:r>
            <a:endParaRPr lang="en-US" sz="800" dirty="0"/>
          </a:p>
        </p:txBody>
      </p:sp>
      <p:sp>
        <p:nvSpPr>
          <p:cNvPr id="66" name="Shape 64"/>
          <p:cNvSpPr/>
          <p:nvPr/>
        </p:nvSpPr>
        <p:spPr>
          <a:xfrm>
            <a:off x="4434840" y="4608576"/>
            <a:ext cx="4389120" cy="384048"/>
          </a:xfrm>
          <a:prstGeom prst="rect">
            <a:avLst/>
          </a:prstGeom>
          <a:solidFill>
            <a:srgbClr val="152045"/>
          </a:solidFill>
          <a:ln w="12700">
            <a:solidFill>
              <a:srgbClr val="FFFFFF">
                <a:alpha val="3000"/>
              </a:srgbClr>
            </a:solidFill>
            <a:prstDash val="solid"/>
          </a:ln>
        </p:spPr>
      </p:sp>
      <p:sp>
        <p:nvSpPr>
          <p:cNvPr id="67" name="Text 65"/>
          <p:cNvSpPr/>
          <p:nvPr/>
        </p:nvSpPr>
        <p:spPr>
          <a:xfrm>
            <a:off x="4544568" y="4608576"/>
            <a:ext cx="1325880" cy="384048"/>
          </a:xfrm>
          <a:prstGeom prst="rect">
            <a:avLst/>
          </a:prstGeom>
          <a:noFill/>
          <a:ln/>
        </p:spPr>
        <p:txBody>
          <a:bodyPr wrap="square" lIns="0" tIns="0" rIns="0" bIns="0" rtlCol="0" anchor="ctr"/>
          <a:lstStyle/>
          <a:p>
            <a:pPr marL="0" indent="0">
              <a:buNone/>
            </a:pPr>
            <a:r>
              <a:rPr lang="en-US" sz="850" dirty="0">
                <a:solidFill>
                  <a:srgbClr val="E2E8F5"/>
                </a:solidFill>
              </a:rPr>
              <a:t>NAND flash memory</a:t>
            </a:r>
            <a:endParaRPr lang="en-US" sz="850" dirty="0"/>
          </a:p>
        </p:txBody>
      </p:sp>
      <p:sp>
        <p:nvSpPr>
          <p:cNvPr id="68" name="Text 66"/>
          <p:cNvSpPr/>
          <p:nvPr/>
        </p:nvSpPr>
        <p:spPr>
          <a:xfrm>
            <a:off x="5916168" y="4608576"/>
            <a:ext cx="1600200" cy="384048"/>
          </a:xfrm>
          <a:prstGeom prst="rect">
            <a:avLst/>
          </a:prstGeom>
          <a:noFill/>
          <a:ln/>
        </p:spPr>
        <p:txBody>
          <a:bodyPr wrap="square" lIns="0" tIns="0" rIns="0" bIns="0" rtlCol="0" anchor="ctr"/>
          <a:lstStyle/>
          <a:p>
            <a:pPr marL="0" indent="0">
              <a:buNone/>
            </a:pPr>
            <a:r>
              <a:rPr lang="en-US" sz="750" dirty="0">
                <a:solidFill>
                  <a:srgbClr val="E2E8F5"/>
                </a:solidFill>
              </a:rPr>
              <a:t>Samsung/SK Hynix/Kioxia — all allies</a:t>
            </a:r>
            <a:endParaRPr lang="en-US" sz="750" dirty="0"/>
          </a:p>
        </p:txBody>
      </p:sp>
      <p:sp>
        <p:nvSpPr>
          <p:cNvPr id="69" name="Shape 67"/>
          <p:cNvSpPr/>
          <p:nvPr/>
        </p:nvSpPr>
        <p:spPr>
          <a:xfrm>
            <a:off x="7616952" y="4672584"/>
            <a:ext cx="1005840" cy="256032"/>
          </a:xfrm>
          <a:prstGeom prst="roundRect">
            <a:avLst>
              <a:gd name="adj" fmla="val 17857"/>
            </a:avLst>
          </a:prstGeom>
          <a:solidFill>
            <a:srgbClr val="10B981">
              <a:alpha val="75000"/>
            </a:srgbClr>
          </a:solidFill>
          <a:ln/>
        </p:spPr>
      </p:sp>
      <p:sp>
        <p:nvSpPr>
          <p:cNvPr id="70" name="Text 68"/>
          <p:cNvSpPr/>
          <p:nvPr/>
        </p:nvSpPr>
        <p:spPr>
          <a:xfrm>
            <a:off x="7616952" y="4672584"/>
            <a:ext cx="1005840" cy="256032"/>
          </a:xfrm>
          <a:prstGeom prst="rect">
            <a:avLst/>
          </a:prstGeom>
          <a:noFill/>
          <a:ln/>
        </p:spPr>
        <p:txBody>
          <a:bodyPr wrap="square" rtlCol="0" anchor="ctr"/>
          <a:lstStyle/>
          <a:p>
            <a:pPr marL="0" indent="0" algn="ctr">
              <a:buNone/>
            </a:pPr>
            <a:r>
              <a:rPr lang="en-US" sz="800" b="1" dirty="0">
                <a:solidFill>
                  <a:srgbClr val="FFFFFF"/>
                </a:solidFill>
              </a:rPr>
              <a:t>LOW</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A1628"/>
          </a:solidFill>
          <a:ln/>
        </p:spPr>
      </p:sp>
      <p:sp>
        <p:nvSpPr>
          <p:cNvPr id="3" name="Shape 1"/>
          <p:cNvSpPr/>
          <p:nvPr/>
        </p:nvSpPr>
        <p:spPr>
          <a:xfrm>
            <a:off x="0" y="0"/>
            <a:ext cx="9144000" cy="64008"/>
          </a:xfrm>
          <a:prstGeom prst="rect">
            <a:avLst/>
          </a:prstGeom>
          <a:solidFill>
            <a:srgbClr val="1D4ED8"/>
          </a:solidFill>
          <a:ln/>
        </p:spPr>
      </p:sp>
      <p:sp>
        <p:nvSpPr>
          <p:cNvPr id="4" name="Text 2"/>
          <p:cNvSpPr/>
          <p:nvPr/>
        </p:nvSpPr>
        <p:spPr>
          <a:xfrm>
            <a:off x="182880" y="64008"/>
            <a:ext cx="8778240" cy="548640"/>
          </a:xfrm>
          <a:prstGeom prst="rect">
            <a:avLst/>
          </a:prstGeom>
          <a:noFill/>
          <a:ln/>
        </p:spPr>
        <p:txBody>
          <a:bodyPr wrap="square" rtlCol="0" anchor="ctr"/>
          <a:lstStyle/>
          <a:p>
            <a:pPr marL="0" indent="0">
              <a:buNone/>
            </a:pPr>
            <a:r>
              <a:rPr lang="en-US" sz="1300" b="1" dirty="0">
                <a:solidFill>
                  <a:srgbClr val="FFFFFF"/>
                </a:solidFill>
              </a:rPr>
              <a:t>COMPETITIVE DYNAMICS — US vs CHINA + PLATFORM WARS</a:t>
            </a:r>
            <a:endParaRPr lang="en-US" sz="1300" dirty="0"/>
          </a:p>
        </p:txBody>
      </p:sp>
      <p:sp>
        <p:nvSpPr>
          <p:cNvPr id="5" name="Text 3"/>
          <p:cNvSpPr/>
          <p:nvPr/>
        </p:nvSpPr>
        <p:spPr>
          <a:xfrm>
            <a:off x="182880" y="667512"/>
            <a:ext cx="8778240" cy="274320"/>
          </a:xfrm>
          <a:prstGeom prst="rect">
            <a:avLst/>
          </a:prstGeom>
          <a:noFill/>
          <a:ln/>
        </p:spPr>
        <p:txBody>
          <a:bodyPr wrap="square" rtlCol="0" anchor="ctr"/>
          <a:lstStyle/>
          <a:p>
            <a:pPr marL="0" indent="0">
              <a:buNone/>
            </a:pPr>
            <a:r>
              <a:rPr lang="en-US" sz="1100" i="1" dirty="0">
                <a:solidFill>
                  <a:srgbClr val="06B6D4"/>
                </a:solidFill>
              </a:rPr>
              <a:t>The most consequential technology race in history — whoever wins Physical AI wins the $30T global labor market</a:t>
            </a:r>
            <a:endParaRPr lang="en-US" sz="1100" dirty="0"/>
          </a:p>
        </p:txBody>
      </p:sp>
      <p:sp>
        <p:nvSpPr>
          <p:cNvPr id="6" name="Shape 4"/>
          <p:cNvSpPr/>
          <p:nvPr/>
        </p:nvSpPr>
        <p:spPr>
          <a:xfrm>
            <a:off x="182880" y="1005840"/>
            <a:ext cx="4160520" cy="3017520"/>
          </a:xfrm>
          <a:prstGeom prst="rect">
            <a:avLst/>
          </a:prstGeom>
          <a:solidFill>
            <a:srgbClr val="0F1F3D"/>
          </a:solidFill>
          <a:ln/>
          <a:effectLst>
            <a:outerShdw blurRad="127000" dist="50800" dir="8100000" algn="bl" rotWithShape="0">
              <a:srgbClr val="000000">
                <a:alpha val="25000"/>
              </a:srgbClr>
            </a:outerShdw>
          </a:effectLst>
        </p:spPr>
      </p:sp>
      <p:sp>
        <p:nvSpPr>
          <p:cNvPr id="7" name="Shape 5"/>
          <p:cNvSpPr/>
          <p:nvPr/>
        </p:nvSpPr>
        <p:spPr>
          <a:xfrm>
            <a:off x="182880" y="1005840"/>
            <a:ext cx="4160520" cy="347472"/>
          </a:xfrm>
          <a:prstGeom prst="rect">
            <a:avLst/>
          </a:prstGeom>
          <a:solidFill>
            <a:srgbClr val="1D4ED8"/>
          </a:solidFill>
          <a:ln/>
        </p:spPr>
      </p:sp>
      <p:sp>
        <p:nvSpPr>
          <p:cNvPr id="8" name="Text 6"/>
          <p:cNvSpPr/>
          <p:nvPr/>
        </p:nvSpPr>
        <p:spPr>
          <a:xfrm>
            <a:off x="274320" y="1005840"/>
            <a:ext cx="3977640" cy="347472"/>
          </a:xfrm>
          <a:prstGeom prst="rect">
            <a:avLst/>
          </a:prstGeom>
          <a:noFill/>
          <a:ln/>
        </p:spPr>
        <p:txBody>
          <a:bodyPr wrap="square" rtlCol="0" anchor="ctr"/>
          <a:lstStyle/>
          <a:p>
            <a:pPr marL="0" indent="0">
              <a:buNone/>
            </a:pPr>
            <a:r>
              <a:rPr lang="en-US" sz="1300" b="1" dirty="0">
                <a:solidFill>
                  <a:srgbClr val="FFFFFF"/>
                </a:solidFill>
              </a:rPr>
              <a:t>🇺🇸  UNITED STATES</a:t>
            </a:r>
            <a:endParaRPr lang="en-US" sz="1300" dirty="0"/>
          </a:p>
        </p:txBody>
      </p:sp>
      <p:sp>
        <p:nvSpPr>
          <p:cNvPr id="9" name="Shape 7"/>
          <p:cNvSpPr/>
          <p:nvPr/>
        </p:nvSpPr>
        <p:spPr>
          <a:xfrm>
            <a:off x="228600" y="1417320"/>
            <a:ext cx="4069080" cy="393192"/>
          </a:xfrm>
          <a:prstGeom prst="rect">
            <a:avLst/>
          </a:prstGeom>
          <a:solidFill>
            <a:srgbClr val="0A1628"/>
          </a:solidFill>
          <a:ln/>
        </p:spPr>
      </p:sp>
      <p:sp>
        <p:nvSpPr>
          <p:cNvPr id="10" name="Text 8"/>
          <p:cNvSpPr/>
          <p:nvPr/>
        </p:nvSpPr>
        <p:spPr>
          <a:xfrm>
            <a:off x="292608" y="1435608"/>
            <a:ext cx="1143000" cy="365760"/>
          </a:xfrm>
          <a:prstGeom prst="rect">
            <a:avLst/>
          </a:prstGeom>
          <a:noFill/>
          <a:ln/>
        </p:spPr>
        <p:txBody>
          <a:bodyPr wrap="square" rtlCol="0" anchor="ctr"/>
          <a:lstStyle/>
          <a:p>
            <a:pPr marL="0" indent="0">
              <a:buNone/>
            </a:pPr>
            <a:r>
              <a:rPr lang="en-US" sz="900" b="1" dirty="0">
                <a:solidFill>
                  <a:srgbClr val="06B6D4"/>
                </a:solidFill>
              </a:rPr>
              <a:t>AI Compute:</a:t>
            </a:r>
            <a:endParaRPr lang="en-US" sz="900" dirty="0"/>
          </a:p>
        </p:txBody>
      </p:sp>
      <p:sp>
        <p:nvSpPr>
          <p:cNvPr id="11" name="Text 9"/>
          <p:cNvSpPr/>
          <p:nvPr/>
        </p:nvSpPr>
        <p:spPr>
          <a:xfrm>
            <a:off x="1463040" y="1435608"/>
            <a:ext cx="2724912" cy="365760"/>
          </a:xfrm>
          <a:prstGeom prst="rect">
            <a:avLst/>
          </a:prstGeom>
          <a:noFill/>
          <a:ln/>
        </p:spPr>
        <p:txBody>
          <a:bodyPr wrap="square" rtlCol="0" anchor="ctr"/>
          <a:lstStyle/>
          <a:p>
            <a:pPr marL="0" indent="0">
              <a:buNone/>
            </a:pPr>
            <a:r>
              <a:rPr lang="en-US" sz="850" dirty="0">
                <a:solidFill>
                  <a:srgbClr val="E2E8F0"/>
                </a:solidFill>
              </a:rPr>
              <a:t>NVIDIA dominates (90%+ AI GPU market share). Blackwell B200 shipping. Export controls restrict China.</a:t>
            </a:r>
            <a:endParaRPr lang="en-US" sz="850" dirty="0"/>
          </a:p>
        </p:txBody>
      </p:sp>
      <p:sp>
        <p:nvSpPr>
          <p:cNvPr id="12" name="Shape 10"/>
          <p:cNvSpPr/>
          <p:nvPr/>
        </p:nvSpPr>
        <p:spPr>
          <a:xfrm>
            <a:off x="228600" y="1856232"/>
            <a:ext cx="4069080" cy="393192"/>
          </a:xfrm>
          <a:prstGeom prst="rect">
            <a:avLst/>
          </a:prstGeom>
          <a:solidFill>
            <a:srgbClr val="0A1628"/>
          </a:solidFill>
          <a:ln/>
        </p:spPr>
      </p:sp>
      <p:sp>
        <p:nvSpPr>
          <p:cNvPr id="13" name="Text 11"/>
          <p:cNvSpPr/>
          <p:nvPr/>
        </p:nvSpPr>
        <p:spPr>
          <a:xfrm>
            <a:off x="292608" y="1874520"/>
            <a:ext cx="1143000" cy="365760"/>
          </a:xfrm>
          <a:prstGeom prst="rect">
            <a:avLst/>
          </a:prstGeom>
          <a:noFill/>
          <a:ln/>
        </p:spPr>
        <p:txBody>
          <a:bodyPr wrap="square" rtlCol="0" anchor="ctr"/>
          <a:lstStyle/>
          <a:p>
            <a:pPr marL="0" indent="0">
              <a:buNone/>
            </a:pPr>
            <a:r>
              <a:rPr lang="en-US" sz="900" b="1" dirty="0">
                <a:solidFill>
                  <a:srgbClr val="06B6D4"/>
                </a:solidFill>
              </a:rPr>
              <a:t>Model Layer:</a:t>
            </a:r>
            <a:endParaRPr lang="en-US" sz="900" dirty="0"/>
          </a:p>
        </p:txBody>
      </p:sp>
      <p:sp>
        <p:nvSpPr>
          <p:cNvPr id="14" name="Text 12"/>
          <p:cNvSpPr/>
          <p:nvPr/>
        </p:nvSpPr>
        <p:spPr>
          <a:xfrm>
            <a:off x="1463040" y="1874520"/>
            <a:ext cx="2724912" cy="365760"/>
          </a:xfrm>
          <a:prstGeom prst="rect">
            <a:avLst/>
          </a:prstGeom>
          <a:noFill/>
          <a:ln/>
        </p:spPr>
        <p:txBody>
          <a:bodyPr wrap="square" rtlCol="0" anchor="ctr"/>
          <a:lstStyle/>
          <a:p>
            <a:pPr marL="0" indent="0">
              <a:buNone/>
            </a:pPr>
            <a:r>
              <a:rPr lang="en-US" sz="850" dirty="0">
                <a:solidFill>
                  <a:srgbClr val="E2E8F0"/>
                </a:solidFill>
              </a:rPr>
              <a:t>OpenAI GPT-4o/o3. Anthropic Claude. Google Gemini. Meta Llama 4. US leads foundation models.</a:t>
            </a:r>
            <a:endParaRPr lang="en-US" sz="850" dirty="0"/>
          </a:p>
        </p:txBody>
      </p:sp>
      <p:sp>
        <p:nvSpPr>
          <p:cNvPr id="15" name="Shape 13"/>
          <p:cNvSpPr/>
          <p:nvPr/>
        </p:nvSpPr>
        <p:spPr>
          <a:xfrm>
            <a:off x="228600" y="2295144"/>
            <a:ext cx="4069080" cy="393192"/>
          </a:xfrm>
          <a:prstGeom prst="rect">
            <a:avLst/>
          </a:prstGeom>
          <a:solidFill>
            <a:srgbClr val="0A1628"/>
          </a:solidFill>
          <a:ln/>
        </p:spPr>
      </p:sp>
      <p:sp>
        <p:nvSpPr>
          <p:cNvPr id="16" name="Text 14"/>
          <p:cNvSpPr/>
          <p:nvPr/>
        </p:nvSpPr>
        <p:spPr>
          <a:xfrm>
            <a:off x="292608" y="2313432"/>
            <a:ext cx="1143000" cy="365760"/>
          </a:xfrm>
          <a:prstGeom prst="rect">
            <a:avLst/>
          </a:prstGeom>
          <a:noFill/>
          <a:ln/>
        </p:spPr>
        <p:txBody>
          <a:bodyPr wrap="square" rtlCol="0" anchor="ctr"/>
          <a:lstStyle/>
          <a:p>
            <a:pPr marL="0" indent="0">
              <a:buNone/>
            </a:pPr>
            <a:r>
              <a:rPr lang="en-US" sz="900" b="1" dirty="0">
                <a:solidFill>
                  <a:srgbClr val="06B6D4"/>
                </a:solidFill>
              </a:rPr>
              <a:t>Humanoid:</a:t>
            </a:r>
            <a:endParaRPr lang="en-US" sz="900" dirty="0"/>
          </a:p>
        </p:txBody>
      </p:sp>
      <p:sp>
        <p:nvSpPr>
          <p:cNvPr id="17" name="Text 15"/>
          <p:cNvSpPr/>
          <p:nvPr/>
        </p:nvSpPr>
        <p:spPr>
          <a:xfrm>
            <a:off x="1463040" y="2313432"/>
            <a:ext cx="2724912" cy="365760"/>
          </a:xfrm>
          <a:prstGeom prst="rect">
            <a:avLst/>
          </a:prstGeom>
          <a:noFill/>
          <a:ln/>
        </p:spPr>
        <p:txBody>
          <a:bodyPr wrap="square" rtlCol="0" anchor="ctr"/>
          <a:lstStyle/>
          <a:p>
            <a:pPr marL="0" indent="0">
              <a:buNone/>
            </a:pPr>
            <a:r>
              <a:rPr lang="en-US" sz="850" dirty="0">
                <a:solidFill>
                  <a:srgbClr val="E2E8F0"/>
                </a:solidFill>
              </a:rPr>
              <a:t>Tesla, Figure AI, Boston Dynamics, Agility, 1X Technologies, Apptronik — best-funded ecosystem.</a:t>
            </a:r>
            <a:endParaRPr lang="en-US" sz="850" dirty="0"/>
          </a:p>
        </p:txBody>
      </p:sp>
      <p:sp>
        <p:nvSpPr>
          <p:cNvPr id="18" name="Shape 16"/>
          <p:cNvSpPr/>
          <p:nvPr/>
        </p:nvSpPr>
        <p:spPr>
          <a:xfrm>
            <a:off x="228600" y="2734056"/>
            <a:ext cx="4069080" cy="393192"/>
          </a:xfrm>
          <a:prstGeom prst="rect">
            <a:avLst/>
          </a:prstGeom>
          <a:solidFill>
            <a:srgbClr val="0A1628"/>
          </a:solidFill>
          <a:ln/>
        </p:spPr>
      </p:sp>
      <p:sp>
        <p:nvSpPr>
          <p:cNvPr id="19" name="Text 17"/>
          <p:cNvSpPr/>
          <p:nvPr/>
        </p:nvSpPr>
        <p:spPr>
          <a:xfrm>
            <a:off x="292608" y="2752344"/>
            <a:ext cx="1143000" cy="365760"/>
          </a:xfrm>
          <a:prstGeom prst="rect">
            <a:avLst/>
          </a:prstGeom>
          <a:noFill/>
          <a:ln/>
        </p:spPr>
        <p:txBody>
          <a:bodyPr wrap="square" rtlCol="0" anchor="ctr"/>
          <a:lstStyle/>
          <a:p>
            <a:pPr marL="0" indent="0">
              <a:buNone/>
            </a:pPr>
            <a:r>
              <a:rPr lang="en-US" sz="900" b="1" dirty="0">
                <a:solidFill>
                  <a:srgbClr val="06B6D4"/>
                </a:solidFill>
              </a:rPr>
              <a:t>Autonomous Vehicles:</a:t>
            </a:r>
            <a:endParaRPr lang="en-US" sz="900" dirty="0"/>
          </a:p>
        </p:txBody>
      </p:sp>
      <p:sp>
        <p:nvSpPr>
          <p:cNvPr id="20" name="Text 18"/>
          <p:cNvSpPr/>
          <p:nvPr/>
        </p:nvSpPr>
        <p:spPr>
          <a:xfrm>
            <a:off x="1463040" y="2752344"/>
            <a:ext cx="2724912" cy="365760"/>
          </a:xfrm>
          <a:prstGeom prst="rect">
            <a:avLst/>
          </a:prstGeom>
          <a:noFill/>
          <a:ln/>
        </p:spPr>
        <p:txBody>
          <a:bodyPr wrap="square" rtlCol="0" anchor="ctr"/>
          <a:lstStyle/>
          <a:p>
            <a:pPr marL="0" indent="0">
              <a:buNone/>
            </a:pPr>
            <a:r>
              <a:rPr lang="en-US" sz="850" dirty="0">
                <a:solidFill>
                  <a:srgbClr val="E2E8F0"/>
                </a:solidFill>
              </a:rPr>
              <a:t>Waymo (250K+ wkly rides, 5 cities). Zoox. Tesla FSD. Amazon autonomous delivery.</a:t>
            </a:r>
            <a:endParaRPr lang="en-US" sz="850" dirty="0"/>
          </a:p>
        </p:txBody>
      </p:sp>
      <p:sp>
        <p:nvSpPr>
          <p:cNvPr id="21" name="Shape 19"/>
          <p:cNvSpPr/>
          <p:nvPr/>
        </p:nvSpPr>
        <p:spPr>
          <a:xfrm>
            <a:off x="228600" y="3172968"/>
            <a:ext cx="4069080" cy="393192"/>
          </a:xfrm>
          <a:prstGeom prst="rect">
            <a:avLst/>
          </a:prstGeom>
          <a:solidFill>
            <a:srgbClr val="0A1628"/>
          </a:solidFill>
          <a:ln/>
        </p:spPr>
      </p:sp>
      <p:sp>
        <p:nvSpPr>
          <p:cNvPr id="22" name="Text 20"/>
          <p:cNvSpPr/>
          <p:nvPr/>
        </p:nvSpPr>
        <p:spPr>
          <a:xfrm>
            <a:off x="292608" y="3191256"/>
            <a:ext cx="1143000" cy="365760"/>
          </a:xfrm>
          <a:prstGeom prst="rect">
            <a:avLst/>
          </a:prstGeom>
          <a:noFill/>
          <a:ln/>
        </p:spPr>
        <p:txBody>
          <a:bodyPr wrap="square" rtlCol="0" anchor="ctr"/>
          <a:lstStyle/>
          <a:p>
            <a:pPr marL="0" indent="0">
              <a:buNone/>
            </a:pPr>
            <a:r>
              <a:rPr lang="en-US" sz="900" b="1" dirty="0">
                <a:solidFill>
                  <a:srgbClr val="06B6D4"/>
                </a:solidFill>
              </a:rPr>
              <a:t>Defense AI:</a:t>
            </a:r>
            <a:endParaRPr lang="en-US" sz="900" dirty="0"/>
          </a:p>
        </p:txBody>
      </p:sp>
      <p:sp>
        <p:nvSpPr>
          <p:cNvPr id="23" name="Text 21"/>
          <p:cNvSpPr/>
          <p:nvPr/>
        </p:nvSpPr>
        <p:spPr>
          <a:xfrm>
            <a:off x="1463040" y="3191256"/>
            <a:ext cx="2724912" cy="365760"/>
          </a:xfrm>
          <a:prstGeom prst="rect">
            <a:avLst/>
          </a:prstGeom>
          <a:noFill/>
          <a:ln/>
        </p:spPr>
        <p:txBody>
          <a:bodyPr wrap="square" rtlCol="0" anchor="ctr"/>
          <a:lstStyle/>
          <a:p>
            <a:pPr marL="0" indent="0">
              <a:buNone/>
            </a:pPr>
            <a:r>
              <a:rPr lang="en-US" sz="850" dirty="0">
                <a:solidFill>
                  <a:srgbClr val="E2E8F0"/>
                </a:solidFill>
              </a:rPr>
              <a:t>Palantir TITAN (drone targeting). Shield AI autonomous dogfighting. Ghost Robotics (military dogs).</a:t>
            </a:r>
            <a:endParaRPr lang="en-US" sz="850" dirty="0"/>
          </a:p>
        </p:txBody>
      </p:sp>
      <p:sp>
        <p:nvSpPr>
          <p:cNvPr id="24" name="Shape 22"/>
          <p:cNvSpPr/>
          <p:nvPr/>
        </p:nvSpPr>
        <p:spPr>
          <a:xfrm>
            <a:off x="228600" y="3611880"/>
            <a:ext cx="4069080" cy="393192"/>
          </a:xfrm>
          <a:prstGeom prst="rect">
            <a:avLst/>
          </a:prstGeom>
          <a:solidFill>
            <a:srgbClr val="0A1628"/>
          </a:solidFill>
          <a:ln/>
        </p:spPr>
      </p:sp>
      <p:sp>
        <p:nvSpPr>
          <p:cNvPr id="25" name="Text 23"/>
          <p:cNvSpPr/>
          <p:nvPr/>
        </p:nvSpPr>
        <p:spPr>
          <a:xfrm>
            <a:off x="292608" y="3630168"/>
            <a:ext cx="1143000" cy="365760"/>
          </a:xfrm>
          <a:prstGeom prst="rect">
            <a:avLst/>
          </a:prstGeom>
          <a:noFill/>
          <a:ln/>
        </p:spPr>
        <p:txBody>
          <a:bodyPr wrap="square" rtlCol="0" anchor="ctr"/>
          <a:lstStyle/>
          <a:p>
            <a:pPr marL="0" indent="0">
              <a:buNone/>
            </a:pPr>
            <a:r>
              <a:rPr lang="en-US" sz="900" b="1" dirty="0">
                <a:solidFill>
                  <a:srgbClr val="06B6D4"/>
                </a:solidFill>
              </a:rPr>
              <a:t>Key Moat:</a:t>
            </a:r>
            <a:endParaRPr lang="en-US" sz="900" dirty="0"/>
          </a:p>
        </p:txBody>
      </p:sp>
      <p:sp>
        <p:nvSpPr>
          <p:cNvPr id="26" name="Text 24"/>
          <p:cNvSpPr/>
          <p:nvPr/>
        </p:nvSpPr>
        <p:spPr>
          <a:xfrm>
            <a:off x="1463040" y="3630168"/>
            <a:ext cx="2724912" cy="365760"/>
          </a:xfrm>
          <a:prstGeom prst="rect">
            <a:avLst/>
          </a:prstGeom>
          <a:noFill/>
          <a:ln/>
        </p:spPr>
        <p:txBody>
          <a:bodyPr wrap="square" rtlCol="0" anchor="ctr"/>
          <a:lstStyle/>
          <a:p>
            <a:pPr marL="0" indent="0">
              <a:buNone/>
            </a:pPr>
            <a:r>
              <a:rPr lang="en-US" sz="850" dirty="0">
                <a:solidFill>
                  <a:srgbClr val="E2E8F0"/>
                </a:solidFill>
              </a:rPr>
              <a:t>Software, IP, chipmaking partnerships, global talent, VC funding ecosystem, regulatory relationships.</a:t>
            </a:r>
            <a:endParaRPr lang="en-US" sz="850" dirty="0"/>
          </a:p>
        </p:txBody>
      </p:sp>
      <p:sp>
        <p:nvSpPr>
          <p:cNvPr id="27" name="Shape 25"/>
          <p:cNvSpPr/>
          <p:nvPr/>
        </p:nvSpPr>
        <p:spPr>
          <a:xfrm>
            <a:off x="4572000" y="1005840"/>
            <a:ext cx="4389120" cy="3017520"/>
          </a:xfrm>
          <a:prstGeom prst="rect">
            <a:avLst/>
          </a:prstGeom>
          <a:solidFill>
            <a:srgbClr val="0F1F3D"/>
          </a:solidFill>
          <a:ln/>
          <a:effectLst>
            <a:outerShdw blurRad="127000" dist="50800" dir="8100000" algn="bl" rotWithShape="0">
              <a:srgbClr val="000000">
                <a:alpha val="25000"/>
              </a:srgbClr>
            </a:outerShdw>
          </a:effectLst>
        </p:spPr>
      </p:sp>
      <p:sp>
        <p:nvSpPr>
          <p:cNvPr id="28" name="Shape 26"/>
          <p:cNvSpPr/>
          <p:nvPr/>
        </p:nvSpPr>
        <p:spPr>
          <a:xfrm>
            <a:off x="4572000" y="1005840"/>
            <a:ext cx="4389120" cy="347472"/>
          </a:xfrm>
          <a:prstGeom prst="rect">
            <a:avLst/>
          </a:prstGeom>
          <a:solidFill>
            <a:srgbClr val="EF4444"/>
          </a:solidFill>
          <a:ln/>
        </p:spPr>
      </p:sp>
      <p:sp>
        <p:nvSpPr>
          <p:cNvPr id="29" name="Text 27"/>
          <p:cNvSpPr/>
          <p:nvPr/>
        </p:nvSpPr>
        <p:spPr>
          <a:xfrm>
            <a:off x="4663440" y="1005840"/>
            <a:ext cx="4206240" cy="347472"/>
          </a:xfrm>
          <a:prstGeom prst="rect">
            <a:avLst/>
          </a:prstGeom>
          <a:noFill/>
          <a:ln/>
        </p:spPr>
        <p:txBody>
          <a:bodyPr wrap="square" rtlCol="0" anchor="ctr"/>
          <a:lstStyle/>
          <a:p>
            <a:pPr marL="0" indent="0">
              <a:buNone/>
            </a:pPr>
            <a:r>
              <a:rPr lang="en-US" sz="1300" b="1" dirty="0">
                <a:solidFill>
                  <a:srgbClr val="FFFFFF"/>
                </a:solidFill>
              </a:rPr>
              <a:t>🇨🇳  CHINA</a:t>
            </a:r>
            <a:endParaRPr lang="en-US" sz="1300" dirty="0"/>
          </a:p>
        </p:txBody>
      </p:sp>
      <p:sp>
        <p:nvSpPr>
          <p:cNvPr id="30" name="Shape 28"/>
          <p:cNvSpPr/>
          <p:nvPr/>
        </p:nvSpPr>
        <p:spPr>
          <a:xfrm>
            <a:off x="4617720" y="1417320"/>
            <a:ext cx="4297680" cy="393192"/>
          </a:xfrm>
          <a:prstGeom prst="rect">
            <a:avLst/>
          </a:prstGeom>
          <a:solidFill>
            <a:srgbClr val="0A1628"/>
          </a:solidFill>
          <a:ln/>
        </p:spPr>
      </p:sp>
      <p:sp>
        <p:nvSpPr>
          <p:cNvPr id="31" name="Text 29"/>
          <p:cNvSpPr/>
          <p:nvPr/>
        </p:nvSpPr>
        <p:spPr>
          <a:xfrm>
            <a:off x="4681728" y="1435608"/>
            <a:ext cx="1143000" cy="365760"/>
          </a:xfrm>
          <a:prstGeom prst="rect">
            <a:avLst/>
          </a:prstGeom>
          <a:noFill/>
          <a:ln/>
        </p:spPr>
        <p:txBody>
          <a:bodyPr wrap="square" rtlCol="0" anchor="ctr"/>
          <a:lstStyle/>
          <a:p>
            <a:pPr marL="0" indent="0">
              <a:buNone/>
            </a:pPr>
            <a:r>
              <a:rPr lang="en-US" sz="900" b="1" dirty="0">
                <a:solidFill>
                  <a:srgbClr val="EF4444"/>
                </a:solidFill>
              </a:rPr>
              <a:t>AI Models:</a:t>
            </a:r>
            <a:endParaRPr lang="en-US" sz="900" dirty="0"/>
          </a:p>
        </p:txBody>
      </p:sp>
      <p:sp>
        <p:nvSpPr>
          <p:cNvPr id="32" name="Text 30"/>
          <p:cNvSpPr/>
          <p:nvPr/>
        </p:nvSpPr>
        <p:spPr>
          <a:xfrm>
            <a:off x="5852160" y="1435608"/>
            <a:ext cx="2926080" cy="365760"/>
          </a:xfrm>
          <a:prstGeom prst="rect">
            <a:avLst/>
          </a:prstGeom>
          <a:noFill/>
          <a:ln/>
        </p:spPr>
        <p:txBody>
          <a:bodyPr wrap="square" rtlCol="0" anchor="ctr"/>
          <a:lstStyle/>
          <a:p>
            <a:pPr marL="0" indent="0">
              <a:buNone/>
            </a:pPr>
            <a:r>
              <a:rPr lang="en-US" sz="850" dirty="0">
                <a:solidFill>
                  <a:srgbClr val="E2E8F0"/>
                </a:solidFill>
              </a:rPr>
              <a:t>DeepSeek-R1 (open-source, rivals GPT-4 at fraction of cost). Baidu ERNIE. Alibaba Qwen 2.5.</a:t>
            </a:r>
            <a:endParaRPr lang="en-US" sz="850" dirty="0"/>
          </a:p>
        </p:txBody>
      </p:sp>
      <p:sp>
        <p:nvSpPr>
          <p:cNvPr id="33" name="Shape 31"/>
          <p:cNvSpPr/>
          <p:nvPr/>
        </p:nvSpPr>
        <p:spPr>
          <a:xfrm>
            <a:off x="4617720" y="1856232"/>
            <a:ext cx="4297680" cy="393192"/>
          </a:xfrm>
          <a:prstGeom prst="rect">
            <a:avLst/>
          </a:prstGeom>
          <a:solidFill>
            <a:srgbClr val="0A1628"/>
          </a:solidFill>
          <a:ln/>
        </p:spPr>
      </p:sp>
      <p:sp>
        <p:nvSpPr>
          <p:cNvPr id="34" name="Text 32"/>
          <p:cNvSpPr/>
          <p:nvPr/>
        </p:nvSpPr>
        <p:spPr>
          <a:xfrm>
            <a:off x="4681728" y="1874520"/>
            <a:ext cx="1143000" cy="365760"/>
          </a:xfrm>
          <a:prstGeom prst="rect">
            <a:avLst/>
          </a:prstGeom>
          <a:noFill/>
          <a:ln/>
        </p:spPr>
        <p:txBody>
          <a:bodyPr wrap="square" rtlCol="0" anchor="ctr"/>
          <a:lstStyle/>
          <a:p>
            <a:pPr marL="0" indent="0">
              <a:buNone/>
            </a:pPr>
            <a:r>
              <a:rPr lang="en-US" sz="900" b="1" dirty="0">
                <a:solidFill>
                  <a:srgbClr val="EF4444"/>
                </a:solidFill>
              </a:rPr>
              <a:t>Humanoid:</a:t>
            </a:r>
            <a:endParaRPr lang="en-US" sz="900" dirty="0"/>
          </a:p>
        </p:txBody>
      </p:sp>
      <p:sp>
        <p:nvSpPr>
          <p:cNvPr id="35" name="Text 33"/>
          <p:cNvSpPr/>
          <p:nvPr/>
        </p:nvSpPr>
        <p:spPr>
          <a:xfrm>
            <a:off x="5852160" y="1874520"/>
            <a:ext cx="2926080" cy="365760"/>
          </a:xfrm>
          <a:prstGeom prst="rect">
            <a:avLst/>
          </a:prstGeom>
          <a:noFill/>
          <a:ln/>
        </p:spPr>
        <p:txBody>
          <a:bodyPr wrap="square" rtlCol="0" anchor="ctr"/>
          <a:lstStyle/>
          <a:p>
            <a:pPr marL="0" indent="0">
              <a:buNone/>
            </a:pPr>
            <a:r>
              <a:rPr lang="en-US" sz="850" dirty="0">
                <a:solidFill>
                  <a:srgbClr val="E2E8F0"/>
                </a:solidFill>
              </a:rPr>
              <a:t>Unitree (G1 commercially available $16K). AgiBot (1000-unit batch). UBTECH. 10+ serious players.</a:t>
            </a:r>
            <a:endParaRPr lang="en-US" sz="850" dirty="0"/>
          </a:p>
        </p:txBody>
      </p:sp>
      <p:sp>
        <p:nvSpPr>
          <p:cNvPr id="36" name="Shape 34"/>
          <p:cNvSpPr/>
          <p:nvPr/>
        </p:nvSpPr>
        <p:spPr>
          <a:xfrm>
            <a:off x="4617720" y="2295144"/>
            <a:ext cx="4297680" cy="393192"/>
          </a:xfrm>
          <a:prstGeom prst="rect">
            <a:avLst/>
          </a:prstGeom>
          <a:solidFill>
            <a:srgbClr val="0A1628"/>
          </a:solidFill>
          <a:ln/>
        </p:spPr>
      </p:sp>
      <p:sp>
        <p:nvSpPr>
          <p:cNvPr id="37" name="Text 35"/>
          <p:cNvSpPr/>
          <p:nvPr/>
        </p:nvSpPr>
        <p:spPr>
          <a:xfrm>
            <a:off x="4681728" y="2313432"/>
            <a:ext cx="1143000" cy="365760"/>
          </a:xfrm>
          <a:prstGeom prst="rect">
            <a:avLst/>
          </a:prstGeom>
          <a:noFill/>
          <a:ln/>
        </p:spPr>
        <p:txBody>
          <a:bodyPr wrap="square" rtlCol="0" anchor="ctr"/>
          <a:lstStyle/>
          <a:p>
            <a:pPr marL="0" indent="0">
              <a:buNone/>
            </a:pPr>
            <a:r>
              <a:rPr lang="en-US" sz="900" b="1" dirty="0">
                <a:solidFill>
                  <a:srgbClr val="EF4444"/>
                </a:solidFill>
              </a:rPr>
              <a:t>Autonomous:</a:t>
            </a:r>
            <a:endParaRPr lang="en-US" sz="900" dirty="0"/>
          </a:p>
        </p:txBody>
      </p:sp>
      <p:sp>
        <p:nvSpPr>
          <p:cNvPr id="38" name="Text 36"/>
          <p:cNvSpPr/>
          <p:nvPr/>
        </p:nvSpPr>
        <p:spPr>
          <a:xfrm>
            <a:off x="5852160" y="2313432"/>
            <a:ext cx="2926080" cy="365760"/>
          </a:xfrm>
          <a:prstGeom prst="rect">
            <a:avLst/>
          </a:prstGeom>
          <a:noFill/>
          <a:ln/>
        </p:spPr>
        <p:txBody>
          <a:bodyPr wrap="square" rtlCol="0" anchor="ctr"/>
          <a:lstStyle/>
          <a:p>
            <a:pPr marL="0" indent="0">
              <a:buNone/>
            </a:pPr>
            <a:r>
              <a:rPr lang="en-US" sz="850" dirty="0">
                <a:solidFill>
                  <a:srgbClr val="E2E8F0"/>
                </a:solidFill>
              </a:rPr>
              <a:t>Apollo Go (250K+ weekly rides, rivaling Waymo). WeRide. Pony.ai (NASDAQ listed).</a:t>
            </a:r>
            <a:endParaRPr lang="en-US" sz="850" dirty="0"/>
          </a:p>
        </p:txBody>
      </p:sp>
      <p:sp>
        <p:nvSpPr>
          <p:cNvPr id="39" name="Shape 37"/>
          <p:cNvSpPr/>
          <p:nvPr/>
        </p:nvSpPr>
        <p:spPr>
          <a:xfrm>
            <a:off x="4617720" y="2734056"/>
            <a:ext cx="4297680" cy="393192"/>
          </a:xfrm>
          <a:prstGeom prst="rect">
            <a:avLst/>
          </a:prstGeom>
          <a:solidFill>
            <a:srgbClr val="0A1628"/>
          </a:solidFill>
          <a:ln/>
        </p:spPr>
      </p:sp>
      <p:sp>
        <p:nvSpPr>
          <p:cNvPr id="40" name="Text 38"/>
          <p:cNvSpPr/>
          <p:nvPr/>
        </p:nvSpPr>
        <p:spPr>
          <a:xfrm>
            <a:off x="4681728" y="2752344"/>
            <a:ext cx="1143000" cy="365760"/>
          </a:xfrm>
          <a:prstGeom prst="rect">
            <a:avLst/>
          </a:prstGeom>
          <a:noFill/>
          <a:ln/>
        </p:spPr>
        <p:txBody>
          <a:bodyPr wrap="square" rtlCol="0" anchor="ctr"/>
          <a:lstStyle/>
          <a:p>
            <a:pPr marL="0" indent="0">
              <a:buNone/>
            </a:pPr>
            <a:r>
              <a:rPr lang="en-US" sz="900" b="1" dirty="0">
                <a:solidFill>
                  <a:srgbClr val="EF4444"/>
                </a:solidFill>
              </a:rPr>
              <a:t>Funding Scale:</a:t>
            </a:r>
            <a:endParaRPr lang="en-US" sz="900" dirty="0"/>
          </a:p>
        </p:txBody>
      </p:sp>
      <p:sp>
        <p:nvSpPr>
          <p:cNvPr id="41" name="Text 39"/>
          <p:cNvSpPr/>
          <p:nvPr/>
        </p:nvSpPr>
        <p:spPr>
          <a:xfrm>
            <a:off x="5852160" y="2752344"/>
            <a:ext cx="2926080" cy="365760"/>
          </a:xfrm>
          <a:prstGeom prst="rect">
            <a:avLst/>
          </a:prstGeom>
          <a:noFill/>
          <a:ln/>
        </p:spPr>
        <p:txBody>
          <a:bodyPr wrap="square" rtlCol="0" anchor="ctr"/>
          <a:lstStyle/>
          <a:p>
            <a:pPr marL="0" indent="0">
              <a:buNone/>
            </a:pPr>
            <a:r>
              <a:rPr lang="en-US" sz="850" dirty="0">
                <a:solidFill>
                  <a:srgbClr val="E2E8F0"/>
                </a:solidFill>
              </a:rPr>
              <a:t>China gov't backing billions into humanoid robotics. Training centers opened. Municipal subsidies.</a:t>
            </a:r>
            <a:endParaRPr lang="en-US" sz="850" dirty="0"/>
          </a:p>
        </p:txBody>
      </p:sp>
      <p:sp>
        <p:nvSpPr>
          <p:cNvPr id="42" name="Shape 40"/>
          <p:cNvSpPr/>
          <p:nvPr/>
        </p:nvSpPr>
        <p:spPr>
          <a:xfrm>
            <a:off x="4617720" y="3172968"/>
            <a:ext cx="4297680" cy="393192"/>
          </a:xfrm>
          <a:prstGeom prst="rect">
            <a:avLst/>
          </a:prstGeom>
          <a:solidFill>
            <a:srgbClr val="0A1628"/>
          </a:solidFill>
          <a:ln/>
        </p:spPr>
      </p:sp>
      <p:sp>
        <p:nvSpPr>
          <p:cNvPr id="43" name="Text 41"/>
          <p:cNvSpPr/>
          <p:nvPr/>
        </p:nvSpPr>
        <p:spPr>
          <a:xfrm>
            <a:off x="4681728" y="3191256"/>
            <a:ext cx="1143000" cy="365760"/>
          </a:xfrm>
          <a:prstGeom prst="rect">
            <a:avLst/>
          </a:prstGeom>
          <a:noFill/>
          <a:ln/>
        </p:spPr>
        <p:txBody>
          <a:bodyPr wrap="square" rtlCol="0" anchor="ctr"/>
          <a:lstStyle/>
          <a:p>
            <a:pPr marL="0" indent="0">
              <a:buNone/>
            </a:pPr>
            <a:r>
              <a:rPr lang="en-US" sz="900" b="1" dirty="0">
                <a:solidFill>
                  <a:srgbClr val="EF4444"/>
                </a:solidFill>
              </a:rPr>
              <a:t>Manufacturing:</a:t>
            </a:r>
            <a:endParaRPr lang="en-US" sz="900" dirty="0"/>
          </a:p>
        </p:txBody>
      </p:sp>
      <p:sp>
        <p:nvSpPr>
          <p:cNvPr id="44" name="Text 42"/>
          <p:cNvSpPr/>
          <p:nvPr/>
        </p:nvSpPr>
        <p:spPr>
          <a:xfrm>
            <a:off x="5852160" y="3191256"/>
            <a:ext cx="2926080" cy="365760"/>
          </a:xfrm>
          <a:prstGeom prst="rect">
            <a:avLst/>
          </a:prstGeom>
          <a:noFill/>
          <a:ln/>
        </p:spPr>
        <p:txBody>
          <a:bodyPr wrap="square" rtlCol="0" anchor="ctr"/>
          <a:lstStyle/>
          <a:p>
            <a:pPr marL="0" indent="0">
              <a:buNone/>
            </a:pPr>
            <a:r>
              <a:rPr lang="en-US" sz="850" dirty="0">
                <a:solidFill>
                  <a:srgbClr val="E2E8F0"/>
                </a:solidFill>
              </a:rPr>
              <a:t>World's largest robot manufacturer by units. CAGR of humanoid production fastest globally.</a:t>
            </a:r>
            <a:endParaRPr lang="en-US" sz="850" dirty="0"/>
          </a:p>
        </p:txBody>
      </p:sp>
      <p:sp>
        <p:nvSpPr>
          <p:cNvPr id="45" name="Shape 43"/>
          <p:cNvSpPr/>
          <p:nvPr/>
        </p:nvSpPr>
        <p:spPr>
          <a:xfrm>
            <a:off x="4617720" y="3611880"/>
            <a:ext cx="4297680" cy="393192"/>
          </a:xfrm>
          <a:prstGeom prst="rect">
            <a:avLst/>
          </a:prstGeom>
          <a:solidFill>
            <a:srgbClr val="0A1628"/>
          </a:solidFill>
          <a:ln/>
        </p:spPr>
      </p:sp>
      <p:sp>
        <p:nvSpPr>
          <p:cNvPr id="46" name="Text 44"/>
          <p:cNvSpPr/>
          <p:nvPr/>
        </p:nvSpPr>
        <p:spPr>
          <a:xfrm>
            <a:off x="4681728" y="3630168"/>
            <a:ext cx="1143000" cy="365760"/>
          </a:xfrm>
          <a:prstGeom prst="rect">
            <a:avLst/>
          </a:prstGeom>
          <a:noFill/>
          <a:ln/>
        </p:spPr>
        <p:txBody>
          <a:bodyPr wrap="square" rtlCol="0" anchor="ctr"/>
          <a:lstStyle/>
          <a:p>
            <a:pPr marL="0" indent="0">
              <a:buNone/>
            </a:pPr>
            <a:r>
              <a:rPr lang="en-US" sz="900" b="1" dirty="0">
                <a:solidFill>
                  <a:srgbClr val="EF4444"/>
                </a:solidFill>
              </a:rPr>
              <a:t>Key Risk:</a:t>
            </a:r>
            <a:endParaRPr lang="en-US" sz="900" dirty="0"/>
          </a:p>
        </p:txBody>
      </p:sp>
      <p:sp>
        <p:nvSpPr>
          <p:cNvPr id="47" name="Text 45"/>
          <p:cNvSpPr/>
          <p:nvPr/>
        </p:nvSpPr>
        <p:spPr>
          <a:xfrm>
            <a:off x="5852160" y="3630168"/>
            <a:ext cx="2926080" cy="365760"/>
          </a:xfrm>
          <a:prstGeom prst="rect">
            <a:avLst/>
          </a:prstGeom>
          <a:noFill/>
          <a:ln/>
        </p:spPr>
        <p:txBody>
          <a:bodyPr wrap="square" rtlCol="0" anchor="ctr"/>
          <a:lstStyle/>
          <a:p>
            <a:pPr marL="0" indent="0">
              <a:buNone/>
            </a:pPr>
            <a:r>
              <a:rPr lang="en-US" sz="850" dirty="0">
                <a:solidFill>
                  <a:srgbClr val="E2E8F0"/>
                </a:solidFill>
              </a:rPr>
              <a:t>Export controls on NVIDIA chips. Semiconductor self-sufficiency goal (Huawei Ascend chips).</a:t>
            </a:r>
            <a:endParaRPr lang="en-US" sz="850" dirty="0"/>
          </a:p>
        </p:txBody>
      </p:sp>
      <p:sp>
        <p:nvSpPr>
          <p:cNvPr id="48" name="Text 46"/>
          <p:cNvSpPr/>
          <p:nvPr/>
        </p:nvSpPr>
        <p:spPr>
          <a:xfrm>
            <a:off x="182880" y="4114800"/>
            <a:ext cx="8778240" cy="256032"/>
          </a:xfrm>
          <a:prstGeom prst="rect">
            <a:avLst/>
          </a:prstGeom>
          <a:noFill/>
          <a:ln/>
        </p:spPr>
        <p:txBody>
          <a:bodyPr wrap="square" rtlCol="0" anchor="ctr"/>
          <a:lstStyle/>
          <a:p>
            <a:pPr marL="0" indent="0">
              <a:buNone/>
            </a:pPr>
            <a:r>
              <a:rPr lang="en-US" sz="1050" b="1" dirty="0">
                <a:solidFill>
                  <a:srgbClr val="F59E0B"/>
                </a:solidFill>
              </a:rPr>
              <a:t>THE PLATFORM WARS — WHO PROVIDES THE AI OPERATING SYSTEM FOR ROBOTS?</a:t>
            </a:r>
            <a:endParaRPr lang="en-US" sz="1050" dirty="0"/>
          </a:p>
        </p:txBody>
      </p:sp>
      <p:sp>
        <p:nvSpPr>
          <p:cNvPr id="49" name="Shape 47"/>
          <p:cNvSpPr/>
          <p:nvPr/>
        </p:nvSpPr>
        <p:spPr>
          <a:xfrm>
            <a:off x="182880" y="4407408"/>
            <a:ext cx="2103120" cy="621792"/>
          </a:xfrm>
          <a:prstGeom prst="rect">
            <a:avLst/>
          </a:prstGeom>
          <a:solidFill>
            <a:srgbClr val="0A1628"/>
          </a:solidFill>
          <a:ln/>
          <a:effectLst>
            <a:outerShdw blurRad="127000" dist="50800" dir="8100000" algn="bl" rotWithShape="0">
              <a:srgbClr val="000000">
                <a:alpha val="25000"/>
              </a:srgbClr>
            </a:outerShdw>
          </a:effectLst>
        </p:spPr>
      </p:sp>
      <p:sp>
        <p:nvSpPr>
          <p:cNvPr id="50" name="Text 48"/>
          <p:cNvSpPr/>
          <p:nvPr/>
        </p:nvSpPr>
        <p:spPr>
          <a:xfrm>
            <a:off x="256032" y="4416552"/>
            <a:ext cx="1956816" cy="219456"/>
          </a:xfrm>
          <a:prstGeom prst="rect">
            <a:avLst/>
          </a:prstGeom>
          <a:noFill/>
          <a:ln/>
        </p:spPr>
        <p:txBody>
          <a:bodyPr wrap="square" rtlCol="0" anchor="ctr"/>
          <a:lstStyle/>
          <a:p>
            <a:pPr marL="0" indent="0">
              <a:buNone/>
            </a:pPr>
            <a:r>
              <a:rPr lang="en-US" sz="950" b="1" dirty="0">
                <a:solidFill>
                  <a:srgbClr val="06B6D4"/>
                </a:solidFill>
              </a:rPr>
              <a:t>NVIDIA Isaac</a:t>
            </a:r>
            <a:endParaRPr lang="en-US" sz="950" dirty="0"/>
          </a:p>
        </p:txBody>
      </p:sp>
      <p:sp>
        <p:nvSpPr>
          <p:cNvPr id="51" name="Text 49"/>
          <p:cNvSpPr/>
          <p:nvPr/>
        </p:nvSpPr>
        <p:spPr>
          <a:xfrm>
            <a:off x="256032" y="4617720"/>
            <a:ext cx="1956816" cy="384048"/>
          </a:xfrm>
          <a:prstGeom prst="rect">
            <a:avLst/>
          </a:prstGeom>
          <a:noFill/>
          <a:ln/>
        </p:spPr>
        <p:txBody>
          <a:bodyPr wrap="square" rtlCol="0" anchor="ctr"/>
          <a:lstStyle/>
          <a:p>
            <a:pPr marL="0" indent="0">
              <a:buNone/>
            </a:pPr>
            <a:r>
              <a:rPr lang="en-US" sz="850" dirty="0"/>
              <a:t>Hardware-level. GPU computing + simulation. 40+ humanoid robot partners. The infrastructure play.</a:t>
            </a:r>
          </a:p>
        </p:txBody>
      </p:sp>
      <p:sp>
        <p:nvSpPr>
          <p:cNvPr id="52" name="Shape 50"/>
          <p:cNvSpPr/>
          <p:nvPr/>
        </p:nvSpPr>
        <p:spPr>
          <a:xfrm>
            <a:off x="2414016" y="4407408"/>
            <a:ext cx="2103120" cy="621792"/>
          </a:xfrm>
          <a:prstGeom prst="rect">
            <a:avLst/>
          </a:prstGeom>
          <a:solidFill>
            <a:srgbClr val="0A1628"/>
          </a:solidFill>
          <a:ln/>
          <a:effectLst>
            <a:outerShdw blurRad="127000" dist="50800" dir="8100000" algn="bl" rotWithShape="0">
              <a:srgbClr val="000000">
                <a:alpha val="25000"/>
              </a:srgbClr>
            </a:outerShdw>
          </a:effectLst>
        </p:spPr>
      </p:sp>
      <p:sp>
        <p:nvSpPr>
          <p:cNvPr id="53" name="Text 51"/>
          <p:cNvSpPr/>
          <p:nvPr/>
        </p:nvSpPr>
        <p:spPr>
          <a:xfrm>
            <a:off x="2487168" y="4416552"/>
            <a:ext cx="1956816" cy="219456"/>
          </a:xfrm>
          <a:prstGeom prst="rect">
            <a:avLst/>
          </a:prstGeom>
          <a:noFill/>
          <a:ln/>
        </p:spPr>
        <p:txBody>
          <a:bodyPr wrap="square" rtlCol="0" anchor="ctr"/>
          <a:lstStyle/>
          <a:p>
            <a:pPr marL="0" indent="0">
              <a:buNone/>
            </a:pPr>
            <a:r>
              <a:rPr lang="en-US" sz="950" b="1" dirty="0">
                <a:solidFill>
                  <a:srgbClr val="06B6D4"/>
                </a:solidFill>
              </a:rPr>
              <a:t>Google Gemini Robotics</a:t>
            </a:r>
            <a:endParaRPr lang="en-US" sz="950" dirty="0"/>
          </a:p>
        </p:txBody>
      </p:sp>
      <p:sp>
        <p:nvSpPr>
          <p:cNvPr id="54" name="Text 52"/>
          <p:cNvSpPr/>
          <p:nvPr/>
        </p:nvSpPr>
        <p:spPr>
          <a:xfrm>
            <a:off x="2487168" y="4617720"/>
            <a:ext cx="1956816" cy="384048"/>
          </a:xfrm>
          <a:prstGeom prst="rect">
            <a:avLst/>
          </a:prstGeom>
          <a:noFill/>
          <a:ln/>
        </p:spPr>
        <p:txBody>
          <a:bodyPr wrap="square" rtlCol="0" anchor="ctr"/>
          <a:lstStyle/>
          <a:p>
            <a:pPr marL="0" indent="0">
              <a:buNone/>
            </a:pPr>
            <a:r>
              <a:rPr lang="en-US" sz="850" dirty="0"/>
              <a:t>AI model-level. VLA model for real-world tasks. Boston Dynamics, Agility, Enchanted Tools as partners.</a:t>
            </a:r>
          </a:p>
        </p:txBody>
      </p:sp>
      <p:sp>
        <p:nvSpPr>
          <p:cNvPr id="55" name="Shape 53"/>
          <p:cNvSpPr/>
          <p:nvPr/>
        </p:nvSpPr>
        <p:spPr>
          <a:xfrm>
            <a:off x="4645152" y="4407408"/>
            <a:ext cx="2103120" cy="621792"/>
          </a:xfrm>
          <a:prstGeom prst="rect">
            <a:avLst/>
          </a:prstGeom>
          <a:solidFill>
            <a:srgbClr val="0A1628"/>
          </a:solidFill>
          <a:ln/>
          <a:effectLst>
            <a:outerShdw blurRad="127000" dist="50800" dir="8100000" algn="bl" rotWithShape="0">
              <a:srgbClr val="000000">
                <a:alpha val="25000"/>
              </a:srgbClr>
            </a:outerShdw>
          </a:effectLst>
        </p:spPr>
      </p:sp>
      <p:sp>
        <p:nvSpPr>
          <p:cNvPr id="56" name="Text 54"/>
          <p:cNvSpPr/>
          <p:nvPr/>
        </p:nvSpPr>
        <p:spPr>
          <a:xfrm>
            <a:off x="4718304" y="4416552"/>
            <a:ext cx="1956816" cy="219456"/>
          </a:xfrm>
          <a:prstGeom prst="rect">
            <a:avLst/>
          </a:prstGeom>
          <a:noFill/>
          <a:ln/>
        </p:spPr>
        <p:txBody>
          <a:bodyPr wrap="square" rtlCol="0" anchor="ctr"/>
          <a:lstStyle/>
          <a:p>
            <a:pPr marL="0" indent="0">
              <a:buNone/>
            </a:pPr>
            <a:r>
              <a:rPr lang="en-US" sz="950" b="1" dirty="0">
                <a:solidFill>
                  <a:srgbClr val="06B6D4"/>
                </a:solidFill>
              </a:rPr>
              <a:t>OpenAI for Robotics</a:t>
            </a:r>
            <a:endParaRPr lang="en-US" sz="950" dirty="0"/>
          </a:p>
        </p:txBody>
      </p:sp>
      <p:sp>
        <p:nvSpPr>
          <p:cNvPr id="57" name="Text 55"/>
          <p:cNvSpPr/>
          <p:nvPr/>
        </p:nvSpPr>
        <p:spPr>
          <a:xfrm>
            <a:off x="4718304" y="4617720"/>
            <a:ext cx="1956816" cy="384048"/>
          </a:xfrm>
          <a:prstGeom prst="rect">
            <a:avLst/>
          </a:prstGeom>
          <a:noFill/>
          <a:ln/>
        </p:spPr>
        <p:txBody>
          <a:bodyPr wrap="square" rtlCol="0" anchor="ctr"/>
          <a:lstStyle/>
          <a:p>
            <a:pPr marL="0" indent="0">
              <a:buNone/>
            </a:pPr>
            <a:r>
              <a:rPr lang="en-US" sz="850" dirty="0"/>
              <a:t>Strategic partner to Figure AI. GPT-4V vision, embodied reasoning. Physical intelligence layer.</a:t>
            </a:r>
          </a:p>
        </p:txBody>
      </p:sp>
      <p:sp>
        <p:nvSpPr>
          <p:cNvPr id="58" name="Shape 56"/>
          <p:cNvSpPr/>
          <p:nvPr/>
        </p:nvSpPr>
        <p:spPr>
          <a:xfrm>
            <a:off x="6876288" y="4407408"/>
            <a:ext cx="2103120" cy="621792"/>
          </a:xfrm>
          <a:prstGeom prst="rect">
            <a:avLst/>
          </a:prstGeom>
          <a:solidFill>
            <a:srgbClr val="0A1628"/>
          </a:solidFill>
          <a:ln/>
          <a:effectLst>
            <a:outerShdw blurRad="127000" dist="50800" dir="8100000" algn="bl" rotWithShape="0">
              <a:srgbClr val="000000">
                <a:alpha val="25000"/>
              </a:srgbClr>
            </a:outerShdw>
          </a:effectLst>
        </p:spPr>
      </p:sp>
      <p:sp>
        <p:nvSpPr>
          <p:cNvPr id="59" name="Text 57"/>
          <p:cNvSpPr/>
          <p:nvPr/>
        </p:nvSpPr>
        <p:spPr>
          <a:xfrm>
            <a:off x="6949440" y="4416552"/>
            <a:ext cx="1956816" cy="219456"/>
          </a:xfrm>
          <a:prstGeom prst="rect">
            <a:avLst/>
          </a:prstGeom>
          <a:noFill/>
          <a:ln/>
        </p:spPr>
        <p:txBody>
          <a:bodyPr wrap="square" rtlCol="0" anchor="ctr"/>
          <a:lstStyle/>
          <a:p>
            <a:pPr marL="0" indent="0">
              <a:buNone/>
            </a:pPr>
            <a:r>
              <a:rPr lang="en-US" sz="950" b="1" dirty="0">
                <a:solidFill>
                  <a:srgbClr val="06B6D4"/>
                </a:solidFill>
              </a:rPr>
              <a:t>Tesla / In-house</a:t>
            </a:r>
            <a:endParaRPr lang="en-US" sz="950" dirty="0"/>
          </a:p>
        </p:txBody>
      </p:sp>
      <p:sp>
        <p:nvSpPr>
          <p:cNvPr id="60" name="Text 58"/>
          <p:cNvSpPr/>
          <p:nvPr/>
        </p:nvSpPr>
        <p:spPr>
          <a:xfrm>
            <a:off x="6949440" y="4617720"/>
            <a:ext cx="1956816" cy="384048"/>
          </a:xfrm>
          <a:prstGeom prst="rect">
            <a:avLst/>
          </a:prstGeom>
          <a:noFill/>
          <a:ln/>
        </p:spPr>
        <p:txBody>
          <a:bodyPr wrap="square" rtlCol="0" anchor="ctr"/>
          <a:lstStyle/>
          <a:p>
            <a:pPr marL="0" indent="0">
              <a:buNone/>
            </a:pPr>
            <a:r>
              <a:rPr lang="en-US" sz="850" dirty="0"/>
              <a:t>Vertical integration. Own chips (HW4), own AI (Dojo), own robot. No dependency on external platforms.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274320" y="137160"/>
            <a:ext cx="8595360" cy="365760"/>
          </a:xfrm>
          <a:prstGeom prst="rect">
            <a:avLst/>
          </a:prstGeom>
          <a:noFill/>
          <a:ln/>
        </p:spPr>
        <p:txBody>
          <a:bodyPr wrap="square" rtlCol="0" anchor="ctr"/>
          <a:lstStyle/>
          <a:p>
            <a:pPr marL="0" indent="0" algn="ctr">
              <a:buNone/>
            </a:pPr>
            <a:r>
              <a:rPr lang="en-US" sz="2200" b="1" dirty="0">
                <a:solidFill>
                  <a:srgbClr val="FFFFFF"/>
                </a:solidFill>
              </a:rPr>
              <a:t>DEMAND STRENGTH MATRIX: LAYER × TIMELINE</a:t>
            </a:r>
            <a:endParaRPr lang="en-US" sz="2200" dirty="0"/>
          </a:p>
        </p:txBody>
      </p:sp>
      <p:sp>
        <p:nvSpPr>
          <p:cNvPr id="3" name="Text 1"/>
          <p:cNvSpPr/>
          <p:nvPr/>
        </p:nvSpPr>
        <p:spPr>
          <a:xfrm>
            <a:off x="274320" y="566928"/>
            <a:ext cx="8595360" cy="365760"/>
          </a:xfrm>
          <a:prstGeom prst="rect">
            <a:avLst/>
          </a:prstGeom>
          <a:noFill/>
          <a:ln/>
        </p:spPr>
        <p:txBody>
          <a:bodyPr wrap="square" rtlCol="0" anchor="ctr"/>
          <a:lstStyle/>
          <a:p>
            <a:pPr marL="0" indent="0" algn="ctr">
              <a:buNone/>
            </a:pPr>
            <a:r>
              <a:rPr lang="en-US" sz="1100" dirty="0">
                <a:solidFill>
                  <a:srgbClr val="06B6D4"/>
                </a:solidFill>
              </a:rPr>
              <a:t>Where is demand structural (driven by physics and economics) vs. cyclical (driven by sentiment)?</a:t>
            </a:r>
            <a:endParaRPr lang="en-US" sz="1100" dirty="0"/>
          </a:p>
        </p:txBody>
      </p:sp>
      <p:sp>
        <p:nvSpPr>
          <p:cNvPr id="4" name="Shape 2"/>
          <p:cNvSpPr/>
          <p:nvPr/>
        </p:nvSpPr>
        <p:spPr>
          <a:xfrm>
            <a:off x="274320" y="960120"/>
            <a:ext cx="8595360" cy="384048"/>
          </a:xfrm>
          <a:prstGeom prst="rect">
            <a:avLst/>
          </a:prstGeom>
          <a:solidFill>
            <a:srgbClr val="1A2850"/>
          </a:solidFill>
          <a:ln w="6350">
            <a:solidFill>
              <a:srgbClr val="FFFFFF">
                <a:alpha val="6000"/>
              </a:srgbClr>
            </a:solidFill>
            <a:prstDash val="solid"/>
          </a:ln>
        </p:spPr>
      </p:sp>
      <p:sp>
        <p:nvSpPr>
          <p:cNvPr id="5" name="Text 3"/>
          <p:cNvSpPr/>
          <p:nvPr/>
        </p:nvSpPr>
        <p:spPr>
          <a:xfrm>
            <a:off x="320040" y="987552"/>
            <a:ext cx="2788920" cy="329184"/>
          </a:xfrm>
          <a:prstGeom prst="rect">
            <a:avLst/>
          </a:prstGeom>
          <a:noFill/>
          <a:ln/>
        </p:spPr>
        <p:txBody>
          <a:bodyPr wrap="square" lIns="0" tIns="0" rIns="0" bIns="0" rtlCol="0" anchor="ctr"/>
          <a:lstStyle/>
          <a:p>
            <a:pPr marL="0" indent="0" algn="l">
              <a:buNone/>
            </a:pPr>
            <a:r>
              <a:rPr lang="en-US" sz="800" b="1" dirty="0">
                <a:solidFill>
                  <a:srgbClr val="06B6D4"/>
                </a:solidFill>
              </a:rPr>
              <a:t>LAYER</a:t>
            </a:r>
            <a:endParaRPr lang="en-US" sz="800" dirty="0"/>
          </a:p>
        </p:txBody>
      </p:sp>
      <p:sp>
        <p:nvSpPr>
          <p:cNvPr id="12" name="Shape 10"/>
          <p:cNvSpPr/>
          <p:nvPr/>
        </p:nvSpPr>
        <p:spPr>
          <a:xfrm>
            <a:off x="274320" y="1389888"/>
            <a:ext cx="8595360" cy="338328"/>
          </a:xfrm>
          <a:prstGeom prst="rect">
            <a:avLst/>
          </a:prstGeom>
          <a:solidFill>
            <a:srgbClr val="1A2850"/>
          </a:solidFill>
          <a:ln w="12700">
            <a:solidFill>
              <a:srgbClr val="FFFFFF">
                <a:alpha val="3000"/>
              </a:srgbClr>
            </a:solidFill>
            <a:prstDash val="solid"/>
          </a:ln>
        </p:spPr>
      </p:sp>
      <p:sp>
        <p:nvSpPr>
          <p:cNvPr id="13" name="Text 11"/>
          <p:cNvSpPr/>
          <p:nvPr/>
        </p:nvSpPr>
        <p:spPr>
          <a:xfrm>
            <a:off x="347472" y="1389888"/>
            <a:ext cx="2761488" cy="338328"/>
          </a:xfrm>
          <a:prstGeom prst="rect">
            <a:avLst/>
          </a:prstGeom>
          <a:noFill/>
          <a:ln/>
        </p:spPr>
        <p:txBody>
          <a:bodyPr wrap="square" lIns="0" tIns="0" rIns="0" bIns="0" rtlCol="0" anchor="ctr"/>
          <a:lstStyle/>
          <a:p>
            <a:pPr marL="0" indent="0">
              <a:buNone/>
            </a:pPr>
            <a:r>
              <a:rPr lang="en-US" sz="900" dirty="0">
                <a:solidFill>
                  <a:srgbClr val="E2E8F5"/>
                </a:solidFill>
              </a:rPr>
              <a:t>Energy Infrastructure</a:t>
            </a:r>
            <a:endParaRPr lang="en-US" sz="900" dirty="0"/>
          </a:p>
        </p:txBody>
      </p:sp>
      <p:sp>
        <p:nvSpPr>
          <p:cNvPr id="24" name="Shape 22"/>
          <p:cNvSpPr/>
          <p:nvPr/>
        </p:nvSpPr>
        <p:spPr>
          <a:xfrm>
            <a:off x="274320" y="1746504"/>
            <a:ext cx="8595360" cy="338328"/>
          </a:xfrm>
          <a:prstGeom prst="rect">
            <a:avLst/>
          </a:prstGeom>
          <a:solidFill>
            <a:srgbClr val="111830"/>
          </a:solidFill>
          <a:ln w="12700">
            <a:solidFill>
              <a:srgbClr val="FFFFFF">
                <a:alpha val="3000"/>
              </a:srgbClr>
            </a:solidFill>
            <a:prstDash val="solid"/>
          </a:ln>
        </p:spPr>
      </p:sp>
      <p:sp>
        <p:nvSpPr>
          <p:cNvPr id="25" name="Text 23"/>
          <p:cNvSpPr/>
          <p:nvPr/>
        </p:nvSpPr>
        <p:spPr>
          <a:xfrm>
            <a:off x="347472" y="1746504"/>
            <a:ext cx="2761488" cy="338328"/>
          </a:xfrm>
          <a:prstGeom prst="rect">
            <a:avLst/>
          </a:prstGeom>
          <a:noFill/>
          <a:ln/>
        </p:spPr>
        <p:txBody>
          <a:bodyPr wrap="square" lIns="0" tIns="0" rIns="0" bIns="0" rtlCol="0" anchor="ctr"/>
          <a:lstStyle/>
          <a:p>
            <a:pPr marL="0" indent="0">
              <a:buNone/>
            </a:pPr>
            <a:r>
              <a:rPr lang="en-US" sz="900" dirty="0">
                <a:solidFill>
                  <a:srgbClr val="E2E8F5"/>
                </a:solidFill>
              </a:rPr>
              <a:t>Semiconductor (GPU Logic)</a:t>
            </a:r>
            <a:endParaRPr lang="en-US" sz="900" dirty="0"/>
          </a:p>
        </p:txBody>
      </p:sp>
      <p:sp>
        <p:nvSpPr>
          <p:cNvPr id="36" name="Shape 34"/>
          <p:cNvSpPr/>
          <p:nvPr/>
        </p:nvSpPr>
        <p:spPr>
          <a:xfrm>
            <a:off x="274320" y="2103120"/>
            <a:ext cx="8595360" cy="338328"/>
          </a:xfrm>
          <a:prstGeom prst="rect">
            <a:avLst/>
          </a:prstGeom>
          <a:solidFill>
            <a:srgbClr val="1A2850"/>
          </a:solidFill>
          <a:ln w="12700">
            <a:solidFill>
              <a:srgbClr val="FFFFFF">
                <a:alpha val="3000"/>
              </a:srgbClr>
            </a:solidFill>
            <a:prstDash val="solid"/>
          </a:ln>
        </p:spPr>
      </p:sp>
      <p:sp>
        <p:nvSpPr>
          <p:cNvPr id="37" name="Text 35"/>
          <p:cNvSpPr/>
          <p:nvPr/>
        </p:nvSpPr>
        <p:spPr>
          <a:xfrm>
            <a:off x="347472" y="2103120"/>
            <a:ext cx="2761488" cy="338328"/>
          </a:xfrm>
          <a:prstGeom prst="rect">
            <a:avLst/>
          </a:prstGeom>
          <a:noFill/>
          <a:ln/>
        </p:spPr>
        <p:txBody>
          <a:bodyPr wrap="square" lIns="0" tIns="0" rIns="0" bIns="0" rtlCol="0" anchor="ctr"/>
          <a:lstStyle/>
          <a:p>
            <a:pPr marL="0" indent="0">
              <a:buNone/>
            </a:pPr>
            <a:r>
              <a:rPr lang="en-US" sz="900" dirty="0">
                <a:solidFill>
                  <a:srgbClr val="E2E8F5"/>
                </a:solidFill>
              </a:rPr>
              <a:t>HBM Memory</a:t>
            </a:r>
            <a:endParaRPr lang="en-US" sz="900" dirty="0"/>
          </a:p>
        </p:txBody>
      </p:sp>
      <p:sp>
        <p:nvSpPr>
          <p:cNvPr id="48" name="Shape 46"/>
          <p:cNvSpPr/>
          <p:nvPr/>
        </p:nvSpPr>
        <p:spPr>
          <a:xfrm>
            <a:off x="274320" y="2459736"/>
            <a:ext cx="8595360" cy="338328"/>
          </a:xfrm>
          <a:prstGeom prst="rect">
            <a:avLst/>
          </a:prstGeom>
          <a:solidFill>
            <a:srgbClr val="111830"/>
          </a:solidFill>
          <a:ln w="12700">
            <a:solidFill>
              <a:srgbClr val="FFFFFF">
                <a:alpha val="3000"/>
              </a:srgbClr>
            </a:solidFill>
            <a:prstDash val="solid"/>
          </a:ln>
        </p:spPr>
      </p:sp>
      <p:sp>
        <p:nvSpPr>
          <p:cNvPr id="49" name="Text 47"/>
          <p:cNvSpPr/>
          <p:nvPr/>
        </p:nvSpPr>
        <p:spPr>
          <a:xfrm>
            <a:off x="347472" y="2459736"/>
            <a:ext cx="2761488" cy="338328"/>
          </a:xfrm>
          <a:prstGeom prst="rect">
            <a:avLst/>
          </a:prstGeom>
          <a:noFill/>
          <a:ln/>
        </p:spPr>
        <p:txBody>
          <a:bodyPr wrap="square" lIns="0" tIns="0" rIns="0" bIns="0" rtlCol="0" anchor="ctr"/>
          <a:lstStyle/>
          <a:p>
            <a:pPr marL="0" indent="0">
              <a:buNone/>
            </a:pPr>
            <a:r>
              <a:rPr lang="en-US" sz="900" dirty="0">
                <a:solidFill>
                  <a:srgbClr val="E2E8F5"/>
                </a:solidFill>
              </a:rPr>
              <a:t>Advanced Foundry (TSMC)</a:t>
            </a:r>
            <a:endParaRPr lang="en-US" sz="900" dirty="0"/>
          </a:p>
        </p:txBody>
      </p:sp>
      <p:sp>
        <p:nvSpPr>
          <p:cNvPr id="60" name="Shape 58"/>
          <p:cNvSpPr/>
          <p:nvPr/>
        </p:nvSpPr>
        <p:spPr>
          <a:xfrm>
            <a:off x="274320" y="2816352"/>
            <a:ext cx="8595360" cy="338328"/>
          </a:xfrm>
          <a:prstGeom prst="rect">
            <a:avLst/>
          </a:prstGeom>
          <a:solidFill>
            <a:srgbClr val="1A2850"/>
          </a:solidFill>
          <a:ln w="12700">
            <a:solidFill>
              <a:srgbClr val="FFFFFF">
                <a:alpha val="3000"/>
              </a:srgbClr>
            </a:solidFill>
            <a:prstDash val="solid"/>
          </a:ln>
        </p:spPr>
      </p:sp>
      <p:sp>
        <p:nvSpPr>
          <p:cNvPr id="61" name="Text 59"/>
          <p:cNvSpPr/>
          <p:nvPr/>
        </p:nvSpPr>
        <p:spPr>
          <a:xfrm>
            <a:off x="347472" y="2816352"/>
            <a:ext cx="2761488" cy="338328"/>
          </a:xfrm>
          <a:prstGeom prst="rect">
            <a:avLst/>
          </a:prstGeom>
          <a:noFill/>
          <a:ln/>
        </p:spPr>
        <p:txBody>
          <a:bodyPr wrap="square" lIns="0" tIns="0" rIns="0" bIns="0" rtlCol="0" anchor="ctr"/>
          <a:lstStyle/>
          <a:p>
            <a:pPr marL="0" indent="0">
              <a:buNone/>
            </a:pPr>
            <a:r>
              <a:rPr lang="en-US" sz="900" dirty="0">
                <a:solidFill>
                  <a:srgbClr val="E2E8F5"/>
                </a:solidFill>
              </a:rPr>
              <a:t>AI Servers / Systems</a:t>
            </a:r>
            <a:endParaRPr lang="en-US" sz="900" dirty="0"/>
          </a:p>
        </p:txBody>
      </p:sp>
      <p:sp>
        <p:nvSpPr>
          <p:cNvPr id="72" name="Shape 70"/>
          <p:cNvSpPr/>
          <p:nvPr/>
        </p:nvSpPr>
        <p:spPr>
          <a:xfrm>
            <a:off x="274320" y="3172968"/>
            <a:ext cx="8595360" cy="338328"/>
          </a:xfrm>
          <a:prstGeom prst="rect">
            <a:avLst/>
          </a:prstGeom>
          <a:solidFill>
            <a:srgbClr val="111830"/>
          </a:solidFill>
          <a:ln w="12700">
            <a:solidFill>
              <a:srgbClr val="FFFFFF">
                <a:alpha val="3000"/>
              </a:srgbClr>
            </a:solidFill>
            <a:prstDash val="solid"/>
          </a:ln>
        </p:spPr>
      </p:sp>
      <p:sp>
        <p:nvSpPr>
          <p:cNvPr id="73" name="Text 71"/>
          <p:cNvSpPr/>
          <p:nvPr/>
        </p:nvSpPr>
        <p:spPr>
          <a:xfrm>
            <a:off x="347472" y="3172968"/>
            <a:ext cx="2761488" cy="338328"/>
          </a:xfrm>
          <a:prstGeom prst="rect">
            <a:avLst/>
          </a:prstGeom>
          <a:noFill/>
          <a:ln/>
        </p:spPr>
        <p:txBody>
          <a:bodyPr wrap="square" lIns="0" tIns="0" rIns="0" bIns="0" rtlCol="0" anchor="ctr"/>
          <a:lstStyle/>
          <a:p>
            <a:pPr marL="0" indent="0">
              <a:buNone/>
            </a:pPr>
            <a:r>
              <a:rPr lang="en-US" sz="900" dirty="0">
                <a:solidFill>
                  <a:srgbClr val="E2E8F5"/>
                </a:solidFill>
              </a:rPr>
              <a:t>Cloud / GPU Cloud</a:t>
            </a:r>
            <a:endParaRPr lang="en-US" sz="900" dirty="0"/>
          </a:p>
        </p:txBody>
      </p:sp>
      <p:sp>
        <p:nvSpPr>
          <p:cNvPr id="84" name="Shape 82"/>
          <p:cNvSpPr/>
          <p:nvPr/>
        </p:nvSpPr>
        <p:spPr>
          <a:xfrm>
            <a:off x="274320" y="3529584"/>
            <a:ext cx="8595360" cy="338328"/>
          </a:xfrm>
          <a:prstGeom prst="rect">
            <a:avLst/>
          </a:prstGeom>
          <a:solidFill>
            <a:srgbClr val="1A2850"/>
          </a:solidFill>
          <a:ln w="12700">
            <a:solidFill>
              <a:srgbClr val="FFFFFF">
                <a:alpha val="3000"/>
              </a:srgbClr>
            </a:solidFill>
            <a:prstDash val="solid"/>
          </a:ln>
        </p:spPr>
      </p:sp>
      <p:sp>
        <p:nvSpPr>
          <p:cNvPr id="85" name="Text 83"/>
          <p:cNvSpPr/>
          <p:nvPr/>
        </p:nvSpPr>
        <p:spPr>
          <a:xfrm>
            <a:off x="347472" y="3529584"/>
            <a:ext cx="2761488" cy="338328"/>
          </a:xfrm>
          <a:prstGeom prst="rect">
            <a:avLst/>
          </a:prstGeom>
          <a:noFill/>
          <a:ln/>
        </p:spPr>
        <p:txBody>
          <a:bodyPr wrap="square" lIns="0" tIns="0" rIns="0" bIns="0" rtlCol="0" anchor="ctr"/>
          <a:lstStyle/>
          <a:p>
            <a:pPr marL="0" indent="0">
              <a:buNone/>
            </a:pPr>
            <a:r>
              <a:rPr lang="en-US" sz="900" dirty="0">
                <a:solidFill>
                  <a:srgbClr val="E2E8F5"/>
                </a:solidFill>
              </a:rPr>
              <a:t>AI Models / Platforms</a:t>
            </a:r>
            <a:endParaRPr lang="en-US" sz="900" dirty="0"/>
          </a:p>
        </p:txBody>
      </p:sp>
      <p:sp>
        <p:nvSpPr>
          <p:cNvPr id="96" name="Shape 94"/>
          <p:cNvSpPr/>
          <p:nvPr/>
        </p:nvSpPr>
        <p:spPr>
          <a:xfrm>
            <a:off x="274320" y="3886200"/>
            <a:ext cx="8595360" cy="338328"/>
          </a:xfrm>
          <a:prstGeom prst="rect">
            <a:avLst/>
          </a:prstGeom>
          <a:solidFill>
            <a:srgbClr val="111830"/>
          </a:solidFill>
          <a:ln w="12700">
            <a:solidFill>
              <a:srgbClr val="FFFFFF">
                <a:alpha val="3000"/>
              </a:srgbClr>
            </a:solidFill>
            <a:prstDash val="solid"/>
          </a:ln>
        </p:spPr>
      </p:sp>
      <p:sp>
        <p:nvSpPr>
          <p:cNvPr id="97" name="Text 95"/>
          <p:cNvSpPr/>
          <p:nvPr/>
        </p:nvSpPr>
        <p:spPr>
          <a:xfrm>
            <a:off x="347472" y="3886200"/>
            <a:ext cx="2761488" cy="338328"/>
          </a:xfrm>
          <a:prstGeom prst="rect">
            <a:avLst/>
          </a:prstGeom>
          <a:noFill/>
          <a:ln/>
        </p:spPr>
        <p:txBody>
          <a:bodyPr wrap="square" lIns="0" tIns="0" rIns="0" bIns="0" rtlCol="0" anchor="ctr"/>
          <a:lstStyle/>
          <a:p>
            <a:pPr marL="0" indent="0">
              <a:buNone/>
            </a:pPr>
            <a:r>
              <a:rPr lang="en-US" sz="900" dirty="0">
                <a:solidFill>
                  <a:srgbClr val="E2E8F5"/>
                </a:solidFill>
              </a:rPr>
              <a:t>Enterprise Applications</a:t>
            </a:r>
            <a:endParaRPr lang="en-US" sz="900" dirty="0"/>
          </a:p>
        </p:txBody>
      </p:sp>
      <p:sp>
        <p:nvSpPr>
          <p:cNvPr id="108" name="Shape 106"/>
          <p:cNvSpPr/>
          <p:nvPr/>
        </p:nvSpPr>
        <p:spPr>
          <a:xfrm>
            <a:off x="274320" y="4242816"/>
            <a:ext cx="8595360" cy="338328"/>
          </a:xfrm>
          <a:prstGeom prst="rect">
            <a:avLst/>
          </a:prstGeom>
          <a:solidFill>
            <a:srgbClr val="1A2850"/>
          </a:solidFill>
          <a:ln w="12700">
            <a:solidFill>
              <a:srgbClr val="FFFFFF">
                <a:alpha val="3000"/>
              </a:srgbClr>
            </a:solidFill>
            <a:prstDash val="solid"/>
          </a:ln>
        </p:spPr>
      </p:sp>
      <p:sp>
        <p:nvSpPr>
          <p:cNvPr id="109" name="Text 107"/>
          <p:cNvSpPr/>
          <p:nvPr/>
        </p:nvSpPr>
        <p:spPr>
          <a:xfrm>
            <a:off x="347472" y="4242816"/>
            <a:ext cx="2761488" cy="338328"/>
          </a:xfrm>
          <a:prstGeom prst="rect">
            <a:avLst/>
          </a:prstGeom>
          <a:noFill/>
          <a:ln/>
        </p:spPr>
        <p:txBody>
          <a:bodyPr wrap="square" lIns="0" tIns="0" rIns="0" bIns="0" rtlCol="0" anchor="ctr"/>
          <a:lstStyle/>
          <a:p>
            <a:pPr marL="0" indent="0">
              <a:buNone/>
            </a:pPr>
            <a:r>
              <a:rPr lang="en-US" sz="900" dirty="0">
                <a:solidFill>
                  <a:srgbClr val="E2E8F5"/>
                </a:solidFill>
              </a:rPr>
              <a:t>Industrial Robotics (AI)</a:t>
            </a:r>
            <a:endParaRPr lang="en-US" sz="900" dirty="0"/>
          </a:p>
        </p:txBody>
      </p:sp>
      <p:sp>
        <p:nvSpPr>
          <p:cNvPr id="120" name="Shape 118"/>
          <p:cNvSpPr/>
          <p:nvPr/>
        </p:nvSpPr>
        <p:spPr>
          <a:xfrm>
            <a:off x="274320" y="4599432"/>
            <a:ext cx="8595360" cy="338328"/>
          </a:xfrm>
          <a:prstGeom prst="rect">
            <a:avLst/>
          </a:prstGeom>
          <a:solidFill>
            <a:srgbClr val="111830"/>
          </a:solidFill>
          <a:ln w="12700">
            <a:solidFill>
              <a:srgbClr val="FFFFFF">
                <a:alpha val="3000"/>
              </a:srgbClr>
            </a:solidFill>
            <a:prstDash val="solid"/>
          </a:ln>
        </p:spPr>
      </p:sp>
      <p:sp>
        <p:nvSpPr>
          <p:cNvPr id="121" name="Text 119"/>
          <p:cNvSpPr/>
          <p:nvPr/>
        </p:nvSpPr>
        <p:spPr>
          <a:xfrm>
            <a:off x="347472" y="4599432"/>
            <a:ext cx="2761488" cy="338328"/>
          </a:xfrm>
          <a:prstGeom prst="rect">
            <a:avLst/>
          </a:prstGeom>
          <a:noFill/>
          <a:ln/>
        </p:spPr>
        <p:txBody>
          <a:bodyPr wrap="square" lIns="0" tIns="0" rIns="0" bIns="0" rtlCol="0" anchor="ctr"/>
          <a:lstStyle/>
          <a:p>
            <a:pPr marL="0" indent="0">
              <a:buNone/>
            </a:pPr>
            <a:r>
              <a:rPr lang="en-US" sz="900" dirty="0">
                <a:solidFill>
                  <a:srgbClr val="E2E8F5"/>
                </a:solidFill>
              </a:rPr>
              <a:t>Humanoid Robots</a:t>
            </a:r>
            <a:endParaRPr lang="en-US" sz="900" dirty="0"/>
          </a:p>
        </p:txBody>
      </p:sp>
      <p:grpSp>
        <p:nvGrpSpPr>
          <p:cNvPr id="201" name="Group 200">
            <a:extLst>
              <a:ext uri="{FF2B5EF4-FFF2-40B4-BE49-F238E27FC236}">
                <a16:creationId xmlns:a16="http://schemas.microsoft.com/office/drawing/2014/main" id="{172F0EA2-0F22-4CEA-C749-BDD6A80C1661}"/>
              </a:ext>
            </a:extLst>
          </p:cNvPr>
          <p:cNvGrpSpPr/>
          <p:nvPr/>
        </p:nvGrpSpPr>
        <p:grpSpPr>
          <a:xfrm>
            <a:off x="2590136" y="987552"/>
            <a:ext cx="5943600" cy="3950208"/>
            <a:chOff x="3154680" y="987552"/>
            <a:chExt cx="5943600" cy="3950208"/>
          </a:xfrm>
        </p:grpSpPr>
        <p:sp>
          <p:nvSpPr>
            <p:cNvPr id="6" name="Text 4"/>
            <p:cNvSpPr/>
            <p:nvPr/>
          </p:nvSpPr>
          <p:spPr>
            <a:xfrm>
              <a:off x="3154680" y="987552"/>
              <a:ext cx="868680" cy="329184"/>
            </a:xfrm>
            <a:prstGeom prst="rect">
              <a:avLst/>
            </a:prstGeom>
            <a:noFill/>
            <a:ln/>
          </p:spPr>
          <p:txBody>
            <a:bodyPr wrap="square" lIns="0" tIns="0" rIns="0" bIns="0" rtlCol="0" anchor="ctr"/>
            <a:lstStyle/>
            <a:p>
              <a:pPr marL="0" indent="0" algn="ctr">
                <a:buNone/>
              </a:pPr>
              <a:r>
                <a:rPr lang="en-US" sz="800" b="1" dirty="0">
                  <a:solidFill>
                    <a:srgbClr val="06B6D4"/>
                  </a:solidFill>
                </a:rPr>
                <a:t>NOW</a:t>
              </a:r>
              <a:endParaRPr lang="en-US" sz="800" dirty="0"/>
            </a:p>
            <a:p>
              <a:pPr marL="0" indent="0" algn="ctr">
                <a:buNone/>
              </a:pPr>
              <a:r>
                <a:rPr lang="en-US" sz="800" b="1" dirty="0">
                  <a:solidFill>
                    <a:srgbClr val="06B6D4"/>
                  </a:solidFill>
                </a:rPr>
                <a:t>(2024-26)</a:t>
              </a:r>
              <a:endParaRPr lang="en-US" sz="800" dirty="0"/>
            </a:p>
          </p:txBody>
        </p:sp>
        <p:sp>
          <p:nvSpPr>
            <p:cNvPr id="7" name="Text 5"/>
            <p:cNvSpPr/>
            <p:nvPr/>
          </p:nvSpPr>
          <p:spPr>
            <a:xfrm>
              <a:off x="4069080" y="987552"/>
              <a:ext cx="868680" cy="329184"/>
            </a:xfrm>
            <a:prstGeom prst="rect">
              <a:avLst/>
            </a:prstGeom>
            <a:noFill/>
            <a:ln/>
          </p:spPr>
          <p:txBody>
            <a:bodyPr wrap="square" lIns="0" tIns="0" rIns="0" bIns="0" rtlCol="0" anchor="ctr"/>
            <a:lstStyle/>
            <a:p>
              <a:pPr marL="0" indent="0" algn="ctr">
                <a:buNone/>
              </a:pPr>
              <a:r>
                <a:rPr lang="en-US" sz="800" b="1" dirty="0">
                  <a:solidFill>
                    <a:srgbClr val="06B6D4"/>
                  </a:solidFill>
                </a:rPr>
                <a:t>2-3 YRS</a:t>
              </a:r>
              <a:endParaRPr lang="en-US" sz="800" dirty="0"/>
            </a:p>
            <a:p>
              <a:pPr marL="0" indent="0" algn="ctr">
                <a:buNone/>
              </a:pPr>
              <a:r>
                <a:rPr lang="en-US" sz="800" b="1" dirty="0">
                  <a:solidFill>
                    <a:srgbClr val="06B6D4"/>
                  </a:solidFill>
                </a:rPr>
                <a:t>(2027-28)</a:t>
              </a:r>
              <a:endParaRPr lang="en-US" sz="800" dirty="0"/>
            </a:p>
          </p:txBody>
        </p:sp>
        <p:sp>
          <p:nvSpPr>
            <p:cNvPr id="8" name="Text 6"/>
            <p:cNvSpPr/>
            <p:nvPr/>
          </p:nvSpPr>
          <p:spPr>
            <a:xfrm>
              <a:off x="4983480" y="987552"/>
              <a:ext cx="868680" cy="329184"/>
            </a:xfrm>
            <a:prstGeom prst="rect">
              <a:avLst/>
            </a:prstGeom>
            <a:noFill/>
            <a:ln/>
          </p:spPr>
          <p:txBody>
            <a:bodyPr wrap="square" lIns="0" tIns="0" rIns="0" bIns="0" rtlCol="0" anchor="ctr"/>
            <a:lstStyle/>
            <a:p>
              <a:pPr marL="0" indent="0" algn="ctr">
                <a:buNone/>
              </a:pPr>
              <a:r>
                <a:rPr lang="en-US" sz="800" b="1" dirty="0">
                  <a:solidFill>
                    <a:srgbClr val="06B6D4"/>
                  </a:solidFill>
                </a:rPr>
                <a:t>5 YRS</a:t>
              </a:r>
              <a:endParaRPr lang="en-US" sz="800" dirty="0"/>
            </a:p>
            <a:p>
              <a:pPr marL="0" indent="0" algn="ctr">
                <a:buNone/>
              </a:pPr>
              <a:r>
                <a:rPr lang="en-US" sz="800" b="1" dirty="0">
                  <a:solidFill>
                    <a:srgbClr val="06B6D4"/>
                  </a:solidFill>
                </a:rPr>
                <a:t>(2029-31)</a:t>
              </a:r>
              <a:endParaRPr lang="en-US" sz="800" dirty="0"/>
            </a:p>
          </p:txBody>
        </p:sp>
        <p:sp>
          <p:nvSpPr>
            <p:cNvPr id="9" name="Text 7"/>
            <p:cNvSpPr/>
            <p:nvPr/>
          </p:nvSpPr>
          <p:spPr>
            <a:xfrm>
              <a:off x="5897880" y="987552"/>
              <a:ext cx="868680" cy="329184"/>
            </a:xfrm>
            <a:prstGeom prst="rect">
              <a:avLst/>
            </a:prstGeom>
            <a:noFill/>
            <a:ln/>
          </p:spPr>
          <p:txBody>
            <a:bodyPr wrap="square" lIns="0" tIns="0" rIns="0" bIns="0" rtlCol="0" anchor="ctr"/>
            <a:lstStyle/>
            <a:p>
              <a:pPr marL="0" indent="0" algn="ctr">
                <a:buNone/>
              </a:pPr>
              <a:r>
                <a:rPr lang="en-US" sz="800" b="1" dirty="0">
                  <a:solidFill>
                    <a:srgbClr val="06B6D4"/>
                  </a:solidFill>
                </a:rPr>
                <a:t>10 YRS</a:t>
              </a:r>
              <a:endParaRPr lang="en-US" sz="800" dirty="0"/>
            </a:p>
            <a:p>
              <a:pPr marL="0" indent="0" algn="ctr">
                <a:buNone/>
              </a:pPr>
              <a:r>
                <a:rPr lang="en-US" sz="800" b="1" dirty="0">
                  <a:solidFill>
                    <a:srgbClr val="06B6D4"/>
                  </a:solidFill>
                </a:rPr>
                <a:t>(2034+)</a:t>
              </a:r>
              <a:endParaRPr lang="en-US" sz="800" dirty="0"/>
            </a:p>
          </p:txBody>
        </p:sp>
        <p:sp>
          <p:nvSpPr>
            <p:cNvPr id="10" name="Text 8"/>
            <p:cNvSpPr/>
            <p:nvPr/>
          </p:nvSpPr>
          <p:spPr>
            <a:xfrm>
              <a:off x="6812280" y="987552"/>
              <a:ext cx="1188720" cy="329184"/>
            </a:xfrm>
            <a:prstGeom prst="rect">
              <a:avLst/>
            </a:prstGeom>
            <a:noFill/>
            <a:ln/>
          </p:spPr>
          <p:txBody>
            <a:bodyPr wrap="square" lIns="0" tIns="0" rIns="0" bIns="0" rtlCol="0" anchor="ctr"/>
            <a:lstStyle/>
            <a:p>
              <a:pPr marL="0" indent="0" algn="ctr">
                <a:buNone/>
              </a:pPr>
              <a:r>
                <a:rPr lang="en-US" sz="800" b="1" dirty="0">
                  <a:solidFill>
                    <a:srgbClr val="06B6D4"/>
                  </a:solidFill>
                </a:rPr>
                <a:t>STRUCTURAL DRIVER</a:t>
              </a:r>
              <a:endParaRPr lang="en-US" sz="800" dirty="0"/>
            </a:p>
          </p:txBody>
        </p:sp>
        <p:sp>
          <p:nvSpPr>
            <p:cNvPr id="11" name="Text 9"/>
            <p:cNvSpPr/>
            <p:nvPr/>
          </p:nvSpPr>
          <p:spPr>
            <a:xfrm>
              <a:off x="8046720" y="987552"/>
              <a:ext cx="1051560" cy="329184"/>
            </a:xfrm>
            <a:prstGeom prst="rect">
              <a:avLst/>
            </a:prstGeom>
            <a:noFill/>
            <a:ln/>
          </p:spPr>
          <p:txBody>
            <a:bodyPr wrap="square" lIns="0" tIns="0" rIns="0" bIns="0" rtlCol="0" anchor="ctr"/>
            <a:lstStyle/>
            <a:p>
              <a:pPr marL="0" indent="0" algn="ctr">
                <a:buNone/>
              </a:pPr>
              <a:r>
                <a:rPr lang="en-US" sz="800" b="1" dirty="0">
                  <a:solidFill>
                    <a:srgbClr val="06B6D4"/>
                  </a:solidFill>
                </a:rPr>
                <a:t>CYCLICAL RISK</a:t>
              </a:r>
              <a:endParaRPr lang="en-US" sz="800" dirty="0"/>
            </a:p>
          </p:txBody>
        </p:sp>
        <p:sp>
          <p:nvSpPr>
            <p:cNvPr id="14" name="Shape 12"/>
            <p:cNvSpPr/>
            <p:nvPr/>
          </p:nvSpPr>
          <p:spPr>
            <a:xfrm>
              <a:off x="3200400" y="1444752"/>
              <a:ext cx="713232" cy="219456"/>
            </a:xfrm>
            <a:prstGeom prst="roundRect">
              <a:avLst>
                <a:gd name="adj" fmla="val 16667"/>
              </a:avLst>
            </a:prstGeom>
            <a:solidFill>
              <a:srgbClr val="10B981">
                <a:alpha val="70000"/>
              </a:srgbClr>
            </a:solidFill>
            <a:ln/>
          </p:spPr>
        </p:sp>
        <p:sp>
          <p:nvSpPr>
            <p:cNvPr id="15" name="Text 13"/>
            <p:cNvSpPr/>
            <p:nvPr/>
          </p:nvSpPr>
          <p:spPr>
            <a:xfrm>
              <a:off x="3200400" y="1444752"/>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16" name="Shape 14"/>
            <p:cNvSpPr/>
            <p:nvPr/>
          </p:nvSpPr>
          <p:spPr>
            <a:xfrm>
              <a:off x="4114800" y="1444752"/>
              <a:ext cx="713232" cy="219456"/>
            </a:xfrm>
            <a:prstGeom prst="roundRect">
              <a:avLst>
                <a:gd name="adj" fmla="val 16667"/>
              </a:avLst>
            </a:prstGeom>
            <a:solidFill>
              <a:srgbClr val="10B981">
                <a:alpha val="70000"/>
              </a:srgbClr>
            </a:solidFill>
            <a:ln/>
          </p:spPr>
        </p:sp>
        <p:sp>
          <p:nvSpPr>
            <p:cNvPr id="17" name="Text 15"/>
            <p:cNvSpPr/>
            <p:nvPr/>
          </p:nvSpPr>
          <p:spPr>
            <a:xfrm>
              <a:off x="4114800" y="1444752"/>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18" name="Shape 16"/>
            <p:cNvSpPr/>
            <p:nvPr/>
          </p:nvSpPr>
          <p:spPr>
            <a:xfrm>
              <a:off x="5029200" y="1444752"/>
              <a:ext cx="713232" cy="219456"/>
            </a:xfrm>
            <a:prstGeom prst="roundRect">
              <a:avLst>
                <a:gd name="adj" fmla="val 16667"/>
              </a:avLst>
            </a:prstGeom>
            <a:solidFill>
              <a:srgbClr val="84CC16">
                <a:alpha val="70000"/>
              </a:srgbClr>
            </a:solidFill>
            <a:ln/>
          </p:spPr>
        </p:sp>
        <p:sp>
          <p:nvSpPr>
            <p:cNvPr id="19" name="Text 17"/>
            <p:cNvSpPr/>
            <p:nvPr/>
          </p:nvSpPr>
          <p:spPr>
            <a:xfrm>
              <a:off x="5029200" y="1444752"/>
              <a:ext cx="713232"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20" name="Shape 18"/>
            <p:cNvSpPr/>
            <p:nvPr/>
          </p:nvSpPr>
          <p:spPr>
            <a:xfrm>
              <a:off x="5943600" y="1444752"/>
              <a:ext cx="713232" cy="219456"/>
            </a:xfrm>
            <a:prstGeom prst="roundRect">
              <a:avLst>
                <a:gd name="adj" fmla="val 16667"/>
              </a:avLst>
            </a:prstGeom>
            <a:solidFill>
              <a:srgbClr val="84CC16">
                <a:alpha val="70000"/>
              </a:srgbClr>
            </a:solidFill>
            <a:ln/>
          </p:spPr>
        </p:sp>
        <p:sp>
          <p:nvSpPr>
            <p:cNvPr id="21" name="Text 19"/>
            <p:cNvSpPr/>
            <p:nvPr/>
          </p:nvSpPr>
          <p:spPr>
            <a:xfrm>
              <a:off x="5943600" y="1444752"/>
              <a:ext cx="713232"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22" name="Text 20"/>
            <p:cNvSpPr/>
            <p:nvPr/>
          </p:nvSpPr>
          <p:spPr>
            <a:xfrm>
              <a:off x="6839712" y="1389888"/>
              <a:ext cx="1143000" cy="338328"/>
            </a:xfrm>
            <a:prstGeom prst="rect">
              <a:avLst/>
            </a:prstGeom>
            <a:noFill/>
            <a:ln/>
          </p:spPr>
          <p:txBody>
            <a:bodyPr wrap="square" lIns="0" tIns="0" rIns="0" bIns="0" rtlCol="0" anchor="ctr"/>
            <a:lstStyle/>
            <a:p>
              <a:pPr marL="0" indent="0">
                <a:buNone/>
              </a:pPr>
              <a:r>
                <a:rPr lang="en-US" sz="700" dirty="0"/>
                <a:t>Nuclear PPA demand is contracted 20 years. Power capaci</a:t>
              </a:r>
            </a:p>
          </p:txBody>
        </p:sp>
        <p:sp>
          <p:nvSpPr>
            <p:cNvPr id="23" name="Text 21"/>
            <p:cNvSpPr/>
            <p:nvPr/>
          </p:nvSpPr>
          <p:spPr>
            <a:xfrm>
              <a:off x="8065008" y="1389888"/>
              <a:ext cx="1005840" cy="338328"/>
            </a:xfrm>
            <a:prstGeom prst="rect">
              <a:avLst/>
            </a:prstGeom>
            <a:noFill/>
            <a:ln/>
          </p:spPr>
          <p:txBody>
            <a:bodyPr wrap="square" lIns="0" tIns="0" rIns="0" bIns="0" rtlCol="0" anchor="ctr"/>
            <a:lstStyle/>
            <a:p>
              <a:pPr marL="0" indent="0">
                <a:buNone/>
              </a:pPr>
              <a:r>
                <a:rPr lang="en-US" sz="700" dirty="0">
                  <a:solidFill>
                    <a:srgbClr val="F97316"/>
                  </a:solidFill>
                </a:rPr>
                <a:t>Natural gas prices, regulatory approvals for new nuclea</a:t>
              </a:r>
              <a:endParaRPr lang="en-US" sz="700" dirty="0"/>
            </a:p>
          </p:txBody>
        </p:sp>
        <p:sp>
          <p:nvSpPr>
            <p:cNvPr id="26" name="Shape 24"/>
            <p:cNvSpPr/>
            <p:nvPr/>
          </p:nvSpPr>
          <p:spPr>
            <a:xfrm>
              <a:off x="3200400" y="1801368"/>
              <a:ext cx="713232" cy="219456"/>
            </a:xfrm>
            <a:prstGeom prst="roundRect">
              <a:avLst>
                <a:gd name="adj" fmla="val 16667"/>
              </a:avLst>
            </a:prstGeom>
            <a:solidFill>
              <a:srgbClr val="10B981">
                <a:alpha val="70000"/>
              </a:srgbClr>
            </a:solidFill>
            <a:ln/>
          </p:spPr>
        </p:sp>
        <p:sp>
          <p:nvSpPr>
            <p:cNvPr id="27" name="Text 25"/>
            <p:cNvSpPr/>
            <p:nvPr/>
          </p:nvSpPr>
          <p:spPr>
            <a:xfrm>
              <a:off x="3200400" y="1801368"/>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28" name="Shape 26"/>
            <p:cNvSpPr/>
            <p:nvPr/>
          </p:nvSpPr>
          <p:spPr>
            <a:xfrm>
              <a:off x="4114800" y="1801368"/>
              <a:ext cx="713232" cy="219456"/>
            </a:xfrm>
            <a:prstGeom prst="roundRect">
              <a:avLst>
                <a:gd name="adj" fmla="val 16667"/>
              </a:avLst>
            </a:prstGeom>
            <a:solidFill>
              <a:srgbClr val="10B981">
                <a:alpha val="70000"/>
              </a:srgbClr>
            </a:solidFill>
            <a:ln/>
          </p:spPr>
        </p:sp>
        <p:sp>
          <p:nvSpPr>
            <p:cNvPr id="29" name="Text 27"/>
            <p:cNvSpPr/>
            <p:nvPr/>
          </p:nvSpPr>
          <p:spPr>
            <a:xfrm>
              <a:off x="4114800" y="1801368"/>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30" name="Shape 28"/>
            <p:cNvSpPr/>
            <p:nvPr/>
          </p:nvSpPr>
          <p:spPr>
            <a:xfrm>
              <a:off x="5029200" y="1801368"/>
              <a:ext cx="713232" cy="219456"/>
            </a:xfrm>
            <a:prstGeom prst="roundRect">
              <a:avLst>
                <a:gd name="adj" fmla="val 16667"/>
              </a:avLst>
            </a:prstGeom>
            <a:solidFill>
              <a:srgbClr val="F59E0B">
                <a:alpha val="70000"/>
              </a:srgbClr>
            </a:solidFill>
            <a:ln/>
          </p:spPr>
        </p:sp>
        <p:sp>
          <p:nvSpPr>
            <p:cNvPr id="31" name="Text 29"/>
            <p:cNvSpPr/>
            <p:nvPr/>
          </p:nvSpPr>
          <p:spPr>
            <a:xfrm>
              <a:off x="5029200" y="1801368"/>
              <a:ext cx="713232" cy="219456"/>
            </a:xfrm>
            <a:prstGeom prst="rect">
              <a:avLst/>
            </a:prstGeom>
            <a:noFill/>
            <a:ln/>
          </p:spPr>
          <p:txBody>
            <a:bodyPr wrap="square" rtlCol="0" anchor="ctr"/>
            <a:lstStyle/>
            <a:p>
              <a:pPr marL="0" indent="0" algn="ctr">
                <a:buNone/>
              </a:pPr>
              <a:r>
                <a:rPr lang="en-US" sz="750" b="1" dirty="0">
                  <a:solidFill>
                    <a:srgbClr val="FFFFFF"/>
                  </a:solidFill>
                </a:rPr>
                <a:t>MED</a:t>
              </a:r>
              <a:endParaRPr lang="en-US" sz="750" dirty="0"/>
            </a:p>
          </p:txBody>
        </p:sp>
        <p:sp>
          <p:nvSpPr>
            <p:cNvPr id="32" name="Shape 30"/>
            <p:cNvSpPr/>
            <p:nvPr/>
          </p:nvSpPr>
          <p:spPr>
            <a:xfrm>
              <a:off x="5943600" y="1801368"/>
              <a:ext cx="713232" cy="219456"/>
            </a:xfrm>
            <a:prstGeom prst="roundRect">
              <a:avLst>
                <a:gd name="adj" fmla="val 16667"/>
              </a:avLst>
            </a:prstGeom>
            <a:solidFill>
              <a:srgbClr val="F97316">
                <a:alpha val="70000"/>
              </a:srgbClr>
            </a:solidFill>
            <a:ln/>
          </p:spPr>
        </p:sp>
        <p:sp>
          <p:nvSpPr>
            <p:cNvPr id="33" name="Text 31"/>
            <p:cNvSpPr/>
            <p:nvPr/>
          </p:nvSpPr>
          <p:spPr>
            <a:xfrm>
              <a:off x="5943600" y="1801368"/>
              <a:ext cx="713232" cy="219456"/>
            </a:xfrm>
            <a:prstGeom prst="rect">
              <a:avLst/>
            </a:prstGeom>
            <a:noFill/>
            <a:ln/>
          </p:spPr>
          <p:txBody>
            <a:bodyPr wrap="square" rtlCol="0" anchor="ctr"/>
            <a:lstStyle/>
            <a:p>
              <a:pPr marL="0" indent="0" algn="ctr">
                <a:buNone/>
              </a:pPr>
              <a:r>
                <a:rPr lang="en-US" sz="750" b="1" dirty="0">
                  <a:solidFill>
                    <a:srgbClr val="FFFFFF"/>
                  </a:solidFill>
                </a:rPr>
                <a:t>LOW</a:t>
              </a:r>
              <a:endParaRPr lang="en-US" sz="750" dirty="0"/>
            </a:p>
          </p:txBody>
        </p:sp>
        <p:sp>
          <p:nvSpPr>
            <p:cNvPr id="34" name="Text 32"/>
            <p:cNvSpPr/>
            <p:nvPr/>
          </p:nvSpPr>
          <p:spPr>
            <a:xfrm>
              <a:off x="6839712" y="1746504"/>
              <a:ext cx="1143000" cy="338328"/>
            </a:xfrm>
            <a:prstGeom prst="rect">
              <a:avLst/>
            </a:prstGeom>
            <a:noFill/>
            <a:ln/>
          </p:spPr>
          <p:txBody>
            <a:bodyPr wrap="square" lIns="0" tIns="0" rIns="0" bIns="0" rtlCol="0" anchor="ctr"/>
            <a:lstStyle/>
            <a:p>
              <a:pPr marL="0" indent="0">
                <a:buNone/>
              </a:pPr>
              <a:r>
                <a:rPr lang="en-US" sz="700" dirty="0"/>
                <a:t>Model scaling laws drive continuous GPU upgrade cycles.</a:t>
              </a:r>
            </a:p>
          </p:txBody>
        </p:sp>
        <p:sp>
          <p:nvSpPr>
            <p:cNvPr id="35" name="Text 33"/>
            <p:cNvSpPr/>
            <p:nvPr/>
          </p:nvSpPr>
          <p:spPr>
            <a:xfrm>
              <a:off x="8065008" y="1746504"/>
              <a:ext cx="1005840" cy="338328"/>
            </a:xfrm>
            <a:prstGeom prst="rect">
              <a:avLst/>
            </a:prstGeom>
            <a:noFill/>
            <a:ln/>
          </p:spPr>
          <p:txBody>
            <a:bodyPr wrap="square" lIns="0" tIns="0" rIns="0" bIns="0" rtlCol="0" anchor="ctr"/>
            <a:lstStyle/>
            <a:p>
              <a:pPr marL="0" indent="0">
                <a:buNone/>
              </a:pPr>
              <a:r>
                <a:rPr lang="en-US" sz="700" dirty="0">
                  <a:solidFill>
                    <a:srgbClr val="F97316"/>
                  </a:solidFill>
                </a:rPr>
                <a:t>GPU inventory cycles (2022 bust). Potential custom ASIC</a:t>
              </a:r>
              <a:endParaRPr lang="en-US" sz="700" dirty="0"/>
            </a:p>
          </p:txBody>
        </p:sp>
        <p:sp>
          <p:nvSpPr>
            <p:cNvPr id="38" name="Shape 36"/>
            <p:cNvSpPr/>
            <p:nvPr/>
          </p:nvSpPr>
          <p:spPr>
            <a:xfrm>
              <a:off x="3200400" y="2157984"/>
              <a:ext cx="713232" cy="219456"/>
            </a:xfrm>
            <a:prstGeom prst="roundRect">
              <a:avLst>
                <a:gd name="adj" fmla="val 16667"/>
              </a:avLst>
            </a:prstGeom>
            <a:solidFill>
              <a:srgbClr val="10B981">
                <a:alpha val="70000"/>
              </a:srgbClr>
            </a:solidFill>
            <a:ln/>
          </p:spPr>
        </p:sp>
        <p:sp>
          <p:nvSpPr>
            <p:cNvPr id="39" name="Text 37"/>
            <p:cNvSpPr/>
            <p:nvPr/>
          </p:nvSpPr>
          <p:spPr>
            <a:xfrm>
              <a:off x="3200400" y="2157984"/>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40" name="Shape 38"/>
            <p:cNvSpPr/>
            <p:nvPr/>
          </p:nvSpPr>
          <p:spPr>
            <a:xfrm>
              <a:off x="4114800" y="2157984"/>
              <a:ext cx="713232" cy="219456"/>
            </a:xfrm>
            <a:prstGeom prst="roundRect">
              <a:avLst>
                <a:gd name="adj" fmla="val 16667"/>
              </a:avLst>
            </a:prstGeom>
            <a:solidFill>
              <a:srgbClr val="84CC16">
                <a:alpha val="70000"/>
              </a:srgbClr>
            </a:solidFill>
            <a:ln/>
          </p:spPr>
        </p:sp>
        <p:sp>
          <p:nvSpPr>
            <p:cNvPr id="41" name="Text 39"/>
            <p:cNvSpPr/>
            <p:nvPr/>
          </p:nvSpPr>
          <p:spPr>
            <a:xfrm>
              <a:off x="4114800" y="2157984"/>
              <a:ext cx="713232"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42" name="Shape 40"/>
            <p:cNvSpPr/>
            <p:nvPr/>
          </p:nvSpPr>
          <p:spPr>
            <a:xfrm>
              <a:off x="5029200" y="2157984"/>
              <a:ext cx="713232" cy="219456"/>
            </a:xfrm>
            <a:prstGeom prst="roundRect">
              <a:avLst>
                <a:gd name="adj" fmla="val 16667"/>
              </a:avLst>
            </a:prstGeom>
            <a:solidFill>
              <a:srgbClr val="F59E0B">
                <a:alpha val="70000"/>
              </a:srgbClr>
            </a:solidFill>
            <a:ln/>
          </p:spPr>
        </p:sp>
        <p:sp>
          <p:nvSpPr>
            <p:cNvPr id="43" name="Text 41"/>
            <p:cNvSpPr/>
            <p:nvPr/>
          </p:nvSpPr>
          <p:spPr>
            <a:xfrm>
              <a:off x="5029200" y="2157984"/>
              <a:ext cx="713232" cy="219456"/>
            </a:xfrm>
            <a:prstGeom prst="rect">
              <a:avLst/>
            </a:prstGeom>
            <a:noFill/>
            <a:ln/>
          </p:spPr>
          <p:txBody>
            <a:bodyPr wrap="square" rtlCol="0" anchor="ctr"/>
            <a:lstStyle/>
            <a:p>
              <a:pPr marL="0" indent="0" algn="ctr">
                <a:buNone/>
              </a:pPr>
              <a:r>
                <a:rPr lang="en-US" sz="750" b="1" dirty="0">
                  <a:solidFill>
                    <a:srgbClr val="FFFFFF"/>
                  </a:solidFill>
                </a:rPr>
                <a:t>MED</a:t>
              </a:r>
              <a:endParaRPr lang="en-US" sz="750" dirty="0"/>
            </a:p>
          </p:txBody>
        </p:sp>
        <p:sp>
          <p:nvSpPr>
            <p:cNvPr id="44" name="Shape 42"/>
            <p:cNvSpPr/>
            <p:nvPr/>
          </p:nvSpPr>
          <p:spPr>
            <a:xfrm>
              <a:off x="5943600" y="2157984"/>
              <a:ext cx="713232" cy="219456"/>
            </a:xfrm>
            <a:prstGeom prst="roundRect">
              <a:avLst>
                <a:gd name="adj" fmla="val 16667"/>
              </a:avLst>
            </a:prstGeom>
            <a:solidFill>
              <a:srgbClr val="F97316">
                <a:alpha val="70000"/>
              </a:srgbClr>
            </a:solidFill>
            <a:ln/>
          </p:spPr>
        </p:sp>
        <p:sp>
          <p:nvSpPr>
            <p:cNvPr id="45" name="Text 43"/>
            <p:cNvSpPr/>
            <p:nvPr/>
          </p:nvSpPr>
          <p:spPr>
            <a:xfrm>
              <a:off x="5943600" y="2157984"/>
              <a:ext cx="713232" cy="219456"/>
            </a:xfrm>
            <a:prstGeom prst="rect">
              <a:avLst/>
            </a:prstGeom>
            <a:noFill/>
            <a:ln/>
          </p:spPr>
          <p:txBody>
            <a:bodyPr wrap="square" rtlCol="0" anchor="ctr"/>
            <a:lstStyle/>
            <a:p>
              <a:pPr marL="0" indent="0" algn="ctr">
                <a:buNone/>
              </a:pPr>
              <a:r>
                <a:rPr lang="en-US" sz="750" b="1" dirty="0">
                  <a:solidFill>
                    <a:srgbClr val="FFFFFF"/>
                  </a:solidFill>
                </a:rPr>
                <a:t>LOW</a:t>
              </a:r>
              <a:endParaRPr lang="en-US" sz="750" dirty="0"/>
            </a:p>
          </p:txBody>
        </p:sp>
        <p:sp>
          <p:nvSpPr>
            <p:cNvPr id="46" name="Text 44"/>
            <p:cNvSpPr/>
            <p:nvPr/>
          </p:nvSpPr>
          <p:spPr>
            <a:xfrm>
              <a:off x="6839712" y="2103120"/>
              <a:ext cx="1143000" cy="338328"/>
            </a:xfrm>
            <a:prstGeom prst="rect">
              <a:avLst/>
            </a:prstGeom>
            <a:noFill/>
            <a:ln/>
          </p:spPr>
          <p:txBody>
            <a:bodyPr wrap="square" lIns="0" tIns="0" rIns="0" bIns="0" rtlCol="0" anchor="ctr"/>
            <a:lstStyle/>
            <a:p>
              <a:pPr marL="0" indent="0">
                <a:buNone/>
              </a:pPr>
              <a:r>
                <a:rPr lang="en-US" sz="700" dirty="0"/>
                <a:t>Memory bandwidth is physics — more compute = proportion</a:t>
              </a:r>
            </a:p>
          </p:txBody>
        </p:sp>
        <p:sp>
          <p:nvSpPr>
            <p:cNvPr id="47" name="Text 45"/>
            <p:cNvSpPr/>
            <p:nvPr/>
          </p:nvSpPr>
          <p:spPr>
            <a:xfrm>
              <a:off x="8065008" y="2103120"/>
              <a:ext cx="1005840" cy="338328"/>
            </a:xfrm>
            <a:prstGeom prst="rect">
              <a:avLst/>
            </a:prstGeom>
            <a:noFill/>
            <a:ln/>
          </p:spPr>
          <p:txBody>
            <a:bodyPr wrap="square" lIns="0" tIns="0" rIns="0" bIns="0" rtlCol="0" anchor="ctr"/>
            <a:lstStyle/>
            <a:p>
              <a:pPr marL="0" indent="0">
                <a:buNone/>
              </a:pPr>
              <a:r>
                <a:rPr lang="en-US" sz="700" dirty="0">
                  <a:solidFill>
                    <a:srgbClr val="F97316"/>
                  </a:solidFill>
                </a:rPr>
                <a:t>Memory price cycles are notoriously volatile (DRAM boom</a:t>
              </a:r>
              <a:endParaRPr lang="en-US" sz="700" dirty="0"/>
            </a:p>
          </p:txBody>
        </p:sp>
        <p:sp>
          <p:nvSpPr>
            <p:cNvPr id="50" name="Shape 48"/>
            <p:cNvSpPr/>
            <p:nvPr/>
          </p:nvSpPr>
          <p:spPr>
            <a:xfrm>
              <a:off x="3200400" y="2514600"/>
              <a:ext cx="713232" cy="219456"/>
            </a:xfrm>
            <a:prstGeom prst="roundRect">
              <a:avLst>
                <a:gd name="adj" fmla="val 16667"/>
              </a:avLst>
            </a:prstGeom>
            <a:solidFill>
              <a:srgbClr val="10B981">
                <a:alpha val="70000"/>
              </a:srgbClr>
            </a:solidFill>
            <a:ln/>
          </p:spPr>
        </p:sp>
        <p:sp>
          <p:nvSpPr>
            <p:cNvPr id="51" name="Text 49"/>
            <p:cNvSpPr/>
            <p:nvPr/>
          </p:nvSpPr>
          <p:spPr>
            <a:xfrm>
              <a:off x="3200400" y="2514600"/>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52" name="Shape 50"/>
            <p:cNvSpPr/>
            <p:nvPr/>
          </p:nvSpPr>
          <p:spPr>
            <a:xfrm>
              <a:off x="4114800" y="2514600"/>
              <a:ext cx="713232" cy="219456"/>
            </a:xfrm>
            <a:prstGeom prst="roundRect">
              <a:avLst>
                <a:gd name="adj" fmla="val 16667"/>
              </a:avLst>
            </a:prstGeom>
            <a:solidFill>
              <a:srgbClr val="10B981">
                <a:alpha val="70000"/>
              </a:srgbClr>
            </a:solidFill>
            <a:ln/>
          </p:spPr>
        </p:sp>
        <p:sp>
          <p:nvSpPr>
            <p:cNvPr id="53" name="Text 51"/>
            <p:cNvSpPr/>
            <p:nvPr/>
          </p:nvSpPr>
          <p:spPr>
            <a:xfrm>
              <a:off x="4114800" y="2514600"/>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54" name="Shape 52"/>
            <p:cNvSpPr/>
            <p:nvPr/>
          </p:nvSpPr>
          <p:spPr>
            <a:xfrm>
              <a:off x="5029200" y="2514600"/>
              <a:ext cx="713232" cy="219456"/>
            </a:xfrm>
            <a:prstGeom prst="roundRect">
              <a:avLst>
                <a:gd name="adj" fmla="val 16667"/>
              </a:avLst>
            </a:prstGeom>
            <a:solidFill>
              <a:srgbClr val="10B981">
                <a:alpha val="70000"/>
              </a:srgbClr>
            </a:solidFill>
            <a:ln/>
          </p:spPr>
        </p:sp>
        <p:sp>
          <p:nvSpPr>
            <p:cNvPr id="55" name="Text 53"/>
            <p:cNvSpPr/>
            <p:nvPr/>
          </p:nvSpPr>
          <p:spPr>
            <a:xfrm>
              <a:off x="5029200" y="2514600"/>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56" name="Shape 54"/>
            <p:cNvSpPr/>
            <p:nvPr/>
          </p:nvSpPr>
          <p:spPr>
            <a:xfrm>
              <a:off x="5943600" y="2514600"/>
              <a:ext cx="713232" cy="219456"/>
            </a:xfrm>
            <a:prstGeom prst="roundRect">
              <a:avLst>
                <a:gd name="adj" fmla="val 16667"/>
              </a:avLst>
            </a:prstGeom>
            <a:solidFill>
              <a:srgbClr val="10B981">
                <a:alpha val="70000"/>
              </a:srgbClr>
            </a:solidFill>
            <a:ln/>
          </p:spPr>
        </p:sp>
        <p:sp>
          <p:nvSpPr>
            <p:cNvPr id="57" name="Text 55"/>
            <p:cNvSpPr/>
            <p:nvPr/>
          </p:nvSpPr>
          <p:spPr>
            <a:xfrm>
              <a:off x="5943600" y="2514600"/>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58" name="Text 56"/>
            <p:cNvSpPr/>
            <p:nvPr/>
          </p:nvSpPr>
          <p:spPr>
            <a:xfrm>
              <a:off x="6839712" y="2459736"/>
              <a:ext cx="1143000" cy="338328"/>
            </a:xfrm>
            <a:prstGeom prst="rect">
              <a:avLst/>
            </a:prstGeom>
            <a:noFill/>
            <a:ln/>
          </p:spPr>
          <p:txBody>
            <a:bodyPr wrap="square" lIns="0" tIns="0" rIns="0" bIns="0" rtlCol="0" anchor="ctr"/>
            <a:lstStyle/>
            <a:p>
              <a:pPr marL="0" indent="0">
                <a:buNone/>
              </a:pPr>
              <a:r>
                <a:rPr lang="en-US" sz="700" dirty="0"/>
                <a:t>Process node leadership cannot be manufactured away. 5-</a:t>
              </a:r>
            </a:p>
          </p:txBody>
        </p:sp>
        <p:sp>
          <p:nvSpPr>
            <p:cNvPr id="59" name="Text 57"/>
            <p:cNvSpPr/>
            <p:nvPr/>
          </p:nvSpPr>
          <p:spPr>
            <a:xfrm>
              <a:off x="8065008" y="2459736"/>
              <a:ext cx="1005840" cy="338328"/>
            </a:xfrm>
            <a:prstGeom prst="rect">
              <a:avLst/>
            </a:prstGeom>
            <a:noFill/>
            <a:ln/>
          </p:spPr>
          <p:txBody>
            <a:bodyPr wrap="square" lIns="0" tIns="0" rIns="0" bIns="0" rtlCol="0" anchor="ctr"/>
            <a:lstStyle/>
            <a:p>
              <a:pPr marL="0" indent="0">
                <a:buNone/>
              </a:pPr>
              <a:r>
                <a:rPr lang="en-US" sz="700" dirty="0">
                  <a:solidFill>
                    <a:srgbClr val="F97316"/>
                  </a:solidFill>
                </a:rPr>
                <a:t>Very low cyclicality. Custom chip design takes 2-3 year</a:t>
              </a:r>
              <a:endParaRPr lang="en-US" sz="700" dirty="0"/>
            </a:p>
          </p:txBody>
        </p:sp>
        <p:sp>
          <p:nvSpPr>
            <p:cNvPr id="62" name="Shape 60"/>
            <p:cNvSpPr/>
            <p:nvPr/>
          </p:nvSpPr>
          <p:spPr>
            <a:xfrm>
              <a:off x="3200400" y="2871216"/>
              <a:ext cx="713232" cy="219456"/>
            </a:xfrm>
            <a:prstGeom prst="roundRect">
              <a:avLst>
                <a:gd name="adj" fmla="val 16667"/>
              </a:avLst>
            </a:prstGeom>
            <a:solidFill>
              <a:srgbClr val="84CC16">
                <a:alpha val="70000"/>
              </a:srgbClr>
            </a:solidFill>
            <a:ln/>
          </p:spPr>
        </p:sp>
        <p:sp>
          <p:nvSpPr>
            <p:cNvPr id="63" name="Text 61"/>
            <p:cNvSpPr/>
            <p:nvPr/>
          </p:nvSpPr>
          <p:spPr>
            <a:xfrm>
              <a:off x="3200400" y="2871216"/>
              <a:ext cx="713232"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64" name="Shape 62"/>
            <p:cNvSpPr/>
            <p:nvPr/>
          </p:nvSpPr>
          <p:spPr>
            <a:xfrm>
              <a:off x="4114800" y="2871216"/>
              <a:ext cx="713232" cy="219456"/>
            </a:xfrm>
            <a:prstGeom prst="roundRect">
              <a:avLst>
                <a:gd name="adj" fmla="val 16667"/>
              </a:avLst>
            </a:prstGeom>
            <a:solidFill>
              <a:srgbClr val="84CC16">
                <a:alpha val="70000"/>
              </a:srgbClr>
            </a:solidFill>
            <a:ln/>
          </p:spPr>
        </p:sp>
        <p:sp>
          <p:nvSpPr>
            <p:cNvPr id="65" name="Text 63"/>
            <p:cNvSpPr/>
            <p:nvPr/>
          </p:nvSpPr>
          <p:spPr>
            <a:xfrm>
              <a:off x="4114800" y="2871216"/>
              <a:ext cx="713232"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66" name="Shape 64"/>
            <p:cNvSpPr/>
            <p:nvPr/>
          </p:nvSpPr>
          <p:spPr>
            <a:xfrm>
              <a:off x="5029200" y="2871216"/>
              <a:ext cx="713232" cy="219456"/>
            </a:xfrm>
            <a:prstGeom prst="roundRect">
              <a:avLst>
                <a:gd name="adj" fmla="val 16667"/>
              </a:avLst>
            </a:prstGeom>
            <a:solidFill>
              <a:srgbClr val="F59E0B">
                <a:alpha val="70000"/>
              </a:srgbClr>
            </a:solidFill>
            <a:ln/>
          </p:spPr>
        </p:sp>
        <p:sp>
          <p:nvSpPr>
            <p:cNvPr id="67" name="Text 65"/>
            <p:cNvSpPr/>
            <p:nvPr/>
          </p:nvSpPr>
          <p:spPr>
            <a:xfrm>
              <a:off x="5029200" y="2871216"/>
              <a:ext cx="713232" cy="219456"/>
            </a:xfrm>
            <a:prstGeom prst="rect">
              <a:avLst/>
            </a:prstGeom>
            <a:noFill/>
            <a:ln/>
          </p:spPr>
          <p:txBody>
            <a:bodyPr wrap="square" rtlCol="0" anchor="ctr"/>
            <a:lstStyle/>
            <a:p>
              <a:pPr marL="0" indent="0" algn="ctr">
                <a:buNone/>
              </a:pPr>
              <a:r>
                <a:rPr lang="en-US" sz="750" b="1" dirty="0">
                  <a:solidFill>
                    <a:srgbClr val="FFFFFF"/>
                  </a:solidFill>
                </a:rPr>
                <a:t>MED</a:t>
              </a:r>
              <a:endParaRPr lang="en-US" sz="750" dirty="0"/>
            </a:p>
          </p:txBody>
        </p:sp>
        <p:sp>
          <p:nvSpPr>
            <p:cNvPr id="68" name="Shape 66"/>
            <p:cNvSpPr/>
            <p:nvPr/>
          </p:nvSpPr>
          <p:spPr>
            <a:xfrm>
              <a:off x="5943600" y="2871216"/>
              <a:ext cx="713232" cy="219456"/>
            </a:xfrm>
            <a:prstGeom prst="roundRect">
              <a:avLst>
                <a:gd name="adj" fmla="val 16667"/>
              </a:avLst>
            </a:prstGeom>
            <a:solidFill>
              <a:srgbClr val="F97316">
                <a:alpha val="70000"/>
              </a:srgbClr>
            </a:solidFill>
            <a:ln/>
          </p:spPr>
        </p:sp>
        <p:sp>
          <p:nvSpPr>
            <p:cNvPr id="69" name="Text 67"/>
            <p:cNvSpPr/>
            <p:nvPr/>
          </p:nvSpPr>
          <p:spPr>
            <a:xfrm>
              <a:off x="5943600" y="2871216"/>
              <a:ext cx="713232" cy="219456"/>
            </a:xfrm>
            <a:prstGeom prst="rect">
              <a:avLst/>
            </a:prstGeom>
            <a:noFill/>
            <a:ln/>
          </p:spPr>
          <p:txBody>
            <a:bodyPr wrap="square" rtlCol="0" anchor="ctr"/>
            <a:lstStyle/>
            <a:p>
              <a:pPr marL="0" indent="0" algn="ctr">
                <a:buNone/>
              </a:pPr>
              <a:r>
                <a:rPr lang="en-US" sz="750" b="1" dirty="0">
                  <a:solidFill>
                    <a:srgbClr val="FFFFFF"/>
                  </a:solidFill>
                </a:rPr>
                <a:t>LOW</a:t>
              </a:r>
              <a:endParaRPr lang="en-US" sz="750" dirty="0"/>
            </a:p>
          </p:txBody>
        </p:sp>
        <p:sp>
          <p:nvSpPr>
            <p:cNvPr id="70" name="Text 68"/>
            <p:cNvSpPr/>
            <p:nvPr/>
          </p:nvSpPr>
          <p:spPr>
            <a:xfrm>
              <a:off x="6839712" y="2816352"/>
              <a:ext cx="1143000" cy="338328"/>
            </a:xfrm>
            <a:prstGeom prst="rect">
              <a:avLst/>
            </a:prstGeom>
            <a:noFill/>
            <a:ln/>
          </p:spPr>
          <p:txBody>
            <a:bodyPr wrap="square" lIns="0" tIns="0" rIns="0" bIns="0" rtlCol="0" anchor="ctr"/>
            <a:lstStyle/>
            <a:p>
              <a:pPr marL="0" indent="0">
                <a:buNone/>
              </a:pPr>
              <a:r>
                <a:rPr lang="en-US" sz="700" dirty="0"/>
                <a:t>New GPU generations require new server designs. Data ce</a:t>
              </a:r>
            </a:p>
          </p:txBody>
        </p:sp>
        <p:sp>
          <p:nvSpPr>
            <p:cNvPr id="71" name="Text 69"/>
            <p:cNvSpPr/>
            <p:nvPr/>
          </p:nvSpPr>
          <p:spPr>
            <a:xfrm>
              <a:off x="8065008" y="2816352"/>
              <a:ext cx="1005840" cy="338328"/>
            </a:xfrm>
            <a:prstGeom prst="rect">
              <a:avLst/>
            </a:prstGeom>
            <a:noFill/>
            <a:ln/>
          </p:spPr>
          <p:txBody>
            <a:bodyPr wrap="square" lIns="0" tIns="0" rIns="0" bIns="0" rtlCol="0" anchor="ctr"/>
            <a:lstStyle/>
            <a:p>
              <a:pPr marL="0" indent="0">
                <a:buNone/>
              </a:pPr>
              <a:r>
                <a:rPr lang="en-US" sz="700" dirty="0">
                  <a:solidFill>
                    <a:srgbClr val="F97316"/>
                  </a:solidFill>
                </a:rPr>
                <a:t>Capex cuts at hyperscalers would ripple quickly (2022 e</a:t>
              </a:r>
              <a:endParaRPr lang="en-US" sz="700" dirty="0"/>
            </a:p>
          </p:txBody>
        </p:sp>
        <p:sp>
          <p:nvSpPr>
            <p:cNvPr id="74" name="Shape 72"/>
            <p:cNvSpPr/>
            <p:nvPr/>
          </p:nvSpPr>
          <p:spPr>
            <a:xfrm>
              <a:off x="3200400" y="3227832"/>
              <a:ext cx="713232" cy="219456"/>
            </a:xfrm>
            <a:prstGeom prst="roundRect">
              <a:avLst>
                <a:gd name="adj" fmla="val 16667"/>
              </a:avLst>
            </a:prstGeom>
            <a:solidFill>
              <a:srgbClr val="84CC16">
                <a:alpha val="70000"/>
              </a:srgbClr>
            </a:solidFill>
            <a:ln/>
          </p:spPr>
        </p:sp>
        <p:sp>
          <p:nvSpPr>
            <p:cNvPr id="75" name="Text 73"/>
            <p:cNvSpPr/>
            <p:nvPr/>
          </p:nvSpPr>
          <p:spPr>
            <a:xfrm>
              <a:off x="3200400" y="3227832"/>
              <a:ext cx="713232"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76" name="Shape 74"/>
            <p:cNvSpPr/>
            <p:nvPr/>
          </p:nvSpPr>
          <p:spPr>
            <a:xfrm>
              <a:off x="4114800" y="3227832"/>
              <a:ext cx="713232" cy="219456"/>
            </a:xfrm>
            <a:prstGeom prst="roundRect">
              <a:avLst>
                <a:gd name="adj" fmla="val 16667"/>
              </a:avLst>
            </a:prstGeom>
            <a:solidFill>
              <a:srgbClr val="10B981">
                <a:alpha val="70000"/>
              </a:srgbClr>
            </a:solidFill>
            <a:ln/>
          </p:spPr>
        </p:sp>
        <p:sp>
          <p:nvSpPr>
            <p:cNvPr id="77" name="Text 75"/>
            <p:cNvSpPr/>
            <p:nvPr/>
          </p:nvSpPr>
          <p:spPr>
            <a:xfrm>
              <a:off x="4114800" y="3227832"/>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78" name="Shape 76"/>
            <p:cNvSpPr/>
            <p:nvPr/>
          </p:nvSpPr>
          <p:spPr>
            <a:xfrm>
              <a:off x="5029200" y="3227832"/>
              <a:ext cx="713232" cy="219456"/>
            </a:xfrm>
            <a:prstGeom prst="roundRect">
              <a:avLst>
                <a:gd name="adj" fmla="val 16667"/>
              </a:avLst>
            </a:prstGeom>
            <a:solidFill>
              <a:srgbClr val="84CC16">
                <a:alpha val="70000"/>
              </a:srgbClr>
            </a:solidFill>
            <a:ln/>
          </p:spPr>
        </p:sp>
        <p:sp>
          <p:nvSpPr>
            <p:cNvPr id="79" name="Text 77"/>
            <p:cNvSpPr/>
            <p:nvPr/>
          </p:nvSpPr>
          <p:spPr>
            <a:xfrm>
              <a:off x="5029200" y="3227832"/>
              <a:ext cx="713232"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80" name="Shape 78"/>
            <p:cNvSpPr/>
            <p:nvPr/>
          </p:nvSpPr>
          <p:spPr>
            <a:xfrm>
              <a:off x="5943600" y="3227832"/>
              <a:ext cx="713232" cy="219456"/>
            </a:xfrm>
            <a:prstGeom prst="roundRect">
              <a:avLst>
                <a:gd name="adj" fmla="val 16667"/>
              </a:avLst>
            </a:prstGeom>
            <a:solidFill>
              <a:srgbClr val="F59E0B">
                <a:alpha val="70000"/>
              </a:srgbClr>
            </a:solidFill>
            <a:ln/>
          </p:spPr>
        </p:sp>
        <p:sp>
          <p:nvSpPr>
            <p:cNvPr id="81" name="Text 79"/>
            <p:cNvSpPr/>
            <p:nvPr/>
          </p:nvSpPr>
          <p:spPr>
            <a:xfrm>
              <a:off x="5943600" y="3227832"/>
              <a:ext cx="713232" cy="219456"/>
            </a:xfrm>
            <a:prstGeom prst="rect">
              <a:avLst/>
            </a:prstGeom>
            <a:noFill/>
            <a:ln/>
          </p:spPr>
          <p:txBody>
            <a:bodyPr wrap="square" rtlCol="0" anchor="ctr"/>
            <a:lstStyle/>
            <a:p>
              <a:pPr marL="0" indent="0" algn="ctr">
                <a:buNone/>
              </a:pPr>
              <a:r>
                <a:rPr lang="en-US" sz="750" b="1" dirty="0">
                  <a:solidFill>
                    <a:srgbClr val="FFFFFF"/>
                  </a:solidFill>
                </a:rPr>
                <a:t>MED</a:t>
              </a:r>
              <a:endParaRPr lang="en-US" sz="750" dirty="0"/>
            </a:p>
          </p:txBody>
        </p:sp>
        <p:sp>
          <p:nvSpPr>
            <p:cNvPr id="82" name="Text 80"/>
            <p:cNvSpPr/>
            <p:nvPr/>
          </p:nvSpPr>
          <p:spPr>
            <a:xfrm>
              <a:off x="6839712" y="3172968"/>
              <a:ext cx="1143000" cy="338328"/>
            </a:xfrm>
            <a:prstGeom prst="rect">
              <a:avLst/>
            </a:prstGeom>
            <a:noFill/>
            <a:ln/>
          </p:spPr>
          <p:txBody>
            <a:bodyPr wrap="square" lIns="0" tIns="0" rIns="0" bIns="0" rtlCol="0" anchor="ctr"/>
            <a:lstStyle/>
            <a:p>
              <a:pPr marL="0" indent="0">
                <a:buNone/>
              </a:pPr>
              <a:r>
                <a:rPr lang="en-US" sz="700" dirty="0"/>
                <a:t>Enterprise adoption of AI is in early innings. Cloud is</a:t>
              </a:r>
            </a:p>
          </p:txBody>
        </p:sp>
        <p:sp>
          <p:nvSpPr>
            <p:cNvPr id="83" name="Text 81"/>
            <p:cNvSpPr/>
            <p:nvPr/>
          </p:nvSpPr>
          <p:spPr>
            <a:xfrm>
              <a:off x="8065008" y="3172968"/>
              <a:ext cx="1005840" cy="338328"/>
            </a:xfrm>
            <a:prstGeom prst="rect">
              <a:avLst/>
            </a:prstGeom>
            <a:noFill/>
            <a:ln/>
          </p:spPr>
          <p:txBody>
            <a:bodyPr wrap="square" lIns="0" tIns="0" rIns="0" bIns="0" rtlCol="0" anchor="ctr"/>
            <a:lstStyle/>
            <a:p>
              <a:pPr marL="0" indent="0">
                <a:buNone/>
              </a:pPr>
              <a:r>
                <a:rPr lang="en-US" sz="700" dirty="0">
                  <a:solidFill>
                    <a:srgbClr val="F97316"/>
                  </a:solidFill>
                </a:rPr>
                <a:t>Pricing pressure as GPU supply increases. Hyperscaler i</a:t>
              </a:r>
              <a:endParaRPr lang="en-US" sz="700" dirty="0"/>
            </a:p>
          </p:txBody>
        </p:sp>
        <p:sp>
          <p:nvSpPr>
            <p:cNvPr id="86" name="Shape 84"/>
            <p:cNvSpPr/>
            <p:nvPr/>
          </p:nvSpPr>
          <p:spPr>
            <a:xfrm>
              <a:off x="3200400" y="3584448"/>
              <a:ext cx="713232" cy="219456"/>
            </a:xfrm>
            <a:prstGeom prst="roundRect">
              <a:avLst>
                <a:gd name="adj" fmla="val 16667"/>
              </a:avLst>
            </a:prstGeom>
            <a:solidFill>
              <a:srgbClr val="F59E0B">
                <a:alpha val="70000"/>
              </a:srgbClr>
            </a:solidFill>
            <a:ln/>
          </p:spPr>
        </p:sp>
        <p:sp>
          <p:nvSpPr>
            <p:cNvPr id="87" name="Text 85"/>
            <p:cNvSpPr/>
            <p:nvPr/>
          </p:nvSpPr>
          <p:spPr>
            <a:xfrm>
              <a:off x="3200400" y="3584448"/>
              <a:ext cx="713232" cy="219456"/>
            </a:xfrm>
            <a:prstGeom prst="rect">
              <a:avLst/>
            </a:prstGeom>
            <a:noFill/>
            <a:ln/>
          </p:spPr>
          <p:txBody>
            <a:bodyPr wrap="square" rtlCol="0" anchor="ctr"/>
            <a:lstStyle/>
            <a:p>
              <a:pPr marL="0" indent="0" algn="ctr">
                <a:buNone/>
              </a:pPr>
              <a:r>
                <a:rPr lang="en-US" sz="750" b="1" dirty="0">
                  <a:solidFill>
                    <a:srgbClr val="FFFFFF"/>
                  </a:solidFill>
                </a:rPr>
                <a:t>MED</a:t>
              </a:r>
              <a:endParaRPr lang="en-US" sz="750" dirty="0"/>
            </a:p>
          </p:txBody>
        </p:sp>
        <p:sp>
          <p:nvSpPr>
            <p:cNvPr id="88" name="Shape 86"/>
            <p:cNvSpPr/>
            <p:nvPr/>
          </p:nvSpPr>
          <p:spPr>
            <a:xfrm>
              <a:off x="4114800" y="3584448"/>
              <a:ext cx="713232" cy="219456"/>
            </a:xfrm>
            <a:prstGeom prst="roundRect">
              <a:avLst>
                <a:gd name="adj" fmla="val 16667"/>
              </a:avLst>
            </a:prstGeom>
            <a:solidFill>
              <a:srgbClr val="84CC16">
                <a:alpha val="70000"/>
              </a:srgbClr>
            </a:solidFill>
            <a:ln/>
          </p:spPr>
        </p:sp>
        <p:sp>
          <p:nvSpPr>
            <p:cNvPr id="89" name="Text 87"/>
            <p:cNvSpPr/>
            <p:nvPr/>
          </p:nvSpPr>
          <p:spPr>
            <a:xfrm>
              <a:off x="4114800" y="3584448"/>
              <a:ext cx="713232"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90" name="Shape 88"/>
            <p:cNvSpPr/>
            <p:nvPr/>
          </p:nvSpPr>
          <p:spPr>
            <a:xfrm>
              <a:off x="5029200" y="3584448"/>
              <a:ext cx="713232" cy="219456"/>
            </a:xfrm>
            <a:prstGeom prst="roundRect">
              <a:avLst>
                <a:gd name="adj" fmla="val 16667"/>
              </a:avLst>
            </a:prstGeom>
            <a:solidFill>
              <a:srgbClr val="10B981">
                <a:alpha val="70000"/>
              </a:srgbClr>
            </a:solidFill>
            <a:ln/>
          </p:spPr>
        </p:sp>
        <p:sp>
          <p:nvSpPr>
            <p:cNvPr id="91" name="Text 89"/>
            <p:cNvSpPr/>
            <p:nvPr/>
          </p:nvSpPr>
          <p:spPr>
            <a:xfrm>
              <a:off x="5029200" y="3584448"/>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92" name="Shape 90"/>
            <p:cNvSpPr/>
            <p:nvPr/>
          </p:nvSpPr>
          <p:spPr>
            <a:xfrm>
              <a:off x="5943600" y="3584448"/>
              <a:ext cx="713232" cy="219456"/>
            </a:xfrm>
            <a:prstGeom prst="roundRect">
              <a:avLst>
                <a:gd name="adj" fmla="val 16667"/>
              </a:avLst>
            </a:prstGeom>
            <a:solidFill>
              <a:srgbClr val="84CC16">
                <a:alpha val="70000"/>
              </a:srgbClr>
            </a:solidFill>
            <a:ln/>
          </p:spPr>
        </p:sp>
        <p:sp>
          <p:nvSpPr>
            <p:cNvPr id="93" name="Text 91"/>
            <p:cNvSpPr/>
            <p:nvPr/>
          </p:nvSpPr>
          <p:spPr>
            <a:xfrm>
              <a:off x="5943600" y="3584448"/>
              <a:ext cx="713232"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94" name="Text 92"/>
            <p:cNvSpPr/>
            <p:nvPr/>
          </p:nvSpPr>
          <p:spPr>
            <a:xfrm>
              <a:off x="6839712" y="3529584"/>
              <a:ext cx="1143000" cy="338328"/>
            </a:xfrm>
            <a:prstGeom prst="rect">
              <a:avLst/>
            </a:prstGeom>
            <a:noFill/>
            <a:ln/>
          </p:spPr>
          <p:txBody>
            <a:bodyPr wrap="square" lIns="0" tIns="0" rIns="0" bIns="0" rtlCol="0" anchor="ctr"/>
            <a:lstStyle/>
            <a:p>
              <a:pPr marL="0" indent="0">
                <a:buNone/>
              </a:pPr>
              <a:r>
                <a:rPr lang="en-US" sz="700" dirty="0"/>
                <a:t>Foundation models becoming infrastructure. Enterprise s</a:t>
              </a:r>
            </a:p>
          </p:txBody>
        </p:sp>
        <p:sp>
          <p:nvSpPr>
            <p:cNvPr id="95" name="Text 93"/>
            <p:cNvSpPr/>
            <p:nvPr/>
          </p:nvSpPr>
          <p:spPr>
            <a:xfrm>
              <a:off x="8065008" y="3529584"/>
              <a:ext cx="1005840" cy="338328"/>
            </a:xfrm>
            <a:prstGeom prst="rect">
              <a:avLst/>
            </a:prstGeom>
            <a:noFill/>
            <a:ln/>
          </p:spPr>
          <p:txBody>
            <a:bodyPr wrap="square" lIns="0" tIns="0" rIns="0" bIns="0" rtlCol="0" anchor="ctr"/>
            <a:lstStyle/>
            <a:p>
              <a:pPr marL="0" indent="0">
                <a:buNone/>
              </a:pPr>
              <a:r>
                <a:rPr lang="en-US" sz="700" dirty="0">
                  <a:solidFill>
                    <a:srgbClr val="F97316"/>
                  </a:solidFill>
                </a:rPr>
                <a:t>Rapid commoditization of models below frontier tier.</a:t>
              </a:r>
              <a:endParaRPr lang="en-US" sz="700" dirty="0"/>
            </a:p>
          </p:txBody>
        </p:sp>
        <p:sp>
          <p:nvSpPr>
            <p:cNvPr id="98" name="Shape 96"/>
            <p:cNvSpPr/>
            <p:nvPr/>
          </p:nvSpPr>
          <p:spPr>
            <a:xfrm>
              <a:off x="3200400" y="3941064"/>
              <a:ext cx="713232" cy="219456"/>
            </a:xfrm>
            <a:prstGeom prst="roundRect">
              <a:avLst>
                <a:gd name="adj" fmla="val 16667"/>
              </a:avLst>
            </a:prstGeom>
            <a:solidFill>
              <a:srgbClr val="F59E0B">
                <a:alpha val="70000"/>
              </a:srgbClr>
            </a:solidFill>
            <a:ln/>
          </p:spPr>
        </p:sp>
        <p:sp>
          <p:nvSpPr>
            <p:cNvPr id="99" name="Text 97"/>
            <p:cNvSpPr/>
            <p:nvPr/>
          </p:nvSpPr>
          <p:spPr>
            <a:xfrm>
              <a:off x="3200400" y="3941064"/>
              <a:ext cx="713232" cy="219456"/>
            </a:xfrm>
            <a:prstGeom prst="rect">
              <a:avLst/>
            </a:prstGeom>
            <a:noFill/>
            <a:ln/>
          </p:spPr>
          <p:txBody>
            <a:bodyPr wrap="square" rtlCol="0" anchor="ctr"/>
            <a:lstStyle/>
            <a:p>
              <a:pPr marL="0" indent="0" algn="ctr">
                <a:buNone/>
              </a:pPr>
              <a:r>
                <a:rPr lang="en-US" sz="750" b="1" dirty="0">
                  <a:solidFill>
                    <a:srgbClr val="FFFFFF"/>
                  </a:solidFill>
                </a:rPr>
                <a:t>MED</a:t>
              </a:r>
              <a:endParaRPr lang="en-US" sz="750" dirty="0"/>
            </a:p>
          </p:txBody>
        </p:sp>
        <p:sp>
          <p:nvSpPr>
            <p:cNvPr id="100" name="Shape 98"/>
            <p:cNvSpPr/>
            <p:nvPr/>
          </p:nvSpPr>
          <p:spPr>
            <a:xfrm>
              <a:off x="4114800" y="3941064"/>
              <a:ext cx="713232" cy="219456"/>
            </a:xfrm>
            <a:prstGeom prst="roundRect">
              <a:avLst>
                <a:gd name="adj" fmla="val 16667"/>
              </a:avLst>
            </a:prstGeom>
            <a:solidFill>
              <a:srgbClr val="84CC16">
                <a:alpha val="70000"/>
              </a:srgbClr>
            </a:solidFill>
            <a:ln/>
          </p:spPr>
        </p:sp>
        <p:sp>
          <p:nvSpPr>
            <p:cNvPr id="101" name="Text 99"/>
            <p:cNvSpPr/>
            <p:nvPr/>
          </p:nvSpPr>
          <p:spPr>
            <a:xfrm>
              <a:off x="4114800" y="3941064"/>
              <a:ext cx="713232"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102" name="Shape 100"/>
            <p:cNvSpPr/>
            <p:nvPr/>
          </p:nvSpPr>
          <p:spPr>
            <a:xfrm>
              <a:off x="5029200" y="3941064"/>
              <a:ext cx="713232" cy="219456"/>
            </a:xfrm>
            <a:prstGeom prst="roundRect">
              <a:avLst>
                <a:gd name="adj" fmla="val 16667"/>
              </a:avLst>
            </a:prstGeom>
            <a:solidFill>
              <a:srgbClr val="10B981">
                <a:alpha val="70000"/>
              </a:srgbClr>
            </a:solidFill>
            <a:ln/>
          </p:spPr>
        </p:sp>
        <p:sp>
          <p:nvSpPr>
            <p:cNvPr id="103" name="Text 101"/>
            <p:cNvSpPr/>
            <p:nvPr/>
          </p:nvSpPr>
          <p:spPr>
            <a:xfrm>
              <a:off x="5029200" y="3941064"/>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104" name="Shape 102"/>
            <p:cNvSpPr/>
            <p:nvPr/>
          </p:nvSpPr>
          <p:spPr>
            <a:xfrm>
              <a:off x="5943600" y="3941064"/>
              <a:ext cx="713232" cy="219456"/>
            </a:xfrm>
            <a:prstGeom prst="roundRect">
              <a:avLst>
                <a:gd name="adj" fmla="val 16667"/>
              </a:avLst>
            </a:prstGeom>
            <a:solidFill>
              <a:srgbClr val="10B981">
                <a:alpha val="70000"/>
              </a:srgbClr>
            </a:solidFill>
            <a:ln/>
          </p:spPr>
        </p:sp>
        <p:sp>
          <p:nvSpPr>
            <p:cNvPr id="105" name="Text 103"/>
            <p:cNvSpPr/>
            <p:nvPr/>
          </p:nvSpPr>
          <p:spPr>
            <a:xfrm>
              <a:off x="5943600" y="3941064"/>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106" name="Text 104"/>
            <p:cNvSpPr/>
            <p:nvPr/>
          </p:nvSpPr>
          <p:spPr>
            <a:xfrm>
              <a:off x="6839712" y="3886200"/>
              <a:ext cx="1143000" cy="338328"/>
            </a:xfrm>
            <a:prstGeom prst="rect">
              <a:avLst/>
            </a:prstGeom>
            <a:noFill/>
            <a:ln/>
          </p:spPr>
          <p:txBody>
            <a:bodyPr wrap="square" lIns="0" tIns="0" rIns="0" bIns="0" rtlCol="0" anchor="ctr"/>
            <a:lstStyle/>
            <a:p>
              <a:pPr marL="0" indent="0">
                <a:buNone/>
              </a:pPr>
              <a:r>
                <a:rPr lang="en-US" sz="700" dirty="0"/>
                <a:t>AI co-pilots increase ARPU on existing SaaS. Deeply emb</a:t>
              </a:r>
            </a:p>
          </p:txBody>
        </p:sp>
        <p:sp>
          <p:nvSpPr>
            <p:cNvPr id="107" name="Text 105"/>
            <p:cNvSpPr/>
            <p:nvPr/>
          </p:nvSpPr>
          <p:spPr>
            <a:xfrm>
              <a:off x="8065008" y="3886200"/>
              <a:ext cx="1005840" cy="338328"/>
            </a:xfrm>
            <a:prstGeom prst="rect">
              <a:avLst/>
            </a:prstGeom>
            <a:noFill/>
            <a:ln/>
          </p:spPr>
          <p:txBody>
            <a:bodyPr wrap="square" lIns="0" tIns="0" rIns="0" bIns="0" rtlCol="0" anchor="ctr"/>
            <a:lstStyle/>
            <a:p>
              <a:pPr marL="0" indent="0">
                <a:buNone/>
              </a:pPr>
              <a:r>
                <a:rPr lang="en-US" sz="700" dirty="0">
                  <a:solidFill>
                    <a:srgbClr val="F97316"/>
                  </a:solidFill>
                </a:rPr>
                <a:t>Sales cycle length in enterprise (12-18 months). Macro </a:t>
              </a:r>
              <a:endParaRPr lang="en-US" sz="700" dirty="0"/>
            </a:p>
          </p:txBody>
        </p:sp>
        <p:sp>
          <p:nvSpPr>
            <p:cNvPr id="110" name="Shape 108"/>
            <p:cNvSpPr/>
            <p:nvPr/>
          </p:nvSpPr>
          <p:spPr>
            <a:xfrm>
              <a:off x="3200400" y="4297680"/>
              <a:ext cx="713232" cy="219456"/>
            </a:xfrm>
            <a:prstGeom prst="roundRect">
              <a:avLst>
                <a:gd name="adj" fmla="val 16667"/>
              </a:avLst>
            </a:prstGeom>
            <a:solidFill>
              <a:srgbClr val="F97316">
                <a:alpha val="70000"/>
              </a:srgbClr>
            </a:solidFill>
            <a:ln/>
          </p:spPr>
        </p:sp>
        <p:sp>
          <p:nvSpPr>
            <p:cNvPr id="111" name="Text 109"/>
            <p:cNvSpPr/>
            <p:nvPr/>
          </p:nvSpPr>
          <p:spPr>
            <a:xfrm>
              <a:off x="3200400" y="4297680"/>
              <a:ext cx="713232" cy="219456"/>
            </a:xfrm>
            <a:prstGeom prst="rect">
              <a:avLst/>
            </a:prstGeom>
            <a:noFill/>
            <a:ln/>
          </p:spPr>
          <p:txBody>
            <a:bodyPr wrap="square" rtlCol="0" anchor="ctr"/>
            <a:lstStyle/>
            <a:p>
              <a:pPr marL="0" indent="0" algn="ctr">
                <a:buNone/>
              </a:pPr>
              <a:r>
                <a:rPr lang="en-US" sz="750" b="1" dirty="0">
                  <a:solidFill>
                    <a:srgbClr val="FFFFFF"/>
                  </a:solidFill>
                </a:rPr>
                <a:t>LOW</a:t>
              </a:r>
              <a:endParaRPr lang="en-US" sz="750" dirty="0"/>
            </a:p>
          </p:txBody>
        </p:sp>
        <p:sp>
          <p:nvSpPr>
            <p:cNvPr id="112" name="Shape 110"/>
            <p:cNvSpPr/>
            <p:nvPr/>
          </p:nvSpPr>
          <p:spPr>
            <a:xfrm>
              <a:off x="4114800" y="4297680"/>
              <a:ext cx="713232" cy="219456"/>
            </a:xfrm>
            <a:prstGeom prst="roundRect">
              <a:avLst>
                <a:gd name="adj" fmla="val 16667"/>
              </a:avLst>
            </a:prstGeom>
            <a:solidFill>
              <a:srgbClr val="F59E0B">
                <a:alpha val="70000"/>
              </a:srgbClr>
            </a:solidFill>
            <a:ln/>
          </p:spPr>
        </p:sp>
        <p:sp>
          <p:nvSpPr>
            <p:cNvPr id="113" name="Text 111"/>
            <p:cNvSpPr/>
            <p:nvPr/>
          </p:nvSpPr>
          <p:spPr>
            <a:xfrm>
              <a:off x="4114800" y="4297680"/>
              <a:ext cx="713232" cy="219456"/>
            </a:xfrm>
            <a:prstGeom prst="rect">
              <a:avLst/>
            </a:prstGeom>
            <a:noFill/>
            <a:ln/>
          </p:spPr>
          <p:txBody>
            <a:bodyPr wrap="square" rtlCol="0" anchor="ctr"/>
            <a:lstStyle/>
            <a:p>
              <a:pPr marL="0" indent="0" algn="ctr">
                <a:buNone/>
              </a:pPr>
              <a:r>
                <a:rPr lang="en-US" sz="750" b="1" dirty="0">
                  <a:solidFill>
                    <a:srgbClr val="FFFFFF"/>
                  </a:solidFill>
                </a:rPr>
                <a:t>MED</a:t>
              </a:r>
              <a:endParaRPr lang="en-US" sz="750" dirty="0"/>
            </a:p>
          </p:txBody>
        </p:sp>
        <p:sp>
          <p:nvSpPr>
            <p:cNvPr id="114" name="Shape 112"/>
            <p:cNvSpPr/>
            <p:nvPr/>
          </p:nvSpPr>
          <p:spPr>
            <a:xfrm>
              <a:off x="5029200" y="4297680"/>
              <a:ext cx="713232" cy="219456"/>
            </a:xfrm>
            <a:prstGeom prst="roundRect">
              <a:avLst>
                <a:gd name="adj" fmla="val 16667"/>
              </a:avLst>
            </a:prstGeom>
            <a:solidFill>
              <a:srgbClr val="84CC16">
                <a:alpha val="70000"/>
              </a:srgbClr>
            </a:solidFill>
            <a:ln/>
          </p:spPr>
        </p:sp>
        <p:sp>
          <p:nvSpPr>
            <p:cNvPr id="115" name="Text 113"/>
            <p:cNvSpPr/>
            <p:nvPr/>
          </p:nvSpPr>
          <p:spPr>
            <a:xfrm>
              <a:off x="5029200" y="4297680"/>
              <a:ext cx="713232"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116" name="Shape 114"/>
            <p:cNvSpPr/>
            <p:nvPr/>
          </p:nvSpPr>
          <p:spPr>
            <a:xfrm>
              <a:off x="5943600" y="4297680"/>
              <a:ext cx="713232" cy="219456"/>
            </a:xfrm>
            <a:prstGeom prst="roundRect">
              <a:avLst>
                <a:gd name="adj" fmla="val 16667"/>
              </a:avLst>
            </a:prstGeom>
            <a:solidFill>
              <a:srgbClr val="10B981">
                <a:alpha val="70000"/>
              </a:srgbClr>
            </a:solidFill>
            <a:ln/>
          </p:spPr>
        </p:sp>
        <p:sp>
          <p:nvSpPr>
            <p:cNvPr id="117" name="Text 115"/>
            <p:cNvSpPr/>
            <p:nvPr/>
          </p:nvSpPr>
          <p:spPr>
            <a:xfrm>
              <a:off x="5943600" y="4297680"/>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118" name="Text 116"/>
            <p:cNvSpPr/>
            <p:nvPr/>
          </p:nvSpPr>
          <p:spPr>
            <a:xfrm>
              <a:off x="6839712" y="4242816"/>
              <a:ext cx="1143000" cy="338328"/>
            </a:xfrm>
            <a:prstGeom prst="rect">
              <a:avLst/>
            </a:prstGeom>
            <a:noFill/>
            <a:ln/>
          </p:spPr>
          <p:txBody>
            <a:bodyPr wrap="square" lIns="0" tIns="0" rIns="0" bIns="0" rtlCol="0" anchor="ctr"/>
            <a:lstStyle/>
            <a:p>
              <a:pPr marL="0" indent="0">
                <a:buNone/>
              </a:pPr>
              <a:r>
                <a:rPr lang="en-US" sz="700" dirty="0"/>
                <a:t>Labor demographics make automation irreversible. AI exp</a:t>
              </a:r>
            </a:p>
          </p:txBody>
        </p:sp>
        <p:sp>
          <p:nvSpPr>
            <p:cNvPr id="119" name="Text 117"/>
            <p:cNvSpPr/>
            <p:nvPr/>
          </p:nvSpPr>
          <p:spPr>
            <a:xfrm>
              <a:off x="8065008" y="4242816"/>
              <a:ext cx="1005840" cy="338328"/>
            </a:xfrm>
            <a:prstGeom prst="rect">
              <a:avLst/>
            </a:prstGeom>
            <a:noFill/>
            <a:ln/>
          </p:spPr>
          <p:txBody>
            <a:bodyPr wrap="square" lIns="0" tIns="0" rIns="0" bIns="0" rtlCol="0" anchor="ctr"/>
            <a:lstStyle/>
            <a:p>
              <a:pPr marL="0" indent="0">
                <a:buNone/>
              </a:pPr>
              <a:r>
                <a:rPr lang="en-US" sz="700" dirty="0">
                  <a:solidFill>
                    <a:srgbClr val="F97316"/>
                  </a:solidFill>
                </a:rPr>
                <a:t>Capex-sensitive: falls sharply in recessions (automotiv</a:t>
              </a:r>
              <a:endParaRPr lang="en-US" sz="700" dirty="0"/>
            </a:p>
          </p:txBody>
        </p:sp>
        <p:sp>
          <p:nvSpPr>
            <p:cNvPr id="122" name="Shape 120"/>
            <p:cNvSpPr/>
            <p:nvPr/>
          </p:nvSpPr>
          <p:spPr>
            <a:xfrm>
              <a:off x="3200400" y="4654296"/>
              <a:ext cx="713232" cy="219456"/>
            </a:xfrm>
            <a:prstGeom prst="roundRect">
              <a:avLst>
                <a:gd name="adj" fmla="val 16667"/>
              </a:avLst>
            </a:prstGeom>
            <a:solidFill>
              <a:srgbClr val="EF4444">
                <a:alpha val="70000"/>
              </a:srgbClr>
            </a:solidFill>
            <a:ln/>
          </p:spPr>
        </p:sp>
        <p:sp>
          <p:nvSpPr>
            <p:cNvPr id="123" name="Text 121"/>
            <p:cNvSpPr/>
            <p:nvPr/>
          </p:nvSpPr>
          <p:spPr>
            <a:xfrm>
              <a:off x="3200400" y="4654296"/>
              <a:ext cx="713232" cy="219456"/>
            </a:xfrm>
            <a:prstGeom prst="rect">
              <a:avLst/>
            </a:prstGeom>
            <a:noFill/>
            <a:ln/>
          </p:spPr>
          <p:txBody>
            <a:bodyPr wrap="square" rtlCol="0" anchor="ctr"/>
            <a:lstStyle/>
            <a:p>
              <a:pPr marL="0" indent="0" algn="ctr">
                <a:buNone/>
              </a:pPr>
              <a:r>
                <a:rPr lang="en-US" sz="750" b="1" dirty="0">
                  <a:solidFill>
                    <a:srgbClr val="FFFFFF"/>
                  </a:solidFill>
                </a:rPr>
                <a:t>EARLY</a:t>
              </a:r>
              <a:endParaRPr lang="en-US" sz="750" dirty="0"/>
            </a:p>
          </p:txBody>
        </p:sp>
        <p:sp>
          <p:nvSpPr>
            <p:cNvPr id="124" name="Shape 122"/>
            <p:cNvSpPr/>
            <p:nvPr/>
          </p:nvSpPr>
          <p:spPr>
            <a:xfrm>
              <a:off x="4114800" y="4654296"/>
              <a:ext cx="713232" cy="219456"/>
            </a:xfrm>
            <a:prstGeom prst="roundRect">
              <a:avLst>
                <a:gd name="adj" fmla="val 16667"/>
              </a:avLst>
            </a:prstGeom>
            <a:solidFill>
              <a:srgbClr val="EF4444">
                <a:alpha val="70000"/>
              </a:srgbClr>
            </a:solidFill>
            <a:ln/>
          </p:spPr>
        </p:sp>
        <p:sp>
          <p:nvSpPr>
            <p:cNvPr id="125" name="Text 123"/>
            <p:cNvSpPr/>
            <p:nvPr/>
          </p:nvSpPr>
          <p:spPr>
            <a:xfrm>
              <a:off x="4114800" y="4654296"/>
              <a:ext cx="713232" cy="219456"/>
            </a:xfrm>
            <a:prstGeom prst="rect">
              <a:avLst/>
            </a:prstGeom>
            <a:noFill/>
            <a:ln/>
          </p:spPr>
          <p:txBody>
            <a:bodyPr wrap="square" rtlCol="0" anchor="ctr"/>
            <a:lstStyle/>
            <a:p>
              <a:pPr marL="0" indent="0" algn="ctr">
                <a:buNone/>
              </a:pPr>
              <a:r>
                <a:rPr lang="en-US" sz="750" b="1" dirty="0">
                  <a:solidFill>
                    <a:srgbClr val="FFFFFF"/>
                  </a:solidFill>
                </a:rPr>
                <a:t>EARLY</a:t>
              </a:r>
              <a:endParaRPr lang="en-US" sz="750" dirty="0"/>
            </a:p>
          </p:txBody>
        </p:sp>
        <p:sp>
          <p:nvSpPr>
            <p:cNvPr id="126" name="Shape 124"/>
            <p:cNvSpPr/>
            <p:nvPr/>
          </p:nvSpPr>
          <p:spPr>
            <a:xfrm>
              <a:off x="5029200" y="4654296"/>
              <a:ext cx="713232" cy="219456"/>
            </a:xfrm>
            <a:prstGeom prst="roundRect">
              <a:avLst>
                <a:gd name="adj" fmla="val 16667"/>
              </a:avLst>
            </a:prstGeom>
            <a:solidFill>
              <a:srgbClr val="F59E0B">
                <a:alpha val="70000"/>
              </a:srgbClr>
            </a:solidFill>
            <a:ln/>
          </p:spPr>
        </p:sp>
        <p:sp>
          <p:nvSpPr>
            <p:cNvPr id="127" name="Text 125"/>
            <p:cNvSpPr/>
            <p:nvPr/>
          </p:nvSpPr>
          <p:spPr>
            <a:xfrm>
              <a:off x="5029200" y="4654296"/>
              <a:ext cx="713232" cy="219456"/>
            </a:xfrm>
            <a:prstGeom prst="rect">
              <a:avLst/>
            </a:prstGeom>
            <a:noFill/>
            <a:ln/>
          </p:spPr>
          <p:txBody>
            <a:bodyPr wrap="square" rtlCol="0" anchor="ctr"/>
            <a:lstStyle/>
            <a:p>
              <a:pPr marL="0" indent="0" algn="ctr">
                <a:buNone/>
              </a:pPr>
              <a:r>
                <a:rPr lang="en-US" sz="750" b="1" dirty="0">
                  <a:solidFill>
                    <a:srgbClr val="FFFFFF"/>
                  </a:solidFill>
                </a:rPr>
                <a:t>MED</a:t>
              </a:r>
              <a:endParaRPr lang="en-US" sz="750" dirty="0"/>
            </a:p>
          </p:txBody>
        </p:sp>
        <p:sp>
          <p:nvSpPr>
            <p:cNvPr id="128" name="Shape 126"/>
            <p:cNvSpPr/>
            <p:nvPr/>
          </p:nvSpPr>
          <p:spPr>
            <a:xfrm>
              <a:off x="5943600" y="4654296"/>
              <a:ext cx="713232" cy="219456"/>
            </a:xfrm>
            <a:prstGeom prst="roundRect">
              <a:avLst>
                <a:gd name="adj" fmla="val 16667"/>
              </a:avLst>
            </a:prstGeom>
            <a:solidFill>
              <a:srgbClr val="10B981">
                <a:alpha val="70000"/>
              </a:srgbClr>
            </a:solidFill>
            <a:ln/>
          </p:spPr>
        </p:sp>
        <p:sp>
          <p:nvSpPr>
            <p:cNvPr id="129" name="Text 127"/>
            <p:cNvSpPr/>
            <p:nvPr/>
          </p:nvSpPr>
          <p:spPr>
            <a:xfrm>
              <a:off x="5943600" y="4654296"/>
              <a:ext cx="713232" cy="219456"/>
            </a:xfrm>
            <a:prstGeom prst="rect">
              <a:avLst/>
            </a:prstGeom>
            <a:noFill/>
            <a:ln/>
          </p:spPr>
          <p:txBody>
            <a:bodyPr wrap="square" rtlCol="0" anchor="ctr"/>
            <a:lstStyle/>
            <a:p>
              <a:pPr marL="0" indent="0" algn="ctr">
                <a:buNone/>
              </a:pPr>
              <a:r>
                <a:rPr lang="en-US" sz="750" b="1" dirty="0">
                  <a:solidFill>
                    <a:srgbClr val="FFFFFF"/>
                  </a:solidFill>
                </a:rPr>
                <a:t>PEAK</a:t>
              </a:r>
              <a:endParaRPr lang="en-US" sz="750" dirty="0"/>
            </a:p>
          </p:txBody>
        </p:sp>
        <p:sp>
          <p:nvSpPr>
            <p:cNvPr id="130" name="Text 128"/>
            <p:cNvSpPr/>
            <p:nvPr/>
          </p:nvSpPr>
          <p:spPr>
            <a:xfrm>
              <a:off x="6839712" y="4599432"/>
              <a:ext cx="1143000" cy="338328"/>
            </a:xfrm>
            <a:prstGeom prst="rect">
              <a:avLst/>
            </a:prstGeom>
            <a:noFill/>
            <a:ln/>
          </p:spPr>
          <p:txBody>
            <a:bodyPr wrap="square" lIns="0" tIns="0" rIns="0" bIns="0" rtlCol="0" anchor="ctr"/>
            <a:lstStyle/>
            <a:p>
              <a:pPr marL="0" indent="0">
                <a:buNone/>
              </a:pPr>
              <a:r>
                <a:rPr lang="en-US" sz="700" dirty="0"/>
                <a:t>Labor economics + demographic shift create decade-long </a:t>
              </a:r>
            </a:p>
          </p:txBody>
        </p:sp>
        <p:sp>
          <p:nvSpPr>
            <p:cNvPr id="131" name="Text 129"/>
            <p:cNvSpPr/>
            <p:nvPr/>
          </p:nvSpPr>
          <p:spPr>
            <a:xfrm>
              <a:off x="8065008" y="4599432"/>
              <a:ext cx="1005840" cy="338328"/>
            </a:xfrm>
            <a:prstGeom prst="rect">
              <a:avLst/>
            </a:prstGeom>
            <a:noFill/>
            <a:ln/>
          </p:spPr>
          <p:txBody>
            <a:bodyPr wrap="square" lIns="0" tIns="0" rIns="0" bIns="0" rtlCol="0" anchor="ctr"/>
            <a:lstStyle/>
            <a:p>
              <a:pPr marL="0" indent="0">
                <a:buNone/>
              </a:pPr>
              <a:r>
                <a:rPr lang="en-US" sz="700" dirty="0">
                  <a:solidFill>
                    <a:srgbClr val="F97316"/>
                  </a:solidFill>
                </a:rPr>
                <a:t>Very early — dependent on cost curves, regulatory accep</a:t>
              </a:r>
              <a:endParaRPr lang="en-US" sz="700" dirty="0"/>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7">
    <p:bg>
      <p:bgPr>
        <a:solidFill>
          <a:srgbClr val="0D1226"/>
        </a:solidFill>
        <a:effectLst/>
      </p:bgPr>
    </p:bg>
    <p:spTree>
      <p:nvGrpSpPr>
        <p:cNvPr id="1" name=""/>
        <p:cNvGrpSpPr/>
        <p:nvPr/>
      </p:nvGrpSpPr>
      <p:grpSpPr>
        <a:xfrm>
          <a:off x="0" y="0"/>
          <a:ext cx="0" cy="0"/>
          <a:chOff x="0" y="0"/>
          <a:chExt cx="0" cy="0"/>
        </a:xfrm>
      </p:grpSpPr>
      <p:sp>
        <p:nvSpPr>
          <p:cNvPr id="2" name="Text 0"/>
          <p:cNvSpPr/>
          <p:nvPr/>
        </p:nvSpPr>
        <p:spPr>
          <a:xfrm>
            <a:off x="274320" y="137160"/>
            <a:ext cx="8595360" cy="365760"/>
          </a:xfrm>
          <a:prstGeom prst="rect">
            <a:avLst/>
          </a:prstGeom>
          <a:noFill/>
          <a:ln/>
        </p:spPr>
        <p:txBody>
          <a:bodyPr wrap="square" rtlCol="0" anchor="ctr"/>
          <a:lstStyle/>
          <a:p>
            <a:pPr marL="0" indent="0" algn="ctr">
              <a:buNone/>
            </a:pPr>
            <a:r>
              <a:rPr lang="en-US" sz="2200" b="1" dirty="0">
                <a:solidFill>
                  <a:srgbClr val="FFFFFF"/>
                </a:solidFill>
              </a:rPr>
              <a:t>SYNTHESIS: THE ANALYTICAL FRAMEWORK</a:t>
            </a:r>
            <a:endParaRPr lang="en-US" sz="2200" dirty="0"/>
          </a:p>
        </p:txBody>
      </p:sp>
      <p:sp>
        <p:nvSpPr>
          <p:cNvPr id="3" name="Text 1"/>
          <p:cNvSpPr/>
          <p:nvPr/>
        </p:nvSpPr>
        <p:spPr>
          <a:xfrm>
            <a:off x="274320" y="566928"/>
            <a:ext cx="8595360" cy="365760"/>
          </a:xfrm>
          <a:prstGeom prst="rect">
            <a:avLst/>
          </a:prstGeom>
          <a:noFill/>
          <a:ln/>
        </p:spPr>
        <p:txBody>
          <a:bodyPr wrap="square" rtlCol="0" anchor="ctr"/>
          <a:lstStyle/>
          <a:p>
            <a:pPr marL="0" indent="0" algn="ctr">
              <a:buNone/>
            </a:pPr>
            <a:r>
              <a:rPr lang="en-US" sz="1100" dirty="0">
                <a:solidFill>
                  <a:srgbClr val="06B6D4"/>
                </a:solidFill>
              </a:rPr>
              <a:t>How to think about the stack — questions to ask for any company claiming AI infrastructure exposure</a:t>
            </a:r>
            <a:endParaRPr lang="en-US" sz="1100" dirty="0"/>
          </a:p>
        </p:txBody>
      </p:sp>
      <p:sp>
        <p:nvSpPr>
          <p:cNvPr id="4" name="Shape 2"/>
          <p:cNvSpPr/>
          <p:nvPr/>
        </p:nvSpPr>
        <p:spPr>
          <a:xfrm>
            <a:off x="274320" y="960120"/>
            <a:ext cx="4160520" cy="1298448"/>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5" name="Shape 3"/>
          <p:cNvSpPr/>
          <p:nvPr/>
        </p:nvSpPr>
        <p:spPr>
          <a:xfrm>
            <a:off x="411480" y="1097280"/>
            <a:ext cx="256032" cy="256032"/>
          </a:xfrm>
          <a:prstGeom prst="ellipse">
            <a:avLst/>
          </a:prstGeom>
          <a:solidFill>
            <a:srgbClr val="F59E0B"/>
          </a:solidFill>
          <a:ln/>
        </p:spPr>
      </p:sp>
      <p:sp>
        <p:nvSpPr>
          <p:cNvPr id="6" name="Text 4"/>
          <p:cNvSpPr/>
          <p:nvPr/>
        </p:nvSpPr>
        <p:spPr>
          <a:xfrm>
            <a:off x="777240" y="1051560"/>
            <a:ext cx="3520440" cy="256032"/>
          </a:xfrm>
          <a:prstGeom prst="rect">
            <a:avLst/>
          </a:prstGeom>
          <a:noFill/>
          <a:ln/>
        </p:spPr>
        <p:txBody>
          <a:bodyPr wrap="square" lIns="0" tIns="0" rIns="0" bIns="0" rtlCol="0" anchor="ctr"/>
          <a:lstStyle/>
          <a:p>
            <a:pPr marL="0" indent="0">
              <a:buNone/>
            </a:pPr>
            <a:r>
              <a:rPr lang="en-US" sz="1200" b="1" dirty="0">
                <a:solidFill>
                  <a:srgbClr val="F59E0B"/>
                </a:solidFill>
              </a:rPr>
              <a:t>Follow the physics, not the headlines</a:t>
            </a:r>
            <a:endParaRPr lang="en-US" sz="1200" dirty="0"/>
          </a:p>
        </p:txBody>
      </p:sp>
      <p:sp>
        <p:nvSpPr>
          <p:cNvPr id="7" name="Text 5"/>
          <p:cNvSpPr/>
          <p:nvPr/>
        </p:nvSpPr>
        <p:spPr>
          <a:xfrm>
            <a:off x="411480" y="1399032"/>
            <a:ext cx="3886200" cy="804672"/>
          </a:xfrm>
          <a:prstGeom prst="rect">
            <a:avLst/>
          </a:prstGeom>
          <a:noFill/>
          <a:ln/>
        </p:spPr>
        <p:txBody>
          <a:bodyPr wrap="square" rtlCol="0" anchor="ctr"/>
          <a:lstStyle/>
          <a:p>
            <a:pPr marL="0" indent="0">
              <a:buNone/>
            </a:pPr>
            <a:r>
              <a:rPr lang="en-US" sz="1000" dirty="0">
                <a:solidFill>
                  <a:srgbClr val="E2E8F5"/>
                </a:solidFill>
              </a:rPr>
              <a:t>The most durable demand signals in this sector are physical constraints — power grid capacity, semiconductor yield curves, memory bandwidth limits. These cannot be "announced away" or conjured by marketing. When TSMC says a new fab takes 5 years to yield-up, believe them.</a:t>
            </a:r>
            <a:endParaRPr lang="en-US" sz="1000" dirty="0"/>
          </a:p>
        </p:txBody>
      </p:sp>
      <p:sp>
        <p:nvSpPr>
          <p:cNvPr id="8" name="Shape 6"/>
          <p:cNvSpPr/>
          <p:nvPr/>
        </p:nvSpPr>
        <p:spPr>
          <a:xfrm>
            <a:off x="4663440" y="960120"/>
            <a:ext cx="4160520" cy="1298448"/>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9" name="Shape 7"/>
          <p:cNvSpPr/>
          <p:nvPr/>
        </p:nvSpPr>
        <p:spPr>
          <a:xfrm>
            <a:off x="4800600" y="1097280"/>
            <a:ext cx="256032" cy="256032"/>
          </a:xfrm>
          <a:prstGeom prst="ellipse">
            <a:avLst/>
          </a:prstGeom>
          <a:solidFill>
            <a:srgbClr val="EF4444"/>
          </a:solidFill>
          <a:ln/>
        </p:spPr>
      </p:sp>
      <p:sp>
        <p:nvSpPr>
          <p:cNvPr id="10" name="Text 8"/>
          <p:cNvSpPr/>
          <p:nvPr/>
        </p:nvSpPr>
        <p:spPr>
          <a:xfrm>
            <a:off x="5166360" y="1051560"/>
            <a:ext cx="3520440" cy="256032"/>
          </a:xfrm>
          <a:prstGeom prst="rect">
            <a:avLst/>
          </a:prstGeom>
          <a:noFill/>
          <a:ln/>
        </p:spPr>
        <p:txBody>
          <a:bodyPr wrap="square" lIns="0" tIns="0" rIns="0" bIns="0" rtlCol="0" anchor="ctr"/>
          <a:lstStyle/>
          <a:p>
            <a:pPr marL="0" indent="0">
              <a:buNone/>
            </a:pPr>
            <a:r>
              <a:rPr lang="en-US" sz="1200" b="1" dirty="0">
                <a:solidFill>
                  <a:srgbClr val="EF4444"/>
                </a:solidFill>
              </a:rPr>
              <a:t>Identify the choke point in each layer</a:t>
            </a:r>
            <a:endParaRPr lang="en-US" sz="1200" dirty="0"/>
          </a:p>
        </p:txBody>
      </p:sp>
      <p:sp>
        <p:nvSpPr>
          <p:cNvPr id="11" name="Text 9"/>
          <p:cNvSpPr/>
          <p:nvPr/>
        </p:nvSpPr>
        <p:spPr>
          <a:xfrm>
            <a:off x="4800600" y="1399032"/>
            <a:ext cx="3886200" cy="804672"/>
          </a:xfrm>
          <a:prstGeom prst="rect">
            <a:avLst/>
          </a:prstGeom>
          <a:noFill/>
          <a:ln/>
        </p:spPr>
        <p:txBody>
          <a:bodyPr wrap="square" rtlCol="0" anchor="ctr"/>
          <a:lstStyle/>
          <a:p>
            <a:pPr marL="0" indent="0">
              <a:buNone/>
            </a:pPr>
            <a:r>
              <a:rPr lang="en-US" sz="1000" dirty="0">
                <a:solidFill>
                  <a:srgbClr val="E2E8F5"/>
                </a:solidFill>
              </a:rPr>
              <a:t>Every layer has a binding constraint. Energy: grid interconnection queues. Logic chips: TSMC and ASML capacity. HBM: SK Hynix TSV yield. Cloud: power availability. AI models: training data curation. Robotics: precision gearboxes, tactile sensors, battery energy density. The company that controls the choke point captures outsized value.</a:t>
            </a:r>
            <a:endParaRPr lang="en-US" sz="1000" dirty="0"/>
          </a:p>
        </p:txBody>
      </p:sp>
      <p:sp>
        <p:nvSpPr>
          <p:cNvPr id="12" name="Shape 10"/>
          <p:cNvSpPr/>
          <p:nvPr/>
        </p:nvSpPr>
        <p:spPr>
          <a:xfrm>
            <a:off x="274320" y="2331720"/>
            <a:ext cx="4160520" cy="1298448"/>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13" name="Shape 11"/>
          <p:cNvSpPr/>
          <p:nvPr/>
        </p:nvSpPr>
        <p:spPr>
          <a:xfrm>
            <a:off x="411480" y="2468880"/>
            <a:ext cx="256032" cy="256032"/>
          </a:xfrm>
          <a:prstGeom prst="ellipse">
            <a:avLst/>
          </a:prstGeom>
          <a:solidFill>
            <a:srgbClr val="A855F7"/>
          </a:solidFill>
          <a:ln/>
        </p:spPr>
      </p:sp>
      <p:sp>
        <p:nvSpPr>
          <p:cNvPr id="14" name="Text 12"/>
          <p:cNvSpPr/>
          <p:nvPr/>
        </p:nvSpPr>
        <p:spPr>
          <a:xfrm>
            <a:off x="777240" y="2423160"/>
            <a:ext cx="3520440" cy="256032"/>
          </a:xfrm>
          <a:prstGeom prst="rect">
            <a:avLst/>
          </a:prstGeom>
          <a:noFill/>
          <a:ln/>
        </p:spPr>
        <p:txBody>
          <a:bodyPr wrap="square" lIns="0" tIns="0" rIns="0" bIns="0" rtlCol="0" anchor="ctr"/>
          <a:lstStyle/>
          <a:p>
            <a:pPr marL="0" indent="0">
              <a:buNone/>
            </a:pPr>
            <a:r>
              <a:rPr lang="en-US" sz="1200" b="1" dirty="0">
                <a:solidFill>
                  <a:srgbClr val="A855F7"/>
                </a:solidFill>
              </a:rPr>
              <a:t>Ask: does AI expand or threaten this moat?</a:t>
            </a:r>
            <a:endParaRPr lang="en-US" sz="1200" dirty="0"/>
          </a:p>
        </p:txBody>
      </p:sp>
      <p:sp>
        <p:nvSpPr>
          <p:cNvPr id="15" name="Text 13"/>
          <p:cNvSpPr/>
          <p:nvPr/>
        </p:nvSpPr>
        <p:spPr>
          <a:xfrm>
            <a:off x="411480" y="2770632"/>
            <a:ext cx="3886200" cy="804672"/>
          </a:xfrm>
          <a:prstGeom prst="rect">
            <a:avLst/>
          </a:prstGeom>
          <a:noFill/>
          <a:ln/>
        </p:spPr>
        <p:txBody>
          <a:bodyPr wrap="square" rtlCol="0" anchor="ctr"/>
          <a:lstStyle/>
          <a:p>
            <a:pPr marL="0" indent="0">
              <a:buNone/>
            </a:pPr>
            <a:r>
              <a:rPr lang="en-US" sz="1000" dirty="0">
                <a:solidFill>
                  <a:srgbClr val="E2E8F5"/>
                </a:solidFill>
              </a:rPr>
              <a:t>For each business, the key question is whether AI makes their existing moat stronger or weaker. ServiceNow: AI strengthens (more complex workflows = more platform dependency). Commodity software vendors: AI threatens (LLMs reduce switching costs). TSMC: AI dramatically strengthens (more demand for advanced nodes, no new entrants possible).</a:t>
            </a:r>
            <a:endParaRPr lang="en-US" sz="1000" dirty="0"/>
          </a:p>
        </p:txBody>
      </p:sp>
      <p:sp>
        <p:nvSpPr>
          <p:cNvPr id="16" name="Shape 14"/>
          <p:cNvSpPr/>
          <p:nvPr/>
        </p:nvSpPr>
        <p:spPr>
          <a:xfrm>
            <a:off x="4663440" y="2331720"/>
            <a:ext cx="4160520" cy="1298448"/>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17" name="Shape 15"/>
          <p:cNvSpPr/>
          <p:nvPr/>
        </p:nvSpPr>
        <p:spPr>
          <a:xfrm>
            <a:off x="4800600" y="2468880"/>
            <a:ext cx="256032" cy="256032"/>
          </a:xfrm>
          <a:prstGeom prst="ellipse">
            <a:avLst/>
          </a:prstGeom>
          <a:solidFill>
            <a:srgbClr val="3B82F6"/>
          </a:solidFill>
          <a:ln/>
        </p:spPr>
      </p:sp>
      <p:sp>
        <p:nvSpPr>
          <p:cNvPr id="18" name="Text 16"/>
          <p:cNvSpPr/>
          <p:nvPr/>
        </p:nvSpPr>
        <p:spPr>
          <a:xfrm>
            <a:off x="5166360" y="2423160"/>
            <a:ext cx="3520440" cy="256032"/>
          </a:xfrm>
          <a:prstGeom prst="rect">
            <a:avLst/>
          </a:prstGeom>
          <a:noFill/>
          <a:ln/>
        </p:spPr>
        <p:txBody>
          <a:bodyPr wrap="square" lIns="0" tIns="0" rIns="0" bIns="0" rtlCol="0" anchor="ctr"/>
          <a:lstStyle/>
          <a:p>
            <a:pPr marL="0" indent="0">
              <a:buNone/>
            </a:pPr>
            <a:r>
              <a:rPr lang="en-US" sz="1200" b="1" dirty="0">
                <a:solidFill>
                  <a:srgbClr val="3B82F6"/>
                </a:solidFill>
              </a:rPr>
              <a:t>Distinguish training demand from inference demand</a:t>
            </a:r>
            <a:endParaRPr lang="en-US" sz="1200" dirty="0"/>
          </a:p>
        </p:txBody>
      </p:sp>
      <p:sp>
        <p:nvSpPr>
          <p:cNvPr id="19" name="Text 17"/>
          <p:cNvSpPr/>
          <p:nvPr/>
        </p:nvSpPr>
        <p:spPr>
          <a:xfrm>
            <a:off x="4800600" y="2770632"/>
            <a:ext cx="3886200" cy="804672"/>
          </a:xfrm>
          <a:prstGeom prst="rect">
            <a:avLst/>
          </a:prstGeom>
          <a:noFill/>
          <a:ln/>
        </p:spPr>
        <p:txBody>
          <a:bodyPr wrap="square" rtlCol="0" anchor="ctr"/>
          <a:lstStyle/>
          <a:p>
            <a:pPr marL="0" indent="0">
              <a:buNone/>
            </a:pPr>
            <a:r>
              <a:rPr lang="en-US" sz="1000" dirty="0">
                <a:solidFill>
                  <a:srgbClr val="E2E8F5"/>
                </a:solidFill>
              </a:rPr>
              <a:t>Training AI models requires the most powerful GPUs (NVIDIA H100/H200). Inference (serving the model to millions of users) can use cheaper hardware. Long-term, inference dominates compute spend (80:20). This matters because inference-optimized chips (Qualcomm, custom ASICs, even CPUs) can substitute for NVIDIA in the long run.</a:t>
            </a:r>
            <a:endParaRPr lang="en-US" sz="1000" dirty="0"/>
          </a:p>
        </p:txBody>
      </p:sp>
      <p:sp>
        <p:nvSpPr>
          <p:cNvPr id="20" name="Shape 18"/>
          <p:cNvSpPr/>
          <p:nvPr/>
        </p:nvSpPr>
        <p:spPr>
          <a:xfrm>
            <a:off x="274320" y="3703320"/>
            <a:ext cx="4160520" cy="1298448"/>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21" name="Shape 19"/>
          <p:cNvSpPr/>
          <p:nvPr/>
        </p:nvSpPr>
        <p:spPr>
          <a:xfrm>
            <a:off x="411480" y="3840480"/>
            <a:ext cx="256032" cy="256032"/>
          </a:xfrm>
          <a:prstGeom prst="ellipse">
            <a:avLst/>
          </a:prstGeom>
          <a:solidFill>
            <a:srgbClr val="10B981"/>
          </a:solidFill>
          <a:ln/>
        </p:spPr>
      </p:sp>
      <p:sp>
        <p:nvSpPr>
          <p:cNvPr id="22" name="Text 20"/>
          <p:cNvSpPr/>
          <p:nvPr/>
        </p:nvSpPr>
        <p:spPr>
          <a:xfrm>
            <a:off x="777240" y="3794760"/>
            <a:ext cx="3520440" cy="256032"/>
          </a:xfrm>
          <a:prstGeom prst="rect">
            <a:avLst/>
          </a:prstGeom>
          <a:noFill/>
          <a:ln/>
        </p:spPr>
        <p:txBody>
          <a:bodyPr wrap="square" lIns="0" tIns="0" rIns="0" bIns="0" rtlCol="0" anchor="ctr"/>
          <a:lstStyle/>
          <a:p>
            <a:pPr marL="0" indent="0">
              <a:buNone/>
            </a:pPr>
            <a:r>
              <a:rPr lang="en-US" sz="1200" b="1" dirty="0">
                <a:solidFill>
                  <a:srgbClr val="10B981"/>
                </a:solidFill>
              </a:rPr>
              <a:t>For robotics: follow the cost curve, not the demo</a:t>
            </a:r>
            <a:endParaRPr lang="en-US" sz="1200" dirty="0"/>
          </a:p>
        </p:txBody>
      </p:sp>
      <p:sp>
        <p:nvSpPr>
          <p:cNvPr id="23" name="Text 21"/>
          <p:cNvSpPr/>
          <p:nvPr/>
        </p:nvSpPr>
        <p:spPr>
          <a:xfrm>
            <a:off x="411480" y="4142232"/>
            <a:ext cx="3886200" cy="804672"/>
          </a:xfrm>
          <a:prstGeom prst="rect">
            <a:avLst/>
          </a:prstGeom>
          <a:noFill/>
          <a:ln/>
        </p:spPr>
        <p:txBody>
          <a:bodyPr wrap="square" rtlCol="0" anchor="ctr"/>
          <a:lstStyle/>
          <a:p>
            <a:pPr marL="0" indent="0">
              <a:buNone/>
            </a:pPr>
            <a:r>
              <a:rPr lang="en-US" sz="1000" dirty="0">
                <a:solidFill>
                  <a:srgbClr val="E2E8F5"/>
                </a:solidFill>
              </a:rPr>
              <a:t>Robot demos are spectacular and meaningless. The relevant question is: at what cost-per-unit does this application become economically rational? Warehouse AMRs crossed that threshold at ~$15K/unit. Humanoids require ~$20K/unit. Current cost: $100-150K. Until the cost curve delivers, humanoids are an R&amp;D story, not a commercial story.</a:t>
            </a:r>
            <a:endParaRPr lang="en-US" sz="1000" dirty="0"/>
          </a:p>
        </p:txBody>
      </p:sp>
      <p:sp>
        <p:nvSpPr>
          <p:cNvPr id="24" name="Shape 22"/>
          <p:cNvSpPr/>
          <p:nvPr/>
        </p:nvSpPr>
        <p:spPr>
          <a:xfrm>
            <a:off x="4663440" y="3703320"/>
            <a:ext cx="4160520" cy="1298448"/>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25" name="Shape 23"/>
          <p:cNvSpPr/>
          <p:nvPr/>
        </p:nvSpPr>
        <p:spPr>
          <a:xfrm>
            <a:off x="4800600" y="3840480"/>
            <a:ext cx="256032" cy="256032"/>
          </a:xfrm>
          <a:prstGeom prst="ellipse">
            <a:avLst/>
          </a:prstGeom>
          <a:solidFill>
            <a:srgbClr val="0D9488"/>
          </a:solidFill>
          <a:ln/>
        </p:spPr>
      </p:sp>
      <p:sp>
        <p:nvSpPr>
          <p:cNvPr id="26" name="Text 24"/>
          <p:cNvSpPr/>
          <p:nvPr/>
        </p:nvSpPr>
        <p:spPr>
          <a:xfrm>
            <a:off x="5166360" y="3794760"/>
            <a:ext cx="3520440" cy="256032"/>
          </a:xfrm>
          <a:prstGeom prst="rect">
            <a:avLst/>
          </a:prstGeom>
          <a:noFill/>
          <a:ln/>
        </p:spPr>
        <p:txBody>
          <a:bodyPr wrap="square" lIns="0" tIns="0" rIns="0" bIns="0" rtlCol="0" anchor="ctr"/>
          <a:lstStyle/>
          <a:p>
            <a:pPr marL="0" indent="0">
              <a:buNone/>
            </a:pPr>
            <a:r>
              <a:rPr lang="en-US" sz="1200" b="1" dirty="0">
                <a:solidFill>
                  <a:srgbClr val="0D9488"/>
                </a:solidFill>
              </a:rPr>
              <a:t>Map the supply chain before assessing demand</a:t>
            </a:r>
            <a:endParaRPr lang="en-US" sz="1200" dirty="0"/>
          </a:p>
        </p:txBody>
      </p:sp>
      <p:sp>
        <p:nvSpPr>
          <p:cNvPr id="27" name="Text 25"/>
          <p:cNvSpPr/>
          <p:nvPr/>
        </p:nvSpPr>
        <p:spPr>
          <a:xfrm>
            <a:off x="4800600" y="4142232"/>
            <a:ext cx="3886200" cy="804672"/>
          </a:xfrm>
          <a:prstGeom prst="rect">
            <a:avLst/>
          </a:prstGeom>
          <a:noFill/>
          <a:ln/>
        </p:spPr>
        <p:txBody>
          <a:bodyPr wrap="square" rtlCol="0" anchor="ctr"/>
          <a:lstStyle/>
          <a:p>
            <a:pPr marL="0" indent="0">
              <a:buNone/>
            </a:pPr>
            <a:r>
              <a:rPr lang="en-US" sz="1000" dirty="0">
                <a:solidFill>
                  <a:srgbClr val="E2E8F5"/>
                </a:solidFill>
              </a:rPr>
              <a:t>Every bullish AI narrative has a supply chain somewhere that limits how fast it can happen. Power grid: 5-7 year expansion cycle. TSMC advanced node: 2-3 year capacity expansion lead time. HBM: 3-year new fab construction. Robotic gearboxes: 50-year Japanese monopoly. Understanding these timelines prevents overestimating near-term growth rates.</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6B6D4">
              <a:alpha val="80000"/>
            </a:srgbClr>
          </a:solidFill>
          <a:ln/>
        </p:spPr>
      </p:sp>
      <p:sp>
        <p:nvSpPr>
          <p:cNvPr id="3" name="Shape 1"/>
          <p:cNvSpPr/>
          <p:nvPr/>
        </p:nvSpPr>
        <p:spPr>
          <a:xfrm>
            <a:off x="0" y="0"/>
            <a:ext cx="9144000" cy="64008"/>
          </a:xfrm>
          <a:prstGeom prst="rect">
            <a:avLst/>
          </a:prstGeom>
          <a:solidFill>
            <a:srgbClr val="06B6D4"/>
          </a:solidFill>
          <a:ln/>
        </p:spPr>
      </p:sp>
      <p:sp>
        <p:nvSpPr>
          <p:cNvPr id="4" name="Text 2"/>
          <p:cNvSpPr/>
          <p:nvPr/>
        </p:nvSpPr>
        <p:spPr>
          <a:xfrm>
            <a:off x="182880" y="64008"/>
            <a:ext cx="8778240" cy="548640"/>
          </a:xfrm>
          <a:prstGeom prst="rect">
            <a:avLst/>
          </a:prstGeom>
          <a:noFill/>
          <a:ln/>
        </p:spPr>
        <p:txBody>
          <a:bodyPr wrap="square" rtlCol="0" anchor="ctr"/>
          <a:lstStyle/>
          <a:p>
            <a:pPr marL="0" indent="0">
              <a:buNone/>
            </a:pPr>
            <a:r>
              <a:rPr lang="en-US" sz="1300" b="1" dirty="0">
                <a:solidFill>
                  <a:srgbClr val="FFFFFF"/>
                </a:solidFill>
              </a:rPr>
              <a:t>SECTOR MONITORING FRAMEWORK — KPIs &amp; SIGNAL HIERARCHY</a:t>
            </a:r>
            <a:endParaRPr lang="en-US" sz="1300" dirty="0"/>
          </a:p>
        </p:txBody>
      </p:sp>
      <p:sp>
        <p:nvSpPr>
          <p:cNvPr id="5" name="Text 3"/>
          <p:cNvSpPr/>
          <p:nvPr/>
        </p:nvSpPr>
        <p:spPr>
          <a:xfrm>
            <a:off x="182880" y="667512"/>
            <a:ext cx="8778240" cy="274320"/>
          </a:xfrm>
          <a:prstGeom prst="rect">
            <a:avLst/>
          </a:prstGeom>
          <a:noFill/>
          <a:ln/>
        </p:spPr>
        <p:txBody>
          <a:bodyPr wrap="square" rtlCol="0" anchor="ctr"/>
          <a:lstStyle/>
          <a:p>
            <a:pPr marL="0" indent="0">
              <a:buNone/>
            </a:pPr>
            <a:r>
              <a:rPr lang="en-US" sz="1100" i="1" dirty="0">
                <a:solidFill>
                  <a:srgbClr val="06B6D4"/>
                </a:solidFill>
              </a:rPr>
              <a:t>What to watch each quarter to track whether the Physical AI super-cycle thesis is intact</a:t>
            </a:r>
            <a:endParaRPr lang="en-US" sz="1100" dirty="0"/>
          </a:p>
        </p:txBody>
      </p:sp>
      <p:sp>
        <p:nvSpPr>
          <p:cNvPr id="6" name="Shape 4"/>
          <p:cNvSpPr/>
          <p:nvPr/>
        </p:nvSpPr>
        <p:spPr>
          <a:xfrm>
            <a:off x="182880" y="1024128"/>
            <a:ext cx="4343400" cy="1920240"/>
          </a:xfrm>
          <a:prstGeom prst="rect">
            <a:avLst/>
          </a:prstGeom>
          <a:solidFill>
            <a:srgbClr val="0F1F3D"/>
          </a:solidFill>
          <a:ln/>
          <a:effectLst>
            <a:outerShdw blurRad="127000" dist="50800" dir="8100000" algn="bl" rotWithShape="0">
              <a:srgbClr val="000000">
                <a:alpha val="25000"/>
              </a:srgbClr>
            </a:outerShdw>
          </a:effectLst>
        </p:spPr>
      </p:sp>
      <p:sp>
        <p:nvSpPr>
          <p:cNvPr id="7" name="Shape 5"/>
          <p:cNvSpPr/>
          <p:nvPr/>
        </p:nvSpPr>
        <p:spPr>
          <a:xfrm>
            <a:off x="182880" y="1024128"/>
            <a:ext cx="4343400" cy="301752"/>
          </a:xfrm>
          <a:prstGeom prst="rect">
            <a:avLst/>
          </a:prstGeom>
          <a:solidFill>
            <a:srgbClr val="1D4ED8"/>
          </a:solidFill>
          <a:ln/>
        </p:spPr>
      </p:sp>
      <p:sp>
        <p:nvSpPr>
          <p:cNvPr id="8" name="Text 6"/>
          <p:cNvSpPr/>
          <p:nvPr/>
        </p:nvSpPr>
        <p:spPr>
          <a:xfrm>
            <a:off x="256032" y="1024128"/>
            <a:ext cx="4197096" cy="301752"/>
          </a:xfrm>
          <a:prstGeom prst="rect">
            <a:avLst/>
          </a:prstGeom>
          <a:noFill/>
          <a:ln/>
        </p:spPr>
        <p:txBody>
          <a:bodyPr wrap="square" rtlCol="0" anchor="ctr"/>
          <a:lstStyle/>
          <a:p>
            <a:pPr marL="0" indent="0">
              <a:buNone/>
            </a:pPr>
            <a:r>
              <a:rPr lang="en-US" sz="1050" b="1" dirty="0">
                <a:solidFill>
                  <a:srgbClr val="FFFFFF"/>
                </a:solidFill>
              </a:rPr>
              <a:t>AI Infrastructure Signals</a:t>
            </a:r>
            <a:endParaRPr lang="en-US" sz="1050" dirty="0"/>
          </a:p>
        </p:txBody>
      </p:sp>
      <p:sp>
        <p:nvSpPr>
          <p:cNvPr id="9" name="Text 7"/>
          <p:cNvSpPr/>
          <p:nvPr/>
        </p:nvSpPr>
        <p:spPr>
          <a:xfrm>
            <a:off x="274320" y="135331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Hyperscaler capex guidance — $700B committed; any reduction = demand signal reversal</a:t>
            </a:r>
            <a:endParaRPr lang="en-US" sz="900" dirty="0"/>
          </a:p>
        </p:txBody>
      </p:sp>
      <p:sp>
        <p:nvSpPr>
          <p:cNvPr id="10" name="Text 8"/>
          <p:cNvSpPr/>
          <p:nvPr/>
        </p:nvSpPr>
        <p:spPr>
          <a:xfrm>
            <a:off x="274320" y="167335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NVIDIA Blackwell GPU shipment volumes and ASP (average selling price) trends</a:t>
            </a:r>
            <a:endParaRPr lang="en-US" sz="900" dirty="0"/>
          </a:p>
        </p:txBody>
      </p:sp>
      <p:sp>
        <p:nvSpPr>
          <p:cNvPr id="11" name="Text 9"/>
          <p:cNvSpPr/>
          <p:nvPr/>
        </p:nvSpPr>
        <p:spPr>
          <a:xfrm>
            <a:off x="274320" y="199339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Data center power availability — binding constraint for 2026–2027 deployment</a:t>
            </a:r>
            <a:endParaRPr lang="en-US" sz="900" dirty="0"/>
          </a:p>
        </p:txBody>
      </p:sp>
      <p:sp>
        <p:nvSpPr>
          <p:cNvPr id="12" name="Text 10"/>
          <p:cNvSpPr/>
          <p:nvPr/>
        </p:nvSpPr>
        <p:spPr>
          <a:xfrm>
            <a:off x="274320" y="231343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NVIDIA gross margin trajectory — pricing power indicator vs AMD/custom silicon</a:t>
            </a:r>
            <a:endParaRPr lang="en-US" sz="900" dirty="0"/>
          </a:p>
        </p:txBody>
      </p:sp>
      <p:sp>
        <p:nvSpPr>
          <p:cNvPr id="13" name="Text 11"/>
          <p:cNvSpPr/>
          <p:nvPr/>
        </p:nvSpPr>
        <p:spPr>
          <a:xfrm>
            <a:off x="274320" y="263347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Cloud AI revenue (AWS, Azure, GCP) growing faster than capex = ROI proof</a:t>
            </a:r>
            <a:endParaRPr lang="en-US" sz="900" dirty="0"/>
          </a:p>
        </p:txBody>
      </p:sp>
      <p:sp>
        <p:nvSpPr>
          <p:cNvPr id="14" name="Shape 12"/>
          <p:cNvSpPr/>
          <p:nvPr/>
        </p:nvSpPr>
        <p:spPr>
          <a:xfrm>
            <a:off x="4681728" y="1024128"/>
            <a:ext cx="4343400" cy="1920240"/>
          </a:xfrm>
          <a:prstGeom prst="rect">
            <a:avLst/>
          </a:prstGeom>
          <a:solidFill>
            <a:srgbClr val="0F1F3D"/>
          </a:solidFill>
          <a:ln/>
          <a:effectLst>
            <a:outerShdw blurRad="127000" dist="50800" dir="8100000" algn="bl" rotWithShape="0">
              <a:srgbClr val="000000">
                <a:alpha val="25000"/>
              </a:srgbClr>
            </a:outerShdw>
          </a:effectLst>
        </p:spPr>
      </p:sp>
      <p:sp>
        <p:nvSpPr>
          <p:cNvPr id="15" name="Shape 13"/>
          <p:cNvSpPr/>
          <p:nvPr/>
        </p:nvSpPr>
        <p:spPr>
          <a:xfrm>
            <a:off x="4681728" y="1024128"/>
            <a:ext cx="4343400" cy="301752"/>
          </a:xfrm>
          <a:prstGeom prst="rect">
            <a:avLst/>
          </a:prstGeom>
          <a:solidFill>
            <a:srgbClr val="F97316"/>
          </a:solidFill>
          <a:ln/>
        </p:spPr>
      </p:sp>
      <p:sp>
        <p:nvSpPr>
          <p:cNvPr id="16" name="Text 14"/>
          <p:cNvSpPr/>
          <p:nvPr/>
        </p:nvSpPr>
        <p:spPr>
          <a:xfrm>
            <a:off x="4754880" y="1024128"/>
            <a:ext cx="4197096" cy="301752"/>
          </a:xfrm>
          <a:prstGeom prst="rect">
            <a:avLst/>
          </a:prstGeom>
          <a:noFill/>
          <a:ln/>
        </p:spPr>
        <p:txBody>
          <a:bodyPr wrap="square" rtlCol="0" anchor="ctr"/>
          <a:lstStyle/>
          <a:p>
            <a:pPr marL="0" indent="0">
              <a:buNone/>
            </a:pPr>
            <a:r>
              <a:rPr lang="en-US" sz="1050" b="1" dirty="0">
                <a:solidFill>
                  <a:srgbClr val="FFFFFF"/>
                </a:solidFill>
              </a:rPr>
              <a:t>Humanoid Robot Production KPIs</a:t>
            </a:r>
            <a:endParaRPr lang="en-US" sz="1050" dirty="0"/>
          </a:p>
        </p:txBody>
      </p:sp>
      <p:sp>
        <p:nvSpPr>
          <p:cNvPr id="17" name="Text 15"/>
          <p:cNvSpPr/>
          <p:nvPr/>
        </p:nvSpPr>
        <p:spPr>
          <a:xfrm>
            <a:off x="4773168" y="135331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Unit production announcements: Tesla (internal fleet size), Figure (BotQ throughput)</a:t>
            </a:r>
            <a:endParaRPr lang="en-US" sz="900" dirty="0"/>
          </a:p>
        </p:txBody>
      </p:sp>
      <p:sp>
        <p:nvSpPr>
          <p:cNvPr id="18" name="Text 16"/>
          <p:cNvSpPr/>
          <p:nvPr/>
        </p:nvSpPr>
        <p:spPr>
          <a:xfrm>
            <a:off x="4773168" y="167335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Pilot-to-deployment conversion: BMW, Amazon, Hyundai pilot results → scale decisions</a:t>
            </a:r>
            <a:endParaRPr lang="en-US" sz="900" dirty="0"/>
          </a:p>
        </p:txBody>
      </p:sp>
      <p:sp>
        <p:nvSpPr>
          <p:cNvPr id="19" name="Text 17"/>
          <p:cNvSpPr/>
          <p:nvPr/>
        </p:nvSpPr>
        <p:spPr>
          <a:xfrm>
            <a:off x="4773168" y="199339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Cost per unit trajectory — target $20–30K requires economies of scale proof</a:t>
            </a:r>
            <a:endParaRPr lang="en-US" sz="900" dirty="0"/>
          </a:p>
        </p:txBody>
      </p:sp>
      <p:sp>
        <p:nvSpPr>
          <p:cNvPr id="20" name="Text 18"/>
          <p:cNvSpPr/>
          <p:nvPr/>
        </p:nvSpPr>
        <p:spPr>
          <a:xfrm>
            <a:off x="4773168" y="231343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Actuator &amp; battery reliability data — MTBF (mean time between failures) in production</a:t>
            </a:r>
            <a:endParaRPr lang="en-US" sz="900" dirty="0"/>
          </a:p>
        </p:txBody>
      </p:sp>
      <p:sp>
        <p:nvSpPr>
          <p:cNvPr id="21" name="Text 19"/>
          <p:cNvSpPr/>
          <p:nvPr/>
        </p:nvSpPr>
        <p:spPr>
          <a:xfrm>
            <a:off x="4773168" y="263347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Funding rounds &amp; valuations — Figure AI at $39B; next round signals market confidence</a:t>
            </a:r>
            <a:endParaRPr lang="en-US" sz="900" dirty="0"/>
          </a:p>
        </p:txBody>
      </p:sp>
      <p:sp>
        <p:nvSpPr>
          <p:cNvPr id="22" name="Shape 20"/>
          <p:cNvSpPr/>
          <p:nvPr/>
        </p:nvSpPr>
        <p:spPr>
          <a:xfrm>
            <a:off x="182880" y="3035808"/>
            <a:ext cx="4343400" cy="1920240"/>
          </a:xfrm>
          <a:prstGeom prst="rect">
            <a:avLst/>
          </a:prstGeom>
          <a:solidFill>
            <a:srgbClr val="0F1F3D"/>
          </a:solidFill>
          <a:ln/>
          <a:effectLst>
            <a:outerShdw blurRad="127000" dist="50800" dir="8100000" algn="bl" rotWithShape="0">
              <a:srgbClr val="000000">
                <a:alpha val="25000"/>
              </a:srgbClr>
            </a:outerShdw>
          </a:effectLst>
        </p:spPr>
      </p:sp>
      <p:sp>
        <p:nvSpPr>
          <p:cNvPr id="23" name="Shape 21"/>
          <p:cNvSpPr/>
          <p:nvPr/>
        </p:nvSpPr>
        <p:spPr>
          <a:xfrm>
            <a:off x="182880" y="3035808"/>
            <a:ext cx="4343400" cy="301752"/>
          </a:xfrm>
          <a:prstGeom prst="rect">
            <a:avLst/>
          </a:prstGeom>
          <a:solidFill>
            <a:srgbClr val="7C3AED"/>
          </a:solidFill>
          <a:ln/>
        </p:spPr>
      </p:sp>
      <p:sp>
        <p:nvSpPr>
          <p:cNvPr id="24" name="Text 22"/>
          <p:cNvSpPr/>
          <p:nvPr/>
        </p:nvSpPr>
        <p:spPr>
          <a:xfrm>
            <a:off x="256032" y="3035808"/>
            <a:ext cx="4197096" cy="301752"/>
          </a:xfrm>
          <a:prstGeom prst="rect">
            <a:avLst/>
          </a:prstGeom>
          <a:noFill/>
          <a:ln/>
        </p:spPr>
        <p:txBody>
          <a:bodyPr wrap="square" rtlCol="0" anchor="ctr"/>
          <a:lstStyle/>
          <a:p>
            <a:pPr marL="0" indent="0">
              <a:buNone/>
            </a:pPr>
            <a:r>
              <a:rPr lang="en-US" sz="1050" b="1" dirty="0">
                <a:solidFill>
                  <a:srgbClr val="FFFFFF"/>
                </a:solidFill>
              </a:rPr>
              <a:t>Enterprise AI Adoption (Palantir-style)</a:t>
            </a:r>
            <a:endParaRPr lang="en-US" sz="1050" dirty="0"/>
          </a:p>
        </p:txBody>
      </p:sp>
      <p:sp>
        <p:nvSpPr>
          <p:cNvPr id="25" name="Text 23"/>
          <p:cNvSpPr/>
          <p:nvPr/>
        </p:nvSpPr>
        <p:spPr>
          <a:xfrm>
            <a:off x="274320" y="336499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AIP US commercial deal count: 200+ deals/quarter ≥$1M is the floor to maintain</a:t>
            </a:r>
            <a:endParaRPr lang="en-US" sz="900" dirty="0"/>
          </a:p>
        </p:txBody>
      </p:sp>
      <p:sp>
        <p:nvSpPr>
          <p:cNvPr id="26" name="Text 24"/>
          <p:cNvSpPr/>
          <p:nvPr/>
        </p:nvSpPr>
        <p:spPr>
          <a:xfrm>
            <a:off x="274320" y="368503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Government contract wins: TITAN deployment, USDA deal replication, NATO expansion</a:t>
            </a:r>
            <a:endParaRPr lang="en-US" sz="900" dirty="0"/>
          </a:p>
        </p:txBody>
      </p:sp>
      <p:sp>
        <p:nvSpPr>
          <p:cNvPr id="27" name="Text 25"/>
          <p:cNvSpPr/>
          <p:nvPr/>
        </p:nvSpPr>
        <p:spPr>
          <a:xfrm>
            <a:off x="274320" y="400507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Rule of 40 score sustainability — 145% is extraordinary; watch for deceleration</a:t>
            </a:r>
            <a:endParaRPr lang="en-US" sz="900" dirty="0"/>
          </a:p>
        </p:txBody>
      </p:sp>
      <p:sp>
        <p:nvSpPr>
          <p:cNvPr id="28" name="Text 26"/>
          <p:cNvSpPr/>
          <p:nvPr/>
        </p:nvSpPr>
        <p:spPr>
          <a:xfrm>
            <a:off x="274320" y="432511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AIP bootcamp conversion rates — does the 5-day→$1M+ deal model scale internationally?</a:t>
            </a:r>
            <a:endParaRPr lang="en-US" sz="900" dirty="0"/>
          </a:p>
        </p:txBody>
      </p:sp>
      <p:sp>
        <p:nvSpPr>
          <p:cNvPr id="29" name="Text 27"/>
          <p:cNvSpPr/>
          <p:nvPr/>
        </p:nvSpPr>
        <p:spPr>
          <a:xfrm>
            <a:off x="274320" y="464515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International commercial revenue growth — currently lagging US; acceleration = upside</a:t>
            </a:r>
            <a:endParaRPr lang="en-US" sz="900" dirty="0"/>
          </a:p>
        </p:txBody>
      </p:sp>
      <p:sp>
        <p:nvSpPr>
          <p:cNvPr id="30" name="Shape 28"/>
          <p:cNvSpPr/>
          <p:nvPr/>
        </p:nvSpPr>
        <p:spPr>
          <a:xfrm>
            <a:off x="4681728" y="3035808"/>
            <a:ext cx="4343400" cy="1920240"/>
          </a:xfrm>
          <a:prstGeom prst="rect">
            <a:avLst/>
          </a:prstGeom>
          <a:solidFill>
            <a:srgbClr val="0F1F3D"/>
          </a:solidFill>
          <a:ln/>
          <a:effectLst>
            <a:outerShdw blurRad="127000" dist="50800" dir="8100000" algn="bl" rotWithShape="0">
              <a:srgbClr val="000000">
                <a:alpha val="25000"/>
              </a:srgbClr>
            </a:outerShdw>
          </a:effectLst>
        </p:spPr>
      </p:sp>
      <p:sp>
        <p:nvSpPr>
          <p:cNvPr id="31" name="Shape 29"/>
          <p:cNvSpPr/>
          <p:nvPr/>
        </p:nvSpPr>
        <p:spPr>
          <a:xfrm>
            <a:off x="4681728" y="3035808"/>
            <a:ext cx="4343400" cy="301752"/>
          </a:xfrm>
          <a:prstGeom prst="rect">
            <a:avLst/>
          </a:prstGeom>
          <a:solidFill>
            <a:srgbClr val="F59E0B"/>
          </a:solidFill>
          <a:ln/>
        </p:spPr>
      </p:sp>
      <p:sp>
        <p:nvSpPr>
          <p:cNvPr id="32" name="Text 30"/>
          <p:cNvSpPr/>
          <p:nvPr/>
        </p:nvSpPr>
        <p:spPr>
          <a:xfrm>
            <a:off x="4754880" y="3035808"/>
            <a:ext cx="4197096" cy="301752"/>
          </a:xfrm>
          <a:prstGeom prst="rect">
            <a:avLst/>
          </a:prstGeom>
          <a:noFill/>
          <a:ln/>
        </p:spPr>
        <p:txBody>
          <a:bodyPr wrap="square" rtlCol="0" anchor="ctr"/>
          <a:lstStyle/>
          <a:p>
            <a:pPr marL="0" indent="0">
              <a:buNone/>
            </a:pPr>
            <a:r>
              <a:rPr lang="en-US" sz="1050" b="1" dirty="0">
                <a:solidFill>
                  <a:srgbClr val="FFFFFF"/>
                </a:solidFill>
              </a:rPr>
              <a:t>Surgical &amp; Medical Robotics</a:t>
            </a:r>
            <a:endParaRPr lang="en-US" sz="1050" dirty="0"/>
          </a:p>
        </p:txBody>
      </p:sp>
      <p:sp>
        <p:nvSpPr>
          <p:cNvPr id="33" name="Text 31"/>
          <p:cNvSpPr/>
          <p:nvPr/>
        </p:nvSpPr>
        <p:spPr>
          <a:xfrm>
            <a:off x="4773168" y="336499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ISRG: da Vinci procedure growth rate — FY2026 guide 13–15% is the floor to track</a:t>
            </a:r>
            <a:endParaRPr lang="en-US" sz="900" dirty="0"/>
          </a:p>
        </p:txBody>
      </p:sp>
      <p:sp>
        <p:nvSpPr>
          <p:cNvPr id="34" name="Text 32"/>
          <p:cNvSpPr/>
          <p:nvPr/>
        </p:nvSpPr>
        <p:spPr>
          <a:xfrm>
            <a:off x="4773168" y="368503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da Vinci 5 placement trajectory — 870 in FY2025; 431 in Q1'26 shows acceleration</a:t>
            </a:r>
            <a:endParaRPr lang="en-US" sz="900" dirty="0"/>
          </a:p>
        </p:txBody>
      </p:sp>
      <p:sp>
        <p:nvSpPr>
          <p:cNvPr id="35" name="Text 33"/>
          <p:cNvSpPr/>
          <p:nvPr/>
        </p:nvSpPr>
        <p:spPr>
          <a:xfrm>
            <a:off x="4773168" y="400507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Competitive entries: Medtronic Hugo, Stryker Mako expanding — market share impact</a:t>
            </a:r>
            <a:endParaRPr lang="en-US" sz="900" dirty="0"/>
          </a:p>
        </p:txBody>
      </p:sp>
      <p:sp>
        <p:nvSpPr>
          <p:cNvPr id="36" name="Text 34"/>
          <p:cNvSpPr/>
          <p:nvPr/>
        </p:nvSpPr>
        <p:spPr>
          <a:xfrm>
            <a:off x="4773168" y="432511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Ion endoluminal procedure growth — 39–44% growth; next catalyst beyond da Vinci</a:t>
            </a:r>
            <a:endParaRPr lang="en-US" sz="900" dirty="0"/>
          </a:p>
        </p:txBody>
      </p:sp>
      <p:sp>
        <p:nvSpPr>
          <p:cNvPr id="37" name="Text 35"/>
          <p:cNvSpPr/>
          <p:nvPr/>
        </p:nvSpPr>
        <p:spPr>
          <a:xfrm>
            <a:off x="4773168" y="4645152"/>
            <a:ext cx="4160520" cy="301752"/>
          </a:xfrm>
          <a:prstGeom prst="rect">
            <a:avLst/>
          </a:prstGeom>
          <a:noFill/>
          <a:ln/>
        </p:spPr>
        <p:txBody>
          <a:bodyPr wrap="square" rtlCol="0" anchor="ctr"/>
          <a:lstStyle/>
          <a:p>
            <a:pPr marL="342900" indent="-342900">
              <a:buSzPct val="100000"/>
              <a:buChar char="•"/>
            </a:pPr>
            <a:r>
              <a:rPr lang="en-US" sz="900" dirty="0">
                <a:solidFill>
                  <a:srgbClr val="E2E8F0"/>
                </a:solidFill>
              </a:rPr>
              <a:t>International procedure volumes — Europe and Asia approvals expanding addressable base</a:t>
            </a:r>
            <a:endParaRPr lang="en-US" sz="900" dirty="0"/>
          </a:p>
        </p:txBody>
      </p:sp>
      <p:sp>
        <p:nvSpPr>
          <p:cNvPr id="38" name="Shape 36"/>
          <p:cNvSpPr/>
          <p:nvPr/>
        </p:nvSpPr>
        <p:spPr>
          <a:xfrm>
            <a:off x="182880" y="4846320"/>
            <a:ext cx="8778240" cy="201168"/>
          </a:xfrm>
          <a:prstGeom prst="rect">
            <a:avLst/>
          </a:prstGeom>
          <a:solidFill>
            <a:srgbClr val="0A1628"/>
          </a:solidFill>
          <a:ln/>
        </p:spPr>
      </p:sp>
      <p:sp>
        <p:nvSpPr>
          <p:cNvPr id="39" name="Text 37"/>
          <p:cNvSpPr/>
          <p:nvPr/>
        </p:nvSpPr>
        <p:spPr>
          <a:xfrm>
            <a:off x="274320" y="4846320"/>
            <a:ext cx="8503920" cy="201168"/>
          </a:xfrm>
          <a:prstGeom prst="rect">
            <a:avLst/>
          </a:prstGeom>
          <a:noFill/>
          <a:ln/>
        </p:spPr>
        <p:txBody>
          <a:bodyPr wrap="square" rtlCol="0" anchor="ctr"/>
          <a:lstStyle/>
          <a:p>
            <a:pPr marL="0" indent="0">
              <a:buNone/>
            </a:pPr>
            <a:r>
              <a:rPr lang="en-US" sz="850" b="1" dirty="0">
                <a:solidFill>
                  <a:srgbClr val="F59E0B"/>
                </a:solidFill>
              </a:rPr>
              <a:t>CRITICAL CATALYSTS 2026: (1) NVIDIA Blackwell supply normalizes → margin pressure or growth? (2) Tesla Optimus 3rd-party sales launch (3) Palantir FY2026 $7B+ revenue confirmation (4) Boston Dynamics/Hyundai tens-of-thousands Atlas deployment scale</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1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274320" y="137160"/>
            <a:ext cx="8595360" cy="365760"/>
          </a:xfrm>
          <a:prstGeom prst="rect">
            <a:avLst/>
          </a:prstGeom>
          <a:noFill/>
          <a:ln/>
        </p:spPr>
        <p:txBody>
          <a:bodyPr wrap="square" rtlCol="0" anchor="ctr"/>
          <a:lstStyle/>
          <a:p>
            <a:pPr marL="0" indent="0" algn="ctr">
              <a:buNone/>
            </a:pPr>
            <a:r>
              <a:rPr lang="en-US" sz="2200" b="1" dirty="0">
                <a:solidFill>
                  <a:srgbClr val="FFFFFF"/>
                </a:solidFill>
              </a:rPr>
              <a:t>KEY QUESTIONS TO MONITOR</a:t>
            </a:r>
            <a:endParaRPr lang="en-US" sz="2200" dirty="0"/>
          </a:p>
        </p:txBody>
      </p:sp>
      <p:sp>
        <p:nvSpPr>
          <p:cNvPr id="3" name="Text 1"/>
          <p:cNvSpPr/>
          <p:nvPr/>
        </p:nvSpPr>
        <p:spPr>
          <a:xfrm>
            <a:off x="274320" y="566928"/>
            <a:ext cx="8595360" cy="365760"/>
          </a:xfrm>
          <a:prstGeom prst="rect">
            <a:avLst/>
          </a:prstGeom>
          <a:noFill/>
          <a:ln/>
        </p:spPr>
        <p:txBody>
          <a:bodyPr wrap="square" rtlCol="0" anchor="ctr"/>
          <a:lstStyle/>
          <a:p>
            <a:pPr marL="0" indent="0" algn="ctr">
              <a:buNone/>
            </a:pPr>
            <a:r>
              <a:rPr lang="en-US" sz="1100" dirty="0">
                <a:solidFill>
                  <a:srgbClr val="F59E0B"/>
                </a:solidFill>
              </a:rPr>
              <a:t>The structural questions whose answers will reshape the entire AI infrastructure thesis</a:t>
            </a:r>
            <a:endParaRPr lang="en-US" sz="1100" dirty="0"/>
          </a:p>
        </p:txBody>
      </p:sp>
      <p:sp>
        <p:nvSpPr>
          <p:cNvPr id="4" name="Shape 2"/>
          <p:cNvSpPr/>
          <p:nvPr/>
        </p:nvSpPr>
        <p:spPr>
          <a:xfrm>
            <a:off x="274320" y="960120"/>
            <a:ext cx="4160520" cy="128016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5" name="Shape 3"/>
          <p:cNvSpPr/>
          <p:nvPr/>
        </p:nvSpPr>
        <p:spPr>
          <a:xfrm>
            <a:off x="384048" y="1033272"/>
            <a:ext cx="777240" cy="219456"/>
          </a:xfrm>
          <a:prstGeom prst="roundRect">
            <a:avLst>
              <a:gd name="adj" fmla="val 16667"/>
            </a:avLst>
          </a:prstGeom>
          <a:solidFill>
            <a:srgbClr val="EF4444">
              <a:alpha val="75000"/>
            </a:srgbClr>
          </a:solidFill>
          <a:ln/>
        </p:spPr>
      </p:sp>
      <p:sp>
        <p:nvSpPr>
          <p:cNvPr id="6" name="Text 4"/>
          <p:cNvSpPr/>
          <p:nvPr/>
        </p:nvSpPr>
        <p:spPr>
          <a:xfrm>
            <a:off x="384048" y="1033272"/>
            <a:ext cx="777240" cy="219456"/>
          </a:xfrm>
          <a:prstGeom prst="rect">
            <a:avLst/>
          </a:prstGeom>
          <a:noFill/>
          <a:ln/>
        </p:spPr>
        <p:txBody>
          <a:bodyPr wrap="square" rtlCol="0" anchor="ctr"/>
          <a:lstStyle/>
          <a:p>
            <a:pPr marL="0" indent="0" algn="ctr">
              <a:buNone/>
            </a:pPr>
            <a:r>
              <a:rPr lang="en-US" sz="750" b="1" dirty="0">
                <a:solidFill>
                  <a:srgbClr val="FFFFFF"/>
                </a:solidFill>
              </a:rPr>
              <a:t>Critical</a:t>
            </a:r>
            <a:endParaRPr lang="en-US" sz="750" dirty="0"/>
          </a:p>
        </p:txBody>
      </p:sp>
      <p:sp>
        <p:nvSpPr>
          <p:cNvPr id="7" name="Text 5"/>
          <p:cNvSpPr/>
          <p:nvPr/>
        </p:nvSpPr>
        <p:spPr>
          <a:xfrm>
            <a:off x="1261872" y="1033272"/>
            <a:ext cx="3063240" cy="237744"/>
          </a:xfrm>
          <a:prstGeom prst="rect">
            <a:avLst/>
          </a:prstGeom>
          <a:noFill/>
          <a:ln/>
        </p:spPr>
        <p:txBody>
          <a:bodyPr wrap="square" lIns="0" tIns="0" rIns="0" bIns="0" rtlCol="0" anchor="ctr"/>
          <a:lstStyle/>
          <a:p>
            <a:pPr marL="0" indent="0">
              <a:buNone/>
            </a:pPr>
            <a:r>
              <a:rPr lang="en-US" sz="1050" b="1" dirty="0">
                <a:solidFill>
                  <a:srgbClr val="EF4444"/>
                </a:solidFill>
              </a:rPr>
              <a:t>Will AI model scaling laws plateau?</a:t>
            </a:r>
            <a:endParaRPr lang="en-US" sz="1050" dirty="0"/>
          </a:p>
        </p:txBody>
      </p:sp>
      <p:sp>
        <p:nvSpPr>
          <p:cNvPr id="8" name="Text 6"/>
          <p:cNvSpPr/>
          <p:nvPr/>
        </p:nvSpPr>
        <p:spPr>
          <a:xfrm>
            <a:off x="411480" y="1344168"/>
            <a:ext cx="3913632" cy="841248"/>
          </a:xfrm>
          <a:prstGeom prst="rect">
            <a:avLst/>
          </a:prstGeom>
          <a:noFill/>
          <a:ln/>
        </p:spPr>
        <p:txBody>
          <a:bodyPr wrap="square" rtlCol="0" anchor="ctr"/>
          <a:lstStyle/>
          <a:p>
            <a:pPr marL="0" indent="0">
              <a:buNone/>
            </a:pPr>
            <a:r>
              <a:rPr lang="en-US" sz="1050" dirty="0">
                <a:solidFill>
                  <a:srgbClr val="E2E8F5"/>
                </a:solidFill>
              </a:rPr>
              <a:t>If models stop improving with more compute, GPU demand crashes. Evidence so far: no plateau visible at frontier. Counter-evidence: law of diminishing returns on pure scaling; reasoning/agentic AI may be the next scaling frontier.</a:t>
            </a:r>
            <a:endParaRPr lang="en-US" sz="1050" dirty="0"/>
          </a:p>
        </p:txBody>
      </p:sp>
      <p:sp>
        <p:nvSpPr>
          <p:cNvPr id="9" name="Shape 7"/>
          <p:cNvSpPr/>
          <p:nvPr/>
        </p:nvSpPr>
        <p:spPr>
          <a:xfrm>
            <a:off x="4663440" y="960120"/>
            <a:ext cx="4160520" cy="128016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10" name="Shape 8"/>
          <p:cNvSpPr/>
          <p:nvPr/>
        </p:nvSpPr>
        <p:spPr>
          <a:xfrm>
            <a:off x="4773168" y="1033272"/>
            <a:ext cx="777240" cy="219456"/>
          </a:xfrm>
          <a:prstGeom prst="roundRect">
            <a:avLst>
              <a:gd name="adj" fmla="val 16667"/>
            </a:avLst>
          </a:prstGeom>
          <a:solidFill>
            <a:srgbClr val="F97316">
              <a:alpha val="75000"/>
            </a:srgbClr>
          </a:solidFill>
          <a:ln/>
        </p:spPr>
      </p:sp>
      <p:sp>
        <p:nvSpPr>
          <p:cNvPr id="11" name="Text 9"/>
          <p:cNvSpPr/>
          <p:nvPr/>
        </p:nvSpPr>
        <p:spPr>
          <a:xfrm>
            <a:off x="4773168" y="1033272"/>
            <a:ext cx="777240"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12" name="Text 10"/>
          <p:cNvSpPr/>
          <p:nvPr/>
        </p:nvSpPr>
        <p:spPr>
          <a:xfrm>
            <a:off x="5650992" y="1033272"/>
            <a:ext cx="3063240" cy="237744"/>
          </a:xfrm>
          <a:prstGeom prst="rect">
            <a:avLst/>
          </a:prstGeom>
          <a:noFill/>
          <a:ln/>
        </p:spPr>
        <p:txBody>
          <a:bodyPr wrap="square" lIns="0" tIns="0" rIns="0" bIns="0" rtlCol="0" anchor="ctr"/>
          <a:lstStyle/>
          <a:p>
            <a:pPr marL="0" indent="0">
              <a:buNone/>
            </a:pPr>
            <a:r>
              <a:rPr lang="en-US" sz="1050" b="1" dirty="0">
                <a:solidFill>
                  <a:srgbClr val="F97316"/>
                </a:solidFill>
              </a:rPr>
              <a:t>Will China close the semiconductor gap?</a:t>
            </a:r>
            <a:endParaRPr lang="en-US" sz="1050" dirty="0"/>
          </a:p>
        </p:txBody>
      </p:sp>
      <p:sp>
        <p:nvSpPr>
          <p:cNvPr id="13" name="Text 11"/>
          <p:cNvSpPr/>
          <p:nvPr/>
        </p:nvSpPr>
        <p:spPr>
          <a:xfrm>
            <a:off x="4800600" y="1344168"/>
            <a:ext cx="3913632" cy="841248"/>
          </a:xfrm>
          <a:prstGeom prst="rect">
            <a:avLst/>
          </a:prstGeom>
          <a:noFill/>
          <a:ln/>
        </p:spPr>
        <p:txBody>
          <a:bodyPr wrap="square" rtlCol="0" anchor="ctr"/>
          <a:lstStyle/>
          <a:p>
            <a:pPr marL="0" indent="0">
              <a:buNone/>
            </a:pPr>
            <a:r>
              <a:rPr lang="en-US" sz="1050" dirty="0">
                <a:solidFill>
                  <a:srgbClr val="E2E8F5"/>
                </a:solidFill>
              </a:rPr>
              <a:t>A fully domestic Chinese chip ecosystem breaks the export control strategy. Timeline: 5-8 years for cutting-edge logic. Watching: SMIC N+2 node progress, SMEE EUV-analog development, Huawei Ascend performance benchmarks.</a:t>
            </a:r>
            <a:endParaRPr lang="en-US" sz="1050" dirty="0"/>
          </a:p>
        </p:txBody>
      </p:sp>
      <p:sp>
        <p:nvSpPr>
          <p:cNvPr id="14" name="Shape 12"/>
          <p:cNvSpPr/>
          <p:nvPr/>
        </p:nvSpPr>
        <p:spPr>
          <a:xfrm>
            <a:off x="274320" y="2313432"/>
            <a:ext cx="4160520" cy="128016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15" name="Shape 13"/>
          <p:cNvSpPr/>
          <p:nvPr/>
        </p:nvSpPr>
        <p:spPr>
          <a:xfrm>
            <a:off x="384048" y="2386584"/>
            <a:ext cx="777240" cy="219456"/>
          </a:xfrm>
          <a:prstGeom prst="roundRect">
            <a:avLst>
              <a:gd name="adj" fmla="val 16667"/>
            </a:avLst>
          </a:prstGeom>
          <a:solidFill>
            <a:srgbClr val="F59E0B">
              <a:alpha val="75000"/>
            </a:srgbClr>
          </a:solidFill>
          <a:ln/>
        </p:spPr>
      </p:sp>
      <p:sp>
        <p:nvSpPr>
          <p:cNvPr id="16" name="Text 14"/>
          <p:cNvSpPr/>
          <p:nvPr/>
        </p:nvSpPr>
        <p:spPr>
          <a:xfrm>
            <a:off x="384048" y="2386584"/>
            <a:ext cx="777240" cy="219456"/>
          </a:xfrm>
          <a:prstGeom prst="rect">
            <a:avLst/>
          </a:prstGeom>
          <a:noFill/>
          <a:ln/>
        </p:spPr>
        <p:txBody>
          <a:bodyPr wrap="square" rtlCol="0" anchor="ctr"/>
          <a:lstStyle/>
          <a:p>
            <a:pPr marL="0" indent="0" algn="ctr">
              <a:buNone/>
            </a:pPr>
            <a:r>
              <a:rPr lang="en-US" sz="750" b="1" dirty="0">
                <a:solidFill>
                  <a:srgbClr val="FFFFFF"/>
                </a:solidFill>
              </a:rPr>
              <a:t>High</a:t>
            </a:r>
            <a:endParaRPr lang="en-US" sz="750" dirty="0"/>
          </a:p>
        </p:txBody>
      </p:sp>
      <p:sp>
        <p:nvSpPr>
          <p:cNvPr id="17" name="Text 15"/>
          <p:cNvSpPr/>
          <p:nvPr/>
        </p:nvSpPr>
        <p:spPr>
          <a:xfrm>
            <a:off x="1261872" y="2386584"/>
            <a:ext cx="3063240" cy="237744"/>
          </a:xfrm>
          <a:prstGeom prst="rect">
            <a:avLst/>
          </a:prstGeom>
          <a:noFill/>
          <a:ln/>
        </p:spPr>
        <p:txBody>
          <a:bodyPr wrap="square" lIns="0" tIns="0" rIns="0" bIns="0" rtlCol="0" anchor="ctr"/>
          <a:lstStyle/>
          <a:p>
            <a:pPr marL="0" indent="0">
              <a:buNone/>
            </a:pPr>
            <a:r>
              <a:rPr lang="en-US" sz="1050" b="1" dirty="0">
                <a:solidFill>
                  <a:srgbClr val="F59E0B"/>
                </a:solidFill>
              </a:rPr>
              <a:t>Will open-source models reach closed-model quality?</a:t>
            </a:r>
            <a:endParaRPr lang="en-US" sz="1050" dirty="0"/>
          </a:p>
        </p:txBody>
      </p:sp>
      <p:sp>
        <p:nvSpPr>
          <p:cNvPr id="18" name="Text 16"/>
          <p:cNvSpPr/>
          <p:nvPr/>
        </p:nvSpPr>
        <p:spPr>
          <a:xfrm>
            <a:off x="411480" y="2697480"/>
            <a:ext cx="3913632" cy="841248"/>
          </a:xfrm>
          <a:prstGeom prst="rect">
            <a:avLst/>
          </a:prstGeom>
          <a:noFill/>
          <a:ln/>
        </p:spPr>
        <p:txBody>
          <a:bodyPr wrap="square" rtlCol="0" anchor="ctr"/>
          <a:lstStyle/>
          <a:p>
            <a:pPr marL="0" indent="0">
              <a:buNone/>
            </a:pPr>
            <a:r>
              <a:rPr lang="en-US" sz="1050" dirty="0">
                <a:solidFill>
                  <a:srgbClr val="E2E8F5"/>
                </a:solidFill>
              </a:rPr>
              <a:t>Meta Llama strategy: give away frontier models to build ecosystem dependency. If Llama 5 (2025) matches GPT-5 capability, it changes the entire foundation model monetization structure. All closed API providers at risk.</a:t>
            </a:r>
            <a:endParaRPr lang="en-US" sz="1050" dirty="0"/>
          </a:p>
        </p:txBody>
      </p:sp>
      <p:sp>
        <p:nvSpPr>
          <p:cNvPr id="19" name="Shape 17"/>
          <p:cNvSpPr/>
          <p:nvPr/>
        </p:nvSpPr>
        <p:spPr>
          <a:xfrm>
            <a:off x="4663440" y="2313432"/>
            <a:ext cx="4160520" cy="128016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20" name="Shape 18"/>
          <p:cNvSpPr/>
          <p:nvPr/>
        </p:nvSpPr>
        <p:spPr>
          <a:xfrm>
            <a:off x="4773168" y="2386584"/>
            <a:ext cx="777240" cy="219456"/>
          </a:xfrm>
          <a:prstGeom prst="roundRect">
            <a:avLst>
              <a:gd name="adj" fmla="val 16667"/>
            </a:avLst>
          </a:prstGeom>
          <a:solidFill>
            <a:srgbClr val="A855F7">
              <a:alpha val="75000"/>
            </a:srgbClr>
          </a:solidFill>
          <a:ln/>
        </p:spPr>
      </p:sp>
      <p:sp>
        <p:nvSpPr>
          <p:cNvPr id="21" name="Text 19"/>
          <p:cNvSpPr/>
          <p:nvPr/>
        </p:nvSpPr>
        <p:spPr>
          <a:xfrm>
            <a:off x="4773168" y="2386584"/>
            <a:ext cx="777240" cy="219456"/>
          </a:xfrm>
          <a:prstGeom prst="rect">
            <a:avLst/>
          </a:prstGeom>
          <a:noFill/>
          <a:ln/>
        </p:spPr>
        <p:txBody>
          <a:bodyPr wrap="square" rtlCol="0" anchor="ctr"/>
          <a:lstStyle/>
          <a:p>
            <a:pPr marL="0" indent="0" algn="ctr">
              <a:buNone/>
            </a:pPr>
            <a:r>
              <a:rPr lang="en-US" sz="750" b="1" dirty="0">
                <a:solidFill>
                  <a:srgbClr val="FFFFFF"/>
                </a:solidFill>
              </a:rPr>
              <a:t>Medium</a:t>
            </a:r>
            <a:endParaRPr lang="en-US" sz="750" dirty="0"/>
          </a:p>
        </p:txBody>
      </p:sp>
      <p:sp>
        <p:nvSpPr>
          <p:cNvPr id="22" name="Text 20"/>
          <p:cNvSpPr/>
          <p:nvPr/>
        </p:nvSpPr>
        <p:spPr>
          <a:xfrm>
            <a:off x="5650992" y="2386584"/>
            <a:ext cx="3063240" cy="237744"/>
          </a:xfrm>
          <a:prstGeom prst="rect">
            <a:avLst/>
          </a:prstGeom>
          <a:noFill/>
          <a:ln/>
        </p:spPr>
        <p:txBody>
          <a:bodyPr wrap="square" lIns="0" tIns="0" rIns="0" bIns="0" rtlCol="0" anchor="ctr"/>
          <a:lstStyle/>
          <a:p>
            <a:pPr marL="0" indent="0">
              <a:buNone/>
            </a:pPr>
            <a:r>
              <a:rPr lang="en-US" sz="1050" b="1" dirty="0">
                <a:solidFill>
                  <a:srgbClr val="A855F7"/>
                </a:solidFill>
              </a:rPr>
              <a:t>What is the real cost curve for humanoid robots?</a:t>
            </a:r>
            <a:endParaRPr lang="en-US" sz="1050" dirty="0"/>
          </a:p>
        </p:txBody>
      </p:sp>
      <p:sp>
        <p:nvSpPr>
          <p:cNvPr id="23" name="Text 21"/>
          <p:cNvSpPr/>
          <p:nvPr/>
        </p:nvSpPr>
        <p:spPr>
          <a:xfrm>
            <a:off x="4800600" y="2697480"/>
            <a:ext cx="3913632" cy="841248"/>
          </a:xfrm>
          <a:prstGeom prst="rect">
            <a:avLst/>
          </a:prstGeom>
          <a:noFill/>
          <a:ln/>
        </p:spPr>
        <p:txBody>
          <a:bodyPr wrap="square" rtlCol="0" anchor="ctr"/>
          <a:lstStyle/>
          <a:p>
            <a:pPr marL="0" indent="0">
              <a:buNone/>
            </a:pPr>
            <a:r>
              <a:rPr lang="en-US" sz="1050" dirty="0">
                <a:solidFill>
                  <a:srgbClr val="E2E8F5"/>
                </a:solidFill>
              </a:rPr>
              <a:t>Goldman Sachs projects $38B humanoid market by 2035 at &lt;$20K/unit. This requires 7-8× cost reduction from current levels. What to watch: Tesla Optimus production volume, Figure commercial deployment numbers, actual unit economics from BMW/Amazon trials.</a:t>
            </a:r>
            <a:endParaRPr lang="en-US" sz="1050" dirty="0"/>
          </a:p>
        </p:txBody>
      </p:sp>
      <p:sp>
        <p:nvSpPr>
          <p:cNvPr id="24" name="Shape 22"/>
          <p:cNvSpPr/>
          <p:nvPr/>
        </p:nvSpPr>
        <p:spPr>
          <a:xfrm>
            <a:off x="274320" y="3666744"/>
            <a:ext cx="4160520" cy="128016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25" name="Shape 23"/>
          <p:cNvSpPr/>
          <p:nvPr/>
        </p:nvSpPr>
        <p:spPr>
          <a:xfrm>
            <a:off x="384048" y="3739896"/>
            <a:ext cx="777240" cy="219456"/>
          </a:xfrm>
          <a:prstGeom prst="roundRect">
            <a:avLst>
              <a:gd name="adj" fmla="val 16667"/>
            </a:avLst>
          </a:prstGeom>
          <a:solidFill>
            <a:srgbClr val="3B82F6">
              <a:alpha val="75000"/>
            </a:srgbClr>
          </a:solidFill>
          <a:ln/>
        </p:spPr>
      </p:sp>
      <p:sp>
        <p:nvSpPr>
          <p:cNvPr id="26" name="Text 24"/>
          <p:cNvSpPr/>
          <p:nvPr/>
        </p:nvSpPr>
        <p:spPr>
          <a:xfrm>
            <a:off x="384048" y="3739896"/>
            <a:ext cx="777240" cy="219456"/>
          </a:xfrm>
          <a:prstGeom prst="rect">
            <a:avLst/>
          </a:prstGeom>
          <a:noFill/>
          <a:ln/>
        </p:spPr>
        <p:txBody>
          <a:bodyPr wrap="square" rtlCol="0" anchor="ctr"/>
          <a:lstStyle/>
          <a:p>
            <a:pPr marL="0" indent="0" algn="ctr">
              <a:buNone/>
            </a:pPr>
            <a:r>
              <a:rPr lang="en-US" sz="750" b="1" dirty="0">
                <a:solidFill>
                  <a:srgbClr val="FFFFFF"/>
                </a:solidFill>
              </a:rPr>
              <a:t>Medium</a:t>
            </a:r>
            <a:endParaRPr lang="en-US" sz="750" dirty="0"/>
          </a:p>
        </p:txBody>
      </p:sp>
      <p:sp>
        <p:nvSpPr>
          <p:cNvPr id="27" name="Text 25"/>
          <p:cNvSpPr/>
          <p:nvPr/>
        </p:nvSpPr>
        <p:spPr>
          <a:xfrm>
            <a:off x="1261872" y="3739896"/>
            <a:ext cx="3063240" cy="237744"/>
          </a:xfrm>
          <a:prstGeom prst="rect">
            <a:avLst/>
          </a:prstGeom>
          <a:noFill/>
          <a:ln/>
        </p:spPr>
        <p:txBody>
          <a:bodyPr wrap="square" lIns="0" tIns="0" rIns="0" bIns="0" rtlCol="0" anchor="ctr"/>
          <a:lstStyle/>
          <a:p>
            <a:pPr marL="0" indent="0">
              <a:buNone/>
            </a:pPr>
            <a:r>
              <a:rPr lang="en-US" sz="1050" b="1" dirty="0">
                <a:solidFill>
                  <a:srgbClr val="3B82F6"/>
                </a:solidFill>
              </a:rPr>
              <a:t>How fast will the power grid catch up?</a:t>
            </a:r>
            <a:endParaRPr lang="en-US" sz="1050" dirty="0"/>
          </a:p>
        </p:txBody>
      </p:sp>
      <p:sp>
        <p:nvSpPr>
          <p:cNvPr id="28" name="Text 26"/>
          <p:cNvSpPr/>
          <p:nvPr/>
        </p:nvSpPr>
        <p:spPr>
          <a:xfrm>
            <a:off x="411480" y="4050792"/>
            <a:ext cx="3913632" cy="841248"/>
          </a:xfrm>
          <a:prstGeom prst="rect">
            <a:avLst/>
          </a:prstGeom>
          <a:noFill/>
          <a:ln/>
        </p:spPr>
        <p:txBody>
          <a:bodyPr wrap="square" rtlCol="0" anchor="ctr"/>
          <a:lstStyle/>
          <a:p>
            <a:pPr marL="0" indent="0">
              <a:buNone/>
            </a:pPr>
            <a:r>
              <a:rPr lang="en-US" sz="1050" dirty="0">
                <a:solidFill>
                  <a:srgbClr val="E2E8F5"/>
                </a:solidFill>
              </a:rPr>
              <a:t>Grid interconnection queue is 5-7 years. Hyperscalers signing nuclear PPAs today get power in 2032-2034. If this constraint loosens faster (SMR approvals, grid modernization), it accelerates the entire upper stack.</a:t>
            </a:r>
            <a:endParaRPr lang="en-US" sz="1050" dirty="0"/>
          </a:p>
        </p:txBody>
      </p:sp>
      <p:sp>
        <p:nvSpPr>
          <p:cNvPr id="29" name="Shape 27"/>
          <p:cNvSpPr/>
          <p:nvPr/>
        </p:nvSpPr>
        <p:spPr>
          <a:xfrm>
            <a:off x="4663440" y="3666744"/>
            <a:ext cx="4160520" cy="1280160"/>
          </a:xfrm>
          <a:prstGeom prst="rect">
            <a:avLst/>
          </a:prstGeom>
          <a:solidFill>
            <a:srgbClr val="1A2850"/>
          </a:solidFill>
          <a:ln w="6350">
            <a:solidFill>
              <a:srgbClr val="FFFFFF">
                <a:alpha val="6000"/>
              </a:srgbClr>
            </a:solidFill>
            <a:prstDash val="solid"/>
          </a:ln>
          <a:effectLst>
            <a:outerShdw blurRad="127000" dist="38100" dir="2700000" algn="bl" rotWithShape="0">
              <a:srgbClr val="000000">
                <a:alpha val="22000"/>
              </a:srgbClr>
            </a:outerShdw>
          </a:effectLst>
        </p:spPr>
      </p:sp>
      <p:sp>
        <p:nvSpPr>
          <p:cNvPr id="30" name="Shape 28"/>
          <p:cNvSpPr/>
          <p:nvPr/>
        </p:nvSpPr>
        <p:spPr>
          <a:xfrm>
            <a:off x="4773168" y="3739896"/>
            <a:ext cx="777240" cy="219456"/>
          </a:xfrm>
          <a:prstGeom prst="roundRect">
            <a:avLst>
              <a:gd name="adj" fmla="val 16667"/>
            </a:avLst>
          </a:prstGeom>
          <a:solidFill>
            <a:srgbClr val="0D9488">
              <a:alpha val="75000"/>
            </a:srgbClr>
          </a:solidFill>
          <a:ln/>
        </p:spPr>
      </p:sp>
      <p:sp>
        <p:nvSpPr>
          <p:cNvPr id="31" name="Text 29"/>
          <p:cNvSpPr/>
          <p:nvPr/>
        </p:nvSpPr>
        <p:spPr>
          <a:xfrm>
            <a:off x="4773168" y="3739896"/>
            <a:ext cx="777240" cy="219456"/>
          </a:xfrm>
          <a:prstGeom prst="rect">
            <a:avLst/>
          </a:prstGeom>
          <a:noFill/>
          <a:ln/>
        </p:spPr>
        <p:txBody>
          <a:bodyPr wrap="square" rtlCol="0" anchor="ctr"/>
          <a:lstStyle/>
          <a:p>
            <a:pPr marL="0" indent="0" algn="ctr">
              <a:buNone/>
            </a:pPr>
            <a:r>
              <a:rPr lang="en-US" sz="750" b="1" dirty="0">
                <a:solidFill>
                  <a:srgbClr val="FFFFFF"/>
                </a:solidFill>
              </a:rPr>
              <a:t>Medium</a:t>
            </a:r>
            <a:endParaRPr lang="en-US" sz="750" dirty="0"/>
          </a:p>
        </p:txBody>
      </p:sp>
      <p:sp>
        <p:nvSpPr>
          <p:cNvPr id="32" name="Text 30"/>
          <p:cNvSpPr/>
          <p:nvPr/>
        </p:nvSpPr>
        <p:spPr>
          <a:xfrm>
            <a:off x="5650992" y="3739896"/>
            <a:ext cx="3063240" cy="237744"/>
          </a:xfrm>
          <a:prstGeom prst="rect">
            <a:avLst/>
          </a:prstGeom>
          <a:noFill/>
          <a:ln/>
        </p:spPr>
        <p:txBody>
          <a:bodyPr wrap="square" lIns="0" tIns="0" rIns="0" bIns="0" rtlCol="0" anchor="ctr"/>
          <a:lstStyle/>
          <a:p>
            <a:pPr marL="0" indent="0">
              <a:buNone/>
            </a:pPr>
            <a:r>
              <a:rPr lang="en-US" sz="1050" b="1" dirty="0">
                <a:solidFill>
                  <a:srgbClr val="0D9488"/>
                </a:solidFill>
              </a:rPr>
              <a:t>Will custom ASICs displace NVIDIA at hyperscalers?</a:t>
            </a:r>
            <a:endParaRPr lang="en-US" sz="1050" dirty="0"/>
          </a:p>
        </p:txBody>
      </p:sp>
      <p:sp>
        <p:nvSpPr>
          <p:cNvPr id="33" name="Text 31"/>
          <p:cNvSpPr/>
          <p:nvPr/>
        </p:nvSpPr>
        <p:spPr>
          <a:xfrm>
            <a:off x="4800600" y="4050792"/>
            <a:ext cx="3913632" cy="841248"/>
          </a:xfrm>
          <a:prstGeom prst="rect">
            <a:avLst/>
          </a:prstGeom>
          <a:noFill/>
          <a:ln/>
        </p:spPr>
        <p:txBody>
          <a:bodyPr wrap="square" rtlCol="0" anchor="ctr"/>
          <a:lstStyle/>
          <a:p>
            <a:pPr marL="0" indent="0">
              <a:buNone/>
            </a:pPr>
            <a:r>
              <a:rPr lang="en-US" sz="1050" dirty="0">
                <a:solidFill>
                  <a:srgbClr val="E2E8F5"/>
                </a:solidFill>
              </a:rPr>
              <a:t>Google TPU, AWS Trainium, Microsoft Maia — all designed to serve specific models cheaply. By 2027, these may represent 20-30% of hyperscaler AI compute. Does not eliminate NVIDIA but compresses growth at the top of their market.</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D4ED8"/>
          </a:solidFill>
          <a:ln/>
        </p:spPr>
      </p:sp>
      <p:sp>
        <p:nvSpPr>
          <p:cNvPr id="3" name="Text 1"/>
          <p:cNvSpPr/>
          <p:nvPr/>
        </p:nvSpPr>
        <p:spPr>
          <a:xfrm>
            <a:off x="182880" y="0"/>
            <a:ext cx="8778240" cy="621792"/>
          </a:xfrm>
          <a:prstGeom prst="rect">
            <a:avLst/>
          </a:prstGeom>
          <a:noFill/>
          <a:ln/>
        </p:spPr>
        <p:txBody>
          <a:bodyPr wrap="square" rtlCol="0" anchor="ctr"/>
          <a:lstStyle/>
          <a:p>
            <a:pPr marL="0" indent="0">
              <a:buNone/>
            </a:pPr>
            <a:r>
              <a:rPr lang="en-US" sz="1300" b="1" dirty="0">
                <a:solidFill>
                  <a:srgbClr val="FFFFFF"/>
                </a:solidFill>
              </a:rPr>
              <a:t>SECTOR SUMMARY — THE PHYSICAL AI SUPER-CYCLE</a:t>
            </a:r>
            <a:endParaRPr lang="en-US" sz="1300" dirty="0"/>
          </a:p>
        </p:txBody>
      </p:sp>
      <p:sp>
        <p:nvSpPr>
          <p:cNvPr id="4" name="Shape 2"/>
          <p:cNvSpPr/>
          <p:nvPr/>
        </p:nvSpPr>
        <p:spPr>
          <a:xfrm>
            <a:off x="182880" y="713232"/>
            <a:ext cx="8778240" cy="667512"/>
          </a:xfrm>
          <a:prstGeom prst="rect">
            <a:avLst/>
          </a:prstGeom>
          <a:solidFill>
            <a:srgbClr val="0F1F3D"/>
          </a:solidFill>
          <a:ln/>
          <a:effectLst>
            <a:outerShdw blurRad="127000" dist="50800" dir="8100000" algn="bl" rotWithShape="0">
              <a:srgbClr val="000000">
                <a:alpha val="25000"/>
              </a:srgbClr>
            </a:outerShdw>
          </a:effectLst>
        </p:spPr>
      </p:sp>
      <p:sp>
        <p:nvSpPr>
          <p:cNvPr id="5" name="Shape 3"/>
          <p:cNvSpPr/>
          <p:nvPr/>
        </p:nvSpPr>
        <p:spPr>
          <a:xfrm>
            <a:off x="182880" y="713232"/>
            <a:ext cx="73152" cy="667512"/>
          </a:xfrm>
          <a:prstGeom prst="rect">
            <a:avLst/>
          </a:prstGeom>
          <a:solidFill>
            <a:srgbClr val="1D4ED8"/>
          </a:solidFill>
          <a:ln/>
        </p:spPr>
      </p:sp>
      <p:sp>
        <p:nvSpPr>
          <p:cNvPr id="6" name="Shape 4"/>
          <p:cNvSpPr/>
          <p:nvPr/>
        </p:nvSpPr>
        <p:spPr>
          <a:xfrm>
            <a:off x="301752" y="777240"/>
            <a:ext cx="1645920" cy="219456"/>
          </a:xfrm>
          <a:prstGeom prst="rect">
            <a:avLst/>
          </a:prstGeom>
          <a:solidFill>
            <a:srgbClr val="1D4ED8"/>
          </a:solidFill>
          <a:ln/>
        </p:spPr>
      </p:sp>
      <p:sp>
        <p:nvSpPr>
          <p:cNvPr id="7" name="Text 5"/>
          <p:cNvSpPr/>
          <p:nvPr/>
        </p:nvSpPr>
        <p:spPr>
          <a:xfrm>
            <a:off x="301752" y="777240"/>
            <a:ext cx="1645920" cy="219456"/>
          </a:xfrm>
          <a:prstGeom prst="rect">
            <a:avLst/>
          </a:prstGeom>
          <a:noFill/>
          <a:ln/>
        </p:spPr>
        <p:txBody>
          <a:bodyPr wrap="square" rtlCol="0" anchor="ctr"/>
          <a:lstStyle/>
          <a:p>
            <a:pPr marL="0" indent="0" algn="ctr">
              <a:buNone/>
            </a:pPr>
            <a:r>
              <a:rPr lang="en-US" sz="850" b="1" dirty="0">
                <a:solidFill>
                  <a:srgbClr val="FFFFFF"/>
                </a:solidFill>
              </a:rPr>
              <a:t>THE CORE THESIS</a:t>
            </a:r>
            <a:endParaRPr lang="en-US" sz="850" dirty="0"/>
          </a:p>
        </p:txBody>
      </p:sp>
      <p:sp>
        <p:nvSpPr>
          <p:cNvPr id="8" name="Text 6"/>
          <p:cNvSpPr/>
          <p:nvPr/>
        </p:nvSpPr>
        <p:spPr>
          <a:xfrm>
            <a:off x="2029968" y="768096"/>
            <a:ext cx="6812280" cy="566928"/>
          </a:xfrm>
          <a:prstGeom prst="rect">
            <a:avLst/>
          </a:prstGeom>
          <a:noFill/>
          <a:ln/>
        </p:spPr>
        <p:txBody>
          <a:bodyPr wrap="square" rtlCol="0" anchor="ctr"/>
          <a:lstStyle/>
          <a:p>
            <a:pPr marL="0" indent="0">
              <a:buNone/>
            </a:pPr>
            <a:r>
              <a:rPr lang="en-US" sz="950" dirty="0">
                <a:solidFill>
                  <a:srgbClr val="E2E8F0"/>
                </a:solidFill>
              </a:rPr>
              <a:t>We are at the beginning of the most significant capital allocation cycle in technology history. AI chips, AI models, and physical robots are converging. The $700B+ annual infrastructure investment is creating a permanent shift in how labor, intelligence, and production work. This is a decade-long structural shift, not a cycle.</a:t>
            </a:r>
            <a:endParaRPr lang="en-US" sz="950" dirty="0"/>
          </a:p>
        </p:txBody>
      </p:sp>
      <p:sp>
        <p:nvSpPr>
          <p:cNvPr id="9" name="Shape 7"/>
          <p:cNvSpPr/>
          <p:nvPr/>
        </p:nvSpPr>
        <p:spPr>
          <a:xfrm>
            <a:off x="182880" y="1444752"/>
            <a:ext cx="8778240" cy="667512"/>
          </a:xfrm>
          <a:prstGeom prst="rect">
            <a:avLst/>
          </a:prstGeom>
          <a:solidFill>
            <a:srgbClr val="0F1F3D"/>
          </a:solidFill>
          <a:ln/>
          <a:effectLst>
            <a:outerShdw blurRad="127000" dist="50800" dir="8100000" algn="bl" rotWithShape="0">
              <a:srgbClr val="000000">
                <a:alpha val="25000"/>
              </a:srgbClr>
            </a:outerShdw>
          </a:effectLst>
        </p:spPr>
      </p:sp>
      <p:sp>
        <p:nvSpPr>
          <p:cNvPr id="10" name="Shape 8"/>
          <p:cNvSpPr/>
          <p:nvPr/>
        </p:nvSpPr>
        <p:spPr>
          <a:xfrm>
            <a:off x="182880" y="1444752"/>
            <a:ext cx="73152" cy="667512"/>
          </a:xfrm>
          <a:prstGeom prst="rect">
            <a:avLst/>
          </a:prstGeom>
          <a:solidFill>
            <a:srgbClr val="06B6D4"/>
          </a:solidFill>
          <a:ln/>
        </p:spPr>
      </p:sp>
      <p:sp>
        <p:nvSpPr>
          <p:cNvPr id="11" name="Shape 9"/>
          <p:cNvSpPr/>
          <p:nvPr/>
        </p:nvSpPr>
        <p:spPr>
          <a:xfrm>
            <a:off x="301752" y="1508760"/>
            <a:ext cx="1645920" cy="219456"/>
          </a:xfrm>
          <a:prstGeom prst="rect">
            <a:avLst/>
          </a:prstGeom>
          <a:solidFill>
            <a:srgbClr val="06B6D4"/>
          </a:solidFill>
          <a:ln/>
        </p:spPr>
      </p:sp>
      <p:sp>
        <p:nvSpPr>
          <p:cNvPr id="12" name="Text 10"/>
          <p:cNvSpPr/>
          <p:nvPr/>
        </p:nvSpPr>
        <p:spPr>
          <a:xfrm>
            <a:off x="301752" y="1508760"/>
            <a:ext cx="1645920" cy="219456"/>
          </a:xfrm>
          <a:prstGeom prst="rect">
            <a:avLst/>
          </a:prstGeom>
          <a:noFill/>
          <a:ln/>
        </p:spPr>
        <p:txBody>
          <a:bodyPr wrap="square" rtlCol="0" anchor="ctr"/>
          <a:lstStyle/>
          <a:p>
            <a:pPr marL="0" indent="0" algn="ctr">
              <a:buNone/>
            </a:pPr>
            <a:r>
              <a:rPr lang="en-US" sz="850" b="1" dirty="0">
                <a:solidFill>
                  <a:srgbClr val="FFFFFF"/>
                </a:solidFill>
              </a:rPr>
              <a:t>WHAT IS DIFFERENT THIS TIME</a:t>
            </a:r>
            <a:endParaRPr lang="en-US" sz="850" dirty="0"/>
          </a:p>
        </p:txBody>
      </p:sp>
      <p:sp>
        <p:nvSpPr>
          <p:cNvPr id="13" name="Text 11"/>
          <p:cNvSpPr/>
          <p:nvPr/>
        </p:nvSpPr>
        <p:spPr>
          <a:xfrm>
            <a:off x="2029968" y="1499616"/>
            <a:ext cx="6812280" cy="566928"/>
          </a:xfrm>
          <a:prstGeom prst="rect">
            <a:avLst/>
          </a:prstGeom>
          <a:noFill/>
          <a:ln/>
        </p:spPr>
        <p:txBody>
          <a:bodyPr wrap="square" rtlCol="0" anchor="ctr"/>
          <a:lstStyle/>
          <a:p>
            <a:pPr marL="0" indent="0">
              <a:buNone/>
            </a:pPr>
            <a:r>
              <a:rPr lang="en-US" sz="950" dirty="0">
                <a:solidFill>
                  <a:srgbClr val="E2E8F0"/>
                </a:solidFill>
              </a:rPr>
              <a:t>Unlike prior tech hype cycles (VR/AR, blockchain), AI is already generating real revenues. NVIDIA's data center revenue is $90B+ annualized. Palantir's revenue doubling. ISRG's da Vinci 5 accelerating. The infrastructure is being used. The question is not 'will AI work?' — it is 'who captures the value?'</a:t>
            </a:r>
            <a:endParaRPr lang="en-US" sz="950" dirty="0"/>
          </a:p>
        </p:txBody>
      </p:sp>
      <p:sp>
        <p:nvSpPr>
          <p:cNvPr id="14" name="Shape 12"/>
          <p:cNvSpPr/>
          <p:nvPr/>
        </p:nvSpPr>
        <p:spPr>
          <a:xfrm>
            <a:off x="182880" y="2176272"/>
            <a:ext cx="8778240" cy="667512"/>
          </a:xfrm>
          <a:prstGeom prst="rect">
            <a:avLst/>
          </a:prstGeom>
          <a:solidFill>
            <a:srgbClr val="0F1F3D"/>
          </a:solidFill>
          <a:ln/>
          <a:effectLst>
            <a:outerShdw blurRad="127000" dist="50800" dir="8100000" algn="bl" rotWithShape="0">
              <a:srgbClr val="000000">
                <a:alpha val="25000"/>
              </a:srgbClr>
            </a:outerShdw>
          </a:effectLst>
        </p:spPr>
      </p:sp>
      <p:sp>
        <p:nvSpPr>
          <p:cNvPr id="15" name="Shape 13"/>
          <p:cNvSpPr/>
          <p:nvPr/>
        </p:nvSpPr>
        <p:spPr>
          <a:xfrm>
            <a:off x="182880" y="2176272"/>
            <a:ext cx="73152" cy="667512"/>
          </a:xfrm>
          <a:prstGeom prst="rect">
            <a:avLst/>
          </a:prstGeom>
          <a:solidFill>
            <a:srgbClr val="7C3AED"/>
          </a:solidFill>
          <a:ln/>
        </p:spPr>
      </p:sp>
      <p:sp>
        <p:nvSpPr>
          <p:cNvPr id="16" name="Shape 14"/>
          <p:cNvSpPr/>
          <p:nvPr/>
        </p:nvSpPr>
        <p:spPr>
          <a:xfrm>
            <a:off x="301752" y="2240280"/>
            <a:ext cx="1645920" cy="219456"/>
          </a:xfrm>
          <a:prstGeom prst="rect">
            <a:avLst/>
          </a:prstGeom>
          <a:solidFill>
            <a:srgbClr val="7C3AED"/>
          </a:solidFill>
          <a:ln/>
        </p:spPr>
      </p:sp>
      <p:sp>
        <p:nvSpPr>
          <p:cNvPr id="17" name="Text 15"/>
          <p:cNvSpPr/>
          <p:nvPr/>
        </p:nvSpPr>
        <p:spPr>
          <a:xfrm>
            <a:off x="301752" y="2240280"/>
            <a:ext cx="1645920" cy="219456"/>
          </a:xfrm>
          <a:prstGeom prst="rect">
            <a:avLst/>
          </a:prstGeom>
          <a:noFill/>
          <a:ln/>
        </p:spPr>
        <p:txBody>
          <a:bodyPr wrap="square" rtlCol="0" anchor="ctr"/>
          <a:lstStyle/>
          <a:p>
            <a:pPr marL="0" indent="0" algn="ctr">
              <a:buNone/>
            </a:pPr>
            <a:r>
              <a:rPr lang="en-US" sz="850" b="1" dirty="0">
                <a:solidFill>
                  <a:srgbClr val="FFFFFF"/>
                </a:solidFill>
              </a:rPr>
              <a:t>THE PHYSICAL AI INFLECTION POINT</a:t>
            </a:r>
            <a:endParaRPr lang="en-US" sz="850" dirty="0"/>
          </a:p>
        </p:txBody>
      </p:sp>
      <p:sp>
        <p:nvSpPr>
          <p:cNvPr id="18" name="Text 16"/>
          <p:cNvSpPr/>
          <p:nvPr/>
        </p:nvSpPr>
        <p:spPr>
          <a:xfrm>
            <a:off x="2029968" y="2231136"/>
            <a:ext cx="6812280" cy="566928"/>
          </a:xfrm>
          <a:prstGeom prst="rect">
            <a:avLst/>
          </a:prstGeom>
          <a:noFill/>
          <a:ln/>
        </p:spPr>
        <p:txBody>
          <a:bodyPr wrap="square" rtlCol="0" anchor="ctr"/>
          <a:lstStyle/>
          <a:p>
            <a:pPr marL="0" indent="0">
              <a:buNone/>
            </a:pPr>
            <a:r>
              <a:rPr lang="en-US" sz="950" dirty="0">
                <a:solidFill>
                  <a:srgbClr val="E2E8F0"/>
                </a:solidFill>
              </a:rPr>
              <a:t>2025–2026 marks the transition from software AI to Physical AI. Robots deploying at BMW, Amazon, Hyundai. Waymo at 250K+ weekly rides. Tesla converting factories for Optimus. NVIDIA declaring 'every industrial company will become a robotics company.' The $2–3B humanoid market today targets $165B by 2034.</a:t>
            </a:r>
            <a:endParaRPr lang="en-US" sz="950" dirty="0"/>
          </a:p>
        </p:txBody>
      </p:sp>
      <p:sp>
        <p:nvSpPr>
          <p:cNvPr id="19" name="Shape 17"/>
          <p:cNvSpPr/>
          <p:nvPr/>
        </p:nvSpPr>
        <p:spPr>
          <a:xfrm>
            <a:off x="182880" y="2907792"/>
            <a:ext cx="8778240" cy="667512"/>
          </a:xfrm>
          <a:prstGeom prst="rect">
            <a:avLst/>
          </a:prstGeom>
          <a:solidFill>
            <a:srgbClr val="0F1F3D"/>
          </a:solidFill>
          <a:ln/>
          <a:effectLst>
            <a:outerShdw blurRad="127000" dist="50800" dir="8100000" algn="bl" rotWithShape="0">
              <a:srgbClr val="000000">
                <a:alpha val="25000"/>
              </a:srgbClr>
            </a:outerShdw>
          </a:effectLst>
        </p:spPr>
      </p:sp>
      <p:sp>
        <p:nvSpPr>
          <p:cNvPr id="20" name="Shape 18"/>
          <p:cNvSpPr/>
          <p:nvPr/>
        </p:nvSpPr>
        <p:spPr>
          <a:xfrm>
            <a:off x="182880" y="2907792"/>
            <a:ext cx="73152" cy="667512"/>
          </a:xfrm>
          <a:prstGeom prst="rect">
            <a:avLst/>
          </a:prstGeom>
          <a:solidFill>
            <a:srgbClr val="F59E0B"/>
          </a:solidFill>
          <a:ln/>
        </p:spPr>
      </p:sp>
      <p:sp>
        <p:nvSpPr>
          <p:cNvPr id="21" name="Shape 19"/>
          <p:cNvSpPr/>
          <p:nvPr/>
        </p:nvSpPr>
        <p:spPr>
          <a:xfrm>
            <a:off x="301752" y="2971800"/>
            <a:ext cx="1645920" cy="219456"/>
          </a:xfrm>
          <a:prstGeom prst="rect">
            <a:avLst/>
          </a:prstGeom>
          <a:solidFill>
            <a:srgbClr val="F59E0B"/>
          </a:solidFill>
          <a:ln/>
        </p:spPr>
      </p:sp>
      <p:sp>
        <p:nvSpPr>
          <p:cNvPr id="22" name="Text 20"/>
          <p:cNvSpPr/>
          <p:nvPr/>
        </p:nvSpPr>
        <p:spPr>
          <a:xfrm>
            <a:off x="301752" y="2971800"/>
            <a:ext cx="1645920" cy="219456"/>
          </a:xfrm>
          <a:prstGeom prst="rect">
            <a:avLst/>
          </a:prstGeom>
          <a:noFill/>
          <a:ln/>
        </p:spPr>
        <p:txBody>
          <a:bodyPr wrap="square" rtlCol="0" anchor="ctr"/>
          <a:lstStyle/>
          <a:p>
            <a:pPr marL="0" indent="0" algn="ctr">
              <a:buNone/>
            </a:pPr>
            <a:r>
              <a:rPr lang="en-US" sz="850" b="1" dirty="0">
                <a:solidFill>
                  <a:srgbClr val="FFFFFF"/>
                </a:solidFill>
              </a:rPr>
              <a:t>THE REAL DEBATE</a:t>
            </a:r>
            <a:endParaRPr lang="en-US" sz="850" dirty="0"/>
          </a:p>
        </p:txBody>
      </p:sp>
      <p:sp>
        <p:nvSpPr>
          <p:cNvPr id="23" name="Text 21"/>
          <p:cNvSpPr/>
          <p:nvPr/>
        </p:nvSpPr>
        <p:spPr>
          <a:xfrm>
            <a:off x="2029968" y="2962656"/>
            <a:ext cx="6812280" cy="566928"/>
          </a:xfrm>
          <a:prstGeom prst="rect">
            <a:avLst/>
          </a:prstGeom>
          <a:noFill/>
          <a:ln/>
        </p:spPr>
        <p:txBody>
          <a:bodyPr wrap="square" rtlCol="0" anchor="ctr"/>
          <a:lstStyle/>
          <a:p>
            <a:pPr marL="0" indent="0">
              <a:buNone/>
            </a:pPr>
            <a:r>
              <a:rPr lang="en-US" sz="950" dirty="0">
                <a:solidFill>
                  <a:srgbClr val="E2E8F0"/>
                </a:solidFill>
              </a:rPr>
              <a:t>Can AI revenue justify $700B+ annual capex? Amazon FCF dropped 95%. The next 2 years will prove or disprove AI's ROI at scale. If enterprise AI revenue accelerates (Palantir's $7B guide is a leading indicator), the cycle sustains. If not, multiple compression across the sector will be swift and severe.</a:t>
            </a:r>
            <a:endParaRPr lang="en-US" sz="950" dirty="0"/>
          </a:p>
        </p:txBody>
      </p:sp>
      <p:sp>
        <p:nvSpPr>
          <p:cNvPr id="24" name="Shape 22"/>
          <p:cNvSpPr/>
          <p:nvPr/>
        </p:nvSpPr>
        <p:spPr>
          <a:xfrm>
            <a:off x="182880" y="3639312"/>
            <a:ext cx="8778240" cy="667512"/>
          </a:xfrm>
          <a:prstGeom prst="rect">
            <a:avLst/>
          </a:prstGeom>
          <a:solidFill>
            <a:srgbClr val="0F1F3D"/>
          </a:solidFill>
          <a:ln/>
          <a:effectLst>
            <a:outerShdw blurRad="127000" dist="50800" dir="8100000" algn="bl" rotWithShape="0">
              <a:srgbClr val="000000">
                <a:alpha val="25000"/>
              </a:srgbClr>
            </a:outerShdw>
          </a:effectLst>
        </p:spPr>
      </p:sp>
      <p:sp>
        <p:nvSpPr>
          <p:cNvPr id="25" name="Shape 23"/>
          <p:cNvSpPr/>
          <p:nvPr/>
        </p:nvSpPr>
        <p:spPr>
          <a:xfrm>
            <a:off x="182880" y="3639312"/>
            <a:ext cx="73152" cy="667512"/>
          </a:xfrm>
          <a:prstGeom prst="rect">
            <a:avLst/>
          </a:prstGeom>
          <a:solidFill>
            <a:srgbClr val="EF4444"/>
          </a:solidFill>
          <a:ln/>
        </p:spPr>
      </p:sp>
      <p:sp>
        <p:nvSpPr>
          <p:cNvPr id="26" name="Shape 24"/>
          <p:cNvSpPr/>
          <p:nvPr/>
        </p:nvSpPr>
        <p:spPr>
          <a:xfrm>
            <a:off x="301752" y="3703320"/>
            <a:ext cx="1645920" cy="219456"/>
          </a:xfrm>
          <a:prstGeom prst="rect">
            <a:avLst/>
          </a:prstGeom>
          <a:solidFill>
            <a:srgbClr val="EF4444"/>
          </a:solidFill>
          <a:ln/>
        </p:spPr>
      </p:sp>
      <p:sp>
        <p:nvSpPr>
          <p:cNvPr id="27" name="Text 25"/>
          <p:cNvSpPr/>
          <p:nvPr/>
        </p:nvSpPr>
        <p:spPr>
          <a:xfrm>
            <a:off x="301752" y="3703320"/>
            <a:ext cx="1645920" cy="219456"/>
          </a:xfrm>
          <a:prstGeom prst="rect">
            <a:avLst/>
          </a:prstGeom>
          <a:noFill/>
          <a:ln/>
        </p:spPr>
        <p:txBody>
          <a:bodyPr wrap="square" rtlCol="0" anchor="ctr"/>
          <a:lstStyle/>
          <a:p>
            <a:pPr marL="0" indent="0" algn="ctr">
              <a:buNone/>
            </a:pPr>
            <a:r>
              <a:rPr lang="en-US" sz="850" b="1" dirty="0">
                <a:solidFill>
                  <a:srgbClr val="FFFFFF"/>
                </a:solidFill>
              </a:rPr>
              <a:t>STRUCTURAL RISKS TO TRACK</a:t>
            </a:r>
            <a:endParaRPr lang="en-US" sz="850" dirty="0"/>
          </a:p>
        </p:txBody>
      </p:sp>
      <p:sp>
        <p:nvSpPr>
          <p:cNvPr id="28" name="Text 26"/>
          <p:cNvSpPr/>
          <p:nvPr/>
        </p:nvSpPr>
        <p:spPr>
          <a:xfrm>
            <a:off x="2029968" y="3694176"/>
            <a:ext cx="6812280" cy="566928"/>
          </a:xfrm>
          <a:prstGeom prst="rect">
            <a:avLst/>
          </a:prstGeom>
          <a:noFill/>
          <a:ln/>
        </p:spPr>
        <p:txBody>
          <a:bodyPr wrap="square" rtlCol="0" anchor="ctr"/>
          <a:lstStyle/>
          <a:p>
            <a:pPr marL="0" indent="0">
              <a:buNone/>
            </a:pPr>
            <a:r>
              <a:rPr lang="en-US" sz="950" dirty="0">
                <a:solidFill>
                  <a:srgbClr val="E2E8F0"/>
                </a:solidFill>
              </a:rPr>
              <a:t>Humanoid timeline slippage (consistent history). Sim-to-real gap unsolved. Tesla FSD safety questions. China competitive parity in models (DeepSeek-R1) and humanoids (Unitree G1 at $16K). Regulatory bifurcation US/EU/China. Premium valuations requiring perfect execution. Power constraint limiting data center builds.</a:t>
            </a:r>
            <a:endParaRPr lang="en-US" sz="950" dirty="0"/>
          </a:p>
        </p:txBody>
      </p:sp>
      <p:sp>
        <p:nvSpPr>
          <p:cNvPr id="29" name="Shape 27"/>
          <p:cNvSpPr/>
          <p:nvPr/>
        </p:nvSpPr>
        <p:spPr>
          <a:xfrm>
            <a:off x="182880" y="4370832"/>
            <a:ext cx="8778240" cy="667512"/>
          </a:xfrm>
          <a:prstGeom prst="rect">
            <a:avLst/>
          </a:prstGeom>
          <a:solidFill>
            <a:srgbClr val="0F1F3D"/>
          </a:solidFill>
          <a:ln/>
          <a:effectLst>
            <a:outerShdw blurRad="127000" dist="50800" dir="8100000" algn="bl" rotWithShape="0">
              <a:srgbClr val="000000">
                <a:alpha val="25000"/>
              </a:srgbClr>
            </a:outerShdw>
          </a:effectLst>
        </p:spPr>
      </p:sp>
      <p:sp>
        <p:nvSpPr>
          <p:cNvPr id="30" name="Shape 28"/>
          <p:cNvSpPr/>
          <p:nvPr/>
        </p:nvSpPr>
        <p:spPr>
          <a:xfrm>
            <a:off x="182880" y="4370832"/>
            <a:ext cx="73152" cy="667512"/>
          </a:xfrm>
          <a:prstGeom prst="rect">
            <a:avLst/>
          </a:prstGeom>
          <a:solidFill>
            <a:srgbClr val="10B981"/>
          </a:solidFill>
          <a:ln/>
        </p:spPr>
      </p:sp>
      <p:sp>
        <p:nvSpPr>
          <p:cNvPr id="31" name="Shape 29"/>
          <p:cNvSpPr/>
          <p:nvPr/>
        </p:nvSpPr>
        <p:spPr>
          <a:xfrm>
            <a:off x="301752" y="4434840"/>
            <a:ext cx="1645920" cy="219456"/>
          </a:xfrm>
          <a:prstGeom prst="rect">
            <a:avLst/>
          </a:prstGeom>
          <a:solidFill>
            <a:srgbClr val="10B981"/>
          </a:solidFill>
          <a:ln/>
        </p:spPr>
      </p:sp>
      <p:sp>
        <p:nvSpPr>
          <p:cNvPr id="32" name="Text 30"/>
          <p:cNvSpPr/>
          <p:nvPr/>
        </p:nvSpPr>
        <p:spPr>
          <a:xfrm>
            <a:off x="301752" y="4434840"/>
            <a:ext cx="1645920" cy="219456"/>
          </a:xfrm>
          <a:prstGeom prst="rect">
            <a:avLst/>
          </a:prstGeom>
          <a:noFill/>
          <a:ln/>
        </p:spPr>
        <p:txBody>
          <a:bodyPr wrap="square" rtlCol="0" anchor="ctr"/>
          <a:lstStyle/>
          <a:p>
            <a:pPr marL="0" indent="0" algn="ctr">
              <a:buNone/>
            </a:pPr>
            <a:r>
              <a:rPr lang="en-US" sz="850" b="1" dirty="0">
                <a:solidFill>
                  <a:srgbClr val="FFFFFF"/>
                </a:solidFill>
              </a:rPr>
              <a:t>THE BOTTOM LINE</a:t>
            </a:r>
            <a:endParaRPr lang="en-US" sz="850" dirty="0"/>
          </a:p>
        </p:txBody>
      </p:sp>
      <p:sp>
        <p:nvSpPr>
          <p:cNvPr id="33" name="Text 31"/>
          <p:cNvSpPr/>
          <p:nvPr/>
        </p:nvSpPr>
        <p:spPr>
          <a:xfrm>
            <a:off x="2029968" y="4425696"/>
            <a:ext cx="6812280" cy="566928"/>
          </a:xfrm>
          <a:prstGeom prst="rect">
            <a:avLst/>
          </a:prstGeom>
          <a:noFill/>
          <a:ln/>
        </p:spPr>
        <p:txBody>
          <a:bodyPr wrap="square" rtlCol="0" anchor="ctr"/>
          <a:lstStyle/>
          <a:p>
            <a:pPr marL="0" indent="0">
              <a:buNone/>
            </a:pPr>
            <a:r>
              <a:rPr lang="en-US" sz="950" dirty="0">
                <a:solidFill>
                  <a:srgbClr val="E2E8F0"/>
                </a:solidFill>
              </a:rPr>
              <a:t>AI &amp; Robotics is the defining investment sector of the 2020s. The infrastructure layer (chips, compute) is the highest-conviction, most visible exposure. Enterprise AI platforms (Palantir) are proving ROI. Surgical robotics (ISRG) is the most mature and profitable. Humanoids are the biggest prize with the longest runway and highest execution risk.</a:t>
            </a:r>
            <a:endParaRPr lang="en-US" sz="950" dirty="0"/>
          </a:p>
        </p:txBody>
      </p:sp>
      <p:sp>
        <p:nvSpPr>
          <p:cNvPr id="34" name="Text 32"/>
          <p:cNvSpPr/>
          <p:nvPr/>
        </p:nvSpPr>
        <p:spPr>
          <a:xfrm>
            <a:off x="182880" y="5074920"/>
            <a:ext cx="8778240" cy="182880"/>
          </a:xfrm>
          <a:prstGeom prst="rect">
            <a:avLst/>
          </a:prstGeom>
          <a:noFill/>
          <a:ln/>
        </p:spPr>
        <p:txBody>
          <a:bodyPr wrap="square" rtlCol="0" anchor="ctr"/>
          <a:lstStyle/>
          <a:p>
            <a:pPr marL="0" indent="0" algn="r">
              <a:buNone/>
            </a:pPr>
            <a:r>
              <a:rPr lang="en-US" sz="850" i="1" dirty="0">
                <a:solidFill>
                  <a:srgbClr val="64748B"/>
                </a:solidFill>
              </a:rPr>
              <a:t>For Research &amp; Educational Purposes Only. Not Investment Advice. June 2026.</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19">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1828800" y="457200"/>
            <a:ext cx="5486400" cy="5486400"/>
          </a:xfrm>
          <a:prstGeom prst="ellipse">
            <a:avLst/>
          </a:prstGeom>
          <a:solidFill>
            <a:srgbClr val="1D4ED8">
              <a:alpha val="7000"/>
            </a:srgbClr>
          </a:solidFill>
          <a:ln/>
        </p:spPr>
      </p:sp>
      <p:sp>
        <p:nvSpPr>
          <p:cNvPr id="3" name="Shape 1"/>
          <p:cNvSpPr/>
          <p:nvPr/>
        </p:nvSpPr>
        <p:spPr>
          <a:xfrm>
            <a:off x="5486400" y="1828800"/>
            <a:ext cx="3657600" cy="3657600"/>
          </a:xfrm>
          <a:prstGeom prst="ellipse">
            <a:avLst/>
          </a:prstGeom>
          <a:solidFill>
            <a:srgbClr val="A855F7">
              <a:alpha val="7000"/>
            </a:srgbClr>
          </a:solidFill>
          <a:ln/>
        </p:spPr>
      </p:sp>
      <p:sp>
        <p:nvSpPr>
          <p:cNvPr id="4" name="Text 2"/>
          <p:cNvSpPr/>
          <p:nvPr/>
        </p:nvSpPr>
        <p:spPr>
          <a:xfrm>
            <a:off x="274320" y="640080"/>
            <a:ext cx="8595360" cy="365760"/>
          </a:xfrm>
          <a:prstGeom prst="rect">
            <a:avLst/>
          </a:prstGeom>
          <a:noFill/>
          <a:ln/>
        </p:spPr>
        <p:txBody>
          <a:bodyPr wrap="square" rtlCol="0" anchor="ctr"/>
          <a:lstStyle/>
          <a:p>
            <a:pPr marL="0" indent="0" algn="ctr">
              <a:buNone/>
            </a:pPr>
            <a:r>
              <a:rPr lang="en-US" sz="1300" b="1" kern="0" spc="400" dirty="0">
                <a:solidFill>
                  <a:srgbClr val="06B6D4"/>
                </a:solidFill>
              </a:rPr>
              <a:t>THE CORE INSIGHT</a:t>
            </a:r>
            <a:endParaRPr lang="en-US" sz="1300" dirty="0"/>
          </a:p>
        </p:txBody>
      </p:sp>
      <p:sp>
        <p:nvSpPr>
          <p:cNvPr id="5" name="Text 3"/>
          <p:cNvSpPr/>
          <p:nvPr/>
        </p:nvSpPr>
        <p:spPr>
          <a:xfrm>
            <a:off x="457200" y="1005840"/>
            <a:ext cx="8229600" cy="365760"/>
          </a:xfrm>
          <a:prstGeom prst="rect">
            <a:avLst/>
          </a:prstGeom>
          <a:noFill/>
          <a:ln/>
        </p:spPr>
        <p:txBody>
          <a:bodyPr wrap="square" rtlCol="0" anchor="ctr"/>
          <a:lstStyle/>
          <a:p>
            <a:pPr marL="0" indent="0" algn="ctr">
              <a:buNone/>
            </a:pPr>
            <a:r>
              <a:rPr lang="en-US" sz="3000" b="1" dirty="0">
                <a:solidFill>
                  <a:srgbClr val="FFFFFF"/>
                </a:solidFill>
              </a:rPr>
              <a:t>AI is a generational infrastructure buildout.</a:t>
            </a:r>
            <a:endParaRPr lang="en-US" sz="3000" dirty="0"/>
          </a:p>
        </p:txBody>
      </p:sp>
      <p:sp>
        <p:nvSpPr>
          <p:cNvPr id="6" name="Text 4"/>
          <p:cNvSpPr/>
          <p:nvPr/>
        </p:nvSpPr>
        <p:spPr>
          <a:xfrm>
            <a:off x="457200" y="1600200"/>
            <a:ext cx="8229600" cy="365760"/>
          </a:xfrm>
          <a:prstGeom prst="rect">
            <a:avLst/>
          </a:prstGeom>
          <a:noFill/>
          <a:ln/>
        </p:spPr>
        <p:txBody>
          <a:bodyPr wrap="square" rtlCol="0" anchor="ctr"/>
          <a:lstStyle/>
          <a:p>
            <a:pPr marL="0" indent="0" algn="ctr">
              <a:buNone/>
            </a:pPr>
            <a:r>
              <a:rPr lang="en-US" sz="3000" b="1" dirty="0">
                <a:solidFill>
                  <a:srgbClr val="A855F7"/>
                </a:solidFill>
              </a:rPr>
              <a:t>Robotics is AI's expansion into physical reality.</a:t>
            </a:r>
            <a:endParaRPr lang="en-US" sz="3000" dirty="0"/>
          </a:p>
        </p:txBody>
      </p:sp>
      <p:sp>
        <p:nvSpPr>
          <p:cNvPr id="7" name="Text 5"/>
          <p:cNvSpPr/>
          <p:nvPr/>
        </p:nvSpPr>
        <p:spPr>
          <a:xfrm>
            <a:off x="457200" y="2194560"/>
            <a:ext cx="8229600" cy="365760"/>
          </a:xfrm>
          <a:prstGeom prst="rect">
            <a:avLst/>
          </a:prstGeom>
          <a:noFill/>
          <a:ln/>
        </p:spPr>
        <p:txBody>
          <a:bodyPr wrap="square" rtlCol="0" anchor="ctr"/>
          <a:lstStyle/>
          <a:p>
            <a:pPr marL="0" indent="0" algn="ctr">
              <a:buNone/>
            </a:pPr>
            <a:r>
              <a:rPr lang="en-US" sz="1800" dirty="0">
                <a:solidFill>
                  <a:srgbClr val="E2E8F5"/>
                </a:solidFill>
              </a:rPr>
              <a:t>Neither is comprehensible without understanding the full supply chain beneath them.</a:t>
            </a:r>
            <a:endParaRPr lang="en-US" sz="1800" dirty="0"/>
          </a:p>
        </p:txBody>
      </p:sp>
      <p:sp>
        <p:nvSpPr>
          <p:cNvPr id="8" name="Shape 6"/>
          <p:cNvSpPr/>
          <p:nvPr/>
        </p:nvSpPr>
        <p:spPr>
          <a:xfrm>
            <a:off x="1828800" y="2788920"/>
            <a:ext cx="5486400" cy="36576"/>
          </a:xfrm>
          <a:prstGeom prst="rect">
            <a:avLst/>
          </a:prstGeom>
          <a:solidFill>
            <a:srgbClr val="06B6D4">
              <a:alpha val="50000"/>
            </a:srgbClr>
          </a:solidFill>
          <a:ln/>
        </p:spPr>
      </p:sp>
      <p:sp>
        <p:nvSpPr>
          <p:cNvPr id="9" name="Shape 7"/>
          <p:cNvSpPr/>
          <p:nvPr/>
        </p:nvSpPr>
        <p:spPr>
          <a:xfrm>
            <a:off x="1371600" y="3063240"/>
            <a:ext cx="109728" cy="109728"/>
          </a:xfrm>
          <a:prstGeom prst="ellipse">
            <a:avLst/>
          </a:prstGeom>
          <a:solidFill>
            <a:srgbClr val="F59E0B"/>
          </a:solidFill>
          <a:ln/>
        </p:spPr>
      </p:sp>
      <p:sp>
        <p:nvSpPr>
          <p:cNvPr id="10" name="Text 8"/>
          <p:cNvSpPr/>
          <p:nvPr/>
        </p:nvSpPr>
        <p:spPr>
          <a:xfrm>
            <a:off x="1600200" y="3017520"/>
            <a:ext cx="6400800" cy="292608"/>
          </a:xfrm>
          <a:prstGeom prst="rect">
            <a:avLst/>
          </a:prstGeom>
          <a:noFill/>
          <a:ln/>
        </p:spPr>
        <p:txBody>
          <a:bodyPr wrap="square" lIns="0" tIns="0" rIns="0" bIns="0" rtlCol="0" anchor="ctr"/>
          <a:lstStyle/>
          <a:p>
            <a:pPr marL="0" indent="0">
              <a:buNone/>
            </a:pPr>
            <a:r>
              <a:rPr lang="en-US" sz="1200" dirty="0">
                <a:solidFill>
                  <a:srgbClr val="E2E8F5"/>
                </a:solidFill>
              </a:rPr>
              <a:t>Layer 0-2: Physical + energy + silicon = the binding constraints today</a:t>
            </a:r>
            <a:endParaRPr lang="en-US" sz="1200" dirty="0"/>
          </a:p>
        </p:txBody>
      </p:sp>
      <p:sp>
        <p:nvSpPr>
          <p:cNvPr id="11" name="Shape 9"/>
          <p:cNvSpPr/>
          <p:nvPr/>
        </p:nvSpPr>
        <p:spPr>
          <a:xfrm>
            <a:off x="1371600" y="3392424"/>
            <a:ext cx="109728" cy="109728"/>
          </a:xfrm>
          <a:prstGeom prst="ellipse">
            <a:avLst/>
          </a:prstGeom>
          <a:solidFill>
            <a:srgbClr val="F59E0B"/>
          </a:solidFill>
          <a:ln/>
        </p:spPr>
      </p:sp>
      <p:sp>
        <p:nvSpPr>
          <p:cNvPr id="12" name="Text 10"/>
          <p:cNvSpPr/>
          <p:nvPr/>
        </p:nvSpPr>
        <p:spPr>
          <a:xfrm>
            <a:off x="1600200" y="3346704"/>
            <a:ext cx="6400800" cy="292608"/>
          </a:xfrm>
          <a:prstGeom prst="rect">
            <a:avLst/>
          </a:prstGeom>
          <a:noFill/>
          <a:ln/>
        </p:spPr>
        <p:txBody>
          <a:bodyPr wrap="square" lIns="0" tIns="0" rIns="0" bIns="0" rtlCol="0" anchor="ctr"/>
          <a:lstStyle/>
          <a:p>
            <a:pPr marL="0" indent="0">
              <a:buNone/>
            </a:pPr>
            <a:r>
              <a:rPr lang="en-US" sz="1200" dirty="0">
                <a:solidFill>
                  <a:srgbClr val="E2E8F5"/>
                </a:solidFill>
              </a:rPr>
              <a:t>Layer 3-4: Hardware systems + cloud = where the capex is flowing</a:t>
            </a:r>
            <a:endParaRPr lang="en-US" sz="1200" dirty="0"/>
          </a:p>
        </p:txBody>
      </p:sp>
      <p:sp>
        <p:nvSpPr>
          <p:cNvPr id="13" name="Shape 11"/>
          <p:cNvSpPr/>
          <p:nvPr/>
        </p:nvSpPr>
        <p:spPr>
          <a:xfrm>
            <a:off x="1371600" y="3721608"/>
            <a:ext cx="109728" cy="109728"/>
          </a:xfrm>
          <a:prstGeom prst="ellipse">
            <a:avLst/>
          </a:prstGeom>
          <a:solidFill>
            <a:srgbClr val="3B82F6"/>
          </a:solidFill>
          <a:ln/>
        </p:spPr>
      </p:sp>
      <p:sp>
        <p:nvSpPr>
          <p:cNvPr id="14" name="Text 12"/>
          <p:cNvSpPr/>
          <p:nvPr/>
        </p:nvSpPr>
        <p:spPr>
          <a:xfrm>
            <a:off x="1600200" y="3675888"/>
            <a:ext cx="6400800" cy="292608"/>
          </a:xfrm>
          <a:prstGeom prst="rect">
            <a:avLst/>
          </a:prstGeom>
          <a:noFill/>
          <a:ln/>
        </p:spPr>
        <p:txBody>
          <a:bodyPr wrap="square" lIns="0" tIns="0" rIns="0" bIns="0" rtlCol="0" anchor="ctr"/>
          <a:lstStyle/>
          <a:p>
            <a:pPr marL="0" indent="0">
              <a:buNone/>
            </a:pPr>
            <a:r>
              <a:rPr lang="en-US" sz="1200" dirty="0">
                <a:solidFill>
                  <a:srgbClr val="E2E8F5"/>
                </a:solidFill>
              </a:rPr>
              <a:t>Layer 5-6: Intelligence + applications = where the ROI is eventually extracted</a:t>
            </a:r>
            <a:endParaRPr lang="en-US" sz="1200" dirty="0"/>
          </a:p>
        </p:txBody>
      </p:sp>
      <p:sp>
        <p:nvSpPr>
          <p:cNvPr id="15" name="Shape 13"/>
          <p:cNvSpPr/>
          <p:nvPr/>
        </p:nvSpPr>
        <p:spPr>
          <a:xfrm>
            <a:off x="1371600" y="4050792"/>
            <a:ext cx="109728" cy="109728"/>
          </a:xfrm>
          <a:prstGeom prst="ellipse">
            <a:avLst/>
          </a:prstGeom>
          <a:solidFill>
            <a:srgbClr val="3B82F6"/>
          </a:solidFill>
          <a:ln/>
        </p:spPr>
      </p:sp>
      <p:sp>
        <p:nvSpPr>
          <p:cNvPr id="16" name="Text 14"/>
          <p:cNvSpPr/>
          <p:nvPr/>
        </p:nvSpPr>
        <p:spPr>
          <a:xfrm>
            <a:off x="1600200" y="4005072"/>
            <a:ext cx="6400800" cy="292608"/>
          </a:xfrm>
          <a:prstGeom prst="rect">
            <a:avLst/>
          </a:prstGeom>
          <a:noFill/>
          <a:ln/>
        </p:spPr>
        <p:txBody>
          <a:bodyPr wrap="square" lIns="0" tIns="0" rIns="0" bIns="0" rtlCol="0" anchor="ctr"/>
          <a:lstStyle/>
          <a:p>
            <a:pPr marL="0" indent="0">
              <a:buNone/>
            </a:pPr>
            <a:r>
              <a:rPr lang="en-US" sz="1200" dirty="0">
                <a:solidFill>
                  <a:srgbClr val="E2E8F5"/>
                </a:solidFill>
              </a:rPr>
              <a:t>Robotics: 5 hardware + 5 software supply chains converging on physical AI</a:t>
            </a:r>
            <a:endParaRPr lang="en-US" sz="1200" dirty="0"/>
          </a:p>
        </p:txBody>
      </p:sp>
      <p:sp>
        <p:nvSpPr>
          <p:cNvPr id="17" name="Shape 15"/>
          <p:cNvSpPr/>
          <p:nvPr/>
        </p:nvSpPr>
        <p:spPr>
          <a:xfrm>
            <a:off x="1371600" y="4379976"/>
            <a:ext cx="109728" cy="109728"/>
          </a:xfrm>
          <a:prstGeom prst="ellipse">
            <a:avLst/>
          </a:prstGeom>
          <a:solidFill>
            <a:srgbClr val="A855F7"/>
          </a:solidFill>
          <a:ln/>
        </p:spPr>
      </p:sp>
      <p:sp>
        <p:nvSpPr>
          <p:cNvPr id="18" name="Text 16"/>
          <p:cNvSpPr/>
          <p:nvPr/>
        </p:nvSpPr>
        <p:spPr>
          <a:xfrm>
            <a:off x="1600200" y="4334256"/>
            <a:ext cx="6400800" cy="292608"/>
          </a:xfrm>
          <a:prstGeom prst="rect">
            <a:avLst/>
          </a:prstGeom>
          <a:noFill/>
          <a:ln/>
        </p:spPr>
        <p:txBody>
          <a:bodyPr wrap="square" lIns="0" tIns="0" rIns="0" bIns="0" rtlCol="0" anchor="ctr"/>
          <a:lstStyle/>
          <a:p>
            <a:pPr marL="0" indent="0">
              <a:buNone/>
            </a:pPr>
            <a:r>
              <a:rPr lang="en-US" sz="1200" dirty="0">
                <a:solidFill>
                  <a:srgbClr val="E2E8F5"/>
                </a:solidFill>
              </a:rPr>
              <a:t>Geopolitics: TSMC + ASML + Rare Earths = the structural fragilities</a:t>
            </a:r>
            <a:endParaRPr lang="en-US" sz="1200" dirty="0"/>
          </a:p>
        </p:txBody>
      </p:sp>
      <p:sp>
        <p:nvSpPr>
          <p:cNvPr id="19" name="Text 17"/>
          <p:cNvSpPr/>
          <p:nvPr/>
        </p:nvSpPr>
        <p:spPr>
          <a:xfrm>
            <a:off x="457200" y="4754880"/>
            <a:ext cx="8229600" cy="365760"/>
          </a:xfrm>
          <a:prstGeom prst="rect">
            <a:avLst/>
          </a:prstGeom>
          <a:noFill/>
          <a:ln/>
        </p:spPr>
        <p:txBody>
          <a:bodyPr wrap="square" rtlCol="0" anchor="ctr"/>
          <a:lstStyle/>
          <a:p>
            <a:pPr marL="0" indent="0" algn="ctr">
              <a:buNone/>
            </a:pPr>
            <a:r>
              <a:rPr lang="en-US" sz="800" dirty="0">
                <a:solidFill>
                  <a:srgbClr val="64748B"/>
                </a:solidFill>
              </a:rPr>
              <a:t>For research and analytical purposes only. No investment recommendations. Not financial advice.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720</TotalTime>
  <Words>19878</Words>
  <Application>Microsoft Office PowerPoint</Application>
  <PresentationFormat>On-screen Show (16:9)</PresentationFormat>
  <Paragraphs>1873</Paragraphs>
  <Slides>55</Slides>
  <Notes>55</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Aptos</vt: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&amp; Robotics: Deep Infrastructure Research</dc:title>
  <dc:subject>PptxGenJS Presentation</dc:subject>
  <dc:creator>PptxGenJS</dc:creator>
  <cp:lastModifiedBy>Swapan Masanta</cp:lastModifiedBy>
  <cp:revision>38</cp:revision>
  <dcterms:created xsi:type="dcterms:W3CDTF">2026-06-09T17:49:15Z</dcterms:created>
  <dcterms:modified xsi:type="dcterms:W3CDTF">2026-06-10T06:18:59Z</dcterms:modified>
</cp:coreProperties>
</file>