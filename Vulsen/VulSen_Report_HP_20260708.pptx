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Lst>
  <p:sldSz cx="12192000" cy="6858000" type="screen16x9"/>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75eff499f9cd57d484e484658fdd4679af5ec9d3.png"/>
<Relationship Id="rId3" Type="http://schemas.openxmlformats.org/officeDocument/2006/relationships/image" Target="../media/e136014f17ae3b144e6b950b60fe3fb491e9c4c6.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b0fb11159bd4ddf9edeb532b50666aa58a99b717.png"/>
<Relationship Id="rId3" Type="http://schemas.openxmlformats.org/officeDocument/2006/relationships/image" Target="../media/5820d6d3442b6b6da1f7aadec5c17d70088c2104.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a21acfe54cc6320266f558f0eecfa4ca0cd90059.png"/>
<Relationship Id="rId5" Type="http://schemas.openxmlformats.org/officeDocument/2006/relationships/image" Target="../media/5820d6d3442b6b6da1f7aadec5c17d70088c2104.png"/>
<Relationship Id="rId6" Type="http://schemas.openxmlformats.org/officeDocument/2006/relationships/image" Target="../media/9ca2f29bde5a2393f874bf0aec3e3cead92d21bb.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5820d6d3442b6b6da1f7aadec5c17d70088c2104.png"/>
<Relationship Id="rId5" Type="http://schemas.openxmlformats.org/officeDocument/2006/relationships/image" Target="../media/9ca2f29bde5a2393f874bf0aec3e3cead92d21bb.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6377c140c9739b76554e64fe3224aa007f6dc66b.png"/>
<Relationship Id="rId5" Type="http://schemas.openxmlformats.org/officeDocument/2006/relationships/image" Target="../media/5820d6d3442b6b6da1f7aadec5c17d70088c2104.png"/>
<Relationship Id="rId6" Type="http://schemas.openxmlformats.org/officeDocument/2006/relationships/image" Target="../media/a262a3c368a43d9a1ad3d3a7d964d3e7a4408a0f.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5820d6d3442b6b6da1f7aadec5c17d70088c2104.png"/>
<Relationship Id="rId5" Type="http://schemas.openxmlformats.org/officeDocument/2006/relationships/image" Target="../media/a262a3c368a43d9a1ad3d3a7d964d3e7a4408a0f.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4b1eff8407087b9ab345d9174bb9f5b373d34338.png"/>
<Relationship Id="rId5" Type="http://schemas.openxmlformats.org/officeDocument/2006/relationships/image" Target="../media/5820d6d3442b6b6da1f7aadec5c17d70088c2104.png"/>
<Relationship Id="rId6" Type="http://schemas.openxmlformats.org/officeDocument/2006/relationships/image" Target="../media/15badb2bbb949e26a5dab81590f8ce9e3ae6dad5.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5820d6d3442b6b6da1f7aadec5c17d70088c2104.png"/>
<Relationship Id="rId5" Type="http://schemas.openxmlformats.org/officeDocument/2006/relationships/image" Target="../media/15badb2bbb949e26a5dab81590f8ce9e3ae6dad5.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6377c140c9739b76554e64fe3224aa007f6dc66b.png"/>
<Relationship Id="rId5" Type="http://schemas.openxmlformats.org/officeDocument/2006/relationships/image" Target="../media/5820d6d3442b6b6da1f7aadec5c17d70088c2104.png"/>
<Relationship Id="rId6" Type="http://schemas.openxmlformats.org/officeDocument/2006/relationships/image" Target="../media/5131bf613a037474537bad6a380e36aff7bc0a46.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image" Target="../media/4f19cd9b8183fc547fe39d7fdaed05362e9eaf93.png"/>
<Relationship Id="rId3" Type="http://schemas.openxmlformats.org/officeDocument/2006/relationships/image" Target="../media/b0fb11159bd4ddf9edeb532b50666aa58a99b717.png"/>
<Relationship Id="rId4" Type="http://schemas.openxmlformats.org/officeDocument/2006/relationships/image" Target="../media/5820d6d3442b6b6da1f7aadec5c17d70088c2104.png"/>
<Relationship Id="rId5" Type="http://schemas.openxmlformats.org/officeDocument/2006/relationships/image" Target="../media/5131bf613a037474537bad6a380e36aff7bc0a46.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sp>
        <p:nvSpPr>
          <p:cNvPr id="3" name=""/>
          <p:cNvSpPr>
            <a:spLocks noGrp="1"/>
          </p:cNvSpPr>
          <p:nvPr>
            <p:ph/>
          </p:nvPr>
        </p:nvSpPr>
        <p:spPr>
          <a:xfrm>
            <a:off x="457200" y="1828800"/>
            <a:ext cx="11277295" cy="502920"/>
          </a:xfrm>
        </p:spPr>
        <p:txBody>
          <a:bodyPr/>
          <a:lstStyle/>
          <a:p>
            <a:pPr algn="ctr" marL="0" marR="0">
              <a:lnSpc>
                <a:spcPct val="100000"/>
              </a:lnSpc>
              <a:spcBef>
                <a:spcPts val="0"/>
              </a:spcBef>
              <a:spcAft>
                <a:spcPts val="0"/>
              </a:spcAft>
              <a:buNone/>
            </a:pPr>
            <a:r>
              <a:rPr cap="none" sz="2000" i="0" b="1" u="none" strike="noStrike">
                <a:solidFill>
                  <a:srgbClr val="00C9A7">
                    <a:alpha val="100000"/>
                  </a:srgbClr>
                </a:solidFill>
                <a:latin typeface="Calibri"/>
                <a:cs typeface="Calibri"/>
                <a:ea typeface="Calibri"/>
                <a:sym typeface="Calibri"/>
              </a:rPr>
              <a:t>COMPANY NAME</a:t>
            </a:r>
          </a:p>
        </p:txBody>
      </p:sp>
      <p:sp>
        <p:nvSpPr>
          <p:cNvPr id="4" name=""/>
          <p:cNvSpPr>
            <a:spLocks noGrp="1"/>
          </p:cNvSpPr>
          <p:nvPr>
            <p:ph/>
          </p:nvPr>
        </p:nvSpPr>
        <p:spPr>
          <a:xfrm>
            <a:off x="457200" y="2788920"/>
            <a:ext cx="11277295" cy="822960"/>
          </a:xfrm>
        </p:spPr>
        <p:txBody>
          <a:bodyPr/>
          <a:lstStyle/>
          <a:p>
            <a:pPr algn="ctr" marL="0" marR="0">
              <a:lnSpc>
                <a:spcPct val="100000"/>
              </a:lnSpc>
              <a:spcBef>
                <a:spcPts val="0"/>
              </a:spcBef>
              <a:spcAft>
                <a:spcPts val="0"/>
              </a:spcAft>
              <a:buNone/>
            </a:pPr>
            <a:r>
              <a:rPr cap="none" sz="3600" i="0" b="1" u="none" strike="noStrike">
                <a:solidFill>
                  <a:srgbClr val="FFFFFF">
                    <a:alpha val="100000"/>
                  </a:srgbClr>
                </a:solidFill>
                <a:latin typeface="Calibri"/>
                <a:cs typeface="Calibri"/>
                <a:ea typeface="Calibri"/>
                <a:sym typeface="Calibri"/>
              </a:rPr>
              <a:t>VulSen Analytics Report</a:t>
            </a:r>
          </a:p>
        </p:txBody>
      </p:sp>
      <p:pic>
        <p:nvPicPr>
          <p:cNvPr id="5" name="" descr=""/>
          <p:cNvPicPr>
            <a:picLocks noGrp="1"/>
          </p:cNvPicPr>
          <p:nvPr>
            <p:ph/>
          </p:nvPr>
        </p:nvPicPr>
        <p:blipFill>
          <a:blip r:embed="rId3"/>
          <a:stretch>
            <a:fillRect/>
          </a:stretch>
        </p:blipFill>
        <p:spPr>
          <a:xfrm>
            <a:off x="5592928" y="3703320"/>
            <a:ext cx="1005840" cy="27432"/>
          </a:xfrm>
          <a:prstGeom prst="rect">
            <a:avLst/>
          </a:prstGeom>
        </p:spPr>
      </p:pic>
      <p:sp>
        <p:nvSpPr>
          <p:cNvPr id="6" name=""/>
          <p:cNvSpPr>
            <a:spLocks noGrp="1"/>
          </p:cNvSpPr>
          <p:nvPr>
            <p:ph/>
          </p:nvPr>
        </p:nvSpPr>
        <p:spPr>
          <a:xfrm>
            <a:off x="457200" y="3931920"/>
            <a:ext cx="11277295" cy="457200"/>
          </a:xfrm>
        </p:spPr>
        <p:txBody>
          <a:bodyPr/>
          <a:lstStyle/>
          <a:p>
            <a:pPr algn="ctr" marL="0" marR="0">
              <a:lnSpc>
                <a:spcPct val="100000"/>
              </a:lnSpc>
              <a:spcBef>
                <a:spcPts val="0"/>
              </a:spcBef>
              <a:spcAft>
                <a:spcPts val="0"/>
              </a:spcAft>
              <a:buNone/>
            </a:pPr>
            <a:r>
              <a:rPr cap="none" sz="1400" i="0" b="0" u="none" strike="noStrike">
                <a:solidFill>
                  <a:srgbClr val="00C9A7">
                    <a:alpha val="100000"/>
                  </a:srgbClr>
                </a:solidFill>
                <a:latin typeface="Calibri"/>
                <a:cs typeface="Calibri"/>
                <a:ea typeface="Calibri"/>
                <a:sym typeface="Calibri"/>
              </a:rPr>
              <a:t>Prepared for HP   •   July 08, 2026   •   4 item(s) included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868680"/>
          </a:xfrm>
          <a:prstGeom prst="rect">
            <a:avLst/>
          </a:prstGeom>
        </p:spPr>
      </p:pic>
      <p:sp>
        <p:nvSpPr>
          <p:cNvPr id="3"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Contents</a:t>
            </a:r>
          </a:p>
        </p:txBody>
      </p:sp>
      <p:sp>
        <p:nvSpPr>
          <p:cNvPr id="4" name=""/>
          <p:cNvSpPr>
            <a:spLocks noGrp="1"/>
          </p:cNvSpPr>
          <p:nvPr>
            <p:ph/>
          </p:nvPr>
        </p:nvSpPr>
        <p:spPr>
          <a:xfrm>
            <a:off x="548640" y="1188720"/>
            <a:ext cx="11094415" cy="5074920"/>
          </a:xfrm>
        </p:spPr>
        <p:txBody>
          <a:bodyPr/>
          <a:lstStyle/>
          <a:p>
            <a:pPr algn="l" marL="101600" marR="101600">
              <a:lnSpc>
                <a:spcPct val="100000"/>
              </a:lnSpc>
              <a:spcBef>
                <a:spcPts val="800"/>
              </a:spcBef>
              <a:spcAft>
                <a:spcPts val="800"/>
              </a:spcAft>
              <a:buNone/>
            </a:pPr>
            <a:r>
              <a:rPr cap="none" sz="1300" i="0" b="1" u="none" strike="noStrike">
                <a:solidFill>
                  <a:srgbClr val="00C9A7">
                    <a:alpha val="100000"/>
                  </a:srgbClr>
                </a:solidFill>
                <a:latin typeface="Calibri"/>
                <a:cs typeface="Calibri"/>
                <a:ea typeface="Calibri"/>
                <a:sym typeface="Calibri"/>
              </a:rPr>
              <a:t>01   </a:t>
            </a:r>
            <a:r>
              <a:rPr cap="none" sz="1300" i="0" b="1" u="none" strike="noStrike">
                <a:solidFill>
                  <a:srgbClr val="0F1B3D">
                    <a:alpha val="100000"/>
                  </a:srgbClr>
                </a:solidFill>
                <a:latin typeface="Calibri"/>
                <a:cs typeface="Calibri"/>
                <a:ea typeface="Calibri"/>
                <a:sym typeface="Calibri"/>
              </a:rPr>
              <a:t>Vulnerability    </a:t>
            </a:r>
            <a:r>
              <a:rPr cap="none" sz="1100" i="1" b="0" u="none" strike="noStrike">
                <a:solidFill>
                  <a:srgbClr val="7A8296">
                    <a:alpha val="100000"/>
                  </a:srgbClr>
                </a:solidFill>
                <a:latin typeface="Calibri"/>
                <a:cs typeface="Calibri"/>
                <a:ea typeface="Calibri"/>
                <a:sym typeface="Calibri"/>
              </a:rPr>
              <a:t>2026-07-08 07:17</a:t>
            </a:r>
          </a:p>
          <a:p>
            <a:pPr algn="l" marL="101600" marR="101600">
              <a:lnSpc>
                <a:spcPct val="100000"/>
              </a:lnSpc>
              <a:spcBef>
                <a:spcPts val="800"/>
              </a:spcBef>
              <a:spcAft>
                <a:spcPts val="800"/>
              </a:spcAft>
              <a:buNone/>
            </a:pPr>
            <a:r>
              <a:rPr cap="none" sz="1300" i="0" b="1" u="none" strike="noStrike">
                <a:solidFill>
                  <a:srgbClr val="00C9A7">
                    <a:alpha val="100000"/>
                  </a:srgbClr>
                </a:solidFill>
                <a:latin typeface="Calibri"/>
                <a:cs typeface="Calibri"/>
                <a:ea typeface="Calibri"/>
                <a:sym typeface="Calibri"/>
              </a:rPr>
              <a:t>02   </a:t>
            </a:r>
            <a:r>
              <a:rPr cap="none" sz="1300" i="0" b="1" u="none" strike="noStrike">
                <a:solidFill>
                  <a:srgbClr val="0F1B3D">
                    <a:alpha val="100000"/>
                  </a:srgbClr>
                </a:solidFill>
                <a:latin typeface="Calibri"/>
                <a:cs typeface="Calibri"/>
                <a:ea typeface="Calibri"/>
                <a:sym typeface="Calibri"/>
              </a:rPr>
              <a:t>Secondary Modifier    </a:t>
            </a:r>
            <a:r>
              <a:rPr cap="none" sz="1100" i="1" b="0" u="none" strike="noStrike">
                <a:solidFill>
                  <a:srgbClr val="7A8296">
                    <a:alpha val="100000"/>
                  </a:srgbClr>
                </a:solidFill>
                <a:latin typeface="Calibri"/>
                <a:cs typeface="Calibri"/>
                <a:ea typeface="Calibri"/>
                <a:sym typeface="Calibri"/>
              </a:rPr>
              <a:t>2026-07-08 07:17</a:t>
            </a:r>
          </a:p>
          <a:p>
            <a:pPr algn="l" marL="101600" marR="101600">
              <a:lnSpc>
                <a:spcPct val="100000"/>
              </a:lnSpc>
              <a:spcBef>
                <a:spcPts val="800"/>
              </a:spcBef>
              <a:spcAft>
                <a:spcPts val="800"/>
              </a:spcAft>
              <a:buNone/>
            </a:pPr>
            <a:r>
              <a:rPr cap="none" sz="1300" i="0" b="1" u="none" strike="noStrike">
                <a:solidFill>
                  <a:srgbClr val="00C9A7">
                    <a:alpha val="100000"/>
                  </a:srgbClr>
                </a:solidFill>
                <a:latin typeface="Calibri"/>
                <a:cs typeface="Calibri"/>
                <a:ea typeface="Calibri"/>
                <a:sym typeface="Calibri"/>
              </a:rPr>
              <a:t>03   </a:t>
            </a:r>
            <a:r>
              <a:rPr cap="none" sz="1300" i="0" b="1" u="none" strike="noStrike">
                <a:solidFill>
                  <a:srgbClr val="0F1B3D">
                    <a:alpha val="100000"/>
                  </a:srgbClr>
                </a:solidFill>
                <a:latin typeface="Calibri"/>
                <a:cs typeface="Calibri"/>
                <a:ea typeface="Calibri"/>
                <a:sym typeface="Calibri"/>
              </a:rPr>
              <a:t>Vulnerability    </a:t>
            </a:r>
            <a:r>
              <a:rPr cap="none" sz="1100" i="1" b="0" u="none" strike="noStrike">
                <a:solidFill>
                  <a:srgbClr val="7A8296">
                    <a:alpha val="100000"/>
                  </a:srgbClr>
                </a:solidFill>
                <a:latin typeface="Calibri"/>
                <a:cs typeface="Calibri"/>
                <a:ea typeface="Calibri"/>
                <a:sym typeface="Calibri"/>
              </a:rPr>
              <a:t>2026-07-08 07:25</a:t>
            </a:r>
          </a:p>
          <a:p>
            <a:pPr algn="l" marL="101600" marR="101600">
              <a:lnSpc>
                <a:spcPct val="100000"/>
              </a:lnSpc>
              <a:spcBef>
                <a:spcPts val="800"/>
              </a:spcBef>
              <a:spcAft>
                <a:spcPts val="800"/>
              </a:spcAft>
              <a:buNone/>
            </a:pPr>
            <a:r>
              <a:rPr cap="none" sz="1300" i="0" b="1" u="none" strike="noStrike">
                <a:solidFill>
                  <a:srgbClr val="00C9A7">
                    <a:alpha val="100000"/>
                  </a:srgbClr>
                </a:solidFill>
                <a:latin typeface="Calibri"/>
                <a:cs typeface="Calibri"/>
                <a:ea typeface="Calibri"/>
                <a:sym typeface="Calibri"/>
              </a:rPr>
              <a:t>04   </a:t>
            </a:r>
            <a:r>
              <a:rPr cap="none" sz="1300" i="0" b="1" u="none" strike="noStrike">
                <a:solidFill>
                  <a:srgbClr val="0F1B3D">
                    <a:alpha val="100000"/>
                  </a:srgbClr>
                </a:solidFill>
                <a:latin typeface="Calibri"/>
                <a:cs typeface="Calibri"/>
                <a:ea typeface="Calibri"/>
                <a:sym typeface="Calibri"/>
              </a:rPr>
              <a:t>Secondary Modifier    </a:t>
            </a:r>
            <a:r>
              <a:rPr cap="none" sz="1100" i="1" b="0" u="none" strike="noStrike">
                <a:solidFill>
                  <a:srgbClr val="7A8296">
                    <a:alpha val="100000"/>
                  </a:srgbClr>
                </a:solidFill>
                <a:latin typeface="Calibri"/>
                <a:cs typeface="Calibri"/>
                <a:ea typeface="Calibri"/>
                <a:sym typeface="Calibri"/>
              </a:rPr>
              <a:t>2026-07-08 07:25</a:t>
            </a:r>
          </a:p>
        </p:txBody>
      </p:sp>
      <p:pic>
        <p:nvPicPr>
          <p:cNvPr id="5" name="" descr=""/>
          <p:cNvPicPr>
            <a:picLocks noGrp="1"/>
          </p:cNvPicPr>
          <p:nvPr>
            <p:ph/>
          </p:nvPr>
        </p:nvPicPr>
        <p:blipFill>
          <a:blip r:embed="rId3"/>
          <a:stretch>
            <a:fillRect/>
          </a:stretch>
        </p:blipFill>
        <p:spPr>
          <a:xfrm>
            <a:off x="0" y="6583680"/>
            <a:ext cx="12191695" cy="274320"/>
          </a:xfrm>
          <a:prstGeom prst="rect">
            <a:avLst/>
          </a:prstGeom>
        </p:spPr>
      </p:pic>
      <p:sp>
        <p:nvSpPr>
          <p:cNvPr id="6"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Vulnerability — Visualization</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01/04</a:t>
            </a:r>
          </a:p>
        </p:txBody>
      </p:sp>
      <p:pic>
        <p:nvPicPr>
          <p:cNvPr id="5" name="" descr=""/>
          <p:cNvPicPr>
            <a:picLocks noGrp="1"/>
          </p:cNvPicPr>
          <p:nvPr>
            <p:ph/>
          </p:nvPr>
        </p:nvPicPr>
        <p:blipFill>
          <a:blip r:embed="rId4"/>
          <a:stretch>
            <a:fillRect/>
          </a:stretch>
        </p:blipFill>
        <p:spPr>
          <a:xfrm>
            <a:off x="594360" y="1188720"/>
            <a:ext cx="11002975" cy="5257800"/>
          </a:xfrm>
          <a:prstGeom prst="rect">
            <a:avLst/>
          </a:prstGeom>
        </p:spPr>
      </p:pic>
      <p:pic>
        <p:nvPicPr>
          <p:cNvPr id="6" name="" descr=""/>
          <p:cNvPicPr>
            <a:picLocks noGrp="1"/>
          </p:cNvPicPr>
          <p:nvPr>
            <p:ph/>
          </p:nvPr>
        </p:nvPicPr>
        <p:blipFill>
          <a:blip r:embed="rId5"/>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3</a:t>
            </a:r>
          </a:p>
        </p:txBody>
      </p:sp>
      <p:pic>
        <p:nvPicPr>
          <p:cNvPr id="8" name="" descr=""/>
          <p:cNvPicPr>
            <a:picLocks noGrp="1"/>
          </p:cNvPicPr>
          <p:nvPr>
            <p:ph/>
          </p:nvPr>
        </p:nvPicPr>
        <p:blipFill>
          <a:blip r:embed="rId6"/>
          <a:stretch>
            <a:fillRect/>
          </a:stretch>
        </p:blipFill>
        <p:spPr>
          <a:xfrm>
            <a:off x="8716975" y="6583680"/>
            <a:ext cx="3108960" cy="274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Vulnerability — Commentary</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01/04</a:t>
            </a:r>
          </a:p>
        </p:txBody>
      </p:sp>
      <p:sp>
        <p:nvSpPr>
          <p:cNvPr id="5" name=""/>
          <p:cNvSpPr>
            <a:spLocks noGrp="1"/>
          </p:cNvSpPr>
          <p:nvPr>
            <p:ph/>
          </p:nvPr>
        </p:nvSpPr>
        <p:spPr>
          <a:xfrm>
            <a:off x="685800" y="1188720"/>
            <a:ext cx="10820095" cy="5257800"/>
          </a:xfrm>
        </p:spPr>
        <p:txBody>
          <a:bodyPr/>
          <a:lstStyle/>
          <a:p>
            <a:pPr algn="l" marL="127000" marR="127000">
              <a:lnSpc>
                <a:spcPct val="100000"/>
              </a:lnSpc>
              <a:spcBef>
                <a:spcPts val="1000"/>
              </a:spcBef>
              <a:spcAft>
                <a:spcPts val="1000"/>
              </a:spcAft>
              <a:buNone/>
            </a:pPr>
            <a:r>
              <a:rPr cap="none" sz="1400" i="0" b="1" u="none" strike="noStrike">
                <a:solidFill>
                  <a:srgbClr val="00C9A7">
                    <a:alpha val="100000"/>
                  </a:srgbClr>
                </a:solidFill>
                <a:latin typeface="Calibri"/>
                <a:cs typeface="Calibri"/>
                <a:ea typeface="Calibri"/>
                <a:sym typeface="Calibri"/>
              </a:rPr>
              <a:t>▸  </a:t>
            </a:r>
            <a:r>
              <a:rPr cap="none" sz="1400" i="0" b="0" u="none" strike="noStrike">
                <a:solidFill>
                  <a:srgbClr val="1A1A2E">
                    <a:alpha val="100000"/>
                  </a:srgbClr>
                </a:solidFill>
                <a:latin typeface="Calibri"/>
                <a:cs typeface="Calibri"/>
                <a:ea typeface="Calibri"/>
                <a:sym typeface="Calibri"/>
              </a:rPr>
              <a:t>The vulnerability curve rises steeply through low-to-moderate hazard intensities and levels off near 98.8% damage ratio at the highest intensities modelled. The fastest rate of damage accumulation occurs around an intensity of 0.4, which marks the critical threshold for this scope (Line of Business: Commercial, State: All States). Exposure concentrated near or beyond this threshold is most sensitive to further increases in hazard severity, and may warrant closer review of mitigation credits or deductible structure.</a:t>
            </a:r>
          </a:p>
        </p:txBody>
      </p:sp>
      <p:pic>
        <p:nvPicPr>
          <p:cNvPr id="6" name="" descr=""/>
          <p:cNvPicPr>
            <a:picLocks noGrp="1"/>
          </p:cNvPicPr>
          <p:nvPr>
            <p:ph/>
          </p:nvPr>
        </p:nvPicPr>
        <p:blipFill>
          <a:blip r:embed="rId4"/>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4</a:t>
            </a:r>
          </a:p>
        </p:txBody>
      </p:sp>
      <p:pic>
        <p:nvPicPr>
          <p:cNvPr id="8" name="" descr=""/>
          <p:cNvPicPr>
            <a:picLocks noGrp="1"/>
          </p:cNvPicPr>
          <p:nvPr>
            <p:ph/>
          </p:nvPr>
        </p:nvPicPr>
        <p:blipFill>
          <a:blip r:embed="rId5"/>
          <a:stretch>
            <a:fillRect/>
          </a:stretch>
        </p:blipFill>
        <p:spPr>
          <a:xfrm>
            <a:off x="8716975" y="6583680"/>
            <a:ext cx="3108960"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Secondary Modifier — Visualization</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02/04</a:t>
            </a:r>
          </a:p>
        </p:txBody>
      </p:sp>
      <p:pic>
        <p:nvPicPr>
          <p:cNvPr id="5" name="" descr=""/>
          <p:cNvPicPr>
            <a:picLocks noGrp="1"/>
          </p:cNvPicPr>
          <p:nvPr>
            <p:ph/>
          </p:nvPr>
        </p:nvPicPr>
        <p:blipFill>
          <a:blip r:embed="rId4"/>
          <a:stretch>
            <a:fillRect/>
          </a:stretch>
        </p:blipFill>
        <p:spPr>
          <a:xfrm>
            <a:off x="594360" y="1188720"/>
            <a:ext cx="11002975" cy="5257800"/>
          </a:xfrm>
          <a:prstGeom prst="rect">
            <a:avLst/>
          </a:prstGeom>
        </p:spPr>
      </p:pic>
      <p:pic>
        <p:nvPicPr>
          <p:cNvPr id="6" name="" descr=""/>
          <p:cNvPicPr>
            <a:picLocks noGrp="1"/>
          </p:cNvPicPr>
          <p:nvPr>
            <p:ph/>
          </p:nvPr>
        </p:nvPicPr>
        <p:blipFill>
          <a:blip r:embed="rId5"/>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5</a:t>
            </a:r>
          </a:p>
        </p:txBody>
      </p:sp>
      <p:pic>
        <p:nvPicPr>
          <p:cNvPr id="8" name="" descr=""/>
          <p:cNvPicPr>
            <a:picLocks noGrp="1"/>
          </p:cNvPicPr>
          <p:nvPr>
            <p:ph/>
          </p:nvPr>
        </p:nvPicPr>
        <p:blipFill>
          <a:blip r:embed="rId6"/>
          <a:stretch>
            <a:fillRect/>
          </a:stretch>
        </p:blipFill>
        <p:spPr>
          <a:xfrm>
            <a:off x="8716975" y="6583680"/>
            <a:ext cx="3108960" cy="274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Secondary Modifier — Commentary</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02/04</a:t>
            </a:r>
          </a:p>
        </p:txBody>
      </p:sp>
      <p:sp>
        <p:nvSpPr>
          <p:cNvPr id="5" name=""/>
          <p:cNvSpPr>
            <a:spLocks noGrp="1"/>
          </p:cNvSpPr>
          <p:nvPr>
            <p:ph/>
          </p:nvPr>
        </p:nvSpPr>
        <p:spPr>
          <a:xfrm>
            <a:off x="685800" y="1188720"/>
            <a:ext cx="10820095" cy="5257800"/>
          </a:xfrm>
        </p:spPr>
        <p:txBody>
          <a:bodyPr/>
          <a:lstStyle/>
          <a:p>
            <a:pPr algn="l" marL="127000" marR="127000">
              <a:lnSpc>
                <a:spcPct val="100000"/>
              </a:lnSpc>
              <a:spcBef>
                <a:spcPts val="1000"/>
              </a:spcBef>
              <a:spcAft>
                <a:spcPts val="1000"/>
              </a:spcAft>
              <a:buNone/>
            </a:pPr>
            <a:r>
              <a:rPr cap="none" sz="1400" i="0" b="1" u="none" strike="noStrike">
                <a:solidFill>
                  <a:srgbClr val="00C9A7">
                    <a:alpha val="100000"/>
                  </a:srgbClr>
                </a:solidFill>
                <a:latin typeface="Calibri"/>
                <a:cs typeface="Calibri"/>
                <a:ea typeface="Calibri"/>
                <a:sym typeface="Calibri"/>
              </a:rPr>
              <a:t>▸  </a:t>
            </a:r>
            <a:r>
              <a:rPr cap="none" sz="1400" i="0" b="0" u="none" strike="noStrike">
                <a:solidFill>
                  <a:srgbClr val="1A1A2E">
                    <a:alpha val="100000"/>
                  </a:srgbClr>
                </a:solidFill>
                <a:latin typeface="Calibri"/>
                <a:cs typeface="Calibri"/>
                <a:ea typeface="Calibri"/>
                <a:sym typeface="Calibri"/>
              </a:rPr>
              <a:t>Among the secondary modifiers reviewed, 'Year Built' applies the largest adjustment at a factor of 1.30, while 'Construction Type' contributes the smallest at 0.99. This spread (Line of Business: Residential, State: All States) suggests underwriting and rating decisions are most sensitive to 'Year Built', and refinements to that characteristic's capture or validation are likely to have the greatest impact on rate accuracy.</a:t>
            </a:r>
          </a:p>
        </p:txBody>
      </p:sp>
      <p:pic>
        <p:nvPicPr>
          <p:cNvPr id="6" name="" descr=""/>
          <p:cNvPicPr>
            <a:picLocks noGrp="1"/>
          </p:cNvPicPr>
          <p:nvPr>
            <p:ph/>
          </p:nvPr>
        </p:nvPicPr>
        <p:blipFill>
          <a:blip r:embed="rId4"/>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6</a:t>
            </a:r>
          </a:p>
        </p:txBody>
      </p:sp>
      <p:pic>
        <p:nvPicPr>
          <p:cNvPr id="8" name="" descr=""/>
          <p:cNvPicPr>
            <a:picLocks noGrp="1"/>
          </p:cNvPicPr>
          <p:nvPr>
            <p:ph/>
          </p:nvPr>
        </p:nvPicPr>
        <p:blipFill>
          <a:blip r:embed="rId5"/>
          <a:stretch>
            <a:fillRect/>
          </a:stretch>
        </p:blipFill>
        <p:spPr>
          <a:xfrm>
            <a:off x="8716975" y="6583680"/>
            <a:ext cx="310896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Vulnerability — Visualization</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03/04</a:t>
            </a:r>
          </a:p>
        </p:txBody>
      </p:sp>
      <p:pic>
        <p:nvPicPr>
          <p:cNvPr id="5" name="" descr=""/>
          <p:cNvPicPr>
            <a:picLocks noGrp="1"/>
          </p:cNvPicPr>
          <p:nvPr>
            <p:ph/>
          </p:nvPr>
        </p:nvPicPr>
        <p:blipFill>
          <a:blip r:embed="rId4"/>
          <a:stretch>
            <a:fillRect/>
          </a:stretch>
        </p:blipFill>
        <p:spPr>
          <a:xfrm>
            <a:off x="594360" y="1188720"/>
            <a:ext cx="11002975" cy="5257800"/>
          </a:xfrm>
          <a:prstGeom prst="rect">
            <a:avLst/>
          </a:prstGeom>
        </p:spPr>
      </p:pic>
      <p:pic>
        <p:nvPicPr>
          <p:cNvPr id="6" name="" descr=""/>
          <p:cNvPicPr>
            <a:picLocks noGrp="1"/>
          </p:cNvPicPr>
          <p:nvPr>
            <p:ph/>
          </p:nvPr>
        </p:nvPicPr>
        <p:blipFill>
          <a:blip r:embed="rId5"/>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7</a:t>
            </a:r>
          </a:p>
        </p:txBody>
      </p:sp>
      <p:pic>
        <p:nvPicPr>
          <p:cNvPr id="8" name="" descr=""/>
          <p:cNvPicPr>
            <a:picLocks noGrp="1"/>
          </p:cNvPicPr>
          <p:nvPr>
            <p:ph/>
          </p:nvPr>
        </p:nvPicPr>
        <p:blipFill>
          <a:blip r:embed="rId6"/>
          <a:stretch>
            <a:fillRect/>
          </a:stretch>
        </p:blipFill>
        <p:spPr>
          <a:xfrm>
            <a:off x="8716975" y="6583680"/>
            <a:ext cx="3108960" cy="274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Vulnerability — Commentary</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03/04</a:t>
            </a:r>
          </a:p>
        </p:txBody>
      </p:sp>
      <p:sp>
        <p:nvSpPr>
          <p:cNvPr id="5" name=""/>
          <p:cNvSpPr>
            <a:spLocks noGrp="1"/>
          </p:cNvSpPr>
          <p:nvPr>
            <p:ph/>
          </p:nvPr>
        </p:nvSpPr>
        <p:spPr>
          <a:xfrm>
            <a:off x="685800" y="1188720"/>
            <a:ext cx="10820095" cy="5257800"/>
          </a:xfrm>
        </p:spPr>
        <p:txBody>
          <a:bodyPr/>
          <a:lstStyle/>
          <a:p>
            <a:pPr algn="l" marL="127000" marR="127000">
              <a:lnSpc>
                <a:spcPct val="100000"/>
              </a:lnSpc>
              <a:spcBef>
                <a:spcPts val="1000"/>
              </a:spcBef>
              <a:spcAft>
                <a:spcPts val="1000"/>
              </a:spcAft>
              <a:buNone/>
            </a:pPr>
            <a:r>
              <a:rPr cap="none" sz="1400" i="0" b="1" u="none" strike="noStrike">
                <a:solidFill>
                  <a:srgbClr val="00C9A7">
                    <a:alpha val="100000"/>
                  </a:srgbClr>
                </a:solidFill>
                <a:latin typeface="Calibri"/>
                <a:cs typeface="Calibri"/>
                <a:ea typeface="Calibri"/>
                <a:sym typeface="Calibri"/>
              </a:rPr>
              <a:t>▸  </a:t>
            </a:r>
            <a:r>
              <a:rPr cap="none" sz="1400" i="0" b="0" u="none" strike="noStrike">
                <a:solidFill>
                  <a:srgbClr val="1A1A2E">
                    <a:alpha val="100000"/>
                  </a:srgbClr>
                </a:solidFill>
                <a:latin typeface="Calibri"/>
                <a:cs typeface="Calibri"/>
                <a:ea typeface="Calibri"/>
                <a:sym typeface="Calibri"/>
              </a:rPr>
              <a:t>The vulnerability curve rises steeply through low-to-moderate hazard intensities and levels off near 100% damage ratio at the highest intensities modelled. The fastest rate of damage accumulation occurs around an intensity of 0.2, which marks the critical threshold for this scope (Line of Business: Residential, State: All States). Exposure concentrated near or beyond this threshold is most sensitive to further increases in hazard severity, and may warrant closer review of mitigation credits or deductible structure.</a:t>
            </a:r>
          </a:p>
        </p:txBody>
      </p:sp>
      <p:pic>
        <p:nvPicPr>
          <p:cNvPr id="6" name="" descr=""/>
          <p:cNvPicPr>
            <a:picLocks noGrp="1"/>
          </p:cNvPicPr>
          <p:nvPr>
            <p:ph/>
          </p:nvPr>
        </p:nvPicPr>
        <p:blipFill>
          <a:blip r:embed="rId4"/>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8</a:t>
            </a:r>
          </a:p>
        </p:txBody>
      </p:sp>
      <p:pic>
        <p:nvPicPr>
          <p:cNvPr id="8" name="" descr=""/>
          <p:cNvPicPr>
            <a:picLocks noGrp="1"/>
          </p:cNvPicPr>
          <p:nvPr>
            <p:ph/>
          </p:nvPr>
        </p:nvPicPr>
        <p:blipFill>
          <a:blip r:embed="rId5"/>
          <a:stretch>
            <a:fillRect/>
          </a:stretch>
        </p:blipFill>
        <p:spPr>
          <a:xfrm>
            <a:off x="8716975" y="6583680"/>
            <a:ext cx="3108960" cy="274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Secondary Modifier — Visualization</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04/04</a:t>
            </a:r>
          </a:p>
        </p:txBody>
      </p:sp>
      <p:pic>
        <p:nvPicPr>
          <p:cNvPr id="5" name="" descr=""/>
          <p:cNvPicPr>
            <a:picLocks noGrp="1"/>
          </p:cNvPicPr>
          <p:nvPr>
            <p:ph/>
          </p:nvPr>
        </p:nvPicPr>
        <p:blipFill>
          <a:blip r:embed="rId4"/>
          <a:stretch>
            <a:fillRect/>
          </a:stretch>
        </p:blipFill>
        <p:spPr>
          <a:xfrm>
            <a:off x="594360" y="1188720"/>
            <a:ext cx="11002975" cy="5257800"/>
          </a:xfrm>
          <a:prstGeom prst="rect">
            <a:avLst/>
          </a:prstGeom>
        </p:spPr>
      </p:pic>
      <p:pic>
        <p:nvPicPr>
          <p:cNvPr id="6" name="" descr=""/>
          <p:cNvPicPr>
            <a:picLocks noGrp="1"/>
          </p:cNvPicPr>
          <p:nvPr>
            <p:ph/>
          </p:nvPr>
        </p:nvPicPr>
        <p:blipFill>
          <a:blip r:embed="rId5"/>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9</a:t>
            </a:r>
          </a:p>
        </p:txBody>
      </p:sp>
      <p:pic>
        <p:nvPicPr>
          <p:cNvPr id="8" name="" descr=""/>
          <p:cNvPicPr>
            <a:picLocks noGrp="1"/>
          </p:cNvPicPr>
          <p:nvPr>
            <p:ph/>
          </p:nvPr>
        </p:nvPicPr>
        <p:blipFill>
          <a:blip r:embed="rId6"/>
          <a:stretch>
            <a:fillRect/>
          </a:stretch>
        </p:blipFill>
        <p:spPr>
          <a:xfrm>
            <a:off x="8716975" y="6583680"/>
            <a:ext cx="3108960" cy="274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r:embed="rId2"/>
          <a:stretch>
            <a:fillRect/>
          </a:stretch>
        </p:blipFill>
        <p:spPr>
          <a:xfrm>
            <a:off x="0" y="0"/>
            <a:ext cx="12191695" cy="6858000"/>
          </a:xfrm>
          <a:prstGeom prst="rect">
            <a:avLst/>
          </a:prstGeom>
        </p:spPr>
      </p:pic>
      <p:pic>
        <p:nvPicPr>
          <p:cNvPr id="3" name="" descr=""/>
          <p:cNvPicPr>
            <a:picLocks noGrp="1"/>
          </p:cNvPicPr>
          <p:nvPr>
            <p:ph/>
          </p:nvPr>
        </p:nvPicPr>
        <p:blipFill>
          <a:blip r:embed="rId3"/>
          <a:stretch>
            <a:fillRect/>
          </a:stretch>
        </p:blipFill>
        <p:spPr>
          <a:xfrm>
            <a:off x="0" y="0"/>
            <a:ext cx="12191695" cy="868680"/>
          </a:xfrm>
          <a:prstGeom prst="rect">
            <a:avLst/>
          </a:prstGeom>
        </p:spPr>
      </p:pic>
      <p:sp>
        <p:nvSpPr>
          <p:cNvPr id="4" name=""/>
          <p:cNvSpPr>
            <a:spLocks noGrp="1"/>
          </p:cNvSpPr>
          <p:nvPr>
            <p:ph/>
          </p:nvPr>
        </p:nvSpPr>
        <p:spPr>
          <a:xfrm>
            <a:off x="502920" y="201168"/>
            <a:ext cx="11368735" cy="502920"/>
          </a:xfrm>
        </p:spPr>
        <p:txBody>
          <a:bodyPr/>
          <a:lstStyle/>
          <a:p>
            <a:pPr algn="l" marL="0" marR="0">
              <a:lnSpc>
                <a:spcPct val="100000"/>
              </a:lnSpc>
              <a:spcBef>
                <a:spcPts val="0"/>
              </a:spcBef>
              <a:spcAft>
                <a:spcPts val="0"/>
              </a:spcAft>
              <a:buNone/>
            </a:pPr>
            <a:r>
              <a:rPr cap="none" sz="2100" i="0" b="1" u="none" strike="noStrike">
                <a:solidFill>
                  <a:srgbClr val="FFFFFF">
                    <a:alpha val="100000"/>
                  </a:srgbClr>
                </a:solidFill>
                <a:latin typeface="Calibri"/>
                <a:cs typeface="Calibri"/>
                <a:ea typeface="Calibri"/>
                <a:sym typeface="Calibri"/>
              </a:rPr>
              <a:t>Secondary Modifier — Commentary</a:t>
            </a:r>
            <a:r>
              <a:rPr cap="none" sz="1600" i="0" b="0" u="none" strike="noStrike">
                <a:solidFill>
                  <a:srgbClr val="00C9A7">
                    <a:alpha val="100000"/>
                  </a:srgbClr>
                </a:solidFill>
                <a:latin typeface="Calibri"/>
                <a:cs typeface="Calibri"/>
                <a:ea typeface="Calibri"/>
                <a:sym typeface="Calibri"/>
              </a:rPr>
              <a:t>   ❘   </a:t>
            </a:r>
            <a:r>
              <a:rPr cap="none" sz="1400" i="1" b="0" u="none" strike="noStrike">
                <a:solidFill>
                  <a:srgbClr val="00C9A7">
                    <a:alpha val="100000"/>
                  </a:srgbClr>
                </a:solidFill>
                <a:latin typeface="Calibri"/>
                <a:cs typeface="Calibri"/>
                <a:ea typeface="Calibri"/>
                <a:sym typeface="Calibri"/>
              </a:rPr>
              <a:t>04/04</a:t>
            </a:r>
          </a:p>
        </p:txBody>
      </p:sp>
      <p:sp>
        <p:nvSpPr>
          <p:cNvPr id="5" name=""/>
          <p:cNvSpPr>
            <a:spLocks noGrp="1"/>
          </p:cNvSpPr>
          <p:nvPr>
            <p:ph/>
          </p:nvPr>
        </p:nvSpPr>
        <p:spPr>
          <a:xfrm>
            <a:off x="685800" y="1188720"/>
            <a:ext cx="10820095" cy="5257800"/>
          </a:xfrm>
        </p:spPr>
        <p:txBody>
          <a:bodyPr/>
          <a:lstStyle/>
          <a:p>
            <a:pPr algn="l" marL="127000" marR="127000">
              <a:lnSpc>
                <a:spcPct val="100000"/>
              </a:lnSpc>
              <a:spcBef>
                <a:spcPts val="1000"/>
              </a:spcBef>
              <a:spcAft>
                <a:spcPts val="1000"/>
              </a:spcAft>
              <a:buNone/>
            </a:pPr>
            <a:r>
              <a:rPr cap="none" sz="1400" i="0" b="1" u="none" strike="noStrike">
                <a:solidFill>
                  <a:srgbClr val="00C9A7">
                    <a:alpha val="100000"/>
                  </a:srgbClr>
                </a:solidFill>
                <a:latin typeface="Calibri"/>
                <a:cs typeface="Calibri"/>
                <a:ea typeface="Calibri"/>
                <a:sym typeface="Calibri"/>
              </a:rPr>
              <a:t>▸  </a:t>
            </a:r>
            <a:r>
              <a:rPr cap="none" sz="1400" i="0" b="0" u="none" strike="noStrike">
                <a:solidFill>
                  <a:srgbClr val="1A1A2E">
                    <a:alpha val="100000"/>
                  </a:srgbClr>
                </a:solidFill>
                <a:latin typeface="Calibri"/>
                <a:cs typeface="Calibri"/>
                <a:ea typeface="Calibri"/>
                <a:sym typeface="Calibri"/>
              </a:rPr>
              <a:t>Among the secondary modifiers reviewed, 'Year Built' applies the largest adjustment at a factor of 1.30, while 'Construction Type' contributes the smallest at 0.99. This spread (Line of Business: Residential, State: All States) suggests underwriting and rating decisions are most sensitive to 'Year Built', and refinements to that characteristic's capture or validation are likely to have the greatest impact on rate accuracy.</a:t>
            </a:r>
          </a:p>
        </p:txBody>
      </p:sp>
      <p:pic>
        <p:nvPicPr>
          <p:cNvPr id="6" name="" descr=""/>
          <p:cNvPicPr>
            <a:picLocks noGrp="1"/>
          </p:cNvPicPr>
          <p:nvPr>
            <p:ph/>
          </p:nvPr>
        </p:nvPicPr>
        <p:blipFill>
          <a:blip r:embed="rId4"/>
          <a:stretch>
            <a:fillRect/>
          </a:stretch>
        </p:blipFill>
        <p:spPr>
          <a:xfrm>
            <a:off x="0" y="6583680"/>
            <a:ext cx="12191695" cy="274320"/>
          </a:xfrm>
          <a:prstGeom prst="rect">
            <a:avLst/>
          </a:prstGeom>
        </p:spPr>
      </p:pic>
      <p:sp>
        <p:nvSpPr>
          <p:cNvPr id="7" name=""/>
          <p:cNvSpPr>
            <a:spLocks noGrp="1"/>
          </p:cNvSpPr>
          <p:nvPr>
            <p:ph/>
          </p:nvPr>
        </p:nvSpPr>
        <p:spPr>
          <a:xfrm>
            <a:off x="365760" y="6583680"/>
            <a:ext cx="3291840" cy="274320"/>
          </a:xfrm>
        </p:spPr>
        <p:txBody>
          <a:bodyPr/>
          <a:lstStyle/>
          <a:p>
            <a:pPr algn="l" marL="0" marR="0">
              <a:lnSpc>
                <a:spcPct val="100000"/>
              </a:lnSpc>
              <a:spcBef>
                <a:spcPts val="0"/>
              </a:spcBef>
              <a:spcAft>
                <a:spcPts val="0"/>
              </a:spcAft>
              <a:buNone/>
            </a:pPr>
            <a:r>
              <a:rPr cap="none" sz="900" i="1" b="0" u="none" strike="noStrike">
                <a:solidFill>
                  <a:srgbClr val="C7CCDA">
                    <a:alpha val="100000"/>
                  </a:srgbClr>
                </a:solidFill>
                <a:latin typeface="Calibri"/>
                <a:cs typeface="Calibri"/>
                <a:ea typeface="Calibri"/>
                <a:sym typeface="Calibri"/>
              </a:rPr>
              <a:t>VulSen Analytics   ·   10</a:t>
            </a:r>
          </a:p>
        </p:txBody>
      </p:sp>
      <p:pic>
        <p:nvPicPr>
          <p:cNvPr id="8" name="" descr=""/>
          <p:cNvPicPr>
            <a:picLocks noGrp="1"/>
          </p:cNvPicPr>
          <p:nvPr>
            <p:ph/>
          </p:nvPr>
        </p:nvPicPr>
        <p:blipFill>
          <a:blip r:embed="rId5"/>
          <a:stretch>
            <a:fillRect/>
          </a:stretch>
        </p:blipFill>
        <p:spPr>
          <a:xfrm>
            <a:off x="8716975" y="6583680"/>
            <a:ext cx="3108960" cy="27432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
  <cp:revision>3</cp:revision>
  <dcterms:created xsi:type="dcterms:W3CDTF">2017-02-13T16:18:36Z</dcterms:created>
  <dcterms:modified xsi:type="dcterms:W3CDTF">2026-07-08T12:48:53Z</dcterms:modified>
  <cp:category/>
</cp:coreProperties>
</file>